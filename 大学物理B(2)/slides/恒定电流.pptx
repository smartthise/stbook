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274" r:id="rId2"/>
    <p:sldId id="321" r:id="rId3"/>
    <p:sldId id="292" r:id="rId4"/>
    <p:sldId id="256" r:id="rId5"/>
    <p:sldId id="323" r:id="rId6"/>
    <p:sldId id="293" r:id="rId7"/>
    <p:sldId id="283" r:id="rId8"/>
    <p:sldId id="304" r:id="rId9"/>
    <p:sldId id="258" r:id="rId10"/>
    <p:sldId id="324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325" r:id="rId19"/>
    <p:sldId id="260" r:id="rId20"/>
    <p:sldId id="306" r:id="rId21"/>
    <p:sldId id="326" r:id="rId22"/>
    <p:sldId id="261" r:id="rId23"/>
    <p:sldId id="307" r:id="rId24"/>
    <p:sldId id="281" r:id="rId25"/>
    <p:sldId id="284" r:id="rId26"/>
    <p:sldId id="327" r:id="rId27"/>
    <p:sldId id="267" r:id="rId28"/>
    <p:sldId id="275" r:id="rId29"/>
    <p:sldId id="273" r:id="rId30"/>
    <p:sldId id="276" r:id="rId31"/>
    <p:sldId id="277" r:id="rId32"/>
    <p:sldId id="278" r:id="rId33"/>
    <p:sldId id="289" r:id="rId34"/>
    <p:sldId id="290" r:id="rId35"/>
    <p:sldId id="286" r:id="rId36"/>
    <p:sldId id="287" r:id="rId37"/>
    <p:sldId id="268" r:id="rId38"/>
    <p:sldId id="269" r:id="rId39"/>
    <p:sldId id="291" r:id="rId40"/>
    <p:sldId id="312" r:id="rId41"/>
    <p:sldId id="313" r:id="rId42"/>
    <p:sldId id="294" r:id="rId43"/>
    <p:sldId id="295" r:id="rId44"/>
    <p:sldId id="296" r:id="rId45"/>
    <p:sldId id="297" r:id="rId46"/>
    <p:sldId id="338" r:id="rId47"/>
    <p:sldId id="336" r:id="rId48"/>
    <p:sldId id="311" r:id="rId49"/>
    <p:sldId id="341" r:id="rId50"/>
    <p:sldId id="340" r:id="rId51"/>
    <p:sldId id="271" r:id="rId52"/>
    <p:sldId id="285" r:id="rId53"/>
    <p:sldId id="279" r:id="rId54"/>
    <p:sldId id="300" r:id="rId55"/>
    <p:sldId id="303" r:id="rId56"/>
    <p:sldId id="328" r:id="rId57"/>
    <p:sldId id="329" r:id="rId58"/>
    <p:sldId id="330" r:id="rId59"/>
    <p:sldId id="331" r:id="rId60"/>
    <p:sldId id="332" r:id="rId61"/>
    <p:sldId id="333" r:id="rId6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FF33CC"/>
    <a:srgbClr val="FF9900"/>
    <a:srgbClr val="FF9933"/>
    <a:srgbClr val="FF3300"/>
    <a:srgbClr val="FFFF66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23" autoAdjust="0"/>
    <p:restoredTop sz="94655" autoAdjust="0"/>
  </p:normalViewPr>
  <p:slideViewPr>
    <p:cSldViewPr>
      <p:cViewPr>
        <p:scale>
          <a:sx n="100" d="100"/>
          <a:sy n="100" d="100"/>
        </p:scale>
        <p:origin x="-342" y="-270"/>
      </p:cViewPr>
      <p:guideLst>
        <p:guide orient="horz" pos="1968"/>
        <p:guide pos="28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4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image" Target="../media/image11.wmf"/><Relationship Id="rId7" Type="http://schemas.openxmlformats.org/officeDocument/2006/relationships/image" Target="../media/image15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10" Type="http://schemas.openxmlformats.org/officeDocument/2006/relationships/image" Target="../media/image18.wmf"/><Relationship Id="rId4" Type="http://schemas.openxmlformats.org/officeDocument/2006/relationships/image" Target="../media/image12.wmf"/><Relationship Id="rId9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4" Type="http://schemas.openxmlformats.org/officeDocument/2006/relationships/image" Target="../media/image23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4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image" Target="../media/image32.wmf"/><Relationship Id="rId7" Type="http://schemas.openxmlformats.org/officeDocument/2006/relationships/image" Target="../media/image36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6" Type="http://schemas.openxmlformats.org/officeDocument/2006/relationships/image" Target="../media/image35.wmf"/><Relationship Id="rId5" Type="http://schemas.openxmlformats.org/officeDocument/2006/relationships/image" Target="../media/image34.emf"/><Relationship Id="rId4" Type="http://schemas.openxmlformats.org/officeDocument/2006/relationships/image" Target="../media/image33.wmf"/><Relationship Id="rId9" Type="http://schemas.openxmlformats.org/officeDocument/2006/relationships/image" Target="../media/image38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6" Type="http://schemas.openxmlformats.org/officeDocument/2006/relationships/image" Target="../media/image44.wmf"/><Relationship Id="rId5" Type="http://schemas.openxmlformats.org/officeDocument/2006/relationships/image" Target="../media/image43.wmf"/><Relationship Id="rId4" Type="http://schemas.openxmlformats.org/officeDocument/2006/relationships/image" Target="../media/image4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7" Type="http://schemas.openxmlformats.org/officeDocument/2006/relationships/image" Target="../media/image54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6" Type="http://schemas.openxmlformats.org/officeDocument/2006/relationships/image" Target="../media/image53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4" Type="http://schemas.openxmlformats.org/officeDocument/2006/relationships/image" Target="../media/image58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image" Target="../media/image61.wmf"/><Relationship Id="rId7" Type="http://schemas.openxmlformats.org/officeDocument/2006/relationships/image" Target="../media/image65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6" Type="http://schemas.openxmlformats.org/officeDocument/2006/relationships/image" Target="../media/image64.wmf"/><Relationship Id="rId5" Type="http://schemas.openxmlformats.org/officeDocument/2006/relationships/image" Target="../media/image63.wmf"/><Relationship Id="rId4" Type="http://schemas.openxmlformats.org/officeDocument/2006/relationships/image" Target="../media/image62.wmf"/><Relationship Id="rId9" Type="http://schemas.openxmlformats.org/officeDocument/2006/relationships/image" Target="../media/image67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4" Type="http://schemas.openxmlformats.org/officeDocument/2006/relationships/image" Target="../media/image71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Relationship Id="rId4" Type="http://schemas.openxmlformats.org/officeDocument/2006/relationships/image" Target="../media/image75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Relationship Id="rId4" Type="http://schemas.openxmlformats.org/officeDocument/2006/relationships/image" Target="../media/image79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Relationship Id="rId6" Type="http://schemas.openxmlformats.org/officeDocument/2006/relationships/image" Target="../media/image85.wmf"/><Relationship Id="rId5" Type="http://schemas.openxmlformats.org/officeDocument/2006/relationships/image" Target="../media/image84.wmf"/><Relationship Id="rId4" Type="http://schemas.openxmlformats.org/officeDocument/2006/relationships/image" Target="../media/image83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86.wmf"/><Relationship Id="rId1" Type="http://schemas.openxmlformats.org/officeDocument/2006/relationships/image" Target="../media/image89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0.wmf"/><Relationship Id="rId1" Type="http://schemas.openxmlformats.org/officeDocument/2006/relationships/image" Target="../media/image86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92.emf"/><Relationship Id="rId1" Type="http://schemas.openxmlformats.org/officeDocument/2006/relationships/image" Target="../media/image91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4.emf"/><Relationship Id="rId1" Type="http://schemas.openxmlformats.org/officeDocument/2006/relationships/image" Target="../media/image93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emf"/><Relationship Id="rId7" Type="http://schemas.openxmlformats.org/officeDocument/2006/relationships/image" Target="../media/image99.wmf"/><Relationship Id="rId2" Type="http://schemas.openxmlformats.org/officeDocument/2006/relationships/image" Target="../media/image96.wmf"/><Relationship Id="rId1" Type="http://schemas.openxmlformats.org/officeDocument/2006/relationships/image" Target="../media/image95.emf"/><Relationship Id="rId6" Type="http://schemas.openxmlformats.org/officeDocument/2006/relationships/image" Target="../media/image98.wmf"/><Relationship Id="rId5" Type="http://schemas.openxmlformats.org/officeDocument/2006/relationships/image" Target="../media/image97.wmf"/><Relationship Id="rId4" Type="http://schemas.openxmlformats.org/officeDocument/2006/relationships/image" Target="../media/image94.e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emf"/><Relationship Id="rId7" Type="http://schemas.openxmlformats.org/officeDocument/2006/relationships/image" Target="../media/image106.wmf"/><Relationship Id="rId2" Type="http://schemas.openxmlformats.org/officeDocument/2006/relationships/image" Target="../media/image101.wmf"/><Relationship Id="rId1" Type="http://schemas.openxmlformats.org/officeDocument/2006/relationships/image" Target="../media/image100.wmf"/><Relationship Id="rId6" Type="http://schemas.openxmlformats.org/officeDocument/2006/relationships/image" Target="../media/image105.wmf"/><Relationship Id="rId5" Type="http://schemas.openxmlformats.org/officeDocument/2006/relationships/image" Target="../media/image104.wmf"/><Relationship Id="rId4" Type="http://schemas.openxmlformats.org/officeDocument/2006/relationships/image" Target="../media/image103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wmf"/><Relationship Id="rId7" Type="http://schemas.openxmlformats.org/officeDocument/2006/relationships/image" Target="../media/image121.wmf"/><Relationship Id="rId2" Type="http://schemas.openxmlformats.org/officeDocument/2006/relationships/image" Target="../media/image116.wmf"/><Relationship Id="rId1" Type="http://schemas.openxmlformats.org/officeDocument/2006/relationships/image" Target="../media/image115.wmf"/><Relationship Id="rId6" Type="http://schemas.openxmlformats.org/officeDocument/2006/relationships/image" Target="../media/image120.wmf"/><Relationship Id="rId5" Type="http://schemas.openxmlformats.org/officeDocument/2006/relationships/image" Target="../media/image119.wmf"/><Relationship Id="rId4" Type="http://schemas.openxmlformats.org/officeDocument/2006/relationships/image" Target="../media/image118.w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wmf"/><Relationship Id="rId1" Type="http://schemas.openxmlformats.org/officeDocument/2006/relationships/image" Target="../media/image122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Relationship Id="rId5" Type="http://schemas.openxmlformats.org/officeDocument/2006/relationships/image" Target="../media/image128.wmf"/><Relationship Id="rId4" Type="http://schemas.openxmlformats.org/officeDocument/2006/relationships/image" Target="../media/image127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wmf"/><Relationship Id="rId2" Type="http://schemas.openxmlformats.org/officeDocument/2006/relationships/image" Target="../media/image130.wmf"/><Relationship Id="rId1" Type="http://schemas.openxmlformats.org/officeDocument/2006/relationships/image" Target="../media/image129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wmf"/><Relationship Id="rId2" Type="http://schemas.openxmlformats.org/officeDocument/2006/relationships/image" Target="../media/image130.wmf"/><Relationship Id="rId1" Type="http://schemas.openxmlformats.org/officeDocument/2006/relationships/image" Target="../media/image129.wmf"/><Relationship Id="rId4" Type="http://schemas.openxmlformats.org/officeDocument/2006/relationships/image" Target="../media/image132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wmf"/><Relationship Id="rId2" Type="http://schemas.openxmlformats.org/officeDocument/2006/relationships/image" Target="../media/image134.wmf"/><Relationship Id="rId1" Type="http://schemas.openxmlformats.org/officeDocument/2006/relationships/image" Target="../media/image133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wmf"/><Relationship Id="rId2" Type="http://schemas.openxmlformats.org/officeDocument/2006/relationships/image" Target="../media/image43.wmf"/><Relationship Id="rId1" Type="http://schemas.openxmlformats.org/officeDocument/2006/relationships/image" Target="../media/image137.wmf"/><Relationship Id="rId5" Type="http://schemas.openxmlformats.org/officeDocument/2006/relationships/image" Target="../media/image140.wmf"/><Relationship Id="rId4" Type="http://schemas.openxmlformats.org/officeDocument/2006/relationships/image" Target="../media/image139.png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1.w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1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wmf"/><Relationship Id="rId2" Type="http://schemas.openxmlformats.org/officeDocument/2006/relationships/image" Target="../media/image146.wmf"/><Relationship Id="rId1" Type="http://schemas.openxmlformats.org/officeDocument/2006/relationships/image" Target="../media/image145.wmf"/><Relationship Id="rId6" Type="http://schemas.openxmlformats.org/officeDocument/2006/relationships/image" Target="../media/image150.wmf"/><Relationship Id="rId5" Type="http://schemas.openxmlformats.org/officeDocument/2006/relationships/image" Target="../media/image149.wmf"/><Relationship Id="rId4" Type="http://schemas.openxmlformats.org/officeDocument/2006/relationships/image" Target="../media/image148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wmf"/><Relationship Id="rId2" Type="http://schemas.openxmlformats.org/officeDocument/2006/relationships/image" Target="../media/image152.wmf"/><Relationship Id="rId1" Type="http://schemas.openxmlformats.org/officeDocument/2006/relationships/image" Target="../media/image151.wmf"/><Relationship Id="rId6" Type="http://schemas.openxmlformats.org/officeDocument/2006/relationships/image" Target="../media/image156.wmf"/><Relationship Id="rId5" Type="http://schemas.openxmlformats.org/officeDocument/2006/relationships/image" Target="../media/image155.wmf"/><Relationship Id="rId4" Type="http://schemas.openxmlformats.org/officeDocument/2006/relationships/image" Target="../media/image154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wmf"/><Relationship Id="rId2" Type="http://schemas.openxmlformats.org/officeDocument/2006/relationships/image" Target="../media/image158.wmf"/><Relationship Id="rId1" Type="http://schemas.openxmlformats.org/officeDocument/2006/relationships/image" Target="../media/image157.wmf"/><Relationship Id="rId5" Type="http://schemas.openxmlformats.org/officeDocument/2006/relationships/image" Target="../media/image152.wmf"/><Relationship Id="rId4" Type="http://schemas.openxmlformats.org/officeDocument/2006/relationships/image" Target="../media/image151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wmf"/><Relationship Id="rId3" Type="http://schemas.openxmlformats.org/officeDocument/2006/relationships/image" Target="../media/image162.wmf"/><Relationship Id="rId7" Type="http://schemas.openxmlformats.org/officeDocument/2006/relationships/image" Target="../media/image166.wmf"/><Relationship Id="rId2" Type="http://schemas.openxmlformats.org/officeDocument/2006/relationships/image" Target="../media/image161.wmf"/><Relationship Id="rId1" Type="http://schemas.openxmlformats.org/officeDocument/2006/relationships/image" Target="../media/image160.wmf"/><Relationship Id="rId6" Type="http://schemas.openxmlformats.org/officeDocument/2006/relationships/image" Target="../media/image165.wmf"/><Relationship Id="rId5" Type="http://schemas.openxmlformats.org/officeDocument/2006/relationships/image" Target="../media/image164.wmf"/><Relationship Id="rId10" Type="http://schemas.openxmlformats.org/officeDocument/2006/relationships/image" Target="../media/image169.wmf"/><Relationship Id="rId4" Type="http://schemas.openxmlformats.org/officeDocument/2006/relationships/image" Target="../media/image163.wmf"/><Relationship Id="rId9" Type="http://schemas.openxmlformats.org/officeDocument/2006/relationships/image" Target="../media/image168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wmf"/><Relationship Id="rId2" Type="http://schemas.openxmlformats.org/officeDocument/2006/relationships/image" Target="../media/image171.wmf"/><Relationship Id="rId1" Type="http://schemas.openxmlformats.org/officeDocument/2006/relationships/image" Target="../media/image170.w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3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wmf"/><Relationship Id="rId2" Type="http://schemas.openxmlformats.org/officeDocument/2006/relationships/image" Target="../media/image175.wmf"/><Relationship Id="rId1" Type="http://schemas.openxmlformats.org/officeDocument/2006/relationships/image" Target="../media/image174.png"/><Relationship Id="rId4" Type="http://schemas.openxmlformats.org/officeDocument/2006/relationships/image" Target="../media/image177.png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wmf"/><Relationship Id="rId2" Type="http://schemas.openxmlformats.org/officeDocument/2006/relationships/image" Target="../media/image179.png"/><Relationship Id="rId1" Type="http://schemas.openxmlformats.org/officeDocument/2006/relationships/image" Target="../media/image178.png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image" Target="../media/image183.png"/><Relationship Id="rId1" Type="http://schemas.openxmlformats.org/officeDocument/2006/relationships/image" Target="../media/image182.png"/><Relationship Id="rId6" Type="http://schemas.openxmlformats.org/officeDocument/2006/relationships/image" Target="../media/image187.wmf"/><Relationship Id="rId5" Type="http://schemas.openxmlformats.org/officeDocument/2006/relationships/image" Target="../media/image186.wmf"/><Relationship Id="rId4" Type="http://schemas.openxmlformats.org/officeDocument/2006/relationships/image" Target="../media/image185.png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9.wmf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1.png"/></Relationships>
</file>

<file path=ppt/drawings/_rels/vmlDrawing4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B2DDBF2-D48F-434F-BE01-4622B14FA4C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21685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F32BE0-E316-4582-8A3F-C700020D9B6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1148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7A87B6-C333-42A7-914E-2083D186C6D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3077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397FEA-9270-4A88-9F85-EBB05503046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0461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E16007-653A-42E2-8377-620AB475899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4685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4992A7-6290-4E26-A974-0254E0DC8C7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7648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0BEC1E-5833-4D63-A368-BEF8BD1CC44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923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AA2C05-9590-4F75-8888-0FA828629C5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0834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943A2D-368F-44AA-A745-8DED66C6797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5067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0F74F5-B632-477C-89F8-8050AEF301F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3079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1BB069-262E-4DE5-BF22-E02FAF20014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5691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4A89D6-74F0-4776-BBBE-9477FD0AC04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4873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3D3618E-AC79-4969-BA90-B888CCFD6A6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oleObject" Target="../embeddings/oleObject4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wmf"/><Relationship Id="rId11" Type="http://schemas.openxmlformats.org/officeDocument/2006/relationships/image" Target="../media/image7.wmf"/><Relationship Id="rId5" Type="http://schemas.openxmlformats.org/officeDocument/2006/relationships/oleObject" Target="../embeddings/oleObject5.bin"/><Relationship Id="rId10" Type="http://schemas.openxmlformats.org/officeDocument/2006/relationships/oleObject" Target="../embeddings/oleObject7.bin"/><Relationship Id="rId4" Type="http://schemas.openxmlformats.org/officeDocument/2006/relationships/image" Target="../media/image4.wmf"/><Relationship Id="rId9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13.wmf"/><Relationship Id="rId18" Type="http://schemas.openxmlformats.org/officeDocument/2006/relationships/oleObject" Target="../embeddings/oleObject15.bin"/><Relationship Id="rId3" Type="http://schemas.openxmlformats.org/officeDocument/2006/relationships/image" Target="../media/image19.jpeg"/><Relationship Id="rId21" Type="http://schemas.openxmlformats.org/officeDocument/2006/relationships/image" Target="../media/image17.wmf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12.bin"/><Relationship Id="rId17" Type="http://schemas.openxmlformats.org/officeDocument/2006/relationships/image" Target="../media/image1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4.bin"/><Relationship Id="rId20" Type="http://schemas.openxmlformats.org/officeDocument/2006/relationships/oleObject" Target="../embeddings/oleObject16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2.wmf"/><Relationship Id="rId5" Type="http://schemas.openxmlformats.org/officeDocument/2006/relationships/image" Target="../media/image9.wmf"/><Relationship Id="rId15" Type="http://schemas.openxmlformats.org/officeDocument/2006/relationships/image" Target="../media/image14.wmf"/><Relationship Id="rId23" Type="http://schemas.openxmlformats.org/officeDocument/2006/relationships/image" Target="../media/image18.wmf"/><Relationship Id="rId10" Type="http://schemas.openxmlformats.org/officeDocument/2006/relationships/oleObject" Target="../embeddings/oleObject11.bin"/><Relationship Id="rId19" Type="http://schemas.openxmlformats.org/officeDocument/2006/relationships/image" Target="../media/image16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1.wmf"/><Relationship Id="rId14" Type="http://schemas.openxmlformats.org/officeDocument/2006/relationships/oleObject" Target="../embeddings/oleObject13.bin"/><Relationship Id="rId22" Type="http://schemas.openxmlformats.org/officeDocument/2006/relationships/oleObject" Target="../embeddings/oleObject17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21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21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5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6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27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oleObject" Target="../embeddings/oleObject35.bin"/><Relationship Id="rId18" Type="http://schemas.openxmlformats.org/officeDocument/2006/relationships/image" Target="../media/image37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34.emf"/><Relationship Id="rId17" Type="http://schemas.openxmlformats.org/officeDocument/2006/relationships/oleObject" Target="../embeddings/oleObject3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.wmf"/><Relationship Id="rId20" Type="http://schemas.openxmlformats.org/officeDocument/2006/relationships/image" Target="../media/image38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34.bin"/><Relationship Id="rId5" Type="http://schemas.openxmlformats.org/officeDocument/2006/relationships/oleObject" Target="../embeddings/oleObject31.bin"/><Relationship Id="rId15" Type="http://schemas.openxmlformats.org/officeDocument/2006/relationships/oleObject" Target="../embeddings/oleObject36.bin"/><Relationship Id="rId10" Type="http://schemas.openxmlformats.org/officeDocument/2006/relationships/image" Target="../media/image33.wmf"/><Relationship Id="rId19" Type="http://schemas.openxmlformats.org/officeDocument/2006/relationships/oleObject" Target="../embeddings/oleObject38.bin"/><Relationship Id="rId4" Type="http://schemas.openxmlformats.org/officeDocument/2006/relationships/image" Target="../media/image30.wmf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35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oleObject" Target="../embeddings/oleObject44.bin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4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42.wmf"/><Relationship Id="rId4" Type="http://schemas.openxmlformats.org/officeDocument/2006/relationships/image" Target="../media/image39.w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44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45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13" Type="http://schemas.openxmlformats.org/officeDocument/2006/relationships/oleObject" Target="../embeddings/oleObject53.bin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5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4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9.wmf"/><Relationship Id="rId11" Type="http://schemas.openxmlformats.org/officeDocument/2006/relationships/oleObject" Target="../embeddings/oleObject52.bin"/><Relationship Id="rId5" Type="http://schemas.openxmlformats.org/officeDocument/2006/relationships/oleObject" Target="../embeddings/oleObject49.bin"/><Relationship Id="rId15" Type="http://schemas.openxmlformats.org/officeDocument/2006/relationships/oleObject" Target="../embeddings/oleObject54.bin"/><Relationship Id="rId10" Type="http://schemas.openxmlformats.org/officeDocument/2006/relationships/image" Target="../media/image51.wmf"/><Relationship Id="rId4" Type="http://schemas.openxmlformats.org/officeDocument/2006/relationships/image" Target="../media/image48.wmf"/><Relationship Id="rId9" Type="http://schemas.openxmlformats.org/officeDocument/2006/relationships/oleObject" Target="../embeddings/oleObject51.bin"/><Relationship Id="rId14" Type="http://schemas.openxmlformats.org/officeDocument/2006/relationships/image" Target="../media/image53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audio" Target="../media/audio1.wav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5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5.wmf"/><Relationship Id="rId11" Type="http://schemas.openxmlformats.org/officeDocument/2006/relationships/oleObject" Target="../embeddings/oleObject58.bin"/><Relationship Id="rId5" Type="http://schemas.openxmlformats.org/officeDocument/2006/relationships/oleObject" Target="../embeddings/oleObject55.bin"/><Relationship Id="rId10" Type="http://schemas.openxmlformats.org/officeDocument/2006/relationships/image" Target="../media/image57.wmf"/><Relationship Id="rId4" Type="http://schemas.openxmlformats.org/officeDocument/2006/relationships/audio" Target="../media/audio2.wav"/><Relationship Id="rId9" Type="http://schemas.openxmlformats.org/officeDocument/2006/relationships/oleObject" Target="../embeddings/oleObject57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13" Type="http://schemas.openxmlformats.org/officeDocument/2006/relationships/oleObject" Target="../embeddings/oleObject64.bin"/><Relationship Id="rId18" Type="http://schemas.openxmlformats.org/officeDocument/2006/relationships/image" Target="../media/image66.w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63.wmf"/><Relationship Id="rId17" Type="http://schemas.openxmlformats.org/officeDocument/2006/relationships/oleObject" Target="../embeddings/oleObject6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5.wmf"/><Relationship Id="rId20" Type="http://schemas.openxmlformats.org/officeDocument/2006/relationships/image" Target="../media/image67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63.bin"/><Relationship Id="rId5" Type="http://schemas.openxmlformats.org/officeDocument/2006/relationships/oleObject" Target="../embeddings/oleObject60.bin"/><Relationship Id="rId15" Type="http://schemas.openxmlformats.org/officeDocument/2006/relationships/oleObject" Target="../embeddings/oleObject65.bin"/><Relationship Id="rId10" Type="http://schemas.openxmlformats.org/officeDocument/2006/relationships/image" Target="../media/image62.wmf"/><Relationship Id="rId19" Type="http://schemas.openxmlformats.org/officeDocument/2006/relationships/oleObject" Target="../embeddings/oleObject67.bin"/><Relationship Id="rId4" Type="http://schemas.openxmlformats.org/officeDocument/2006/relationships/image" Target="../media/image59.wmf"/><Relationship Id="rId9" Type="http://schemas.openxmlformats.org/officeDocument/2006/relationships/oleObject" Target="../embeddings/oleObject62.bin"/><Relationship Id="rId14" Type="http://schemas.openxmlformats.org/officeDocument/2006/relationships/image" Target="../media/image64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9.wmf"/><Relationship Id="rId5" Type="http://schemas.openxmlformats.org/officeDocument/2006/relationships/oleObject" Target="../embeddings/oleObject69.bin"/><Relationship Id="rId10" Type="http://schemas.openxmlformats.org/officeDocument/2006/relationships/image" Target="../media/image71.wmf"/><Relationship Id="rId4" Type="http://schemas.openxmlformats.org/officeDocument/2006/relationships/image" Target="../media/image68.wmf"/><Relationship Id="rId9" Type="http://schemas.openxmlformats.org/officeDocument/2006/relationships/oleObject" Target="../embeddings/oleObject71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73.wmf"/><Relationship Id="rId5" Type="http://schemas.openxmlformats.org/officeDocument/2006/relationships/oleObject" Target="../embeddings/oleObject73.bin"/><Relationship Id="rId10" Type="http://schemas.openxmlformats.org/officeDocument/2006/relationships/image" Target="../media/image75.wmf"/><Relationship Id="rId4" Type="http://schemas.openxmlformats.org/officeDocument/2006/relationships/image" Target="../media/image72.wmf"/><Relationship Id="rId9" Type="http://schemas.openxmlformats.org/officeDocument/2006/relationships/oleObject" Target="../embeddings/oleObject7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7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77.wmf"/><Relationship Id="rId5" Type="http://schemas.openxmlformats.org/officeDocument/2006/relationships/oleObject" Target="../embeddings/oleObject77.bin"/><Relationship Id="rId10" Type="http://schemas.openxmlformats.org/officeDocument/2006/relationships/image" Target="../media/image79.wmf"/><Relationship Id="rId4" Type="http://schemas.openxmlformats.org/officeDocument/2006/relationships/image" Target="../media/image76.wmf"/><Relationship Id="rId9" Type="http://schemas.openxmlformats.org/officeDocument/2006/relationships/oleObject" Target="../embeddings/oleObject79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13" Type="http://schemas.openxmlformats.org/officeDocument/2006/relationships/oleObject" Target="../embeddings/oleObject85.bin"/><Relationship Id="rId3" Type="http://schemas.openxmlformats.org/officeDocument/2006/relationships/oleObject" Target="../embeddings/oleObject80.bin"/><Relationship Id="rId7" Type="http://schemas.openxmlformats.org/officeDocument/2006/relationships/oleObject" Target="../embeddings/oleObject82.bin"/><Relationship Id="rId12" Type="http://schemas.openxmlformats.org/officeDocument/2006/relationships/image" Target="../media/image8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81.wmf"/><Relationship Id="rId11" Type="http://schemas.openxmlformats.org/officeDocument/2006/relationships/oleObject" Target="../embeddings/oleObject84.bin"/><Relationship Id="rId5" Type="http://schemas.openxmlformats.org/officeDocument/2006/relationships/oleObject" Target="../embeddings/oleObject81.bin"/><Relationship Id="rId10" Type="http://schemas.openxmlformats.org/officeDocument/2006/relationships/image" Target="../media/image83.wmf"/><Relationship Id="rId4" Type="http://schemas.openxmlformats.org/officeDocument/2006/relationships/image" Target="../media/image80.wmf"/><Relationship Id="rId9" Type="http://schemas.openxmlformats.org/officeDocument/2006/relationships/oleObject" Target="../embeddings/oleObject83.bin"/><Relationship Id="rId14" Type="http://schemas.openxmlformats.org/officeDocument/2006/relationships/image" Target="../media/image85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6.bin"/><Relationship Id="rId7" Type="http://schemas.openxmlformats.org/officeDocument/2006/relationships/image" Target="../media/image8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87.wmf"/><Relationship Id="rId5" Type="http://schemas.openxmlformats.org/officeDocument/2006/relationships/oleObject" Target="../embeddings/oleObject87.bin"/><Relationship Id="rId4" Type="http://schemas.openxmlformats.org/officeDocument/2006/relationships/image" Target="../media/image86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86.wmf"/><Relationship Id="rId5" Type="http://schemas.openxmlformats.org/officeDocument/2006/relationships/oleObject" Target="../embeddings/oleObject89.bin"/><Relationship Id="rId4" Type="http://schemas.openxmlformats.org/officeDocument/2006/relationships/image" Target="../media/image89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90.wmf"/><Relationship Id="rId5" Type="http://schemas.openxmlformats.org/officeDocument/2006/relationships/oleObject" Target="../embeddings/oleObject91.bin"/><Relationship Id="rId4" Type="http://schemas.openxmlformats.org/officeDocument/2006/relationships/image" Target="../media/image86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92.emf"/><Relationship Id="rId5" Type="http://schemas.openxmlformats.org/officeDocument/2006/relationships/oleObject" Target="../embeddings/oleObject93.bin"/><Relationship Id="rId4" Type="http://schemas.openxmlformats.org/officeDocument/2006/relationships/image" Target="../media/image91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94.emf"/><Relationship Id="rId5" Type="http://schemas.openxmlformats.org/officeDocument/2006/relationships/oleObject" Target="../embeddings/oleObject96.bin"/><Relationship Id="rId4" Type="http://schemas.openxmlformats.org/officeDocument/2006/relationships/image" Target="../media/image93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emf"/><Relationship Id="rId13" Type="http://schemas.openxmlformats.org/officeDocument/2006/relationships/oleObject" Target="../embeddings/oleObject102.bin"/><Relationship Id="rId3" Type="http://schemas.openxmlformats.org/officeDocument/2006/relationships/oleObject" Target="../embeddings/oleObject97.bin"/><Relationship Id="rId7" Type="http://schemas.openxmlformats.org/officeDocument/2006/relationships/oleObject" Target="../embeddings/oleObject99.bin"/><Relationship Id="rId12" Type="http://schemas.openxmlformats.org/officeDocument/2006/relationships/image" Target="../media/image9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9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96.wmf"/><Relationship Id="rId11" Type="http://schemas.openxmlformats.org/officeDocument/2006/relationships/oleObject" Target="../embeddings/oleObject101.bin"/><Relationship Id="rId5" Type="http://schemas.openxmlformats.org/officeDocument/2006/relationships/oleObject" Target="../embeddings/oleObject98.bin"/><Relationship Id="rId15" Type="http://schemas.openxmlformats.org/officeDocument/2006/relationships/oleObject" Target="../embeddings/oleObject103.bin"/><Relationship Id="rId10" Type="http://schemas.openxmlformats.org/officeDocument/2006/relationships/image" Target="../media/image94.emf"/><Relationship Id="rId4" Type="http://schemas.openxmlformats.org/officeDocument/2006/relationships/image" Target="../media/image95.emf"/><Relationship Id="rId9" Type="http://schemas.openxmlformats.org/officeDocument/2006/relationships/oleObject" Target="../embeddings/oleObject100.bin"/><Relationship Id="rId14" Type="http://schemas.openxmlformats.org/officeDocument/2006/relationships/image" Target="../media/image98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emf"/><Relationship Id="rId13" Type="http://schemas.openxmlformats.org/officeDocument/2006/relationships/oleObject" Target="../embeddings/oleObject109.bin"/><Relationship Id="rId3" Type="http://schemas.openxmlformats.org/officeDocument/2006/relationships/oleObject" Target="../embeddings/oleObject104.bin"/><Relationship Id="rId7" Type="http://schemas.openxmlformats.org/officeDocument/2006/relationships/oleObject" Target="../embeddings/oleObject106.bin"/><Relationship Id="rId12" Type="http://schemas.openxmlformats.org/officeDocument/2006/relationships/image" Target="../media/image10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6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01.wmf"/><Relationship Id="rId11" Type="http://schemas.openxmlformats.org/officeDocument/2006/relationships/oleObject" Target="../embeddings/oleObject108.bin"/><Relationship Id="rId5" Type="http://schemas.openxmlformats.org/officeDocument/2006/relationships/oleObject" Target="../embeddings/oleObject105.bin"/><Relationship Id="rId15" Type="http://schemas.openxmlformats.org/officeDocument/2006/relationships/oleObject" Target="../embeddings/oleObject110.bin"/><Relationship Id="rId10" Type="http://schemas.openxmlformats.org/officeDocument/2006/relationships/image" Target="../media/image103.emf"/><Relationship Id="rId4" Type="http://schemas.openxmlformats.org/officeDocument/2006/relationships/image" Target="../media/image100.wmf"/><Relationship Id="rId9" Type="http://schemas.openxmlformats.org/officeDocument/2006/relationships/oleObject" Target="../embeddings/oleObject107.bin"/><Relationship Id="rId14" Type="http://schemas.openxmlformats.org/officeDocument/2006/relationships/image" Target="../media/image105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wmf"/><Relationship Id="rId13" Type="http://schemas.openxmlformats.org/officeDocument/2006/relationships/oleObject" Target="../embeddings/oleObject116.bin"/><Relationship Id="rId3" Type="http://schemas.openxmlformats.org/officeDocument/2006/relationships/oleObject" Target="../embeddings/oleObject111.bin"/><Relationship Id="rId7" Type="http://schemas.openxmlformats.org/officeDocument/2006/relationships/oleObject" Target="../embeddings/oleObject113.bin"/><Relationship Id="rId12" Type="http://schemas.openxmlformats.org/officeDocument/2006/relationships/image" Target="../media/image11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1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16.wmf"/><Relationship Id="rId11" Type="http://schemas.openxmlformats.org/officeDocument/2006/relationships/oleObject" Target="../embeddings/oleObject115.bin"/><Relationship Id="rId5" Type="http://schemas.openxmlformats.org/officeDocument/2006/relationships/oleObject" Target="../embeddings/oleObject112.bin"/><Relationship Id="rId15" Type="http://schemas.openxmlformats.org/officeDocument/2006/relationships/oleObject" Target="../embeddings/oleObject117.bin"/><Relationship Id="rId10" Type="http://schemas.openxmlformats.org/officeDocument/2006/relationships/image" Target="../media/image118.wmf"/><Relationship Id="rId4" Type="http://schemas.openxmlformats.org/officeDocument/2006/relationships/image" Target="../media/image115.wmf"/><Relationship Id="rId9" Type="http://schemas.openxmlformats.org/officeDocument/2006/relationships/oleObject" Target="../embeddings/oleObject114.bin"/><Relationship Id="rId14" Type="http://schemas.openxmlformats.org/officeDocument/2006/relationships/image" Target="../media/image120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23.wmf"/><Relationship Id="rId5" Type="http://schemas.openxmlformats.org/officeDocument/2006/relationships/oleObject" Target="../embeddings/oleObject119.bin"/><Relationship Id="rId4" Type="http://schemas.openxmlformats.org/officeDocument/2006/relationships/image" Target="../media/image122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3" Type="http://schemas.openxmlformats.org/officeDocument/2006/relationships/oleObject" Target="../embeddings/oleObject120.bin"/><Relationship Id="rId7" Type="http://schemas.openxmlformats.org/officeDocument/2006/relationships/oleObject" Target="../embeddings/oleObject122.bin"/><Relationship Id="rId12" Type="http://schemas.openxmlformats.org/officeDocument/2006/relationships/image" Target="../media/image12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25.wmf"/><Relationship Id="rId11" Type="http://schemas.openxmlformats.org/officeDocument/2006/relationships/oleObject" Target="../embeddings/oleObject124.bin"/><Relationship Id="rId5" Type="http://schemas.openxmlformats.org/officeDocument/2006/relationships/oleObject" Target="../embeddings/oleObject121.bin"/><Relationship Id="rId10" Type="http://schemas.openxmlformats.org/officeDocument/2006/relationships/image" Target="../media/image127.wmf"/><Relationship Id="rId4" Type="http://schemas.openxmlformats.org/officeDocument/2006/relationships/image" Target="../media/image124.wmf"/><Relationship Id="rId9" Type="http://schemas.openxmlformats.org/officeDocument/2006/relationships/oleObject" Target="../embeddings/oleObject123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3" Type="http://schemas.openxmlformats.org/officeDocument/2006/relationships/oleObject" Target="../embeddings/oleObject125.bin"/><Relationship Id="rId7" Type="http://schemas.openxmlformats.org/officeDocument/2006/relationships/oleObject" Target="../embeddings/oleObject1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30.wmf"/><Relationship Id="rId5" Type="http://schemas.openxmlformats.org/officeDocument/2006/relationships/oleObject" Target="../embeddings/oleObject126.bin"/><Relationship Id="rId4" Type="http://schemas.openxmlformats.org/officeDocument/2006/relationships/image" Target="../media/image129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3" Type="http://schemas.openxmlformats.org/officeDocument/2006/relationships/oleObject" Target="../embeddings/oleObject128.bin"/><Relationship Id="rId7" Type="http://schemas.openxmlformats.org/officeDocument/2006/relationships/oleObject" Target="../embeddings/oleObject1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30.wmf"/><Relationship Id="rId5" Type="http://schemas.openxmlformats.org/officeDocument/2006/relationships/oleObject" Target="../embeddings/oleObject129.bin"/><Relationship Id="rId10" Type="http://schemas.openxmlformats.org/officeDocument/2006/relationships/image" Target="../media/image132.wmf"/><Relationship Id="rId4" Type="http://schemas.openxmlformats.org/officeDocument/2006/relationships/image" Target="../media/image129.wmf"/><Relationship Id="rId9" Type="http://schemas.openxmlformats.org/officeDocument/2006/relationships/oleObject" Target="../embeddings/oleObject131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3" Type="http://schemas.openxmlformats.org/officeDocument/2006/relationships/audio" Target="../media/audio3.wav"/><Relationship Id="rId7" Type="http://schemas.openxmlformats.org/officeDocument/2006/relationships/oleObject" Target="../embeddings/oleObject1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33.wmf"/><Relationship Id="rId5" Type="http://schemas.openxmlformats.org/officeDocument/2006/relationships/oleObject" Target="../embeddings/oleObject132.bin"/><Relationship Id="rId10" Type="http://schemas.openxmlformats.org/officeDocument/2006/relationships/image" Target="../media/image135.wmf"/><Relationship Id="rId4" Type="http://schemas.openxmlformats.org/officeDocument/2006/relationships/image" Target="../media/image136.png"/><Relationship Id="rId9" Type="http://schemas.openxmlformats.org/officeDocument/2006/relationships/oleObject" Target="../embeddings/oleObject134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7.bin"/><Relationship Id="rId13" Type="http://schemas.openxmlformats.org/officeDocument/2006/relationships/image" Target="../media/image140.wmf"/><Relationship Id="rId3" Type="http://schemas.openxmlformats.org/officeDocument/2006/relationships/audio" Target="../media/audio3.wav"/><Relationship Id="rId7" Type="http://schemas.openxmlformats.org/officeDocument/2006/relationships/image" Target="../media/image43.wmf"/><Relationship Id="rId12" Type="http://schemas.openxmlformats.org/officeDocument/2006/relationships/oleObject" Target="../embeddings/oleObject1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136.bin"/><Relationship Id="rId11" Type="http://schemas.openxmlformats.org/officeDocument/2006/relationships/image" Target="../media/image139.png"/><Relationship Id="rId5" Type="http://schemas.openxmlformats.org/officeDocument/2006/relationships/image" Target="../media/image137.wmf"/><Relationship Id="rId10" Type="http://schemas.openxmlformats.org/officeDocument/2006/relationships/oleObject" Target="../embeddings/oleObject138.bin"/><Relationship Id="rId4" Type="http://schemas.openxmlformats.org/officeDocument/2006/relationships/oleObject" Target="../embeddings/oleObject135.bin"/><Relationship Id="rId9" Type="http://schemas.openxmlformats.org/officeDocument/2006/relationships/image" Target="../media/image138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5" Type="http://schemas.openxmlformats.org/officeDocument/2006/relationships/image" Target="../media/image141.wmf"/><Relationship Id="rId4" Type="http://schemas.openxmlformats.org/officeDocument/2006/relationships/oleObject" Target="../embeddings/oleObject140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5" Type="http://schemas.openxmlformats.org/officeDocument/2006/relationships/image" Target="../media/image141.wmf"/><Relationship Id="rId4" Type="http://schemas.openxmlformats.org/officeDocument/2006/relationships/oleObject" Target="../embeddings/oleObject141.bin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13" Type="http://schemas.openxmlformats.org/officeDocument/2006/relationships/oleObject" Target="../embeddings/oleObject147.bin"/><Relationship Id="rId3" Type="http://schemas.openxmlformats.org/officeDocument/2006/relationships/oleObject" Target="../embeddings/oleObject142.bin"/><Relationship Id="rId7" Type="http://schemas.openxmlformats.org/officeDocument/2006/relationships/oleObject" Target="../embeddings/oleObject144.bin"/><Relationship Id="rId12" Type="http://schemas.openxmlformats.org/officeDocument/2006/relationships/image" Target="../media/image14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46.wmf"/><Relationship Id="rId11" Type="http://schemas.openxmlformats.org/officeDocument/2006/relationships/oleObject" Target="../embeddings/oleObject146.bin"/><Relationship Id="rId5" Type="http://schemas.openxmlformats.org/officeDocument/2006/relationships/oleObject" Target="../embeddings/oleObject143.bin"/><Relationship Id="rId10" Type="http://schemas.openxmlformats.org/officeDocument/2006/relationships/image" Target="../media/image148.wmf"/><Relationship Id="rId4" Type="http://schemas.openxmlformats.org/officeDocument/2006/relationships/image" Target="../media/image145.wmf"/><Relationship Id="rId9" Type="http://schemas.openxmlformats.org/officeDocument/2006/relationships/oleObject" Target="../embeddings/oleObject145.bin"/><Relationship Id="rId14" Type="http://schemas.openxmlformats.org/officeDocument/2006/relationships/image" Target="../media/image150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13" Type="http://schemas.openxmlformats.org/officeDocument/2006/relationships/oleObject" Target="../embeddings/oleObject153.bin"/><Relationship Id="rId3" Type="http://schemas.openxmlformats.org/officeDocument/2006/relationships/oleObject" Target="../embeddings/oleObject148.bin"/><Relationship Id="rId7" Type="http://schemas.openxmlformats.org/officeDocument/2006/relationships/oleObject" Target="../embeddings/oleObject150.bin"/><Relationship Id="rId12" Type="http://schemas.openxmlformats.org/officeDocument/2006/relationships/image" Target="../media/image15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52.wmf"/><Relationship Id="rId11" Type="http://schemas.openxmlformats.org/officeDocument/2006/relationships/oleObject" Target="../embeddings/oleObject152.bin"/><Relationship Id="rId5" Type="http://schemas.openxmlformats.org/officeDocument/2006/relationships/oleObject" Target="../embeddings/oleObject149.bin"/><Relationship Id="rId10" Type="http://schemas.openxmlformats.org/officeDocument/2006/relationships/image" Target="../media/image154.wmf"/><Relationship Id="rId4" Type="http://schemas.openxmlformats.org/officeDocument/2006/relationships/image" Target="../media/image151.wmf"/><Relationship Id="rId9" Type="http://schemas.openxmlformats.org/officeDocument/2006/relationships/oleObject" Target="../embeddings/oleObject151.bin"/><Relationship Id="rId14" Type="http://schemas.openxmlformats.org/officeDocument/2006/relationships/image" Target="../media/image156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wmf"/><Relationship Id="rId3" Type="http://schemas.openxmlformats.org/officeDocument/2006/relationships/oleObject" Target="../embeddings/oleObject154.bin"/><Relationship Id="rId7" Type="http://schemas.openxmlformats.org/officeDocument/2006/relationships/oleObject" Target="../embeddings/oleObject156.bin"/><Relationship Id="rId12" Type="http://schemas.openxmlformats.org/officeDocument/2006/relationships/image" Target="../media/image15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58.wmf"/><Relationship Id="rId11" Type="http://schemas.openxmlformats.org/officeDocument/2006/relationships/oleObject" Target="../embeddings/oleObject158.bin"/><Relationship Id="rId5" Type="http://schemas.openxmlformats.org/officeDocument/2006/relationships/oleObject" Target="../embeddings/oleObject155.bin"/><Relationship Id="rId10" Type="http://schemas.openxmlformats.org/officeDocument/2006/relationships/image" Target="../media/image151.wmf"/><Relationship Id="rId4" Type="http://schemas.openxmlformats.org/officeDocument/2006/relationships/image" Target="../media/image157.wmf"/><Relationship Id="rId9" Type="http://schemas.openxmlformats.org/officeDocument/2006/relationships/oleObject" Target="../embeddings/oleObject157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wmf"/><Relationship Id="rId13" Type="http://schemas.openxmlformats.org/officeDocument/2006/relationships/oleObject" Target="../embeddings/oleObject164.bin"/><Relationship Id="rId18" Type="http://schemas.openxmlformats.org/officeDocument/2006/relationships/image" Target="../media/image167.wmf"/><Relationship Id="rId3" Type="http://schemas.openxmlformats.org/officeDocument/2006/relationships/oleObject" Target="../embeddings/oleObject159.bin"/><Relationship Id="rId21" Type="http://schemas.openxmlformats.org/officeDocument/2006/relationships/oleObject" Target="../embeddings/oleObject168.bin"/><Relationship Id="rId7" Type="http://schemas.openxmlformats.org/officeDocument/2006/relationships/oleObject" Target="../embeddings/oleObject161.bin"/><Relationship Id="rId12" Type="http://schemas.openxmlformats.org/officeDocument/2006/relationships/image" Target="../media/image164.wmf"/><Relationship Id="rId17" Type="http://schemas.openxmlformats.org/officeDocument/2006/relationships/oleObject" Target="../embeddings/oleObject16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6.wmf"/><Relationship Id="rId20" Type="http://schemas.openxmlformats.org/officeDocument/2006/relationships/image" Target="../media/image168.wmf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61.wmf"/><Relationship Id="rId11" Type="http://schemas.openxmlformats.org/officeDocument/2006/relationships/oleObject" Target="../embeddings/oleObject163.bin"/><Relationship Id="rId5" Type="http://schemas.openxmlformats.org/officeDocument/2006/relationships/oleObject" Target="../embeddings/oleObject160.bin"/><Relationship Id="rId15" Type="http://schemas.openxmlformats.org/officeDocument/2006/relationships/oleObject" Target="../embeddings/oleObject165.bin"/><Relationship Id="rId10" Type="http://schemas.openxmlformats.org/officeDocument/2006/relationships/image" Target="../media/image163.wmf"/><Relationship Id="rId19" Type="http://schemas.openxmlformats.org/officeDocument/2006/relationships/oleObject" Target="../embeddings/oleObject167.bin"/><Relationship Id="rId4" Type="http://schemas.openxmlformats.org/officeDocument/2006/relationships/image" Target="../media/image160.wmf"/><Relationship Id="rId9" Type="http://schemas.openxmlformats.org/officeDocument/2006/relationships/oleObject" Target="../embeddings/oleObject162.bin"/><Relationship Id="rId14" Type="http://schemas.openxmlformats.org/officeDocument/2006/relationships/image" Target="../media/image165.wmf"/><Relationship Id="rId22" Type="http://schemas.openxmlformats.org/officeDocument/2006/relationships/image" Target="../media/image169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wmf"/><Relationship Id="rId3" Type="http://schemas.openxmlformats.org/officeDocument/2006/relationships/oleObject" Target="../embeddings/oleObject169.bin"/><Relationship Id="rId7" Type="http://schemas.openxmlformats.org/officeDocument/2006/relationships/oleObject" Target="../embeddings/oleObject17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71.wmf"/><Relationship Id="rId5" Type="http://schemas.openxmlformats.org/officeDocument/2006/relationships/oleObject" Target="../embeddings/oleObject170.bin"/><Relationship Id="rId4" Type="http://schemas.openxmlformats.org/officeDocument/2006/relationships/image" Target="../media/image170.w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4" Type="http://schemas.openxmlformats.org/officeDocument/2006/relationships/image" Target="../media/image173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wmf"/><Relationship Id="rId3" Type="http://schemas.openxmlformats.org/officeDocument/2006/relationships/oleObject" Target="../embeddings/oleObject173.bin"/><Relationship Id="rId7" Type="http://schemas.openxmlformats.org/officeDocument/2006/relationships/oleObject" Target="../embeddings/oleObject17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75.wmf"/><Relationship Id="rId5" Type="http://schemas.openxmlformats.org/officeDocument/2006/relationships/oleObject" Target="../embeddings/oleObject174.bin"/><Relationship Id="rId10" Type="http://schemas.openxmlformats.org/officeDocument/2006/relationships/image" Target="../media/image177.png"/><Relationship Id="rId4" Type="http://schemas.openxmlformats.org/officeDocument/2006/relationships/image" Target="../media/image174.png"/><Relationship Id="rId9" Type="http://schemas.openxmlformats.org/officeDocument/2006/relationships/oleObject" Target="../embeddings/oleObject176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9.bin"/><Relationship Id="rId3" Type="http://schemas.openxmlformats.org/officeDocument/2006/relationships/oleObject" Target="../embeddings/oleObject177.bin"/><Relationship Id="rId7" Type="http://schemas.openxmlformats.org/officeDocument/2006/relationships/image" Target="../media/image18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179.png"/><Relationship Id="rId5" Type="http://schemas.openxmlformats.org/officeDocument/2006/relationships/oleObject" Target="../embeddings/oleObject178.bin"/><Relationship Id="rId10" Type="http://schemas.openxmlformats.org/officeDocument/2006/relationships/oleObject" Target="../embeddings/oleObject180.bin"/><Relationship Id="rId4" Type="http://schemas.openxmlformats.org/officeDocument/2006/relationships/image" Target="../media/image178.png"/><Relationship Id="rId9" Type="http://schemas.openxmlformats.org/officeDocument/2006/relationships/image" Target="../media/image180.w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png"/><Relationship Id="rId13" Type="http://schemas.openxmlformats.org/officeDocument/2006/relationships/oleObject" Target="../embeddings/oleObject186.bin"/><Relationship Id="rId3" Type="http://schemas.openxmlformats.org/officeDocument/2006/relationships/oleObject" Target="../embeddings/oleObject181.bin"/><Relationship Id="rId7" Type="http://schemas.openxmlformats.org/officeDocument/2006/relationships/oleObject" Target="../embeddings/oleObject183.bin"/><Relationship Id="rId12" Type="http://schemas.openxmlformats.org/officeDocument/2006/relationships/image" Target="../media/image18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183.png"/><Relationship Id="rId11" Type="http://schemas.openxmlformats.org/officeDocument/2006/relationships/oleObject" Target="../embeddings/oleObject185.bin"/><Relationship Id="rId5" Type="http://schemas.openxmlformats.org/officeDocument/2006/relationships/oleObject" Target="../embeddings/oleObject182.bin"/><Relationship Id="rId15" Type="http://schemas.openxmlformats.org/officeDocument/2006/relationships/image" Target="../media/image188.png"/><Relationship Id="rId10" Type="http://schemas.openxmlformats.org/officeDocument/2006/relationships/image" Target="../media/image185.png"/><Relationship Id="rId4" Type="http://schemas.openxmlformats.org/officeDocument/2006/relationships/image" Target="../media/image182.png"/><Relationship Id="rId9" Type="http://schemas.openxmlformats.org/officeDocument/2006/relationships/oleObject" Target="../embeddings/oleObject184.bin"/><Relationship Id="rId14" Type="http://schemas.openxmlformats.org/officeDocument/2006/relationships/image" Target="../media/image187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4.vml"/><Relationship Id="rId5" Type="http://schemas.openxmlformats.org/officeDocument/2006/relationships/image" Target="../media/image189.wmf"/><Relationship Id="rId4" Type="http://schemas.openxmlformats.org/officeDocument/2006/relationships/oleObject" Target="../embeddings/oleObject187.bin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193.png"/><Relationship Id="rId5" Type="http://schemas.openxmlformats.org/officeDocument/2006/relationships/image" Target="../media/image191.png"/><Relationship Id="rId4" Type="http://schemas.openxmlformats.org/officeDocument/2006/relationships/oleObject" Target="../embeddings/oleObject188.bin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6.vml"/><Relationship Id="rId4" Type="http://schemas.openxmlformats.org/officeDocument/2006/relationships/image" Target="../media/image19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37D94-328C-4E82-B6A6-BF8A6984BA79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24585" name="Text Box 9"/>
          <p:cNvSpPr txBox="1">
            <a:spLocks noChangeArrowheads="1"/>
          </p:cNvSpPr>
          <p:nvPr/>
        </p:nvSpPr>
        <p:spPr bwMode="auto">
          <a:xfrm>
            <a:off x="609600" y="400050"/>
            <a:ext cx="8001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600" b="1">
                <a:solidFill>
                  <a:srgbClr val="0000FF"/>
                </a:solidFill>
              </a:rPr>
              <a:t>第十六章  恒定电流</a:t>
            </a:r>
            <a:r>
              <a:rPr lang="zh-CN" altLang="en-US" sz="3600" b="1">
                <a:solidFill>
                  <a:srgbClr val="FF0000"/>
                </a:solidFill>
              </a:rPr>
              <a:t> （</a:t>
            </a:r>
            <a:r>
              <a:rPr lang="en-US" altLang="zh-CN" sz="3600" b="1">
                <a:solidFill>
                  <a:srgbClr val="FF0000"/>
                </a:solidFill>
              </a:rPr>
              <a:t>Steady Current</a:t>
            </a:r>
            <a:r>
              <a:rPr lang="zh-CN" altLang="en-US" sz="3600" b="1">
                <a:solidFill>
                  <a:srgbClr val="FF0000"/>
                </a:solidFill>
              </a:rPr>
              <a:t>）</a:t>
            </a:r>
            <a:endParaRPr lang="zh-CN" altLang="en-US" sz="3600"/>
          </a:p>
        </p:txBody>
      </p:sp>
      <p:sp>
        <p:nvSpPr>
          <p:cNvPr id="24593" name="Text Box 17"/>
          <p:cNvSpPr txBox="1">
            <a:spLocks noChangeArrowheads="1"/>
          </p:cNvSpPr>
          <p:nvPr/>
        </p:nvSpPr>
        <p:spPr bwMode="auto">
          <a:xfrm>
            <a:off x="235868" y="2276872"/>
            <a:ext cx="8748464" cy="1131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3200" b="1" dirty="0">
                <a:solidFill>
                  <a:srgbClr val="000000"/>
                </a:solidFill>
              </a:rPr>
              <a:t>   </a:t>
            </a:r>
            <a:r>
              <a:rPr lang="zh-CN" altLang="en-US" sz="3200" b="1" dirty="0">
                <a:solidFill>
                  <a:srgbClr val="000000"/>
                </a:solidFill>
              </a:rPr>
              <a:t>本章从“场”的角度</a:t>
            </a:r>
            <a:r>
              <a:rPr lang="zh-CN" altLang="en-US" sz="3200" b="1">
                <a:solidFill>
                  <a:srgbClr val="000000"/>
                </a:solidFill>
              </a:rPr>
              <a:t>出发，以电场的规律为基础</a:t>
            </a:r>
            <a:r>
              <a:rPr lang="zh-CN" altLang="en-US" sz="3200" b="1" smtClean="0">
                <a:solidFill>
                  <a:srgbClr val="000000"/>
                </a:solidFill>
              </a:rPr>
              <a:t>，</a:t>
            </a:r>
            <a:r>
              <a:rPr lang="zh-CN" altLang="en-US" sz="3200" b="1">
                <a:solidFill>
                  <a:srgbClr val="000000"/>
                </a:solidFill>
              </a:rPr>
              <a:t>研究电路的基本规律</a:t>
            </a:r>
            <a:r>
              <a:rPr lang="zh-CN" altLang="en-US" sz="3200" b="1" smtClean="0">
                <a:solidFill>
                  <a:srgbClr val="000000"/>
                </a:solidFill>
              </a:rPr>
              <a:t>。</a:t>
            </a:r>
            <a:endParaRPr lang="zh-CN" altLang="en-US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624483" y="1398681"/>
            <a:ext cx="2656496" cy="634020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lnSpc>
                <a:spcPct val="110000"/>
              </a:lnSpc>
              <a:defRPr sz="3200" b="1">
                <a:solidFill>
                  <a:srgbClr val="000000"/>
                </a:solidFill>
              </a:defRPr>
            </a:lvl1pPr>
          </a:lstStyle>
          <a:p>
            <a:r>
              <a:rPr lang="zh-CN" altLang="en-US"/>
              <a:t>本章承上启下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19672" y="3789040"/>
            <a:ext cx="4480714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p"/>
            </a:pPr>
            <a:r>
              <a:rPr lang="zh-CN" altLang="en-US" sz="2800" b="1" smtClean="0"/>
              <a:t>如何描述电流场</a:t>
            </a:r>
            <a:endParaRPr lang="en-US" altLang="zh-CN" sz="2800" b="1" smtClean="0"/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p"/>
            </a:pPr>
            <a:r>
              <a:rPr lang="zh-CN" altLang="en-US" sz="2800" b="1" smtClean="0"/>
              <a:t>恒定电流场满足的条件；</a:t>
            </a:r>
            <a:endParaRPr lang="en-US" altLang="zh-CN" sz="2800" b="1" smtClean="0"/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p"/>
            </a:pPr>
            <a:r>
              <a:rPr lang="zh-CN" altLang="en-US" sz="2800" b="1" smtClean="0"/>
              <a:t>恒定电路遵循的规律；</a:t>
            </a:r>
            <a:endParaRPr lang="en-US" altLang="zh-CN" sz="2800" b="1" smtClean="0"/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p"/>
            </a:pPr>
            <a:r>
              <a:rPr lang="zh-CN" altLang="en-US" sz="2800" b="1" smtClean="0"/>
              <a:t>如何分析稳恒电路</a:t>
            </a:r>
            <a:endParaRPr lang="zh-CN" altLang="en-US" sz="28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37D94-328C-4E82-B6A6-BF8A6984BA79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2195736" y="2030412"/>
            <a:ext cx="3308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0000FF"/>
                </a:solidFill>
              </a:rPr>
              <a:t>§1 </a:t>
            </a:r>
            <a:r>
              <a:rPr lang="zh-CN" altLang="en-US" sz="2800" b="1">
                <a:solidFill>
                  <a:srgbClr val="0000FF"/>
                </a:solidFill>
              </a:rPr>
              <a:t>电流和电流密度</a:t>
            </a:r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2206849" y="2606675"/>
            <a:ext cx="40227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0000FF"/>
                </a:solidFill>
              </a:rPr>
              <a:t>§2 </a:t>
            </a:r>
            <a:r>
              <a:rPr lang="zh-CN" altLang="en-US" sz="2800" b="1">
                <a:solidFill>
                  <a:srgbClr val="0000FF"/>
                </a:solidFill>
              </a:rPr>
              <a:t>恒定电流和恒定电场</a:t>
            </a: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2195736" y="3254375"/>
            <a:ext cx="601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rgbClr val="0000FF"/>
                </a:solidFill>
              </a:rPr>
              <a:t>§3 </a:t>
            </a:r>
            <a:r>
              <a:rPr lang="zh-CN" altLang="en-US" sz="2800" b="1">
                <a:solidFill>
                  <a:srgbClr val="0000FF"/>
                </a:solidFill>
              </a:rPr>
              <a:t>欧姆定律和电阻</a:t>
            </a:r>
          </a:p>
        </p:txBody>
      </p:sp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2195736" y="3830637"/>
            <a:ext cx="187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0000FF"/>
                </a:solidFill>
              </a:rPr>
              <a:t>§4 </a:t>
            </a:r>
            <a:r>
              <a:rPr lang="zh-CN" altLang="en-US" sz="2800" b="1">
                <a:solidFill>
                  <a:srgbClr val="0000FF"/>
                </a:solidFill>
              </a:rPr>
              <a:t>电动势</a:t>
            </a:r>
          </a:p>
        </p:txBody>
      </p:sp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2195736" y="4406900"/>
            <a:ext cx="3308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0000FF"/>
                </a:solidFill>
              </a:rPr>
              <a:t>§5 </a:t>
            </a:r>
            <a:r>
              <a:rPr lang="zh-CN" altLang="en-US" sz="2800" b="1">
                <a:solidFill>
                  <a:srgbClr val="0000FF"/>
                </a:solidFill>
              </a:rPr>
              <a:t>有电动势的电路</a:t>
            </a:r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1859186" y="5054600"/>
            <a:ext cx="46085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0000FF"/>
                </a:solidFill>
              </a:rPr>
              <a:t>*</a:t>
            </a:r>
            <a:r>
              <a:rPr lang="en-US" altLang="zh-CN"/>
              <a:t> </a:t>
            </a:r>
            <a:r>
              <a:rPr lang="en-US" altLang="zh-CN" sz="2800" b="1">
                <a:solidFill>
                  <a:srgbClr val="0000FF"/>
                </a:solidFill>
                <a:latin typeface="宋体" pitchFamily="2" charset="-122"/>
              </a:rPr>
              <a:t>△</a:t>
            </a:r>
            <a:r>
              <a:rPr lang="en-US" altLang="zh-CN" sz="2800" b="1">
                <a:solidFill>
                  <a:srgbClr val="0000FF"/>
                </a:solidFill>
              </a:rPr>
              <a:t>§6 </a:t>
            </a:r>
            <a:r>
              <a:rPr lang="zh-CN" altLang="en-US" sz="2800" b="1">
                <a:solidFill>
                  <a:srgbClr val="0000FF"/>
                </a:solidFill>
              </a:rPr>
              <a:t>电容器的充电与放电</a:t>
            </a:r>
          </a:p>
        </p:txBody>
      </p:sp>
      <p:sp>
        <p:nvSpPr>
          <p:cNvPr id="24584" name="Rectangle 8"/>
          <p:cNvSpPr>
            <a:spLocks noChangeArrowheads="1"/>
          </p:cNvSpPr>
          <p:nvPr/>
        </p:nvSpPr>
        <p:spPr bwMode="auto">
          <a:xfrm>
            <a:off x="1681386" y="5630862"/>
            <a:ext cx="50942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0000FF"/>
                </a:solidFill>
                <a:latin typeface="宋体" pitchFamily="2" charset="-122"/>
              </a:rPr>
              <a:t>△</a:t>
            </a:r>
            <a:r>
              <a:rPr lang="en-US" altLang="zh-CN" sz="2800" b="1">
                <a:solidFill>
                  <a:srgbClr val="0000FF"/>
                </a:solidFill>
              </a:rPr>
              <a:t>§7 </a:t>
            </a:r>
            <a:r>
              <a:rPr lang="zh-CN" altLang="en-US" sz="2800" b="1">
                <a:solidFill>
                  <a:srgbClr val="0000FF"/>
                </a:solidFill>
              </a:rPr>
              <a:t>电流的一种经典微观图象</a:t>
            </a:r>
          </a:p>
        </p:txBody>
      </p:sp>
      <p:sp>
        <p:nvSpPr>
          <p:cNvPr id="24585" name="Text Box 9"/>
          <p:cNvSpPr txBox="1">
            <a:spLocks noChangeArrowheads="1"/>
          </p:cNvSpPr>
          <p:nvPr/>
        </p:nvSpPr>
        <p:spPr bwMode="auto">
          <a:xfrm>
            <a:off x="609600" y="400050"/>
            <a:ext cx="8001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600" b="1">
                <a:solidFill>
                  <a:srgbClr val="0000FF"/>
                </a:solidFill>
              </a:rPr>
              <a:t>第十六章  恒定电流</a:t>
            </a:r>
            <a:r>
              <a:rPr lang="zh-CN" altLang="en-US" sz="3600" b="1">
                <a:solidFill>
                  <a:srgbClr val="FF0000"/>
                </a:solidFill>
              </a:rPr>
              <a:t> （</a:t>
            </a:r>
            <a:r>
              <a:rPr lang="en-US" altLang="zh-CN" sz="3600" b="1">
                <a:solidFill>
                  <a:srgbClr val="FF0000"/>
                </a:solidFill>
              </a:rPr>
              <a:t>Steady Current</a:t>
            </a:r>
            <a:r>
              <a:rPr lang="zh-CN" altLang="en-US" sz="3600" b="1">
                <a:solidFill>
                  <a:srgbClr val="FF0000"/>
                </a:solidFill>
              </a:rPr>
              <a:t>）</a:t>
            </a:r>
            <a:endParaRPr lang="zh-CN" altLang="en-US" sz="3600"/>
          </a:p>
        </p:txBody>
      </p:sp>
    </p:spTree>
    <p:extLst>
      <p:ext uri="{BB962C8B-B14F-4D97-AF65-F5344CB8AC3E}">
        <p14:creationId xmlns:p14="http://schemas.microsoft.com/office/powerpoint/2010/main" val="3151535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092280" y="6352994"/>
            <a:ext cx="1905000" cy="457200"/>
          </a:xfrm>
        </p:spPr>
        <p:txBody>
          <a:bodyPr/>
          <a:lstStyle/>
          <a:p>
            <a:fld id="{7AE136B0-1E8A-4369-BA3B-F1600ECF8265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43033" name="Text Box 25"/>
          <p:cNvSpPr txBox="1">
            <a:spLocks noChangeArrowheads="1"/>
          </p:cNvSpPr>
          <p:nvPr/>
        </p:nvSpPr>
        <p:spPr bwMode="auto">
          <a:xfrm>
            <a:off x="250825" y="260350"/>
            <a:ext cx="8642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zh-CN" sz="3600" b="1">
                <a:solidFill>
                  <a:srgbClr val="0000FF"/>
                </a:solidFill>
              </a:rPr>
              <a:t>§1</a:t>
            </a:r>
            <a:r>
              <a:rPr lang="zh-CN" altLang="en-US" sz="3600" b="1">
                <a:solidFill>
                  <a:srgbClr val="0000FF"/>
                </a:solidFill>
              </a:rPr>
              <a:t>电流和电流密度</a:t>
            </a:r>
            <a:r>
              <a:rPr lang="zh-CN" altLang="en-US" sz="3600" b="1">
                <a:solidFill>
                  <a:srgbClr val="FF0000"/>
                </a:solidFill>
              </a:rPr>
              <a:t>（</a:t>
            </a:r>
            <a:r>
              <a:rPr lang="en-US" altLang="zh-CN" sz="3600" b="1">
                <a:solidFill>
                  <a:srgbClr val="FF0000"/>
                </a:solidFill>
              </a:rPr>
              <a:t>current density</a:t>
            </a:r>
            <a:r>
              <a:rPr lang="zh-CN" altLang="en-US" sz="3600" b="1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43034" name="Text Box 26"/>
          <p:cNvSpPr txBox="1">
            <a:spLocks noChangeArrowheads="1"/>
          </p:cNvSpPr>
          <p:nvPr/>
        </p:nvSpPr>
        <p:spPr bwMode="auto">
          <a:xfrm>
            <a:off x="323850" y="1268413"/>
            <a:ext cx="69707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buFontTx/>
              <a:buAutoNum type="arabicPeriod"/>
            </a:pPr>
            <a:r>
              <a:rPr lang="zh-CN" altLang="en-US" sz="3200" b="1">
                <a:solidFill>
                  <a:srgbClr val="0000CC"/>
                </a:solidFill>
                <a:latin typeface="宋体" pitchFamily="2" charset="-122"/>
              </a:rPr>
              <a:t>电流强度 </a:t>
            </a:r>
            <a:r>
              <a:rPr lang="en-US" altLang="zh-CN" sz="3200">
                <a:solidFill>
                  <a:srgbClr val="FF0000"/>
                </a:solidFill>
              </a:rPr>
              <a:t>(</a:t>
            </a:r>
            <a:r>
              <a:rPr lang="en-US" altLang="zh-CN" sz="3200" b="1">
                <a:solidFill>
                  <a:srgbClr val="FF0000"/>
                </a:solidFill>
              </a:rPr>
              <a:t>electric current strength</a:t>
            </a:r>
            <a:r>
              <a:rPr lang="en-US" altLang="zh-CN" sz="3200">
                <a:solidFill>
                  <a:srgbClr val="FF0000"/>
                </a:solidFill>
              </a:rPr>
              <a:t>)</a:t>
            </a:r>
            <a:endParaRPr lang="en-US" altLang="zh-CN" sz="3200" b="1">
              <a:solidFill>
                <a:srgbClr val="0000CC"/>
              </a:solidFill>
              <a:latin typeface="宋体" pitchFamily="2" charset="-122"/>
            </a:endParaRPr>
          </a:p>
        </p:txBody>
      </p:sp>
      <p:sp>
        <p:nvSpPr>
          <p:cNvPr id="29" name="Rectangle 3"/>
          <p:cNvSpPr txBox="1">
            <a:spLocks noChangeArrowheads="1"/>
          </p:cNvSpPr>
          <p:nvPr/>
        </p:nvSpPr>
        <p:spPr>
          <a:xfrm>
            <a:off x="323850" y="1916832"/>
            <a:ext cx="8397875" cy="1800225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>
              <a:lnSpc>
                <a:spcPct val="90000"/>
              </a:lnSpc>
              <a:buNone/>
            </a:pPr>
            <a:r>
              <a:rPr lang="zh-CN" altLang="en-US" sz="2800" b="1" smtClean="0">
                <a:solidFill>
                  <a:srgbClr val="660033"/>
                </a:solidFill>
                <a:latin typeface="+mn-ea"/>
              </a:rPr>
              <a:t>电流：</a:t>
            </a:r>
            <a:r>
              <a:rPr lang="zh-CN" altLang="en-US" sz="2800" b="1" smtClean="0">
                <a:latin typeface="+mn-ea"/>
              </a:rPr>
              <a:t>电荷的定向运动形成电流</a:t>
            </a:r>
            <a:r>
              <a:rPr lang="zh-CN" altLang="en-US" sz="2800" b="1" smtClean="0">
                <a:solidFill>
                  <a:srgbClr val="660033"/>
                </a:solidFill>
                <a:latin typeface="+mn-ea"/>
              </a:rPr>
              <a:t> 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zh-CN" altLang="en-US" sz="2800" b="1" smtClean="0">
                <a:solidFill>
                  <a:srgbClr val="660033"/>
                </a:solidFill>
                <a:latin typeface="+mn-ea"/>
              </a:rPr>
              <a:t>电流强度：</a:t>
            </a:r>
            <a:r>
              <a:rPr lang="zh-CN" altLang="en-US" sz="2800" b="1" smtClean="0">
                <a:latin typeface="+mn-ea"/>
              </a:rPr>
              <a:t>单位时间内通过导体任一横截面的电量</a:t>
            </a:r>
            <a:r>
              <a:rPr lang="zh-CN" altLang="en-US" sz="2800" b="1" smtClean="0">
                <a:solidFill>
                  <a:srgbClr val="660033"/>
                </a:solidFill>
                <a:latin typeface="+mn-ea"/>
              </a:rPr>
              <a:t> </a:t>
            </a:r>
          </a:p>
        </p:txBody>
      </p:sp>
      <p:graphicFrame>
        <p:nvGraphicFramePr>
          <p:cNvPr id="3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1879531"/>
              </p:ext>
            </p:extLst>
          </p:nvPr>
        </p:nvGraphicFramePr>
        <p:xfrm>
          <a:off x="2555776" y="2924944"/>
          <a:ext cx="32766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13" r:id="rId3" imgW="1218671" imgH="393529" progId="Equation.3">
                  <p:embed/>
                </p:oleObj>
              </mc:Choice>
              <mc:Fallback>
                <p:oleObj r:id="rId3" imgW="1218671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2924944"/>
                        <a:ext cx="3276600" cy="10509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7"/>
          <p:cNvSpPr txBox="1">
            <a:spLocks noChangeArrowheads="1"/>
          </p:cNvSpPr>
          <p:nvPr/>
        </p:nvSpPr>
        <p:spPr bwMode="auto">
          <a:xfrm>
            <a:off x="179513" y="4221882"/>
            <a:ext cx="6984775" cy="1471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eaLnBrk="0" hangingPunct="0">
              <a:defRPr kumimoji="1"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lvl="1" indent="-190500" algn="just" eaLnBrk="1" hangingPunct="1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zh-CN" altLang="en-US" sz="2800" b="1" smtClean="0">
                <a:latin typeface="+mn-ea"/>
                <a:ea typeface="+mn-ea"/>
              </a:rPr>
              <a:t>安培</a:t>
            </a:r>
            <a:r>
              <a:rPr lang="en-US" altLang="zh-CN" sz="2800" b="1" smtClean="0">
                <a:latin typeface="+mn-ea"/>
                <a:ea typeface="+mn-ea"/>
              </a:rPr>
              <a:t>(</a:t>
            </a:r>
            <a:r>
              <a:rPr lang="en-US" altLang="zh-CN" sz="2800" b="1" i="1" smtClean="0">
                <a:latin typeface="+mn-ea"/>
                <a:ea typeface="+mn-ea"/>
              </a:rPr>
              <a:t>A), </a:t>
            </a:r>
            <a:r>
              <a:rPr lang="zh-CN" altLang="en-US" sz="2800" b="1" smtClean="0">
                <a:latin typeface="+mn-ea"/>
                <a:ea typeface="+mn-ea"/>
              </a:rPr>
              <a:t>毫安</a:t>
            </a:r>
            <a:r>
              <a:rPr lang="zh-CN" altLang="en-US" sz="2800" b="1">
                <a:latin typeface="+mn-ea"/>
                <a:ea typeface="+mn-ea"/>
              </a:rPr>
              <a:t>（</a:t>
            </a:r>
            <a:r>
              <a:rPr lang="en-US" altLang="zh-CN" sz="2800" b="1" i="1">
                <a:latin typeface="+mn-ea"/>
                <a:ea typeface="+mn-ea"/>
              </a:rPr>
              <a:t>mA</a:t>
            </a:r>
            <a:r>
              <a:rPr lang="zh-CN" altLang="en-US" sz="2800" b="1">
                <a:latin typeface="+mn-ea"/>
                <a:ea typeface="+mn-ea"/>
              </a:rPr>
              <a:t>）、微安（</a:t>
            </a:r>
            <a:r>
              <a:rPr lang="en-US" altLang="zh-CN" sz="2800" b="1" i="1">
                <a:latin typeface="+mn-ea"/>
                <a:ea typeface="+mn-ea"/>
              </a:rPr>
              <a:t>μA</a:t>
            </a:r>
            <a:r>
              <a:rPr lang="zh-CN" altLang="en-US" sz="2800" b="1" smtClean="0">
                <a:latin typeface="+mn-ea"/>
                <a:ea typeface="+mn-ea"/>
              </a:rPr>
              <a:t>）、</a:t>
            </a:r>
            <a:endParaRPr lang="en-US" altLang="zh-CN" sz="2800" b="1" smtClean="0">
              <a:latin typeface="+mn-ea"/>
              <a:ea typeface="+mn-ea"/>
            </a:endParaRPr>
          </a:p>
          <a:p>
            <a:pPr lvl="1" indent="-190500" algn="just" eaLnBrk="1" hangingPunct="1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zh-CN" altLang="en-US" sz="2800" b="1" smtClean="0">
                <a:latin typeface="+mn-ea"/>
                <a:ea typeface="+mn-ea"/>
              </a:rPr>
              <a:t>纳安（</a:t>
            </a:r>
            <a:r>
              <a:rPr lang="en-US" altLang="zh-CN" sz="2800" b="1" i="1" smtClean="0">
                <a:latin typeface="+mn-ea"/>
                <a:ea typeface="+mn-ea"/>
              </a:rPr>
              <a:t>nA</a:t>
            </a:r>
            <a:r>
              <a:rPr lang="zh-CN" altLang="en-US" sz="2800" b="1" smtClean="0">
                <a:latin typeface="+mn-ea"/>
                <a:ea typeface="+mn-ea"/>
              </a:rPr>
              <a:t>）、皮安（</a:t>
            </a:r>
            <a:r>
              <a:rPr lang="en-US" altLang="zh-CN" sz="2800" b="1" i="1" smtClean="0">
                <a:latin typeface="+mn-ea"/>
                <a:ea typeface="+mn-ea"/>
              </a:rPr>
              <a:t>pA</a:t>
            </a:r>
            <a:r>
              <a:rPr lang="zh-CN" altLang="en-US" sz="2800" b="1" smtClean="0">
                <a:latin typeface="+mn-ea"/>
                <a:ea typeface="+mn-ea"/>
              </a:rPr>
              <a:t>）</a:t>
            </a:r>
            <a:endParaRPr lang="zh-CN" altLang="en-US" sz="2800" b="1">
              <a:latin typeface="+mn-ea"/>
              <a:ea typeface="+mn-ea"/>
            </a:endParaRPr>
          </a:p>
        </p:txBody>
      </p:sp>
      <p:graphicFrame>
        <p:nvGraphicFramePr>
          <p:cNvPr id="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2858009"/>
              </p:ext>
            </p:extLst>
          </p:nvPr>
        </p:nvGraphicFramePr>
        <p:xfrm>
          <a:off x="467544" y="5805264"/>
          <a:ext cx="7075488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14" name="Equation" r:id="rId5" imgW="2489040" imgH="228600" progId="Equation.DSMT4">
                  <p:embed/>
                </p:oleObj>
              </mc:Choice>
              <mc:Fallback>
                <p:oleObj name="Equation" r:id="rId5" imgW="2489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5805264"/>
                        <a:ext cx="7075488" cy="646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uild="p" bldLvl="2" autoUpdateAnimBg="0"/>
      <p:bldP spid="31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B6713-290E-40B1-A53B-98489A8263F1}" type="slidenum">
              <a:rPr lang="en-US" altLang="zh-CN"/>
              <a:pPr/>
              <a:t>4</a:t>
            </a:fld>
            <a:endParaRPr lang="en-US" altLang="zh-CN"/>
          </a:p>
        </p:txBody>
      </p:sp>
      <p:grpSp>
        <p:nvGrpSpPr>
          <p:cNvPr id="2112" name="Group 64"/>
          <p:cNvGrpSpPr>
            <a:grpSpLocks/>
          </p:cNvGrpSpPr>
          <p:nvPr/>
        </p:nvGrpSpPr>
        <p:grpSpPr bwMode="auto">
          <a:xfrm>
            <a:off x="4265764" y="2532159"/>
            <a:ext cx="4552950" cy="2754312"/>
            <a:chOff x="96" y="2304"/>
            <a:chExt cx="3024" cy="1764"/>
          </a:xfrm>
        </p:grpSpPr>
        <p:grpSp>
          <p:nvGrpSpPr>
            <p:cNvPr id="2113" name="Group 65"/>
            <p:cNvGrpSpPr>
              <a:grpSpLocks/>
            </p:cNvGrpSpPr>
            <p:nvPr/>
          </p:nvGrpSpPr>
          <p:grpSpPr bwMode="auto">
            <a:xfrm>
              <a:off x="624" y="3168"/>
              <a:ext cx="1752" cy="900"/>
              <a:chOff x="888" y="3264"/>
              <a:chExt cx="1776" cy="912"/>
            </a:xfrm>
          </p:grpSpPr>
          <p:sp>
            <p:nvSpPr>
              <p:cNvPr id="2114" name="Arc 66"/>
              <p:cNvSpPr>
                <a:spLocks/>
              </p:cNvSpPr>
              <p:nvPr/>
            </p:nvSpPr>
            <p:spPr bwMode="auto">
              <a:xfrm flipV="1">
                <a:off x="1752" y="3264"/>
                <a:ext cx="912" cy="912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15" name="Arc 67"/>
              <p:cNvSpPr>
                <a:spLocks/>
              </p:cNvSpPr>
              <p:nvPr/>
            </p:nvSpPr>
            <p:spPr bwMode="auto">
              <a:xfrm flipH="1" flipV="1">
                <a:off x="888" y="3264"/>
                <a:ext cx="912" cy="912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116" name="Line 68"/>
            <p:cNvSpPr>
              <a:spLocks noChangeShapeType="1"/>
            </p:cNvSpPr>
            <p:nvPr/>
          </p:nvSpPr>
          <p:spPr bwMode="auto">
            <a:xfrm>
              <a:off x="144" y="2772"/>
              <a:ext cx="29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7" name="Rectangle 69" descr="深色上对角线"/>
            <p:cNvSpPr>
              <a:spLocks noChangeArrowheads="1"/>
            </p:cNvSpPr>
            <p:nvPr/>
          </p:nvSpPr>
          <p:spPr bwMode="auto">
            <a:xfrm>
              <a:off x="192" y="2784"/>
              <a:ext cx="2880" cy="144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8" name="Line 70"/>
            <p:cNvSpPr>
              <a:spLocks noChangeShapeType="1"/>
            </p:cNvSpPr>
            <p:nvPr/>
          </p:nvSpPr>
          <p:spPr bwMode="auto">
            <a:xfrm>
              <a:off x="624" y="2412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119" name="Group 71"/>
            <p:cNvGrpSpPr>
              <a:grpSpLocks/>
            </p:cNvGrpSpPr>
            <p:nvPr/>
          </p:nvGrpSpPr>
          <p:grpSpPr bwMode="auto">
            <a:xfrm>
              <a:off x="1296" y="2304"/>
              <a:ext cx="48" cy="240"/>
              <a:chOff x="1584" y="2580"/>
              <a:chExt cx="48" cy="240"/>
            </a:xfrm>
          </p:grpSpPr>
          <p:sp>
            <p:nvSpPr>
              <p:cNvPr id="2120" name="Line 72"/>
              <p:cNvSpPr>
                <a:spLocks noChangeShapeType="1"/>
              </p:cNvSpPr>
              <p:nvPr/>
            </p:nvSpPr>
            <p:spPr bwMode="auto">
              <a:xfrm>
                <a:off x="1584" y="2580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21" name="Line 73"/>
              <p:cNvSpPr>
                <a:spLocks noChangeShapeType="1"/>
              </p:cNvSpPr>
              <p:nvPr/>
            </p:nvSpPr>
            <p:spPr bwMode="auto">
              <a:xfrm>
                <a:off x="1632" y="2640"/>
                <a:ext cx="0" cy="9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122" name="Group 74"/>
            <p:cNvGrpSpPr>
              <a:grpSpLocks/>
            </p:cNvGrpSpPr>
            <p:nvPr/>
          </p:nvGrpSpPr>
          <p:grpSpPr bwMode="auto">
            <a:xfrm>
              <a:off x="1632" y="2304"/>
              <a:ext cx="48" cy="240"/>
              <a:chOff x="1584" y="2580"/>
              <a:chExt cx="48" cy="240"/>
            </a:xfrm>
          </p:grpSpPr>
          <p:sp>
            <p:nvSpPr>
              <p:cNvPr id="2123" name="Line 75"/>
              <p:cNvSpPr>
                <a:spLocks noChangeShapeType="1"/>
              </p:cNvSpPr>
              <p:nvPr/>
            </p:nvSpPr>
            <p:spPr bwMode="auto">
              <a:xfrm>
                <a:off x="1584" y="2580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24" name="Line 76"/>
              <p:cNvSpPr>
                <a:spLocks noChangeShapeType="1"/>
              </p:cNvSpPr>
              <p:nvPr/>
            </p:nvSpPr>
            <p:spPr bwMode="auto">
              <a:xfrm>
                <a:off x="1632" y="2640"/>
                <a:ext cx="0" cy="9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125" name="Line 77"/>
            <p:cNvSpPr>
              <a:spLocks noChangeShapeType="1"/>
            </p:cNvSpPr>
            <p:nvPr/>
          </p:nvSpPr>
          <p:spPr bwMode="auto">
            <a:xfrm>
              <a:off x="1716" y="2412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26" name="Line 78"/>
            <p:cNvSpPr>
              <a:spLocks noChangeShapeType="1"/>
            </p:cNvSpPr>
            <p:nvPr/>
          </p:nvSpPr>
          <p:spPr bwMode="auto">
            <a:xfrm>
              <a:off x="1392" y="2412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27" name="Line 79"/>
            <p:cNvSpPr>
              <a:spLocks noChangeShapeType="1"/>
            </p:cNvSpPr>
            <p:nvPr/>
          </p:nvSpPr>
          <p:spPr bwMode="auto">
            <a:xfrm>
              <a:off x="624" y="2412"/>
              <a:ext cx="0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28" name="Line 80"/>
            <p:cNvSpPr>
              <a:spLocks noChangeShapeType="1"/>
            </p:cNvSpPr>
            <p:nvPr/>
          </p:nvSpPr>
          <p:spPr bwMode="auto">
            <a:xfrm>
              <a:off x="2388" y="2412"/>
              <a:ext cx="0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29" name="Text Box 81"/>
            <p:cNvSpPr txBox="1">
              <a:spLocks noChangeArrowheads="1"/>
            </p:cNvSpPr>
            <p:nvPr/>
          </p:nvSpPr>
          <p:spPr bwMode="auto">
            <a:xfrm>
              <a:off x="456" y="2772"/>
              <a:ext cx="384" cy="6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6000">
                  <a:sym typeface="Symbol" pitchFamily="18" charset="2"/>
                </a:rPr>
                <a:t></a:t>
              </a:r>
              <a:endParaRPr lang="en-US" altLang="zh-CN" sz="6000"/>
            </a:p>
          </p:txBody>
        </p:sp>
        <p:sp>
          <p:nvSpPr>
            <p:cNvPr id="2130" name="Text Box 82"/>
            <p:cNvSpPr txBox="1">
              <a:spLocks noChangeArrowheads="1"/>
            </p:cNvSpPr>
            <p:nvPr/>
          </p:nvSpPr>
          <p:spPr bwMode="auto">
            <a:xfrm>
              <a:off x="2220" y="2772"/>
              <a:ext cx="384" cy="6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6000">
                  <a:sym typeface="Symbol" pitchFamily="18" charset="2"/>
                </a:rPr>
                <a:t></a:t>
              </a:r>
              <a:endParaRPr lang="en-US" altLang="zh-CN" sz="6000"/>
            </a:p>
          </p:txBody>
        </p:sp>
        <p:sp>
          <p:nvSpPr>
            <p:cNvPr id="2131" name="Line 83"/>
            <p:cNvSpPr>
              <a:spLocks noChangeShapeType="1"/>
            </p:cNvSpPr>
            <p:nvPr/>
          </p:nvSpPr>
          <p:spPr bwMode="auto">
            <a:xfrm>
              <a:off x="624" y="3132"/>
              <a:ext cx="17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2" name="Freeform 84"/>
            <p:cNvSpPr>
              <a:spLocks/>
            </p:cNvSpPr>
            <p:nvPr/>
          </p:nvSpPr>
          <p:spPr bwMode="auto">
            <a:xfrm>
              <a:off x="624" y="3144"/>
              <a:ext cx="1776" cy="228"/>
            </a:xfrm>
            <a:custGeom>
              <a:avLst/>
              <a:gdLst>
                <a:gd name="T0" fmla="*/ 0 w 1776"/>
                <a:gd name="T1" fmla="*/ 0 h 240"/>
                <a:gd name="T2" fmla="*/ 816 w 1776"/>
                <a:gd name="T3" fmla="*/ 240 h 240"/>
                <a:gd name="T4" fmla="*/ 1776 w 1776"/>
                <a:gd name="T5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76" h="240">
                  <a:moveTo>
                    <a:pt x="0" y="0"/>
                  </a:moveTo>
                  <a:cubicBezTo>
                    <a:pt x="260" y="120"/>
                    <a:pt x="520" y="240"/>
                    <a:pt x="816" y="240"/>
                  </a:cubicBezTo>
                  <a:cubicBezTo>
                    <a:pt x="1112" y="240"/>
                    <a:pt x="1444" y="120"/>
                    <a:pt x="1776" y="0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3" name="Freeform 85"/>
            <p:cNvSpPr>
              <a:spLocks/>
            </p:cNvSpPr>
            <p:nvPr/>
          </p:nvSpPr>
          <p:spPr bwMode="auto">
            <a:xfrm>
              <a:off x="648" y="3180"/>
              <a:ext cx="1728" cy="480"/>
            </a:xfrm>
            <a:custGeom>
              <a:avLst/>
              <a:gdLst>
                <a:gd name="T0" fmla="*/ 0 w 1776"/>
                <a:gd name="T1" fmla="*/ 0 h 240"/>
                <a:gd name="T2" fmla="*/ 816 w 1776"/>
                <a:gd name="T3" fmla="*/ 240 h 240"/>
                <a:gd name="T4" fmla="*/ 1776 w 1776"/>
                <a:gd name="T5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76" h="240">
                  <a:moveTo>
                    <a:pt x="0" y="0"/>
                  </a:moveTo>
                  <a:cubicBezTo>
                    <a:pt x="260" y="120"/>
                    <a:pt x="520" y="240"/>
                    <a:pt x="816" y="240"/>
                  </a:cubicBezTo>
                  <a:cubicBezTo>
                    <a:pt x="1112" y="240"/>
                    <a:pt x="1444" y="120"/>
                    <a:pt x="1776" y="0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134" name="Group 86"/>
            <p:cNvGrpSpPr>
              <a:grpSpLocks/>
            </p:cNvGrpSpPr>
            <p:nvPr/>
          </p:nvGrpSpPr>
          <p:grpSpPr bwMode="auto">
            <a:xfrm>
              <a:off x="96" y="3132"/>
              <a:ext cx="480" cy="672"/>
              <a:chOff x="288" y="3264"/>
              <a:chExt cx="576" cy="672"/>
            </a:xfrm>
          </p:grpSpPr>
          <p:sp>
            <p:nvSpPr>
              <p:cNvPr id="2135" name="Freeform 87"/>
              <p:cNvSpPr>
                <a:spLocks/>
              </p:cNvSpPr>
              <p:nvPr/>
            </p:nvSpPr>
            <p:spPr bwMode="auto">
              <a:xfrm>
                <a:off x="672" y="3312"/>
                <a:ext cx="192" cy="624"/>
              </a:xfrm>
              <a:custGeom>
                <a:avLst/>
                <a:gdLst>
                  <a:gd name="T0" fmla="*/ 192 w 192"/>
                  <a:gd name="T1" fmla="*/ 0 h 624"/>
                  <a:gd name="T2" fmla="*/ 48 w 192"/>
                  <a:gd name="T3" fmla="*/ 240 h 624"/>
                  <a:gd name="T4" fmla="*/ 0 w 192"/>
                  <a:gd name="T5" fmla="*/ 624 h 6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2" h="624">
                    <a:moveTo>
                      <a:pt x="192" y="0"/>
                    </a:moveTo>
                    <a:cubicBezTo>
                      <a:pt x="136" y="68"/>
                      <a:pt x="80" y="136"/>
                      <a:pt x="48" y="240"/>
                    </a:cubicBezTo>
                    <a:cubicBezTo>
                      <a:pt x="16" y="344"/>
                      <a:pt x="8" y="484"/>
                      <a:pt x="0" y="624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none" w="med" len="med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36" name="Freeform 88"/>
              <p:cNvSpPr>
                <a:spLocks/>
              </p:cNvSpPr>
              <p:nvPr/>
            </p:nvSpPr>
            <p:spPr bwMode="auto">
              <a:xfrm>
                <a:off x="288" y="3264"/>
                <a:ext cx="576" cy="480"/>
              </a:xfrm>
              <a:custGeom>
                <a:avLst/>
                <a:gdLst>
                  <a:gd name="T0" fmla="*/ 576 w 576"/>
                  <a:gd name="T1" fmla="*/ 0 h 480"/>
                  <a:gd name="T2" fmla="*/ 192 w 576"/>
                  <a:gd name="T3" fmla="*/ 192 h 480"/>
                  <a:gd name="T4" fmla="*/ 0 w 576"/>
                  <a:gd name="T5" fmla="*/ 480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76" h="480">
                    <a:moveTo>
                      <a:pt x="576" y="0"/>
                    </a:moveTo>
                    <a:cubicBezTo>
                      <a:pt x="432" y="56"/>
                      <a:pt x="288" y="112"/>
                      <a:pt x="192" y="192"/>
                    </a:cubicBezTo>
                    <a:cubicBezTo>
                      <a:pt x="96" y="272"/>
                      <a:pt x="48" y="376"/>
                      <a:pt x="0" y="480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none" w="med" len="med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137" name="Group 89"/>
            <p:cNvGrpSpPr>
              <a:grpSpLocks/>
            </p:cNvGrpSpPr>
            <p:nvPr/>
          </p:nvGrpSpPr>
          <p:grpSpPr bwMode="auto">
            <a:xfrm flipH="1">
              <a:off x="2424" y="3156"/>
              <a:ext cx="480" cy="672"/>
              <a:chOff x="288" y="3264"/>
              <a:chExt cx="576" cy="672"/>
            </a:xfrm>
          </p:grpSpPr>
          <p:sp>
            <p:nvSpPr>
              <p:cNvPr id="2138" name="Freeform 90"/>
              <p:cNvSpPr>
                <a:spLocks/>
              </p:cNvSpPr>
              <p:nvPr/>
            </p:nvSpPr>
            <p:spPr bwMode="auto">
              <a:xfrm>
                <a:off x="672" y="3312"/>
                <a:ext cx="192" cy="624"/>
              </a:xfrm>
              <a:custGeom>
                <a:avLst/>
                <a:gdLst>
                  <a:gd name="T0" fmla="*/ 192 w 192"/>
                  <a:gd name="T1" fmla="*/ 0 h 624"/>
                  <a:gd name="T2" fmla="*/ 48 w 192"/>
                  <a:gd name="T3" fmla="*/ 240 h 624"/>
                  <a:gd name="T4" fmla="*/ 0 w 192"/>
                  <a:gd name="T5" fmla="*/ 624 h 6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2" h="624">
                    <a:moveTo>
                      <a:pt x="192" y="0"/>
                    </a:moveTo>
                    <a:cubicBezTo>
                      <a:pt x="136" y="68"/>
                      <a:pt x="80" y="136"/>
                      <a:pt x="48" y="240"/>
                    </a:cubicBezTo>
                    <a:cubicBezTo>
                      <a:pt x="16" y="344"/>
                      <a:pt x="8" y="484"/>
                      <a:pt x="0" y="624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triangl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39" name="Freeform 91"/>
              <p:cNvSpPr>
                <a:spLocks/>
              </p:cNvSpPr>
              <p:nvPr/>
            </p:nvSpPr>
            <p:spPr bwMode="auto">
              <a:xfrm>
                <a:off x="288" y="3264"/>
                <a:ext cx="576" cy="480"/>
              </a:xfrm>
              <a:custGeom>
                <a:avLst/>
                <a:gdLst>
                  <a:gd name="T0" fmla="*/ 576 w 576"/>
                  <a:gd name="T1" fmla="*/ 0 h 480"/>
                  <a:gd name="T2" fmla="*/ 192 w 576"/>
                  <a:gd name="T3" fmla="*/ 192 h 480"/>
                  <a:gd name="T4" fmla="*/ 0 w 576"/>
                  <a:gd name="T5" fmla="*/ 480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76" h="480">
                    <a:moveTo>
                      <a:pt x="576" y="0"/>
                    </a:moveTo>
                    <a:cubicBezTo>
                      <a:pt x="432" y="56"/>
                      <a:pt x="288" y="112"/>
                      <a:pt x="192" y="192"/>
                    </a:cubicBezTo>
                    <a:cubicBezTo>
                      <a:pt x="96" y="272"/>
                      <a:pt x="48" y="376"/>
                      <a:pt x="0" y="480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triangl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140" name="Line 92"/>
            <p:cNvSpPr>
              <a:spLocks noChangeShapeType="1"/>
            </p:cNvSpPr>
            <p:nvPr/>
          </p:nvSpPr>
          <p:spPr bwMode="auto">
            <a:xfrm>
              <a:off x="1344" y="3132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1" name="Line 93"/>
            <p:cNvSpPr>
              <a:spLocks noChangeShapeType="1"/>
            </p:cNvSpPr>
            <p:nvPr/>
          </p:nvSpPr>
          <p:spPr bwMode="auto">
            <a:xfrm>
              <a:off x="1356" y="3372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2" name="Line 94"/>
            <p:cNvSpPr>
              <a:spLocks noChangeShapeType="1"/>
            </p:cNvSpPr>
            <p:nvPr/>
          </p:nvSpPr>
          <p:spPr bwMode="auto">
            <a:xfrm>
              <a:off x="1356" y="366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3" name="Line 95"/>
            <p:cNvSpPr>
              <a:spLocks noChangeShapeType="1"/>
            </p:cNvSpPr>
            <p:nvPr/>
          </p:nvSpPr>
          <p:spPr bwMode="auto">
            <a:xfrm>
              <a:off x="1392" y="406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4" name="Line 96"/>
            <p:cNvSpPr>
              <a:spLocks noChangeShapeType="1"/>
            </p:cNvSpPr>
            <p:nvPr/>
          </p:nvSpPr>
          <p:spPr bwMode="auto">
            <a:xfrm>
              <a:off x="624" y="2556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5" name="Line 97"/>
            <p:cNvSpPr>
              <a:spLocks noChangeShapeType="1"/>
            </p:cNvSpPr>
            <p:nvPr/>
          </p:nvSpPr>
          <p:spPr bwMode="auto">
            <a:xfrm flipV="1">
              <a:off x="2388" y="2508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46" name="Rectangle 98"/>
          <p:cNvSpPr>
            <a:spLocks noChangeArrowheads="1"/>
          </p:cNvSpPr>
          <p:nvPr/>
        </p:nvSpPr>
        <p:spPr bwMode="auto">
          <a:xfrm>
            <a:off x="370558" y="1268760"/>
            <a:ext cx="8280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rgbClr val="000000"/>
                </a:solidFill>
              </a:rPr>
              <a:t>对细导线用</a:t>
            </a:r>
            <a:r>
              <a:rPr lang="zh-CN" altLang="en-US" sz="2800" b="1">
                <a:solidFill>
                  <a:srgbClr val="0000FF"/>
                </a:solidFill>
              </a:rPr>
              <a:t>电流强度</a:t>
            </a:r>
            <a:r>
              <a:rPr lang="zh-CN" altLang="en-US" sz="2800" b="1"/>
              <a:t>的</a:t>
            </a:r>
            <a:r>
              <a:rPr lang="zh-CN" altLang="en-US" sz="2800" b="1">
                <a:solidFill>
                  <a:srgbClr val="000000"/>
                </a:solidFill>
              </a:rPr>
              <a:t>概念就够了。对大块导体，还需</a:t>
            </a:r>
            <a:r>
              <a:rPr lang="zh-CN" altLang="en-US" sz="2800" b="1">
                <a:solidFill>
                  <a:srgbClr val="0000FF"/>
                </a:solidFill>
              </a:rPr>
              <a:t>电流密度</a:t>
            </a:r>
            <a:r>
              <a:rPr lang="zh-CN" altLang="en-US" sz="2800" b="1"/>
              <a:t>的</a:t>
            </a:r>
            <a:r>
              <a:rPr lang="zh-CN" altLang="en-US" sz="2800" b="1">
                <a:solidFill>
                  <a:srgbClr val="000000"/>
                </a:solidFill>
              </a:rPr>
              <a:t>概念</a:t>
            </a:r>
            <a:r>
              <a:rPr lang="zh-CN" altLang="en-US" b="1">
                <a:solidFill>
                  <a:srgbClr val="000000"/>
                </a:solidFill>
              </a:rPr>
              <a:t>来进一步描写电流的</a:t>
            </a:r>
            <a:r>
              <a:rPr lang="zh-CN" altLang="en-US" b="1">
                <a:solidFill>
                  <a:srgbClr val="0000FF"/>
                </a:solidFill>
              </a:rPr>
              <a:t>分布。</a:t>
            </a:r>
          </a:p>
        </p:txBody>
      </p:sp>
      <p:sp>
        <p:nvSpPr>
          <p:cNvPr id="2147" name="Text Box 99"/>
          <p:cNvSpPr txBox="1">
            <a:spLocks noChangeArrowheads="1"/>
          </p:cNvSpPr>
          <p:nvPr/>
        </p:nvSpPr>
        <p:spPr bwMode="auto">
          <a:xfrm>
            <a:off x="539750" y="2996853"/>
            <a:ext cx="3638550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zh-CN" altLang="en-US" sz="3200" b="1">
                <a:solidFill>
                  <a:srgbClr val="000000"/>
                </a:solidFill>
              </a:rPr>
              <a:t>例如：电阻法探矿</a:t>
            </a:r>
          </a:p>
        </p:txBody>
      </p:sp>
      <p:sp>
        <p:nvSpPr>
          <p:cNvPr id="50" name="Text Box 2"/>
          <p:cNvSpPr txBox="1">
            <a:spLocks noChangeArrowheads="1"/>
          </p:cNvSpPr>
          <p:nvPr/>
        </p:nvSpPr>
        <p:spPr bwMode="auto">
          <a:xfrm>
            <a:off x="107504" y="260648"/>
            <a:ext cx="892899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smtClean="0">
                <a:solidFill>
                  <a:srgbClr val="0000FF"/>
                </a:solidFill>
              </a:rPr>
              <a:t>2</a:t>
            </a:r>
            <a:r>
              <a:rPr lang="zh-CN" altLang="en-US" sz="3200" b="1" smtClean="0">
                <a:solidFill>
                  <a:srgbClr val="0000FF"/>
                </a:solidFill>
              </a:rPr>
              <a:t>、电流密度 矢量 </a:t>
            </a:r>
            <a:r>
              <a:rPr lang="en-US" altLang="zh-CN" sz="3200" b="1" smtClean="0">
                <a:solidFill>
                  <a:srgbClr val="0000FF"/>
                </a:solidFill>
              </a:rPr>
              <a:t>(Current Density)</a:t>
            </a:r>
            <a:endParaRPr lang="zh-CN" altLang="en-US" sz="3200" b="1">
              <a:solidFill>
                <a:srgbClr val="0000FF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3780382"/>
              </p:ext>
            </p:extLst>
          </p:nvPr>
        </p:nvGraphicFramePr>
        <p:xfrm>
          <a:off x="6735304" y="331073"/>
          <a:ext cx="1809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2" name="Equation" r:id="rId3" imgW="126720" imgH="241200" progId="Equation.DSMT4">
                  <p:embed/>
                </p:oleObj>
              </mc:Choice>
              <mc:Fallback>
                <p:oleObj name="Equation" r:id="rId3" imgW="126720" imgH="2412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5304" y="331073"/>
                        <a:ext cx="180975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2078430"/>
              </p:ext>
            </p:extLst>
          </p:nvPr>
        </p:nvGraphicFramePr>
        <p:xfrm>
          <a:off x="755576" y="2392363"/>
          <a:ext cx="5348287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1" name="Equation" r:id="rId3" imgW="2171520" imgH="482400" progId="Equation.DSMT4">
                  <p:embed/>
                </p:oleObj>
              </mc:Choice>
              <mc:Fallback>
                <p:oleObj name="Equation" r:id="rId3" imgW="21715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2392363"/>
                        <a:ext cx="5348287" cy="1181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2626536"/>
              </p:ext>
            </p:extLst>
          </p:nvPr>
        </p:nvGraphicFramePr>
        <p:xfrm>
          <a:off x="739775" y="3754438"/>
          <a:ext cx="1792288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2" name="Equation" r:id="rId5" imgW="647640" imgH="228600" progId="Equation.DSMT4">
                  <p:embed/>
                </p:oleObj>
              </mc:Choice>
              <mc:Fallback>
                <p:oleObj name="Equation" r:id="rId5" imgW="6476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" y="3754438"/>
                        <a:ext cx="1792288" cy="6318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59" name="Picture 8" descr="Ne453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62" b="50000"/>
          <a:stretch/>
        </p:blipFill>
        <p:spPr bwMode="auto">
          <a:xfrm>
            <a:off x="5910684" y="706053"/>
            <a:ext cx="2402378" cy="1502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60" name="Rectangle 9"/>
          <p:cNvSpPr>
            <a:spLocks noChangeArrowheads="1"/>
          </p:cNvSpPr>
          <p:nvPr/>
        </p:nvSpPr>
        <p:spPr bwMode="auto">
          <a:xfrm>
            <a:off x="4043363" y="32670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717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0968781"/>
              </p:ext>
            </p:extLst>
          </p:nvPr>
        </p:nvGraphicFramePr>
        <p:xfrm>
          <a:off x="716860" y="4614056"/>
          <a:ext cx="1928812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3" name="公式" r:id="rId8" imgW="672840" imgH="241200" progId="Equation.3">
                  <p:embed/>
                </p:oleObj>
              </mc:Choice>
              <mc:Fallback>
                <p:oleObj name="公式" r:id="rId8" imgW="67284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860" y="4614056"/>
                        <a:ext cx="1928812" cy="6873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9" name="Text Box 11"/>
          <p:cNvSpPr txBox="1">
            <a:spLocks noChangeArrowheads="1"/>
          </p:cNvSpPr>
          <p:nvPr/>
        </p:nvSpPr>
        <p:spPr bwMode="auto">
          <a:xfrm>
            <a:off x="73479" y="6045329"/>
            <a:ext cx="444801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eaLnBrk="0" hangingPunct="0">
              <a:defRPr kumimoji="1"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lvl="1" indent="-457200"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0000"/>
            </a:pPr>
            <a:r>
              <a:rPr lang="zh-CN" altLang="en-US" sz="2800" b="1" smtClean="0">
                <a:latin typeface="华文中宋" pitchFamily="2" charset="-122"/>
                <a:ea typeface="华文中宋" pitchFamily="2" charset="-122"/>
              </a:rPr>
              <a:t>通过任意</a:t>
            </a:r>
            <a:r>
              <a:rPr lang="zh-CN" altLang="en-US" sz="2800" b="1">
                <a:latin typeface="华文中宋" pitchFamily="2" charset="-122"/>
                <a:ea typeface="华文中宋" pitchFamily="2" charset="-122"/>
              </a:rPr>
              <a:t>截面</a:t>
            </a:r>
            <a:r>
              <a:rPr lang="en-US" altLang="zh-CN" sz="2800" b="1">
                <a:latin typeface="华文中宋" pitchFamily="2" charset="-122"/>
                <a:ea typeface="华文中宋" pitchFamily="2" charset="-122"/>
              </a:rPr>
              <a:t>S</a:t>
            </a:r>
            <a:r>
              <a:rPr lang="zh-CN" altLang="en-US" sz="2800" b="1">
                <a:latin typeface="华文中宋" pitchFamily="2" charset="-122"/>
                <a:ea typeface="华文中宋" pitchFamily="2" charset="-122"/>
              </a:rPr>
              <a:t>的</a:t>
            </a:r>
            <a:r>
              <a:rPr lang="zh-CN" altLang="en-US" sz="2800" b="1" smtClean="0">
                <a:latin typeface="华文中宋" pitchFamily="2" charset="-122"/>
                <a:ea typeface="华文中宋" pitchFamily="2" charset="-122"/>
              </a:rPr>
              <a:t>电流强度</a:t>
            </a:r>
            <a:endParaRPr lang="zh-CN" altLang="en-US"/>
          </a:p>
        </p:txBody>
      </p:sp>
      <p:graphicFrame>
        <p:nvGraphicFramePr>
          <p:cNvPr id="718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1950995"/>
              </p:ext>
            </p:extLst>
          </p:nvPr>
        </p:nvGraphicFramePr>
        <p:xfrm>
          <a:off x="4530220" y="5770250"/>
          <a:ext cx="4457700" cy="103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4" name="Equation" r:id="rId10" imgW="1676160" imgH="380880" progId="Equation.DSMT4">
                  <p:embed/>
                </p:oleObj>
              </mc:Choice>
              <mc:Fallback>
                <p:oleObj name="Equation" r:id="rId10" imgW="16761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0220" y="5770250"/>
                        <a:ext cx="4457700" cy="10302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Picture 8" descr="Ne453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68" t="50000"/>
          <a:stretch/>
        </p:blipFill>
        <p:spPr bwMode="auto">
          <a:xfrm>
            <a:off x="3347864" y="3861048"/>
            <a:ext cx="2347250" cy="1559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107504" y="764704"/>
            <a:ext cx="535309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zh-CN" altLang="en-US" sz="2800" b="1" smtClean="0">
                <a:latin typeface="华文宋体" pitchFamily="2" charset="-122"/>
                <a:ea typeface="华文宋体" pitchFamily="2" charset="-122"/>
              </a:rPr>
              <a:t>大小等于单位</a:t>
            </a:r>
            <a:r>
              <a:rPr lang="zh-CN" altLang="en-US" sz="2800" b="1">
                <a:latin typeface="华文宋体" pitchFamily="2" charset="-122"/>
                <a:ea typeface="华文宋体" pitchFamily="2" charset="-122"/>
              </a:rPr>
              <a:t>时间内通过垂直于电流方向的单位面积的电量 </a:t>
            </a:r>
          </a:p>
        </p:txBody>
      </p:sp>
      <p:sp>
        <p:nvSpPr>
          <p:cNvPr id="20" name="矩形 19"/>
          <p:cNvSpPr/>
          <p:nvPr/>
        </p:nvSpPr>
        <p:spPr>
          <a:xfrm>
            <a:off x="6034930" y="2276872"/>
            <a:ext cx="288032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zh-CN" altLang="en-US" sz="2800" b="1" smtClean="0">
                <a:latin typeface="华文宋体" pitchFamily="2" charset="-122"/>
                <a:ea typeface="华文宋体" pitchFamily="2" charset="-122"/>
              </a:rPr>
              <a:t>方向为该处电流强度的方向</a:t>
            </a:r>
            <a:endParaRPr lang="zh-CN" altLang="en-US" sz="2800" b="1">
              <a:latin typeface="华文宋体" pitchFamily="2" charset="-122"/>
              <a:ea typeface="华文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2525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9" grpId="0" build="p" bldLvl="2" autoUpdateAnimBg="0"/>
      <p:bldP spid="2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428184"/>
            <a:ext cx="1905000" cy="457200"/>
          </a:xfrm>
        </p:spPr>
        <p:txBody>
          <a:bodyPr/>
          <a:lstStyle/>
          <a:p>
            <a:fld id="{F247EF4F-3A46-4479-BFFC-121E27C6A479}" type="slidenum">
              <a:rPr lang="en-US" altLang="zh-CN"/>
              <a:pPr/>
              <a:t>6</a:t>
            </a:fld>
            <a:endParaRPr lang="en-US" altLang="zh-CN"/>
          </a:p>
        </p:txBody>
      </p:sp>
      <p:pic>
        <p:nvPicPr>
          <p:cNvPr id="440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366441"/>
            <a:ext cx="3240088" cy="2573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4038" name="Group 6"/>
          <p:cNvGrpSpPr>
            <a:grpSpLocks/>
          </p:cNvGrpSpPr>
          <p:nvPr/>
        </p:nvGrpSpPr>
        <p:grpSpPr bwMode="auto">
          <a:xfrm>
            <a:off x="4140200" y="1460103"/>
            <a:ext cx="4737100" cy="2209800"/>
            <a:chOff x="1000" y="240"/>
            <a:chExt cx="3120" cy="1392"/>
          </a:xfrm>
        </p:grpSpPr>
        <p:grpSp>
          <p:nvGrpSpPr>
            <p:cNvPr id="44039" name="Group 7"/>
            <p:cNvGrpSpPr>
              <a:grpSpLocks/>
            </p:cNvGrpSpPr>
            <p:nvPr/>
          </p:nvGrpSpPr>
          <p:grpSpPr bwMode="auto">
            <a:xfrm>
              <a:off x="3448" y="480"/>
              <a:ext cx="252" cy="48"/>
              <a:chOff x="1344" y="2592"/>
              <a:chExt cx="252" cy="48"/>
            </a:xfrm>
          </p:grpSpPr>
          <p:sp>
            <p:nvSpPr>
              <p:cNvPr id="44040" name="Oval 8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41" name="Line 9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042" name="Group 10"/>
            <p:cNvGrpSpPr>
              <a:grpSpLocks/>
            </p:cNvGrpSpPr>
            <p:nvPr/>
          </p:nvGrpSpPr>
          <p:grpSpPr bwMode="auto">
            <a:xfrm>
              <a:off x="1720" y="624"/>
              <a:ext cx="252" cy="48"/>
              <a:chOff x="1344" y="2592"/>
              <a:chExt cx="252" cy="48"/>
            </a:xfrm>
          </p:grpSpPr>
          <p:sp>
            <p:nvSpPr>
              <p:cNvPr id="44043" name="Oval 11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44" name="Line 12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045" name="Group 13"/>
            <p:cNvGrpSpPr>
              <a:grpSpLocks/>
            </p:cNvGrpSpPr>
            <p:nvPr/>
          </p:nvGrpSpPr>
          <p:grpSpPr bwMode="auto">
            <a:xfrm>
              <a:off x="2584" y="1200"/>
              <a:ext cx="252" cy="48"/>
              <a:chOff x="1344" y="2592"/>
              <a:chExt cx="252" cy="48"/>
            </a:xfrm>
          </p:grpSpPr>
          <p:sp>
            <p:nvSpPr>
              <p:cNvPr id="44046" name="Oval 14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47" name="Line 15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048" name="Group 16"/>
            <p:cNvGrpSpPr>
              <a:grpSpLocks/>
            </p:cNvGrpSpPr>
            <p:nvPr/>
          </p:nvGrpSpPr>
          <p:grpSpPr bwMode="auto">
            <a:xfrm>
              <a:off x="1720" y="912"/>
              <a:ext cx="252" cy="48"/>
              <a:chOff x="1344" y="2592"/>
              <a:chExt cx="252" cy="48"/>
            </a:xfrm>
          </p:grpSpPr>
          <p:sp>
            <p:nvSpPr>
              <p:cNvPr id="44049" name="Oval 17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50" name="Line 18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051" name="Group 19"/>
            <p:cNvGrpSpPr>
              <a:grpSpLocks/>
            </p:cNvGrpSpPr>
            <p:nvPr/>
          </p:nvGrpSpPr>
          <p:grpSpPr bwMode="auto">
            <a:xfrm>
              <a:off x="2584" y="576"/>
              <a:ext cx="252" cy="48"/>
              <a:chOff x="1344" y="2592"/>
              <a:chExt cx="252" cy="48"/>
            </a:xfrm>
          </p:grpSpPr>
          <p:sp>
            <p:nvSpPr>
              <p:cNvPr id="44052" name="Oval 20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53" name="Line 21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054" name="Group 22"/>
            <p:cNvGrpSpPr>
              <a:grpSpLocks/>
            </p:cNvGrpSpPr>
            <p:nvPr/>
          </p:nvGrpSpPr>
          <p:grpSpPr bwMode="auto">
            <a:xfrm>
              <a:off x="1720" y="1152"/>
              <a:ext cx="252" cy="48"/>
              <a:chOff x="1344" y="2592"/>
              <a:chExt cx="252" cy="48"/>
            </a:xfrm>
          </p:grpSpPr>
          <p:sp>
            <p:nvSpPr>
              <p:cNvPr id="44055" name="Oval 23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56" name="Line 24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057" name="Group 25"/>
            <p:cNvGrpSpPr>
              <a:grpSpLocks/>
            </p:cNvGrpSpPr>
            <p:nvPr/>
          </p:nvGrpSpPr>
          <p:grpSpPr bwMode="auto">
            <a:xfrm>
              <a:off x="2584" y="960"/>
              <a:ext cx="252" cy="48"/>
              <a:chOff x="1344" y="2592"/>
              <a:chExt cx="252" cy="48"/>
            </a:xfrm>
          </p:grpSpPr>
          <p:sp>
            <p:nvSpPr>
              <p:cNvPr id="44058" name="Oval 26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59" name="Line 27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060" name="Group 28"/>
            <p:cNvGrpSpPr>
              <a:grpSpLocks/>
            </p:cNvGrpSpPr>
            <p:nvPr/>
          </p:nvGrpSpPr>
          <p:grpSpPr bwMode="auto">
            <a:xfrm>
              <a:off x="2584" y="384"/>
              <a:ext cx="252" cy="48"/>
              <a:chOff x="1344" y="2592"/>
              <a:chExt cx="252" cy="48"/>
            </a:xfrm>
          </p:grpSpPr>
          <p:sp>
            <p:nvSpPr>
              <p:cNvPr id="44061" name="Oval 29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62" name="Line 30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063" name="Group 31"/>
            <p:cNvGrpSpPr>
              <a:grpSpLocks/>
            </p:cNvGrpSpPr>
            <p:nvPr/>
          </p:nvGrpSpPr>
          <p:grpSpPr bwMode="auto">
            <a:xfrm>
              <a:off x="2188" y="384"/>
              <a:ext cx="252" cy="48"/>
              <a:chOff x="1344" y="2592"/>
              <a:chExt cx="252" cy="48"/>
            </a:xfrm>
          </p:grpSpPr>
          <p:sp>
            <p:nvSpPr>
              <p:cNvPr id="44064" name="Oval 32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65" name="Line 33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066" name="Group 34"/>
            <p:cNvGrpSpPr>
              <a:grpSpLocks/>
            </p:cNvGrpSpPr>
            <p:nvPr/>
          </p:nvGrpSpPr>
          <p:grpSpPr bwMode="auto">
            <a:xfrm>
              <a:off x="2140" y="576"/>
              <a:ext cx="252" cy="48"/>
              <a:chOff x="1344" y="2592"/>
              <a:chExt cx="252" cy="48"/>
            </a:xfrm>
          </p:grpSpPr>
          <p:sp>
            <p:nvSpPr>
              <p:cNvPr id="44067" name="Oval 35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68" name="Line 36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069" name="Group 37"/>
            <p:cNvGrpSpPr>
              <a:grpSpLocks/>
            </p:cNvGrpSpPr>
            <p:nvPr/>
          </p:nvGrpSpPr>
          <p:grpSpPr bwMode="auto">
            <a:xfrm>
              <a:off x="2152" y="912"/>
              <a:ext cx="252" cy="48"/>
              <a:chOff x="1344" y="2592"/>
              <a:chExt cx="252" cy="48"/>
            </a:xfrm>
          </p:grpSpPr>
          <p:sp>
            <p:nvSpPr>
              <p:cNvPr id="44070" name="Oval 38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71" name="Line 39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072" name="Group 40"/>
            <p:cNvGrpSpPr>
              <a:grpSpLocks/>
            </p:cNvGrpSpPr>
            <p:nvPr/>
          </p:nvGrpSpPr>
          <p:grpSpPr bwMode="auto">
            <a:xfrm>
              <a:off x="3832" y="432"/>
              <a:ext cx="252" cy="48"/>
              <a:chOff x="1344" y="2592"/>
              <a:chExt cx="252" cy="48"/>
            </a:xfrm>
          </p:grpSpPr>
          <p:sp>
            <p:nvSpPr>
              <p:cNvPr id="44073" name="Oval 41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74" name="Line 42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075" name="Group 43"/>
            <p:cNvGrpSpPr>
              <a:grpSpLocks/>
            </p:cNvGrpSpPr>
            <p:nvPr/>
          </p:nvGrpSpPr>
          <p:grpSpPr bwMode="auto">
            <a:xfrm>
              <a:off x="1720" y="384"/>
              <a:ext cx="252" cy="48"/>
              <a:chOff x="1344" y="2592"/>
              <a:chExt cx="252" cy="48"/>
            </a:xfrm>
          </p:grpSpPr>
          <p:sp>
            <p:nvSpPr>
              <p:cNvPr id="44076" name="Oval 44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77" name="Line 45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078" name="Group 46"/>
            <p:cNvGrpSpPr>
              <a:grpSpLocks/>
            </p:cNvGrpSpPr>
            <p:nvPr/>
          </p:nvGrpSpPr>
          <p:grpSpPr bwMode="auto">
            <a:xfrm>
              <a:off x="3016" y="960"/>
              <a:ext cx="252" cy="48"/>
              <a:chOff x="1344" y="2592"/>
              <a:chExt cx="252" cy="48"/>
            </a:xfrm>
          </p:grpSpPr>
          <p:sp>
            <p:nvSpPr>
              <p:cNvPr id="44079" name="Oval 47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80" name="Line 48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081" name="Group 49"/>
            <p:cNvGrpSpPr>
              <a:grpSpLocks/>
            </p:cNvGrpSpPr>
            <p:nvPr/>
          </p:nvGrpSpPr>
          <p:grpSpPr bwMode="auto">
            <a:xfrm>
              <a:off x="3784" y="768"/>
              <a:ext cx="252" cy="48"/>
              <a:chOff x="1344" y="2592"/>
              <a:chExt cx="252" cy="48"/>
            </a:xfrm>
          </p:grpSpPr>
          <p:sp>
            <p:nvSpPr>
              <p:cNvPr id="44082" name="Oval 50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83" name="Line 51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084" name="Group 52"/>
            <p:cNvGrpSpPr>
              <a:grpSpLocks/>
            </p:cNvGrpSpPr>
            <p:nvPr/>
          </p:nvGrpSpPr>
          <p:grpSpPr bwMode="auto">
            <a:xfrm>
              <a:off x="3496" y="816"/>
              <a:ext cx="252" cy="48"/>
              <a:chOff x="1344" y="2592"/>
              <a:chExt cx="252" cy="48"/>
            </a:xfrm>
          </p:grpSpPr>
          <p:sp>
            <p:nvSpPr>
              <p:cNvPr id="44085" name="Oval 53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86" name="Line 54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087" name="Group 55"/>
            <p:cNvGrpSpPr>
              <a:grpSpLocks/>
            </p:cNvGrpSpPr>
            <p:nvPr/>
          </p:nvGrpSpPr>
          <p:grpSpPr bwMode="auto">
            <a:xfrm>
              <a:off x="3256" y="1104"/>
              <a:ext cx="252" cy="48"/>
              <a:chOff x="1344" y="2592"/>
              <a:chExt cx="252" cy="48"/>
            </a:xfrm>
          </p:grpSpPr>
          <p:sp>
            <p:nvSpPr>
              <p:cNvPr id="44088" name="Oval 56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89" name="Line 57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090" name="Group 58"/>
            <p:cNvGrpSpPr>
              <a:grpSpLocks/>
            </p:cNvGrpSpPr>
            <p:nvPr/>
          </p:nvGrpSpPr>
          <p:grpSpPr bwMode="auto">
            <a:xfrm>
              <a:off x="3532" y="1008"/>
              <a:ext cx="252" cy="48"/>
              <a:chOff x="1344" y="2592"/>
              <a:chExt cx="252" cy="48"/>
            </a:xfrm>
          </p:grpSpPr>
          <p:sp>
            <p:nvSpPr>
              <p:cNvPr id="44091" name="Oval 59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92" name="Line 60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093" name="Group 61"/>
            <p:cNvGrpSpPr>
              <a:grpSpLocks/>
            </p:cNvGrpSpPr>
            <p:nvPr/>
          </p:nvGrpSpPr>
          <p:grpSpPr bwMode="auto">
            <a:xfrm>
              <a:off x="3004" y="768"/>
              <a:ext cx="252" cy="48"/>
              <a:chOff x="1344" y="2592"/>
              <a:chExt cx="252" cy="48"/>
            </a:xfrm>
          </p:grpSpPr>
          <p:sp>
            <p:nvSpPr>
              <p:cNvPr id="44094" name="Oval 62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95" name="Line 63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096" name="Group 64"/>
            <p:cNvGrpSpPr>
              <a:grpSpLocks/>
            </p:cNvGrpSpPr>
            <p:nvPr/>
          </p:nvGrpSpPr>
          <p:grpSpPr bwMode="auto">
            <a:xfrm>
              <a:off x="2920" y="1200"/>
              <a:ext cx="252" cy="48"/>
              <a:chOff x="1344" y="2592"/>
              <a:chExt cx="252" cy="48"/>
            </a:xfrm>
          </p:grpSpPr>
          <p:sp>
            <p:nvSpPr>
              <p:cNvPr id="44097" name="Oval 65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98" name="Line 66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4099" name="Line 67"/>
            <p:cNvSpPr>
              <a:spLocks noChangeShapeType="1"/>
            </p:cNvSpPr>
            <p:nvPr/>
          </p:nvSpPr>
          <p:spPr bwMode="auto">
            <a:xfrm>
              <a:off x="1000" y="288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00" name="Line 68"/>
            <p:cNvSpPr>
              <a:spLocks noChangeShapeType="1"/>
            </p:cNvSpPr>
            <p:nvPr/>
          </p:nvSpPr>
          <p:spPr bwMode="auto">
            <a:xfrm>
              <a:off x="1000" y="1632"/>
              <a:ext cx="31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4101" name="Group 69"/>
            <p:cNvGrpSpPr>
              <a:grpSpLocks/>
            </p:cNvGrpSpPr>
            <p:nvPr/>
          </p:nvGrpSpPr>
          <p:grpSpPr bwMode="auto">
            <a:xfrm>
              <a:off x="2296" y="1296"/>
              <a:ext cx="252" cy="48"/>
              <a:chOff x="1344" y="2592"/>
              <a:chExt cx="252" cy="48"/>
            </a:xfrm>
          </p:grpSpPr>
          <p:sp>
            <p:nvSpPr>
              <p:cNvPr id="44102" name="Oval 70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103" name="Line 71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104" name="Group 72"/>
            <p:cNvGrpSpPr>
              <a:grpSpLocks/>
            </p:cNvGrpSpPr>
            <p:nvPr/>
          </p:nvGrpSpPr>
          <p:grpSpPr bwMode="auto">
            <a:xfrm>
              <a:off x="3736" y="1296"/>
              <a:ext cx="252" cy="48"/>
              <a:chOff x="1344" y="2592"/>
              <a:chExt cx="252" cy="48"/>
            </a:xfrm>
          </p:grpSpPr>
          <p:sp>
            <p:nvSpPr>
              <p:cNvPr id="44105" name="Oval 73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106" name="Line 74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107" name="Group 75"/>
            <p:cNvGrpSpPr>
              <a:grpSpLocks/>
            </p:cNvGrpSpPr>
            <p:nvPr/>
          </p:nvGrpSpPr>
          <p:grpSpPr bwMode="auto">
            <a:xfrm>
              <a:off x="1864" y="1344"/>
              <a:ext cx="252" cy="48"/>
              <a:chOff x="1344" y="2592"/>
              <a:chExt cx="252" cy="48"/>
            </a:xfrm>
          </p:grpSpPr>
          <p:sp>
            <p:nvSpPr>
              <p:cNvPr id="44108" name="Oval 76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109" name="Line 77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110" name="Group 78"/>
            <p:cNvGrpSpPr>
              <a:grpSpLocks/>
            </p:cNvGrpSpPr>
            <p:nvPr/>
          </p:nvGrpSpPr>
          <p:grpSpPr bwMode="auto">
            <a:xfrm>
              <a:off x="3292" y="1248"/>
              <a:ext cx="252" cy="48"/>
              <a:chOff x="1344" y="2592"/>
              <a:chExt cx="252" cy="48"/>
            </a:xfrm>
          </p:grpSpPr>
          <p:sp>
            <p:nvSpPr>
              <p:cNvPr id="44111" name="Oval 79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112" name="Line 80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113" name="Group 81"/>
            <p:cNvGrpSpPr>
              <a:grpSpLocks/>
            </p:cNvGrpSpPr>
            <p:nvPr/>
          </p:nvGrpSpPr>
          <p:grpSpPr bwMode="auto">
            <a:xfrm>
              <a:off x="3064" y="1344"/>
              <a:ext cx="252" cy="48"/>
              <a:chOff x="1344" y="2592"/>
              <a:chExt cx="252" cy="48"/>
            </a:xfrm>
          </p:grpSpPr>
          <p:sp>
            <p:nvSpPr>
              <p:cNvPr id="44114" name="Oval 82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115" name="Line 83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116" name="Group 84"/>
            <p:cNvGrpSpPr>
              <a:grpSpLocks/>
            </p:cNvGrpSpPr>
            <p:nvPr/>
          </p:nvGrpSpPr>
          <p:grpSpPr bwMode="auto">
            <a:xfrm>
              <a:off x="2584" y="720"/>
              <a:ext cx="252" cy="48"/>
              <a:chOff x="1344" y="2592"/>
              <a:chExt cx="252" cy="48"/>
            </a:xfrm>
          </p:grpSpPr>
          <p:sp>
            <p:nvSpPr>
              <p:cNvPr id="44117" name="Oval 85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118" name="Line 86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119" name="Group 87"/>
            <p:cNvGrpSpPr>
              <a:grpSpLocks/>
            </p:cNvGrpSpPr>
            <p:nvPr/>
          </p:nvGrpSpPr>
          <p:grpSpPr bwMode="auto">
            <a:xfrm>
              <a:off x="1816" y="768"/>
              <a:ext cx="252" cy="48"/>
              <a:chOff x="1344" y="2592"/>
              <a:chExt cx="252" cy="48"/>
            </a:xfrm>
          </p:grpSpPr>
          <p:sp>
            <p:nvSpPr>
              <p:cNvPr id="44120" name="Oval 88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121" name="Line 89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122" name="Group 90"/>
            <p:cNvGrpSpPr>
              <a:grpSpLocks/>
            </p:cNvGrpSpPr>
            <p:nvPr/>
          </p:nvGrpSpPr>
          <p:grpSpPr bwMode="auto">
            <a:xfrm>
              <a:off x="2200" y="720"/>
              <a:ext cx="252" cy="48"/>
              <a:chOff x="1344" y="2592"/>
              <a:chExt cx="252" cy="48"/>
            </a:xfrm>
          </p:grpSpPr>
          <p:sp>
            <p:nvSpPr>
              <p:cNvPr id="44123" name="Oval 91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124" name="Line 92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125" name="Group 93"/>
            <p:cNvGrpSpPr>
              <a:grpSpLocks/>
            </p:cNvGrpSpPr>
            <p:nvPr/>
          </p:nvGrpSpPr>
          <p:grpSpPr bwMode="auto">
            <a:xfrm>
              <a:off x="3592" y="1200"/>
              <a:ext cx="252" cy="48"/>
              <a:chOff x="1344" y="2592"/>
              <a:chExt cx="252" cy="48"/>
            </a:xfrm>
          </p:grpSpPr>
          <p:sp>
            <p:nvSpPr>
              <p:cNvPr id="44126" name="Oval 94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127" name="Line 95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128" name="Group 96"/>
            <p:cNvGrpSpPr>
              <a:grpSpLocks/>
            </p:cNvGrpSpPr>
            <p:nvPr/>
          </p:nvGrpSpPr>
          <p:grpSpPr bwMode="auto">
            <a:xfrm>
              <a:off x="2392" y="1440"/>
              <a:ext cx="252" cy="48"/>
              <a:chOff x="1344" y="2592"/>
              <a:chExt cx="252" cy="48"/>
            </a:xfrm>
          </p:grpSpPr>
          <p:sp>
            <p:nvSpPr>
              <p:cNvPr id="44129" name="Oval 97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130" name="Line 98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131" name="Group 99"/>
            <p:cNvGrpSpPr>
              <a:grpSpLocks/>
            </p:cNvGrpSpPr>
            <p:nvPr/>
          </p:nvGrpSpPr>
          <p:grpSpPr bwMode="auto">
            <a:xfrm>
              <a:off x="1576" y="1536"/>
              <a:ext cx="252" cy="48"/>
              <a:chOff x="1344" y="2592"/>
              <a:chExt cx="252" cy="48"/>
            </a:xfrm>
          </p:grpSpPr>
          <p:sp>
            <p:nvSpPr>
              <p:cNvPr id="44132" name="Oval 100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133" name="Line 101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134" name="Group 102"/>
            <p:cNvGrpSpPr>
              <a:grpSpLocks/>
            </p:cNvGrpSpPr>
            <p:nvPr/>
          </p:nvGrpSpPr>
          <p:grpSpPr bwMode="auto">
            <a:xfrm>
              <a:off x="1960" y="1488"/>
              <a:ext cx="252" cy="48"/>
              <a:chOff x="1344" y="2592"/>
              <a:chExt cx="252" cy="48"/>
            </a:xfrm>
          </p:grpSpPr>
          <p:sp>
            <p:nvSpPr>
              <p:cNvPr id="44135" name="Oval 103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136" name="Line 104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137" name="Group 105"/>
            <p:cNvGrpSpPr>
              <a:grpSpLocks/>
            </p:cNvGrpSpPr>
            <p:nvPr/>
          </p:nvGrpSpPr>
          <p:grpSpPr bwMode="auto">
            <a:xfrm>
              <a:off x="3496" y="1488"/>
              <a:ext cx="252" cy="48"/>
              <a:chOff x="1344" y="2592"/>
              <a:chExt cx="252" cy="48"/>
            </a:xfrm>
          </p:grpSpPr>
          <p:sp>
            <p:nvSpPr>
              <p:cNvPr id="44138" name="Oval 106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139" name="Line 107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140" name="Group 108"/>
            <p:cNvGrpSpPr>
              <a:grpSpLocks/>
            </p:cNvGrpSpPr>
            <p:nvPr/>
          </p:nvGrpSpPr>
          <p:grpSpPr bwMode="auto">
            <a:xfrm>
              <a:off x="2824" y="1488"/>
              <a:ext cx="252" cy="48"/>
              <a:chOff x="1344" y="2592"/>
              <a:chExt cx="252" cy="48"/>
            </a:xfrm>
          </p:grpSpPr>
          <p:sp>
            <p:nvSpPr>
              <p:cNvPr id="44141" name="Oval 109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142" name="Line 110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4143" name="Rectangle 111"/>
            <p:cNvSpPr>
              <a:spLocks noChangeArrowheads="1"/>
            </p:cNvSpPr>
            <p:nvPr/>
          </p:nvSpPr>
          <p:spPr bwMode="auto">
            <a:xfrm>
              <a:off x="3408" y="542"/>
              <a:ext cx="63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zh-CN" b="1">
                  <a:solidFill>
                    <a:srgbClr val="FF3300"/>
                  </a:solidFill>
                </a:rPr>
                <a:t>设</a:t>
              </a:r>
              <a:r>
                <a:rPr lang="en-US" altLang="zh-CN" b="1" i="1">
                  <a:solidFill>
                    <a:srgbClr val="FF3300"/>
                  </a:solidFill>
                </a:rPr>
                <a:t>q&gt;0</a:t>
              </a:r>
            </a:p>
          </p:txBody>
        </p:sp>
        <p:grpSp>
          <p:nvGrpSpPr>
            <p:cNvPr id="44144" name="Group 112"/>
            <p:cNvGrpSpPr>
              <a:grpSpLocks/>
            </p:cNvGrpSpPr>
            <p:nvPr/>
          </p:nvGrpSpPr>
          <p:grpSpPr bwMode="auto">
            <a:xfrm>
              <a:off x="1288" y="576"/>
              <a:ext cx="252" cy="48"/>
              <a:chOff x="1344" y="2592"/>
              <a:chExt cx="252" cy="48"/>
            </a:xfrm>
          </p:grpSpPr>
          <p:sp>
            <p:nvSpPr>
              <p:cNvPr id="44145" name="Oval 113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146" name="Line 114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147" name="Group 115"/>
            <p:cNvGrpSpPr>
              <a:grpSpLocks/>
            </p:cNvGrpSpPr>
            <p:nvPr/>
          </p:nvGrpSpPr>
          <p:grpSpPr bwMode="auto">
            <a:xfrm>
              <a:off x="1288" y="864"/>
              <a:ext cx="252" cy="48"/>
              <a:chOff x="1344" y="2592"/>
              <a:chExt cx="252" cy="48"/>
            </a:xfrm>
          </p:grpSpPr>
          <p:sp>
            <p:nvSpPr>
              <p:cNvPr id="44148" name="Oval 116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149" name="Line 117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150" name="Group 118"/>
            <p:cNvGrpSpPr>
              <a:grpSpLocks/>
            </p:cNvGrpSpPr>
            <p:nvPr/>
          </p:nvGrpSpPr>
          <p:grpSpPr bwMode="auto">
            <a:xfrm>
              <a:off x="1288" y="1104"/>
              <a:ext cx="252" cy="48"/>
              <a:chOff x="1344" y="2592"/>
              <a:chExt cx="252" cy="48"/>
            </a:xfrm>
          </p:grpSpPr>
          <p:sp>
            <p:nvSpPr>
              <p:cNvPr id="44151" name="Oval 119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152" name="Line 120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153" name="Group 121"/>
            <p:cNvGrpSpPr>
              <a:grpSpLocks/>
            </p:cNvGrpSpPr>
            <p:nvPr/>
          </p:nvGrpSpPr>
          <p:grpSpPr bwMode="auto">
            <a:xfrm>
              <a:off x="1000" y="432"/>
              <a:ext cx="252" cy="48"/>
              <a:chOff x="1344" y="2592"/>
              <a:chExt cx="252" cy="48"/>
            </a:xfrm>
          </p:grpSpPr>
          <p:sp>
            <p:nvSpPr>
              <p:cNvPr id="44154" name="Oval 122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155" name="Line 123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156" name="Group 124"/>
            <p:cNvGrpSpPr>
              <a:grpSpLocks/>
            </p:cNvGrpSpPr>
            <p:nvPr/>
          </p:nvGrpSpPr>
          <p:grpSpPr bwMode="auto">
            <a:xfrm>
              <a:off x="1288" y="336"/>
              <a:ext cx="252" cy="48"/>
              <a:chOff x="1344" y="2592"/>
              <a:chExt cx="252" cy="48"/>
            </a:xfrm>
          </p:grpSpPr>
          <p:sp>
            <p:nvSpPr>
              <p:cNvPr id="44157" name="Oval 125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158" name="Line 126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159" name="Group 127"/>
            <p:cNvGrpSpPr>
              <a:grpSpLocks/>
            </p:cNvGrpSpPr>
            <p:nvPr/>
          </p:nvGrpSpPr>
          <p:grpSpPr bwMode="auto">
            <a:xfrm>
              <a:off x="1000" y="720"/>
              <a:ext cx="252" cy="48"/>
              <a:chOff x="1344" y="2592"/>
              <a:chExt cx="252" cy="48"/>
            </a:xfrm>
          </p:grpSpPr>
          <p:sp>
            <p:nvSpPr>
              <p:cNvPr id="44160" name="Oval 128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161" name="Line 129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162" name="Group 130"/>
            <p:cNvGrpSpPr>
              <a:grpSpLocks/>
            </p:cNvGrpSpPr>
            <p:nvPr/>
          </p:nvGrpSpPr>
          <p:grpSpPr bwMode="auto">
            <a:xfrm>
              <a:off x="1000" y="1008"/>
              <a:ext cx="252" cy="48"/>
              <a:chOff x="1344" y="2592"/>
              <a:chExt cx="252" cy="48"/>
            </a:xfrm>
          </p:grpSpPr>
          <p:sp>
            <p:nvSpPr>
              <p:cNvPr id="44163" name="Oval 131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164" name="Line 132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165" name="Group 133"/>
            <p:cNvGrpSpPr>
              <a:grpSpLocks/>
            </p:cNvGrpSpPr>
            <p:nvPr/>
          </p:nvGrpSpPr>
          <p:grpSpPr bwMode="auto">
            <a:xfrm>
              <a:off x="1048" y="1344"/>
              <a:ext cx="252" cy="48"/>
              <a:chOff x="1344" y="2592"/>
              <a:chExt cx="252" cy="48"/>
            </a:xfrm>
          </p:grpSpPr>
          <p:sp>
            <p:nvSpPr>
              <p:cNvPr id="44166" name="Oval 134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167" name="Line 135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168" name="Group 136"/>
            <p:cNvGrpSpPr>
              <a:grpSpLocks/>
            </p:cNvGrpSpPr>
            <p:nvPr/>
          </p:nvGrpSpPr>
          <p:grpSpPr bwMode="auto">
            <a:xfrm>
              <a:off x="1432" y="1296"/>
              <a:ext cx="252" cy="48"/>
              <a:chOff x="1344" y="2592"/>
              <a:chExt cx="252" cy="48"/>
            </a:xfrm>
          </p:grpSpPr>
          <p:sp>
            <p:nvSpPr>
              <p:cNvPr id="44169" name="Oval 137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170" name="Line 138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171" name="Group 139"/>
            <p:cNvGrpSpPr>
              <a:grpSpLocks/>
            </p:cNvGrpSpPr>
            <p:nvPr/>
          </p:nvGrpSpPr>
          <p:grpSpPr bwMode="auto">
            <a:xfrm>
              <a:off x="1384" y="720"/>
              <a:ext cx="252" cy="48"/>
              <a:chOff x="1344" y="2592"/>
              <a:chExt cx="252" cy="48"/>
            </a:xfrm>
          </p:grpSpPr>
          <p:sp>
            <p:nvSpPr>
              <p:cNvPr id="44172" name="Oval 140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173" name="Line 141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174" name="Group 142"/>
            <p:cNvGrpSpPr>
              <a:grpSpLocks/>
            </p:cNvGrpSpPr>
            <p:nvPr/>
          </p:nvGrpSpPr>
          <p:grpSpPr bwMode="auto">
            <a:xfrm>
              <a:off x="1144" y="1488"/>
              <a:ext cx="252" cy="48"/>
              <a:chOff x="1344" y="2592"/>
              <a:chExt cx="252" cy="48"/>
            </a:xfrm>
          </p:grpSpPr>
          <p:sp>
            <p:nvSpPr>
              <p:cNvPr id="44175" name="Oval 143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176" name="Line 144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177" name="Group 145"/>
            <p:cNvGrpSpPr>
              <a:grpSpLocks/>
            </p:cNvGrpSpPr>
            <p:nvPr/>
          </p:nvGrpSpPr>
          <p:grpSpPr bwMode="auto">
            <a:xfrm>
              <a:off x="3784" y="1440"/>
              <a:ext cx="252" cy="48"/>
              <a:chOff x="1344" y="2592"/>
              <a:chExt cx="252" cy="48"/>
            </a:xfrm>
          </p:grpSpPr>
          <p:sp>
            <p:nvSpPr>
              <p:cNvPr id="44178" name="Oval 146"/>
              <p:cNvSpPr>
                <a:spLocks noChangeArrowheads="1"/>
              </p:cNvSpPr>
              <p:nvPr/>
            </p:nvSpPr>
            <p:spPr bwMode="auto">
              <a:xfrm>
                <a:off x="1344" y="2592"/>
                <a:ext cx="48" cy="48"/>
              </a:xfrm>
              <a:prstGeom prst="ellipse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179" name="Line 147"/>
              <p:cNvSpPr>
                <a:spLocks noChangeShapeType="1"/>
              </p:cNvSpPr>
              <p:nvPr/>
            </p:nvSpPr>
            <p:spPr bwMode="auto">
              <a:xfrm>
                <a:off x="1356" y="26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4180" name="Oval 148"/>
            <p:cNvSpPr>
              <a:spLocks noChangeArrowheads="1"/>
            </p:cNvSpPr>
            <p:nvPr/>
          </p:nvSpPr>
          <p:spPr bwMode="auto">
            <a:xfrm rot="-1725447">
              <a:off x="2392" y="528"/>
              <a:ext cx="288" cy="528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81" name="Oval 149"/>
            <p:cNvSpPr>
              <a:spLocks noChangeArrowheads="1"/>
            </p:cNvSpPr>
            <p:nvPr/>
          </p:nvSpPr>
          <p:spPr bwMode="auto">
            <a:xfrm rot="-1725447">
              <a:off x="1816" y="528"/>
              <a:ext cx="288" cy="528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82" name="Line 150"/>
            <p:cNvSpPr>
              <a:spLocks noChangeShapeType="1"/>
            </p:cNvSpPr>
            <p:nvPr/>
          </p:nvSpPr>
          <p:spPr bwMode="auto">
            <a:xfrm>
              <a:off x="1864" y="552"/>
              <a:ext cx="57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83" name="Line 151"/>
            <p:cNvSpPr>
              <a:spLocks noChangeShapeType="1"/>
            </p:cNvSpPr>
            <p:nvPr/>
          </p:nvSpPr>
          <p:spPr bwMode="auto">
            <a:xfrm>
              <a:off x="2056" y="1020"/>
              <a:ext cx="57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84" name="Line 152"/>
            <p:cNvSpPr>
              <a:spLocks noChangeShapeType="1"/>
            </p:cNvSpPr>
            <p:nvPr/>
          </p:nvSpPr>
          <p:spPr bwMode="auto">
            <a:xfrm flipV="1">
              <a:off x="2584" y="576"/>
              <a:ext cx="336" cy="192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4185" name="Object 153"/>
            <p:cNvGraphicFramePr>
              <a:graphicFrameLocks noChangeAspect="1"/>
            </p:cNvGraphicFramePr>
            <p:nvPr/>
          </p:nvGraphicFramePr>
          <p:xfrm>
            <a:off x="2872" y="240"/>
            <a:ext cx="480" cy="4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316" name="公式" r:id="rId4" imgW="190440" imgH="177480" progId="Equation.3">
                    <p:embed/>
                  </p:oleObj>
                </mc:Choice>
                <mc:Fallback>
                  <p:oleObj name="公式" r:id="rId4" imgW="190440" imgH="177480" progId="Equation.3">
                    <p:embed/>
                    <p:pic>
                      <p:nvPicPr>
                        <p:cNvPr id="0" name="Object 1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2" y="240"/>
                          <a:ext cx="480" cy="4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186" name="Line 154"/>
            <p:cNvSpPr>
              <a:spLocks noChangeShapeType="1"/>
            </p:cNvSpPr>
            <p:nvPr/>
          </p:nvSpPr>
          <p:spPr bwMode="auto">
            <a:xfrm>
              <a:off x="2584" y="768"/>
              <a:ext cx="768" cy="0"/>
            </a:xfrm>
            <a:prstGeom prst="line">
              <a:avLst/>
            </a:prstGeom>
            <a:noFill/>
            <a:ln w="57150">
              <a:solidFill>
                <a:srgbClr val="FF505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4187" name="Object 155"/>
            <p:cNvGraphicFramePr>
              <a:graphicFrameLocks noChangeAspect="1"/>
            </p:cNvGraphicFramePr>
            <p:nvPr/>
          </p:nvGraphicFramePr>
          <p:xfrm>
            <a:off x="3304" y="576"/>
            <a:ext cx="282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317" name="公式" r:id="rId6" imgW="139680" imgH="215640" progId="Equation.3">
                    <p:embed/>
                  </p:oleObj>
                </mc:Choice>
                <mc:Fallback>
                  <p:oleObj name="公式" r:id="rId6" imgW="139680" imgH="215640" progId="Equation.3">
                    <p:embed/>
                    <p:pic>
                      <p:nvPicPr>
                        <p:cNvPr id="0" name="Object 1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4" y="576"/>
                          <a:ext cx="282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188" name="Rectangle 156"/>
            <p:cNvSpPr>
              <a:spLocks noChangeArrowheads="1"/>
            </p:cNvSpPr>
            <p:nvPr/>
          </p:nvSpPr>
          <p:spPr bwMode="auto">
            <a:xfrm>
              <a:off x="2104" y="912"/>
              <a:ext cx="47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 i="1"/>
                <a:t>udt</a:t>
              </a:r>
            </a:p>
          </p:txBody>
        </p:sp>
        <p:sp>
          <p:nvSpPr>
            <p:cNvPr id="44189" name="Rectangle 157"/>
            <p:cNvSpPr>
              <a:spLocks noChangeArrowheads="1"/>
            </p:cNvSpPr>
            <p:nvPr/>
          </p:nvSpPr>
          <p:spPr bwMode="auto">
            <a:xfrm>
              <a:off x="2297" y="624"/>
              <a:ext cx="2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 i="1"/>
                <a:t>P</a:t>
              </a:r>
            </a:p>
          </p:txBody>
        </p:sp>
        <p:sp>
          <p:nvSpPr>
            <p:cNvPr id="44190" name="Arc 158"/>
            <p:cNvSpPr>
              <a:spLocks/>
            </p:cNvSpPr>
            <p:nvPr/>
          </p:nvSpPr>
          <p:spPr bwMode="auto">
            <a:xfrm>
              <a:off x="2776" y="672"/>
              <a:ext cx="48" cy="9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4191" name="Object 159"/>
            <p:cNvGraphicFramePr>
              <a:graphicFrameLocks noChangeAspect="1"/>
            </p:cNvGraphicFramePr>
            <p:nvPr/>
          </p:nvGraphicFramePr>
          <p:xfrm>
            <a:off x="2922" y="552"/>
            <a:ext cx="19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318" name="公式" r:id="rId8" imgW="139680" imgH="177480" progId="Equation.3">
                    <p:embed/>
                  </p:oleObj>
                </mc:Choice>
                <mc:Fallback>
                  <p:oleObj name="公式" r:id="rId8" imgW="139680" imgH="177480" progId="Equation.3">
                    <p:embed/>
                    <p:pic>
                      <p:nvPicPr>
                        <p:cNvPr id="0" name="Object 1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2" y="552"/>
                          <a:ext cx="19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192" name="Object 160"/>
            <p:cNvGraphicFramePr>
              <a:graphicFrameLocks noChangeAspect="1"/>
            </p:cNvGraphicFramePr>
            <p:nvPr/>
          </p:nvGraphicFramePr>
          <p:xfrm>
            <a:off x="3814" y="910"/>
            <a:ext cx="182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319" name="Equation" r:id="rId10" imgW="152280" imgH="203040" progId="Equation.DSMT4">
                    <p:embed/>
                  </p:oleObj>
                </mc:Choice>
                <mc:Fallback>
                  <p:oleObj name="Equation" r:id="rId10" imgW="152280" imgH="203040" progId="Equation.DSMT4">
                    <p:embed/>
                    <p:pic>
                      <p:nvPicPr>
                        <p:cNvPr id="0" name="Object 1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4" y="910"/>
                          <a:ext cx="182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4194" name="Object 1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7060773"/>
              </p:ext>
            </p:extLst>
          </p:nvPr>
        </p:nvGraphicFramePr>
        <p:xfrm>
          <a:off x="1331913" y="4030266"/>
          <a:ext cx="1223962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20" name="Equation" r:id="rId12" imgW="469800" imgH="241200" progId="Equation.DSMT4">
                  <p:embed/>
                </p:oleObj>
              </mc:Choice>
              <mc:Fallback>
                <p:oleObj name="Equation" r:id="rId12" imgW="469800" imgH="241200" progId="Equation.DSMT4">
                  <p:embed/>
                  <p:pic>
                    <p:nvPicPr>
                      <p:cNvPr id="0" name="Object 1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030266"/>
                        <a:ext cx="1223962" cy="55086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195" name="Object 1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1967202"/>
              </p:ext>
            </p:extLst>
          </p:nvPr>
        </p:nvGraphicFramePr>
        <p:xfrm>
          <a:off x="6011863" y="3887391"/>
          <a:ext cx="109855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21" name="Equation" r:id="rId14" imgW="469800" imgH="241200" progId="Equation.DSMT4">
                  <p:embed/>
                </p:oleObj>
              </mc:Choice>
              <mc:Fallback>
                <p:oleObj name="Equation" r:id="rId14" imgW="469800" imgH="241200" progId="Equation.DSMT4">
                  <p:embed/>
                  <p:pic>
                    <p:nvPicPr>
                      <p:cNvPr id="0" name="Object 1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3887391"/>
                        <a:ext cx="109855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196" name="Object 1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7847750"/>
              </p:ext>
            </p:extLst>
          </p:nvPr>
        </p:nvGraphicFramePr>
        <p:xfrm>
          <a:off x="323528" y="5309692"/>
          <a:ext cx="1692275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22" name="Equation" r:id="rId16" imgW="711000" imgH="279360" progId="Equation.DSMT4">
                  <p:embed/>
                </p:oleObj>
              </mc:Choice>
              <mc:Fallback>
                <p:oleObj name="Equation" r:id="rId16" imgW="711000" imgH="279360" progId="Equation.DSMT4">
                  <p:embed/>
                  <p:pic>
                    <p:nvPicPr>
                      <p:cNvPr id="0" name="Object 1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5309692"/>
                        <a:ext cx="1692275" cy="8048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197" name="Group 165"/>
          <p:cNvGrpSpPr>
            <a:grpSpLocks/>
          </p:cNvGrpSpPr>
          <p:nvPr/>
        </p:nvGrpSpPr>
        <p:grpSpPr bwMode="auto">
          <a:xfrm>
            <a:off x="2542319" y="5464448"/>
            <a:ext cx="3754438" cy="669925"/>
            <a:chOff x="2915" y="1259"/>
            <a:chExt cx="2365" cy="422"/>
          </a:xfrm>
        </p:grpSpPr>
        <p:graphicFrame>
          <p:nvGraphicFramePr>
            <p:cNvPr id="44198" name="Object 166"/>
            <p:cNvGraphicFramePr>
              <a:graphicFrameLocks noChangeAspect="1"/>
            </p:cNvGraphicFramePr>
            <p:nvPr/>
          </p:nvGraphicFramePr>
          <p:xfrm>
            <a:off x="2915" y="1259"/>
            <a:ext cx="316" cy="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323" name="Equation" r:id="rId18" imgW="152280" imgH="203040" progId="Equation.DSMT4">
                    <p:embed/>
                  </p:oleObj>
                </mc:Choice>
                <mc:Fallback>
                  <p:oleObj name="Equation" r:id="rId18" imgW="152280" imgH="203040" progId="Equation.DSMT4">
                    <p:embed/>
                    <p:pic>
                      <p:nvPicPr>
                        <p:cNvPr id="0" name="Object 1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5" y="1259"/>
                          <a:ext cx="316" cy="4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199" name="Text Box 167"/>
            <p:cNvSpPr txBox="1">
              <a:spLocks noChangeArrowheads="1"/>
            </p:cNvSpPr>
            <p:nvPr/>
          </p:nvSpPr>
          <p:spPr bwMode="auto">
            <a:xfrm>
              <a:off x="3168" y="1272"/>
              <a:ext cx="211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 i="1" dirty="0">
                  <a:solidFill>
                    <a:srgbClr val="000000"/>
                  </a:solidFill>
                  <a:sym typeface="Symbol" pitchFamily="18" charset="2"/>
                </a:rPr>
                <a:t> </a:t>
              </a:r>
              <a:r>
                <a:rPr lang="en-US" altLang="zh-CN" sz="3200" b="1" i="1" dirty="0">
                  <a:solidFill>
                    <a:srgbClr val="000000"/>
                  </a:solidFill>
                </a:rPr>
                <a:t>q</a:t>
              </a:r>
              <a:r>
                <a:rPr lang="zh-CN" altLang="en-US" sz="3200" b="1" dirty="0">
                  <a:solidFill>
                    <a:srgbClr val="000000"/>
                  </a:solidFill>
                </a:rPr>
                <a:t>定向移动速度</a:t>
              </a:r>
            </a:p>
          </p:txBody>
        </p:sp>
      </p:grpSp>
      <p:graphicFrame>
        <p:nvGraphicFramePr>
          <p:cNvPr id="44200" name="Object 1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8606655"/>
              </p:ext>
            </p:extLst>
          </p:nvPr>
        </p:nvGraphicFramePr>
        <p:xfrm>
          <a:off x="309563" y="4621485"/>
          <a:ext cx="348615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24" name="Equation" r:id="rId20" imgW="1498320" imgH="241200" progId="Equation.DSMT4">
                  <p:embed/>
                </p:oleObj>
              </mc:Choice>
              <mc:Fallback>
                <p:oleObj name="Equation" r:id="rId20" imgW="1498320" imgH="241200" progId="Equation.DSMT4">
                  <p:embed/>
                  <p:pic>
                    <p:nvPicPr>
                      <p:cNvPr id="0" name="Object 1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3" y="4621485"/>
                        <a:ext cx="3486150" cy="601663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01" name="Object 1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2332543"/>
              </p:ext>
            </p:extLst>
          </p:nvPr>
        </p:nvGraphicFramePr>
        <p:xfrm>
          <a:off x="4198680" y="4653136"/>
          <a:ext cx="4875213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25" name="Equation" r:id="rId22" imgW="2095200" imgH="241200" progId="Equation.DSMT4">
                  <p:embed/>
                </p:oleObj>
              </mc:Choice>
              <mc:Fallback>
                <p:oleObj name="Equation" r:id="rId22" imgW="2095200" imgH="241200" progId="Equation.DSMT4">
                  <p:embed/>
                  <p:pic>
                    <p:nvPicPr>
                      <p:cNvPr id="0" name="Object 1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8680" y="4653136"/>
                        <a:ext cx="4875213" cy="601662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34052" y="677491"/>
            <a:ext cx="6643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/>
              <a:t>带电粒子在电场作用下的定向运动</a:t>
            </a:r>
            <a:r>
              <a:rPr lang="zh-CN" altLang="en-US" sz="2800" dirty="0" smtClean="0">
                <a:ln w="28575">
                  <a:solidFill>
                    <a:srgbClr val="0000FF"/>
                  </a:solidFill>
                </a:ln>
                <a:solidFill>
                  <a:srgbClr val="0000FF"/>
                </a:solidFill>
                <a:sym typeface="Symbol"/>
              </a:rPr>
              <a:t></a:t>
            </a:r>
            <a:r>
              <a:rPr lang="zh-CN" altLang="en-US" sz="2800" dirty="0" smtClean="0">
                <a:sym typeface="Symbol"/>
              </a:rPr>
              <a:t>电流</a:t>
            </a:r>
            <a:endParaRPr lang="zh-CN" altLang="en-US" sz="2800" dirty="0"/>
          </a:p>
        </p:txBody>
      </p:sp>
      <p:sp>
        <p:nvSpPr>
          <p:cNvPr id="169" name="TextBox 168"/>
          <p:cNvSpPr txBox="1"/>
          <p:nvPr/>
        </p:nvSpPr>
        <p:spPr>
          <a:xfrm>
            <a:off x="95405" y="96447"/>
            <a:ext cx="7798036" cy="584775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sz="3200" b="1">
                <a:solidFill>
                  <a:srgbClr val="0000FF"/>
                </a:solidFill>
              </a:defRPr>
            </a:lvl1pPr>
          </a:lstStyle>
          <a:p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zh-CN" altLang="en-US" smtClean="0"/>
              <a:t>电流密度和定向运动速度的关系</a:t>
            </a:r>
            <a:endParaRPr lang="zh-CN" altLang="en-US"/>
          </a:p>
        </p:txBody>
      </p:sp>
      <p:sp>
        <p:nvSpPr>
          <p:cNvPr id="170" name="Text Box 102"/>
          <p:cNvSpPr txBox="1">
            <a:spLocks noChangeArrowheads="1"/>
          </p:cNvSpPr>
          <p:nvPr/>
        </p:nvSpPr>
        <p:spPr bwMode="auto">
          <a:xfrm>
            <a:off x="6572813" y="5542371"/>
            <a:ext cx="1620957" cy="52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/>
            </a:lvl1pPr>
          </a:lstStyle>
          <a:p>
            <a:r>
              <a:rPr lang="zh-CN" altLang="en-US"/>
              <a:t>漂移速度</a:t>
            </a:r>
          </a:p>
        </p:txBody>
      </p:sp>
      <p:sp>
        <p:nvSpPr>
          <p:cNvPr id="174" name="Text Box 167"/>
          <p:cNvSpPr txBox="1">
            <a:spLocks noChangeArrowheads="1"/>
          </p:cNvSpPr>
          <p:nvPr/>
        </p:nvSpPr>
        <p:spPr bwMode="auto">
          <a:xfrm>
            <a:off x="2411760" y="6153137"/>
            <a:ext cx="551478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i="1" smtClean="0">
                <a:solidFill>
                  <a:srgbClr val="000000"/>
                </a:solidFill>
                <a:sym typeface="Symbol" pitchFamily="18" charset="2"/>
              </a:rPr>
              <a:t>q </a:t>
            </a:r>
            <a:r>
              <a:rPr lang="zh-CN" altLang="en-US" sz="3200" b="1" smtClean="0">
                <a:solidFill>
                  <a:srgbClr val="000000"/>
                </a:solidFill>
                <a:sym typeface="Symbol" pitchFamily="18" charset="2"/>
              </a:rPr>
              <a:t>载流子的电量，可正可负</a:t>
            </a:r>
            <a:endParaRPr lang="zh-CN" altLang="en-US" sz="32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70" grpId="0"/>
      <p:bldP spid="17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788C5-1558-4076-8F37-660951CAABC1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33850" name="AutoShape 58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8534400" y="5254625"/>
            <a:ext cx="304800" cy="152400"/>
          </a:xfrm>
          <a:prstGeom prst="actionButtonBeginning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52" name="Text Box 60"/>
          <p:cNvSpPr txBox="1">
            <a:spLocks noChangeArrowheads="1"/>
          </p:cNvSpPr>
          <p:nvPr/>
        </p:nvSpPr>
        <p:spPr bwMode="auto">
          <a:xfrm>
            <a:off x="0" y="1389063"/>
            <a:ext cx="17637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zh-CN" altLang="en-US" sz="3200" b="1">
                <a:solidFill>
                  <a:srgbClr val="FF0000"/>
                </a:solidFill>
              </a:rPr>
              <a:t>对</a:t>
            </a:r>
            <a:r>
              <a:rPr lang="en-US" altLang="zh-CN" sz="3200" b="1">
                <a:solidFill>
                  <a:srgbClr val="FF0000"/>
                </a:solidFill>
              </a:rPr>
              <a:t>Cu</a:t>
            </a:r>
            <a:r>
              <a:rPr lang="zh-CN" altLang="en-US" sz="3200" b="1">
                <a:solidFill>
                  <a:srgbClr val="FF0000"/>
                </a:solidFill>
              </a:rPr>
              <a:t>：</a:t>
            </a:r>
            <a:endParaRPr lang="zh-CN" altLang="en-US" sz="3200"/>
          </a:p>
        </p:txBody>
      </p:sp>
      <p:graphicFrame>
        <p:nvGraphicFramePr>
          <p:cNvPr id="33853" name="Object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1398677"/>
              </p:ext>
            </p:extLst>
          </p:nvPr>
        </p:nvGraphicFramePr>
        <p:xfrm>
          <a:off x="727124" y="2492896"/>
          <a:ext cx="7807276" cy="10994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17" name="公式" r:id="rId3" imgW="2869920" imgH="406080" progId="Equation.3">
                  <p:embed/>
                </p:oleObj>
              </mc:Choice>
              <mc:Fallback>
                <p:oleObj name="公式" r:id="rId3" imgW="2869920" imgH="406080" progId="Equation.3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124" y="2492896"/>
                        <a:ext cx="7807276" cy="10994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54" name="Object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4253610"/>
              </p:ext>
            </p:extLst>
          </p:nvPr>
        </p:nvGraphicFramePr>
        <p:xfrm>
          <a:off x="891242" y="4936331"/>
          <a:ext cx="4679950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18" name="Equation" r:id="rId5" imgW="1536480" imgH="241200" progId="Equation.DSMT4">
                  <p:embed/>
                </p:oleObj>
              </mc:Choice>
              <mc:Fallback>
                <p:oleObj name="Equation" r:id="rId5" imgW="1536480" imgH="241200" progId="Equation.DSMT4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242" y="4936331"/>
                        <a:ext cx="4679950" cy="788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55" name="Object 63"/>
          <p:cNvGraphicFramePr>
            <a:graphicFrameLocks noChangeAspect="1"/>
          </p:cNvGraphicFramePr>
          <p:nvPr/>
        </p:nvGraphicFramePr>
        <p:xfrm>
          <a:off x="85725" y="279400"/>
          <a:ext cx="1843088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19" name="Equation" r:id="rId7" imgW="774360" imgH="279360" progId="Equation.DSMT4">
                  <p:embed/>
                </p:oleObj>
              </mc:Choice>
              <mc:Fallback>
                <p:oleObj name="Equation" r:id="rId7" imgW="774360" imgH="279360" progId="Equation.DSMT4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" y="279400"/>
                        <a:ext cx="1843088" cy="8048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547664" y="1517169"/>
            <a:ext cx="58272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/>
              <a:t>Cu</a:t>
            </a:r>
            <a:r>
              <a:rPr lang="zh-CN" altLang="en-US" sz="3200" dirty="0" smtClean="0"/>
              <a:t>的原子量</a:t>
            </a:r>
            <a:r>
              <a:rPr lang="en-US" altLang="zh-CN" sz="3200" dirty="0" smtClean="0"/>
              <a:t>63.5</a:t>
            </a:r>
            <a:r>
              <a:rPr lang="zh-CN" altLang="en-US" sz="3200" dirty="0" smtClean="0"/>
              <a:t>，密度</a:t>
            </a:r>
            <a:r>
              <a:rPr lang="en-US" altLang="zh-CN" sz="3200" dirty="0" smtClean="0"/>
              <a:t>8.9 g/cm</a:t>
            </a:r>
            <a:r>
              <a:rPr lang="en-US" altLang="zh-CN" sz="3200" baseline="30000" dirty="0" smtClean="0"/>
              <a:t>3</a:t>
            </a:r>
            <a:endParaRPr lang="zh-CN" altLang="en-US" sz="3200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7876503"/>
              </p:ext>
            </p:extLst>
          </p:nvPr>
        </p:nvGraphicFramePr>
        <p:xfrm>
          <a:off x="881856" y="3861048"/>
          <a:ext cx="3276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20" name="公式" r:id="rId9" imgW="1066800" imgH="241300" progId="Equation.3">
                  <p:embed/>
                </p:oleObj>
              </mc:Choice>
              <mc:Fallback>
                <p:oleObj name="公式" r:id="rId9" imgW="1066800" imgH="241300" progId="Equation.3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1856" y="3861048"/>
                        <a:ext cx="32766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788C5-1558-4076-8F37-660951CAABC1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33801" name="Text Box 9"/>
          <p:cNvSpPr txBox="1">
            <a:spLocks noChangeArrowheads="1"/>
          </p:cNvSpPr>
          <p:nvPr/>
        </p:nvSpPr>
        <p:spPr bwMode="auto">
          <a:xfrm>
            <a:off x="827584" y="2636912"/>
            <a:ext cx="70866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zh-CN" sz="3200" b="1" dirty="0">
                <a:solidFill>
                  <a:srgbClr val="000000"/>
                </a:solidFill>
                <a:latin typeface="宋体" pitchFamily="2" charset="-122"/>
              </a:rPr>
              <a:t>∵</a:t>
            </a:r>
            <a:r>
              <a:rPr lang="zh-CN" altLang="en-US" sz="3200" b="1" dirty="0">
                <a:solidFill>
                  <a:srgbClr val="000000"/>
                </a:solidFill>
              </a:rPr>
              <a:t>电流有热效应，故应限制 </a:t>
            </a:r>
            <a:r>
              <a:rPr lang="en-US" altLang="zh-CN" sz="3200" b="1" i="1" dirty="0">
                <a:solidFill>
                  <a:srgbClr val="000000"/>
                </a:solidFill>
              </a:rPr>
              <a:t>j</a:t>
            </a:r>
            <a:r>
              <a:rPr lang="en-US" altLang="zh-CN" sz="3200" b="1" i="1" baseline="-25000" dirty="0">
                <a:solidFill>
                  <a:srgbClr val="000000"/>
                </a:solidFill>
              </a:rPr>
              <a:t> </a:t>
            </a:r>
            <a:r>
              <a:rPr lang="zh-CN" altLang="en-US" sz="3200" b="1" dirty="0">
                <a:solidFill>
                  <a:srgbClr val="000000"/>
                </a:solidFill>
              </a:rPr>
              <a:t>的大小：</a:t>
            </a:r>
            <a:endParaRPr lang="zh-CN" altLang="en-US" sz="3200" dirty="0"/>
          </a:p>
        </p:txBody>
      </p:sp>
      <p:sp>
        <p:nvSpPr>
          <p:cNvPr id="33802" name="Text Box 10"/>
          <p:cNvSpPr txBox="1">
            <a:spLocks noChangeArrowheads="1"/>
          </p:cNvSpPr>
          <p:nvPr/>
        </p:nvSpPr>
        <p:spPr bwMode="auto">
          <a:xfrm>
            <a:off x="438150" y="4344988"/>
            <a:ext cx="42052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000000"/>
                </a:solidFill>
              </a:rPr>
              <a:t>例如对</a:t>
            </a:r>
            <a:r>
              <a:rPr lang="en-US" altLang="zh-CN" sz="3200" b="1">
                <a:solidFill>
                  <a:srgbClr val="FF3300"/>
                </a:solidFill>
              </a:rPr>
              <a:t>Cu</a:t>
            </a:r>
            <a:r>
              <a:rPr lang="zh-CN" altLang="en-US" sz="3200" b="1">
                <a:solidFill>
                  <a:srgbClr val="000000"/>
                </a:solidFill>
              </a:rPr>
              <a:t>导线要求：</a:t>
            </a:r>
          </a:p>
        </p:txBody>
      </p:sp>
      <p:graphicFrame>
        <p:nvGraphicFramePr>
          <p:cNvPr id="33803" name="Object 11"/>
          <p:cNvGraphicFramePr>
            <a:graphicFrameLocks noChangeAspect="1"/>
          </p:cNvGraphicFramePr>
          <p:nvPr/>
        </p:nvGraphicFramePr>
        <p:xfrm>
          <a:off x="4191000" y="4268788"/>
          <a:ext cx="2514600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56" name="公式" r:id="rId3" imgW="838080" imgH="241200" progId="Equation.3">
                  <p:embed/>
                </p:oleObj>
              </mc:Choice>
              <mc:Fallback>
                <p:oleObj name="公式" r:id="rId3" imgW="83808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4268788"/>
                        <a:ext cx="2514600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4" name="Text Box 12"/>
          <p:cNvSpPr txBox="1">
            <a:spLocks noChangeArrowheads="1"/>
          </p:cNvSpPr>
          <p:nvPr/>
        </p:nvSpPr>
        <p:spPr bwMode="auto">
          <a:xfrm>
            <a:off x="6659563" y="4365625"/>
            <a:ext cx="1600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000000"/>
                </a:solidFill>
              </a:rPr>
              <a:t>（粗）</a:t>
            </a:r>
            <a:r>
              <a:rPr lang="zh-CN" altLang="en-US" sz="3200" b="1" baseline="-25000">
                <a:solidFill>
                  <a:srgbClr val="000000"/>
                </a:solidFill>
              </a:rPr>
              <a:t> </a:t>
            </a:r>
          </a:p>
        </p:txBody>
      </p:sp>
      <p:graphicFrame>
        <p:nvGraphicFramePr>
          <p:cNvPr id="33805" name="Object 13"/>
          <p:cNvGraphicFramePr>
            <a:graphicFrameLocks noChangeAspect="1"/>
          </p:cNvGraphicFramePr>
          <p:nvPr/>
        </p:nvGraphicFramePr>
        <p:xfrm>
          <a:off x="3981450" y="5049838"/>
          <a:ext cx="2819400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57" name="公式" r:id="rId5" imgW="965160" imgH="241200" progId="Equation.3">
                  <p:embed/>
                </p:oleObj>
              </mc:Choice>
              <mc:Fallback>
                <p:oleObj name="公式" r:id="rId5" imgW="96516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1450" y="5049838"/>
                        <a:ext cx="2819400" cy="70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6" name="Text Box 14"/>
          <p:cNvSpPr txBox="1">
            <a:spLocks noChangeArrowheads="1"/>
          </p:cNvSpPr>
          <p:nvPr/>
        </p:nvSpPr>
        <p:spPr bwMode="auto">
          <a:xfrm>
            <a:off x="6804025" y="5084763"/>
            <a:ext cx="1600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000000"/>
                </a:solidFill>
              </a:rPr>
              <a:t>（细）</a:t>
            </a:r>
            <a:r>
              <a:rPr lang="zh-CN" altLang="en-US" sz="3200" b="1" baseline="-2500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33807" name="Text Box 15"/>
          <p:cNvSpPr txBox="1">
            <a:spLocks noChangeArrowheads="1"/>
          </p:cNvSpPr>
          <p:nvPr/>
        </p:nvSpPr>
        <p:spPr bwMode="auto">
          <a:xfrm>
            <a:off x="476250" y="5907088"/>
            <a:ext cx="34480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000000"/>
                </a:solidFill>
              </a:rPr>
              <a:t>对于超导导线，</a:t>
            </a:r>
          </a:p>
        </p:txBody>
      </p:sp>
      <p:sp>
        <p:nvSpPr>
          <p:cNvPr id="33808" name="Text Box 16"/>
          <p:cNvSpPr txBox="1">
            <a:spLocks noChangeArrowheads="1"/>
          </p:cNvSpPr>
          <p:nvPr/>
        </p:nvSpPr>
        <p:spPr bwMode="auto">
          <a:xfrm>
            <a:off x="4114800" y="5945188"/>
            <a:ext cx="3429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i="1">
                <a:solidFill>
                  <a:srgbClr val="000000"/>
                </a:solidFill>
              </a:rPr>
              <a:t>j </a:t>
            </a:r>
            <a:r>
              <a:rPr lang="zh-CN" altLang="en-US" sz="3200" b="1">
                <a:solidFill>
                  <a:srgbClr val="000000"/>
                </a:solidFill>
              </a:rPr>
              <a:t>可达</a:t>
            </a:r>
            <a:r>
              <a:rPr lang="en-US" altLang="zh-CN" sz="3200" b="1">
                <a:solidFill>
                  <a:srgbClr val="000000"/>
                </a:solidFill>
              </a:rPr>
              <a:t>10</a:t>
            </a:r>
            <a:r>
              <a:rPr lang="en-US" altLang="zh-CN" sz="3200" b="1" baseline="30000">
                <a:solidFill>
                  <a:srgbClr val="000000"/>
                </a:solidFill>
              </a:rPr>
              <a:t>4</a:t>
            </a:r>
            <a:r>
              <a:rPr lang="en-US" altLang="zh-CN" sz="3200" b="1">
                <a:solidFill>
                  <a:srgbClr val="000000"/>
                </a:solidFill>
              </a:rPr>
              <a:t>A/mm</a:t>
            </a:r>
            <a:r>
              <a:rPr lang="en-US" altLang="zh-CN" sz="3200" b="1" baseline="30000">
                <a:solidFill>
                  <a:srgbClr val="000000"/>
                </a:solidFill>
              </a:rPr>
              <a:t>2</a:t>
            </a:r>
            <a:r>
              <a:rPr lang="zh-CN" altLang="en-US" sz="3200" b="1">
                <a:solidFill>
                  <a:srgbClr val="000000"/>
                </a:solidFill>
              </a:rPr>
              <a:t>。 </a:t>
            </a:r>
          </a:p>
        </p:txBody>
      </p:sp>
      <p:sp>
        <p:nvSpPr>
          <p:cNvPr id="33850" name="AutoShape 58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8534400" y="5254625"/>
            <a:ext cx="304800" cy="152400"/>
          </a:xfrm>
          <a:prstGeom prst="actionButtonBeginning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52" name="Text Box 60"/>
          <p:cNvSpPr txBox="1">
            <a:spLocks noChangeArrowheads="1"/>
          </p:cNvSpPr>
          <p:nvPr/>
        </p:nvSpPr>
        <p:spPr bwMode="auto">
          <a:xfrm>
            <a:off x="303312" y="597322"/>
            <a:ext cx="17637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zh-CN" altLang="en-US" sz="3200" b="1" dirty="0">
                <a:solidFill>
                  <a:srgbClr val="FF0000"/>
                </a:solidFill>
              </a:rPr>
              <a:t>对</a:t>
            </a:r>
            <a:r>
              <a:rPr lang="en-US" altLang="zh-CN" sz="3200" b="1" dirty="0">
                <a:solidFill>
                  <a:srgbClr val="FF0000"/>
                </a:solidFill>
              </a:rPr>
              <a:t>Cu</a:t>
            </a:r>
            <a:r>
              <a:rPr lang="zh-CN" altLang="en-US" sz="3200" b="1" dirty="0">
                <a:solidFill>
                  <a:srgbClr val="FF0000"/>
                </a:solidFill>
              </a:rPr>
              <a:t>：</a:t>
            </a:r>
            <a:endParaRPr lang="zh-CN" altLang="en-US" sz="3200" dirty="0"/>
          </a:p>
        </p:txBody>
      </p:sp>
      <p:graphicFrame>
        <p:nvGraphicFramePr>
          <p:cNvPr id="33853" name="Object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1580036"/>
              </p:ext>
            </p:extLst>
          </p:nvPr>
        </p:nvGraphicFramePr>
        <p:xfrm>
          <a:off x="1979712" y="476672"/>
          <a:ext cx="3276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58" name="公式" r:id="rId7" imgW="1066680" imgH="241200" progId="Equation.3">
                  <p:embed/>
                </p:oleObj>
              </mc:Choice>
              <mc:Fallback>
                <p:oleObj name="公式" r:id="rId7" imgW="106668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476672"/>
                        <a:ext cx="32766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54" name="Object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0789214"/>
              </p:ext>
            </p:extLst>
          </p:nvPr>
        </p:nvGraphicFramePr>
        <p:xfrm>
          <a:off x="1922562" y="1413297"/>
          <a:ext cx="4679950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59" name="Equation" r:id="rId9" imgW="1536480" imgH="241200" progId="Equation.DSMT4">
                  <p:embed/>
                </p:oleObj>
              </mc:Choice>
              <mc:Fallback>
                <p:oleObj name="Equation" r:id="rId9" imgW="15364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2562" y="1413297"/>
                        <a:ext cx="4679950" cy="788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71461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428184"/>
            <a:ext cx="1905000" cy="457200"/>
          </a:xfrm>
        </p:spPr>
        <p:txBody>
          <a:bodyPr/>
          <a:lstStyle/>
          <a:p>
            <a:fld id="{F34C70C6-B266-48F2-8B6C-80C8C1CBCBE6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2" name="TextBox 1"/>
          <p:cNvSpPr txBox="1"/>
          <p:nvPr/>
        </p:nvSpPr>
        <p:spPr>
          <a:xfrm>
            <a:off x="243165" y="1076543"/>
            <a:ext cx="73725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/>
              <a:t>电</a:t>
            </a:r>
            <a:r>
              <a:rPr lang="zh-CN" altLang="en-US" sz="2800" b="1" smtClean="0"/>
              <a:t>流场：电流密度矢量的分布构成一个矢量场</a:t>
            </a:r>
            <a:endParaRPr lang="en-US" altLang="zh-CN" sz="2800" b="1"/>
          </a:p>
        </p:txBody>
      </p:sp>
      <p:graphicFrame>
        <p:nvGraphicFramePr>
          <p:cNvPr id="33" name="Object 9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623717"/>
              </p:ext>
            </p:extLst>
          </p:nvPr>
        </p:nvGraphicFramePr>
        <p:xfrm>
          <a:off x="405040" y="1872183"/>
          <a:ext cx="1979613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43" name="公式" r:id="rId3" imgW="749160" imgH="355320" progId="Equation.3">
                  <p:embed/>
                </p:oleObj>
              </mc:Choice>
              <mc:Fallback>
                <p:oleObj name="公式" r:id="rId3" imgW="74916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040" y="1872183"/>
                        <a:ext cx="1979613" cy="935037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2771800" y="1988840"/>
            <a:ext cx="45127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/>
            </a:lvl1pPr>
          </a:lstStyle>
          <a:p>
            <a:r>
              <a:rPr lang="zh-CN" altLang="en-US"/>
              <a:t>电流强度是电流密度的通量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0" y="194508"/>
            <a:ext cx="3899018" cy="584775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sz="3200" b="1">
                <a:solidFill>
                  <a:srgbClr val="0000FF"/>
                </a:solidFill>
              </a:defRPr>
            </a:lvl1pPr>
          </a:lstStyle>
          <a:p>
            <a:r>
              <a:rPr lang="en-US" altLang="zh-CN" smtClean="0"/>
              <a:t>4</a:t>
            </a:r>
            <a:r>
              <a:rPr lang="zh-CN" altLang="en-US" smtClean="0"/>
              <a:t>、电流场和电流线</a:t>
            </a:r>
            <a:endParaRPr lang="zh-CN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369297" y="3284984"/>
            <a:ext cx="45127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/>
            </a:lvl1pPr>
          </a:lstStyle>
          <a:p>
            <a:r>
              <a:rPr lang="zh-CN" altLang="en-US"/>
              <a:t>可以与</a:t>
            </a:r>
            <a:r>
              <a:rPr lang="zh-CN" altLang="en-US" smtClean="0"/>
              <a:t>流体的流场进行类比</a:t>
            </a:r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2270281" y="4318109"/>
            <a:ext cx="3425938" cy="523220"/>
            <a:chOff x="456186" y="4869160"/>
            <a:chExt cx="3425938" cy="523220"/>
          </a:xfrm>
        </p:grpSpPr>
        <p:sp>
          <p:nvSpPr>
            <p:cNvPr id="3" name="左右箭头 2"/>
            <p:cNvSpPr/>
            <p:nvPr/>
          </p:nvSpPr>
          <p:spPr bwMode="auto">
            <a:xfrm>
              <a:off x="2162183" y="5009612"/>
              <a:ext cx="608076" cy="242316"/>
            </a:xfrm>
            <a:prstGeom prst="left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456186" y="4869160"/>
              <a:ext cx="34259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/>
                <a:t>电流密度            </a:t>
              </a:r>
              <a:r>
                <a:rPr lang="zh-CN" altLang="en-US" sz="2800" b="1" smtClean="0"/>
                <a:t>流速</a:t>
              </a:r>
              <a:endParaRPr lang="zh-CN" altLang="en-US" sz="2800" b="1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270281" y="5118864"/>
            <a:ext cx="3515706" cy="523220"/>
            <a:chOff x="467544" y="5642084"/>
            <a:chExt cx="3515706" cy="523220"/>
          </a:xfrm>
        </p:grpSpPr>
        <p:sp>
          <p:nvSpPr>
            <p:cNvPr id="32" name="左右箭头 31"/>
            <p:cNvSpPr/>
            <p:nvPr/>
          </p:nvSpPr>
          <p:spPr bwMode="auto">
            <a:xfrm>
              <a:off x="2162183" y="5782536"/>
              <a:ext cx="608076" cy="242316"/>
            </a:xfrm>
            <a:prstGeom prst="left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467544" y="5642084"/>
              <a:ext cx="351570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/>
                <a:t>电流强度         </a:t>
              </a:r>
              <a:r>
                <a:rPr lang="zh-CN" altLang="en-US" sz="2800" b="1" smtClean="0"/>
                <a:t>   流量 </a:t>
              </a:r>
              <a:endParaRPr lang="zh-CN" altLang="en-US" sz="2800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283896" y="5209521"/>
            <a:ext cx="1905000" cy="457200"/>
          </a:xfrm>
        </p:spPr>
        <p:txBody>
          <a:bodyPr/>
          <a:lstStyle/>
          <a:p>
            <a:fld id="{F34C70C6-B266-48F2-8B6C-80C8C1CBCBE6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4155" name="Text Box 59"/>
          <p:cNvSpPr txBox="1">
            <a:spLocks noChangeArrowheads="1"/>
          </p:cNvSpPr>
          <p:nvPr/>
        </p:nvSpPr>
        <p:spPr bwMode="auto">
          <a:xfrm>
            <a:off x="111696" y="1340768"/>
            <a:ext cx="8534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zh-CN" altLang="en-US" sz="2800" b="1">
                <a:solidFill>
                  <a:srgbClr val="000000"/>
                </a:solidFill>
              </a:rPr>
              <a:t>为形象描写电流分布，引入</a:t>
            </a:r>
            <a:r>
              <a:rPr lang="zh-CN" altLang="en-US" sz="2800" b="1">
                <a:solidFill>
                  <a:srgbClr val="0000FF"/>
                </a:solidFill>
              </a:rPr>
              <a:t>“电流线”</a:t>
            </a:r>
            <a:r>
              <a:rPr lang="zh-CN" altLang="en-US" sz="2800" b="1">
                <a:solidFill>
                  <a:srgbClr val="000000"/>
                </a:solidFill>
              </a:rPr>
              <a:t>的概念：</a:t>
            </a:r>
          </a:p>
        </p:txBody>
      </p:sp>
      <p:sp>
        <p:nvSpPr>
          <p:cNvPr id="4160" name="Text Box 64"/>
          <p:cNvSpPr txBox="1">
            <a:spLocks noChangeArrowheads="1"/>
          </p:cNvSpPr>
          <p:nvPr/>
        </p:nvSpPr>
        <p:spPr bwMode="auto">
          <a:xfrm>
            <a:off x="35496" y="1816485"/>
            <a:ext cx="4572000" cy="695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en-US" altLang="zh-CN" sz="2800" b="1"/>
              <a:t>1</a:t>
            </a:r>
            <a:r>
              <a:rPr lang="zh-CN" altLang="en-US" sz="2800" b="1"/>
              <a:t>）</a:t>
            </a:r>
            <a:r>
              <a:rPr lang="zh-CN" altLang="en-US" sz="2800" b="1">
                <a:solidFill>
                  <a:srgbClr val="000000"/>
                </a:solidFill>
              </a:rPr>
              <a:t>电流线上某点的切向</a:t>
            </a:r>
            <a:endParaRPr lang="zh-CN" altLang="en-US" sz="2800" b="1"/>
          </a:p>
        </p:txBody>
      </p:sp>
      <p:grpSp>
        <p:nvGrpSpPr>
          <p:cNvPr id="4185" name="Group 89"/>
          <p:cNvGrpSpPr>
            <a:grpSpLocks/>
          </p:cNvGrpSpPr>
          <p:nvPr/>
        </p:nvGrpSpPr>
        <p:grpSpPr bwMode="auto">
          <a:xfrm>
            <a:off x="654621" y="2433777"/>
            <a:ext cx="3789363" cy="654050"/>
            <a:chOff x="0" y="1816"/>
            <a:chExt cx="2387" cy="412"/>
          </a:xfrm>
        </p:grpSpPr>
        <p:sp>
          <p:nvSpPr>
            <p:cNvPr id="4184" name="Rectangle 88"/>
            <p:cNvSpPr>
              <a:spLocks noChangeArrowheads="1"/>
            </p:cNvSpPr>
            <p:nvPr/>
          </p:nvSpPr>
          <p:spPr bwMode="auto">
            <a:xfrm>
              <a:off x="0" y="1872"/>
              <a:ext cx="238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800" b="1">
                  <a:solidFill>
                    <a:srgbClr val="000000"/>
                  </a:solidFill>
                </a:rPr>
                <a:t>与该点    的方向一致；</a:t>
              </a:r>
            </a:p>
          </p:txBody>
        </p:sp>
        <p:graphicFrame>
          <p:nvGraphicFramePr>
            <p:cNvPr id="4162" name="Object 6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2589643"/>
                </p:ext>
              </p:extLst>
            </p:nvPr>
          </p:nvGraphicFramePr>
          <p:xfrm>
            <a:off x="756" y="1816"/>
            <a:ext cx="215" cy="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012" name="公式" r:id="rId3" imgW="126720" imgH="241200" progId="Equation.3">
                    <p:embed/>
                  </p:oleObj>
                </mc:Choice>
                <mc:Fallback>
                  <p:oleObj name="公式" r:id="rId3" imgW="12672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6" y="1816"/>
                          <a:ext cx="215" cy="4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72" name="Group 76"/>
          <p:cNvGrpSpPr>
            <a:grpSpLocks/>
          </p:cNvGrpSpPr>
          <p:nvPr/>
        </p:nvGrpSpPr>
        <p:grpSpPr bwMode="auto">
          <a:xfrm>
            <a:off x="4807521" y="1511911"/>
            <a:ext cx="3676650" cy="1509712"/>
            <a:chOff x="3024" y="2028"/>
            <a:chExt cx="2316" cy="951"/>
          </a:xfrm>
        </p:grpSpPr>
        <p:sp>
          <p:nvSpPr>
            <p:cNvPr id="4164" name="Freeform 68"/>
            <p:cNvSpPr>
              <a:spLocks/>
            </p:cNvSpPr>
            <p:nvPr/>
          </p:nvSpPr>
          <p:spPr bwMode="auto">
            <a:xfrm>
              <a:off x="3024" y="2496"/>
              <a:ext cx="1728" cy="432"/>
            </a:xfrm>
            <a:custGeom>
              <a:avLst/>
              <a:gdLst>
                <a:gd name="T0" fmla="*/ 0 w 1728"/>
                <a:gd name="T1" fmla="*/ 432 h 432"/>
                <a:gd name="T2" fmla="*/ 672 w 1728"/>
                <a:gd name="T3" fmla="*/ 48 h 432"/>
                <a:gd name="T4" fmla="*/ 1728 w 1728"/>
                <a:gd name="T5" fmla="*/ 144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" h="432">
                  <a:moveTo>
                    <a:pt x="0" y="432"/>
                  </a:moveTo>
                  <a:cubicBezTo>
                    <a:pt x="192" y="264"/>
                    <a:pt x="384" y="96"/>
                    <a:pt x="672" y="48"/>
                  </a:cubicBezTo>
                  <a:cubicBezTo>
                    <a:pt x="960" y="0"/>
                    <a:pt x="1344" y="72"/>
                    <a:pt x="1728" y="144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65" name="Line 69"/>
            <p:cNvSpPr>
              <a:spLocks noChangeShapeType="1"/>
            </p:cNvSpPr>
            <p:nvPr/>
          </p:nvSpPr>
          <p:spPr bwMode="auto">
            <a:xfrm flipV="1">
              <a:off x="3648" y="2400"/>
              <a:ext cx="96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66" name="Text Box 70"/>
            <p:cNvSpPr txBox="1">
              <a:spLocks noChangeArrowheads="1"/>
            </p:cNvSpPr>
            <p:nvPr/>
          </p:nvSpPr>
          <p:spPr bwMode="auto">
            <a:xfrm>
              <a:off x="3540" y="2364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>
                  <a:sym typeface="Symbol" pitchFamily="18" charset="2"/>
                </a:rPr>
                <a:t></a:t>
              </a:r>
              <a:endParaRPr lang="en-US" altLang="zh-CN" sz="2800" b="1"/>
            </a:p>
          </p:txBody>
        </p:sp>
        <p:sp>
          <p:nvSpPr>
            <p:cNvPr id="4167" name="Text Box 71"/>
            <p:cNvSpPr txBox="1">
              <a:spLocks noChangeArrowheads="1"/>
            </p:cNvSpPr>
            <p:nvPr/>
          </p:nvSpPr>
          <p:spPr bwMode="auto">
            <a:xfrm>
              <a:off x="4284" y="2652"/>
              <a:ext cx="105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/>
                <a:t>电流线</a:t>
              </a:r>
            </a:p>
          </p:txBody>
        </p:sp>
        <p:sp>
          <p:nvSpPr>
            <p:cNvPr id="4168" name="Text Box 72"/>
            <p:cNvSpPr txBox="1">
              <a:spLocks noChangeArrowheads="1"/>
            </p:cNvSpPr>
            <p:nvPr/>
          </p:nvSpPr>
          <p:spPr bwMode="auto">
            <a:xfrm>
              <a:off x="3516" y="2544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P</a:t>
              </a:r>
            </a:p>
          </p:txBody>
        </p:sp>
        <p:grpSp>
          <p:nvGrpSpPr>
            <p:cNvPr id="4171" name="Group 75"/>
            <p:cNvGrpSpPr>
              <a:grpSpLocks/>
            </p:cNvGrpSpPr>
            <p:nvPr/>
          </p:nvGrpSpPr>
          <p:grpSpPr bwMode="auto">
            <a:xfrm>
              <a:off x="4464" y="2028"/>
              <a:ext cx="336" cy="327"/>
              <a:chOff x="4464" y="1968"/>
              <a:chExt cx="336" cy="327"/>
            </a:xfrm>
          </p:grpSpPr>
          <p:sp>
            <p:nvSpPr>
              <p:cNvPr id="4169" name="Text Box 73"/>
              <p:cNvSpPr txBox="1">
                <a:spLocks noChangeArrowheads="1"/>
              </p:cNvSpPr>
              <p:nvPr/>
            </p:nvSpPr>
            <p:spPr bwMode="auto">
              <a:xfrm>
                <a:off x="4464" y="1968"/>
                <a:ext cx="33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i="1"/>
                  <a:t>j</a:t>
                </a:r>
              </a:p>
            </p:txBody>
          </p:sp>
          <p:sp>
            <p:nvSpPr>
              <p:cNvPr id="4170" name="Line 74"/>
              <p:cNvSpPr>
                <a:spLocks noChangeShapeType="1"/>
              </p:cNvSpPr>
              <p:nvPr/>
            </p:nvSpPr>
            <p:spPr bwMode="auto">
              <a:xfrm>
                <a:off x="4488" y="2016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180" name="Group 84"/>
          <p:cNvGrpSpPr>
            <a:grpSpLocks/>
          </p:cNvGrpSpPr>
          <p:nvPr/>
        </p:nvGrpSpPr>
        <p:grpSpPr bwMode="auto">
          <a:xfrm>
            <a:off x="5007546" y="4007461"/>
            <a:ext cx="3257550" cy="1985962"/>
            <a:chOff x="3072" y="1992"/>
            <a:chExt cx="2052" cy="1251"/>
          </a:xfrm>
        </p:grpSpPr>
        <p:sp>
          <p:nvSpPr>
            <p:cNvPr id="4173" name="AutoShape 77"/>
            <p:cNvSpPr>
              <a:spLocks noChangeArrowheads="1"/>
            </p:cNvSpPr>
            <p:nvPr/>
          </p:nvSpPr>
          <p:spPr bwMode="auto">
            <a:xfrm rot="5400000">
              <a:off x="3408" y="2208"/>
              <a:ext cx="1056" cy="624"/>
            </a:xfrm>
            <a:prstGeom prst="flowChartInputOutpu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74" name="Line 78"/>
            <p:cNvSpPr>
              <a:spLocks noChangeShapeType="1"/>
            </p:cNvSpPr>
            <p:nvPr/>
          </p:nvSpPr>
          <p:spPr bwMode="auto">
            <a:xfrm>
              <a:off x="3072" y="2352"/>
              <a:ext cx="8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75" name="Line 79"/>
            <p:cNvSpPr>
              <a:spLocks noChangeShapeType="1"/>
            </p:cNvSpPr>
            <p:nvPr/>
          </p:nvSpPr>
          <p:spPr bwMode="auto">
            <a:xfrm>
              <a:off x="3072" y="2640"/>
              <a:ext cx="8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76" name="Line 80"/>
            <p:cNvSpPr>
              <a:spLocks noChangeShapeType="1"/>
            </p:cNvSpPr>
            <p:nvPr/>
          </p:nvSpPr>
          <p:spPr bwMode="auto">
            <a:xfrm>
              <a:off x="4236" y="2352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77" name="Line 81"/>
            <p:cNvSpPr>
              <a:spLocks noChangeShapeType="1"/>
            </p:cNvSpPr>
            <p:nvPr/>
          </p:nvSpPr>
          <p:spPr bwMode="auto">
            <a:xfrm>
              <a:off x="4248" y="2652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78" name="Text Box 82"/>
            <p:cNvSpPr txBox="1">
              <a:spLocks noChangeArrowheads="1"/>
            </p:cNvSpPr>
            <p:nvPr/>
          </p:nvSpPr>
          <p:spPr bwMode="auto">
            <a:xfrm>
              <a:off x="4692" y="2328"/>
              <a:ext cx="4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/>
                <a:t>d</a:t>
              </a:r>
              <a:r>
                <a:rPr lang="en-US" altLang="zh-CN" sz="2800" b="1" i="1"/>
                <a:t>N</a:t>
              </a:r>
              <a:endParaRPr lang="en-US" altLang="zh-CN" sz="2800" b="1"/>
            </a:p>
          </p:txBody>
        </p:sp>
        <p:sp>
          <p:nvSpPr>
            <p:cNvPr id="4179" name="Text Box 83"/>
            <p:cNvSpPr txBox="1">
              <a:spLocks noChangeArrowheads="1"/>
            </p:cNvSpPr>
            <p:nvPr/>
          </p:nvSpPr>
          <p:spPr bwMode="auto">
            <a:xfrm>
              <a:off x="3744" y="2916"/>
              <a:ext cx="5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/>
                <a:t>d</a:t>
              </a:r>
              <a:r>
                <a:rPr lang="en-US" altLang="zh-CN" sz="2800" b="1" i="1"/>
                <a:t>S</a:t>
              </a:r>
              <a:r>
                <a:rPr lang="en-US" altLang="zh-CN" sz="2800" b="1" baseline="-25000">
                  <a:sym typeface="Symbol" pitchFamily="18" charset="2"/>
                </a:rPr>
                <a:t></a:t>
              </a:r>
              <a:endParaRPr lang="en-US" altLang="zh-CN" sz="2800" b="1"/>
            </a:p>
          </p:txBody>
        </p:sp>
      </p:grpSp>
      <p:sp>
        <p:nvSpPr>
          <p:cNvPr id="4181" name="Text Box 85"/>
          <p:cNvSpPr txBox="1">
            <a:spLocks noChangeArrowheads="1"/>
          </p:cNvSpPr>
          <p:nvPr/>
        </p:nvSpPr>
        <p:spPr bwMode="auto">
          <a:xfrm>
            <a:off x="111696" y="3098938"/>
            <a:ext cx="4914900" cy="695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altLang="zh-CN" sz="2800" b="1">
                <a:solidFill>
                  <a:srgbClr val="000000"/>
                </a:solidFill>
              </a:rPr>
              <a:t>2</a:t>
            </a:r>
            <a:r>
              <a:rPr lang="zh-CN" altLang="en-US" sz="2800" b="1">
                <a:solidFill>
                  <a:srgbClr val="000000"/>
                </a:solidFill>
              </a:rPr>
              <a:t>）电流线的密度等于 </a:t>
            </a:r>
            <a:r>
              <a:rPr lang="en-US" altLang="zh-CN" sz="2800" b="1" i="1">
                <a:solidFill>
                  <a:srgbClr val="000000"/>
                </a:solidFill>
              </a:rPr>
              <a:t>j</a:t>
            </a:r>
            <a:r>
              <a:rPr lang="zh-CN" altLang="en-US" sz="2800" b="1">
                <a:solidFill>
                  <a:srgbClr val="000000"/>
                </a:solidFill>
              </a:rPr>
              <a:t>，</a:t>
            </a:r>
            <a:endParaRPr lang="zh-CN" altLang="en-US" sz="2800"/>
          </a:p>
        </p:txBody>
      </p:sp>
      <p:graphicFrame>
        <p:nvGraphicFramePr>
          <p:cNvPr id="4182" name="Object 8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6885610"/>
              </p:ext>
            </p:extLst>
          </p:nvPr>
        </p:nvGraphicFramePr>
        <p:xfrm>
          <a:off x="1864296" y="3816961"/>
          <a:ext cx="1790700" cy="1328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13" name="公式" r:id="rId5" imgW="596880" imgH="444240" progId="Equation.3">
                  <p:embed/>
                </p:oleObj>
              </mc:Choice>
              <mc:Fallback>
                <p:oleObj name="公式" r:id="rId5" imgW="5968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4296" y="3816961"/>
                        <a:ext cx="1790700" cy="1328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83" name="Object 8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9647763"/>
              </p:ext>
            </p:extLst>
          </p:nvPr>
        </p:nvGraphicFramePr>
        <p:xfrm>
          <a:off x="1045146" y="5498123"/>
          <a:ext cx="26289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14" name="公式" r:id="rId7" imgW="876240" imgH="177480" progId="Equation.3">
                  <p:embed/>
                </p:oleObj>
              </mc:Choice>
              <mc:Fallback>
                <p:oleObj name="公式" r:id="rId7" imgW="87624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146" y="5498123"/>
                        <a:ext cx="2628900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86" name="Rectangle 90"/>
          <p:cNvSpPr>
            <a:spLocks noChangeArrowheads="1"/>
          </p:cNvSpPr>
          <p:nvPr/>
        </p:nvSpPr>
        <p:spPr bwMode="auto">
          <a:xfrm>
            <a:off x="800671" y="4075723"/>
            <a:ext cx="9874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solidFill>
                  <a:srgbClr val="000000"/>
                </a:solidFill>
              </a:rPr>
              <a:t>即：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0" y="194508"/>
            <a:ext cx="3899018" cy="584775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sz="3200" b="1">
                <a:solidFill>
                  <a:srgbClr val="0000FF"/>
                </a:solidFill>
              </a:defRPr>
            </a:lvl1pPr>
          </a:lstStyle>
          <a:p>
            <a:r>
              <a:rPr lang="zh-CN" altLang="en-US" smtClean="0"/>
              <a:t>电流线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6652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F62E1-93E6-47E3-B7B5-CE3FE3BF22E4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2495550" y="219075"/>
            <a:ext cx="3556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zh-CN" sz="3600" b="1" dirty="0" smtClean="0">
                <a:solidFill>
                  <a:srgbClr val="0000FF"/>
                </a:solidFill>
              </a:rPr>
              <a:t>§2 </a:t>
            </a:r>
            <a:r>
              <a:rPr lang="zh-CN" altLang="en-US" sz="3600" b="1" dirty="0">
                <a:solidFill>
                  <a:srgbClr val="0000FF"/>
                </a:solidFill>
              </a:rPr>
              <a:t>欧姆定律</a:t>
            </a: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342900" y="1028700"/>
            <a:ext cx="4876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0000FF"/>
                </a:solidFill>
              </a:rPr>
              <a:t>欧姆定律</a:t>
            </a:r>
            <a:r>
              <a:rPr lang="zh-CN" altLang="en-US" sz="3200" b="1">
                <a:solidFill>
                  <a:srgbClr val="FF0000"/>
                </a:solidFill>
              </a:rPr>
              <a:t>（</a:t>
            </a:r>
            <a:r>
              <a:rPr lang="en-US" altLang="zh-CN" sz="3200" b="1">
                <a:solidFill>
                  <a:srgbClr val="FF0000"/>
                </a:solidFill>
              </a:rPr>
              <a:t>Ohm</a:t>
            </a:r>
            <a:r>
              <a:rPr lang="en-US" altLang="zh-CN" sz="3200" b="1">
                <a:solidFill>
                  <a:srgbClr val="FF0000"/>
                </a:solidFill>
                <a:sym typeface="Symbol" pitchFamily="18" charset="2"/>
              </a:rPr>
              <a:t></a:t>
            </a:r>
            <a:r>
              <a:rPr lang="en-US" altLang="zh-CN" sz="3200" b="1">
                <a:solidFill>
                  <a:srgbClr val="FF0000"/>
                </a:solidFill>
              </a:rPr>
              <a:t>s alw</a:t>
            </a:r>
            <a:r>
              <a:rPr lang="zh-CN" altLang="en-US" sz="3200" b="1">
                <a:solidFill>
                  <a:srgbClr val="FF0000"/>
                </a:solidFill>
              </a:rPr>
              <a:t>）</a:t>
            </a:r>
          </a:p>
        </p:txBody>
      </p:sp>
      <p:graphicFrame>
        <p:nvGraphicFramePr>
          <p:cNvPr id="8196" name="Object 4"/>
          <p:cNvGraphicFramePr>
            <a:graphicFrameLocks noChangeAspect="1"/>
          </p:cNvGraphicFramePr>
          <p:nvPr/>
        </p:nvGraphicFramePr>
        <p:xfrm>
          <a:off x="4784725" y="1122363"/>
          <a:ext cx="1446213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252" name="公式" r:id="rId3" imgW="495000" imgH="177480" progId="Equation.3">
                  <p:embed/>
                </p:oleObj>
              </mc:Choice>
              <mc:Fallback>
                <p:oleObj name="公式" r:id="rId3" imgW="49500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4725" y="1122363"/>
                        <a:ext cx="1446213" cy="515937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4248150" y="1905000"/>
            <a:ext cx="45148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000000"/>
                </a:solidFill>
              </a:rPr>
              <a:t>对一段均匀金属导体：</a:t>
            </a:r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723900" y="3981450"/>
            <a:ext cx="47625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200" b="1" i="1">
                <a:solidFill>
                  <a:srgbClr val="0000FF"/>
                </a:solidFill>
                <a:latin typeface="宋体" pitchFamily="2" charset="-122"/>
                <a:sym typeface="Symbol" pitchFamily="18" charset="2"/>
              </a:rPr>
              <a:t> </a:t>
            </a:r>
            <a:r>
              <a:rPr lang="en-US" altLang="zh-CN" sz="3200" b="1">
                <a:solidFill>
                  <a:srgbClr val="0000FF"/>
                </a:solidFill>
                <a:latin typeface="宋体" pitchFamily="2" charset="-122"/>
              </a:rPr>
              <a:t>─ </a:t>
            </a:r>
            <a:r>
              <a:rPr lang="zh-CN" altLang="en-US" sz="3200" b="1">
                <a:solidFill>
                  <a:srgbClr val="0000FF"/>
                </a:solidFill>
              </a:rPr>
              <a:t>电阻率</a:t>
            </a:r>
            <a:r>
              <a:rPr lang="zh-CN" altLang="en-US" sz="3200" b="1">
                <a:solidFill>
                  <a:srgbClr val="000000"/>
                </a:solidFill>
              </a:rPr>
              <a:t> </a:t>
            </a:r>
            <a:r>
              <a:rPr lang="en-US" altLang="zh-CN" sz="2800" b="1">
                <a:solidFill>
                  <a:srgbClr val="FF0000"/>
                </a:solidFill>
              </a:rPr>
              <a:t>(resistivity)</a:t>
            </a:r>
            <a:r>
              <a:rPr lang="zh-CN" altLang="en-US" sz="3200" b="1">
                <a:solidFill>
                  <a:srgbClr val="FF0000"/>
                </a:solidFill>
              </a:rPr>
              <a:t>，</a:t>
            </a:r>
          </a:p>
        </p:txBody>
      </p:sp>
      <p:grpSp>
        <p:nvGrpSpPr>
          <p:cNvPr id="8244" name="Group 52"/>
          <p:cNvGrpSpPr>
            <a:grpSpLocks/>
          </p:cNvGrpSpPr>
          <p:nvPr/>
        </p:nvGrpSpPr>
        <p:grpSpPr bwMode="auto">
          <a:xfrm>
            <a:off x="5391150" y="4019550"/>
            <a:ext cx="2201863" cy="579438"/>
            <a:chOff x="3396" y="2532"/>
            <a:chExt cx="1387" cy="365"/>
          </a:xfrm>
        </p:grpSpPr>
        <p:graphicFrame>
          <p:nvGraphicFramePr>
            <p:cNvPr id="8202" name="Object 10"/>
            <p:cNvGraphicFramePr>
              <a:graphicFrameLocks noChangeAspect="1"/>
            </p:cNvGraphicFramePr>
            <p:nvPr/>
          </p:nvGraphicFramePr>
          <p:xfrm>
            <a:off x="4145" y="2582"/>
            <a:ext cx="638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253" name="公式" r:id="rId5" imgW="393480" imgH="164880" progId="Equation.3">
                    <p:embed/>
                  </p:oleObj>
                </mc:Choice>
                <mc:Fallback>
                  <p:oleObj name="公式" r:id="rId5" imgW="3934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5" y="2582"/>
                          <a:ext cx="638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03" name="Rectangle 11"/>
            <p:cNvSpPr>
              <a:spLocks noChangeArrowheads="1"/>
            </p:cNvSpPr>
            <p:nvPr/>
          </p:nvSpPr>
          <p:spPr bwMode="auto">
            <a:xfrm>
              <a:off x="3396" y="2532"/>
              <a:ext cx="88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200" b="1">
                  <a:solidFill>
                    <a:srgbClr val="000000"/>
                  </a:solidFill>
                </a:rPr>
                <a:t>单位：</a:t>
              </a:r>
            </a:p>
          </p:txBody>
        </p:sp>
      </p:grpSp>
      <p:graphicFrame>
        <p:nvGraphicFramePr>
          <p:cNvPr id="8206" name="Object 14"/>
          <p:cNvGraphicFramePr>
            <a:graphicFrameLocks noChangeAspect="1"/>
          </p:cNvGraphicFramePr>
          <p:nvPr/>
        </p:nvGraphicFramePr>
        <p:xfrm>
          <a:off x="1752600" y="4737100"/>
          <a:ext cx="1152525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254" name="公式" r:id="rId7" imgW="457200" imgH="406080" progId="Equation.3">
                  <p:embed/>
                </p:oleObj>
              </mc:Choice>
              <mc:Fallback>
                <p:oleObj name="公式" r:id="rId7" imgW="4572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737100"/>
                        <a:ext cx="1152525" cy="102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47" name="Group 55"/>
          <p:cNvGrpSpPr>
            <a:grpSpLocks/>
          </p:cNvGrpSpPr>
          <p:nvPr/>
        </p:nvGrpSpPr>
        <p:grpSpPr bwMode="auto">
          <a:xfrm>
            <a:off x="0" y="4857750"/>
            <a:ext cx="2381250" cy="976313"/>
            <a:chOff x="0" y="3060"/>
            <a:chExt cx="1500" cy="615"/>
          </a:xfrm>
        </p:grpSpPr>
        <p:sp>
          <p:nvSpPr>
            <p:cNvPr id="8205" name="Text Box 13"/>
            <p:cNvSpPr txBox="1">
              <a:spLocks noChangeArrowheads="1"/>
            </p:cNvSpPr>
            <p:nvPr/>
          </p:nvSpPr>
          <p:spPr bwMode="auto">
            <a:xfrm>
              <a:off x="372" y="3060"/>
              <a:ext cx="96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b="1">
                  <a:solidFill>
                    <a:srgbClr val="0000FF"/>
                  </a:solidFill>
                </a:rPr>
                <a:t>电导：</a:t>
              </a:r>
              <a:endParaRPr lang="zh-CN" altLang="en-US" sz="3200" b="1">
                <a:solidFill>
                  <a:srgbClr val="FF0000"/>
                </a:solidFill>
              </a:endParaRPr>
            </a:p>
          </p:txBody>
        </p:sp>
        <p:sp>
          <p:nvSpPr>
            <p:cNvPr id="8208" name="Text Box 16"/>
            <p:cNvSpPr txBox="1">
              <a:spLocks noChangeArrowheads="1"/>
            </p:cNvSpPr>
            <p:nvPr/>
          </p:nvSpPr>
          <p:spPr bwMode="auto">
            <a:xfrm>
              <a:off x="0" y="3348"/>
              <a:ext cx="150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</a:rPr>
                <a:t>(conductance)</a:t>
              </a:r>
            </a:p>
          </p:txBody>
        </p:sp>
      </p:grpSp>
      <p:grpSp>
        <p:nvGrpSpPr>
          <p:cNvPr id="8245" name="Group 53"/>
          <p:cNvGrpSpPr>
            <a:grpSpLocks/>
          </p:cNvGrpSpPr>
          <p:nvPr/>
        </p:nvGrpSpPr>
        <p:grpSpPr bwMode="auto">
          <a:xfrm>
            <a:off x="5314950" y="4743450"/>
            <a:ext cx="2228850" cy="947738"/>
            <a:chOff x="3348" y="2988"/>
            <a:chExt cx="1404" cy="597"/>
          </a:xfrm>
        </p:grpSpPr>
        <p:sp>
          <p:nvSpPr>
            <p:cNvPr id="8207" name="Text Box 15"/>
            <p:cNvSpPr txBox="1">
              <a:spLocks noChangeArrowheads="1"/>
            </p:cNvSpPr>
            <p:nvPr/>
          </p:nvSpPr>
          <p:spPr bwMode="auto">
            <a:xfrm>
              <a:off x="3348" y="3108"/>
              <a:ext cx="96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b="1">
                  <a:solidFill>
                    <a:srgbClr val="000000"/>
                  </a:solidFill>
                </a:rPr>
                <a:t>单位：</a:t>
              </a:r>
            </a:p>
          </p:txBody>
        </p:sp>
        <p:graphicFrame>
          <p:nvGraphicFramePr>
            <p:cNvPr id="8210" name="Object 18"/>
            <p:cNvGraphicFramePr>
              <a:graphicFrameLocks noChangeAspect="1"/>
            </p:cNvGraphicFramePr>
            <p:nvPr/>
          </p:nvGraphicFramePr>
          <p:xfrm>
            <a:off x="4116" y="2988"/>
            <a:ext cx="636" cy="5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255" name="公式" r:id="rId9" imgW="431640" imgH="406080" progId="Equation.3">
                    <p:embed/>
                  </p:oleObj>
                </mc:Choice>
                <mc:Fallback>
                  <p:oleObj name="公式" r:id="rId9" imgW="431640" imgH="4060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6" y="2988"/>
                          <a:ext cx="636" cy="5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211" name="Text Box 19"/>
          <p:cNvSpPr txBox="1">
            <a:spLocks noChangeArrowheads="1"/>
          </p:cNvSpPr>
          <p:nvPr/>
        </p:nvSpPr>
        <p:spPr bwMode="auto">
          <a:xfrm>
            <a:off x="7353300" y="4991100"/>
            <a:ext cx="1790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zh-CN" altLang="en-US" b="1">
                <a:solidFill>
                  <a:srgbClr val="000000"/>
                </a:solidFill>
              </a:rPr>
              <a:t>（西门子）</a:t>
            </a:r>
            <a:endParaRPr lang="zh-CN" altLang="en-US"/>
          </a:p>
        </p:txBody>
      </p:sp>
      <p:grpSp>
        <p:nvGrpSpPr>
          <p:cNvPr id="8222" name="Group 30"/>
          <p:cNvGrpSpPr>
            <a:grpSpLocks/>
          </p:cNvGrpSpPr>
          <p:nvPr/>
        </p:nvGrpSpPr>
        <p:grpSpPr bwMode="auto">
          <a:xfrm>
            <a:off x="762000" y="5695950"/>
            <a:ext cx="5791200" cy="1030288"/>
            <a:chOff x="480" y="3588"/>
            <a:chExt cx="3648" cy="649"/>
          </a:xfrm>
        </p:grpSpPr>
        <p:graphicFrame>
          <p:nvGraphicFramePr>
            <p:cNvPr id="8212" name="Object 20"/>
            <p:cNvGraphicFramePr>
              <a:graphicFrameLocks noChangeAspect="1"/>
            </p:cNvGraphicFramePr>
            <p:nvPr/>
          </p:nvGraphicFramePr>
          <p:xfrm>
            <a:off x="480" y="3588"/>
            <a:ext cx="668" cy="6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256" name="公式" r:id="rId11" imgW="444240" imgH="431640" progId="Equation.3">
                    <p:embed/>
                  </p:oleObj>
                </mc:Choice>
                <mc:Fallback>
                  <p:oleObj name="公式" r:id="rId11" imgW="44424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3588"/>
                          <a:ext cx="668" cy="6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3" name="Text Box 21"/>
            <p:cNvSpPr txBox="1">
              <a:spLocks noChangeArrowheads="1"/>
            </p:cNvSpPr>
            <p:nvPr/>
          </p:nvSpPr>
          <p:spPr bwMode="auto">
            <a:xfrm>
              <a:off x="1200" y="3732"/>
              <a:ext cx="29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3200" b="1">
                  <a:solidFill>
                    <a:srgbClr val="0000FF"/>
                  </a:solidFill>
                  <a:latin typeface="宋体" pitchFamily="2" charset="-122"/>
                </a:rPr>
                <a:t>─</a:t>
              </a:r>
              <a:r>
                <a:rPr lang="en-US" altLang="zh-CN" sz="3200" b="1">
                  <a:solidFill>
                    <a:srgbClr val="0000FF"/>
                  </a:solidFill>
                </a:rPr>
                <a:t> </a:t>
              </a:r>
              <a:r>
                <a:rPr lang="zh-CN" altLang="en-US" sz="3200" b="1">
                  <a:solidFill>
                    <a:srgbClr val="0000FF"/>
                  </a:solidFill>
                </a:rPr>
                <a:t>电导率</a:t>
              </a:r>
              <a:r>
                <a:rPr lang="zh-CN" altLang="en-US" sz="3200" b="1">
                  <a:solidFill>
                    <a:srgbClr val="FF0000"/>
                  </a:solidFill>
                </a:rPr>
                <a:t> </a:t>
              </a:r>
              <a:r>
                <a:rPr lang="en-US" altLang="zh-CN" sz="2800" b="1">
                  <a:solidFill>
                    <a:srgbClr val="FF0000"/>
                  </a:solidFill>
                </a:rPr>
                <a:t>(conductivity)</a:t>
              </a:r>
              <a:r>
                <a:rPr lang="zh-CN" altLang="en-US" sz="3200" b="1">
                  <a:solidFill>
                    <a:srgbClr val="FF0000"/>
                  </a:solidFill>
                </a:rPr>
                <a:t>，</a:t>
              </a:r>
              <a:endParaRPr lang="zh-CN" altLang="en-US" sz="2800"/>
            </a:p>
          </p:txBody>
        </p:sp>
      </p:grpSp>
      <p:sp>
        <p:nvSpPr>
          <p:cNvPr id="8214" name="Text Box 22"/>
          <p:cNvSpPr txBox="1">
            <a:spLocks noChangeArrowheads="1"/>
          </p:cNvSpPr>
          <p:nvPr/>
        </p:nvSpPr>
        <p:spPr bwMode="auto">
          <a:xfrm>
            <a:off x="6084888" y="5862638"/>
            <a:ext cx="13716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000000"/>
                </a:solidFill>
              </a:rPr>
              <a:t>单位：</a:t>
            </a:r>
          </a:p>
        </p:txBody>
      </p:sp>
      <p:graphicFrame>
        <p:nvGraphicFramePr>
          <p:cNvPr id="8215" name="Object 23"/>
          <p:cNvGraphicFramePr>
            <a:graphicFrameLocks noChangeAspect="1"/>
          </p:cNvGraphicFramePr>
          <p:nvPr/>
        </p:nvGraphicFramePr>
        <p:xfrm>
          <a:off x="7227888" y="5661025"/>
          <a:ext cx="960437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257" name="公式" r:id="rId13" imgW="393480" imgH="406080" progId="Equation.3">
                  <p:embed/>
                </p:oleObj>
              </mc:Choice>
              <mc:Fallback>
                <p:oleObj name="公式" r:id="rId13" imgW="3934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7888" y="5661025"/>
                        <a:ext cx="960437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18" name="Group 26"/>
          <p:cNvGrpSpPr>
            <a:grpSpLocks/>
          </p:cNvGrpSpPr>
          <p:nvPr/>
        </p:nvGrpSpPr>
        <p:grpSpPr bwMode="auto">
          <a:xfrm>
            <a:off x="3733800" y="2667000"/>
            <a:ext cx="3752850" cy="1147763"/>
            <a:chOff x="2352" y="1548"/>
            <a:chExt cx="2364" cy="723"/>
          </a:xfrm>
        </p:grpSpPr>
        <p:graphicFrame>
          <p:nvGraphicFramePr>
            <p:cNvPr id="8200" name="Object 8"/>
            <p:cNvGraphicFramePr>
              <a:graphicFrameLocks noChangeAspect="1"/>
            </p:cNvGraphicFramePr>
            <p:nvPr/>
          </p:nvGraphicFramePr>
          <p:xfrm>
            <a:off x="3660" y="1548"/>
            <a:ext cx="1056" cy="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258" name="公式" r:id="rId15" imgW="634680" imgH="406080" progId="Equation.3">
                    <p:embed/>
                  </p:oleObj>
                </mc:Choice>
                <mc:Fallback>
                  <p:oleObj name="公式" r:id="rId15" imgW="634680" imgH="4060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0" y="1548"/>
                          <a:ext cx="1056" cy="675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0000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217" name="Group 25"/>
            <p:cNvGrpSpPr>
              <a:grpSpLocks/>
            </p:cNvGrpSpPr>
            <p:nvPr/>
          </p:nvGrpSpPr>
          <p:grpSpPr bwMode="auto">
            <a:xfrm>
              <a:off x="2352" y="1661"/>
              <a:ext cx="1248" cy="610"/>
              <a:chOff x="2352" y="1661"/>
              <a:chExt cx="1248" cy="610"/>
            </a:xfrm>
          </p:grpSpPr>
          <p:sp>
            <p:nvSpPr>
              <p:cNvPr id="8199" name="Text Box 7"/>
              <p:cNvSpPr txBox="1">
                <a:spLocks noChangeArrowheads="1"/>
              </p:cNvSpPr>
              <p:nvPr/>
            </p:nvSpPr>
            <p:spPr bwMode="auto">
              <a:xfrm>
                <a:off x="2652" y="1661"/>
                <a:ext cx="720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3200" b="1">
                    <a:solidFill>
                      <a:srgbClr val="0000FF"/>
                    </a:solidFill>
                  </a:rPr>
                  <a:t>电阻</a:t>
                </a:r>
              </a:p>
            </p:txBody>
          </p:sp>
          <p:sp>
            <p:nvSpPr>
              <p:cNvPr id="8216" name="Text Box 24"/>
              <p:cNvSpPr txBox="1">
                <a:spLocks noChangeArrowheads="1"/>
              </p:cNvSpPr>
              <p:nvPr/>
            </p:nvSpPr>
            <p:spPr bwMode="auto">
              <a:xfrm>
                <a:off x="2352" y="1944"/>
                <a:ext cx="124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2800" b="1">
                    <a:solidFill>
                      <a:srgbClr val="FF3300"/>
                    </a:solidFill>
                  </a:rPr>
                  <a:t>(</a:t>
                </a:r>
                <a:r>
                  <a:rPr lang="en-US" altLang="zh-CN" sz="2800" b="1">
                    <a:solidFill>
                      <a:srgbClr val="FF3300"/>
                    </a:solidFill>
                  </a:rPr>
                  <a:t>resistance)</a:t>
                </a:r>
              </a:p>
            </p:txBody>
          </p:sp>
        </p:grpSp>
      </p:grpSp>
      <p:grpSp>
        <p:nvGrpSpPr>
          <p:cNvPr id="8243" name="Group 51"/>
          <p:cNvGrpSpPr>
            <a:grpSpLocks/>
          </p:cNvGrpSpPr>
          <p:nvPr/>
        </p:nvGrpSpPr>
        <p:grpSpPr bwMode="auto">
          <a:xfrm>
            <a:off x="457200" y="1714500"/>
            <a:ext cx="3276600" cy="2062163"/>
            <a:chOff x="288" y="1080"/>
            <a:chExt cx="2064" cy="1299"/>
          </a:xfrm>
        </p:grpSpPr>
        <p:sp>
          <p:nvSpPr>
            <p:cNvPr id="8225" name="Line 33"/>
            <p:cNvSpPr>
              <a:spLocks noChangeShapeType="1"/>
            </p:cNvSpPr>
            <p:nvPr/>
          </p:nvSpPr>
          <p:spPr bwMode="auto">
            <a:xfrm>
              <a:off x="288" y="2028"/>
              <a:ext cx="19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6" name="Oval 34" descr="浅色上对角线"/>
            <p:cNvSpPr>
              <a:spLocks noChangeArrowheads="1"/>
            </p:cNvSpPr>
            <p:nvPr/>
          </p:nvSpPr>
          <p:spPr bwMode="auto">
            <a:xfrm>
              <a:off x="1104" y="1392"/>
              <a:ext cx="192" cy="624"/>
            </a:xfrm>
            <a:prstGeom prst="ellipse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7" name="Line 35"/>
            <p:cNvSpPr>
              <a:spLocks noChangeShapeType="1"/>
            </p:cNvSpPr>
            <p:nvPr/>
          </p:nvSpPr>
          <p:spPr bwMode="auto">
            <a:xfrm>
              <a:off x="1200" y="1728"/>
              <a:ext cx="672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8" name="Text Box 36"/>
            <p:cNvSpPr txBox="1">
              <a:spLocks noChangeArrowheads="1"/>
            </p:cNvSpPr>
            <p:nvPr/>
          </p:nvSpPr>
          <p:spPr bwMode="auto">
            <a:xfrm>
              <a:off x="1284" y="1380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S</a:t>
              </a:r>
            </a:p>
          </p:txBody>
        </p:sp>
        <p:sp>
          <p:nvSpPr>
            <p:cNvPr id="8229" name="Text Box 37"/>
            <p:cNvSpPr txBox="1">
              <a:spLocks noChangeArrowheads="1"/>
            </p:cNvSpPr>
            <p:nvPr/>
          </p:nvSpPr>
          <p:spPr bwMode="auto">
            <a:xfrm>
              <a:off x="768" y="1548"/>
              <a:ext cx="4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R</a:t>
              </a:r>
            </a:p>
          </p:txBody>
        </p:sp>
        <p:sp>
          <p:nvSpPr>
            <p:cNvPr id="8230" name="Line 38"/>
            <p:cNvSpPr>
              <a:spLocks noChangeShapeType="1"/>
            </p:cNvSpPr>
            <p:nvPr/>
          </p:nvSpPr>
          <p:spPr bwMode="auto">
            <a:xfrm>
              <a:off x="576" y="1152"/>
              <a:ext cx="0" cy="11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31" name="Line 39"/>
            <p:cNvSpPr>
              <a:spLocks noChangeShapeType="1"/>
            </p:cNvSpPr>
            <p:nvPr/>
          </p:nvSpPr>
          <p:spPr bwMode="auto">
            <a:xfrm>
              <a:off x="2016" y="1140"/>
              <a:ext cx="0" cy="11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32" name="Line 40"/>
            <p:cNvSpPr>
              <a:spLocks noChangeShapeType="1"/>
            </p:cNvSpPr>
            <p:nvPr/>
          </p:nvSpPr>
          <p:spPr bwMode="auto">
            <a:xfrm>
              <a:off x="1488" y="220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33" name="Line 41"/>
            <p:cNvSpPr>
              <a:spLocks noChangeShapeType="1"/>
            </p:cNvSpPr>
            <p:nvPr/>
          </p:nvSpPr>
          <p:spPr bwMode="auto">
            <a:xfrm flipH="1">
              <a:off x="576" y="220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34" name="Text Box 42"/>
            <p:cNvSpPr txBox="1">
              <a:spLocks noChangeArrowheads="1"/>
            </p:cNvSpPr>
            <p:nvPr/>
          </p:nvSpPr>
          <p:spPr bwMode="auto">
            <a:xfrm>
              <a:off x="1200" y="2052"/>
              <a:ext cx="5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U</a:t>
              </a:r>
            </a:p>
          </p:txBody>
        </p:sp>
        <p:sp>
          <p:nvSpPr>
            <p:cNvPr id="8235" name="Line 43"/>
            <p:cNvSpPr>
              <a:spLocks noChangeShapeType="1"/>
            </p:cNvSpPr>
            <p:nvPr/>
          </p:nvSpPr>
          <p:spPr bwMode="auto">
            <a:xfrm>
              <a:off x="1488" y="124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36" name="Line 44"/>
            <p:cNvSpPr>
              <a:spLocks noChangeShapeType="1"/>
            </p:cNvSpPr>
            <p:nvPr/>
          </p:nvSpPr>
          <p:spPr bwMode="auto">
            <a:xfrm flipH="1">
              <a:off x="576" y="124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37" name="Text Box 45"/>
            <p:cNvSpPr txBox="1">
              <a:spLocks noChangeArrowheads="1"/>
            </p:cNvSpPr>
            <p:nvPr/>
          </p:nvSpPr>
          <p:spPr bwMode="auto">
            <a:xfrm>
              <a:off x="1224" y="1080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L</a:t>
              </a:r>
            </a:p>
          </p:txBody>
        </p:sp>
        <p:sp>
          <p:nvSpPr>
            <p:cNvPr id="8238" name="Text Box 46"/>
            <p:cNvSpPr txBox="1">
              <a:spLocks noChangeArrowheads="1"/>
            </p:cNvSpPr>
            <p:nvPr/>
          </p:nvSpPr>
          <p:spPr bwMode="auto">
            <a:xfrm>
              <a:off x="336" y="1584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a</a:t>
              </a:r>
            </a:p>
          </p:txBody>
        </p:sp>
        <p:sp>
          <p:nvSpPr>
            <p:cNvPr id="8239" name="Text Box 47"/>
            <p:cNvSpPr txBox="1">
              <a:spLocks noChangeArrowheads="1"/>
            </p:cNvSpPr>
            <p:nvPr/>
          </p:nvSpPr>
          <p:spPr bwMode="auto">
            <a:xfrm>
              <a:off x="2016" y="1560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b</a:t>
              </a:r>
            </a:p>
          </p:txBody>
        </p:sp>
        <p:sp>
          <p:nvSpPr>
            <p:cNvPr id="8224" name="Line 32"/>
            <p:cNvSpPr>
              <a:spLocks noChangeShapeType="1"/>
            </p:cNvSpPr>
            <p:nvPr/>
          </p:nvSpPr>
          <p:spPr bwMode="auto">
            <a:xfrm>
              <a:off x="288" y="1392"/>
              <a:ext cx="19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42" name="Text Box 50"/>
            <p:cNvSpPr txBox="1">
              <a:spLocks noChangeArrowheads="1"/>
            </p:cNvSpPr>
            <p:nvPr/>
          </p:nvSpPr>
          <p:spPr bwMode="auto">
            <a:xfrm>
              <a:off x="1440" y="1692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00FF"/>
                  </a:solidFill>
                </a:rPr>
                <a:t>I</a:t>
              </a:r>
            </a:p>
          </p:txBody>
        </p:sp>
      </p:grpSp>
      <p:graphicFrame>
        <p:nvGraphicFramePr>
          <p:cNvPr id="8248" name="Object 56"/>
          <p:cNvGraphicFramePr>
            <a:graphicFrameLocks noChangeAspect="1"/>
          </p:cNvGraphicFramePr>
          <p:nvPr/>
        </p:nvGraphicFramePr>
        <p:xfrm>
          <a:off x="2854325" y="4724400"/>
          <a:ext cx="1312863" cy="108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259" name="公式" r:id="rId17" imgW="520560" imgH="431640" progId="Equation.3">
                  <p:embed/>
                </p:oleObj>
              </mc:Choice>
              <mc:Fallback>
                <p:oleObj name="公式" r:id="rId17" imgW="5205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4325" y="4724400"/>
                        <a:ext cx="1312863" cy="1084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49" name="Object 57"/>
          <p:cNvGraphicFramePr>
            <a:graphicFrameLocks noChangeAspect="1"/>
          </p:cNvGraphicFramePr>
          <p:nvPr/>
        </p:nvGraphicFramePr>
        <p:xfrm>
          <a:off x="4168775" y="4756150"/>
          <a:ext cx="1212850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260" name="公式" r:id="rId19" imgW="482400" imgH="406080" progId="Equation.3">
                  <p:embed/>
                </p:oleObj>
              </mc:Choice>
              <mc:Fallback>
                <p:oleObj name="公式" r:id="rId19" imgW="4824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8775" y="4756150"/>
                        <a:ext cx="1212850" cy="102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50" name="Text Box 58"/>
          <p:cNvSpPr txBox="1">
            <a:spLocks noChangeArrowheads="1"/>
          </p:cNvSpPr>
          <p:nvPr/>
        </p:nvSpPr>
        <p:spPr bwMode="auto">
          <a:xfrm>
            <a:off x="381000" y="3238500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>
                <a:sym typeface="Symbol" pitchFamily="18" charset="2"/>
              </a:rPr>
              <a:t></a:t>
            </a:r>
            <a:r>
              <a:rPr lang="en-US" altLang="zh-CN" sz="2800" b="1" i="1" baseline="-25000">
                <a:sym typeface="Symbol" pitchFamily="18" charset="2"/>
              </a:rPr>
              <a:t>a</a:t>
            </a:r>
            <a:endParaRPr lang="en-US" altLang="zh-CN" sz="2800" b="1" i="1"/>
          </a:p>
        </p:txBody>
      </p:sp>
      <p:sp>
        <p:nvSpPr>
          <p:cNvPr id="8251" name="Text Box 59"/>
          <p:cNvSpPr txBox="1">
            <a:spLocks noChangeArrowheads="1"/>
          </p:cNvSpPr>
          <p:nvPr/>
        </p:nvSpPr>
        <p:spPr bwMode="auto">
          <a:xfrm>
            <a:off x="3200400" y="3219450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>
                <a:sym typeface="Symbol" pitchFamily="18" charset="2"/>
              </a:rPr>
              <a:t></a:t>
            </a:r>
            <a:r>
              <a:rPr lang="en-US" altLang="zh-CN" sz="2800" b="1" i="1" baseline="-25000">
                <a:sym typeface="Symbol" pitchFamily="18" charset="2"/>
              </a:rPr>
              <a:t>b</a:t>
            </a:r>
            <a:endParaRPr lang="en-US" altLang="zh-CN" sz="2800" b="1" i="1"/>
          </a:p>
        </p:txBody>
      </p:sp>
      <p:sp>
        <p:nvSpPr>
          <p:cNvPr id="8252" name="Text Box 60"/>
          <p:cNvSpPr txBox="1">
            <a:spLocks noChangeArrowheads="1"/>
          </p:cNvSpPr>
          <p:nvPr/>
        </p:nvSpPr>
        <p:spPr bwMode="auto">
          <a:xfrm>
            <a:off x="6248400" y="1066800"/>
            <a:ext cx="2895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/>
              <a:t>（</a:t>
            </a:r>
            <a:r>
              <a:rPr lang="en-US" altLang="zh-CN" sz="3200" b="1" i="1"/>
              <a:t>U</a:t>
            </a:r>
            <a:r>
              <a:rPr lang="en-US" altLang="zh-CN" sz="3200" b="1"/>
              <a:t>= </a:t>
            </a:r>
            <a:r>
              <a:rPr lang="en-US" altLang="zh-CN" sz="3200" b="1" i="1">
                <a:sym typeface="Symbol" pitchFamily="18" charset="2"/>
              </a:rPr>
              <a:t></a:t>
            </a:r>
            <a:r>
              <a:rPr lang="en-US" altLang="zh-CN" sz="3200" b="1" i="1" baseline="-25000">
                <a:sym typeface="Symbol" pitchFamily="18" charset="2"/>
              </a:rPr>
              <a:t>a</a:t>
            </a:r>
            <a:r>
              <a:rPr lang="en-US" altLang="zh-CN" sz="3200" b="1">
                <a:sym typeface="Symbol" pitchFamily="18" charset="2"/>
              </a:rPr>
              <a:t>-</a:t>
            </a:r>
            <a:r>
              <a:rPr lang="en-US" altLang="zh-CN" sz="3200" b="1" i="1">
                <a:sym typeface="Symbol" pitchFamily="18" charset="2"/>
              </a:rPr>
              <a:t></a:t>
            </a:r>
            <a:r>
              <a:rPr lang="en-US" altLang="zh-CN" sz="3200" b="1" i="1" baseline="-25000">
                <a:sym typeface="Symbol" pitchFamily="18" charset="2"/>
              </a:rPr>
              <a:t>b</a:t>
            </a:r>
            <a:r>
              <a:rPr lang="en-US" altLang="zh-CN" sz="3200" b="1"/>
              <a:t> </a:t>
            </a:r>
            <a:r>
              <a:rPr lang="zh-CN" altLang="en-US" sz="3200" b="1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321334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8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300"/>
                                        <p:tgtEl>
                                          <p:spTgt spid="8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8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autoUpdateAnimBg="0"/>
      <p:bldP spid="8195" grpId="0" autoUpdateAnimBg="0"/>
      <p:bldP spid="8197" grpId="0" autoUpdateAnimBg="0"/>
      <p:bldP spid="8201" grpId="0" autoUpdateAnimBg="0"/>
      <p:bldP spid="8211" grpId="0" autoUpdateAnimBg="0"/>
      <p:bldP spid="8214" grpId="0"/>
      <p:bldP spid="8250" grpId="0" autoUpdateAnimBg="0"/>
      <p:bldP spid="8251" grpId="0" autoUpdateAnimBg="0"/>
      <p:bldP spid="8252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104857" y="6400800"/>
            <a:ext cx="1905000" cy="457200"/>
          </a:xfrm>
        </p:spPr>
        <p:txBody>
          <a:bodyPr/>
          <a:lstStyle/>
          <a:p>
            <a:fld id="{79A4F4D8-E405-451B-AC6B-C33AE737BC10}" type="slidenum">
              <a:rPr lang="en-US" altLang="zh-CN" sz="1000"/>
              <a:pPr/>
              <a:t>12</a:t>
            </a:fld>
            <a:endParaRPr lang="en-US" altLang="zh-CN" sz="1000"/>
          </a:p>
        </p:txBody>
      </p:sp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666750" y="315913"/>
            <a:ext cx="80200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zh-CN" altLang="en-US" sz="2800" b="1">
                <a:solidFill>
                  <a:srgbClr val="000000"/>
                </a:solidFill>
              </a:rPr>
              <a:t>将</a:t>
            </a:r>
            <a:r>
              <a:rPr lang="zh-CN" altLang="en-US" sz="2800" b="1">
                <a:solidFill>
                  <a:srgbClr val="0000FF"/>
                </a:solidFill>
              </a:rPr>
              <a:t>欧姆定律</a:t>
            </a:r>
            <a:r>
              <a:rPr lang="zh-CN" altLang="en-US" sz="2800" b="1">
                <a:solidFill>
                  <a:srgbClr val="000000"/>
                </a:solidFill>
              </a:rPr>
              <a:t>用于</a:t>
            </a:r>
            <a:r>
              <a:rPr lang="zh-CN" altLang="en-US" sz="2800" b="1">
                <a:solidFill>
                  <a:srgbClr val="0000FF"/>
                </a:solidFill>
              </a:rPr>
              <a:t>大块导体</a:t>
            </a:r>
            <a:r>
              <a:rPr lang="zh-CN" altLang="en-US" sz="2800" b="1"/>
              <a:t>中的一小段，有：</a:t>
            </a:r>
          </a:p>
        </p:txBody>
      </p:sp>
      <p:graphicFrame>
        <p:nvGraphicFramePr>
          <p:cNvPr id="9255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3657903"/>
              </p:ext>
            </p:extLst>
          </p:nvPr>
        </p:nvGraphicFramePr>
        <p:xfrm>
          <a:off x="4572000" y="1747837"/>
          <a:ext cx="3438525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79" name="公式" r:id="rId3" imgW="1320480" imgH="406080" progId="Equation.3">
                  <p:embed/>
                </p:oleObj>
              </mc:Choice>
              <mc:Fallback>
                <p:oleObj name="公式" r:id="rId3" imgW="13204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747837"/>
                        <a:ext cx="3438525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6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9268783"/>
              </p:ext>
            </p:extLst>
          </p:nvPr>
        </p:nvGraphicFramePr>
        <p:xfrm>
          <a:off x="4653273" y="2924548"/>
          <a:ext cx="2103437" cy="118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80" name="Equation" r:id="rId5" imgW="761760" imgH="431640" progId="Equation.3">
                  <p:embed/>
                </p:oleObj>
              </mc:Choice>
              <mc:Fallback>
                <p:oleObj name="Equation" r:id="rId5" imgW="7617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3273" y="2924548"/>
                        <a:ext cx="2103437" cy="1189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7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3720675"/>
              </p:ext>
            </p:extLst>
          </p:nvPr>
        </p:nvGraphicFramePr>
        <p:xfrm>
          <a:off x="6876256" y="3162300"/>
          <a:ext cx="1401763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81" name="Equation" r:id="rId7" imgW="507960" imgH="228600" progId="Equation.DSMT4">
                  <p:embed/>
                </p:oleObj>
              </mc:Choice>
              <mc:Fallback>
                <p:oleObj name="Equation" r:id="rId7" imgW="5079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6256" y="3162300"/>
                        <a:ext cx="1401763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9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0143433"/>
              </p:ext>
            </p:extLst>
          </p:nvPr>
        </p:nvGraphicFramePr>
        <p:xfrm>
          <a:off x="5796136" y="4216568"/>
          <a:ext cx="139065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82" name="公式" r:id="rId9" imgW="495000" imgH="241200" progId="Equation.3">
                  <p:embed/>
                </p:oleObj>
              </mc:Choice>
              <mc:Fallback>
                <p:oleObj name="公式" r:id="rId9" imgW="4950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136" y="4216568"/>
                        <a:ext cx="1390650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60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7065512"/>
              </p:ext>
            </p:extLst>
          </p:nvPr>
        </p:nvGraphicFramePr>
        <p:xfrm>
          <a:off x="577850" y="4980643"/>
          <a:ext cx="157480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83" name="公式" r:id="rId11" imgW="558720" imgH="241200" progId="Equation.3">
                  <p:embed/>
                </p:oleObj>
              </mc:Choice>
              <mc:Fallback>
                <p:oleObj name="公式" r:id="rId11" imgW="55872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850" y="4980643"/>
                        <a:ext cx="1574800" cy="676275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63" name="Text Box 47"/>
          <p:cNvSpPr txBox="1">
            <a:spLocks noChangeArrowheads="1"/>
          </p:cNvSpPr>
          <p:nvPr/>
        </p:nvSpPr>
        <p:spPr bwMode="auto">
          <a:xfrm>
            <a:off x="2630413" y="4980643"/>
            <a:ext cx="43243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zh-CN" sz="2800" b="1">
                <a:solidFill>
                  <a:srgbClr val="0000FF"/>
                </a:solidFill>
                <a:latin typeface="Times New Roman"/>
              </a:rPr>
              <a:t>—</a:t>
            </a:r>
            <a:r>
              <a:rPr lang="en-US" altLang="zh-CN" sz="2800" b="1">
                <a:solidFill>
                  <a:srgbClr val="0000FF"/>
                </a:solidFill>
                <a:latin typeface="宋体" pitchFamily="2" charset="-122"/>
              </a:rPr>
              <a:t> </a:t>
            </a:r>
            <a:r>
              <a:rPr lang="zh-CN" altLang="en-US" sz="2800" b="1">
                <a:solidFill>
                  <a:srgbClr val="0000FF"/>
                </a:solidFill>
              </a:rPr>
              <a:t>欧姆定律微分形式</a:t>
            </a:r>
            <a:endParaRPr lang="zh-CN" altLang="en-US" sz="2800"/>
          </a:p>
        </p:txBody>
      </p:sp>
      <p:sp>
        <p:nvSpPr>
          <p:cNvPr id="9265" name="Line 49"/>
          <p:cNvSpPr>
            <a:spLocks noChangeShapeType="1"/>
          </p:cNvSpPr>
          <p:nvPr/>
        </p:nvSpPr>
        <p:spPr bwMode="auto">
          <a:xfrm>
            <a:off x="6038850" y="1990725"/>
            <a:ext cx="685800" cy="5334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9266" name="Line 50"/>
          <p:cNvSpPr>
            <a:spLocks noChangeShapeType="1"/>
          </p:cNvSpPr>
          <p:nvPr/>
        </p:nvSpPr>
        <p:spPr bwMode="auto">
          <a:xfrm>
            <a:off x="7391400" y="2355056"/>
            <a:ext cx="476250" cy="4191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grpSp>
        <p:nvGrpSpPr>
          <p:cNvPr id="9275" name="Group 59"/>
          <p:cNvGrpSpPr>
            <a:grpSpLocks/>
          </p:cNvGrpSpPr>
          <p:nvPr/>
        </p:nvGrpSpPr>
        <p:grpSpPr bwMode="auto">
          <a:xfrm>
            <a:off x="228600" y="942975"/>
            <a:ext cx="4095750" cy="2714625"/>
            <a:chOff x="144" y="594"/>
            <a:chExt cx="2580" cy="1710"/>
          </a:xfrm>
        </p:grpSpPr>
        <p:sp>
          <p:nvSpPr>
            <p:cNvPr id="9222" name="Freeform 6"/>
            <p:cNvSpPr>
              <a:spLocks/>
            </p:cNvSpPr>
            <p:nvPr/>
          </p:nvSpPr>
          <p:spPr bwMode="auto">
            <a:xfrm>
              <a:off x="252" y="1680"/>
              <a:ext cx="2352" cy="624"/>
            </a:xfrm>
            <a:custGeom>
              <a:avLst/>
              <a:gdLst>
                <a:gd name="T0" fmla="*/ 0 w 2352"/>
                <a:gd name="T1" fmla="*/ 144 h 432"/>
                <a:gd name="T2" fmla="*/ 960 w 2352"/>
                <a:gd name="T3" fmla="*/ 48 h 432"/>
                <a:gd name="T4" fmla="*/ 2352 w 2352"/>
                <a:gd name="T5" fmla="*/ 432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52" h="432">
                  <a:moveTo>
                    <a:pt x="0" y="144"/>
                  </a:moveTo>
                  <a:cubicBezTo>
                    <a:pt x="284" y="72"/>
                    <a:pt x="568" y="0"/>
                    <a:pt x="960" y="48"/>
                  </a:cubicBezTo>
                  <a:cubicBezTo>
                    <a:pt x="1352" y="96"/>
                    <a:pt x="2120" y="368"/>
                    <a:pt x="2352" y="432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223" name="Freeform 7"/>
            <p:cNvSpPr>
              <a:spLocks/>
            </p:cNvSpPr>
            <p:nvPr/>
          </p:nvSpPr>
          <p:spPr bwMode="auto">
            <a:xfrm>
              <a:off x="300" y="696"/>
              <a:ext cx="2208" cy="344"/>
            </a:xfrm>
            <a:custGeom>
              <a:avLst/>
              <a:gdLst>
                <a:gd name="T0" fmla="*/ 0 w 2208"/>
                <a:gd name="T1" fmla="*/ 336 h 344"/>
                <a:gd name="T2" fmla="*/ 1104 w 2208"/>
                <a:gd name="T3" fmla="*/ 288 h 344"/>
                <a:gd name="T4" fmla="*/ 2208 w 2208"/>
                <a:gd name="T5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08" h="344">
                  <a:moveTo>
                    <a:pt x="0" y="336"/>
                  </a:moveTo>
                  <a:cubicBezTo>
                    <a:pt x="368" y="340"/>
                    <a:pt x="736" y="344"/>
                    <a:pt x="1104" y="288"/>
                  </a:cubicBezTo>
                  <a:cubicBezTo>
                    <a:pt x="1472" y="232"/>
                    <a:pt x="1840" y="116"/>
                    <a:pt x="2208" y="0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224" name="Oval 8" descr="深色上对角线"/>
            <p:cNvSpPr>
              <a:spLocks noChangeArrowheads="1"/>
            </p:cNvSpPr>
            <p:nvPr/>
          </p:nvSpPr>
          <p:spPr bwMode="auto">
            <a:xfrm>
              <a:off x="1500" y="1176"/>
              <a:ext cx="192" cy="432"/>
            </a:xfrm>
            <a:prstGeom prst="ellipse">
              <a:avLst/>
            </a:prstGeom>
            <a:pattFill prst="dkUpDiag">
              <a:fgClr>
                <a:schemeClr val="tx1"/>
              </a:fgClr>
              <a:bgClr>
                <a:srgbClr val="FFFFFF"/>
              </a:bgClr>
            </a:patt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2800"/>
            </a:p>
          </p:txBody>
        </p:sp>
        <p:sp>
          <p:nvSpPr>
            <p:cNvPr id="9225" name="Line 9"/>
            <p:cNvSpPr>
              <a:spLocks noChangeShapeType="1"/>
            </p:cNvSpPr>
            <p:nvPr/>
          </p:nvSpPr>
          <p:spPr bwMode="auto">
            <a:xfrm>
              <a:off x="1116" y="1572"/>
              <a:ext cx="480" cy="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226" name="Line 10"/>
            <p:cNvSpPr>
              <a:spLocks noChangeShapeType="1"/>
            </p:cNvSpPr>
            <p:nvPr/>
          </p:nvSpPr>
          <p:spPr bwMode="auto">
            <a:xfrm>
              <a:off x="1596" y="1404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227" name="Freeform 11"/>
            <p:cNvSpPr>
              <a:spLocks/>
            </p:cNvSpPr>
            <p:nvPr/>
          </p:nvSpPr>
          <p:spPr bwMode="auto">
            <a:xfrm>
              <a:off x="1692" y="1416"/>
              <a:ext cx="864" cy="96"/>
            </a:xfrm>
            <a:custGeom>
              <a:avLst/>
              <a:gdLst>
                <a:gd name="T0" fmla="*/ 0 w 864"/>
                <a:gd name="T1" fmla="*/ 0 h 96"/>
                <a:gd name="T2" fmla="*/ 432 w 864"/>
                <a:gd name="T3" fmla="*/ 48 h 96"/>
                <a:gd name="T4" fmla="*/ 864 w 864"/>
                <a:gd name="T5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64" h="96">
                  <a:moveTo>
                    <a:pt x="0" y="0"/>
                  </a:moveTo>
                  <a:cubicBezTo>
                    <a:pt x="144" y="16"/>
                    <a:pt x="288" y="32"/>
                    <a:pt x="432" y="48"/>
                  </a:cubicBezTo>
                  <a:cubicBezTo>
                    <a:pt x="576" y="64"/>
                    <a:pt x="720" y="80"/>
                    <a:pt x="864" y="96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228" name="Line 12"/>
            <p:cNvSpPr>
              <a:spLocks noChangeShapeType="1"/>
            </p:cNvSpPr>
            <p:nvPr/>
          </p:nvSpPr>
          <p:spPr bwMode="auto">
            <a:xfrm>
              <a:off x="1116" y="1368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229" name="Oval 13"/>
            <p:cNvSpPr>
              <a:spLocks noChangeArrowheads="1"/>
            </p:cNvSpPr>
            <p:nvPr/>
          </p:nvSpPr>
          <p:spPr bwMode="auto">
            <a:xfrm>
              <a:off x="1020" y="1140"/>
              <a:ext cx="192" cy="43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2800"/>
            </a:p>
          </p:txBody>
        </p:sp>
        <p:sp>
          <p:nvSpPr>
            <p:cNvPr id="9230" name="Rectangle 14"/>
            <p:cNvSpPr>
              <a:spLocks noChangeArrowheads="1"/>
            </p:cNvSpPr>
            <p:nvPr/>
          </p:nvSpPr>
          <p:spPr bwMode="auto">
            <a:xfrm>
              <a:off x="1128" y="1140"/>
              <a:ext cx="192" cy="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231" name="Oval 15"/>
            <p:cNvSpPr>
              <a:spLocks noChangeArrowheads="1"/>
            </p:cNvSpPr>
            <p:nvPr/>
          </p:nvSpPr>
          <p:spPr bwMode="auto">
            <a:xfrm>
              <a:off x="1020" y="1140"/>
              <a:ext cx="192" cy="43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2800"/>
            </a:p>
          </p:txBody>
        </p:sp>
        <p:sp>
          <p:nvSpPr>
            <p:cNvPr id="9232" name="Line 16"/>
            <p:cNvSpPr>
              <a:spLocks noChangeShapeType="1"/>
            </p:cNvSpPr>
            <p:nvPr/>
          </p:nvSpPr>
          <p:spPr bwMode="auto">
            <a:xfrm>
              <a:off x="1116" y="1128"/>
              <a:ext cx="480" cy="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233" name="Rectangle 17"/>
            <p:cNvSpPr>
              <a:spLocks noChangeArrowheads="1"/>
            </p:cNvSpPr>
            <p:nvPr/>
          </p:nvSpPr>
          <p:spPr bwMode="auto">
            <a:xfrm>
              <a:off x="1032" y="1272"/>
              <a:ext cx="96" cy="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234" name="Line 18"/>
            <p:cNvSpPr>
              <a:spLocks noChangeShapeType="1"/>
            </p:cNvSpPr>
            <p:nvPr/>
          </p:nvSpPr>
          <p:spPr bwMode="auto">
            <a:xfrm>
              <a:off x="1596" y="1416"/>
              <a:ext cx="38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235" name="Line 19"/>
            <p:cNvSpPr>
              <a:spLocks noChangeShapeType="1"/>
            </p:cNvSpPr>
            <p:nvPr/>
          </p:nvSpPr>
          <p:spPr bwMode="auto">
            <a:xfrm>
              <a:off x="1116" y="1368"/>
              <a:ext cx="384" cy="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236" name="Rectangle 20"/>
            <p:cNvSpPr>
              <a:spLocks noChangeArrowheads="1"/>
            </p:cNvSpPr>
            <p:nvPr/>
          </p:nvSpPr>
          <p:spPr bwMode="auto">
            <a:xfrm>
              <a:off x="348" y="1368"/>
              <a:ext cx="144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237" name="Freeform 21"/>
            <p:cNvSpPr>
              <a:spLocks/>
            </p:cNvSpPr>
            <p:nvPr/>
          </p:nvSpPr>
          <p:spPr bwMode="auto">
            <a:xfrm>
              <a:off x="300" y="1364"/>
              <a:ext cx="720" cy="112"/>
            </a:xfrm>
            <a:custGeom>
              <a:avLst/>
              <a:gdLst>
                <a:gd name="T0" fmla="*/ 0 w 720"/>
                <a:gd name="T1" fmla="*/ 112 h 112"/>
                <a:gd name="T2" fmla="*/ 528 w 720"/>
                <a:gd name="T3" fmla="*/ 16 h 112"/>
                <a:gd name="T4" fmla="*/ 720 w 720"/>
                <a:gd name="T5" fmla="*/ 16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0" h="112">
                  <a:moveTo>
                    <a:pt x="0" y="112"/>
                  </a:moveTo>
                  <a:cubicBezTo>
                    <a:pt x="204" y="72"/>
                    <a:pt x="408" y="32"/>
                    <a:pt x="528" y="16"/>
                  </a:cubicBezTo>
                  <a:cubicBezTo>
                    <a:pt x="648" y="0"/>
                    <a:pt x="684" y="8"/>
                    <a:pt x="720" y="16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238" name="Oval 22" descr="深色上对角线"/>
            <p:cNvSpPr>
              <a:spLocks noChangeArrowheads="1"/>
            </p:cNvSpPr>
            <p:nvPr/>
          </p:nvSpPr>
          <p:spPr bwMode="auto">
            <a:xfrm>
              <a:off x="288" y="1032"/>
              <a:ext cx="288" cy="768"/>
            </a:xfrm>
            <a:prstGeom prst="ellipse">
              <a:avLst/>
            </a:prstGeom>
            <a:pattFill prst="dkUpDiag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239" name="Line 23"/>
            <p:cNvSpPr>
              <a:spLocks noChangeShapeType="1"/>
            </p:cNvSpPr>
            <p:nvPr/>
          </p:nvSpPr>
          <p:spPr bwMode="auto">
            <a:xfrm>
              <a:off x="444" y="1416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240" name="Line 24"/>
            <p:cNvSpPr>
              <a:spLocks noChangeShapeType="1"/>
            </p:cNvSpPr>
            <p:nvPr/>
          </p:nvSpPr>
          <p:spPr bwMode="auto">
            <a:xfrm flipH="1">
              <a:off x="144" y="1416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241" name="Text Box 25"/>
            <p:cNvSpPr txBox="1">
              <a:spLocks noChangeArrowheads="1"/>
            </p:cNvSpPr>
            <p:nvPr/>
          </p:nvSpPr>
          <p:spPr bwMode="auto">
            <a:xfrm>
              <a:off x="312" y="1764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I</a:t>
              </a:r>
            </a:p>
          </p:txBody>
        </p:sp>
        <p:grpSp>
          <p:nvGrpSpPr>
            <p:cNvPr id="9242" name="Group 26"/>
            <p:cNvGrpSpPr>
              <a:grpSpLocks/>
            </p:cNvGrpSpPr>
            <p:nvPr/>
          </p:nvGrpSpPr>
          <p:grpSpPr bwMode="auto">
            <a:xfrm>
              <a:off x="1788" y="1464"/>
              <a:ext cx="288" cy="327"/>
              <a:chOff x="2736" y="2736"/>
              <a:chExt cx="288" cy="327"/>
            </a:xfrm>
          </p:grpSpPr>
          <p:sp>
            <p:nvSpPr>
              <p:cNvPr id="9243" name="Text Box 27"/>
              <p:cNvSpPr txBox="1">
                <a:spLocks noChangeArrowheads="1"/>
              </p:cNvSpPr>
              <p:nvPr/>
            </p:nvSpPr>
            <p:spPr bwMode="auto">
              <a:xfrm>
                <a:off x="2736" y="2736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i="1">
                    <a:solidFill>
                      <a:srgbClr val="FF3300"/>
                    </a:solidFill>
                  </a:rPr>
                  <a:t>j</a:t>
                </a:r>
              </a:p>
            </p:txBody>
          </p:sp>
          <p:sp>
            <p:nvSpPr>
              <p:cNvPr id="9244" name="Line 28"/>
              <p:cNvSpPr>
                <a:spLocks noChangeShapeType="1"/>
              </p:cNvSpPr>
              <p:nvPr/>
            </p:nvSpPr>
            <p:spPr bwMode="auto">
              <a:xfrm>
                <a:off x="2736" y="2796"/>
                <a:ext cx="192" cy="0"/>
              </a:xfrm>
              <a:prstGeom prst="line">
                <a:avLst/>
              </a:prstGeom>
              <a:noFill/>
              <a:ln w="12700">
                <a:solidFill>
                  <a:srgbClr val="FF3300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p:sp>
          <p:nvSpPr>
            <p:cNvPr id="9245" name="Text Box 29"/>
            <p:cNvSpPr txBox="1">
              <a:spLocks noChangeArrowheads="1"/>
            </p:cNvSpPr>
            <p:nvPr/>
          </p:nvSpPr>
          <p:spPr bwMode="auto">
            <a:xfrm>
              <a:off x="768" y="1008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>
                  <a:sym typeface="Symbol" pitchFamily="18" charset="2"/>
                </a:rPr>
                <a:t></a:t>
              </a:r>
              <a:endParaRPr lang="en-US" altLang="zh-CN" sz="2800" b="1" i="1"/>
            </a:p>
          </p:txBody>
        </p:sp>
        <p:sp>
          <p:nvSpPr>
            <p:cNvPr id="9249" name="Text Box 33"/>
            <p:cNvSpPr txBox="1">
              <a:spLocks noChangeArrowheads="1"/>
            </p:cNvSpPr>
            <p:nvPr/>
          </p:nvSpPr>
          <p:spPr bwMode="auto">
            <a:xfrm>
              <a:off x="1188" y="1521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/>
                <a:t>d</a:t>
              </a:r>
              <a:r>
                <a:rPr lang="en-US" altLang="zh-CN" sz="2800" b="1" i="1"/>
                <a:t>l</a:t>
              </a:r>
            </a:p>
          </p:txBody>
        </p:sp>
        <p:sp>
          <p:nvSpPr>
            <p:cNvPr id="9250" name="Text Box 34"/>
            <p:cNvSpPr txBox="1">
              <a:spLocks noChangeArrowheads="1"/>
            </p:cNvSpPr>
            <p:nvPr/>
          </p:nvSpPr>
          <p:spPr bwMode="auto">
            <a:xfrm>
              <a:off x="1440" y="1536"/>
              <a:ext cx="4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/>
                <a:t>d</a:t>
              </a:r>
              <a:r>
                <a:rPr lang="en-US" altLang="zh-CN" sz="2800" b="1" i="1"/>
                <a:t>S</a:t>
              </a:r>
              <a:endParaRPr lang="en-US" altLang="zh-CN" sz="2800" b="1"/>
            </a:p>
          </p:txBody>
        </p:sp>
        <p:sp>
          <p:nvSpPr>
            <p:cNvPr id="9251" name="Text Box 35"/>
            <p:cNvSpPr txBox="1">
              <a:spLocks noChangeArrowheads="1"/>
            </p:cNvSpPr>
            <p:nvPr/>
          </p:nvSpPr>
          <p:spPr bwMode="auto">
            <a:xfrm>
              <a:off x="1992" y="1512"/>
              <a:ext cx="732" cy="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/>
                <a:t>电流线</a:t>
              </a:r>
            </a:p>
          </p:txBody>
        </p:sp>
        <p:sp>
          <p:nvSpPr>
            <p:cNvPr id="9253" name="Text Box 37"/>
            <p:cNvSpPr txBox="1">
              <a:spLocks noChangeArrowheads="1"/>
            </p:cNvSpPr>
            <p:nvPr/>
          </p:nvSpPr>
          <p:spPr bwMode="auto">
            <a:xfrm>
              <a:off x="1632" y="1020"/>
              <a:ext cx="9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>
                  <a:sym typeface="Symbol" pitchFamily="18" charset="2"/>
                </a:rPr>
                <a:t> </a:t>
              </a:r>
              <a:r>
                <a:rPr lang="en-US" altLang="zh-CN" sz="2800" b="1"/>
                <a:t>+d</a:t>
              </a:r>
              <a:r>
                <a:rPr lang="en-US" altLang="zh-CN" sz="2800" b="1" i="1">
                  <a:sym typeface="Symbol" pitchFamily="18" charset="2"/>
                </a:rPr>
                <a:t></a:t>
              </a:r>
              <a:endParaRPr lang="en-US" altLang="zh-CN" sz="2800" b="1" i="1"/>
            </a:p>
          </p:txBody>
        </p:sp>
        <p:sp>
          <p:nvSpPr>
            <p:cNvPr id="9270" name="Line 54"/>
            <p:cNvSpPr>
              <a:spLocks noChangeShapeType="1"/>
            </p:cNvSpPr>
            <p:nvPr/>
          </p:nvSpPr>
          <p:spPr bwMode="auto">
            <a:xfrm flipV="1">
              <a:off x="1104" y="67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271" name="Line 55"/>
            <p:cNvSpPr>
              <a:spLocks noChangeShapeType="1"/>
            </p:cNvSpPr>
            <p:nvPr/>
          </p:nvSpPr>
          <p:spPr bwMode="auto">
            <a:xfrm flipV="1">
              <a:off x="1596" y="68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272" name="Line 56"/>
            <p:cNvSpPr>
              <a:spLocks noChangeShapeType="1"/>
            </p:cNvSpPr>
            <p:nvPr/>
          </p:nvSpPr>
          <p:spPr bwMode="auto">
            <a:xfrm>
              <a:off x="768" y="768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273" name="Line 57"/>
            <p:cNvSpPr>
              <a:spLocks noChangeShapeType="1"/>
            </p:cNvSpPr>
            <p:nvPr/>
          </p:nvSpPr>
          <p:spPr bwMode="auto">
            <a:xfrm flipH="1">
              <a:off x="1608" y="768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274" name="Rectangle 58"/>
            <p:cNvSpPr>
              <a:spLocks noChangeArrowheads="1"/>
            </p:cNvSpPr>
            <p:nvPr/>
          </p:nvSpPr>
          <p:spPr bwMode="auto">
            <a:xfrm>
              <a:off x="1154" y="594"/>
              <a:ext cx="40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/>
                <a:t>d</a:t>
              </a:r>
              <a:r>
                <a:rPr lang="en-US" altLang="zh-CN" sz="2800" b="1" i="1">
                  <a:sym typeface="Symbol" pitchFamily="18" charset="2"/>
                </a:rPr>
                <a:t>U</a:t>
              </a:r>
            </a:p>
          </p:txBody>
        </p:sp>
      </p:grpSp>
      <p:graphicFrame>
        <p:nvGraphicFramePr>
          <p:cNvPr id="9276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4298888"/>
              </p:ext>
            </p:extLst>
          </p:nvPr>
        </p:nvGraphicFramePr>
        <p:xfrm>
          <a:off x="4423570" y="1117600"/>
          <a:ext cx="403383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84" name="公式" r:id="rId13" imgW="1676160" imgH="203040" progId="Equation.3">
                  <p:embed/>
                </p:oleObj>
              </mc:Choice>
              <mc:Fallback>
                <p:oleObj name="公式" r:id="rId13" imgW="16761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3570" y="1117600"/>
                        <a:ext cx="4033837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457200" y="6021288"/>
            <a:ext cx="7600157" cy="461665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sz="3200" b="1">
                <a:solidFill>
                  <a:srgbClr val="000000"/>
                </a:solidFill>
              </a:defRPr>
            </a:lvl1pPr>
          </a:lstStyle>
          <a:p>
            <a:r>
              <a:rPr lang="zh-CN" altLang="en-US" sz="2400" smtClean="0"/>
              <a:t>在有磁场、各向异性情况</a:t>
            </a:r>
            <a:r>
              <a:rPr lang="zh-CN" altLang="en-US" sz="2400" dirty="0"/>
              <a:t>下，电导率（电阻率）为张量</a:t>
            </a:r>
          </a:p>
        </p:txBody>
      </p:sp>
      <p:sp>
        <p:nvSpPr>
          <p:cNvPr id="54" name="Text Box 48"/>
          <p:cNvSpPr txBox="1">
            <a:spLocks noChangeArrowheads="1"/>
          </p:cNvSpPr>
          <p:nvPr/>
        </p:nvSpPr>
        <p:spPr bwMode="auto">
          <a:xfrm>
            <a:off x="381397" y="4293096"/>
            <a:ext cx="510805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smtClean="0">
                <a:solidFill>
                  <a:srgbClr val="000000"/>
                </a:solidFill>
              </a:rPr>
              <a:t>无磁场情况下，各向同性导体</a:t>
            </a:r>
            <a:endParaRPr lang="zh-CN" altLang="en-US" sz="28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723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9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autoUpdateAnimBg="0"/>
      <p:bldP spid="9263" grpId="0" autoUpdateAnimBg="0"/>
      <p:bldP spid="9265" grpId="0" animBg="1"/>
      <p:bldP spid="9266" grpId="0" animBg="1"/>
      <p:bldP spid="2" grpId="0"/>
      <p:bldP spid="5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22FE0A23-6733-426D-B30C-01BAB4AC80D0}" type="slidenum">
              <a:rPr lang="en-US" altLang="zh-CN" sz="1400" b="0" smtClean="0"/>
              <a:pPr eaLnBrk="1" hangingPunct="1"/>
              <a:t>13</a:t>
            </a:fld>
            <a:endParaRPr lang="en-US" altLang="zh-CN" sz="1400" b="0" smtClean="0"/>
          </a:p>
        </p:txBody>
      </p:sp>
      <p:sp>
        <p:nvSpPr>
          <p:cNvPr id="479234" name="Text Box 2"/>
          <p:cNvSpPr txBox="1">
            <a:spLocks noChangeArrowheads="1"/>
          </p:cNvSpPr>
          <p:nvPr/>
        </p:nvSpPr>
        <p:spPr bwMode="auto">
          <a:xfrm>
            <a:off x="228600" y="228600"/>
            <a:ext cx="86106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>
              <a:lnSpc>
                <a:spcPts val="3600"/>
              </a:lnSpc>
            </a:pPr>
            <a:r>
              <a:rPr lang="zh-CN" altLang="en-US" sz="2800" smtClean="0">
                <a:solidFill>
                  <a:srgbClr val="0000CC"/>
                </a:solidFill>
              </a:rPr>
              <a:t>例</a:t>
            </a:r>
            <a:r>
              <a:rPr lang="en-US" altLang="zh-CN" sz="2800" smtClean="0">
                <a:solidFill>
                  <a:srgbClr val="0000CC"/>
                </a:solidFill>
              </a:rPr>
              <a:t>1</a:t>
            </a:r>
            <a:r>
              <a:rPr lang="zh-CN" altLang="en-US" sz="2800" smtClean="0"/>
              <a:t>  </a:t>
            </a:r>
            <a:r>
              <a:rPr lang="zh-CN" altLang="en-US" sz="2800" dirty="0"/>
              <a:t>一球形导体带电，因周围空气微弱</a:t>
            </a:r>
            <a:r>
              <a:rPr lang="zh-CN" altLang="en-US" sz="2800"/>
              <a:t>导电</a:t>
            </a:r>
            <a:r>
              <a:rPr lang="zh-CN" altLang="en-US" sz="2800" smtClean="0"/>
              <a:t>而漏电</a:t>
            </a:r>
            <a:r>
              <a:rPr lang="zh-CN" altLang="en-US" sz="2800" dirty="0"/>
              <a:t>。设导体初始带电量为</a:t>
            </a:r>
            <a:r>
              <a:rPr lang="en-US" altLang="zh-CN" sz="2800" i="1" dirty="0"/>
              <a:t>Q</a:t>
            </a:r>
            <a:r>
              <a:rPr lang="en-US" altLang="zh-CN" sz="2800" baseline="-25000" dirty="0"/>
              <a:t>0</a:t>
            </a:r>
            <a:r>
              <a:rPr lang="zh-CN" altLang="en-US" sz="2800" dirty="0"/>
              <a:t>，半径</a:t>
            </a:r>
            <a:r>
              <a:rPr lang="zh-CN" altLang="en-US" sz="2800"/>
              <a:t>为</a:t>
            </a:r>
            <a:r>
              <a:rPr lang="en-US" altLang="zh-CN" sz="2800" i="1" smtClean="0"/>
              <a:t>a, </a:t>
            </a:r>
            <a:r>
              <a:rPr lang="zh-CN" altLang="en-US" sz="2800" dirty="0"/>
              <a:t>空气电导 </a:t>
            </a:r>
            <a:r>
              <a:rPr lang="zh-CN" altLang="en-US" sz="2800" dirty="0" smtClean="0"/>
              <a:t>率为</a:t>
            </a:r>
            <a:r>
              <a:rPr lang="el-GR" altLang="zh-CN" sz="2800" i="1" dirty="0" smtClean="0"/>
              <a:t>σ</a:t>
            </a:r>
            <a:endParaRPr lang="en-US" altLang="zh-CN" sz="2800" dirty="0"/>
          </a:p>
          <a:p>
            <a:pPr algn="l">
              <a:lnSpc>
                <a:spcPts val="3600"/>
              </a:lnSpc>
            </a:pPr>
            <a:r>
              <a:rPr lang="en-US" altLang="zh-CN" sz="2800" dirty="0"/>
              <a:t> </a:t>
            </a:r>
            <a:r>
              <a:rPr lang="zh-CN" altLang="en-US" sz="2800" dirty="0"/>
              <a:t>求  </a:t>
            </a:r>
            <a:r>
              <a:rPr lang="en-US" altLang="zh-CN" sz="2800" dirty="0"/>
              <a:t>:</a:t>
            </a:r>
            <a:r>
              <a:rPr lang="zh-CN" altLang="en-US" sz="2800" dirty="0"/>
              <a:t>漏电规律及任一时刻的漏电电流</a:t>
            </a:r>
          </a:p>
        </p:txBody>
      </p:sp>
      <p:sp>
        <p:nvSpPr>
          <p:cNvPr id="479235" name="Text Box 3"/>
          <p:cNvSpPr txBox="1">
            <a:spLocks noChangeArrowheads="1"/>
          </p:cNvSpPr>
          <p:nvPr/>
        </p:nvSpPr>
        <p:spPr bwMode="auto">
          <a:xfrm>
            <a:off x="304800" y="2286000"/>
            <a:ext cx="63511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/>
            <a:r>
              <a:rPr lang="zh-CN" altLang="en-US" sz="2800">
                <a:solidFill>
                  <a:schemeClr val="accent2"/>
                </a:solidFill>
              </a:rPr>
              <a:t>解</a:t>
            </a:r>
            <a:r>
              <a:rPr lang="zh-CN" altLang="en-US" sz="2800"/>
              <a:t> </a:t>
            </a:r>
          </a:p>
        </p:txBody>
      </p:sp>
      <p:sp>
        <p:nvSpPr>
          <p:cNvPr id="479236" name="Text Box 4"/>
          <p:cNvSpPr txBox="1">
            <a:spLocks noChangeArrowheads="1"/>
          </p:cNvSpPr>
          <p:nvPr/>
        </p:nvSpPr>
        <p:spPr bwMode="auto">
          <a:xfrm>
            <a:off x="914400" y="2286000"/>
            <a:ext cx="79248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/>
            <a:r>
              <a:rPr lang="zh-CN" altLang="en-US" sz="2800" dirty="0"/>
              <a:t>因导体电阻可不计，认为导体等势；</a:t>
            </a:r>
          </a:p>
          <a:p>
            <a:pPr algn="l"/>
            <a:r>
              <a:rPr lang="zh-CN" altLang="en-US" sz="2800" dirty="0"/>
              <a:t>为似稳场，场强方向和电流都沿球的径向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781800" y="4114800"/>
            <a:ext cx="914400" cy="914400"/>
            <a:chOff x="4224" y="2592"/>
            <a:chExt cx="576" cy="576"/>
          </a:xfrm>
        </p:grpSpPr>
        <p:sp>
          <p:nvSpPr>
            <p:cNvPr id="12308" name="Oval 6"/>
            <p:cNvSpPr>
              <a:spLocks noChangeArrowheads="1"/>
            </p:cNvSpPr>
            <p:nvPr/>
          </p:nvSpPr>
          <p:spPr bwMode="auto">
            <a:xfrm>
              <a:off x="4224" y="2592"/>
              <a:ext cx="576" cy="57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2309" name="Line 7"/>
            <p:cNvSpPr>
              <a:spLocks noChangeShapeType="1"/>
            </p:cNvSpPr>
            <p:nvPr/>
          </p:nvSpPr>
          <p:spPr bwMode="auto">
            <a:xfrm flipV="1">
              <a:off x="4512" y="2736"/>
              <a:ext cx="28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2310" name="Text Box 8"/>
            <p:cNvSpPr txBox="1">
              <a:spLocks noChangeArrowheads="1"/>
            </p:cNvSpPr>
            <p:nvPr/>
          </p:nvSpPr>
          <p:spPr bwMode="auto">
            <a:xfrm>
              <a:off x="4560" y="2736"/>
              <a:ext cx="22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defTabSz="7620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defTabSz="7620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defTabSz="7620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defTabSz="7620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/>
              <a:r>
                <a:rPr lang="en-US" altLang="zh-CN" sz="2800" i="1"/>
                <a:t>a</a:t>
              </a: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6019800" y="3429000"/>
            <a:ext cx="2438400" cy="2286000"/>
            <a:chOff x="3792" y="2160"/>
            <a:chExt cx="1536" cy="1440"/>
          </a:xfrm>
        </p:grpSpPr>
        <p:sp>
          <p:nvSpPr>
            <p:cNvPr id="12303" name="Oval 10"/>
            <p:cNvSpPr>
              <a:spLocks noChangeArrowheads="1"/>
            </p:cNvSpPr>
            <p:nvPr/>
          </p:nvSpPr>
          <p:spPr bwMode="auto">
            <a:xfrm>
              <a:off x="4196" y="2507"/>
              <a:ext cx="726" cy="73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2304" name="Line 11"/>
            <p:cNvSpPr>
              <a:spLocks noChangeShapeType="1"/>
            </p:cNvSpPr>
            <p:nvPr/>
          </p:nvSpPr>
          <p:spPr bwMode="auto">
            <a:xfrm>
              <a:off x="4800" y="2880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2305" name="Line 12"/>
            <p:cNvSpPr>
              <a:spLocks noChangeShapeType="1"/>
            </p:cNvSpPr>
            <p:nvPr/>
          </p:nvSpPr>
          <p:spPr bwMode="auto">
            <a:xfrm>
              <a:off x="4560" y="3168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2306" name="Line 13"/>
            <p:cNvSpPr>
              <a:spLocks noChangeShapeType="1"/>
            </p:cNvSpPr>
            <p:nvPr/>
          </p:nvSpPr>
          <p:spPr bwMode="auto">
            <a:xfrm flipH="1">
              <a:off x="3792" y="2880"/>
              <a:ext cx="4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2307" name="Line 14"/>
            <p:cNvSpPr>
              <a:spLocks noChangeShapeType="1"/>
            </p:cNvSpPr>
            <p:nvPr/>
          </p:nvSpPr>
          <p:spPr bwMode="auto">
            <a:xfrm flipV="1">
              <a:off x="4560" y="2160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sp>
        <p:nvSpPr>
          <p:cNvPr id="479247" name="Text Box 15"/>
          <p:cNvSpPr txBox="1">
            <a:spLocks noChangeArrowheads="1"/>
          </p:cNvSpPr>
          <p:nvPr/>
        </p:nvSpPr>
        <p:spPr bwMode="auto">
          <a:xfrm>
            <a:off x="381000" y="3429000"/>
            <a:ext cx="533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/>
            <a:r>
              <a:rPr lang="zh-CN" altLang="en-US" sz="2800" dirty="0" smtClean="0">
                <a:solidFill>
                  <a:srgbClr val="0000CC"/>
                </a:solidFill>
              </a:rPr>
              <a:t>解</a:t>
            </a:r>
            <a:r>
              <a:rPr lang="zh-CN" altLang="en-US" sz="2800" dirty="0" smtClean="0"/>
              <a:t>：</a:t>
            </a:r>
            <a:r>
              <a:rPr lang="zh-CN" altLang="en-US" sz="2800" dirty="0"/>
              <a:t>在空气中作同心球面</a:t>
            </a:r>
          </a:p>
        </p:txBody>
      </p:sp>
      <p:sp>
        <p:nvSpPr>
          <p:cNvPr id="479248" name="Text Box 16"/>
          <p:cNvSpPr txBox="1">
            <a:spLocks noChangeArrowheads="1"/>
          </p:cNvSpPr>
          <p:nvPr/>
        </p:nvSpPr>
        <p:spPr bwMode="auto">
          <a:xfrm>
            <a:off x="457200" y="4191000"/>
            <a:ext cx="233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/>
            <a:r>
              <a:rPr lang="zh-CN" altLang="en-US" sz="2800"/>
              <a:t>由高斯定理有</a:t>
            </a:r>
          </a:p>
        </p:txBody>
      </p:sp>
      <p:graphicFrame>
        <p:nvGraphicFramePr>
          <p:cNvPr id="47924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1139819"/>
              </p:ext>
            </p:extLst>
          </p:nvPr>
        </p:nvGraphicFramePr>
        <p:xfrm>
          <a:off x="3198813" y="4017963"/>
          <a:ext cx="2058987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07" name="公式" r:id="rId3" imgW="863280" imgH="444240" progId="Equation.3">
                  <p:embed/>
                </p:oleObj>
              </mc:Choice>
              <mc:Fallback>
                <p:oleObj name="公式" r:id="rId3" imgW="8632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8813" y="4017963"/>
                        <a:ext cx="2058987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9250" name="Text Box 18"/>
          <p:cNvSpPr txBox="1">
            <a:spLocks noChangeArrowheads="1"/>
          </p:cNvSpPr>
          <p:nvPr/>
        </p:nvSpPr>
        <p:spPr bwMode="auto">
          <a:xfrm>
            <a:off x="457200" y="5257800"/>
            <a:ext cx="3413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/>
            <a:r>
              <a:rPr lang="zh-CN" altLang="en-US" sz="2800"/>
              <a:t>由电流连续性方程有</a:t>
            </a:r>
          </a:p>
        </p:txBody>
      </p:sp>
      <p:graphicFrame>
        <p:nvGraphicFramePr>
          <p:cNvPr id="47925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4765225"/>
              </p:ext>
            </p:extLst>
          </p:nvPr>
        </p:nvGraphicFramePr>
        <p:xfrm>
          <a:off x="3827463" y="5045075"/>
          <a:ext cx="2257425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08" name="公式" r:id="rId5" imgW="1002960" imgH="444240" progId="Equation.3">
                  <p:embed/>
                </p:oleObj>
              </mc:Choice>
              <mc:Fallback>
                <p:oleObj name="公式" r:id="rId5" imgW="10029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7463" y="5045075"/>
                        <a:ext cx="2257425" cy="995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9252" name="Text Box 20"/>
          <p:cNvSpPr txBox="1">
            <a:spLocks noChangeArrowheads="1"/>
          </p:cNvSpPr>
          <p:nvPr/>
        </p:nvSpPr>
        <p:spPr bwMode="auto">
          <a:xfrm>
            <a:off x="457200" y="6019800"/>
            <a:ext cx="3054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/>
            <a:r>
              <a:rPr lang="zh-CN" altLang="en-US" sz="2800"/>
              <a:t>由欧姆定律微分式</a:t>
            </a:r>
          </a:p>
        </p:txBody>
      </p:sp>
      <p:graphicFrame>
        <p:nvGraphicFramePr>
          <p:cNvPr id="47925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9721264"/>
              </p:ext>
            </p:extLst>
          </p:nvPr>
        </p:nvGraphicFramePr>
        <p:xfrm>
          <a:off x="3824288" y="6042025"/>
          <a:ext cx="1265237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09" name="Equation" r:id="rId7" imgW="520560" imgH="215640" progId="Equation.DSMT4">
                  <p:embed/>
                </p:oleObj>
              </mc:Choice>
              <mc:Fallback>
                <p:oleObj name="Equation" r:id="rId7" imgW="5205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4288" y="6042025"/>
                        <a:ext cx="1265237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20717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7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479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79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9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79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79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79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7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79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9234" grpId="0" autoUpdateAnimBg="0"/>
      <p:bldP spid="479235" grpId="0" autoUpdateAnimBg="0"/>
      <p:bldP spid="479236" grpId="0" autoUpdateAnimBg="0"/>
      <p:bldP spid="479247" grpId="0" autoUpdateAnimBg="0"/>
      <p:bldP spid="479248" grpId="0" autoUpdateAnimBg="0"/>
      <p:bldP spid="479250" grpId="0" autoUpdateAnimBg="0"/>
      <p:bldP spid="479252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092280" y="6370662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073C37EE-F6FE-4D7D-BD56-B15411AE929E}" type="slidenum">
              <a:rPr lang="en-US" altLang="zh-CN" sz="1000" smtClean="0"/>
              <a:pPr eaLnBrk="1" hangingPunct="1"/>
              <a:t>14</a:t>
            </a:fld>
            <a:endParaRPr lang="en-US" altLang="zh-CN" sz="1000" smtClean="0"/>
          </a:p>
        </p:txBody>
      </p:sp>
      <p:sp>
        <p:nvSpPr>
          <p:cNvPr id="480258" name="Text Box 2"/>
          <p:cNvSpPr txBox="1">
            <a:spLocks noChangeArrowheads="1"/>
          </p:cNvSpPr>
          <p:nvPr/>
        </p:nvSpPr>
        <p:spPr bwMode="auto">
          <a:xfrm>
            <a:off x="304800" y="228600"/>
            <a:ext cx="19880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/>
            <a:r>
              <a:rPr lang="zh-CN" altLang="en-US" sz="2800" dirty="0"/>
              <a:t>三者联立得</a:t>
            </a:r>
          </a:p>
        </p:txBody>
      </p:sp>
      <p:graphicFrame>
        <p:nvGraphicFramePr>
          <p:cNvPr id="4802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5470837"/>
              </p:ext>
            </p:extLst>
          </p:nvPr>
        </p:nvGraphicFramePr>
        <p:xfrm>
          <a:off x="2833688" y="290513"/>
          <a:ext cx="2028825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93" name="Equation" r:id="rId3" imgW="850680" imgH="444240" progId="Equation.DSMT4">
                  <p:embed/>
                </p:oleObj>
              </mc:Choice>
              <mc:Fallback>
                <p:oleObj name="Equation" r:id="rId3" imgW="8506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3688" y="290513"/>
                        <a:ext cx="2028825" cy="1055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0260" name="AutoShape 4"/>
          <p:cNvSpPr>
            <a:spLocks noChangeArrowheads="1"/>
          </p:cNvSpPr>
          <p:nvPr/>
        </p:nvSpPr>
        <p:spPr bwMode="auto">
          <a:xfrm>
            <a:off x="5410200" y="685800"/>
            <a:ext cx="685800" cy="152400"/>
          </a:xfrm>
          <a:prstGeom prst="rightArrow">
            <a:avLst>
              <a:gd name="adj1" fmla="val 50000"/>
              <a:gd name="adj2" fmla="val 1125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2800" b="1"/>
          </a:p>
        </p:txBody>
      </p:sp>
      <p:graphicFrame>
        <p:nvGraphicFramePr>
          <p:cNvPr id="4802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5346986"/>
              </p:ext>
            </p:extLst>
          </p:nvPr>
        </p:nvGraphicFramePr>
        <p:xfrm>
          <a:off x="6227763" y="360363"/>
          <a:ext cx="1946275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94" name="Equation" r:id="rId5" imgW="888840" imgH="444240" progId="Equation.DSMT4">
                  <p:embed/>
                </p:oleObj>
              </mc:Choice>
              <mc:Fallback>
                <p:oleObj name="Equation" r:id="rId5" imgW="8888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360363"/>
                        <a:ext cx="1946275" cy="969962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0262" name="Text Box 6"/>
          <p:cNvSpPr txBox="1">
            <a:spLocks noChangeArrowheads="1"/>
          </p:cNvSpPr>
          <p:nvPr/>
        </p:nvSpPr>
        <p:spPr bwMode="auto">
          <a:xfrm>
            <a:off x="304800" y="1828800"/>
            <a:ext cx="307007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/>
            <a:r>
              <a:rPr lang="zh-CN" altLang="en-US" sz="2800"/>
              <a:t>解微分方程，</a:t>
            </a:r>
          </a:p>
          <a:p>
            <a:pPr algn="l"/>
            <a:r>
              <a:rPr lang="zh-CN" altLang="en-US" sz="2800"/>
              <a:t>代入初始条件，得</a:t>
            </a:r>
          </a:p>
        </p:txBody>
      </p:sp>
      <p:graphicFrame>
        <p:nvGraphicFramePr>
          <p:cNvPr id="48026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3843059"/>
              </p:ext>
            </p:extLst>
          </p:nvPr>
        </p:nvGraphicFramePr>
        <p:xfrm>
          <a:off x="4549775" y="1920875"/>
          <a:ext cx="2328863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95" name="Equation" r:id="rId7" imgW="901440" imgH="368280" progId="Equation.DSMT4">
                  <p:embed/>
                </p:oleObj>
              </mc:Choice>
              <mc:Fallback>
                <p:oleObj name="Equation" r:id="rId7" imgW="90144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9775" y="1920875"/>
                        <a:ext cx="2328863" cy="9525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00CC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026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1749845"/>
              </p:ext>
            </p:extLst>
          </p:nvPr>
        </p:nvGraphicFramePr>
        <p:xfrm>
          <a:off x="3346450" y="3167063"/>
          <a:ext cx="3633788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96" name="Equation" r:id="rId9" imgW="1523880" imgH="482400" progId="Equation.DSMT4">
                  <p:embed/>
                </p:oleObj>
              </mc:Choice>
              <mc:Fallback>
                <p:oleObj name="Equation" r:id="rId9" imgW="15238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6450" y="3167063"/>
                        <a:ext cx="3633788" cy="1152525"/>
                      </a:xfrm>
                      <a:prstGeom prst="rect">
                        <a:avLst/>
                      </a:prstGeom>
                      <a:solidFill>
                        <a:schemeClr val="hlink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0265" name="Text Box 9"/>
          <p:cNvSpPr txBox="1">
            <a:spLocks noChangeArrowheads="1"/>
          </p:cNvSpPr>
          <p:nvPr/>
        </p:nvSpPr>
        <p:spPr bwMode="auto">
          <a:xfrm>
            <a:off x="685800" y="3352800"/>
            <a:ext cx="16273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/>
            <a:r>
              <a:rPr lang="zh-CN" altLang="en-US" sz="2800"/>
              <a:t>漏电电流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4895855"/>
              </p:ext>
            </p:extLst>
          </p:nvPr>
        </p:nvGraphicFramePr>
        <p:xfrm>
          <a:off x="338080" y="4509120"/>
          <a:ext cx="3738563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97" name="Equation" r:id="rId11" imgW="1447560" imgH="368280" progId="Equation.DSMT4">
                  <p:embed/>
                </p:oleObj>
              </mc:Choice>
              <mc:Fallback>
                <p:oleObj name="Equation" r:id="rId11" imgW="1447560" imgH="3682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080" y="4509120"/>
                        <a:ext cx="3738563" cy="954087"/>
                      </a:xfrm>
                      <a:prstGeom prst="rect">
                        <a:avLst/>
                      </a:prstGeom>
                      <a:noFill/>
                      <a:ln w="28575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322146"/>
              </p:ext>
            </p:extLst>
          </p:nvPr>
        </p:nvGraphicFramePr>
        <p:xfrm>
          <a:off x="4478338" y="4508500"/>
          <a:ext cx="1274762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98" name="Equation" r:id="rId13" imgW="482400" imgH="406080" progId="Equation.DSMT4">
                  <p:embed/>
                </p:oleObj>
              </mc:Choice>
              <mc:Fallback>
                <p:oleObj name="Equation" r:id="rId13" imgW="4824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478338" y="4508500"/>
                        <a:ext cx="1274762" cy="1074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6182" y="5820376"/>
            <a:ext cx="45127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正常情况下，大气的电导率</a:t>
            </a:r>
            <a:endParaRPr lang="zh-CN" altLang="en-US" sz="2800" b="1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3608054"/>
              </p:ext>
            </p:extLst>
          </p:nvPr>
        </p:nvGraphicFramePr>
        <p:xfrm>
          <a:off x="4716016" y="5769962"/>
          <a:ext cx="4059237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99" name="Equation" r:id="rId15" imgW="1536480" imgH="203040" progId="Equation.DSMT4">
                  <p:embed/>
                </p:oleObj>
              </mc:Choice>
              <mc:Fallback>
                <p:oleObj name="Equation" r:id="rId15" imgW="1536480" imgH="20304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016" y="5769962"/>
                        <a:ext cx="4059237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3429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0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48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80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0258" grpId="0" autoUpdateAnimBg="0"/>
      <p:bldP spid="480260" grpId="0" animBg="1"/>
      <p:bldP spid="480262" grpId="0" autoUpdateAnimBg="0"/>
      <p:bldP spid="480265" grpId="0" autoUpdateAnimBg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68F39A0D-53A2-4B84-B5E1-D0EF42A4C805}" type="slidenum">
              <a:rPr lang="en-US" altLang="zh-CN" sz="1400" b="0" smtClean="0"/>
              <a:pPr eaLnBrk="1" hangingPunct="1"/>
              <a:t>15</a:t>
            </a:fld>
            <a:endParaRPr lang="en-US" altLang="zh-CN" sz="1400" b="0" smtClean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4897847"/>
              </p:ext>
            </p:extLst>
          </p:nvPr>
        </p:nvGraphicFramePr>
        <p:xfrm>
          <a:off x="772368" y="2904420"/>
          <a:ext cx="2328863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39" name="Equation" r:id="rId5" imgW="901440" imgH="368280" progId="Equation.DSMT4">
                  <p:embed/>
                </p:oleObj>
              </mc:Choice>
              <mc:Fallback>
                <p:oleObj name="Equation" r:id="rId5" imgW="901440" imgH="3682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368" y="2904420"/>
                        <a:ext cx="2328863" cy="9525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00CC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11560" y="476672"/>
            <a:ext cx="7366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导体静电平衡条件：电荷只能分布在导体表面</a:t>
            </a:r>
            <a:endParaRPr lang="zh-CN" altLang="en-US" sz="28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899592" y="1772816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如有一涨落</a:t>
            </a:r>
            <a:endParaRPr lang="zh-CN" altLang="en-US" sz="2800" b="1" dirty="0"/>
          </a:p>
        </p:txBody>
      </p:sp>
      <p:sp>
        <p:nvSpPr>
          <p:cNvPr id="22" name="Text Box 2"/>
          <p:cNvSpPr txBox="1">
            <a:spLocks noChangeArrowheads="1"/>
          </p:cNvSpPr>
          <p:nvPr/>
        </p:nvSpPr>
        <p:spPr bwMode="auto">
          <a:xfrm>
            <a:off x="841126" y="5733256"/>
            <a:ext cx="194476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/>
            <a:r>
              <a:rPr lang="zh-CN" altLang="en-US" dirty="0" smtClean="0"/>
              <a:t>对于</a:t>
            </a:r>
            <a:r>
              <a:rPr lang="en-US" altLang="zh-CN" dirty="0" smtClean="0"/>
              <a:t>Cu</a:t>
            </a:r>
            <a:r>
              <a:rPr lang="zh-CN" altLang="en-US" dirty="0" smtClean="0"/>
              <a:t>，</a:t>
            </a:r>
            <a:endParaRPr lang="zh-CN" altLang="en-US" sz="2800" dirty="0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0865369"/>
              </p:ext>
            </p:extLst>
          </p:nvPr>
        </p:nvGraphicFramePr>
        <p:xfrm>
          <a:off x="2702770" y="5789899"/>
          <a:ext cx="338772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40" name="Equation" r:id="rId7" imgW="1282680" imgH="177480" progId="Equation.DSMT4">
                  <p:embed/>
                </p:oleObj>
              </mc:Choice>
              <mc:Fallback>
                <p:oleObj name="Equation" r:id="rId7" imgW="12826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2770" y="5789899"/>
                        <a:ext cx="3387725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椭圆 2"/>
          <p:cNvSpPr/>
          <p:nvPr/>
        </p:nvSpPr>
        <p:spPr bwMode="auto">
          <a:xfrm>
            <a:off x="5436096" y="2924944"/>
            <a:ext cx="3456384" cy="2808312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809508" y="3186100"/>
            <a:ext cx="2438400" cy="2286000"/>
            <a:chOff x="2513856" y="2188760"/>
            <a:chExt cx="2438400" cy="2286000"/>
          </a:xfrm>
        </p:grpSpPr>
        <p:sp>
          <p:nvSpPr>
            <p:cNvPr id="10" name="Oval 6"/>
            <p:cNvSpPr>
              <a:spLocks noChangeArrowheads="1"/>
            </p:cNvSpPr>
            <p:nvPr/>
          </p:nvSpPr>
          <p:spPr bwMode="auto">
            <a:xfrm>
              <a:off x="3458418" y="3053947"/>
              <a:ext cx="571500" cy="57150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" name="Group 9"/>
            <p:cNvGrpSpPr>
              <a:grpSpLocks/>
            </p:cNvGrpSpPr>
            <p:nvPr/>
          </p:nvGrpSpPr>
          <p:grpSpPr bwMode="auto">
            <a:xfrm>
              <a:off x="2513856" y="2188760"/>
              <a:ext cx="2438400" cy="2286000"/>
              <a:chOff x="3792" y="2160"/>
              <a:chExt cx="1536" cy="1440"/>
            </a:xfrm>
          </p:grpSpPr>
          <p:sp>
            <p:nvSpPr>
              <p:cNvPr id="14" name="Oval 10"/>
              <p:cNvSpPr>
                <a:spLocks noChangeArrowheads="1"/>
              </p:cNvSpPr>
              <p:nvPr/>
            </p:nvSpPr>
            <p:spPr bwMode="auto">
              <a:xfrm>
                <a:off x="4204" y="2548"/>
                <a:ext cx="726" cy="67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" name="Line 11"/>
              <p:cNvSpPr>
                <a:spLocks noChangeShapeType="1"/>
              </p:cNvSpPr>
              <p:nvPr/>
            </p:nvSpPr>
            <p:spPr bwMode="auto">
              <a:xfrm>
                <a:off x="4800" y="2880"/>
                <a:ext cx="5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" name="Line 12"/>
              <p:cNvSpPr>
                <a:spLocks noChangeShapeType="1"/>
              </p:cNvSpPr>
              <p:nvPr/>
            </p:nvSpPr>
            <p:spPr bwMode="auto">
              <a:xfrm>
                <a:off x="4560" y="3168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" name="Line 13"/>
              <p:cNvSpPr>
                <a:spLocks noChangeShapeType="1"/>
              </p:cNvSpPr>
              <p:nvPr/>
            </p:nvSpPr>
            <p:spPr bwMode="auto">
              <a:xfrm flipH="1">
                <a:off x="3792" y="2880"/>
                <a:ext cx="4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" name="Line 14"/>
              <p:cNvSpPr>
                <a:spLocks noChangeShapeType="1"/>
              </p:cNvSpPr>
              <p:nvPr/>
            </p:nvSpPr>
            <p:spPr bwMode="auto">
              <a:xfrm flipV="1">
                <a:off x="4560" y="2160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5404581"/>
              </p:ext>
            </p:extLst>
          </p:nvPr>
        </p:nvGraphicFramePr>
        <p:xfrm>
          <a:off x="7237831" y="4337037"/>
          <a:ext cx="49212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41" name="Equation" r:id="rId9" imgW="190440" imgH="228600" progId="Equation.DSMT4">
                  <p:embed/>
                </p:oleObj>
              </mc:Choice>
              <mc:Fallback>
                <p:oleObj name="Equation" r:id="rId9" imgW="190440" imgH="2286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7831" y="4337037"/>
                        <a:ext cx="492125" cy="590550"/>
                      </a:xfrm>
                      <a:prstGeom prst="rect">
                        <a:avLst/>
                      </a:prstGeom>
                      <a:noFill/>
                      <a:ln w="28575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7276828"/>
              </p:ext>
            </p:extLst>
          </p:nvPr>
        </p:nvGraphicFramePr>
        <p:xfrm>
          <a:off x="841375" y="4248150"/>
          <a:ext cx="1274763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42" name="Equation" r:id="rId11" imgW="482400" imgH="406080" progId="Equation.DSMT4">
                  <p:embed/>
                </p:oleObj>
              </mc:Choice>
              <mc:Fallback>
                <p:oleObj name="Equation" r:id="rId11" imgW="482400" imgH="40608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375" y="4248150"/>
                        <a:ext cx="1274763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8991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71000"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22" grpId="0" autoUpdateAnimBg="0"/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85766-C44C-44E0-8A23-21CCF7AD5113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3657600" y="258763"/>
            <a:ext cx="36576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0000FF"/>
                </a:solidFill>
              </a:rPr>
              <a:t>已知：</a:t>
            </a:r>
            <a:r>
              <a:rPr lang="zh-CN" altLang="en-US" sz="3200" b="1">
                <a:solidFill>
                  <a:srgbClr val="000000"/>
                </a:solidFill>
              </a:rPr>
              <a:t>大地的</a:t>
            </a:r>
            <a:r>
              <a:rPr lang="zh-CN" altLang="en-US" sz="3200" b="1" i="1">
                <a:solidFill>
                  <a:srgbClr val="000000"/>
                </a:solidFill>
                <a:sym typeface="Symbol" pitchFamily="18" charset="2"/>
              </a:rPr>
              <a:t> </a:t>
            </a:r>
            <a:r>
              <a:rPr lang="zh-CN" altLang="en-US" sz="3200" b="1">
                <a:solidFill>
                  <a:srgbClr val="000000"/>
                </a:solidFill>
                <a:sym typeface="Symbol" pitchFamily="18" charset="2"/>
              </a:rPr>
              <a:t>，</a:t>
            </a:r>
            <a:endParaRPr lang="zh-CN" altLang="en-US" sz="3200" b="1">
              <a:solidFill>
                <a:srgbClr val="000000"/>
              </a:solidFill>
            </a:endParaRPr>
          </a:p>
        </p:txBody>
      </p:sp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3771900" y="1028700"/>
            <a:ext cx="33147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 b="1">
                <a:solidFill>
                  <a:srgbClr val="0000FF"/>
                </a:solidFill>
              </a:rPr>
              <a:t>求：</a:t>
            </a:r>
            <a:r>
              <a:rPr lang="zh-CN" altLang="en-US" sz="3200" b="1">
                <a:solidFill>
                  <a:srgbClr val="000000"/>
                </a:solidFill>
              </a:rPr>
              <a:t>接地电阻 </a:t>
            </a:r>
            <a:r>
              <a:rPr lang="en-US" altLang="zh-CN" sz="3200" b="1" i="1">
                <a:solidFill>
                  <a:srgbClr val="000000"/>
                </a:solidFill>
              </a:rPr>
              <a:t>R</a:t>
            </a:r>
            <a:endParaRPr lang="en-US" altLang="zh-CN" sz="3200"/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3771900" y="1752600"/>
            <a:ext cx="1066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zh-CN" altLang="en-US" sz="3200" b="1">
                <a:solidFill>
                  <a:srgbClr val="0000FF"/>
                </a:solidFill>
              </a:rPr>
              <a:t>解：</a:t>
            </a:r>
            <a:endParaRPr lang="zh-CN" altLang="en-US" sz="3200"/>
          </a:p>
        </p:txBody>
      </p:sp>
      <p:graphicFrame>
        <p:nvGraphicFramePr>
          <p:cNvPr id="10249" name="Object 9"/>
          <p:cNvGraphicFramePr>
            <a:graphicFrameLocks noChangeAspect="1"/>
          </p:cNvGraphicFramePr>
          <p:nvPr/>
        </p:nvGraphicFramePr>
        <p:xfrm>
          <a:off x="4610100" y="1776413"/>
          <a:ext cx="3886200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72" name="公式" r:id="rId3" imgW="1269720" imgH="241200" progId="Equation.3">
                  <p:embed/>
                </p:oleObj>
              </mc:Choice>
              <mc:Fallback>
                <p:oleObj name="公式" r:id="rId3" imgW="126972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0100" y="1776413"/>
                        <a:ext cx="3886200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" name="Object 10"/>
          <p:cNvGraphicFramePr>
            <a:graphicFrameLocks noChangeAspect="1"/>
          </p:cNvGraphicFramePr>
          <p:nvPr/>
        </p:nvGraphicFramePr>
        <p:xfrm>
          <a:off x="4916488" y="2379663"/>
          <a:ext cx="2474912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73" name="公式" r:id="rId5" imgW="812520" imgH="419040" progId="Equation.3">
                  <p:embed/>
                </p:oleObj>
              </mc:Choice>
              <mc:Fallback>
                <p:oleObj name="公式" r:id="rId5" imgW="81252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6488" y="2379663"/>
                        <a:ext cx="2474912" cy="110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1" name="Object 11"/>
          <p:cNvGraphicFramePr>
            <a:graphicFrameLocks noChangeAspect="1"/>
          </p:cNvGraphicFramePr>
          <p:nvPr/>
        </p:nvGraphicFramePr>
        <p:xfrm>
          <a:off x="4926013" y="3433763"/>
          <a:ext cx="3276600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74" name="公式" r:id="rId7" imgW="1295280" imgH="444240" progId="Equation.3">
                  <p:embed/>
                </p:oleObj>
              </mc:Choice>
              <mc:Fallback>
                <p:oleObj name="公式" r:id="rId7" imgW="12952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6013" y="3433763"/>
                        <a:ext cx="3276600" cy="112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2" name="Object 12"/>
          <p:cNvGraphicFramePr>
            <a:graphicFrameLocks noChangeAspect="1"/>
          </p:cNvGraphicFramePr>
          <p:nvPr/>
        </p:nvGraphicFramePr>
        <p:xfrm>
          <a:off x="465138" y="5676900"/>
          <a:ext cx="1960562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75" name="公式" r:id="rId9" imgW="583920" imgH="406080" progId="Equation.3">
                  <p:embed/>
                </p:oleObj>
              </mc:Choice>
              <mc:Fallback>
                <p:oleObj name="公式" r:id="rId9" imgW="58392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138" y="5676900"/>
                        <a:ext cx="1960562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3" name="Object 13"/>
          <p:cNvGraphicFramePr>
            <a:graphicFrameLocks noChangeAspect="1"/>
          </p:cNvGraphicFramePr>
          <p:nvPr/>
        </p:nvGraphicFramePr>
        <p:xfrm>
          <a:off x="476250" y="4651375"/>
          <a:ext cx="3722688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76" name="公式" r:id="rId11" imgW="1473120" imgH="291960" progId="Equation.3">
                  <p:embed/>
                </p:oleObj>
              </mc:Choice>
              <mc:Fallback>
                <p:oleObj name="公式" r:id="rId11" imgW="147312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250" y="4651375"/>
                        <a:ext cx="3722688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87" name="Group 47"/>
          <p:cNvGrpSpPr>
            <a:grpSpLocks/>
          </p:cNvGrpSpPr>
          <p:nvPr/>
        </p:nvGrpSpPr>
        <p:grpSpPr bwMode="auto">
          <a:xfrm>
            <a:off x="419100" y="1847850"/>
            <a:ext cx="2667000" cy="2743200"/>
            <a:chOff x="336" y="1392"/>
            <a:chExt cx="1680" cy="1728"/>
          </a:xfrm>
        </p:grpSpPr>
        <p:sp>
          <p:nvSpPr>
            <p:cNvPr id="10260" name="Line 20"/>
            <p:cNvSpPr>
              <a:spLocks noChangeShapeType="1"/>
            </p:cNvSpPr>
            <p:nvPr/>
          </p:nvSpPr>
          <p:spPr bwMode="auto">
            <a:xfrm>
              <a:off x="1200" y="2256"/>
              <a:ext cx="816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1" name="Line 21"/>
            <p:cNvSpPr>
              <a:spLocks noChangeShapeType="1"/>
            </p:cNvSpPr>
            <p:nvPr/>
          </p:nvSpPr>
          <p:spPr bwMode="auto">
            <a:xfrm flipH="1">
              <a:off x="336" y="2256"/>
              <a:ext cx="852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2" name="Line 22"/>
            <p:cNvSpPr>
              <a:spLocks noChangeShapeType="1"/>
            </p:cNvSpPr>
            <p:nvPr/>
          </p:nvSpPr>
          <p:spPr bwMode="auto">
            <a:xfrm flipV="1">
              <a:off x="1188" y="1680"/>
              <a:ext cx="588" cy="576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3" name="Line 23"/>
            <p:cNvSpPr>
              <a:spLocks noChangeShapeType="1"/>
            </p:cNvSpPr>
            <p:nvPr/>
          </p:nvSpPr>
          <p:spPr bwMode="auto">
            <a:xfrm rot="10800000" flipV="1">
              <a:off x="576" y="2256"/>
              <a:ext cx="612" cy="624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4" name="Line 24"/>
            <p:cNvSpPr>
              <a:spLocks noChangeShapeType="1"/>
            </p:cNvSpPr>
            <p:nvPr/>
          </p:nvSpPr>
          <p:spPr bwMode="auto">
            <a:xfrm rot="16200000" flipV="1">
              <a:off x="591" y="1665"/>
              <a:ext cx="624" cy="558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5" name="Line 25"/>
            <p:cNvSpPr>
              <a:spLocks noChangeShapeType="1"/>
            </p:cNvSpPr>
            <p:nvPr/>
          </p:nvSpPr>
          <p:spPr bwMode="auto">
            <a:xfrm rot="5400000" flipV="1">
              <a:off x="1170" y="2274"/>
              <a:ext cx="624" cy="588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6" name="Line 26"/>
            <p:cNvSpPr>
              <a:spLocks noChangeShapeType="1"/>
            </p:cNvSpPr>
            <p:nvPr/>
          </p:nvSpPr>
          <p:spPr bwMode="auto">
            <a:xfrm rot="-5400000">
              <a:off x="756" y="1824"/>
              <a:ext cx="864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7" name="Line 27"/>
            <p:cNvSpPr>
              <a:spLocks noChangeShapeType="1"/>
            </p:cNvSpPr>
            <p:nvPr/>
          </p:nvSpPr>
          <p:spPr bwMode="auto">
            <a:xfrm rot="5400000" flipV="1">
              <a:off x="756" y="2688"/>
              <a:ext cx="864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274" name="Text Box 34"/>
          <p:cNvSpPr txBox="1">
            <a:spLocks noChangeArrowheads="1"/>
          </p:cNvSpPr>
          <p:nvPr/>
        </p:nvSpPr>
        <p:spPr bwMode="auto">
          <a:xfrm>
            <a:off x="1676400" y="3352800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>
                <a:sym typeface="Symbol" pitchFamily="18" charset="2"/>
              </a:rPr>
              <a:t></a:t>
            </a:r>
            <a:r>
              <a:rPr lang="en-US" altLang="zh-CN" sz="3200" b="1" i="1" baseline="-25000"/>
              <a:t>a</a:t>
            </a:r>
            <a:endParaRPr lang="en-US" altLang="zh-CN" sz="2800" b="1" i="1"/>
          </a:p>
        </p:txBody>
      </p:sp>
      <p:grpSp>
        <p:nvGrpSpPr>
          <p:cNvPr id="10284" name="Group 44"/>
          <p:cNvGrpSpPr>
            <a:grpSpLocks/>
          </p:cNvGrpSpPr>
          <p:nvPr/>
        </p:nvGrpSpPr>
        <p:grpSpPr bwMode="auto">
          <a:xfrm>
            <a:off x="304800" y="1314450"/>
            <a:ext cx="2895600" cy="823913"/>
            <a:chOff x="264" y="1056"/>
            <a:chExt cx="1824" cy="519"/>
          </a:xfrm>
        </p:grpSpPr>
        <p:sp>
          <p:nvSpPr>
            <p:cNvPr id="10254" name="Rectangle 14" descr="深色上对角线"/>
            <p:cNvSpPr>
              <a:spLocks noChangeArrowheads="1"/>
            </p:cNvSpPr>
            <p:nvPr/>
          </p:nvSpPr>
          <p:spPr bwMode="auto">
            <a:xfrm>
              <a:off x="312" y="1056"/>
              <a:ext cx="1728" cy="96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5" name="Line 15"/>
            <p:cNvSpPr>
              <a:spLocks noChangeShapeType="1"/>
            </p:cNvSpPr>
            <p:nvPr/>
          </p:nvSpPr>
          <p:spPr bwMode="auto">
            <a:xfrm>
              <a:off x="264" y="1056"/>
              <a:ext cx="182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79" name="Text Box 39"/>
            <p:cNvSpPr txBox="1">
              <a:spLocks noChangeArrowheads="1"/>
            </p:cNvSpPr>
            <p:nvPr/>
          </p:nvSpPr>
          <p:spPr bwMode="auto">
            <a:xfrm>
              <a:off x="1440" y="1248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>
                  <a:sym typeface="Symbol" pitchFamily="18" charset="2"/>
                </a:rPr>
                <a:t></a:t>
              </a:r>
              <a:endParaRPr lang="en-US" altLang="zh-CN" sz="2800" b="1" i="1"/>
            </a:p>
          </p:txBody>
        </p:sp>
        <p:sp>
          <p:nvSpPr>
            <p:cNvPr id="10280" name="Text Box 40"/>
            <p:cNvSpPr txBox="1">
              <a:spLocks noChangeArrowheads="1"/>
            </p:cNvSpPr>
            <p:nvPr/>
          </p:nvSpPr>
          <p:spPr bwMode="auto">
            <a:xfrm>
              <a:off x="384" y="1116"/>
              <a:ext cx="7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/>
                <a:t>大地</a:t>
              </a:r>
            </a:p>
          </p:txBody>
        </p:sp>
      </p:grpSp>
      <p:grpSp>
        <p:nvGrpSpPr>
          <p:cNvPr id="10291" name="Group 51"/>
          <p:cNvGrpSpPr>
            <a:grpSpLocks/>
          </p:cNvGrpSpPr>
          <p:nvPr/>
        </p:nvGrpSpPr>
        <p:grpSpPr bwMode="auto">
          <a:xfrm>
            <a:off x="1409700" y="476250"/>
            <a:ext cx="685800" cy="3048000"/>
            <a:chOff x="960" y="528"/>
            <a:chExt cx="432" cy="1920"/>
          </a:xfrm>
        </p:grpSpPr>
        <p:grpSp>
          <p:nvGrpSpPr>
            <p:cNvPr id="10286" name="Group 46"/>
            <p:cNvGrpSpPr>
              <a:grpSpLocks/>
            </p:cNvGrpSpPr>
            <p:nvPr/>
          </p:nvGrpSpPr>
          <p:grpSpPr bwMode="auto">
            <a:xfrm>
              <a:off x="996" y="528"/>
              <a:ext cx="396" cy="1920"/>
              <a:chOff x="996" y="528"/>
              <a:chExt cx="396" cy="1920"/>
            </a:xfrm>
          </p:grpSpPr>
          <p:grpSp>
            <p:nvGrpSpPr>
              <p:cNvPr id="10283" name="Group 43"/>
              <p:cNvGrpSpPr>
                <a:grpSpLocks/>
              </p:cNvGrpSpPr>
              <p:nvPr/>
            </p:nvGrpSpPr>
            <p:grpSpPr bwMode="auto">
              <a:xfrm>
                <a:off x="996" y="528"/>
                <a:ext cx="384" cy="1920"/>
                <a:chOff x="996" y="528"/>
                <a:chExt cx="384" cy="1920"/>
              </a:xfrm>
            </p:grpSpPr>
            <p:sp>
              <p:nvSpPr>
                <p:cNvPr id="10259" name="Line 19"/>
                <p:cNvSpPr>
                  <a:spLocks noChangeShapeType="1"/>
                </p:cNvSpPr>
                <p:nvPr/>
              </p:nvSpPr>
              <p:spPr bwMode="auto">
                <a:xfrm>
                  <a:off x="1188" y="528"/>
                  <a:ext cx="0" cy="172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256" name="Oval 16"/>
                <p:cNvSpPr>
                  <a:spLocks noChangeArrowheads="1"/>
                </p:cNvSpPr>
                <p:nvPr/>
              </p:nvSpPr>
              <p:spPr bwMode="auto">
                <a:xfrm>
                  <a:off x="996" y="2064"/>
                  <a:ext cx="384" cy="384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0278" name="Text Box 38"/>
              <p:cNvSpPr txBox="1">
                <a:spLocks noChangeArrowheads="1"/>
              </p:cNvSpPr>
              <p:nvPr/>
            </p:nvSpPr>
            <p:spPr bwMode="auto">
              <a:xfrm>
                <a:off x="1104" y="1956"/>
                <a:ext cx="288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4000" b="1"/>
                  <a:t>.</a:t>
                </a:r>
              </a:p>
            </p:txBody>
          </p:sp>
        </p:grpSp>
        <p:sp>
          <p:nvSpPr>
            <p:cNvPr id="10289" name="Line 49"/>
            <p:cNvSpPr>
              <a:spLocks noChangeShapeType="1"/>
            </p:cNvSpPr>
            <p:nvPr/>
          </p:nvSpPr>
          <p:spPr bwMode="auto">
            <a:xfrm flipH="1" flipV="1">
              <a:off x="1008" y="2172"/>
              <a:ext cx="192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90" name="Text Box 50"/>
            <p:cNvSpPr txBox="1">
              <a:spLocks noChangeArrowheads="1"/>
            </p:cNvSpPr>
            <p:nvPr/>
          </p:nvSpPr>
          <p:spPr bwMode="auto">
            <a:xfrm>
              <a:off x="960" y="2112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a</a:t>
              </a:r>
            </a:p>
          </p:txBody>
        </p:sp>
      </p:grpSp>
      <p:graphicFrame>
        <p:nvGraphicFramePr>
          <p:cNvPr id="10292" name="Object 52"/>
          <p:cNvGraphicFramePr>
            <a:graphicFrameLocks noChangeAspect="1"/>
          </p:cNvGraphicFramePr>
          <p:nvPr/>
        </p:nvGraphicFramePr>
        <p:xfrm>
          <a:off x="4227513" y="4495800"/>
          <a:ext cx="3030537" cy="114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77" name="公式" r:id="rId13" imgW="1002960" imgH="419040" progId="Equation.3">
                  <p:embed/>
                </p:oleObj>
              </mc:Choice>
              <mc:Fallback>
                <p:oleObj name="公式" r:id="rId13" imgW="10029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7513" y="4495800"/>
                        <a:ext cx="3030537" cy="1147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3" name="Object 53"/>
          <p:cNvGraphicFramePr>
            <a:graphicFrameLocks noChangeAspect="1"/>
          </p:cNvGraphicFramePr>
          <p:nvPr/>
        </p:nvGraphicFramePr>
        <p:xfrm>
          <a:off x="7167563" y="4514850"/>
          <a:ext cx="157480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78" name="公式" r:id="rId15" imgW="520560" imgH="406080" progId="Equation.3">
                  <p:embed/>
                </p:oleObj>
              </mc:Choice>
              <mc:Fallback>
                <p:oleObj name="公式" r:id="rId15" imgW="5205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7563" y="4514850"/>
                        <a:ext cx="1574800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4" name="Object 54"/>
          <p:cNvGraphicFramePr>
            <a:graphicFrameLocks noChangeAspect="1"/>
          </p:cNvGraphicFramePr>
          <p:nvPr/>
        </p:nvGraphicFramePr>
        <p:xfrm>
          <a:off x="2573338" y="5676900"/>
          <a:ext cx="1751012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79" name="公式" r:id="rId17" imgW="520560" imgH="406080" progId="Equation.3">
                  <p:embed/>
                </p:oleObj>
              </mc:Choice>
              <mc:Fallback>
                <p:oleObj name="公式" r:id="rId17" imgW="5205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3338" y="5676900"/>
                        <a:ext cx="1751012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5" name="Object 55"/>
          <p:cNvGraphicFramePr>
            <a:graphicFrameLocks noChangeAspect="1"/>
          </p:cNvGraphicFramePr>
          <p:nvPr/>
        </p:nvGraphicFramePr>
        <p:xfrm>
          <a:off x="4294188" y="5715000"/>
          <a:ext cx="1281112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80" name="公式" r:id="rId19" imgW="380880" imgH="406080" progId="Equation.3">
                  <p:embed/>
                </p:oleObj>
              </mc:Choice>
              <mc:Fallback>
                <p:oleObj name="公式" r:id="rId19" imgW="3808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4188" y="5715000"/>
                        <a:ext cx="1281112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6" name="Rectangle 56"/>
          <p:cNvSpPr>
            <a:spLocks noChangeArrowheads="1"/>
          </p:cNvSpPr>
          <p:nvPr/>
        </p:nvSpPr>
        <p:spPr bwMode="auto">
          <a:xfrm>
            <a:off x="476250" y="247650"/>
            <a:ext cx="107433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solidFill>
                  <a:srgbClr val="0000FF"/>
                </a:solidFill>
              </a:rPr>
              <a:t>[</a:t>
            </a:r>
            <a:r>
              <a:rPr lang="zh-CN" altLang="en-US" sz="3200" b="1" smtClean="0">
                <a:solidFill>
                  <a:srgbClr val="0000FF"/>
                </a:solidFill>
              </a:rPr>
              <a:t>例</a:t>
            </a:r>
            <a:r>
              <a:rPr lang="en-US" altLang="zh-CN" sz="3200" b="1" smtClean="0">
                <a:solidFill>
                  <a:srgbClr val="0000FF"/>
                </a:solidFill>
              </a:rPr>
              <a:t>2]</a:t>
            </a:r>
            <a:endParaRPr lang="en-US" altLang="zh-CN" sz="3200" b="1">
              <a:solidFill>
                <a:srgbClr val="000000"/>
              </a:solidFill>
            </a:endParaRPr>
          </a:p>
        </p:txBody>
      </p:sp>
      <p:grpSp>
        <p:nvGrpSpPr>
          <p:cNvPr id="10299" name="Group 59"/>
          <p:cNvGrpSpPr>
            <a:grpSpLocks/>
          </p:cNvGrpSpPr>
          <p:nvPr/>
        </p:nvGrpSpPr>
        <p:grpSpPr bwMode="auto">
          <a:xfrm>
            <a:off x="1790700" y="1314450"/>
            <a:ext cx="2019300" cy="1924050"/>
            <a:chOff x="1200" y="1044"/>
            <a:chExt cx="1272" cy="1212"/>
          </a:xfrm>
        </p:grpSpPr>
        <p:grpSp>
          <p:nvGrpSpPr>
            <p:cNvPr id="10297" name="Group 57"/>
            <p:cNvGrpSpPr>
              <a:grpSpLocks/>
            </p:cNvGrpSpPr>
            <p:nvPr/>
          </p:nvGrpSpPr>
          <p:grpSpPr bwMode="auto">
            <a:xfrm>
              <a:off x="1200" y="1044"/>
              <a:ext cx="1056" cy="1212"/>
              <a:chOff x="1200" y="1044"/>
              <a:chExt cx="1056" cy="1212"/>
            </a:xfrm>
          </p:grpSpPr>
          <p:sp>
            <p:nvSpPr>
              <p:cNvPr id="10269" name="Line 29"/>
              <p:cNvSpPr>
                <a:spLocks noChangeShapeType="1"/>
              </p:cNvSpPr>
              <p:nvPr/>
            </p:nvSpPr>
            <p:spPr bwMode="auto">
              <a:xfrm>
                <a:off x="1200" y="2256"/>
                <a:ext cx="105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70" name="Line 30"/>
              <p:cNvSpPr>
                <a:spLocks noChangeShapeType="1"/>
              </p:cNvSpPr>
              <p:nvPr/>
            </p:nvSpPr>
            <p:spPr bwMode="auto">
              <a:xfrm flipH="1" flipV="1">
                <a:off x="2148" y="1044"/>
                <a:ext cx="0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71" name="Line 31"/>
              <p:cNvSpPr>
                <a:spLocks noChangeShapeType="1"/>
              </p:cNvSpPr>
              <p:nvPr/>
            </p:nvSpPr>
            <p:spPr bwMode="auto">
              <a:xfrm>
                <a:off x="1848" y="1044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72" name="Line 32"/>
              <p:cNvSpPr>
                <a:spLocks noChangeShapeType="1"/>
              </p:cNvSpPr>
              <p:nvPr/>
            </p:nvSpPr>
            <p:spPr bwMode="auto">
              <a:xfrm flipH="1">
                <a:off x="2160" y="1776"/>
                <a:ext cx="0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298" name="Text Box 58"/>
            <p:cNvSpPr txBox="1">
              <a:spLocks noChangeArrowheads="1"/>
            </p:cNvSpPr>
            <p:nvPr/>
          </p:nvSpPr>
          <p:spPr bwMode="auto">
            <a:xfrm>
              <a:off x="2040" y="1476"/>
              <a:ext cx="4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h</a:t>
              </a:r>
            </a:p>
          </p:txBody>
        </p:sp>
      </p:grpSp>
      <p:grpSp>
        <p:nvGrpSpPr>
          <p:cNvPr id="10301" name="Group 61"/>
          <p:cNvGrpSpPr>
            <a:grpSpLocks/>
          </p:cNvGrpSpPr>
          <p:nvPr/>
        </p:nvGrpSpPr>
        <p:grpSpPr bwMode="auto">
          <a:xfrm>
            <a:off x="1771650" y="571500"/>
            <a:ext cx="419100" cy="571500"/>
            <a:chOff x="1188" y="552"/>
            <a:chExt cx="264" cy="360"/>
          </a:xfrm>
        </p:grpSpPr>
        <p:sp>
          <p:nvSpPr>
            <p:cNvPr id="10281" name="Line 41"/>
            <p:cNvSpPr>
              <a:spLocks noChangeShapeType="1"/>
            </p:cNvSpPr>
            <p:nvPr/>
          </p:nvSpPr>
          <p:spPr bwMode="auto">
            <a:xfrm>
              <a:off x="1188" y="67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00" name="Text Box 60"/>
            <p:cNvSpPr txBox="1">
              <a:spLocks noChangeArrowheads="1"/>
            </p:cNvSpPr>
            <p:nvPr/>
          </p:nvSpPr>
          <p:spPr bwMode="auto">
            <a:xfrm>
              <a:off x="1212" y="552"/>
              <a:ext cx="2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I</a:t>
              </a:r>
            </a:p>
          </p:txBody>
        </p:sp>
      </p:grpSp>
      <p:grpSp>
        <p:nvGrpSpPr>
          <p:cNvPr id="10302" name="Group 62"/>
          <p:cNvGrpSpPr>
            <a:grpSpLocks/>
          </p:cNvGrpSpPr>
          <p:nvPr/>
        </p:nvGrpSpPr>
        <p:grpSpPr bwMode="auto">
          <a:xfrm>
            <a:off x="952500" y="2400300"/>
            <a:ext cx="1619250" cy="1619250"/>
            <a:chOff x="672" y="1740"/>
            <a:chExt cx="1020" cy="1020"/>
          </a:xfrm>
        </p:grpSpPr>
        <p:sp>
          <p:nvSpPr>
            <p:cNvPr id="10257" name="Oval 17"/>
            <p:cNvSpPr>
              <a:spLocks noChangeArrowheads="1"/>
            </p:cNvSpPr>
            <p:nvPr/>
          </p:nvSpPr>
          <p:spPr bwMode="auto">
            <a:xfrm>
              <a:off x="672" y="1740"/>
              <a:ext cx="1020" cy="1020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288" name="Group 48"/>
            <p:cNvGrpSpPr>
              <a:grpSpLocks/>
            </p:cNvGrpSpPr>
            <p:nvPr/>
          </p:nvGrpSpPr>
          <p:grpSpPr bwMode="auto">
            <a:xfrm>
              <a:off x="1212" y="1992"/>
              <a:ext cx="432" cy="327"/>
              <a:chOff x="1212" y="1992"/>
              <a:chExt cx="432" cy="327"/>
            </a:xfrm>
          </p:grpSpPr>
          <p:sp>
            <p:nvSpPr>
              <p:cNvPr id="10277" name="Text Box 37"/>
              <p:cNvSpPr txBox="1">
                <a:spLocks noChangeArrowheads="1"/>
              </p:cNvSpPr>
              <p:nvPr/>
            </p:nvSpPr>
            <p:spPr bwMode="auto">
              <a:xfrm>
                <a:off x="1452" y="1992"/>
                <a:ext cx="19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i="1"/>
                  <a:t>r</a:t>
                </a:r>
              </a:p>
            </p:txBody>
          </p:sp>
          <p:sp>
            <p:nvSpPr>
              <p:cNvPr id="10276" name="Line 36"/>
              <p:cNvSpPr>
                <a:spLocks noChangeShapeType="1"/>
              </p:cNvSpPr>
              <p:nvPr/>
            </p:nvSpPr>
            <p:spPr bwMode="auto">
              <a:xfrm flipV="1">
                <a:off x="1212" y="2052"/>
                <a:ext cx="432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0303" name="Rectangle 63"/>
          <p:cNvSpPr>
            <a:spLocks noChangeArrowheads="1"/>
          </p:cNvSpPr>
          <p:nvPr/>
        </p:nvSpPr>
        <p:spPr bwMode="auto">
          <a:xfrm>
            <a:off x="6877050" y="285750"/>
            <a:ext cx="17907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i="1">
                <a:solidFill>
                  <a:srgbClr val="000000"/>
                </a:solidFill>
              </a:rPr>
              <a:t>h </a:t>
            </a:r>
            <a:r>
              <a:rPr lang="en-US" altLang="zh-CN" sz="3200" b="1">
                <a:solidFill>
                  <a:srgbClr val="000000"/>
                </a:solidFill>
              </a:rPr>
              <a:t>&gt;&gt; </a:t>
            </a:r>
            <a:r>
              <a:rPr lang="en-US" altLang="zh-CN" sz="3200" b="1" i="1">
                <a:solidFill>
                  <a:srgbClr val="000000"/>
                </a:solidFill>
              </a:rPr>
              <a:t>a </a:t>
            </a:r>
            <a:r>
              <a:rPr lang="zh-CN" altLang="en-US" sz="3200" b="1">
                <a:solidFill>
                  <a:srgbClr val="000000"/>
                </a:solidFill>
              </a:rPr>
              <a:t>。</a:t>
            </a:r>
          </a:p>
        </p:txBody>
      </p:sp>
      <p:grpSp>
        <p:nvGrpSpPr>
          <p:cNvPr id="10306" name="Group 66"/>
          <p:cNvGrpSpPr>
            <a:grpSpLocks/>
          </p:cNvGrpSpPr>
          <p:nvPr/>
        </p:nvGrpSpPr>
        <p:grpSpPr bwMode="auto">
          <a:xfrm>
            <a:off x="495300" y="3448050"/>
            <a:ext cx="1371600" cy="1204913"/>
            <a:chOff x="384" y="2400"/>
            <a:chExt cx="864" cy="759"/>
          </a:xfrm>
        </p:grpSpPr>
        <p:sp>
          <p:nvSpPr>
            <p:cNvPr id="10304" name="Text Box 64"/>
            <p:cNvSpPr txBox="1">
              <a:spLocks noChangeArrowheads="1"/>
            </p:cNvSpPr>
            <p:nvPr/>
          </p:nvSpPr>
          <p:spPr bwMode="auto">
            <a:xfrm>
              <a:off x="384" y="2832"/>
              <a:ext cx="8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/>
                <a:t>导体球</a:t>
              </a:r>
            </a:p>
          </p:txBody>
        </p:sp>
        <p:sp>
          <p:nvSpPr>
            <p:cNvPr id="10305" name="Line 65"/>
            <p:cNvSpPr>
              <a:spLocks noChangeShapeType="1"/>
            </p:cNvSpPr>
            <p:nvPr/>
          </p:nvSpPr>
          <p:spPr bwMode="auto">
            <a:xfrm flipV="1">
              <a:off x="864" y="2400"/>
              <a:ext cx="240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307" name="Rectangle 67"/>
          <p:cNvSpPr>
            <a:spLocks noChangeArrowheads="1"/>
          </p:cNvSpPr>
          <p:nvPr/>
        </p:nvSpPr>
        <p:spPr bwMode="auto">
          <a:xfrm>
            <a:off x="5295900" y="6057900"/>
            <a:ext cx="37322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solidFill>
                  <a:srgbClr val="000000"/>
                </a:solidFill>
              </a:rPr>
              <a:t>（一般 </a:t>
            </a:r>
            <a:r>
              <a:rPr lang="en-US" altLang="zh-CN" sz="3200" b="1" i="1">
                <a:solidFill>
                  <a:srgbClr val="000000"/>
                </a:solidFill>
              </a:rPr>
              <a:t>R </a:t>
            </a:r>
            <a:r>
              <a:rPr lang="en-US" altLang="zh-CN" sz="3200" b="1">
                <a:solidFill>
                  <a:srgbClr val="000000"/>
                </a:solidFill>
                <a:sym typeface="Symbol" pitchFamily="18" charset="2"/>
              </a:rPr>
              <a:t> 10 </a:t>
            </a:r>
            <a:r>
              <a:rPr lang="en-US" altLang="zh-CN" sz="3200" b="1" baseline="30000">
                <a:solidFill>
                  <a:srgbClr val="000000"/>
                </a:solidFill>
                <a:sym typeface="Symbol" pitchFamily="18" charset="2"/>
              </a:rPr>
              <a:t>-2 </a:t>
            </a:r>
            <a:r>
              <a:rPr lang="en-US" altLang="zh-CN" sz="3200" b="1">
                <a:solidFill>
                  <a:srgbClr val="000000"/>
                </a:solidFill>
                <a:sym typeface="Symbol" pitchFamily="18" charset="2"/>
              </a:rPr>
              <a:t></a:t>
            </a:r>
            <a:r>
              <a:rPr lang="zh-CN" altLang="en-US" sz="3200" b="1">
                <a:solidFill>
                  <a:srgbClr val="000000"/>
                </a:solidFill>
                <a:sym typeface="Symbol" pitchFamily="18" charset="2"/>
              </a:rPr>
              <a:t>）</a:t>
            </a:r>
          </a:p>
        </p:txBody>
      </p:sp>
      <p:sp>
        <p:nvSpPr>
          <p:cNvPr id="10308" name="Text Box 68"/>
          <p:cNvSpPr txBox="1">
            <a:spLocks noChangeArrowheads="1"/>
          </p:cNvSpPr>
          <p:nvPr/>
        </p:nvSpPr>
        <p:spPr bwMode="auto">
          <a:xfrm>
            <a:off x="2171700" y="266700"/>
            <a:ext cx="1905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/>
              <a:t>如图示，</a:t>
            </a:r>
          </a:p>
        </p:txBody>
      </p:sp>
      <p:sp>
        <p:nvSpPr>
          <p:cNvPr id="10309" name="AutoShape 6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801100" y="5467350"/>
            <a:ext cx="152400" cy="228600"/>
          </a:xfrm>
          <a:prstGeom prst="actionButtonForwardNex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6651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0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300"/>
                                        <p:tgtEl>
                                          <p:spTgt spid="10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4" dur="500"/>
                                        <p:tgtEl>
                                          <p:spTgt spid="10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00"/>
                                        <p:tgtEl>
                                          <p:spTgt spid="10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3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0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10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500"/>
                                        <p:tgtEl>
                                          <p:spTgt spid="10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300"/>
                                        <p:tgtEl>
                                          <p:spTgt spid="10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0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0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0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0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0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autoUpdateAnimBg="0"/>
      <p:bldP spid="10245" grpId="0" autoUpdateAnimBg="0"/>
      <p:bldP spid="10248" grpId="0" autoUpdateAnimBg="0"/>
      <p:bldP spid="10274" grpId="0" autoUpdateAnimBg="0"/>
      <p:bldP spid="10296" grpId="0" autoUpdateAnimBg="0"/>
      <p:bldP spid="10303" grpId="0" autoUpdateAnimBg="0"/>
      <p:bldP spid="10307" grpId="0" autoUpdateAnimBg="0"/>
      <p:bldP spid="10308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78A07-8D6F-4898-B5CB-5C605196CC8D}" type="slidenum">
              <a:rPr lang="en-US" altLang="zh-CN"/>
              <a:pPr/>
              <a:t>17</a:t>
            </a:fld>
            <a:endParaRPr lang="en-US" altLang="zh-CN"/>
          </a:p>
        </p:txBody>
      </p:sp>
      <p:graphicFrame>
        <p:nvGraphicFramePr>
          <p:cNvPr id="11268" name="Object 4"/>
          <p:cNvGraphicFramePr>
            <a:graphicFrameLocks noChangeAspect="1"/>
          </p:cNvGraphicFramePr>
          <p:nvPr/>
        </p:nvGraphicFramePr>
        <p:xfrm>
          <a:off x="3524250" y="723900"/>
          <a:ext cx="3662363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66" name="公式" r:id="rId3" imgW="1193760" imgH="419040" progId="Equation.3">
                  <p:embed/>
                </p:oleObj>
              </mc:Choice>
              <mc:Fallback>
                <p:oleObj name="公式" r:id="rId3" imgW="11937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4250" y="723900"/>
                        <a:ext cx="3662363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5"/>
          <p:cNvGraphicFramePr>
            <a:graphicFrameLocks noChangeAspect="1"/>
          </p:cNvGraphicFramePr>
          <p:nvPr/>
        </p:nvGraphicFramePr>
        <p:xfrm>
          <a:off x="4173538" y="1981200"/>
          <a:ext cx="2417762" cy="114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67" name="公式" r:id="rId5" imgW="711000" imgH="406080" progId="Equation.3">
                  <p:embed/>
                </p:oleObj>
              </mc:Choice>
              <mc:Fallback>
                <p:oleObj name="公式" r:id="rId5" imgW="7110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3538" y="1981200"/>
                        <a:ext cx="2417762" cy="1144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6"/>
          <p:cNvGraphicFramePr>
            <a:graphicFrameLocks noChangeAspect="1"/>
          </p:cNvGraphicFramePr>
          <p:nvPr/>
        </p:nvGraphicFramePr>
        <p:xfrm>
          <a:off x="4371975" y="3048000"/>
          <a:ext cx="1328738" cy="114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68" name="公式" r:id="rId7" imgW="469800" imgH="406080" progId="Equation.3">
                  <p:embed/>
                </p:oleObj>
              </mc:Choice>
              <mc:Fallback>
                <p:oleObj name="公式" r:id="rId7" imgW="4698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1975" y="3048000"/>
                        <a:ext cx="1328738" cy="1144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3429000" y="4191000"/>
            <a:ext cx="2819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000000"/>
                </a:solidFill>
              </a:rPr>
              <a:t>当</a:t>
            </a:r>
            <a:r>
              <a:rPr lang="en-US" altLang="zh-CN" sz="3200" b="1" i="1">
                <a:solidFill>
                  <a:srgbClr val="000000"/>
                </a:solidFill>
              </a:rPr>
              <a:t>r </a:t>
            </a:r>
            <a:r>
              <a:rPr lang="en-US" altLang="zh-CN" sz="3200" b="1">
                <a:solidFill>
                  <a:srgbClr val="000000"/>
                </a:solidFill>
              </a:rPr>
              <a:t>=10</a:t>
            </a:r>
            <a:r>
              <a:rPr lang="en-US" altLang="zh-CN" sz="3200" b="1" i="1">
                <a:solidFill>
                  <a:srgbClr val="000000"/>
                </a:solidFill>
              </a:rPr>
              <a:t>a </a:t>
            </a:r>
            <a:r>
              <a:rPr lang="zh-CN" altLang="en-US" sz="3200" b="1">
                <a:solidFill>
                  <a:srgbClr val="000000"/>
                </a:solidFill>
              </a:rPr>
              <a:t>时，</a:t>
            </a:r>
          </a:p>
        </p:txBody>
      </p:sp>
      <p:sp>
        <p:nvSpPr>
          <p:cNvPr id="11273" name="Text Box 9"/>
          <p:cNvSpPr txBox="1">
            <a:spLocks noChangeArrowheads="1"/>
          </p:cNvSpPr>
          <p:nvPr/>
        </p:nvSpPr>
        <p:spPr bwMode="auto">
          <a:xfrm>
            <a:off x="533400" y="6145213"/>
            <a:ext cx="3200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 b="1">
                <a:solidFill>
                  <a:srgbClr val="000000"/>
                </a:solidFill>
              </a:rPr>
              <a:t>电阻的关键。</a:t>
            </a:r>
          </a:p>
        </p:txBody>
      </p:sp>
      <p:grpSp>
        <p:nvGrpSpPr>
          <p:cNvPr id="11326" name="Group 62"/>
          <p:cNvGrpSpPr>
            <a:grpSpLocks/>
          </p:cNvGrpSpPr>
          <p:nvPr/>
        </p:nvGrpSpPr>
        <p:grpSpPr bwMode="auto">
          <a:xfrm>
            <a:off x="228600" y="838200"/>
            <a:ext cx="3505200" cy="4114800"/>
            <a:chOff x="144" y="528"/>
            <a:chExt cx="2208" cy="2592"/>
          </a:xfrm>
        </p:grpSpPr>
        <p:grpSp>
          <p:nvGrpSpPr>
            <p:cNvPr id="11274" name="Group 10"/>
            <p:cNvGrpSpPr>
              <a:grpSpLocks/>
            </p:cNvGrpSpPr>
            <p:nvPr/>
          </p:nvGrpSpPr>
          <p:grpSpPr bwMode="auto">
            <a:xfrm>
              <a:off x="216" y="1392"/>
              <a:ext cx="1680" cy="1728"/>
              <a:chOff x="336" y="1392"/>
              <a:chExt cx="1680" cy="1728"/>
            </a:xfrm>
          </p:grpSpPr>
          <p:sp>
            <p:nvSpPr>
              <p:cNvPr id="11275" name="Line 11"/>
              <p:cNvSpPr>
                <a:spLocks noChangeShapeType="1"/>
              </p:cNvSpPr>
              <p:nvPr/>
            </p:nvSpPr>
            <p:spPr bwMode="auto">
              <a:xfrm>
                <a:off x="1200" y="2256"/>
                <a:ext cx="81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76" name="Line 12"/>
              <p:cNvSpPr>
                <a:spLocks noChangeShapeType="1"/>
              </p:cNvSpPr>
              <p:nvPr/>
            </p:nvSpPr>
            <p:spPr bwMode="auto">
              <a:xfrm flipH="1">
                <a:off x="336" y="2256"/>
                <a:ext cx="85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77" name="Line 13"/>
              <p:cNvSpPr>
                <a:spLocks noChangeShapeType="1"/>
              </p:cNvSpPr>
              <p:nvPr/>
            </p:nvSpPr>
            <p:spPr bwMode="auto">
              <a:xfrm flipV="1">
                <a:off x="1188" y="1680"/>
                <a:ext cx="588" cy="5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78" name="Line 14"/>
              <p:cNvSpPr>
                <a:spLocks noChangeShapeType="1"/>
              </p:cNvSpPr>
              <p:nvPr/>
            </p:nvSpPr>
            <p:spPr bwMode="auto">
              <a:xfrm rot="10800000" flipV="1">
                <a:off x="576" y="2256"/>
                <a:ext cx="612" cy="6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79" name="Line 15"/>
              <p:cNvSpPr>
                <a:spLocks noChangeShapeType="1"/>
              </p:cNvSpPr>
              <p:nvPr/>
            </p:nvSpPr>
            <p:spPr bwMode="auto">
              <a:xfrm rot="16200000" flipV="1">
                <a:off x="591" y="1665"/>
                <a:ext cx="624" cy="55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0" name="Line 16"/>
              <p:cNvSpPr>
                <a:spLocks noChangeShapeType="1"/>
              </p:cNvSpPr>
              <p:nvPr/>
            </p:nvSpPr>
            <p:spPr bwMode="auto">
              <a:xfrm rot="5400000" flipV="1">
                <a:off x="1170" y="2274"/>
                <a:ext cx="624" cy="5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1" name="Line 17"/>
              <p:cNvSpPr>
                <a:spLocks noChangeShapeType="1"/>
              </p:cNvSpPr>
              <p:nvPr/>
            </p:nvSpPr>
            <p:spPr bwMode="auto">
              <a:xfrm rot="-5400000">
                <a:off x="756" y="1824"/>
                <a:ext cx="86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2" name="Line 18"/>
              <p:cNvSpPr>
                <a:spLocks noChangeShapeType="1"/>
              </p:cNvSpPr>
              <p:nvPr/>
            </p:nvSpPr>
            <p:spPr bwMode="auto">
              <a:xfrm rot="5400000" flipV="1">
                <a:off x="756" y="2688"/>
                <a:ext cx="86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1283" name="Text Box 19"/>
            <p:cNvSpPr txBox="1">
              <a:spLocks noChangeArrowheads="1"/>
            </p:cNvSpPr>
            <p:nvPr/>
          </p:nvSpPr>
          <p:spPr bwMode="auto">
            <a:xfrm>
              <a:off x="1008" y="2364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>
                  <a:sym typeface="Symbol" pitchFamily="18" charset="2"/>
                </a:rPr>
                <a:t></a:t>
              </a:r>
              <a:r>
                <a:rPr lang="en-US" altLang="zh-CN" sz="3200" b="1" i="1" baseline="-25000"/>
                <a:t>a</a:t>
              </a:r>
              <a:endParaRPr lang="en-US" altLang="zh-CN" sz="2800" b="1" i="1"/>
            </a:p>
          </p:txBody>
        </p:sp>
        <p:sp>
          <p:nvSpPr>
            <p:cNvPr id="11284" name="Text Box 20"/>
            <p:cNvSpPr txBox="1">
              <a:spLocks noChangeArrowheads="1"/>
            </p:cNvSpPr>
            <p:nvPr/>
          </p:nvSpPr>
          <p:spPr bwMode="auto">
            <a:xfrm>
              <a:off x="1452" y="2388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FF3300"/>
                  </a:solidFill>
                  <a:sym typeface="Symbol" pitchFamily="18" charset="2"/>
                </a:rPr>
                <a:t></a:t>
              </a:r>
              <a:r>
                <a:rPr lang="en-US" altLang="zh-CN" sz="3200" b="1" i="1" baseline="-25000">
                  <a:solidFill>
                    <a:srgbClr val="FF3300"/>
                  </a:solidFill>
                </a:rPr>
                <a:t>r</a:t>
              </a:r>
              <a:endParaRPr lang="en-US" altLang="zh-CN" sz="2800" b="1" i="1">
                <a:solidFill>
                  <a:srgbClr val="FF3300"/>
                </a:solidFill>
              </a:endParaRPr>
            </a:p>
          </p:txBody>
        </p:sp>
        <p:grpSp>
          <p:nvGrpSpPr>
            <p:cNvPr id="11285" name="Group 21"/>
            <p:cNvGrpSpPr>
              <a:grpSpLocks/>
            </p:cNvGrpSpPr>
            <p:nvPr/>
          </p:nvGrpSpPr>
          <p:grpSpPr bwMode="auto">
            <a:xfrm>
              <a:off x="144" y="1056"/>
              <a:ext cx="1824" cy="519"/>
              <a:chOff x="264" y="1056"/>
              <a:chExt cx="1824" cy="519"/>
            </a:xfrm>
          </p:grpSpPr>
          <p:sp>
            <p:nvSpPr>
              <p:cNvPr id="11286" name="Rectangle 22" descr="深色上对角线"/>
              <p:cNvSpPr>
                <a:spLocks noChangeArrowheads="1"/>
              </p:cNvSpPr>
              <p:nvPr/>
            </p:nvSpPr>
            <p:spPr bwMode="auto">
              <a:xfrm>
                <a:off x="312" y="1056"/>
                <a:ext cx="1728" cy="96"/>
              </a:xfrm>
              <a:prstGeom prst="rect">
                <a:avLst/>
              </a:prstGeom>
              <a:pattFill prst="dk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7" name="Line 23"/>
              <p:cNvSpPr>
                <a:spLocks noChangeShapeType="1"/>
              </p:cNvSpPr>
              <p:nvPr/>
            </p:nvSpPr>
            <p:spPr bwMode="auto">
              <a:xfrm>
                <a:off x="264" y="1056"/>
                <a:ext cx="182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8" name="Text Box 24"/>
              <p:cNvSpPr txBox="1">
                <a:spLocks noChangeArrowheads="1"/>
              </p:cNvSpPr>
              <p:nvPr/>
            </p:nvSpPr>
            <p:spPr bwMode="auto">
              <a:xfrm>
                <a:off x="1440" y="1248"/>
                <a:ext cx="33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i="1">
                    <a:sym typeface="Symbol" pitchFamily="18" charset="2"/>
                  </a:rPr>
                  <a:t></a:t>
                </a:r>
                <a:endParaRPr lang="en-US" altLang="zh-CN" sz="2800" b="1" i="1"/>
              </a:p>
            </p:txBody>
          </p:sp>
          <p:sp>
            <p:nvSpPr>
              <p:cNvPr id="11289" name="Text Box 25"/>
              <p:cNvSpPr txBox="1">
                <a:spLocks noChangeArrowheads="1"/>
              </p:cNvSpPr>
              <p:nvPr/>
            </p:nvSpPr>
            <p:spPr bwMode="auto">
              <a:xfrm>
                <a:off x="384" y="1116"/>
                <a:ext cx="76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b="1"/>
                  <a:t>大地</a:t>
                </a:r>
              </a:p>
            </p:txBody>
          </p:sp>
        </p:grpSp>
        <p:grpSp>
          <p:nvGrpSpPr>
            <p:cNvPr id="11290" name="Group 26"/>
            <p:cNvGrpSpPr>
              <a:grpSpLocks/>
            </p:cNvGrpSpPr>
            <p:nvPr/>
          </p:nvGrpSpPr>
          <p:grpSpPr bwMode="auto">
            <a:xfrm>
              <a:off x="840" y="528"/>
              <a:ext cx="432" cy="1920"/>
              <a:chOff x="960" y="528"/>
              <a:chExt cx="432" cy="1920"/>
            </a:xfrm>
          </p:grpSpPr>
          <p:grpSp>
            <p:nvGrpSpPr>
              <p:cNvPr id="11291" name="Group 27"/>
              <p:cNvGrpSpPr>
                <a:grpSpLocks/>
              </p:cNvGrpSpPr>
              <p:nvPr/>
            </p:nvGrpSpPr>
            <p:grpSpPr bwMode="auto">
              <a:xfrm>
                <a:off x="996" y="528"/>
                <a:ext cx="396" cy="1920"/>
                <a:chOff x="996" y="528"/>
                <a:chExt cx="396" cy="1920"/>
              </a:xfrm>
            </p:grpSpPr>
            <p:grpSp>
              <p:nvGrpSpPr>
                <p:cNvPr id="11292" name="Group 28"/>
                <p:cNvGrpSpPr>
                  <a:grpSpLocks/>
                </p:cNvGrpSpPr>
                <p:nvPr/>
              </p:nvGrpSpPr>
              <p:grpSpPr bwMode="auto">
                <a:xfrm>
                  <a:off x="996" y="528"/>
                  <a:ext cx="384" cy="1920"/>
                  <a:chOff x="996" y="528"/>
                  <a:chExt cx="384" cy="1920"/>
                </a:xfrm>
              </p:grpSpPr>
              <p:sp>
                <p:nvSpPr>
                  <p:cNvPr id="11293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1188" y="528"/>
                    <a:ext cx="0" cy="1728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94" name="Oval 30"/>
                  <p:cNvSpPr>
                    <a:spLocks noChangeArrowheads="1"/>
                  </p:cNvSpPr>
                  <p:nvPr/>
                </p:nvSpPr>
                <p:spPr bwMode="auto">
                  <a:xfrm>
                    <a:off x="996" y="2064"/>
                    <a:ext cx="384" cy="384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1295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1104" y="1956"/>
                  <a:ext cx="288" cy="4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4000" b="1"/>
                    <a:t>.</a:t>
                  </a:r>
                </a:p>
              </p:txBody>
            </p:sp>
          </p:grpSp>
          <p:sp>
            <p:nvSpPr>
              <p:cNvPr id="11296" name="Line 32"/>
              <p:cNvSpPr>
                <a:spLocks noChangeShapeType="1"/>
              </p:cNvSpPr>
              <p:nvPr/>
            </p:nvSpPr>
            <p:spPr bwMode="auto">
              <a:xfrm flipH="1" flipV="1">
                <a:off x="1008" y="2172"/>
                <a:ext cx="192" cy="9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97" name="Text Box 33"/>
              <p:cNvSpPr txBox="1">
                <a:spLocks noChangeArrowheads="1"/>
              </p:cNvSpPr>
              <p:nvPr/>
            </p:nvSpPr>
            <p:spPr bwMode="auto">
              <a:xfrm>
                <a:off x="960" y="2112"/>
                <a:ext cx="19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i="1"/>
                  <a:t>a</a:t>
                </a:r>
              </a:p>
            </p:txBody>
          </p:sp>
        </p:grpSp>
        <p:grpSp>
          <p:nvGrpSpPr>
            <p:cNvPr id="11298" name="Group 34"/>
            <p:cNvGrpSpPr>
              <a:grpSpLocks/>
            </p:cNvGrpSpPr>
            <p:nvPr/>
          </p:nvGrpSpPr>
          <p:grpSpPr bwMode="auto">
            <a:xfrm>
              <a:off x="1080" y="1056"/>
              <a:ext cx="1272" cy="1212"/>
              <a:chOff x="1200" y="1044"/>
              <a:chExt cx="1272" cy="1212"/>
            </a:xfrm>
          </p:grpSpPr>
          <p:grpSp>
            <p:nvGrpSpPr>
              <p:cNvPr id="11299" name="Group 35"/>
              <p:cNvGrpSpPr>
                <a:grpSpLocks/>
              </p:cNvGrpSpPr>
              <p:nvPr/>
            </p:nvGrpSpPr>
            <p:grpSpPr bwMode="auto">
              <a:xfrm>
                <a:off x="1200" y="1044"/>
                <a:ext cx="1056" cy="1212"/>
                <a:chOff x="1200" y="1044"/>
                <a:chExt cx="1056" cy="1212"/>
              </a:xfrm>
            </p:grpSpPr>
            <p:sp>
              <p:nvSpPr>
                <p:cNvPr id="11300" name="Line 36"/>
                <p:cNvSpPr>
                  <a:spLocks noChangeShapeType="1"/>
                </p:cNvSpPr>
                <p:nvPr/>
              </p:nvSpPr>
              <p:spPr bwMode="auto">
                <a:xfrm>
                  <a:off x="1200" y="2256"/>
                  <a:ext cx="1056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01" name="Line 37"/>
                <p:cNvSpPr>
                  <a:spLocks noChangeShapeType="1"/>
                </p:cNvSpPr>
                <p:nvPr/>
              </p:nvSpPr>
              <p:spPr bwMode="auto">
                <a:xfrm flipH="1" flipV="1">
                  <a:off x="2148" y="1044"/>
                  <a:ext cx="0" cy="48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02" name="Line 38"/>
                <p:cNvSpPr>
                  <a:spLocks noChangeShapeType="1"/>
                </p:cNvSpPr>
                <p:nvPr/>
              </p:nvSpPr>
              <p:spPr bwMode="auto">
                <a:xfrm>
                  <a:off x="1848" y="1044"/>
                  <a:ext cx="38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03" name="Line 39"/>
                <p:cNvSpPr>
                  <a:spLocks noChangeShapeType="1"/>
                </p:cNvSpPr>
                <p:nvPr/>
              </p:nvSpPr>
              <p:spPr bwMode="auto">
                <a:xfrm flipH="1">
                  <a:off x="2160" y="1776"/>
                  <a:ext cx="0" cy="48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304" name="Text Box 40"/>
              <p:cNvSpPr txBox="1">
                <a:spLocks noChangeArrowheads="1"/>
              </p:cNvSpPr>
              <p:nvPr/>
            </p:nvSpPr>
            <p:spPr bwMode="auto">
              <a:xfrm>
                <a:off x="2040" y="1476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i="1"/>
                  <a:t>h</a:t>
                </a:r>
              </a:p>
            </p:txBody>
          </p:sp>
        </p:grpSp>
        <p:grpSp>
          <p:nvGrpSpPr>
            <p:cNvPr id="11305" name="Group 41"/>
            <p:cNvGrpSpPr>
              <a:grpSpLocks/>
            </p:cNvGrpSpPr>
            <p:nvPr/>
          </p:nvGrpSpPr>
          <p:grpSpPr bwMode="auto">
            <a:xfrm>
              <a:off x="1068" y="588"/>
              <a:ext cx="264" cy="360"/>
              <a:chOff x="1188" y="552"/>
              <a:chExt cx="264" cy="360"/>
            </a:xfrm>
          </p:grpSpPr>
          <p:sp>
            <p:nvSpPr>
              <p:cNvPr id="11306" name="Line 42"/>
              <p:cNvSpPr>
                <a:spLocks noChangeShapeType="1"/>
              </p:cNvSpPr>
              <p:nvPr/>
            </p:nvSpPr>
            <p:spPr bwMode="auto">
              <a:xfrm>
                <a:off x="1188" y="672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07" name="Text Box 43"/>
              <p:cNvSpPr txBox="1">
                <a:spLocks noChangeArrowheads="1"/>
              </p:cNvSpPr>
              <p:nvPr/>
            </p:nvSpPr>
            <p:spPr bwMode="auto">
              <a:xfrm>
                <a:off x="1212" y="552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i="1"/>
                  <a:t>I</a:t>
                </a:r>
              </a:p>
            </p:txBody>
          </p:sp>
        </p:grpSp>
        <p:grpSp>
          <p:nvGrpSpPr>
            <p:cNvPr id="11308" name="Group 44"/>
            <p:cNvGrpSpPr>
              <a:grpSpLocks/>
            </p:cNvGrpSpPr>
            <p:nvPr/>
          </p:nvGrpSpPr>
          <p:grpSpPr bwMode="auto">
            <a:xfrm>
              <a:off x="552" y="1740"/>
              <a:ext cx="1020" cy="1020"/>
              <a:chOff x="672" y="1740"/>
              <a:chExt cx="1020" cy="1020"/>
            </a:xfrm>
          </p:grpSpPr>
          <p:sp>
            <p:nvSpPr>
              <p:cNvPr id="11309" name="Oval 45"/>
              <p:cNvSpPr>
                <a:spLocks noChangeArrowheads="1"/>
              </p:cNvSpPr>
              <p:nvPr/>
            </p:nvSpPr>
            <p:spPr bwMode="auto">
              <a:xfrm>
                <a:off x="672" y="1740"/>
                <a:ext cx="1020" cy="1020"/>
              </a:xfrm>
              <a:prstGeom prst="ellipse">
                <a:avLst/>
              </a:prstGeom>
              <a:noFill/>
              <a:ln w="28575">
                <a:solidFill>
                  <a:srgbClr val="FF33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1310" name="Group 46"/>
              <p:cNvGrpSpPr>
                <a:grpSpLocks/>
              </p:cNvGrpSpPr>
              <p:nvPr/>
            </p:nvGrpSpPr>
            <p:grpSpPr bwMode="auto">
              <a:xfrm>
                <a:off x="1212" y="1992"/>
                <a:ext cx="432" cy="327"/>
                <a:chOff x="1212" y="1992"/>
                <a:chExt cx="432" cy="327"/>
              </a:xfrm>
            </p:grpSpPr>
            <p:sp>
              <p:nvSpPr>
                <p:cNvPr id="11311" name="Text Box 47"/>
                <p:cNvSpPr txBox="1">
                  <a:spLocks noChangeArrowheads="1"/>
                </p:cNvSpPr>
                <p:nvPr/>
              </p:nvSpPr>
              <p:spPr bwMode="auto">
                <a:xfrm>
                  <a:off x="1452" y="1992"/>
                  <a:ext cx="192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800" b="1" i="1"/>
                    <a:t>r</a:t>
                  </a:r>
                </a:p>
              </p:txBody>
            </p:sp>
            <p:sp>
              <p:nvSpPr>
                <p:cNvPr id="11312" name="Line 48"/>
                <p:cNvSpPr>
                  <a:spLocks noChangeShapeType="1"/>
                </p:cNvSpPr>
                <p:nvPr/>
              </p:nvSpPr>
              <p:spPr bwMode="auto">
                <a:xfrm flipV="1">
                  <a:off x="1212" y="2052"/>
                  <a:ext cx="432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</p:grpSp>
      <p:graphicFrame>
        <p:nvGraphicFramePr>
          <p:cNvPr id="11318" name="Object 54"/>
          <p:cNvGraphicFramePr>
            <a:graphicFrameLocks noChangeAspect="1"/>
          </p:cNvGraphicFramePr>
          <p:nvPr/>
        </p:nvGraphicFramePr>
        <p:xfrm>
          <a:off x="7107238" y="723900"/>
          <a:ext cx="170815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69" name="公式" r:id="rId9" imgW="507960" imgH="406080" progId="Equation.3">
                  <p:embed/>
                </p:oleObj>
              </mc:Choice>
              <mc:Fallback>
                <p:oleObj name="公式" r:id="rId9" imgW="5079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7238" y="723900"/>
                        <a:ext cx="170815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19" name="Rectangle 55"/>
          <p:cNvSpPr>
            <a:spLocks noChangeArrowheads="1"/>
          </p:cNvSpPr>
          <p:nvPr/>
        </p:nvSpPr>
        <p:spPr bwMode="auto">
          <a:xfrm>
            <a:off x="936625" y="4876800"/>
            <a:ext cx="75215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solidFill>
                  <a:srgbClr val="000000"/>
                </a:solidFill>
              </a:rPr>
              <a:t>即 </a:t>
            </a:r>
            <a:r>
              <a:rPr lang="en-US" altLang="zh-CN" sz="3200" b="1">
                <a:solidFill>
                  <a:srgbClr val="000000"/>
                </a:solidFill>
              </a:rPr>
              <a:t>90 % </a:t>
            </a:r>
            <a:r>
              <a:rPr lang="zh-CN" altLang="en-US" sz="3200" b="1">
                <a:solidFill>
                  <a:srgbClr val="000000"/>
                </a:solidFill>
              </a:rPr>
              <a:t>的电势降落在 </a:t>
            </a:r>
            <a:r>
              <a:rPr lang="en-US" altLang="zh-CN" sz="3200" b="1" i="1">
                <a:solidFill>
                  <a:srgbClr val="000000"/>
                </a:solidFill>
              </a:rPr>
              <a:t>r </a:t>
            </a:r>
            <a:r>
              <a:rPr lang="en-US" altLang="zh-CN" sz="3200" b="1">
                <a:solidFill>
                  <a:srgbClr val="000000"/>
                </a:solidFill>
              </a:rPr>
              <a:t>=10</a:t>
            </a:r>
            <a:r>
              <a:rPr lang="en-US" altLang="zh-CN" sz="3200" b="1" i="1">
                <a:solidFill>
                  <a:srgbClr val="000000"/>
                </a:solidFill>
              </a:rPr>
              <a:t>a </a:t>
            </a:r>
            <a:r>
              <a:rPr lang="zh-CN" altLang="en-US" sz="3200" b="1">
                <a:solidFill>
                  <a:srgbClr val="000000"/>
                </a:solidFill>
              </a:rPr>
              <a:t>的范围内。</a:t>
            </a:r>
          </a:p>
        </p:txBody>
      </p:sp>
      <p:sp>
        <p:nvSpPr>
          <p:cNvPr id="11320" name="Rectangle 56"/>
          <p:cNvSpPr>
            <a:spLocks noChangeArrowheads="1"/>
          </p:cNvSpPr>
          <p:nvPr/>
        </p:nvSpPr>
        <p:spPr bwMode="auto">
          <a:xfrm>
            <a:off x="533400" y="5486400"/>
            <a:ext cx="50911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solidFill>
                  <a:srgbClr val="000000"/>
                </a:solidFill>
              </a:rPr>
              <a:t>故改善接地点附近的电阻，</a:t>
            </a:r>
          </a:p>
        </p:txBody>
      </p:sp>
      <p:sp>
        <p:nvSpPr>
          <p:cNvPr id="11321" name="Rectangle 57"/>
          <p:cNvSpPr>
            <a:spLocks noChangeArrowheads="1"/>
          </p:cNvSpPr>
          <p:nvPr/>
        </p:nvSpPr>
        <p:spPr bwMode="auto">
          <a:xfrm>
            <a:off x="5851525" y="4144963"/>
            <a:ext cx="30654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i="1">
                <a:solidFill>
                  <a:srgbClr val="000000"/>
                </a:solidFill>
                <a:sym typeface="Symbol" pitchFamily="18" charset="2"/>
              </a:rPr>
              <a:t></a:t>
            </a:r>
            <a:r>
              <a:rPr lang="en-US" altLang="zh-CN" sz="3200" b="1" i="1" baseline="-25000">
                <a:solidFill>
                  <a:srgbClr val="000000"/>
                </a:solidFill>
              </a:rPr>
              <a:t>a </a:t>
            </a:r>
            <a:r>
              <a:rPr lang="en-US" altLang="zh-CN" sz="3200" b="1">
                <a:solidFill>
                  <a:srgbClr val="000000"/>
                </a:solidFill>
              </a:rPr>
              <a:t>- </a:t>
            </a:r>
            <a:r>
              <a:rPr lang="en-US" altLang="zh-CN" sz="3200" b="1" i="1">
                <a:solidFill>
                  <a:srgbClr val="000000"/>
                </a:solidFill>
                <a:sym typeface="Symbol" pitchFamily="18" charset="2"/>
              </a:rPr>
              <a:t></a:t>
            </a:r>
            <a:r>
              <a:rPr lang="en-US" altLang="zh-CN" sz="3200" b="1">
                <a:solidFill>
                  <a:srgbClr val="000000"/>
                </a:solidFill>
              </a:rPr>
              <a:t> </a:t>
            </a:r>
            <a:r>
              <a:rPr lang="en-US" altLang="zh-CN" sz="3200" b="1" i="1" baseline="-25000">
                <a:solidFill>
                  <a:srgbClr val="000000"/>
                </a:solidFill>
              </a:rPr>
              <a:t>r</a:t>
            </a:r>
            <a:r>
              <a:rPr lang="en-US" altLang="zh-CN" sz="3200" b="1">
                <a:solidFill>
                  <a:srgbClr val="000000"/>
                </a:solidFill>
              </a:rPr>
              <a:t> = 0.9 </a:t>
            </a:r>
            <a:r>
              <a:rPr lang="en-US" altLang="zh-CN" sz="3200" b="1" i="1">
                <a:solidFill>
                  <a:srgbClr val="000000"/>
                </a:solidFill>
              </a:rPr>
              <a:t>U</a:t>
            </a:r>
            <a:r>
              <a:rPr lang="zh-CN" altLang="en-US" sz="3200" b="1">
                <a:solidFill>
                  <a:srgbClr val="000000"/>
                </a:solidFill>
              </a:rPr>
              <a:t>，</a:t>
            </a:r>
          </a:p>
        </p:txBody>
      </p:sp>
      <p:sp>
        <p:nvSpPr>
          <p:cNvPr id="11322" name="Rectangle 58"/>
          <p:cNvSpPr>
            <a:spLocks noChangeArrowheads="1"/>
          </p:cNvSpPr>
          <p:nvPr/>
        </p:nvSpPr>
        <p:spPr bwMode="auto">
          <a:xfrm>
            <a:off x="5334000" y="5459413"/>
            <a:ext cx="30511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solidFill>
                  <a:srgbClr val="000000"/>
                </a:solidFill>
              </a:rPr>
              <a:t>是减小整个接地</a:t>
            </a:r>
          </a:p>
        </p:txBody>
      </p:sp>
      <p:sp>
        <p:nvSpPr>
          <p:cNvPr id="11323" name="Text Box 59"/>
          <p:cNvSpPr txBox="1">
            <a:spLocks noChangeArrowheads="1"/>
          </p:cNvSpPr>
          <p:nvPr/>
        </p:nvSpPr>
        <p:spPr bwMode="auto">
          <a:xfrm>
            <a:off x="781050" y="152400"/>
            <a:ext cx="6400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/>
              <a:t>讨论分析影响接地电阻的关键。</a:t>
            </a:r>
          </a:p>
        </p:txBody>
      </p:sp>
      <p:sp>
        <p:nvSpPr>
          <p:cNvPr id="11324" name="AutoShape 6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8591550" y="6343650"/>
            <a:ext cx="304800" cy="152400"/>
          </a:xfrm>
          <a:prstGeom prst="actionButtonBeginning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25" name="AutoShape 6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305800" y="3505200"/>
            <a:ext cx="228600" cy="228600"/>
          </a:xfrm>
          <a:prstGeom prst="actionButtonBackPrevious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8599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1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300"/>
                                        <p:tgtEl>
                                          <p:spTgt spid="11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300"/>
                                        <p:tgtEl>
                                          <p:spTgt spid="1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300"/>
                                        <p:tgtEl>
                                          <p:spTgt spid="1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1" grpId="0" autoUpdateAnimBg="0"/>
      <p:bldP spid="11273" grpId="0" autoUpdateAnimBg="0"/>
      <p:bldP spid="11319" grpId="0" autoUpdateAnimBg="0"/>
      <p:bldP spid="11320" grpId="0" autoUpdateAnimBg="0"/>
      <p:bldP spid="11321" grpId="0" autoUpdateAnimBg="0"/>
      <p:bldP spid="11322" grpId="0" autoUpdateAnimBg="0"/>
      <p:bldP spid="11323" grpId="0" autoUpdateAnimBg="0"/>
      <p:bldP spid="113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3" name="Rectangle 2"/>
          <p:cNvSpPr>
            <a:spLocks noGrp="1" noChangeArrowheads="1"/>
          </p:cNvSpPr>
          <p:nvPr>
            <p:ph type="title"/>
          </p:nvPr>
        </p:nvSpPr>
        <p:spPr>
          <a:xfrm>
            <a:off x="71437" y="188640"/>
            <a:ext cx="8162925" cy="762000"/>
          </a:xfrm>
        </p:spPr>
        <p:txBody>
          <a:bodyPr/>
          <a:lstStyle/>
          <a:p>
            <a:pPr algn="just" eaLnBrk="1" hangingPunct="1"/>
            <a:r>
              <a:rPr lang="zh-CN" altLang="en-US" sz="3200" b="1" smtClean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焦耳定律</a:t>
            </a:r>
            <a:r>
              <a:rPr lang="en-US" altLang="zh-CN" sz="3200" b="1" smtClean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——</a:t>
            </a:r>
            <a:r>
              <a:rPr lang="zh-CN" altLang="en-US" sz="3200" b="1" smtClean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电流热效应</a:t>
            </a:r>
            <a:r>
              <a:rPr lang="zh-CN" altLang="en-US" sz="3200" smtClean="0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077200" cy="533400"/>
          </a:xfrm>
        </p:spPr>
        <p:txBody>
          <a:bodyPr/>
          <a:lstStyle/>
          <a:p>
            <a:pPr eaLnBrk="1" hangingPunct="1"/>
            <a:r>
              <a:rPr lang="zh-CN" altLang="en-US" sz="2800" b="1" smtClean="0">
                <a:latin typeface="华文中宋" pitchFamily="2" charset="-122"/>
                <a:ea typeface="华文中宋" pitchFamily="2" charset="-122"/>
              </a:rPr>
              <a:t>电功率</a:t>
            </a:r>
            <a:r>
              <a:rPr lang="zh-CN" altLang="en-US" sz="2800" smtClean="0">
                <a:latin typeface="华文中宋" pitchFamily="2" charset="-122"/>
                <a:ea typeface="华文中宋" pitchFamily="2" charset="-122"/>
              </a:rPr>
              <a:t> ：</a:t>
            </a:r>
            <a:r>
              <a:rPr lang="zh-CN" altLang="en-US" sz="2800" b="1" smtClean="0">
                <a:latin typeface="华文中宋" pitchFamily="2" charset="-122"/>
                <a:ea typeface="华文中宋" pitchFamily="2" charset="-122"/>
              </a:rPr>
              <a:t>电场在单位时间内所做的功</a:t>
            </a:r>
            <a:r>
              <a:rPr lang="zh-CN" altLang="en-US" sz="2800" smtClean="0">
                <a:latin typeface="华文中宋" pitchFamily="2" charset="-122"/>
                <a:ea typeface="华文中宋" pitchFamily="2" charset="-122"/>
              </a:rPr>
              <a:t> </a:t>
            </a:r>
          </a:p>
        </p:txBody>
      </p:sp>
      <p:graphicFrame>
        <p:nvGraphicFramePr>
          <p:cNvPr id="696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8448750"/>
              </p:ext>
            </p:extLst>
          </p:nvPr>
        </p:nvGraphicFramePr>
        <p:xfrm>
          <a:off x="6958013" y="1052736"/>
          <a:ext cx="167640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40" r:id="rId3" imgW="761669" imgH="393529" progId="Equation.3">
                  <p:embed/>
                </p:oleObj>
              </mc:Choice>
              <mc:Fallback>
                <p:oleObj r:id="rId3" imgW="761669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8013" y="1052736"/>
                        <a:ext cx="1676400" cy="8620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8" name="Text Box 6"/>
          <p:cNvSpPr txBox="1">
            <a:spLocks noChangeArrowheads="1"/>
          </p:cNvSpPr>
          <p:nvPr/>
        </p:nvSpPr>
        <p:spPr bwMode="auto">
          <a:xfrm>
            <a:off x="304800" y="2088654"/>
            <a:ext cx="8229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eaLnBrk="1" hangingPunct="1">
              <a:spcBef>
                <a:spcPct val="20000"/>
              </a:spcBef>
              <a:buChar char="•"/>
              <a:defRPr sz="2800" b="1">
                <a:latin typeface="华文中宋" pitchFamily="2" charset="-122"/>
                <a:ea typeface="华文中宋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+mn-lt"/>
                <a:ea typeface="+mn-ea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latin typeface="+mn-lt"/>
                <a:ea typeface="+mn-ea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+mn-lt"/>
                <a:ea typeface="+mn-ea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  <a:ea typeface="+mn-ea"/>
              </a:defRPr>
            </a:lvl9pPr>
          </a:lstStyle>
          <a:p>
            <a:r>
              <a:rPr lang="zh-CN" altLang="en-US"/>
              <a:t>热功率 ：单位时间内电流通过导体时产生的热量</a:t>
            </a:r>
          </a:p>
        </p:txBody>
      </p:sp>
      <p:graphicFrame>
        <p:nvGraphicFramePr>
          <p:cNvPr id="696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5665803"/>
              </p:ext>
            </p:extLst>
          </p:nvPr>
        </p:nvGraphicFramePr>
        <p:xfrm>
          <a:off x="971600" y="2710408"/>
          <a:ext cx="2314575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41" name="Equation" r:id="rId5" imgW="1002960" imgH="419040" progId="Equation.DSMT4">
                  <p:embed/>
                </p:oleObj>
              </mc:Choice>
              <mc:Fallback>
                <p:oleObj name="Equation" r:id="rId5" imgW="10029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2710408"/>
                        <a:ext cx="2314575" cy="9747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7861792"/>
              </p:ext>
            </p:extLst>
          </p:nvPr>
        </p:nvGraphicFramePr>
        <p:xfrm>
          <a:off x="899592" y="3702596"/>
          <a:ext cx="3357563" cy="179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42" name="Equation" r:id="rId7" imgW="1511280" imgH="812520" progId="Equation.DSMT4">
                  <p:embed/>
                </p:oleObj>
              </mc:Choice>
              <mc:Fallback>
                <p:oleObj name="Equation" r:id="rId7" imgW="1511280" imgH="812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3702596"/>
                        <a:ext cx="3357563" cy="1797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Group 59"/>
          <p:cNvGrpSpPr>
            <a:grpSpLocks/>
          </p:cNvGrpSpPr>
          <p:nvPr/>
        </p:nvGrpSpPr>
        <p:grpSpPr bwMode="auto">
          <a:xfrm>
            <a:off x="4346054" y="2586583"/>
            <a:ext cx="4095750" cy="2714625"/>
            <a:chOff x="144" y="594"/>
            <a:chExt cx="2580" cy="1710"/>
          </a:xfrm>
        </p:grpSpPr>
        <p:sp>
          <p:nvSpPr>
            <p:cNvPr id="21" name="Freeform 6"/>
            <p:cNvSpPr>
              <a:spLocks/>
            </p:cNvSpPr>
            <p:nvPr/>
          </p:nvSpPr>
          <p:spPr bwMode="auto">
            <a:xfrm>
              <a:off x="252" y="1680"/>
              <a:ext cx="2352" cy="624"/>
            </a:xfrm>
            <a:custGeom>
              <a:avLst/>
              <a:gdLst>
                <a:gd name="T0" fmla="*/ 0 w 2352"/>
                <a:gd name="T1" fmla="*/ 144 h 432"/>
                <a:gd name="T2" fmla="*/ 960 w 2352"/>
                <a:gd name="T3" fmla="*/ 48 h 432"/>
                <a:gd name="T4" fmla="*/ 2352 w 2352"/>
                <a:gd name="T5" fmla="*/ 432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52" h="432">
                  <a:moveTo>
                    <a:pt x="0" y="144"/>
                  </a:moveTo>
                  <a:cubicBezTo>
                    <a:pt x="284" y="72"/>
                    <a:pt x="568" y="0"/>
                    <a:pt x="960" y="48"/>
                  </a:cubicBezTo>
                  <a:cubicBezTo>
                    <a:pt x="1352" y="96"/>
                    <a:pt x="2120" y="368"/>
                    <a:pt x="2352" y="432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22" name="Freeform 7"/>
            <p:cNvSpPr>
              <a:spLocks/>
            </p:cNvSpPr>
            <p:nvPr/>
          </p:nvSpPr>
          <p:spPr bwMode="auto">
            <a:xfrm>
              <a:off x="300" y="696"/>
              <a:ext cx="2208" cy="344"/>
            </a:xfrm>
            <a:custGeom>
              <a:avLst/>
              <a:gdLst>
                <a:gd name="T0" fmla="*/ 0 w 2208"/>
                <a:gd name="T1" fmla="*/ 336 h 344"/>
                <a:gd name="T2" fmla="*/ 1104 w 2208"/>
                <a:gd name="T3" fmla="*/ 288 h 344"/>
                <a:gd name="T4" fmla="*/ 2208 w 2208"/>
                <a:gd name="T5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08" h="344">
                  <a:moveTo>
                    <a:pt x="0" y="336"/>
                  </a:moveTo>
                  <a:cubicBezTo>
                    <a:pt x="368" y="340"/>
                    <a:pt x="736" y="344"/>
                    <a:pt x="1104" y="288"/>
                  </a:cubicBezTo>
                  <a:cubicBezTo>
                    <a:pt x="1472" y="232"/>
                    <a:pt x="1840" y="116"/>
                    <a:pt x="2208" y="0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23" name="Oval 8" descr="深色上对角线"/>
            <p:cNvSpPr>
              <a:spLocks noChangeArrowheads="1"/>
            </p:cNvSpPr>
            <p:nvPr/>
          </p:nvSpPr>
          <p:spPr bwMode="auto">
            <a:xfrm>
              <a:off x="1500" y="1176"/>
              <a:ext cx="192" cy="432"/>
            </a:xfrm>
            <a:prstGeom prst="ellipse">
              <a:avLst/>
            </a:prstGeom>
            <a:pattFill prst="dkUpDiag">
              <a:fgClr>
                <a:schemeClr val="tx1"/>
              </a:fgClr>
              <a:bgClr>
                <a:srgbClr val="FFFFFF"/>
              </a:bgClr>
            </a:patt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2800"/>
            </a:p>
          </p:txBody>
        </p:sp>
        <p:sp>
          <p:nvSpPr>
            <p:cNvPr id="24" name="Line 9"/>
            <p:cNvSpPr>
              <a:spLocks noChangeShapeType="1"/>
            </p:cNvSpPr>
            <p:nvPr/>
          </p:nvSpPr>
          <p:spPr bwMode="auto">
            <a:xfrm>
              <a:off x="1116" y="1572"/>
              <a:ext cx="480" cy="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25" name="Line 10"/>
            <p:cNvSpPr>
              <a:spLocks noChangeShapeType="1"/>
            </p:cNvSpPr>
            <p:nvPr/>
          </p:nvSpPr>
          <p:spPr bwMode="auto">
            <a:xfrm>
              <a:off x="1596" y="1404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26" name="Freeform 11"/>
            <p:cNvSpPr>
              <a:spLocks/>
            </p:cNvSpPr>
            <p:nvPr/>
          </p:nvSpPr>
          <p:spPr bwMode="auto">
            <a:xfrm>
              <a:off x="1692" y="1416"/>
              <a:ext cx="864" cy="96"/>
            </a:xfrm>
            <a:custGeom>
              <a:avLst/>
              <a:gdLst>
                <a:gd name="T0" fmla="*/ 0 w 864"/>
                <a:gd name="T1" fmla="*/ 0 h 96"/>
                <a:gd name="T2" fmla="*/ 432 w 864"/>
                <a:gd name="T3" fmla="*/ 48 h 96"/>
                <a:gd name="T4" fmla="*/ 864 w 864"/>
                <a:gd name="T5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64" h="96">
                  <a:moveTo>
                    <a:pt x="0" y="0"/>
                  </a:moveTo>
                  <a:cubicBezTo>
                    <a:pt x="144" y="16"/>
                    <a:pt x="288" y="32"/>
                    <a:pt x="432" y="48"/>
                  </a:cubicBezTo>
                  <a:cubicBezTo>
                    <a:pt x="576" y="64"/>
                    <a:pt x="720" y="80"/>
                    <a:pt x="864" y="96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27" name="Line 12"/>
            <p:cNvSpPr>
              <a:spLocks noChangeShapeType="1"/>
            </p:cNvSpPr>
            <p:nvPr/>
          </p:nvSpPr>
          <p:spPr bwMode="auto">
            <a:xfrm>
              <a:off x="1116" y="1368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28" name="Oval 13"/>
            <p:cNvSpPr>
              <a:spLocks noChangeArrowheads="1"/>
            </p:cNvSpPr>
            <p:nvPr/>
          </p:nvSpPr>
          <p:spPr bwMode="auto">
            <a:xfrm>
              <a:off x="1020" y="1140"/>
              <a:ext cx="192" cy="43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2800"/>
            </a:p>
          </p:txBody>
        </p:sp>
        <p:sp>
          <p:nvSpPr>
            <p:cNvPr id="29" name="Rectangle 14"/>
            <p:cNvSpPr>
              <a:spLocks noChangeArrowheads="1"/>
            </p:cNvSpPr>
            <p:nvPr/>
          </p:nvSpPr>
          <p:spPr bwMode="auto">
            <a:xfrm>
              <a:off x="1128" y="1140"/>
              <a:ext cx="192" cy="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30" name="Oval 15"/>
            <p:cNvSpPr>
              <a:spLocks noChangeArrowheads="1"/>
            </p:cNvSpPr>
            <p:nvPr/>
          </p:nvSpPr>
          <p:spPr bwMode="auto">
            <a:xfrm>
              <a:off x="1020" y="1140"/>
              <a:ext cx="192" cy="43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2800"/>
            </a:p>
          </p:txBody>
        </p:sp>
        <p:sp>
          <p:nvSpPr>
            <p:cNvPr id="31" name="Line 16"/>
            <p:cNvSpPr>
              <a:spLocks noChangeShapeType="1"/>
            </p:cNvSpPr>
            <p:nvPr/>
          </p:nvSpPr>
          <p:spPr bwMode="auto">
            <a:xfrm>
              <a:off x="1116" y="1128"/>
              <a:ext cx="480" cy="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32" name="Rectangle 17"/>
            <p:cNvSpPr>
              <a:spLocks noChangeArrowheads="1"/>
            </p:cNvSpPr>
            <p:nvPr/>
          </p:nvSpPr>
          <p:spPr bwMode="auto">
            <a:xfrm>
              <a:off x="1032" y="1272"/>
              <a:ext cx="96" cy="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33" name="Line 18"/>
            <p:cNvSpPr>
              <a:spLocks noChangeShapeType="1"/>
            </p:cNvSpPr>
            <p:nvPr/>
          </p:nvSpPr>
          <p:spPr bwMode="auto">
            <a:xfrm>
              <a:off x="1596" y="1416"/>
              <a:ext cx="38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34" name="Line 19"/>
            <p:cNvSpPr>
              <a:spLocks noChangeShapeType="1"/>
            </p:cNvSpPr>
            <p:nvPr/>
          </p:nvSpPr>
          <p:spPr bwMode="auto">
            <a:xfrm>
              <a:off x="1116" y="1368"/>
              <a:ext cx="384" cy="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35" name="Rectangle 20"/>
            <p:cNvSpPr>
              <a:spLocks noChangeArrowheads="1"/>
            </p:cNvSpPr>
            <p:nvPr/>
          </p:nvSpPr>
          <p:spPr bwMode="auto">
            <a:xfrm>
              <a:off x="348" y="1368"/>
              <a:ext cx="144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36" name="Freeform 21"/>
            <p:cNvSpPr>
              <a:spLocks/>
            </p:cNvSpPr>
            <p:nvPr/>
          </p:nvSpPr>
          <p:spPr bwMode="auto">
            <a:xfrm>
              <a:off x="300" y="1364"/>
              <a:ext cx="720" cy="112"/>
            </a:xfrm>
            <a:custGeom>
              <a:avLst/>
              <a:gdLst>
                <a:gd name="T0" fmla="*/ 0 w 720"/>
                <a:gd name="T1" fmla="*/ 112 h 112"/>
                <a:gd name="T2" fmla="*/ 528 w 720"/>
                <a:gd name="T3" fmla="*/ 16 h 112"/>
                <a:gd name="T4" fmla="*/ 720 w 720"/>
                <a:gd name="T5" fmla="*/ 16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0" h="112">
                  <a:moveTo>
                    <a:pt x="0" y="112"/>
                  </a:moveTo>
                  <a:cubicBezTo>
                    <a:pt x="204" y="72"/>
                    <a:pt x="408" y="32"/>
                    <a:pt x="528" y="16"/>
                  </a:cubicBezTo>
                  <a:cubicBezTo>
                    <a:pt x="648" y="0"/>
                    <a:pt x="684" y="8"/>
                    <a:pt x="720" y="16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37" name="Oval 22" descr="深色上对角线"/>
            <p:cNvSpPr>
              <a:spLocks noChangeArrowheads="1"/>
            </p:cNvSpPr>
            <p:nvPr/>
          </p:nvSpPr>
          <p:spPr bwMode="auto">
            <a:xfrm>
              <a:off x="288" y="1032"/>
              <a:ext cx="288" cy="768"/>
            </a:xfrm>
            <a:prstGeom prst="ellipse">
              <a:avLst/>
            </a:prstGeom>
            <a:pattFill prst="dkUpDiag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38" name="Line 23"/>
            <p:cNvSpPr>
              <a:spLocks noChangeShapeType="1"/>
            </p:cNvSpPr>
            <p:nvPr/>
          </p:nvSpPr>
          <p:spPr bwMode="auto">
            <a:xfrm>
              <a:off x="444" y="1416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39" name="Line 24"/>
            <p:cNvSpPr>
              <a:spLocks noChangeShapeType="1"/>
            </p:cNvSpPr>
            <p:nvPr/>
          </p:nvSpPr>
          <p:spPr bwMode="auto">
            <a:xfrm flipH="1">
              <a:off x="144" y="1416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40" name="Text Box 25"/>
            <p:cNvSpPr txBox="1">
              <a:spLocks noChangeArrowheads="1"/>
            </p:cNvSpPr>
            <p:nvPr/>
          </p:nvSpPr>
          <p:spPr bwMode="auto">
            <a:xfrm>
              <a:off x="312" y="1764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I</a:t>
              </a:r>
            </a:p>
          </p:txBody>
        </p:sp>
        <p:grpSp>
          <p:nvGrpSpPr>
            <p:cNvPr id="41" name="Group 26"/>
            <p:cNvGrpSpPr>
              <a:grpSpLocks/>
            </p:cNvGrpSpPr>
            <p:nvPr/>
          </p:nvGrpSpPr>
          <p:grpSpPr bwMode="auto">
            <a:xfrm>
              <a:off x="1788" y="1464"/>
              <a:ext cx="288" cy="327"/>
              <a:chOff x="2736" y="2736"/>
              <a:chExt cx="288" cy="327"/>
            </a:xfrm>
          </p:grpSpPr>
          <p:sp>
            <p:nvSpPr>
              <p:cNvPr id="52" name="Text Box 27"/>
              <p:cNvSpPr txBox="1">
                <a:spLocks noChangeArrowheads="1"/>
              </p:cNvSpPr>
              <p:nvPr/>
            </p:nvSpPr>
            <p:spPr bwMode="auto">
              <a:xfrm>
                <a:off x="2736" y="2736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i="1">
                    <a:solidFill>
                      <a:srgbClr val="FF3300"/>
                    </a:solidFill>
                  </a:rPr>
                  <a:t>j</a:t>
                </a:r>
              </a:p>
            </p:txBody>
          </p:sp>
          <p:sp>
            <p:nvSpPr>
              <p:cNvPr id="53" name="Line 28"/>
              <p:cNvSpPr>
                <a:spLocks noChangeShapeType="1"/>
              </p:cNvSpPr>
              <p:nvPr/>
            </p:nvSpPr>
            <p:spPr bwMode="auto">
              <a:xfrm>
                <a:off x="2736" y="2796"/>
                <a:ext cx="192" cy="0"/>
              </a:xfrm>
              <a:prstGeom prst="line">
                <a:avLst/>
              </a:prstGeom>
              <a:noFill/>
              <a:ln w="12700">
                <a:solidFill>
                  <a:srgbClr val="FF3300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p:sp>
          <p:nvSpPr>
            <p:cNvPr id="43" name="Text Box 33"/>
            <p:cNvSpPr txBox="1">
              <a:spLocks noChangeArrowheads="1"/>
            </p:cNvSpPr>
            <p:nvPr/>
          </p:nvSpPr>
          <p:spPr bwMode="auto">
            <a:xfrm>
              <a:off x="1188" y="1521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/>
                <a:t>d</a:t>
              </a:r>
              <a:r>
                <a:rPr lang="en-US" altLang="zh-CN" sz="2800" b="1" i="1"/>
                <a:t>l</a:t>
              </a:r>
            </a:p>
          </p:txBody>
        </p:sp>
        <p:sp>
          <p:nvSpPr>
            <p:cNvPr id="44" name="Text Box 34"/>
            <p:cNvSpPr txBox="1">
              <a:spLocks noChangeArrowheads="1"/>
            </p:cNvSpPr>
            <p:nvPr/>
          </p:nvSpPr>
          <p:spPr bwMode="auto">
            <a:xfrm>
              <a:off x="1440" y="1536"/>
              <a:ext cx="4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/>
                <a:t>d</a:t>
              </a:r>
              <a:r>
                <a:rPr lang="en-US" altLang="zh-CN" sz="2800" b="1" i="1"/>
                <a:t>S</a:t>
              </a:r>
              <a:endParaRPr lang="en-US" altLang="zh-CN" sz="2800" b="1"/>
            </a:p>
          </p:txBody>
        </p:sp>
        <p:sp>
          <p:nvSpPr>
            <p:cNvPr id="45" name="Text Box 35"/>
            <p:cNvSpPr txBox="1">
              <a:spLocks noChangeArrowheads="1"/>
            </p:cNvSpPr>
            <p:nvPr/>
          </p:nvSpPr>
          <p:spPr bwMode="auto">
            <a:xfrm>
              <a:off x="1992" y="1512"/>
              <a:ext cx="732" cy="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/>
                <a:t>电流线</a:t>
              </a:r>
            </a:p>
          </p:txBody>
        </p:sp>
        <p:sp>
          <p:nvSpPr>
            <p:cNvPr id="47" name="Line 54"/>
            <p:cNvSpPr>
              <a:spLocks noChangeShapeType="1"/>
            </p:cNvSpPr>
            <p:nvPr/>
          </p:nvSpPr>
          <p:spPr bwMode="auto">
            <a:xfrm flipV="1">
              <a:off x="1104" y="67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48" name="Line 55"/>
            <p:cNvSpPr>
              <a:spLocks noChangeShapeType="1"/>
            </p:cNvSpPr>
            <p:nvPr/>
          </p:nvSpPr>
          <p:spPr bwMode="auto">
            <a:xfrm flipV="1">
              <a:off x="1596" y="68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49" name="Line 56"/>
            <p:cNvSpPr>
              <a:spLocks noChangeShapeType="1"/>
            </p:cNvSpPr>
            <p:nvPr/>
          </p:nvSpPr>
          <p:spPr bwMode="auto">
            <a:xfrm>
              <a:off x="768" y="768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50" name="Line 57"/>
            <p:cNvSpPr>
              <a:spLocks noChangeShapeType="1"/>
            </p:cNvSpPr>
            <p:nvPr/>
          </p:nvSpPr>
          <p:spPr bwMode="auto">
            <a:xfrm flipH="1">
              <a:off x="1608" y="768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51" name="Rectangle 58"/>
            <p:cNvSpPr>
              <a:spLocks noChangeArrowheads="1"/>
            </p:cNvSpPr>
            <p:nvPr/>
          </p:nvSpPr>
          <p:spPr bwMode="auto">
            <a:xfrm>
              <a:off x="1154" y="594"/>
              <a:ext cx="40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/>
                <a:t>d</a:t>
              </a:r>
              <a:r>
                <a:rPr lang="en-US" altLang="zh-CN" sz="2800" b="1" i="1">
                  <a:sym typeface="Symbol" pitchFamily="18" charset="2"/>
                </a:rPr>
                <a:t>U</a:t>
              </a:r>
            </a:p>
          </p:txBody>
        </p:sp>
      </p:grpSp>
      <p:sp>
        <p:nvSpPr>
          <p:cNvPr id="54" name="Rectangle 3"/>
          <p:cNvSpPr txBox="1">
            <a:spLocks noChangeArrowheads="1"/>
          </p:cNvSpPr>
          <p:nvPr/>
        </p:nvSpPr>
        <p:spPr bwMode="auto">
          <a:xfrm>
            <a:off x="427807" y="5517232"/>
            <a:ext cx="263202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800" b="1" smtClean="0">
                <a:latin typeface="华文中宋" pitchFamily="2" charset="-122"/>
                <a:ea typeface="华文中宋" pitchFamily="2" charset="-122"/>
              </a:rPr>
              <a:t>热功率密度</a:t>
            </a:r>
            <a:endParaRPr lang="zh-CN" altLang="en-US" sz="2800" smtClean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0243598"/>
              </p:ext>
            </p:extLst>
          </p:nvPr>
        </p:nvGraphicFramePr>
        <p:xfrm>
          <a:off x="3072011" y="5517232"/>
          <a:ext cx="1296987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43" name="Equation" r:id="rId9" imgW="583920" imgH="228600" progId="Equation.DSMT4">
                  <p:embed/>
                </p:oleObj>
              </mc:Choice>
              <mc:Fallback>
                <p:oleObj name="Equation" r:id="rId9" imgW="583920" imgH="2286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2011" y="5517232"/>
                        <a:ext cx="1296987" cy="5064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Text Box 10"/>
          <p:cNvSpPr txBox="1">
            <a:spLocks noChangeArrowheads="1"/>
          </p:cNvSpPr>
          <p:nvPr/>
        </p:nvSpPr>
        <p:spPr bwMode="auto">
          <a:xfrm>
            <a:off x="683568" y="6126832"/>
            <a:ext cx="8568952" cy="61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342900" indent="-342900">
              <a:spcBef>
                <a:spcPct val="20000"/>
              </a:spcBef>
              <a:buChar char="•"/>
              <a:defRPr sz="2800" b="1">
                <a:latin typeface="华文中宋" pitchFamily="2" charset="-122"/>
                <a:ea typeface="华文中宋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+mn-lt"/>
                <a:ea typeface="+mn-ea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latin typeface="+mn-lt"/>
                <a:ea typeface="+mn-ea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+mn-lt"/>
                <a:ea typeface="+mn-ea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zh-CN" altLang="en-US"/>
              <a:t>热功率密度与场强的平方成正比</a:t>
            </a:r>
            <a:r>
              <a:rPr lang="zh-CN" altLang="en-US" smtClean="0"/>
              <a:t>，与</a:t>
            </a:r>
            <a:r>
              <a:rPr lang="zh-CN" altLang="en-US"/>
              <a:t>导体形状</a:t>
            </a:r>
            <a:r>
              <a:rPr lang="zh-CN" altLang="en-US" smtClean="0"/>
              <a:t>无关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7895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9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build="p" autoUpdateAnimBg="0"/>
      <p:bldP spid="69638" grpId="0" autoUpdateAnimBg="0"/>
      <p:bldP spid="54" grpId="0" build="p" autoUpdateAnimBg="0"/>
      <p:bldP spid="56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5CF2-A4E9-4C21-8A74-924C620380B0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1905000" y="152400"/>
            <a:ext cx="38481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600" b="1" dirty="0" smtClean="0">
                <a:solidFill>
                  <a:srgbClr val="0000FF"/>
                </a:solidFill>
              </a:rPr>
              <a:t>§3 </a:t>
            </a:r>
            <a:r>
              <a:rPr lang="zh-CN" altLang="en-US" sz="3600" b="1" dirty="0">
                <a:solidFill>
                  <a:srgbClr val="0000FF"/>
                </a:solidFill>
              </a:rPr>
              <a:t>稳恒条件</a:t>
            </a:r>
          </a:p>
        </p:txBody>
      </p:sp>
      <p:sp>
        <p:nvSpPr>
          <p:cNvPr id="6178" name="Text Box 34"/>
          <p:cNvSpPr txBox="1">
            <a:spLocks noChangeArrowheads="1"/>
          </p:cNvSpPr>
          <p:nvPr/>
        </p:nvSpPr>
        <p:spPr bwMode="auto">
          <a:xfrm>
            <a:off x="179512" y="1668258"/>
            <a:ext cx="38884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smtClean="0">
                <a:solidFill>
                  <a:srgbClr val="000000"/>
                </a:solidFill>
              </a:rPr>
              <a:t>空间任意闭合</a:t>
            </a:r>
            <a:r>
              <a:rPr lang="zh-CN" altLang="en-US" sz="2800" b="1" dirty="0" smtClean="0">
                <a:solidFill>
                  <a:srgbClr val="000000"/>
                </a:solidFill>
              </a:rPr>
              <a:t>曲面 </a:t>
            </a:r>
            <a:r>
              <a:rPr lang="en-US" altLang="zh-CN" sz="2800" b="1" i="1" dirty="0" smtClean="0">
                <a:solidFill>
                  <a:srgbClr val="000000"/>
                </a:solidFill>
              </a:rPr>
              <a:t>S </a:t>
            </a:r>
            <a:endParaRPr lang="zh-CN" altLang="en-US" sz="2800" b="1" dirty="0">
              <a:solidFill>
                <a:srgbClr val="000000"/>
              </a:solidFill>
            </a:endParaRPr>
          </a:p>
        </p:txBody>
      </p:sp>
      <p:graphicFrame>
        <p:nvGraphicFramePr>
          <p:cNvPr id="4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596629"/>
              </p:ext>
            </p:extLst>
          </p:nvPr>
        </p:nvGraphicFramePr>
        <p:xfrm>
          <a:off x="641350" y="3903663"/>
          <a:ext cx="147637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00" name="Equation" r:id="rId3" imgW="609480" imgH="241200" progId="Equation.DSMT4">
                  <p:embed/>
                </p:oleObj>
              </mc:Choice>
              <mc:Fallback>
                <p:oleObj name="Equation" r:id="rId3" imgW="6094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350" y="3903663"/>
                        <a:ext cx="1476375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 Box 8"/>
          <p:cNvSpPr txBox="1">
            <a:spLocks noChangeArrowheads="1"/>
          </p:cNvSpPr>
          <p:nvPr/>
        </p:nvSpPr>
        <p:spPr bwMode="auto">
          <a:xfrm>
            <a:off x="2621165" y="3861048"/>
            <a:ext cx="34307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/>
            <a:r>
              <a:rPr lang="zh-CN" altLang="en-US" sz="2800" dirty="0"/>
              <a:t>有正电荷自该处流出</a:t>
            </a:r>
          </a:p>
        </p:txBody>
      </p:sp>
      <p:sp>
        <p:nvSpPr>
          <p:cNvPr id="42" name="Text Box 10"/>
          <p:cNvSpPr txBox="1">
            <a:spLocks noChangeArrowheads="1"/>
          </p:cNvSpPr>
          <p:nvPr/>
        </p:nvSpPr>
        <p:spPr bwMode="auto">
          <a:xfrm>
            <a:off x="2645891" y="4581128"/>
            <a:ext cx="34307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/>
            <a:r>
              <a:rPr lang="zh-CN" altLang="en-US" sz="2800" dirty="0"/>
              <a:t>有正电荷自该处流入</a:t>
            </a:r>
          </a:p>
        </p:txBody>
      </p:sp>
      <p:graphicFrame>
        <p:nvGraphicFramePr>
          <p:cNvPr id="4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8333518"/>
              </p:ext>
            </p:extLst>
          </p:nvPr>
        </p:nvGraphicFramePr>
        <p:xfrm>
          <a:off x="467544" y="4581128"/>
          <a:ext cx="1636713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01" name="Equation" r:id="rId5" imgW="622080" imgH="241200" progId="Equation.DSMT4">
                  <p:embed/>
                </p:oleObj>
              </mc:Choice>
              <mc:Fallback>
                <p:oleObj name="Equation" r:id="rId5" imgW="6220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4581128"/>
                        <a:ext cx="1636713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" name="组合 44"/>
          <p:cNvGrpSpPr/>
          <p:nvPr/>
        </p:nvGrpSpPr>
        <p:grpSpPr>
          <a:xfrm>
            <a:off x="4605540" y="1126921"/>
            <a:ext cx="4000500" cy="2705100"/>
            <a:chOff x="3405390" y="993571"/>
            <a:chExt cx="4000500" cy="2705100"/>
          </a:xfrm>
        </p:grpSpPr>
        <p:grpSp>
          <p:nvGrpSpPr>
            <p:cNvPr id="46" name="Group 32"/>
            <p:cNvGrpSpPr>
              <a:grpSpLocks/>
            </p:cNvGrpSpPr>
            <p:nvPr/>
          </p:nvGrpSpPr>
          <p:grpSpPr bwMode="auto">
            <a:xfrm>
              <a:off x="3405390" y="1031671"/>
              <a:ext cx="4000500" cy="2667000"/>
              <a:chOff x="228" y="528"/>
              <a:chExt cx="2520" cy="1680"/>
            </a:xfrm>
          </p:grpSpPr>
          <p:sp>
            <p:nvSpPr>
              <p:cNvPr id="63" name="Freeform 7"/>
              <p:cNvSpPr>
                <a:spLocks/>
              </p:cNvSpPr>
              <p:nvPr/>
            </p:nvSpPr>
            <p:spPr bwMode="auto">
              <a:xfrm>
                <a:off x="288" y="528"/>
                <a:ext cx="2304" cy="660"/>
              </a:xfrm>
              <a:custGeom>
                <a:avLst/>
                <a:gdLst>
                  <a:gd name="T0" fmla="*/ 0 w 2304"/>
                  <a:gd name="T1" fmla="*/ 624 h 624"/>
                  <a:gd name="T2" fmla="*/ 576 w 2304"/>
                  <a:gd name="T3" fmla="*/ 288 h 624"/>
                  <a:gd name="T4" fmla="*/ 1056 w 2304"/>
                  <a:gd name="T5" fmla="*/ 96 h 624"/>
                  <a:gd name="T6" fmla="*/ 1632 w 2304"/>
                  <a:gd name="T7" fmla="*/ 0 h 624"/>
                  <a:gd name="T8" fmla="*/ 2304 w 2304"/>
                  <a:gd name="T9" fmla="*/ 96 h 6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04" h="624">
                    <a:moveTo>
                      <a:pt x="0" y="624"/>
                    </a:moveTo>
                    <a:cubicBezTo>
                      <a:pt x="200" y="500"/>
                      <a:pt x="400" y="376"/>
                      <a:pt x="576" y="288"/>
                    </a:cubicBezTo>
                    <a:cubicBezTo>
                      <a:pt x="752" y="200"/>
                      <a:pt x="880" y="144"/>
                      <a:pt x="1056" y="96"/>
                    </a:cubicBezTo>
                    <a:cubicBezTo>
                      <a:pt x="1232" y="48"/>
                      <a:pt x="1424" y="0"/>
                      <a:pt x="1632" y="0"/>
                    </a:cubicBezTo>
                    <a:cubicBezTo>
                      <a:pt x="1840" y="0"/>
                      <a:pt x="2072" y="48"/>
                      <a:pt x="2304" y="96"/>
                    </a:cubicBez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" name="Oval 8" descr="深色上对角线"/>
              <p:cNvSpPr>
                <a:spLocks noChangeArrowheads="1"/>
              </p:cNvSpPr>
              <p:nvPr/>
            </p:nvSpPr>
            <p:spPr bwMode="auto">
              <a:xfrm>
                <a:off x="2316" y="624"/>
                <a:ext cx="432" cy="1560"/>
              </a:xfrm>
              <a:prstGeom prst="ellipse">
                <a:avLst/>
              </a:prstGeom>
              <a:pattFill prst="dkUpDiag">
                <a:fgClr>
                  <a:schemeClr val="tx1"/>
                </a:fgClr>
                <a:bgClr>
                  <a:schemeClr val="bg1"/>
                </a:bgClr>
              </a:patt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" name="Oval 9"/>
              <p:cNvSpPr>
                <a:spLocks noChangeArrowheads="1"/>
              </p:cNvSpPr>
              <p:nvPr/>
            </p:nvSpPr>
            <p:spPr bwMode="auto">
              <a:xfrm>
                <a:off x="228" y="1152"/>
                <a:ext cx="240" cy="91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" name="Rectangle 10"/>
              <p:cNvSpPr>
                <a:spLocks noChangeArrowheads="1"/>
              </p:cNvSpPr>
              <p:nvPr/>
            </p:nvSpPr>
            <p:spPr bwMode="auto">
              <a:xfrm>
                <a:off x="336" y="1176"/>
                <a:ext cx="144" cy="8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7" name="Oval 11"/>
              <p:cNvSpPr>
                <a:spLocks noChangeArrowheads="1"/>
              </p:cNvSpPr>
              <p:nvPr/>
            </p:nvSpPr>
            <p:spPr bwMode="auto">
              <a:xfrm>
                <a:off x="228" y="1152"/>
                <a:ext cx="240" cy="91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" name="Freeform 12"/>
              <p:cNvSpPr>
                <a:spLocks/>
              </p:cNvSpPr>
              <p:nvPr/>
            </p:nvSpPr>
            <p:spPr bwMode="auto">
              <a:xfrm>
                <a:off x="384" y="1608"/>
                <a:ext cx="2160" cy="600"/>
              </a:xfrm>
              <a:custGeom>
                <a:avLst/>
                <a:gdLst>
                  <a:gd name="T0" fmla="*/ 0 w 1968"/>
                  <a:gd name="T1" fmla="*/ 280 h 376"/>
                  <a:gd name="T2" fmla="*/ 480 w 1968"/>
                  <a:gd name="T3" fmla="*/ 40 h 376"/>
                  <a:gd name="T4" fmla="*/ 912 w 1968"/>
                  <a:gd name="T5" fmla="*/ 40 h 376"/>
                  <a:gd name="T6" fmla="*/ 1392 w 1968"/>
                  <a:gd name="T7" fmla="*/ 136 h 376"/>
                  <a:gd name="T8" fmla="*/ 1968 w 1968"/>
                  <a:gd name="T9" fmla="*/ 376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68" h="376">
                    <a:moveTo>
                      <a:pt x="0" y="280"/>
                    </a:moveTo>
                    <a:cubicBezTo>
                      <a:pt x="164" y="180"/>
                      <a:pt x="328" y="80"/>
                      <a:pt x="480" y="40"/>
                    </a:cubicBezTo>
                    <a:cubicBezTo>
                      <a:pt x="632" y="0"/>
                      <a:pt x="760" y="24"/>
                      <a:pt x="912" y="40"/>
                    </a:cubicBezTo>
                    <a:cubicBezTo>
                      <a:pt x="1064" y="56"/>
                      <a:pt x="1216" y="80"/>
                      <a:pt x="1392" y="136"/>
                    </a:cubicBezTo>
                    <a:cubicBezTo>
                      <a:pt x="1568" y="192"/>
                      <a:pt x="1768" y="284"/>
                      <a:pt x="1968" y="376"/>
                    </a:cubicBez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" name="Text Box 13"/>
              <p:cNvSpPr txBox="1">
                <a:spLocks noChangeArrowheads="1"/>
              </p:cNvSpPr>
              <p:nvPr/>
            </p:nvSpPr>
            <p:spPr bwMode="auto">
              <a:xfrm>
                <a:off x="720" y="960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i="1"/>
                  <a:t>I</a:t>
                </a:r>
              </a:p>
            </p:txBody>
          </p:sp>
          <p:sp>
            <p:nvSpPr>
              <p:cNvPr id="70" name="Freeform 6"/>
              <p:cNvSpPr>
                <a:spLocks/>
              </p:cNvSpPr>
              <p:nvPr/>
            </p:nvSpPr>
            <p:spPr bwMode="auto">
              <a:xfrm rot="-915822">
                <a:off x="336" y="1344"/>
                <a:ext cx="876" cy="192"/>
              </a:xfrm>
              <a:custGeom>
                <a:avLst/>
                <a:gdLst>
                  <a:gd name="T0" fmla="*/ 0 w 816"/>
                  <a:gd name="T1" fmla="*/ 192 h 192"/>
                  <a:gd name="T2" fmla="*/ 288 w 816"/>
                  <a:gd name="T3" fmla="*/ 48 h 192"/>
                  <a:gd name="T4" fmla="*/ 816 w 816"/>
                  <a:gd name="T5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6" h="192">
                    <a:moveTo>
                      <a:pt x="0" y="192"/>
                    </a:moveTo>
                    <a:cubicBezTo>
                      <a:pt x="76" y="136"/>
                      <a:pt x="152" y="80"/>
                      <a:pt x="288" y="48"/>
                    </a:cubicBezTo>
                    <a:cubicBezTo>
                      <a:pt x="424" y="16"/>
                      <a:pt x="620" y="8"/>
                      <a:pt x="816" y="0"/>
                    </a:cubicBez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" name="Group 26"/>
            <p:cNvGrpSpPr>
              <a:grpSpLocks/>
            </p:cNvGrpSpPr>
            <p:nvPr/>
          </p:nvGrpSpPr>
          <p:grpSpPr bwMode="auto">
            <a:xfrm>
              <a:off x="5691390" y="993571"/>
              <a:ext cx="914400" cy="800100"/>
              <a:chOff x="1668" y="504"/>
              <a:chExt cx="576" cy="504"/>
            </a:xfrm>
          </p:grpSpPr>
          <p:grpSp>
            <p:nvGrpSpPr>
              <p:cNvPr id="57" name="Group 25"/>
              <p:cNvGrpSpPr>
                <a:grpSpLocks/>
              </p:cNvGrpSpPr>
              <p:nvPr/>
            </p:nvGrpSpPr>
            <p:grpSpPr bwMode="auto">
              <a:xfrm>
                <a:off x="1776" y="720"/>
                <a:ext cx="288" cy="288"/>
                <a:chOff x="1776" y="720"/>
                <a:chExt cx="288" cy="288"/>
              </a:xfrm>
            </p:grpSpPr>
            <p:sp>
              <p:nvSpPr>
                <p:cNvPr id="61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1824" y="720"/>
                  <a:ext cx="240" cy="240"/>
                </a:xfrm>
                <a:prstGeom prst="line">
                  <a:avLst/>
                </a:prstGeom>
                <a:noFill/>
                <a:ln w="28575">
                  <a:solidFill>
                    <a:srgbClr val="FF3300"/>
                  </a:solidFill>
                  <a:round/>
                  <a:headE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Line 20"/>
                <p:cNvSpPr>
                  <a:spLocks noChangeShapeType="1"/>
                </p:cNvSpPr>
                <p:nvPr/>
              </p:nvSpPr>
              <p:spPr bwMode="auto">
                <a:xfrm>
                  <a:off x="1776" y="912"/>
                  <a:ext cx="96" cy="96"/>
                </a:xfrm>
                <a:prstGeom prst="line">
                  <a:avLst/>
                </a:prstGeom>
                <a:noFill/>
                <a:ln w="38100">
                  <a:solidFill>
                    <a:srgbClr val="FF33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Group 24"/>
              <p:cNvGrpSpPr>
                <a:grpSpLocks/>
              </p:cNvGrpSpPr>
              <p:nvPr/>
            </p:nvGrpSpPr>
            <p:grpSpPr bwMode="auto">
              <a:xfrm>
                <a:off x="1668" y="504"/>
                <a:ext cx="576" cy="365"/>
                <a:chOff x="2160" y="2496"/>
                <a:chExt cx="576" cy="365"/>
              </a:xfrm>
            </p:grpSpPr>
            <p:sp>
              <p:nvSpPr>
                <p:cNvPr id="59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2160" y="2496"/>
                  <a:ext cx="576" cy="3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>
                      <a:solidFill>
                        <a:srgbClr val="FF3300"/>
                      </a:solidFill>
                    </a:rPr>
                    <a:t>d</a:t>
                  </a:r>
                  <a:r>
                    <a:rPr lang="en-US" altLang="zh-CN" sz="3200" b="1" i="1">
                      <a:solidFill>
                        <a:srgbClr val="FF3300"/>
                      </a:solidFill>
                    </a:rPr>
                    <a:t>s</a:t>
                  </a:r>
                  <a:endParaRPr lang="en-US" altLang="zh-CN" sz="3200" b="1">
                    <a:solidFill>
                      <a:srgbClr val="FF3300"/>
                    </a:solidFill>
                  </a:endParaRPr>
                </a:p>
              </p:txBody>
            </p:sp>
            <p:sp>
              <p:nvSpPr>
                <p:cNvPr id="60" name="Line 22"/>
                <p:cNvSpPr>
                  <a:spLocks noChangeShapeType="1"/>
                </p:cNvSpPr>
                <p:nvPr/>
              </p:nvSpPr>
              <p:spPr bwMode="auto">
                <a:xfrm>
                  <a:off x="2376" y="2616"/>
                  <a:ext cx="144" cy="0"/>
                </a:xfrm>
                <a:prstGeom prst="line">
                  <a:avLst/>
                </a:prstGeom>
                <a:noFill/>
                <a:ln w="12700">
                  <a:solidFill>
                    <a:srgbClr val="FF3300"/>
                  </a:solidFill>
                  <a:round/>
                  <a:headEnd/>
                  <a:tailEnd type="triangl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48" name="Group 64"/>
            <p:cNvGrpSpPr>
              <a:grpSpLocks/>
            </p:cNvGrpSpPr>
            <p:nvPr/>
          </p:nvGrpSpPr>
          <p:grpSpPr bwMode="auto">
            <a:xfrm>
              <a:off x="5939040" y="1717471"/>
              <a:ext cx="933450" cy="595313"/>
              <a:chOff x="1824" y="1224"/>
              <a:chExt cx="588" cy="375"/>
            </a:xfrm>
          </p:grpSpPr>
          <p:sp>
            <p:nvSpPr>
              <p:cNvPr id="53" name="Line 18"/>
              <p:cNvSpPr>
                <a:spLocks noChangeShapeType="1"/>
              </p:cNvSpPr>
              <p:nvPr/>
            </p:nvSpPr>
            <p:spPr bwMode="auto">
              <a:xfrm>
                <a:off x="1824" y="1224"/>
                <a:ext cx="384" cy="48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54" name="Group 29"/>
              <p:cNvGrpSpPr>
                <a:grpSpLocks/>
              </p:cNvGrpSpPr>
              <p:nvPr/>
            </p:nvGrpSpPr>
            <p:grpSpPr bwMode="auto">
              <a:xfrm>
                <a:off x="1980" y="1272"/>
                <a:ext cx="432" cy="327"/>
                <a:chOff x="2304" y="2400"/>
                <a:chExt cx="432" cy="327"/>
              </a:xfrm>
            </p:grpSpPr>
            <p:sp>
              <p:nvSpPr>
                <p:cNvPr id="55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2304" y="2400"/>
                  <a:ext cx="432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800" b="1" i="1" dirty="0">
                      <a:solidFill>
                        <a:srgbClr val="0000FF"/>
                      </a:solidFill>
                    </a:rPr>
                    <a:t>j</a:t>
                  </a:r>
                </a:p>
              </p:txBody>
            </p:sp>
            <p:sp>
              <p:nvSpPr>
                <p:cNvPr id="56" name="Line 28"/>
                <p:cNvSpPr>
                  <a:spLocks noChangeShapeType="1"/>
                </p:cNvSpPr>
                <p:nvPr/>
              </p:nvSpPr>
              <p:spPr bwMode="auto">
                <a:xfrm>
                  <a:off x="2352" y="2448"/>
                  <a:ext cx="144" cy="0"/>
                </a:xfrm>
                <a:prstGeom prst="line">
                  <a:avLst/>
                </a:prstGeom>
                <a:noFill/>
                <a:ln w="12700">
                  <a:solidFill>
                    <a:srgbClr val="0000FF"/>
                  </a:solidFill>
                  <a:round/>
                  <a:headEnd/>
                  <a:tailEnd type="triangl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49" name="Group 33"/>
            <p:cNvGrpSpPr>
              <a:grpSpLocks/>
            </p:cNvGrpSpPr>
            <p:nvPr/>
          </p:nvGrpSpPr>
          <p:grpSpPr bwMode="auto">
            <a:xfrm>
              <a:off x="4929390" y="1488871"/>
              <a:ext cx="1619250" cy="1281113"/>
              <a:chOff x="1188" y="816"/>
              <a:chExt cx="1020" cy="807"/>
            </a:xfrm>
          </p:grpSpPr>
          <p:sp>
            <p:nvSpPr>
              <p:cNvPr id="51" name="Oval 17"/>
              <p:cNvSpPr>
                <a:spLocks noChangeArrowheads="1"/>
              </p:cNvSpPr>
              <p:nvPr/>
            </p:nvSpPr>
            <p:spPr bwMode="auto">
              <a:xfrm>
                <a:off x="1188" y="816"/>
                <a:ext cx="720" cy="72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" name="Text Box 30"/>
              <p:cNvSpPr txBox="1">
                <a:spLocks noChangeArrowheads="1"/>
              </p:cNvSpPr>
              <p:nvPr/>
            </p:nvSpPr>
            <p:spPr bwMode="auto">
              <a:xfrm>
                <a:off x="1776" y="1296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i="1"/>
                  <a:t>S</a:t>
                </a:r>
              </a:p>
            </p:txBody>
          </p:sp>
        </p:grpSp>
        <p:sp>
          <p:nvSpPr>
            <p:cNvPr id="50" name="Text Box 31"/>
            <p:cNvSpPr txBox="1">
              <a:spLocks noChangeArrowheads="1"/>
            </p:cNvSpPr>
            <p:nvPr/>
          </p:nvSpPr>
          <p:spPr bwMode="auto">
            <a:xfrm>
              <a:off x="5196090" y="1698421"/>
              <a:ext cx="8382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dirty="0"/>
                <a:t>q</a:t>
              </a:r>
              <a:r>
                <a:rPr lang="zh-CN" altLang="en-US" sz="2800" b="1" baseline="-25000" dirty="0"/>
                <a:t>内</a:t>
              </a:r>
              <a:endParaRPr lang="zh-CN" altLang="en-US" sz="2800" b="1" dirty="0"/>
            </a:p>
          </p:txBody>
        </p:sp>
      </p:grpSp>
      <p:graphicFrame>
        <p:nvGraphicFramePr>
          <p:cNvPr id="71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609442"/>
              </p:ext>
            </p:extLst>
          </p:nvPr>
        </p:nvGraphicFramePr>
        <p:xfrm>
          <a:off x="407193" y="5373216"/>
          <a:ext cx="2995613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02" name="Equation" r:id="rId7" imgW="1079280" imgH="457200" progId="Equation.DSMT4">
                  <p:embed/>
                </p:oleObj>
              </mc:Choice>
              <mc:Fallback>
                <p:oleObj name="Equation" r:id="rId7" imgW="10792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193" y="5373216"/>
                        <a:ext cx="2995613" cy="126365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Text Box 37"/>
          <p:cNvSpPr txBox="1">
            <a:spLocks noChangeArrowheads="1"/>
          </p:cNvSpPr>
          <p:nvPr/>
        </p:nvSpPr>
        <p:spPr bwMode="auto">
          <a:xfrm>
            <a:off x="3581379" y="5585867"/>
            <a:ext cx="3505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0000FF"/>
                </a:solidFill>
                <a:latin typeface="Times New Roman"/>
              </a:rPr>
              <a:t>—</a:t>
            </a:r>
            <a:r>
              <a:rPr lang="zh-CN" altLang="en-US" sz="3200" b="1" dirty="0">
                <a:solidFill>
                  <a:srgbClr val="0000FF"/>
                </a:solidFill>
              </a:rPr>
              <a:t>电荷守恒定律</a:t>
            </a:r>
            <a:endParaRPr lang="zh-CN" altLang="en-US" sz="3200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4392713"/>
              </p:ext>
            </p:extLst>
          </p:nvPr>
        </p:nvGraphicFramePr>
        <p:xfrm>
          <a:off x="1046163" y="2659063"/>
          <a:ext cx="923925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03" name="Equation" r:id="rId9" imgW="380880" imgH="241200" progId="Equation.DSMT4">
                  <p:embed/>
                </p:oleObj>
              </mc:Choice>
              <mc:Fallback>
                <p:oleObj name="Equation" r:id="rId9" imgW="38088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6163" y="2659063"/>
                        <a:ext cx="923925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utoUpdateAnimBg="0"/>
      <p:bldP spid="42" grpId="0" autoUpdateAnimBg="0"/>
      <p:bldP spid="7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5CF2-A4E9-4C21-8A74-924C620380B0}" type="slidenum">
              <a:rPr lang="en-US" altLang="zh-CN"/>
              <a:pPr/>
              <a:t>20</a:t>
            </a:fld>
            <a:endParaRPr lang="en-US" altLang="zh-CN"/>
          </a:p>
        </p:txBody>
      </p:sp>
      <p:graphicFrame>
        <p:nvGraphicFramePr>
          <p:cNvPr id="6179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040630"/>
              </p:ext>
            </p:extLst>
          </p:nvPr>
        </p:nvGraphicFramePr>
        <p:xfrm>
          <a:off x="993775" y="242888"/>
          <a:ext cx="3136900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56" name="Equation" r:id="rId3" imgW="1130040" imgH="457200" progId="Equation.DSMT4">
                  <p:embed/>
                </p:oleObj>
              </mc:Choice>
              <mc:Fallback>
                <p:oleObj name="Equation" r:id="rId3" imgW="11300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775" y="242888"/>
                        <a:ext cx="3136900" cy="126365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" name="组合 37"/>
          <p:cNvGrpSpPr/>
          <p:nvPr/>
        </p:nvGrpSpPr>
        <p:grpSpPr>
          <a:xfrm>
            <a:off x="4932040" y="188640"/>
            <a:ext cx="4000500" cy="2705100"/>
            <a:chOff x="3405390" y="993571"/>
            <a:chExt cx="4000500" cy="2705100"/>
          </a:xfrm>
        </p:grpSpPr>
        <p:grpSp>
          <p:nvGrpSpPr>
            <p:cNvPr id="40" name="Group 32"/>
            <p:cNvGrpSpPr>
              <a:grpSpLocks/>
            </p:cNvGrpSpPr>
            <p:nvPr/>
          </p:nvGrpSpPr>
          <p:grpSpPr bwMode="auto">
            <a:xfrm>
              <a:off x="3405390" y="1031671"/>
              <a:ext cx="4000500" cy="2667000"/>
              <a:chOff x="228" y="528"/>
              <a:chExt cx="2520" cy="1680"/>
            </a:xfrm>
          </p:grpSpPr>
          <p:sp>
            <p:nvSpPr>
              <p:cNvPr id="57" name="Freeform 7"/>
              <p:cNvSpPr>
                <a:spLocks/>
              </p:cNvSpPr>
              <p:nvPr/>
            </p:nvSpPr>
            <p:spPr bwMode="auto">
              <a:xfrm>
                <a:off x="288" y="528"/>
                <a:ext cx="2304" cy="660"/>
              </a:xfrm>
              <a:custGeom>
                <a:avLst/>
                <a:gdLst>
                  <a:gd name="T0" fmla="*/ 0 w 2304"/>
                  <a:gd name="T1" fmla="*/ 624 h 624"/>
                  <a:gd name="T2" fmla="*/ 576 w 2304"/>
                  <a:gd name="T3" fmla="*/ 288 h 624"/>
                  <a:gd name="T4" fmla="*/ 1056 w 2304"/>
                  <a:gd name="T5" fmla="*/ 96 h 624"/>
                  <a:gd name="T6" fmla="*/ 1632 w 2304"/>
                  <a:gd name="T7" fmla="*/ 0 h 624"/>
                  <a:gd name="T8" fmla="*/ 2304 w 2304"/>
                  <a:gd name="T9" fmla="*/ 96 h 6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04" h="624">
                    <a:moveTo>
                      <a:pt x="0" y="624"/>
                    </a:moveTo>
                    <a:cubicBezTo>
                      <a:pt x="200" y="500"/>
                      <a:pt x="400" y="376"/>
                      <a:pt x="576" y="288"/>
                    </a:cubicBezTo>
                    <a:cubicBezTo>
                      <a:pt x="752" y="200"/>
                      <a:pt x="880" y="144"/>
                      <a:pt x="1056" y="96"/>
                    </a:cubicBezTo>
                    <a:cubicBezTo>
                      <a:pt x="1232" y="48"/>
                      <a:pt x="1424" y="0"/>
                      <a:pt x="1632" y="0"/>
                    </a:cubicBezTo>
                    <a:cubicBezTo>
                      <a:pt x="1840" y="0"/>
                      <a:pt x="2072" y="48"/>
                      <a:pt x="2304" y="96"/>
                    </a:cubicBez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8" name="Oval 8" descr="深色上对角线"/>
              <p:cNvSpPr>
                <a:spLocks noChangeArrowheads="1"/>
              </p:cNvSpPr>
              <p:nvPr/>
            </p:nvSpPr>
            <p:spPr bwMode="auto">
              <a:xfrm>
                <a:off x="2316" y="624"/>
                <a:ext cx="432" cy="1560"/>
              </a:xfrm>
              <a:prstGeom prst="ellipse">
                <a:avLst/>
              </a:prstGeom>
              <a:pattFill prst="dkUpDiag">
                <a:fgClr>
                  <a:schemeClr val="tx1"/>
                </a:fgClr>
                <a:bgClr>
                  <a:schemeClr val="bg1"/>
                </a:bgClr>
              </a:patt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" name="Oval 9"/>
              <p:cNvSpPr>
                <a:spLocks noChangeArrowheads="1"/>
              </p:cNvSpPr>
              <p:nvPr/>
            </p:nvSpPr>
            <p:spPr bwMode="auto">
              <a:xfrm>
                <a:off x="228" y="1152"/>
                <a:ext cx="240" cy="91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" name="Rectangle 10"/>
              <p:cNvSpPr>
                <a:spLocks noChangeArrowheads="1"/>
              </p:cNvSpPr>
              <p:nvPr/>
            </p:nvSpPr>
            <p:spPr bwMode="auto">
              <a:xfrm>
                <a:off x="336" y="1176"/>
                <a:ext cx="144" cy="8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" name="Oval 11"/>
              <p:cNvSpPr>
                <a:spLocks noChangeArrowheads="1"/>
              </p:cNvSpPr>
              <p:nvPr/>
            </p:nvSpPr>
            <p:spPr bwMode="auto">
              <a:xfrm>
                <a:off x="228" y="1152"/>
                <a:ext cx="240" cy="91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" name="Freeform 12"/>
              <p:cNvSpPr>
                <a:spLocks/>
              </p:cNvSpPr>
              <p:nvPr/>
            </p:nvSpPr>
            <p:spPr bwMode="auto">
              <a:xfrm>
                <a:off x="384" y="1608"/>
                <a:ext cx="2160" cy="600"/>
              </a:xfrm>
              <a:custGeom>
                <a:avLst/>
                <a:gdLst>
                  <a:gd name="T0" fmla="*/ 0 w 1968"/>
                  <a:gd name="T1" fmla="*/ 280 h 376"/>
                  <a:gd name="T2" fmla="*/ 480 w 1968"/>
                  <a:gd name="T3" fmla="*/ 40 h 376"/>
                  <a:gd name="T4" fmla="*/ 912 w 1968"/>
                  <a:gd name="T5" fmla="*/ 40 h 376"/>
                  <a:gd name="T6" fmla="*/ 1392 w 1968"/>
                  <a:gd name="T7" fmla="*/ 136 h 376"/>
                  <a:gd name="T8" fmla="*/ 1968 w 1968"/>
                  <a:gd name="T9" fmla="*/ 376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68" h="376">
                    <a:moveTo>
                      <a:pt x="0" y="280"/>
                    </a:moveTo>
                    <a:cubicBezTo>
                      <a:pt x="164" y="180"/>
                      <a:pt x="328" y="80"/>
                      <a:pt x="480" y="40"/>
                    </a:cubicBezTo>
                    <a:cubicBezTo>
                      <a:pt x="632" y="0"/>
                      <a:pt x="760" y="24"/>
                      <a:pt x="912" y="40"/>
                    </a:cubicBezTo>
                    <a:cubicBezTo>
                      <a:pt x="1064" y="56"/>
                      <a:pt x="1216" y="80"/>
                      <a:pt x="1392" y="136"/>
                    </a:cubicBezTo>
                    <a:cubicBezTo>
                      <a:pt x="1568" y="192"/>
                      <a:pt x="1768" y="284"/>
                      <a:pt x="1968" y="376"/>
                    </a:cubicBez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" name="Text Box 13"/>
              <p:cNvSpPr txBox="1">
                <a:spLocks noChangeArrowheads="1"/>
              </p:cNvSpPr>
              <p:nvPr/>
            </p:nvSpPr>
            <p:spPr bwMode="auto">
              <a:xfrm>
                <a:off x="720" y="960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i="1"/>
                  <a:t>I</a:t>
                </a:r>
              </a:p>
            </p:txBody>
          </p:sp>
          <p:sp>
            <p:nvSpPr>
              <p:cNvPr id="64" name="Freeform 6"/>
              <p:cNvSpPr>
                <a:spLocks/>
              </p:cNvSpPr>
              <p:nvPr/>
            </p:nvSpPr>
            <p:spPr bwMode="auto">
              <a:xfrm rot="-915822">
                <a:off x="336" y="1344"/>
                <a:ext cx="876" cy="192"/>
              </a:xfrm>
              <a:custGeom>
                <a:avLst/>
                <a:gdLst>
                  <a:gd name="T0" fmla="*/ 0 w 816"/>
                  <a:gd name="T1" fmla="*/ 192 h 192"/>
                  <a:gd name="T2" fmla="*/ 288 w 816"/>
                  <a:gd name="T3" fmla="*/ 48 h 192"/>
                  <a:gd name="T4" fmla="*/ 816 w 816"/>
                  <a:gd name="T5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6" h="192">
                    <a:moveTo>
                      <a:pt x="0" y="192"/>
                    </a:moveTo>
                    <a:cubicBezTo>
                      <a:pt x="76" y="136"/>
                      <a:pt x="152" y="80"/>
                      <a:pt x="288" y="48"/>
                    </a:cubicBezTo>
                    <a:cubicBezTo>
                      <a:pt x="424" y="16"/>
                      <a:pt x="620" y="8"/>
                      <a:pt x="816" y="0"/>
                    </a:cubicBez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1" name="Group 26"/>
            <p:cNvGrpSpPr>
              <a:grpSpLocks/>
            </p:cNvGrpSpPr>
            <p:nvPr/>
          </p:nvGrpSpPr>
          <p:grpSpPr bwMode="auto">
            <a:xfrm>
              <a:off x="5691390" y="993571"/>
              <a:ext cx="914400" cy="800100"/>
              <a:chOff x="1668" y="504"/>
              <a:chExt cx="576" cy="504"/>
            </a:xfrm>
          </p:grpSpPr>
          <p:grpSp>
            <p:nvGrpSpPr>
              <p:cNvPr id="51" name="Group 25"/>
              <p:cNvGrpSpPr>
                <a:grpSpLocks/>
              </p:cNvGrpSpPr>
              <p:nvPr/>
            </p:nvGrpSpPr>
            <p:grpSpPr bwMode="auto">
              <a:xfrm>
                <a:off x="1776" y="720"/>
                <a:ext cx="288" cy="288"/>
                <a:chOff x="1776" y="720"/>
                <a:chExt cx="288" cy="288"/>
              </a:xfrm>
            </p:grpSpPr>
            <p:sp>
              <p:nvSpPr>
                <p:cNvPr id="55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1824" y="720"/>
                  <a:ext cx="240" cy="240"/>
                </a:xfrm>
                <a:prstGeom prst="line">
                  <a:avLst/>
                </a:prstGeom>
                <a:noFill/>
                <a:ln w="28575">
                  <a:solidFill>
                    <a:srgbClr val="FF3300"/>
                  </a:solidFill>
                  <a:round/>
                  <a:headE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Line 20"/>
                <p:cNvSpPr>
                  <a:spLocks noChangeShapeType="1"/>
                </p:cNvSpPr>
                <p:nvPr/>
              </p:nvSpPr>
              <p:spPr bwMode="auto">
                <a:xfrm>
                  <a:off x="1776" y="912"/>
                  <a:ext cx="96" cy="96"/>
                </a:xfrm>
                <a:prstGeom prst="line">
                  <a:avLst/>
                </a:prstGeom>
                <a:noFill/>
                <a:ln w="38100">
                  <a:solidFill>
                    <a:srgbClr val="FF33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Group 24"/>
              <p:cNvGrpSpPr>
                <a:grpSpLocks/>
              </p:cNvGrpSpPr>
              <p:nvPr/>
            </p:nvGrpSpPr>
            <p:grpSpPr bwMode="auto">
              <a:xfrm>
                <a:off x="1668" y="504"/>
                <a:ext cx="576" cy="365"/>
                <a:chOff x="2160" y="2496"/>
                <a:chExt cx="576" cy="365"/>
              </a:xfrm>
            </p:grpSpPr>
            <p:sp>
              <p:nvSpPr>
                <p:cNvPr id="53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2160" y="2496"/>
                  <a:ext cx="576" cy="3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>
                      <a:solidFill>
                        <a:srgbClr val="FF3300"/>
                      </a:solidFill>
                    </a:rPr>
                    <a:t>d</a:t>
                  </a:r>
                  <a:r>
                    <a:rPr lang="en-US" altLang="zh-CN" sz="3200" b="1" i="1">
                      <a:solidFill>
                        <a:srgbClr val="FF3300"/>
                      </a:solidFill>
                    </a:rPr>
                    <a:t>s</a:t>
                  </a:r>
                  <a:endParaRPr lang="en-US" altLang="zh-CN" sz="3200" b="1">
                    <a:solidFill>
                      <a:srgbClr val="FF3300"/>
                    </a:solidFill>
                  </a:endParaRPr>
                </a:p>
              </p:txBody>
            </p:sp>
            <p:sp>
              <p:nvSpPr>
                <p:cNvPr id="54" name="Line 22"/>
                <p:cNvSpPr>
                  <a:spLocks noChangeShapeType="1"/>
                </p:cNvSpPr>
                <p:nvPr/>
              </p:nvSpPr>
              <p:spPr bwMode="auto">
                <a:xfrm>
                  <a:off x="2376" y="2616"/>
                  <a:ext cx="144" cy="0"/>
                </a:xfrm>
                <a:prstGeom prst="line">
                  <a:avLst/>
                </a:prstGeom>
                <a:noFill/>
                <a:ln w="12700">
                  <a:solidFill>
                    <a:srgbClr val="FF3300"/>
                  </a:solidFill>
                  <a:round/>
                  <a:headEnd/>
                  <a:tailEnd type="triangl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42" name="Group 64"/>
            <p:cNvGrpSpPr>
              <a:grpSpLocks/>
            </p:cNvGrpSpPr>
            <p:nvPr/>
          </p:nvGrpSpPr>
          <p:grpSpPr bwMode="auto">
            <a:xfrm>
              <a:off x="5939040" y="1717471"/>
              <a:ext cx="933450" cy="595313"/>
              <a:chOff x="1824" y="1224"/>
              <a:chExt cx="588" cy="375"/>
            </a:xfrm>
          </p:grpSpPr>
          <p:sp>
            <p:nvSpPr>
              <p:cNvPr id="47" name="Line 18"/>
              <p:cNvSpPr>
                <a:spLocks noChangeShapeType="1"/>
              </p:cNvSpPr>
              <p:nvPr/>
            </p:nvSpPr>
            <p:spPr bwMode="auto">
              <a:xfrm>
                <a:off x="1824" y="1224"/>
                <a:ext cx="384" cy="48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8" name="Group 29"/>
              <p:cNvGrpSpPr>
                <a:grpSpLocks/>
              </p:cNvGrpSpPr>
              <p:nvPr/>
            </p:nvGrpSpPr>
            <p:grpSpPr bwMode="auto">
              <a:xfrm>
                <a:off x="1980" y="1272"/>
                <a:ext cx="432" cy="327"/>
                <a:chOff x="2304" y="2400"/>
                <a:chExt cx="432" cy="327"/>
              </a:xfrm>
            </p:grpSpPr>
            <p:sp>
              <p:nvSpPr>
                <p:cNvPr id="49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2304" y="2400"/>
                  <a:ext cx="432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800" b="1" i="1" dirty="0">
                      <a:solidFill>
                        <a:srgbClr val="0000FF"/>
                      </a:solidFill>
                    </a:rPr>
                    <a:t>j</a:t>
                  </a:r>
                </a:p>
              </p:txBody>
            </p:sp>
            <p:sp>
              <p:nvSpPr>
                <p:cNvPr id="50" name="Line 28"/>
                <p:cNvSpPr>
                  <a:spLocks noChangeShapeType="1"/>
                </p:cNvSpPr>
                <p:nvPr/>
              </p:nvSpPr>
              <p:spPr bwMode="auto">
                <a:xfrm>
                  <a:off x="2352" y="2448"/>
                  <a:ext cx="144" cy="0"/>
                </a:xfrm>
                <a:prstGeom prst="line">
                  <a:avLst/>
                </a:prstGeom>
                <a:noFill/>
                <a:ln w="12700">
                  <a:solidFill>
                    <a:srgbClr val="0000FF"/>
                  </a:solidFill>
                  <a:round/>
                  <a:headEnd/>
                  <a:tailEnd type="triangl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43" name="Group 33"/>
            <p:cNvGrpSpPr>
              <a:grpSpLocks/>
            </p:cNvGrpSpPr>
            <p:nvPr/>
          </p:nvGrpSpPr>
          <p:grpSpPr bwMode="auto">
            <a:xfrm>
              <a:off x="4929390" y="1488871"/>
              <a:ext cx="1619250" cy="1281113"/>
              <a:chOff x="1188" y="816"/>
              <a:chExt cx="1020" cy="807"/>
            </a:xfrm>
          </p:grpSpPr>
          <p:sp>
            <p:nvSpPr>
              <p:cNvPr id="45" name="Oval 17"/>
              <p:cNvSpPr>
                <a:spLocks noChangeArrowheads="1"/>
              </p:cNvSpPr>
              <p:nvPr/>
            </p:nvSpPr>
            <p:spPr bwMode="auto">
              <a:xfrm>
                <a:off x="1188" y="816"/>
                <a:ext cx="720" cy="72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" name="Text Box 30"/>
              <p:cNvSpPr txBox="1">
                <a:spLocks noChangeArrowheads="1"/>
              </p:cNvSpPr>
              <p:nvPr/>
            </p:nvSpPr>
            <p:spPr bwMode="auto">
              <a:xfrm>
                <a:off x="1776" y="1296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i="1"/>
                  <a:t>S</a:t>
                </a:r>
              </a:p>
            </p:txBody>
          </p:sp>
        </p:grpSp>
        <p:sp>
          <p:nvSpPr>
            <p:cNvPr id="44" name="Text Box 31"/>
            <p:cNvSpPr txBox="1">
              <a:spLocks noChangeArrowheads="1"/>
            </p:cNvSpPr>
            <p:nvPr/>
          </p:nvSpPr>
          <p:spPr bwMode="auto">
            <a:xfrm>
              <a:off x="5196090" y="1698421"/>
              <a:ext cx="8382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q</a:t>
              </a:r>
              <a:r>
                <a:rPr lang="zh-CN" altLang="en-US" sz="2800" b="1" baseline="-25000"/>
                <a:t>内</a:t>
              </a:r>
              <a:endParaRPr lang="zh-CN" altLang="en-US" sz="2800" b="1"/>
            </a:p>
          </p:txBody>
        </p: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8623298"/>
              </p:ext>
            </p:extLst>
          </p:nvPr>
        </p:nvGraphicFramePr>
        <p:xfrm>
          <a:off x="251520" y="1772816"/>
          <a:ext cx="4618037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57" name="Equation" r:id="rId5" imgW="1663560" imgH="393480" progId="Equation.DSMT4">
                  <p:embed/>
                </p:oleObj>
              </mc:Choice>
              <mc:Fallback>
                <p:oleObj name="Equation" r:id="rId5" imgW="1663560" imgH="39348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1772816"/>
                        <a:ext cx="4618037" cy="1089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0504548"/>
              </p:ext>
            </p:extLst>
          </p:nvPr>
        </p:nvGraphicFramePr>
        <p:xfrm>
          <a:off x="539552" y="2996952"/>
          <a:ext cx="2930854" cy="1316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58" name="Equation" r:id="rId7" imgW="875920" imgH="393529" progId="Equation.DSMT4">
                  <p:embed/>
                </p:oleObj>
              </mc:Choice>
              <mc:Fallback>
                <p:oleObj name="Equation" r:id="rId7" imgW="875920" imgH="393529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2996952"/>
                        <a:ext cx="2930854" cy="131693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00B05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TextBox 2"/>
          <p:cNvSpPr txBox="1">
            <a:spLocks noChangeArrowheads="1"/>
          </p:cNvSpPr>
          <p:nvPr/>
        </p:nvSpPr>
        <p:spPr bwMode="auto">
          <a:xfrm>
            <a:off x="4612740" y="3429000"/>
            <a:ext cx="39552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dirty="0"/>
              <a:t>连续性方程的微分形式</a:t>
            </a:r>
          </a:p>
        </p:txBody>
      </p:sp>
      <p:graphicFrame>
        <p:nvGraphicFramePr>
          <p:cNvPr id="68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8868808"/>
              </p:ext>
            </p:extLst>
          </p:nvPr>
        </p:nvGraphicFramePr>
        <p:xfrm>
          <a:off x="539552" y="5301208"/>
          <a:ext cx="1617663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59" name="Equation" r:id="rId9" imgW="571320" imgH="419040" progId="Equation.DSMT4">
                  <p:embed/>
                </p:oleObj>
              </mc:Choice>
              <mc:Fallback>
                <p:oleObj name="Equation" r:id="rId9" imgW="5713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5301208"/>
                        <a:ext cx="1617663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Text Box 42"/>
          <p:cNvSpPr txBox="1">
            <a:spLocks noChangeArrowheads="1"/>
          </p:cNvSpPr>
          <p:nvPr/>
        </p:nvSpPr>
        <p:spPr bwMode="auto">
          <a:xfrm>
            <a:off x="251520" y="4429663"/>
            <a:ext cx="2438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000000"/>
                </a:solidFill>
              </a:rPr>
              <a:t> </a:t>
            </a:r>
            <a:r>
              <a:rPr lang="zh-CN" altLang="en-US" sz="3200" b="1" dirty="0">
                <a:solidFill>
                  <a:srgbClr val="0000FF"/>
                </a:solidFill>
              </a:rPr>
              <a:t>稳恒条件：</a:t>
            </a:r>
            <a:r>
              <a:rPr lang="zh-CN" altLang="en-US" sz="3200" b="1" dirty="0">
                <a:solidFill>
                  <a:srgbClr val="000000"/>
                </a:solidFill>
              </a:rPr>
              <a:t> </a:t>
            </a:r>
          </a:p>
        </p:txBody>
      </p:sp>
      <p:graphicFrame>
        <p:nvGraphicFramePr>
          <p:cNvPr id="70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149768"/>
              </p:ext>
            </p:extLst>
          </p:nvPr>
        </p:nvGraphicFramePr>
        <p:xfrm>
          <a:off x="3630613" y="4471988"/>
          <a:ext cx="2270125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60" name="Equation" r:id="rId11" imgW="799920" imgH="380880" progId="Equation.DSMT4">
                  <p:embed/>
                </p:oleObj>
              </mc:Choice>
              <mc:Fallback>
                <p:oleObj name="Equation" r:id="rId11" imgW="799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0613" y="4471988"/>
                        <a:ext cx="2270125" cy="1074737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Text Box 62"/>
          <p:cNvSpPr txBox="1">
            <a:spLocks noChangeArrowheads="1"/>
          </p:cNvSpPr>
          <p:nvPr/>
        </p:nvSpPr>
        <p:spPr bwMode="auto">
          <a:xfrm>
            <a:off x="6109435" y="4738318"/>
            <a:ext cx="2667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/>
              <a:t>（积分形式）</a:t>
            </a:r>
          </a:p>
        </p:txBody>
      </p:sp>
      <p:graphicFrame>
        <p:nvGraphicFramePr>
          <p:cNvPr id="7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2313174"/>
              </p:ext>
            </p:extLst>
          </p:nvPr>
        </p:nvGraphicFramePr>
        <p:xfrm>
          <a:off x="3691158" y="5805264"/>
          <a:ext cx="165100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61" name="公式" r:id="rId13" imgW="558720" imgH="241200" progId="Equation.3">
                  <p:embed/>
                </p:oleObj>
              </mc:Choice>
              <mc:Fallback>
                <p:oleObj name="公式" r:id="rId13" imgW="55872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1158" y="5805264"/>
                        <a:ext cx="1651000" cy="708025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00B050"/>
                        </a:solidFill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Text Box 10"/>
          <p:cNvSpPr txBox="1">
            <a:spLocks noChangeArrowheads="1"/>
          </p:cNvSpPr>
          <p:nvPr/>
        </p:nvSpPr>
        <p:spPr bwMode="auto">
          <a:xfrm>
            <a:off x="6083896" y="5757738"/>
            <a:ext cx="2667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/>
              <a:t>（微分形式）</a:t>
            </a:r>
          </a:p>
        </p:txBody>
      </p:sp>
    </p:spTree>
    <p:extLst>
      <p:ext uri="{BB962C8B-B14F-4D97-AF65-F5344CB8AC3E}">
        <p14:creationId xmlns:p14="http://schemas.microsoft.com/office/powerpoint/2010/main" val="478515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85800"/>
            <a:ext cx="3869804" cy="580256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b="1" smtClean="0">
                <a:latin typeface="华文中宋" pitchFamily="2" charset="-122"/>
                <a:ea typeface="华文中宋" pitchFamily="2" charset="-122"/>
              </a:rPr>
              <a:t>支路    节点     回路</a:t>
            </a:r>
            <a:endParaRPr lang="zh-CN" altLang="en-US" b="1" smtClean="0">
              <a:solidFill>
                <a:srgbClr val="000080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8" name="Text Box 23"/>
          <p:cNvSpPr txBox="1">
            <a:spLocks noChangeArrowheads="1"/>
          </p:cNvSpPr>
          <p:nvPr/>
        </p:nvSpPr>
        <p:spPr bwMode="auto">
          <a:xfrm>
            <a:off x="495300" y="4028616"/>
            <a:ext cx="3810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0000"/>
                </a:solidFill>
              </a:rPr>
              <a:t>对电路的</a:t>
            </a:r>
            <a:r>
              <a:rPr lang="zh-CN" altLang="en-US" sz="3200" b="1" dirty="0">
                <a:solidFill>
                  <a:srgbClr val="0000FF"/>
                </a:solidFill>
              </a:rPr>
              <a:t>“节点”：</a:t>
            </a:r>
            <a:endParaRPr lang="zh-CN" altLang="en-US" sz="3200" b="1" dirty="0">
              <a:solidFill>
                <a:srgbClr val="000000"/>
              </a:solidFill>
            </a:endParaRPr>
          </a:p>
        </p:txBody>
      </p:sp>
      <p:graphicFrame>
        <p:nvGraphicFramePr>
          <p:cNvPr id="9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5710779"/>
              </p:ext>
            </p:extLst>
          </p:nvPr>
        </p:nvGraphicFramePr>
        <p:xfrm>
          <a:off x="3813125" y="4797152"/>
          <a:ext cx="1498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20" name="公式" r:id="rId3" imgW="558720" imgH="304560" progId="Equation.3">
                  <p:embed/>
                </p:oleObj>
              </mc:Choice>
              <mc:Fallback>
                <p:oleObj name="公式" r:id="rId3" imgW="55872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3125" y="4797152"/>
                        <a:ext cx="1498600" cy="81280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33"/>
          <p:cNvSpPr txBox="1">
            <a:spLocks noChangeArrowheads="1"/>
          </p:cNvSpPr>
          <p:nvPr/>
        </p:nvSpPr>
        <p:spPr bwMode="auto">
          <a:xfrm>
            <a:off x="5800675" y="4893195"/>
            <a:ext cx="175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/>
              <a:t>i </a:t>
            </a:r>
            <a:r>
              <a:rPr lang="en-US" altLang="zh-CN" sz="2800" b="1"/>
              <a:t>=1, 2, </a:t>
            </a:r>
            <a:r>
              <a:rPr lang="en-US" altLang="zh-CN" sz="2800" b="1">
                <a:sym typeface="Symbol" pitchFamily="18" charset="2"/>
              </a:rPr>
              <a:t></a:t>
            </a:r>
            <a:endParaRPr lang="en-US" altLang="zh-CN" sz="2800" b="1"/>
          </a:p>
        </p:txBody>
      </p:sp>
      <p:graphicFrame>
        <p:nvGraphicFramePr>
          <p:cNvPr id="20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9657186"/>
              </p:ext>
            </p:extLst>
          </p:nvPr>
        </p:nvGraphicFramePr>
        <p:xfrm>
          <a:off x="673075" y="4800972"/>
          <a:ext cx="2017713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21" name="公式" r:id="rId5" imgW="711000" imgH="355320" progId="Equation.3">
                  <p:embed/>
                </p:oleObj>
              </mc:Choice>
              <mc:Fallback>
                <p:oleObj name="公式" r:id="rId5" imgW="71100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075" y="4800972"/>
                        <a:ext cx="2017713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Line 42"/>
          <p:cNvSpPr>
            <a:spLocks noChangeShapeType="1"/>
          </p:cNvSpPr>
          <p:nvPr/>
        </p:nvSpPr>
        <p:spPr bwMode="auto">
          <a:xfrm>
            <a:off x="2746325" y="5152752"/>
            <a:ext cx="762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2555776" y="918183"/>
            <a:ext cx="5799980" cy="3096344"/>
            <a:chOff x="2555776" y="918183"/>
            <a:chExt cx="5799980" cy="3096344"/>
          </a:xfrm>
        </p:grpSpPr>
        <p:pic>
          <p:nvPicPr>
            <p:cNvPr id="11268" name="Picture 4" descr="Pict0008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5776" y="918183"/>
              <a:ext cx="5799980" cy="3096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Oval 27"/>
            <p:cNvSpPr>
              <a:spLocks noChangeArrowheads="1"/>
            </p:cNvSpPr>
            <p:nvPr/>
          </p:nvSpPr>
          <p:spPr bwMode="auto">
            <a:xfrm>
              <a:off x="3823345" y="1907369"/>
              <a:ext cx="244800" cy="244662"/>
            </a:xfrm>
            <a:prstGeom prst="ellipse">
              <a:avLst/>
            </a:prstGeom>
            <a:noFill/>
            <a:ln w="38100">
              <a:solidFill>
                <a:srgbClr val="FF33CC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73188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550002" y="6309320"/>
            <a:ext cx="501824" cy="457200"/>
          </a:xfrm>
        </p:spPr>
        <p:txBody>
          <a:bodyPr/>
          <a:lstStyle/>
          <a:p>
            <a:fld id="{0FB43EE0-9C3B-41F2-98AC-911F243F0F52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7193" name="Text Box 25"/>
          <p:cNvSpPr txBox="1">
            <a:spLocks noChangeArrowheads="1"/>
          </p:cNvSpPr>
          <p:nvPr/>
        </p:nvSpPr>
        <p:spPr bwMode="auto">
          <a:xfrm>
            <a:off x="3935413" y="4378424"/>
            <a:ext cx="50292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1905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3810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lvl="2" algn="just"/>
            <a:r>
              <a:rPr lang="en-US" altLang="zh-CN" sz="3200" b="1" dirty="0">
                <a:solidFill>
                  <a:srgbClr val="000000"/>
                </a:solidFill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</a:rPr>
              <a:t>—</a:t>
            </a:r>
            <a:r>
              <a:rPr lang="en-US" altLang="zh-CN" sz="3200" b="1" dirty="0">
                <a:solidFill>
                  <a:srgbClr val="0000FF"/>
                </a:solidFill>
                <a:latin typeface="宋体" pitchFamily="2" charset="-122"/>
              </a:rPr>
              <a:t> </a:t>
            </a:r>
            <a:r>
              <a:rPr lang="zh-CN" altLang="en-US" sz="3200" b="1" dirty="0">
                <a:solidFill>
                  <a:srgbClr val="0000FF"/>
                </a:solidFill>
              </a:rPr>
              <a:t>基尔霍夫第一定律</a:t>
            </a:r>
          </a:p>
          <a:p>
            <a:pPr lvl="2" algn="just"/>
            <a:r>
              <a:rPr lang="zh-CN" altLang="en-US" sz="3200" b="1" dirty="0">
                <a:solidFill>
                  <a:srgbClr val="000000"/>
                </a:solidFill>
              </a:rPr>
              <a:t>   </a:t>
            </a:r>
            <a:r>
              <a:rPr lang="zh-CN" altLang="en-US" sz="3200" b="1" dirty="0">
                <a:solidFill>
                  <a:srgbClr val="FF0000"/>
                </a:solidFill>
              </a:rPr>
              <a:t>（</a:t>
            </a:r>
            <a:r>
              <a:rPr lang="en-US" altLang="zh-CN" sz="3200" b="1" dirty="0">
                <a:solidFill>
                  <a:srgbClr val="FF0000"/>
                </a:solidFill>
              </a:rPr>
              <a:t>Kirchhoff first law</a:t>
            </a:r>
            <a:r>
              <a:rPr lang="zh-CN" altLang="en-US" sz="3200" b="1" dirty="0">
                <a:solidFill>
                  <a:srgbClr val="FF0000"/>
                </a:solidFill>
              </a:rPr>
              <a:t>）</a:t>
            </a:r>
            <a:endParaRPr lang="zh-CN" altLang="en-US" sz="3200" dirty="0"/>
          </a:p>
        </p:txBody>
      </p:sp>
      <p:grpSp>
        <p:nvGrpSpPr>
          <p:cNvPr id="41" name="Group 2"/>
          <p:cNvGrpSpPr>
            <a:grpSpLocks/>
          </p:cNvGrpSpPr>
          <p:nvPr/>
        </p:nvGrpSpPr>
        <p:grpSpPr bwMode="auto">
          <a:xfrm>
            <a:off x="228600" y="4430886"/>
            <a:ext cx="3706813" cy="584200"/>
            <a:chOff x="528" y="2593"/>
            <a:chExt cx="2335" cy="368"/>
          </a:xfrm>
        </p:grpSpPr>
        <p:sp>
          <p:nvSpPr>
            <p:cNvPr id="43" name="AutoShape 3"/>
            <p:cNvSpPr>
              <a:spLocks noChangeArrowheads="1"/>
            </p:cNvSpPr>
            <p:nvPr/>
          </p:nvSpPr>
          <p:spPr bwMode="auto">
            <a:xfrm>
              <a:off x="528" y="2736"/>
              <a:ext cx="528" cy="96"/>
            </a:xfrm>
            <a:prstGeom prst="rightArrow">
              <a:avLst>
                <a:gd name="adj1" fmla="val 50000"/>
                <a:gd name="adj2" fmla="val 13750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Text Box 4"/>
            <p:cNvSpPr txBox="1">
              <a:spLocks noChangeArrowheads="1"/>
            </p:cNvSpPr>
            <p:nvPr/>
          </p:nvSpPr>
          <p:spPr bwMode="auto">
            <a:xfrm>
              <a:off x="1104" y="2593"/>
              <a:ext cx="1759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defTabSz="7620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defTabSz="7620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defTabSz="7620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defTabSz="7620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/>
              <a:r>
                <a:rPr lang="zh-CN" altLang="en-US"/>
                <a:t>节点电流方程</a:t>
              </a:r>
              <a:r>
                <a:rPr lang="en-US" altLang="zh-CN"/>
                <a:t>:</a:t>
              </a:r>
              <a:endParaRPr lang="zh-CN" altLang="en-US" b="0"/>
            </a:p>
          </p:txBody>
        </p:sp>
      </p:grpSp>
      <p:sp>
        <p:nvSpPr>
          <p:cNvPr id="46" name="Text Box 35"/>
          <p:cNvSpPr txBox="1">
            <a:spLocks noChangeArrowheads="1"/>
          </p:cNvSpPr>
          <p:nvPr/>
        </p:nvSpPr>
        <p:spPr bwMode="auto">
          <a:xfrm>
            <a:off x="168002" y="1700808"/>
            <a:ext cx="5181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0000"/>
                </a:solidFill>
              </a:rPr>
              <a:t>规定从节点流出： </a:t>
            </a:r>
            <a:r>
              <a:rPr lang="en-US" altLang="zh-CN" sz="3200" b="1" i="1" dirty="0">
                <a:solidFill>
                  <a:srgbClr val="000000"/>
                </a:solidFill>
              </a:rPr>
              <a:t>I</a:t>
            </a:r>
            <a:r>
              <a:rPr lang="en-US" altLang="zh-CN" sz="3200" b="1" dirty="0">
                <a:solidFill>
                  <a:srgbClr val="000000"/>
                </a:solidFill>
              </a:rPr>
              <a:t> &gt; 0 </a:t>
            </a:r>
            <a:r>
              <a:rPr lang="zh-CN" altLang="en-US" sz="3200" b="1" dirty="0">
                <a:solidFill>
                  <a:srgbClr val="000000"/>
                </a:solidFill>
              </a:rPr>
              <a:t>，</a:t>
            </a:r>
          </a:p>
        </p:txBody>
      </p:sp>
      <p:sp>
        <p:nvSpPr>
          <p:cNvPr id="47" name="Text Box 36"/>
          <p:cNvSpPr txBox="1">
            <a:spLocks noChangeArrowheads="1"/>
          </p:cNvSpPr>
          <p:nvPr/>
        </p:nvSpPr>
        <p:spPr bwMode="auto">
          <a:xfrm>
            <a:off x="4816202" y="1719858"/>
            <a:ext cx="3733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0000"/>
                </a:solidFill>
              </a:rPr>
              <a:t>流入节点：</a:t>
            </a:r>
            <a:r>
              <a:rPr lang="en-US" altLang="zh-CN" sz="3200" b="1" i="1" dirty="0">
                <a:solidFill>
                  <a:srgbClr val="000000"/>
                </a:solidFill>
              </a:rPr>
              <a:t>I</a:t>
            </a:r>
            <a:r>
              <a:rPr lang="en-US" altLang="zh-CN" sz="3200" b="1" dirty="0">
                <a:solidFill>
                  <a:srgbClr val="000000"/>
                </a:solidFill>
              </a:rPr>
              <a:t> &lt; 0 </a:t>
            </a:r>
            <a:r>
              <a:rPr lang="zh-CN" altLang="en-US" sz="3200" b="1" dirty="0">
                <a:solidFill>
                  <a:srgbClr val="000000"/>
                </a:solidFill>
              </a:rPr>
              <a:t>。 </a:t>
            </a:r>
          </a:p>
        </p:txBody>
      </p:sp>
      <p:grpSp>
        <p:nvGrpSpPr>
          <p:cNvPr id="48" name="Group 6"/>
          <p:cNvGrpSpPr>
            <a:grpSpLocks/>
          </p:cNvGrpSpPr>
          <p:nvPr/>
        </p:nvGrpSpPr>
        <p:grpSpPr bwMode="auto">
          <a:xfrm>
            <a:off x="294928" y="2491160"/>
            <a:ext cx="3109913" cy="1585912"/>
            <a:chOff x="3350" y="2922"/>
            <a:chExt cx="1959" cy="999"/>
          </a:xfrm>
        </p:grpSpPr>
        <p:sp>
          <p:nvSpPr>
            <p:cNvPr id="49" name="Oval 7"/>
            <p:cNvSpPr>
              <a:spLocks noChangeArrowheads="1"/>
            </p:cNvSpPr>
            <p:nvPr/>
          </p:nvSpPr>
          <p:spPr bwMode="auto">
            <a:xfrm>
              <a:off x="3984" y="3024"/>
              <a:ext cx="576" cy="57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AutoShape 8"/>
            <p:cNvSpPr>
              <a:spLocks noChangeArrowheads="1"/>
            </p:cNvSpPr>
            <p:nvPr/>
          </p:nvSpPr>
          <p:spPr bwMode="auto">
            <a:xfrm rot="-2142815">
              <a:off x="3600" y="3504"/>
              <a:ext cx="720" cy="96"/>
            </a:xfrm>
            <a:prstGeom prst="rightArrow">
              <a:avLst>
                <a:gd name="adj1" fmla="val 50000"/>
                <a:gd name="adj2" fmla="val 187500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AutoShape 9"/>
            <p:cNvSpPr>
              <a:spLocks noChangeArrowheads="1"/>
            </p:cNvSpPr>
            <p:nvPr/>
          </p:nvSpPr>
          <p:spPr bwMode="auto">
            <a:xfrm rot="2157223">
              <a:off x="3600" y="3120"/>
              <a:ext cx="720" cy="96"/>
            </a:xfrm>
            <a:prstGeom prst="rightArrow">
              <a:avLst>
                <a:gd name="adj1" fmla="val 50000"/>
                <a:gd name="adj2" fmla="val 187500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Line 10"/>
            <p:cNvSpPr>
              <a:spLocks noChangeShapeType="1"/>
            </p:cNvSpPr>
            <p:nvPr/>
          </p:nvSpPr>
          <p:spPr bwMode="auto">
            <a:xfrm flipV="1">
              <a:off x="4272" y="3072"/>
              <a:ext cx="720" cy="288"/>
            </a:xfrm>
            <a:prstGeom prst="line">
              <a:avLst/>
            </a:prstGeom>
            <a:noFill/>
            <a:ln w="76200">
              <a:solidFill>
                <a:srgbClr val="0000CC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Line 11"/>
            <p:cNvSpPr>
              <a:spLocks noChangeShapeType="1"/>
            </p:cNvSpPr>
            <p:nvPr/>
          </p:nvSpPr>
          <p:spPr bwMode="auto">
            <a:xfrm>
              <a:off x="4224" y="3360"/>
              <a:ext cx="816" cy="240"/>
            </a:xfrm>
            <a:prstGeom prst="line">
              <a:avLst/>
            </a:prstGeom>
            <a:noFill/>
            <a:ln w="76200">
              <a:solidFill>
                <a:srgbClr val="0000CC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Text Box 12"/>
            <p:cNvSpPr txBox="1">
              <a:spLocks noChangeArrowheads="1"/>
            </p:cNvSpPr>
            <p:nvPr/>
          </p:nvSpPr>
          <p:spPr bwMode="auto">
            <a:xfrm>
              <a:off x="3600" y="3024"/>
              <a:ext cx="27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defTabSz="7620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defTabSz="7620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defTabSz="7620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defTabSz="7620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/>
              <a:r>
                <a:rPr lang="en-US" altLang="zh-CN" sz="2800" i="1"/>
                <a:t>I</a:t>
              </a:r>
              <a:r>
                <a:rPr lang="en-US" altLang="zh-CN" sz="2800" baseline="-25000"/>
                <a:t>1</a:t>
              </a:r>
              <a:endParaRPr lang="en-US" altLang="zh-CN" sz="2800" b="0"/>
            </a:p>
          </p:txBody>
        </p:sp>
        <p:sp>
          <p:nvSpPr>
            <p:cNvPr id="55" name="Text Box 13"/>
            <p:cNvSpPr txBox="1">
              <a:spLocks noChangeArrowheads="1"/>
            </p:cNvSpPr>
            <p:nvPr/>
          </p:nvSpPr>
          <p:spPr bwMode="auto">
            <a:xfrm>
              <a:off x="3350" y="3594"/>
              <a:ext cx="27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defTabSz="7620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defTabSz="7620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defTabSz="7620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defTabSz="7620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/>
              <a:r>
                <a:rPr lang="en-US" altLang="zh-CN" sz="2800" i="1"/>
                <a:t>I</a:t>
              </a:r>
              <a:r>
                <a:rPr lang="en-US" altLang="zh-CN" sz="2800" baseline="-25000"/>
                <a:t>2</a:t>
              </a:r>
              <a:endParaRPr lang="en-US" altLang="zh-CN" sz="2800" b="0"/>
            </a:p>
          </p:txBody>
        </p:sp>
        <p:sp>
          <p:nvSpPr>
            <p:cNvPr id="56" name="Text Box 14"/>
            <p:cNvSpPr txBox="1">
              <a:spLocks noChangeArrowheads="1"/>
            </p:cNvSpPr>
            <p:nvPr/>
          </p:nvSpPr>
          <p:spPr bwMode="auto">
            <a:xfrm>
              <a:off x="4934" y="2922"/>
              <a:ext cx="27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defTabSz="7620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defTabSz="7620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defTabSz="7620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defTabSz="7620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/>
              <a:r>
                <a:rPr lang="en-US" altLang="zh-CN" sz="2800" i="1"/>
                <a:t>I</a:t>
              </a:r>
              <a:r>
                <a:rPr lang="en-US" altLang="zh-CN" sz="2800" baseline="-25000"/>
                <a:t>3</a:t>
              </a:r>
              <a:endParaRPr lang="en-US" altLang="zh-CN" sz="2800" b="0"/>
            </a:p>
          </p:txBody>
        </p:sp>
        <p:sp>
          <p:nvSpPr>
            <p:cNvPr id="57" name="Text Box 15"/>
            <p:cNvSpPr txBox="1">
              <a:spLocks noChangeArrowheads="1"/>
            </p:cNvSpPr>
            <p:nvPr/>
          </p:nvSpPr>
          <p:spPr bwMode="auto">
            <a:xfrm>
              <a:off x="5030" y="3498"/>
              <a:ext cx="27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defTabSz="7620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defTabSz="7620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defTabSz="7620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defTabSz="7620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/>
              <a:r>
                <a:rPr lang="en-US" altLang="zh-CN" sz="2800" i="1"/>
                <a:t>I</a:t>
              </a:r>
              <a:r>
                <a:rPr lang="en-US" altLang="zh-CN" sz="2800" baseline="-25000"/>
                <a:t>4</a:t>
              </a:r>
              <a:endParaRPr lang="en-US" altLang="zh-CN" sz="2800" b="0"/>
            </a:p>
          </p:txBody>
        </p: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8324810"/>
              </p:ext>
            </p:extLst>
          </p:nvPr>
        </p:nvGraphicFramePr>
        <p:xfrm>
          <a:off x="4248472" y="2757438"/>
          <a:ext cx="2743200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3" name="公式" r:id="rId3" imgW="1028254" imgH="317362" progId="Equation.3">
                  <p:embed/>
                </p:oleObj>
              </mc:Choice>
              <mc:Fallback>
                <p:oleObj name="公式" r:id="rId3" imgW="1028254" imgH="31736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8472" y="2757438"/>
                        <a:ext cx="2743200" cy="842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375634"/>
              </p:ext>
            </p:extLst>
          </p:nvPr>
        </p:nvGraphicFramePr>
        <p:xfrm>
          <a:off x="263451" y="404664"/>
          <a:ext cx="1498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4" name="公式" r:id="rId5" imgW="558720" imgH="304560" progId="Equation.3">
                  <p:embed/>
                </p:oleObj>
              </mc:Choice>
              <mc:Fallback>
                <p:oleObj name="公式" r:id="rId5" imgW="55872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451" y="404664"/>
                        <a:ext cx="1498600" cy="81280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33"/>
          <p:cNvSpPr txBox="1">
            <a:spLocks noChangeArrowheads="1"/>
          </p:cNvSpPr>
          <p:nvPr/>
        </p:nvSpPr>
        <p:spPr bwMode="auto">
          <a:xfrm>
            <a:off x="2251001" y="500707"/>
            <a:ext cx="175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/>
              <a:t>i </a:t>
            </a:r>
            <a:r>
              <a:rPr lang="en-US" altLang="zh-CN" sz="2800" b="1"/>
              <a:t>=1, 2, </a:t>
            </a:r>
            <a:r>
              <a:rPr lang="en-US" altLang="zh-CN" sz="2800" b="1">
                <a:sym typeface="Symbol" pitchFamily="18" charset="2"/>
              </a:rPr>
              <a:t></a:t>
            </a:r>
            <a:endParaRPr lang="en-US" altLang="zh-CN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93" grpId="0"/>
      <p:bldP spid="46" grpId="0"/>
      <p:bldP spid="3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2650282"/>
            <a:ext cx="1905000" cy="457200"/>
          </a:xfrm>
        </p:spPr>
        <p:txBody>
          <a:bodyPr/>
          <a:lstStyle/>
          <a:p>
            <a:fld id="{0FB43EE0-9C3B-41F2-98AC-911F243F0F52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7181" name="Rectangle 13"/>
          <p:cNvSpPr>
            <a:spLocks noChangeArrowheads="1"/>
          </p:cNvSpPr>
          <p:nvPr/>
        </p:nvSpPr>
        <p:spPr bwMode="auto">
          <a:xfrm>
            <a:off x="4972050" y="889745"/>
            <a:ext cx="1905000" cy="52228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/>
          <a:p>
            <a:pPr algn="just"/>
            <a:r>
              <a:rPr lang="zh-CN" altLang="en-US" sz="2800" b="1"/>
              <a:t>必有 </a:t>
            </a:r>
            <a:r>
              <a:rPr lang="en-US" altLang="zh-CN" sz="2800" b="1" i="1"/>
              <a:t>I </a:t>
            </a:r>
            <a:r>
              <a:rPr lang="en-US" altLang="zh-CN" sz="2800" b="1"/>
              <a:t>= 0</a:t>
            </a: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6384925" y="1721595"/>
            <a:ext cx="2035175" cy="1252537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/>
          <a:p>
            <a:pPr algn="just">
              <a:lnSpc>
                <a:spcPct val="120000"/>
              </a:lnSpc>
            </a:pPr>
            <a:r>
              <a:rPr lang="zh-CN" altLang="en-US" sz="2800" b="1"/>
              <a:t>稳恒情况必有   </a:t>
            </a:r>
            <a:r>
              <a:rPr lang="en-US" altLang="zh-CN" sz="2800" b="1" i="1"/>
              <a:t>I</a:t>
            </a:r>
            <a:r>
              <a:rPr lang="zh-CN" altLang="en-US" sz="2800" b="1" baseline="-25000"/>
              <a:t>入</a:t>
            </a:r>
            <a:r>
              <a:rPr lang="en-US" altLang="zh-CN" sz="2800" b="1"/>
              <a:t>= </a:t>
            </a:r>
            <a:r>
              <a:rPr lang="en-US" altLang="zh-CN" sz="2800" b="1" i="1"/>
              <a:t>I</a:t>
            </a:r>
            <a:r>
              <a:rPr lang="zh-CN" altLang="en-US" sz="2800" b="1" baseline="-25000"/>
              <a:t>出</a:t>
            </a:r>
          </a:p>
        </p:txBody>
      </p:sp>
      <p:grpSp>
        <p:nvGrpSpPr>
          <p:cNvPr id="7189" name="Group 21"/>
          <p:cNvGrpSpPr>
            <a:grpSpLocks/>
          </p:cNvGrpSpPr>
          <p:nvPr/>
        </p:nvGrpSpPr>
        <p:grpSpPr bwMode="auto">
          <a:xfrm>
            <a:off x="4743450" y="1480295"/>
            <a:ext cx="1420813" cy="554037"/>
            <a:chOff x="1608" y="1435"/>
            <a:chExt cx="895" cy="349"/>
          </a:xfrm>
        </p:grpSpPr>
        <p:sp>
          <p:nvSpPr>
            <p:cNvPr id="7174" name="Line 6"/>
            <p:cNvSpPr>
              <a:spLocks noChangeShapeType="1"/>
            </p:cNvSpPr>
            <p:nvPr/>
          </p:nvSpPr>
          <p:spPr bwMode="auto">
            <a:xfrm>
              <a:off x="1608" y="1784"/>
              <a:ext cx="89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6" name="Rectangle 8"/>
            <p:cNvSpPr>
              <a:spLocks noChangeArrowheads="1"/>
            </p:cNvSpPr>
            <p:nvPr/>
          </p:nvSpPr>
          <p:spPr bwMode="auto">
            <a:xfrm>
              <a:off x="1889" y="1435"/>
              <a:ext cx="367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/>
            <a:p>
              <a:pPr algn="just"/>
              <a:r>
                <a:rPr lang="en-US" altLang="zh-CN" sz="2800" b="1" i="1"/>
                <a:t>I</a:t>
              </a:r>
              <a:r>
                <a:rPr lang="zh-CN" altLang="en-US" sz="2800" b="1" baseline="-25000"/>
                <a:t>入</a:t>
              </a:r>
              <a:endParaRPr lang="zh-CN" altLang="en-US" sz="2800" b="1"/>
            </a:p>
          </p:txBody>
        </p:sp>
      </p:grpSp>
      <p:grpSp>
        <p:nvGrpSpPr>
          <p:cNvPr id="7190" name="Group 22"/>
          <p:cNvGrpSpPr>
            <a:grpSpLocks/>
          </p:cNvGrpSpPr>
          <p:nvPr/>
        </p:nvGrpSpPr>
        <p:grpSpPr bwMode="auto">
          <a:xfrm>
            <a:off x="4743450" y="2404220"/>
            <a:ext cx="1398588" cy="569912"/>
            <a:chOff x="1608" y="2017"/>
            <a:chExt cx="881" cy="359"/>
          </a:xfrm>
        </p:grpSpPr>
        <p:sp>
          <p:nvSpPr>
            <p:cNvPr id="7175" name="Line 7"/>
            <p:cNvSpPr>
              <a:spLocks noChangeShapeType="1"/>
            </p:cNvSpPr>
            <p:nvPr/>
          </p:nvSpPr>
          <p:spPr bwMode="auto">
            <a:xfrm flipV="1">
              <a:off x="1608" y="2017"/>
              <a:ext cx="8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7" name="Rectangle 9"/>
            <p:cNvSpPr>
              <a:spLocks noChangeArrowheads="1"/>
            </p:cNvSpPr>
            <p:nvPr/>
          </p:nvSpPr>
          <p:spPr bwMode="auto">
            <a:xfrm>
              <a:off x="1902" y="2047"/>
              <a:ext cx="367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/>
            <a:p>
              <a:pPr algn="just"/>
              <a:r>
                <a:rPr lang="en-US" altLang="zh-CN" sz="2800" b="1" i="1"/>
                <a:t>I</a:t>
              </a:r>
              <a:r>
                <a:rPr lang="zh-CN" altLang="en-US" sz="2800" b="1" baseline="-25000"/>
                <a:t>出</a:t>
              </a:r>
              <a:endParaRPr lang="zh-CN" altLang="en-US" sz="2800" b="1"/>
            </a:p>
          </p:txBody>
        </p:sp>
      </p:grpSp>
      <p:sp>
        <p:nvSpPr>
          <p:cNvPr id="7182" name="Line 14"/>
          <p:cNvSpPr>
            <a:spLocks noChangeShapeType="1"/>
          </p:cNvSpPr>
          <p:nvPr/>
        </p:nvSpPr>
        <p:spPr bwMode="auto">
          <a:xfrm flipV="1">
            <a:off x="4914900" y="842120"/>
            <a:ext cx="1677988" cy="793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184" name="Group 16"/>
          <p:cNvGrpSpPr>
            <a:grpSpLocks/>
          </p:cNvGrpSpPr>
          <p:nvPr/>
        </p:nvGrpSpPr>
        <p:grpSpPr bwMode="auto">
          <a:xfrm>
            <a:off x="6610350" y="396032"/>
            <a:ext cx="1393825" cy="996950"/>
            <a:chOff x="2760" y="516"/>
            <a:chExt cx="878" cy="628"/>
          </a:xfrm>
        </p:grpSpPr>
        <p:sp>
          <p:nvSpPr>
            <p:cNvPr id="7179" name="Rectangle 11"/>
            <p:cNvSpPr>
              <a:spLocks noChangeArrowheads="1"/>
            </p:cNvSpPr>
            <p:nvPr/>
          </p:nvSpPr>
          <p:spPr bwMode="auto">
            <a:xfrm>
              <a:off x="2783" y="632"/>
              <a:ext cx="855" cy="5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/>
            <a:p>
              <a:pPr algn="just"/>
              <a:r>
                <a:rPr lang="zh-CN" altLang="en-US" sz="2800" b="1"/>
                <a:t>电路</a:t>
              </a:r>
              <a:r>
                <a:rPr lang="en-US" altLang="zh-CN" sz="2800" b="1"/>
                <a:t>II</a:t>
              </a:r>
            </a:p>
          </p:txBody>
        </p:sp>
        <p:sp>
          <p:nvSpPr>
            <p:cNvPr id="7183" name="Rectangle 15"/>
            <p:cNvSpPr>
              <a:spLocks noChangeArrowheads="1"/>
            </p:cNvSpPr>
            <p:nvPr/>
          </p:nvSpPr>
          <p:spPr bwMode="auto">
            <a:xfrm>
              <a:off x="2760" y="516"/>
              <a:ext cx="768" cy="52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186" name="Group 18"/>
          <p:cNvGrpSpPr>
            <a:grpSpLocks/>
          </p:cNvGrpSpPr>
          <p:nvPr/>
        </p:nvGrpSpPr>
        <p:grpSpPr bwMode="auto">
          <a:xfrm>
            <a:off x="3600450" y="421432"/>
            <a:ext cx="1316038" cy="854075"/>
            <a:chOff x="912" y="564"/>
            <a:chExt cx="829" cy="538"/>
          </a:xfrm>
        </p:grpSpPr>
        <p:sp>
          <p:nvSpPr>
            <p:cNvPr id="7180" name="Rectangle 12"/>
            <p:cNvSpPr>
              <a:spLocks noChangeArrowheads="1"/>
            </p:cNvSpPr>
            <p:nvPr/>
          </p:nvSpPr>
          <p:spPr bwMode="auto">
            <a:xfrm>
              <a:off x="1008" y="660"/>
              <a:ext cx="733" cy="4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/>
            <a:p>
              <a:pPr algn="just"/>
              <a:r>
                <a:rPr lang="zh-CN" altLang="en-US" sz="2800" b="1"/>
                <a:t>电路</a:t>
              </a:r>
              <a:r>
                <a:rPr lang="en-US" altLang="zh-CN" sz="2800" b="1"/>
                <a:t>I</a:t>
              </a:r>
            </a:p>
          </p:txBody>
        </p:sp>
        <p:sp>
          <p:nvSpPr>
            <p:cNvPr id="7185" name="Rectangle 17"/>
            <p:cNvSpPr>
              <a:spLocks noChangeArrowheads="1"/>
            </p:cNvSpPr>
            <p:nvPr/>
          </p:nvSpPr>
          <p:spPr bwMode="auto">
            <a:xfrm>
              <a:off x="912" y="564"/>
              <a:ext cx="816" cy="52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188" name="Group 20"/>
          <p:cNvGrpSpPr>
            <a:grpSpLocks/>
          </p:cNvGrpSpPr>
          <p:nvPr/>
        </p:nvGrpSpPr>
        <p:grpSpPr bwMode="auto">
          <a:xfrm>
            <a:off x="3600450" y="1602532"/>
            <a:ext cx="1160463" cy="1295400"/>
            <a:chOff x="888" y="1512"/>
            <a:chExt cx="731" cy="816"/>
          </a:xfrm>
        </p:grpSpPr>
        <p:sp>
          <p:nvSpPr>
            <p:cNvPr id="7173" name="Rectangle 5"/>
            <p:cNvSpPr>
              <a:spLocks noChangeArrowheads="1"/>
            </p:cNvSpPr>
            <p:nvPr/>
          </p:nvSpPr>
          <p:spPr bwMode="auto">
            <a:xfrm>
              <a:off x="1008" y="1638"/>
              <a:ext cx="611" cy="6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/>
            <a:p>
              <a:pPr algn="just"/>
              <a:r>
                <a:rPr lang="zh-CN" altLang="en-US" sz="2800" b="1"/>
                <a:t>二端</a:t>
              </a:r>
            </a:p>
            <a:p>
              <a:pPr algn="just"/>
              <a:r>
                <a:rPr lang="zh-CN" altLang="en-US" sz="2800" b="1"/>
                <a:t>网络</a:t>
              </a:r>
            </a:p>
          </p:txBody>
        </p:sp>
        <p:sp>
          <p:nvSpPr>
            <p:cNvPr id="7187" name="Rectangle 19"/>
            <p:cNvSpPr>
              <a:spLocks noChangeArrowheads="1"/>
            </p:cNvSpPr>
            <p:nvPr/>
          </p:nvSpPr>
          <p:spPr bwMode="auto">
            <a:xfrm>
              <a:off x="888" y="1512"/>
              <a:ext cx="720" cy="81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212" name="Text Box 44"/>
          <p:cNvSpPr txBox="1">
            <a:spLocks noChangeArrowheads="1"/>
          </p:cNvSpPr>
          <p:nvPr/>
        </p:nvSpPr>
        <p:spPr bwMode="auto">
          <a:xfrm>
            <a:off x="609600" y="116632"/>
            <a:ext cx="2933700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3200" b="1"/>
              <a:t>    </a:t>
            </a:r>
            <a:r>
              <a:rPr lang="zh-CN" altLang="en-US" sz="3200" b="1"/>
              <a:t>由基尔霍夫第一定律可知</a:t>
            </a:r>
          </a:p>
        </p:txBody>
      </p:sp>
      <p:sp>
        <p:nvSpPr>
          <p:cNvPr id="7213" name="Rectangle 45"/>
          <p:cNvSpPr>
            <a:spLocks noChangeArrowheads="1"/>
          </p:cNvSpPr>
          <p:nvPr/>
        </p:nvSpPr>
        <p:spPr bwMode="auto">
          <a:xfrm>
            <a:off x="4933950" y="292845"/>
            <a:ext cx="1619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稳恒情况</a:t>
            </a:r>
          </a:p>
        </p:txBody>
      </p:sp>
      <p:grpSp>
        <p:nvGrpSpPr>
          <p:cNvPr id="24" name="Group 76"/>
          <p:cNvGrpSpPr>
            <a:grpSpLocks/>
          </p:cNvGrpSpPr>
          <p:nvPr/>
        </p:nvGrpSpPr>
        <p:grpSpPr bwMode="auto">
          <a:xfrm>
            <a:off x="552128" y="3345904"/>
            <a:ext cx="1866900" cy="2819400"/>
            <a:chOff x="720" y="2412"/>
            <a:chExt cx="1176" cy="1776"/>
          </a:xfrm>
        </p:grpSpPr>
        <p:sp>
          <p:nvSpPr>
            <p:cNvPr id="25" name="Line 30"/>
            <p:cNvSpPr>
              <a:spLocks noChangeShapeType="1"/>
            </p:cNvSpPr>
            <p:nvPr/>
          </p:nvSpPr>
          <p:spPr bwMode="auto">
            <a:xfrm>
              <a:off x="720" y="3612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31"/>
            <p:cNvSpPr>
              <a:spLocks noChangeShapeType="1"/>
            </p:cNvSpPr>
            <p:nvPr/>
          </p:nvSpPr>
          <p:spPr bwMode="auto">
            <a:xfrm flipV="1">
              <a:off x="720" y="2460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32"/>
            <p:cNvSpPr>
              <a:spLocks noChangeShapeType="1"/>
            </p:cNvSpPr>
            <p:nvPr/>
          </p:nvSpPr>
          <p:spPr bwMode="auto">
            <a:xfrm>
              <a:off x="720" y="2460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33"/>
            <p:cNvSpPr>
              <a:spLocks noChangeShapeType="1"/>
            </p:cNvSpPr>
            <p:nvPr/>
          </p:nvSpPr>
          <p:spPr bwMode="auto">
            <a:xfrm>
              <a:off x="732" y="4188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34"/>
            <p:cNvSpPr>
              <a:spLocks noChangeShapeType="1"/>
            </p:cNvSpPr>
            <p:nvPr/>
          </p:nvSpPr>
          <p:spPr bwMode="auto">
            <a:xfrm>
              <a:off x="1824" y="2460"/>
              <a:ext cx="0" cy="17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Rectangle 35"/>
            <p:cNvSpPr>
              <a:spLocks noChangeArrowheads="1"/>
            </p:cNvSpPr>
            <p:nvPr/>
          </p:nvSpPr>
          <p:spPr bwMode="auto">
            <a:xfrm>
              <a:off x="1776" y="3036"/>
              <a:ext cx="96" cy="48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43"/>
            <p:cNvSpPr>
              <a:spLocks noChangeShapeType="1"/>
            </p:cNvSpPr>
            <p:nvPr/>
          </p:nvSpPr>
          <p:spPr bwMode="auto">
            <a:xfrm>
              <a:off x="1092" y="2460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Text Box 45"/>
            <p:cNvSpPr txBox="1">
              <a:spLocks noChangeArrowheads="1"/>
            </p:cNvSpPr>
            <p:nvPr/>
          </p:nvSpPr>
          <p:spPr bwMode="auto">
            <a:xfrm>
              <a:off x="1512" y="3084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R</a:t>
              </a:r>
            </a:p>
          </p:txBody>
        </p:sp>
        <p:sp>
          <p:nvSpPr>
            <p:cNvPr id="33" name="Line 46"/>
            <p:cNvSpPr>
              <a:spLocks noChangeShapeType="1"/>
            </p:cNvSpPr>
            <p:nvPr/>
          </p:nvSpPr>
          <p:spPr bwMode="auto">
            <a:xfrm flipH="1">
              <a:off x="1104" y="4188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Text Box 44"/>
            <p:cNvSpPr txBox="1">
              <a:spLocks noChangeArrowheads="1"/>
            </p:cNvSpPr>
            <p:nvPr/>
          </p:nvSpPr>
          <p:spPr bwMode="auto">
            <a:xfrm>
              <a:off x="1140" y="2412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I</a:t>
              </a:r>
            </a:p>
          </p:txBody>
        </p:sp>
      </p:grpSp>
      <p:sp>
        <p:nvSpPr>
          <p:cNvPr id="35" name="Oval 77"/>
          <p:cNvSpPr>
            <a:spLocks noChangeArrowheads="1"/>
          </p:cNvSpPr>
          <p:nvPr/>
        </p:nvSpPr>
        <p:spPr bwMode="auto">
          <a:xfrm>
            <a:off x="323528" y="4088854"/>
            <a:ext cx="533400" cy="685800"/>
          </a:xfrm>
          <a:prstGeom prst="ellipse">
            <a:avLst/>
          </a:prstGeom>
          <a:solidFill>
            <a:schemeClr val="bg1">
              <a:alpha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Oval 91"/>
          <p:cNvSpPr>
            <a:spLocks noChangeArrowheads="1"/>
          </p:cNvSpPr>
          <p:nvPr/>
        </p:nvSpPr>
        <p:spPr bwMode="auto">
          <a:xfrm>
            <a:off x="323528" y="4869904"/>
            <a:ext cx="533400" cy="685800"/>
          </a:xfrm>
          <a:prstGeom prst="ellipse">
            <a:avLst/>
          </a:prstGeom>
          <a:solidFill>
            <a:schemeClr val="bg1">
              <a:alpha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Text Box 19"/>
          <p:cNvSpPr txBox="1">
            <a:spLocks noChangeArrowheads="1"/>
          </p:cNvSpPr>
          <p:nvPr/>
        </p:nvSpPr>
        <p:spPr bwMode="auto">
          <a:xfrm>
            <a:off x="2699792" y="3740915"/>
            <a:ext cx="6158457" cy="559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</a:rPr>
              <a:t>    </a:t>
            </a:r>
            <a:r>
              <a:rPr lang="zh-CN" altLang="en-US" sz="2800" b="1" dirty="0">
                <a:solidFill>
                  <a:srgbClr val="FF0000"/>
                </a:solidFill>
              </a:rPr>
              <a:t>要维持稳恒电流，电路必须闭合</a:t>
            </a:r>
          </a:p>
        </p:txBody>
      </p:sp>
      <p:graphicFrame>
        <p:nvGraphicFramePr>
          <p:cNvPr id="39" name="Object 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4170888"/>
              </p:ext>
            </p:extLst>
          </p:nvPr>
        </p:nvGraphicFramePr>
        <p:xfrm>
          <a:off x="7010400" y="4869160"/>
          <a:ext cx="1498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52" name="公式" r:id="rId3" imgW="558720" imgH="304560" progId="Equation.3">
                  <p:embed/>
                </p:oleObj>
              </mc:Choice>
              <mc:Fallback>
                <p:oleObj name="公式" r:id="rId3" imgW="55872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4869160"/>
                        <a:ext cx="1498600" cy="81280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8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4197148"/>
              </p:ext>
            </p:extLst>
          </p:nvPr>
        </p:nvGraphicFramePr>
        <p:xfrm>
          <a:off x="3516313" y="4797152"/>
          <a:ext cx="2378075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53" name="Equation" r:id="rId5" imgW="838080" imgH="380880" progId="Equation.3">
                  <p:embed/>
                </p:oleObj>
              </mc:Choice>
              <mc:Fallback>
                <p:oleObj name="Equation" r:id="rId5" imgW="83808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6313" y="4797152"/>
                        <a:ext cx="2378075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Line 90"/>
          <p:cNvSpPr>
            <a:spLocks noChangeShapeType="1"/>
          </p:cNvSpPr>
          <p:nvPr/>
        </p:nvSpPr>
        <p:spPr bwMode="auto">
          <a:xfrm>
            <a:off x="5943600" y="5229200"/>
            <a:ext cx="762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8586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7" grpId="0" autoUpdateAnimBg="0"/>
      <p:bldP spid="4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771456" y="6381328"/>
            <a:ext cx="1905000" cy="457200"/>
          </a:xfrm>
        </p:spPr>
        <p:txBody>
          <a:bodyPr/>
          <a:lstStyle/>
          <a:p>
            <a:fld id="{74B7F2AC-6A97-4292-B196-F0B229B6E417}" type="slidenum">
              <a:rPr lang="en-US" altLang="zh-CN"/>
              <a:pPr/>
              <a:t>24</a:t>
            </a:fld>
            <a:endParaRPr lang="en-US" altLang="zh-CN" dirty="0"/>
          </a:p>
        </p:txBody>
      </p:sp>
      <p:graphicFrame>
        <p:nvGraphicFramePr>
          <p:cNvPr id="317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9240549"/>
              </p:ext>
            </p:extLst>
          </p:nvPr>
        </p:nvGraphicFramePr>
        <p:xfrm>
          <a:off x="4191000" y="4206279"/>
          <a:ext cx="2527300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6" name="公式" r:id="rId3" imgW="939600" imgH="355320" progId="Equation.3">
                  <p:embed/>
                </p:oleObj>
              </mc:Choice>
              <mc:Fallback>
                <p:oleObj name="公式" r:id="rId3" imgW="939600" imgH="3553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4206279"/>
                        <a:ext cx="2527300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78" name="Rectangle 34"/>
          <p:cNvSpPr>
            <a:spLocks noChangeArrowheads="1"/>
          </p:cNvSpPr>
          <p:nvPr/>
        </p:nvSpPr>
        <p:spPr bwMode="auto">
          <a:xfrm>
            <a:off x="8229600" y="5044008"/>
            <a:ext cx="593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solidFill>
                  <a:srgbClr val="000000"/>
                </a:solidFill>
              </a:rPr>
              <a:t>才</a:t>
            </a:r>
          </a:p>
        </p:txBody>
      </p:sp>
      <p:sp>
        <p:nvSpPr>
          <p:cNvPr id="31779" name="Rectangle 35"/>
          <p:cNvSpPr>
            <a:spLocks noChangeArrowheads="1"/>
          </p:cNvSpPr>
          <p:nvPr/>
        </p:nvSpPr>
        <p:spPr bwMode="auto">
          <a:xfrm>
            <a:off x="3257550" y="5759971"/>
            <a:ext cx="58959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solidFill>
                  <a:srgbClr val="000000"/>
                </a:solidFill>
              </a:rPr>
              <a:t>能在</a:t>
            </a:r>
            <a:r>
              <a:rPr lang="zh-CN" altLang="en-US" sz="3200" b="1">
                <a:solidFill>
                  <a:srgbClr val="FF3300"/>
                </a:solidFill>
              </a:rPr>
              <a:t>闭合电路</a:t>
            </a:r>
            <a:r>
              <a:rPr lang="zh-CN" altLang="en-US" sz="3200" b="1">
                <a:solidFill>
                  <a:srgbClr val="000000"/>
                </a:solidFill>
              </a:rPr>
              <a:t>中形成稳恒电流。</a:t>
            </a:r>
          </a:p>
        </p:txBody>
      </p:sp>
      <p:grpSp>
        <p:nvGrpSpPr>
          <p:cNvPr id="31780" name="Group 36"/>
          <p:cNvGrpSpPr>
            <a:grpSpLocks/>
          </p:cNvGrpSpPr>
          <p:nvPr/>
        </p:nvGrpSpPr>
        <p:grpSpPr bwMode="auto">
          <a:xfrm>
            <a:off x="3600450" y="5061471"/>
            <a:ext cx="4705350" cy="668337"/>
            <a:chOff x="2268" y="2267"/>
            <a:chExt cx="2964" cy="421"/>
          </a:xfrm>
        </p:grpSpPr>
        <p:sp>
          <p:nvSpPr>
            <p:cNvPr id="31781" name="Text Box 37"/>
            <p:cNvSpPr txBox="1">
              <a:spLocks noChangeArrowheads="1"/>
            </p:cNvSpPr>
            <p:nvPr/>
          </p:nvSpPr>
          <p:spPr bwMode="auto">
            <a:xfrm>
              <a:off x="2268" y="2267"/>
              <a:ext cx="207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3200" b="1">
                  <a:solidFill>
                    <a:srgbClr val="000000"/>
                  </a:solidFill>
                </a:rPr>
                <a:t>必须有</a:t>
              </a:r>
              <a:r>
                <a:rPr lang="zh-CN" altLang="en-US" sz="3200" b="1">
                  <a:solidFill>
                    <a:srgbClr val="FF3300"/>
                  </a:solidFill>
                </a:rPr>
                <a:t>非静电力</a:t>
              </a:r>
              <a:endParaRPr lang="zh-CN" altLang="en-US" sz="3200"/>
            </a:p>
          </p:txBody>
        </p:sp>
        <p:graphicFrame>
          <p:nvGraphicFramePr>
            <p:cNvPr id="31782" name="Object 38"/>
            <p:cNvGraphicFramePr>
              <a:graphicFrameLocks noChangeAspect="1"/>
            </p:cNvGraphicFramePr>
            <p:nvPr/>
          </p:nvGraphicFramePr>
          <p:xfrm>
            <a:off x="4140" y="2292"/>
            <a:ext cx="378" cy="3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37" name="公式" r:id="rId5" imgW="228600" imgH="241200" progId="Equation.3">
                    <p:embed/>
                  </p:oleObj>
                </mc:Choice>
                <mc:Fallback>
                  <p:oleObj name="公式" r:id="rId5" imgW="228600" imgH="241200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0" y="2292"/>
                          <a:ext cx="378" cy="3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83" name="Rectangle 39"/>
            <p:cNvSpPr>
              <a:spLocks noChangeArrowheads="1"/>
            </p:cNvSpPr>
            <p:nvPr/>
          </p:nvSpPr>
          <p:spPr bwMode="auto">
            <a:xfrm>
              <a:off x="4452" y="2268"/>
              <a:ext cx="78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r>
                <a:rPr lang="zh-CN" altLang="en-US" sz="3200" b="1">
                  <a:solidFill>
                    <a:srgbClr val="000000"/>
                  </a:solidFill>
                </a:rPr>
                <a:t>存在，</a:t>
              </a:r>
            </a:p>
          </p:txBody>
        </p:sp>
      </p:grpSp>
      <p:sp>
        <p:nvSpPr>
          <p:cNvPr id="31792" name="Text Box 48"/>
          <p:cNvSpPr txBox="1">
            <a:spLocks noChangeArrowheads="1"/>
          </p:cNvSpPr>
          <p:nvPr/>
        </p:nvSpPr>
        <p:spPr bwMode="auto">
          <a:xfrm>
            <a:off x="3733800" y="3281610"/>
            <a:ext cx="4800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/>
              <a:t>而这不满足</a:t>
            </a:r>
            <a:r>
              <a:rPr lang="en-US" altLang="zh-CN" sz="3200" b="1"/>
              <a:t>(</a:t>
            </a:r>
            <a:r>
              <a:rPr lang="zh-CN" altLang="en-US" sz="3200" b="1"/>
              <a:t>对非超导体）</a:t>
            </a:r>
          </a:p>
        </p:txBody>
      </p:sp>
      <p:sp>
        <p:nvSpPr>
          <p:cNvPr id="31809" name="Text Box 65"/>
          <p:cNvSpPr txBox="1">
            <a:spLocks noChangeArrowheads="1"/>
          </p:cNvSpPr>
          <p:nvPr/>
        </p:nvSpPr>
        <p:spPr bwMode="auto">
          <a:xfrm>
            <a:off x="3962400" y="1652835"/>
            <a:ext cx="42640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 dirty="0"/>
              <a:t>如果只有静电力有问题</a:t>
            </a:r>
          </a:p>
        </p:txBody>
      </p:sp>
      <p:grpSp>
        <p:nvGrpSpPr>
          <p:cNvPr id="31817" name="Group 73"/>
          <p:cNvGrpSpPr>
            <a:grpSpLocks/>
          </p:cNvGrpSpPr>
          <p:nvPr/>
        </p:nvGrpSpPr>
        <p:grpSpPr bwMode="auto">
          <a:xfrm>
            <a:off x="593725" y="1656283"/>
            <a:ext cx="2836863" cy="3311525"/>
            <a:chOff x="374" y="794"/>
            <a:chExt cx="1787" cy="2086"/>
          </a:xfrm>
        </p:grpSpPr>
        <p:grpSp>
          <p:nvGrpSpPr>
            <p:cNvPr id="31811" name="Group 67"/>
            <p:cNvGrpSpPr>
              <a:grpSpLocks/>
            </p:cNvGrpSpPr>
            <p:nvPr/>
          </p:nvGrpSpPr>
          <p:grpSpPr bwMode="auto">
            <a:xfrm>
              <a:off x="374" y="794"/>
              <a:ext cx="1753" cy="2038"/>
              <a:chOff x="374" y="-22"/>
              <a:chExt cx="1753" cy="2038"/>
            </a:xfrm>
          </p:grpSpPr>
          <p:grpSp>
            <p:nvGrpSpPr>
              <p:cNvPr id="31810" name="Group 66"/>
              <p:cNvGrpSpPr>
                <a:grpSpLocks/>
              </p:cNvGrpSpPr>
              <p:nvPr/>
            </p:nvGrpSpPr>
            <p:grpSpPr bwMode="auto">
              <a:xfrm>
                <a:off x="672" y="96"/>
                <a:ext cx="1176" cy="1776"/>
                <a:chOff x="672" y="96"/>
                <a:chExt cx="1176" cy="1776"/>
              </a:xfrm>
            </p:grpSpPr>
            <p:sp>
              <p:nvSpPr>
                <p:cNvPr id="31796" name="Line 52"/>
                <p:cNvSpPr>
                  <a:spLocks noChangeShapeType="1"/>
                </p:cNvSpPr>
                <p:nvPr/>
              </p:nvSpPr>
              <p:spPr bwMode="auto">
                <a:xfrm>
                  <a:off x="672" y="144"/>
                  <a:ext cx="110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797" name="Line 53"/>
                <p:cNvSpPr>
                  <a:spLocks noChangeShapeType="1"/>
                </p:cNvSpPr>
                <p:nvPr/>
              </p:nvSpPr>
              <p:spPr bwMode="auto">
                <a:xfrm>
                  <a:off x="684" y="1872"/>
                  <a:ext cx="110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798" name="Line 54"/>
                <p:cNvSpPr>
                  <a:spLocks noChangeShapeType="1"/>
                </p:cNvSpPr>
                <p:nvPr/>
              </p:nvSpPr>
              <p:spPr bwMode="auto">
                <a:xfrm>
                  <a:off x="1776" y="144"/>
                  <a:ext cx="0" cy="172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800" name="Line 56"/>
                <p:cNvSpPr>
                  <a:spLocks noChangeShapeType="1"/>
                </p:cNvSpPr>
                <p:nvPr/>
              </p:nvSpPr>
              <p:spPr bwMode="auto">
                <a:xfrm>
                  <a:off x="1044" y="144"/>
                  <a:ext cx="38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801" name="Text Box 57"/>
                <p:cNvSpPr txBox="1">
                  <a:spLocks noChangeArrowheads="1"/>
                </p:cNvSpPr>
                <p:nvPr/>
              </p:nvSpPr>
              <p:spPr bwMode="auto">
                <a:xfrm>
                  <a:off x="1464" y="768"/>
                  <a:ext cx="384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800" b="1" i="1"/>
                    <a:t>R</a:t>
                  </a:r>
                </a:p>
              </p:txBody>
            </p:sp>
            <p:sp>
              <p:nvSpPr>
                <p:cNvPr id="31802" name="Line 58"/>
                <p:cNvSpPr>
                  <a:spLocks noChangeShapeType="1"/>
                </p:cNvSpPr>
                <p:nvPr/>
              </p:nvSpPr>
              <p:spPr bwMode="auto">
                <a:xfrm flipH="1">
                  <a:off x="1056" y="1872"/>
                  <a:ext cx="38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803" name="Text Box 59"/>
                <p:cNvSpPr txBox="1">
                  <a:spLocks noChangeArrowheads="1"/>
                </p:cNvSpPr>
                <p:nvPr/>
              </p:nvSpPr>
              <p:spPr bwMode="auto">
                <a:xfrm>
                  <a:off x="1092" y="96"/>
                  <a:ext cx="384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800" b="1" i="1"/>
                    <a:t>I</a:t>
                  </a:r>
                </a:p>
              </p:txBody>
            </p:sp>
          </p:grpSp>
          <p:sp>
            <p:nvSpPr>
              <p:cNvPr id="31804" name="Line 60"/>
              <p:cNvSpPr>
                <a:spLocks noChangeShapeType="1"/>
              </p:cNvSpPr>
              <p:nvPr/>
            </p:nvSpPr>
            <p:spPr bwMode="auto">
              <a:xfrm>
                <a:off x="672" y="144"/>
                <a:ext cx="0" cy="17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05" name="Text Box 61"/>
              <p:cNvSpPr txBox="1">
                <a:spLocks noChangeArrowheads="1"/>
              </p:cNvSpPr>
              <p:nvPr/>
            </p:nvSpPr>
            <p:spPr bwMode="auto">
              <a:xfrm>
                <a:off x="374" y="-22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/>
                  <a:t>A</a:t>
                </a:r>
              </a:p>
            </p:txBody>
          </p:sp>
          <p:sp>
            <p:nvSpPr>
              <p:cNvPr id="31806" name="Text Box 62"/>
              <p:cNvSpPr txBox="1">
                <a:spLocks noChangeArrowheads="1"/>
              </p:cNvSpPr>
              <p:nvPr/>
            </p:nvSpPr>
            <p:spPr bwMode="auto">
              <a:xfrm>
                <a:off x="1824" y="0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/>
                  <a:t>B</a:t>
                </a:r>
              </a:p>
            </p:txBody>
          </p:sp>
          <p:sp>
            <p:nvSpPr>
              <p:cNvPr id="31807" name="Text Box 63"/>
              <p:cNvSpPr txBox="1">
                <a:spLocks noChangeArrowheads="1"/>
              </p:cNvSpPr>
              <p:nvPr/>
            </p:nvSpPr>
            <p:spPr bwMode="auto">
              <a:xfrm>
                <a:off x="1872" y="1728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/>
                  <a:t>C</a:t>
                </a:r>
              </a:p>
            </p:txBody>
          </p:sp>
          <p:sp>
            <p:nvSpPr>
              <p:cNvPr id="31808" name="Text Box 64"/>
              <p:cNvSpPr txBox="1">
                <a:spLocks noChangeArrowheads="1"/>
              </p:cNvSpPr>
              <p:nvPr/>
            </p:nvSpPr>
            <p:spPr bwMode="auto">
              <a:xfrm>
                <a:off x="384" y="1728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/>
                  <a:t>D</a:t>
                </a:r>
              </a:p>
            </p:txBody>
          </p:sp>
        </p:grpSp>
        <p:sp>
          <p:nvSpPr>
            <p:cNvPr id="31814" name="Oval 70"/>
            <p:cNvSpPr>
              <a:spLocks noChangeArrowheads="1"/>
            </p:cNvSpPr>
            <p:nvPr/>
          </p:nvSpPr>
          <p:spPr bwMode="auto">
            <a:xfrm>
              <a:off x="1440" y="2400"/>
              <a:ext cx="480" cy="480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16" name="Text Box 72"/>
            <p:cNvSpPr txBox="1">
              <a:spLocks noChangeArrowheads="1"/>
            </p:cNvSpPr>
            <p:nvPr/>
          </p:nvSpPr>
          <p:spPr bwMode="auto">
            <a:xfrm>
              <a:off x="1920" y="2160"/>
              <a:ext cx="2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/>
                <a:t>S</a:t>
              </a:r>
            </a:p>
          </p:txBody>
        </p: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6569398"/>
              </p:ext>
            </p:extLst>
          </p:nvPr>
        </p:nvGraphicFramePr>
        <p:xfrm>
          <a:off x="3962400" y="2362721"/>
          <a:ext cx="157480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8" name="公式" r:id="rId7" imgW="558558" imgH="241195" progId="Equation.3">
                  <p:embed/>
                </p:oleObj>
              </mc:Choice>
              <mc:Fallback>
                <p:oleObj name="公式" r:id="rId7" imgW="558558" imgH="241195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362721"/>
                        <a:ext cx="1574800" cy="676275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19"/>
          <p:cNvSpPr txBox="1">
            <a:spLocks noChangeArrowheads="1"/>
          </p:cNvSpPr>
          <p:nvPr/>
        </p:nvSpPr>
        <p:spPr bwMode="auto">
          <a:xfrm>
            <a:off x="203721" y="260648"/>
            <a:ext cx="8760767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smtClean="0">
                <a:solidFill>
                  <a:srgbClr val="FF0000"/>
                </a:solidFill>
              </a:rPr>
              <a:t>要</a:t>
            </a:r>
            <a:r>
              <a:rPr lang="zh-CN" altLang="en-US" sz="2800" b="1" dirty="0">
                <a:solidFill>
                  <a:srgbClr val="FF0000"/>
                </a:solidFill>
              </a:rPr>
              <a:t>维持稳恒电流，电路</a:t>
            </a:r>
            <a:r>
              <a:rPr lang="zh-CN" altLang="en-US" sz="2800" b="1">
                <a:solidFill>
                  <a:srgbClr val="FF0000"/>
                </a:solidFill>
              </a:rPr>
              <a:t>必须</a:t>
            </a:r>
            <a:r>
              <a:rPr lang="zh-CN" altLang="en-US" sz="2800" b="1" smtClean="0">
                <a:solidFill>
                  <a:srgbClr val="FF0000"/>
                </a:solidFill>
              </a:rPr>
              <a:t>闭合</a:t>
            </a:r>
            <a:r>
              <a:rPr lang="en-US" altLang="zh-CN" sz="2800" b="1" smtClean="0">
                <a:solidFill>
                  <a:srgbClr val="FF0000"/>
                </a:solidFill>
              </a:rPr>
              <a:t>, </a:t>
            </a:r>
            <a:r>
              <a:rPr lang="zh-CN" altLang="en-US" sz="2800" b="1" smtClean="0">
                <a:solidFill>
                  <a:srgbClr val="FF0000"/>
                </a:solidFill>
              </a:rPr>
              <a:t>而且必须有非静电力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8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8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8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8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"/>
                                        <p:tgtEl>
                                          <p:spTgt spid="31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7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2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1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300"/>
                                        <p:tgtEl>
                                          <p:spTgt spid="31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300"/>
                                        <p:tgtEl>
                                          <p:spTgt spid="31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78" grpId="0" autoUpdateAnimBg="0"/>
      <p:bldP spid="31779" grpId="0" autoUpdateAnimBg="0"/>
      <p:bldP spid="31792" grpId="0" autoUpdateAnimBg="0"/>
      <p:bldP spid="31809" grpId="0" autoUpdateAnimBg="0"/>
      <p:bldP spid="33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43342" y="6309320"/>
            <a:ext cx="429816" cy="457200"/>
          </a:xfrm>
        </p:spPr>
        <p:txBody>
          <a:bodyPr/>
          <a:lstStyle/>
          <a:p>
            <a:fld id="{22C7D067-9F49-4810-B4EE-3C5E23214B7D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45" name="Text Box 3"/>
          <p:cNvSpPr txBox="1">
            <a:spLocks noChangeArrowheads="1"/>
          </p:cNvSpPr>
          <p:nvPr/>
        </p:nvSpPr>
        <p:spPr bwMode="auto">
          <a:xfrm>
            <a:off x="381000" y="821482"/>
            <a:ext cx="84772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0000FF"/>
                </a:solidFill>
              </a:rPr>
              <a:t>一</a:t>
            </a:r>
            <a:r>
              <a:rPr lang="en-US" altLang="zh-CN" sz="2800" b="1">
                <a:solidFill>
                  <a:srgbClr val="0000FF"/>
                </a:solidFill>
              </a:rPr>
              <a:t>.</a:t>
            </a:r>
            <a:r>
              <a:rPr lang="zh-CN" altLang="en-US" sz="2800" b="1">
                <a:solidFill>
                  <a:srgbClr val="0000FF"/>
                </a:solidFill>
              </a:rPr>
              <a:t>电动势</a:t>
            </a:r>
            <a:r>
              <a:rPr lang="zh-CN" altLang="en-US" sz="2800" b="1">
                <a:solidFill>
                  <a:srgbClr val="FF0000"/>
                </a:solidFill>
              </a:rPr>
              <a:t>（</a:t>
            </a:r>
            <a:r>
              <a:rPr lang="en-US" altLang="zh-CN" sz="2800" b="1">
                <a:solidFill>
                  <a:srgbClr val="FF0000"/>
                </a:solidFill>
              </a:rPr>
              <a:t>electromotive force</a:t>
            </a:r>
            <a:r>
              <a:rPr lang="zh-CN" altLang="en-US" sz="2800" b="1">
                <a:solidFill>
                  <a:srgbClr val="FF0000"/>
                </a:solidFill>
              </a:rPr>
              <a:t>， </a:t>
            </a:r>
            <a:r>
              <a:rPr lang="zh-CN" altLang="en-US" sz="2800" b="1"/>
              <a:t>简写作</a:t>
            </a:r>
            <a:r>
              <a:rPr lang="en-US" altLang="zh-CN" sz="2800" b="1">
                <a:solidFill>
                  <a:srgbClr val="FF0000"/>
                </a:solidFill>
              </a:rPr>
              <a:t>emf</a:t>
            </a:r>
            <a:r>
              <a:rPr lang="zh-CN" altLang="en-US" sz="2800" b="1">
                <a:solidFill>
                  <a:srgbClr val="FF0000"/>
                </a:solidFill>
              </a:rPr>
              <a:t>）</a:t>
            </a:r>
            <a:endParaRPr lang="zh-CN" altLang="en-US" sz="2800"/>
          </a:p>
        </p:txBody>
      </p:sp>
      <p:sp>
        <p:nvSpPr>
          <p:cNvPr id="46" name="Rectangle 27"/>
          <p:cNvSpPr>
            <a:spLocks noChangeArrowheads="1"/>
          </p:cNvSpPr>
          <p:nvPr/>
        </p:nvSpPr>
        <p:spPr bwMode="auto">
          <a:xfrm>
            <a:off x="1568450" y="116632"/>
            <a:ext cx="51149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1" dirty="0">
                <a:solidFill>
                  <a:srgbClr val="0000FF"/>
                </a:solidFill>
              </a:rPr>
              <a:t>§4 </a:t>
            </a:r>
            <a:r>
              <a:rPr lang="zh-CN" altLang="en-US" sz="3600" b="1" dirty="0">
                <a:solidFill>
                  <a:srgbClr val="0000FF"/>
                </a:solidFill>
              </a:rPr>
              <a:t>电动势、温差电现象</a:t>
            </a:r>
          </a:p>
        </p:txBody>
      </p:sp>
      <p:sp>
        <p:nvSpPr>
          <p:cNvPr id="47" name="Text Box 64"/>
          <p:cNvSpPr txBox="1">
            <a:spLocks noChangeArrowheads="1"/>
          </p:cNvSpPr>
          <p:nvPr/>
        </p:nvSpPr>
        <p:spPr bwMode="auto">
          <a:xfrm>
            <a:off x="4687627" y="4090511"/>
            <a:ext cx="2952328" cy="46166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just" eaLnBrk="1" hangingPunct="1">
              <a:defRPr b="1">
                <a:latin typeface="华文中宋" pitchFamily="2" charset="-122"/>
                <a:ea typeface="华文中宋" pitchFamily="2" charset="-122"/>
              </a:defRPr>
            </a:lvl1pPr>
          </a:lstStyle>
          <a:p>
            <a:r>
              <a:rPr lang="zh-CN" altLang="en-US"/>
              <a:t>提供非静电力的</a:t>
            </a:r>
            <a:r>
              <a:rPr lang="zh-CN" altLang="en-US" smtClean="0"/>
              <a:t>装置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412629" y="2249359"/>
            <a:ext cx="55446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b="1" smtClean="0">
                <a:latin typeface="华文中宋" pitchFamily="2" charset="-122"/>
                <a:ea typeface="华文中宋" pitchFamily="2" charset="-122"/>
              </a:rPr>
              <a:t>提供</a:t>
            </a:r>
            <a:r>
              <a:rPr lang="zh-CN" altLang="en-US" b="1">
                <a:latin typeface="华文中宋" pitchFamily="2" charset="-122"/>
                <a:ea typeface="华文中宋" pitchFamily="2" charset="-122"/>
              </a:rPr>
              <a:t>能量</a:t>
            </a:r>
            <a:r>
              <a:rPr lang="zh-CN" altLang="en-US" b="1" smtClean="0">
                <a:latin typeface="华文中宋" pitchFamily="2" charset="-122"/>
                <a:ea typeface="华文中宋" pitchFamily="2" charset="-122"/>
              </a:rPr>
              <a:t>使</a:t>
            </a:r>
            <a:r>
              <a:rPr lang="zh-CN" altLang="en-US" b="1">
                <a:latin typeface="华文中宋" pitchFamily="2" charset="-122"/>
                <a:ea typeface="华文中宋" pitchFamily="2" charset="-122"/>
              </a:rPr>
              <a:t>正</a:t>
            </a:r>
            <a:r>
              <a:rPr lang="zh-CN" altLang="en-US" b="1" smtClean="0">
                <a:latin typeface="华文中宋" pitchFamily="2" charset="-122"/>
                <a:ea typeface="华文中宋" pitchFamily="2" charset="-122"/>
              </a:rPr>
              <a:t>电荷</a:t>
            </a:r>
            <a:r>
              <a:rPr lang="zh-CN" altLang="en-US" b="1">
                <a:latin typeface="华文中宋" pitchFamily="2" charset="-122"/>
                <a:ea typeface="华文中宋" pitchFamily="2" charset="-122"/>
              </a:rPr>
              <a:t>从低</a:t>
            </a:r>
            <a:r>
              <a:rPr lang="zh-CN" altLang="en-US" b="1" smtClean="0">
                <a:latin typeface="华文中宋" pitchFamily="2" charset="-122"/>
                <a:ea typeface="华文中宋" pitchFamily="2" charset="-122"/>
              </a:rPr>
              <a:t>电位到高</a:t>
            </a:r>
            <a:r>
              <a:rPr lang="zh-CN" altLang="en-US" b="1">
                <a:latin typeface="华文中宋" pitchFamily="2" charset="-122"/>
                <a:ea typeface="华文中宋" pitchFamily="2" charset="-122"/>
              </a:rPr>
              <a:t>电位 </a:t>
            </a:r>
          </a:p>
        </p:txBody>
      </p:sp>
      <p:cxnSp>
        <p:nvCxnSpPr>
          <p:cNvPr id="9" name="直接箭头连接符 8"/>
          <p:cNvCxnSpPr/>
          <p:nvPr/>
        </p:nvCxnSpPr>
        <p:spPr bwMode="auto">
          <a:xfrm>
            <a:off x="4619625" y="3067050"/>
            <a:ext cx="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矩形 9"/>
          <p:cNvSpPr/>
          <p:nvPr/>
        </p:nvSpPr>
        <p:spPr>
          <a:xfrm>
            <a:off x="3418026" y="1556792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非静电力</a:t>
            </a:r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412629" y="2914650"/>
            <a:ext cx="55023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zh-CN" altLang="en-US" b="1">
                <a:latin typeface="华文中宋" pitchFamily="2" charset="-122"/>
                <a:ea typeface="华文中宋" pitchFamily="2" charset="-122"/>
              </a:rPr>
              <a:t>在闭合电路中，静电场</a:t>
            </a:r>
            <a:r>
              <a:rPr lang="zh-CN" altLang="en-US" b="1" smtClean="0">
                <a:latin typeface="华文中宋" pitchFamily="2" charset="-122"/>
                <a:ea typeface="华文中宋" pitchFamily="2" charset="-122"/>
              </a:rPr>
              <a:t>力和非静电力共同作用使</a:t>
            </a:r>
            <a:r>
              <a:rPr lang="zh-CN" altLang="en-US" b="1">
                <a:latin typeface="华文中宋" pitchFamily="2" charset="-122"/>
                <a:ea typeface="华文中宋" pitchFamily="2" charset="-122"/>
              </a:rPr>
              <a:t>电荷运动形成一个闭合电流线。</a:t>
            </a:r>
            <a:r>
              <a:rPr lang="zh-CN" altLang="en-US"/>
              <a:t> </a:t>
            </a:r>
          </a:p>
        </p:txBody>
      </p:sp>
      <p:sp>
        <p:nvSpPr>
          <p:cNvPr id="12" name="矩形 11"/>
          <p:cNvSpPr/>
          <p:nvPr/>
        </p:nvSpPr>
        <p:spPr>
          <a:xfrm>
            <a:off x="3635896" y="4077072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电源</a:t>
            </a:r>
          </a:p>
        </p:txBody>
      </p:sp>
      <p:sp>
        <p:nvSpPr>
          <p:cNvPr id="13" name="矩形 12"/>
          <p:cNvSpPr/>
          <p:nvPr/>
        </p:nvSpPr>
        <p:spPr>
          <a:xfrm>
            <a:off x="329135" y="4797152"/>
            <a:ext cx="8234114" cy="1887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1950" lvl="1" indent="-361950" algn="just" eaLnBrk="1" hangingPunct="1">
              <a:lnSpc>
                <a:spcPts val="3500"/>
              </a:lnSpc>
              <a:buFont typeface="Wingdings" pitchFamily="2" charset="2"/>
              <a:buChar char="Ø"/>
            </a:pPr>
            <a:r>
              <a:rPr lang="zh-CN" altLang="en-US" b="1">
                <a:latin typeface="华文中宋" pitchFamily="2" charset="-122"/>
                <a:ea typeface="华文中宋" pitchFamily="2" charset="-122"/>
              </a:rPr>
              <a:t>在外电路</a:t>
            </a:r>
            <a:r>
              <a:rPr lang="zh-CN" altLang="en-US" b="1" smtClean="0">
                <a:latin typeface="华文中宋" pitchFamily="2" charset="-122"/>
                <a:ea typeface="华文中宋" pitchFamily="2" charset="-122"/>
              </a:rPr>
              <a:t>上维持</a:t>
            </a:r>
            <a:r>
              <a:rPr lang="zh-CN" altLang="en-US" b="1">
                <a:latin typeface="华文中宋" pitchFamily="2" charset="-122"/>
                <a:ea typeface="华文中宋" pitchFamily="2" charset="-122"/>
              </a:rPr>
              <a:t>恒定电压，</a:t>
            </a:r>
            <a:r>
              <a:rPr lang="zh-CN" altLang="en-US" b="1" smtClean="0">
                <a:latin typeface="华文中宋" pitchFamily="2" charset="-122"/>
                <a:ea typeface="华文中宋" pitchFamily="2" charset="-122"/>
              </a:rPr>
              <a:t>在静电场</a:t>
            </a:r>
            <a:r>
              <a:rPr lang="zh-CN" altLang="en-US" b="1">
                <a:latin typeface="华文中宋" pitchFamily="2" charset="-122"/>
                <a:ea typeface="华文中宋" pitchFamily="2" charset="-122"/>
              </a:rPr>
              <a:t>力作用下正电荷从电源</a:t>
            </a:r>
            <a:r>
              <a:rPr lang="zh-CN" altLang="en-US" b="1" smtClean="0">
                <a:latin typeface="华文中宋" pitchFamily="2" charset="-122"/>
                <a:ea typeface="华文中宋" pitchFamily="2" charset="-122"/>
              </a:rPr>
              <a:t>正极移向负极； </a:t>
            </a:r>
            <a:endParaRPr lang="zh-CN" altLang="en-US" b="1">
              <a:latin typeface="华文中宋" pitchFamily="2" charset="-122"/>
              <a:ea typeface="华文中宋" pitchFamily="2" charset="-122"/>
            </a:endParaRPr>
          </a:p>
          <a:p>
            <a:pPr marL="361950" lvl="1" indent="-361950" algn="just">
              <a:lnSpc>
                <a:spcPts val="3500"/>
              </a:lnSpc>
              <a:buFont typeface="Wingdings" pitchFamily="2" charset="2"/>
              <a:buChar char="Ø"/>
            </a:pPr>
            <a:r>
              <a:rPr lang="zh-CN" altLang="en-US" b="1">
                <a:latin typeface="华文中宋" pitchFamily="2" charset="-122"/>
                <a:ea typeface="华文中宋" pitchFamily="2" charset="-122"/>
              </a:rPr>
              <a:t>在电源内部在非静电力作用</a:t>
            </a:r>
            <a:r>
              <a:rPr lang="zh-CN" altLang="en-US" b="1" smtClean="0">
                <a:latin typeface="华文中宋" pitchFamily="2" charset="-122"/>
                <a:ea typeface="华文中宋" pitchFamily="2" charset="-122"/>
              </a:rPr>
              <a:t>下，正电荷</a:t>
            </a:r>
            <a:r>
              <a:rPr lang="zh-CN" altLang="en-US" b="1">
                <a:latin typeface="华文中宋" pitchFamily="2" charset="-122"/>
                <a:ea typeface="华文中宋" pitchFamily="2" charset="-122"/>
              </a:rPr>
              <a:t>克服静电力从电源</a:t>
            </a:r>
            <a:r>
              <a:rPr lang="zh-CN" altLang="en-US" b="1" smtClean="0">
                <a:latin typeface="华文中宋" pitchFamily="2" charset="-122"/>
                <a:ea typeface="华文中宋" pitchFamily="2" charset="-122"/>
              </a:rPr>
              <a:t>负极移向正极；</a:t>
            </a:r>
            <a:endParaRPr lang="zh-CN" altLang="en-US" b="1">
              <a:latin typeface="华文中宋" pitchFamily="2" charset="-122"/>
              <a:ea typeface="华文中宋" pitchFamily="2" charset="-122"/>
            </a:endParaRPr>
          </a:p>
        </p:txBody>
      </p:sp>
      <p:grpSp>
        <p:nvGrpSpPr>
          <p:cNvPr id="55" name="Group 3"/>
          <p:cNvGrpSpPr>
            <a:grpSpLocks/>
          </p:cNvGrpSpPr>
          <p:nvPr/>
        </p:nvGrpSpPr>
        <p:grpSpPr bwMode="auto">
          <a:xfrm>
            <a:off x="904875" y="2680742"/>
            <a:ext cx="628650" cy="579438"/>
            <a:chOff x="792" y="2916"/>
            <a:chExt cx="396" cy="365"/>
          </a:xfrm>
        </p:grpSpPr>
        <p:grpSp>
          <p:nvGrpSpPr>
            <p:cNvPr id="56" name="Group 4"/>
            <p:cNvGrpSpPr>
              <a:grpSpLocks/>
            </p:cNvGrpSpPr>
            <p:nvPr/>
          </p:nvGrpSpPr>
          <p:grpSpPr bwMode="auto">
            <a:xfrm>
              <a:off x="792" y="2916"/>
              <a:ext cx="288" cy="365"/>
              <a:chOff x="792" y="2916"/>
              <a:chExt cx="288" cy="365"/>
            </a:xfrm>
          </p:grpSpPr>
          <p:sp>
            <p:nvSpPr>
              <p:cNvPr id="58" name="Oval 5"/>
              <p:cNvSpPr>
                <a:spLocks noChangeArrowheads="1"/>
              </p:cNvSpPr>
              <p:nvPr/>
            </p:nvSpPr>
            <p:spPr bwMode="auto">
              <a:xfrm>
                <a:off x="816" y="3012"/>
                <a:ext cx="192" cy="19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" name="Text Box 6"/>
              <p:cNvSpPr txBox="1">
                <a:spLocks noChangeArrowheads="1"/>
              </p:cNvSpPr>
              <p:nvPr/>
            </p:nvSpPr>
            <p:spPr bwMode="auto">
              <a:xfrm>
                <a:off x="792" y="2916"/>
                <a:ext cx="288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200" b="1"/>
                  <a:t>+</a:t>
                </a:r>
              </a:p>
            </p:txBody>
          </p:sp>
        </p:grpSp>
        <p:sp>
          <p:nvSpPr>
            <p:cNvPr id="57" name="Text Box 7"/>
            <p:cNvSpPr txBox="1">
              <a:spLocks noChangeArrowheads="1"/>
            </p:cNvSpPr>
            <p:nvPr/>
          </p:nvSpPr>
          <p:spPr bwMode="auto">
            <a:xfrm>
              <a:off x="996" y="2916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q</a:t>
              </a:r>
            </a:p>
          </p:txBody>
        </p:sp>
      </p:grpSp>
      <p:grpSp>
        <p:nvGrpSpPr>
          <p:cNvPr id="60" name="Group 25"/>
          <p:cNvGrpSpPr>
            <a:grpSpLocks/>
          </p:cNvGrpSpPr>
          <p:nvPr/>
        </p:nvGrpSpPr>
        <p:grpSpPr bwMode="auto">
          <a:xfrm>
            <a:off x="1095375" y="1861592"/>
            <a:ext cx="584200" cy="971550"/>
            <a:chOff x="912" y="2400"/>
            <a:chExt cx="368" cy="612"/>
          </a:xfrm>
        </p:grpSpPr>
        <p:sp>
          <p:nvSpPr>
            <p:cNvPr id="61" name="Line 26"/>
            <p:cNvSpPr>
              <a:spLocks noChangeShapeType="1"/>
            </p:cNvSpPr>
            <p:nvPr/>
          </p:nvSpPr>
          <p:spPr bwMode="auto">
            <a:xfrm flipV="1">
              <a:off x="912" y="2448"/>
              <a:ext cx="0" cy="56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2" name="Object 27"/>
            <p:cNvGraphicFramePr>
              <a:graphicFrameLocks noChangeAspect="1"/>
            </p:cNvGraphicFramePr>
            <p:nvPr/>
          </p:nvGraphicFramePr>
          <p:xfrm>
            <a:off x="960" y="2400"/>
            <a:ext cx="32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451" name="公式" r:id="rId3" imgW="228600" imgH="241200" progId="Equation.3">
                    <p:embed/>
                  </p:oleObj>
                </mc:Choice>
                <mc:Fallback>
                  <p:oleObj name="公式" r:id="rId3" imgW="2286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2400"/>
                          <a:ext cx="320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3" name="Group 28"/>
          <p:cNvGrpSpPr>
            <a:grpSpLocks/>
          </p:cNvGrpSpPr>
          <p:nvPr/>
        </p:nvGrpSpPr>
        <p:grpSpPr bwMode="auto">
          <a:xfrm>
            <a:off x="1095375" y="3137942"/>
            <a:ext cx="465138" cy="1023938"/>
            <a:chOff x="912" y="3204"/>
            <a:chExt cx="293" cy="645"/>
          </a:xfrm>
        </p:grpSpPr>
        <p:sp>
          <p:nvSpPr>
            <p:cNvPr id="64" name="Line 29"/>
            <p:cNvSpPr>
              <a:spLocks noChangeShapeType="1"/>
            </p:cNvSpPr>
            <p:nvPr/>
          </p:nvSpPr>
          <p:spPr bwMode="auto">
            <a:xfrm>
              <a:off x="912" y="3204"/>
              <a:ext cx="0" cy="58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5" name="Object 30"/>
            <p:cNvGraphicFramePr>
              <a:graphicFrameLocks noChangeAspect="1"/>
            </p:cNvGraphicFramePr>
            <p:nvPr/>
          </p:nvGraphicFramePr>
          <p:xfrm>
            <a:off x="938" y="3496"/>
            <a:ext cx="267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452" name="公式" r:id="rId5" imgW="190440" imgH="253800" progId="Equation.3">
                    <p:embed/>
                  </p:oleObj>
                </mc:Choice>
                <mc:Fallback>
                  <p:oleObj name="公式" r:id="rId5" imgW="19044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8" y="3496"/>
                          <a:ext cx="267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/>
          <p:cNvGrpSpPr/>
          <p:nvPr/>
        </p:nvGrpSpPr>
        <p:grpSpPr>
          <a:xfrm>
            <a:off x="428625" y="1556792"/>
            <a:ext cx="2533650" cy="2819400"/>
            <a:chOff x="428625" y="1556792"/>
            <a:chExt cx="2533650" cy="2819400"/>
          </a:xfrm>
        </p:grpSpPr>
        <p:grpSp>
          <p:nvGrpSpPr>
            <p:cNvPr id="66" name="Group 101"/>
            <p:cNvGrpSpPr>
              <a:grpSpLocks/>
            </p:cNvGrpSpPr>
            <p:nvPr/>
          </p:nvGrpSpPr>
          <p:grpSpPr bwMode="auto">
            <a:xfrm>
              <a:off x="428625" y="1556792"/>
              <a:ext cx="2533650" cy="2819400"/>
              <a:chOff x="294" y="1596"/>
              <a:chExt cx="1596" cy="1776"/>
            </a:xfrm>
          </p:grpSpPr>
          <p:sp>
            <p:nvSpPr>
              <p:cNvPr id="67" name="Line 83"/>
              <p:cNvSpPr>
                <a:spLocks noChangeShapeType="1"/>
              </p:cNvSpPr>
              <p:nvPr/>
            </p:nvSpPr>
            <p:spPr bwMode="auto">
              <a:xfrm>
                <a:off x="378" y="2220"/>
                <a:ext cx="72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68" name="Group 100"/>
              <p:cNvGrpSpPr>
                <a:grpSpLocks/>
              </p:cNvGrpSpPr>
              <p:nvPr/>
            </p:nvGrpSpPr>
            <p:grpSpPr bwMode="auto">
              <a:xfrm>
                <a:off x="294" y="1596"/>
                <a:ext cx="1596" cy="1776"/>
                <a:chOff x="294" y="1596"/>
                <a:chExt cx="1596" cy="1776"/>
              </a:xfrm>
            </p:grpSpPr>
            <p:sp>
              <p:nvSpPr>
                <p:cNvPr id="69" name="Line 86"/>
                <p:cNvSpPr>
                  <a:spLocks noChangeShapeType="1"/>
                </p:cNvSpPr>
                <p:nvPr/>
              </p:nvSpPr>
              <p:spPr bwMode="auto">
                <a:xfrm>
                  <a:off x="714" y="2796"/>
                  <a:ext cx="0" cy="57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0" name="Line 87"/>
                <p:cNvSpPr>
                  <a:spLocks noChangeShapeType="1"/>
                </p:cNvSpPr>
                <p:nvPr/>
              </p:nvSpPr>
              <p:spPr bwMode="auto">
                <a:xfrm flipV="1">
                  <a:off x="714" y="1644"/>
                  <a:ext cx="0" cy="57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1" name="Line 88"/>
                <p:cNvSpPr>
                  <a:spLocks noChangeShapeType="1"/>
                </p:cNvSpPr>
                <p:nvPr/>
              </p:nvSpPr>
              <p:spPr bwMode="auto">
                <a:xfrm>
                  <a:off x="714" y="1644"/>
                  <a:ext cx="110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" name="Line 89"/>
                <p:cNvSpPr>
                  <a:spLocks noChangeShapeType="1"/>
                </p:cNvSpPr>
                <p:nvPr/>
              </p:nvSpPr>
              <p:spPr bwMode="auto">
                <a:xfrm>
                  <a:off x="726" y="3372"/>
                  <a:ext cx="110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3" name="Line 90"/>
                <p:cNvSpPr>
                  <a:spLocks noChangeShapeType="1"/>
                </p:cNvSpPr>
                <p:nvPr/>
              </p:nvSpPr>
              <p:spPr bwMode="auto">
                <a:xfrm>
                  <a:off x="1818" y="1644"/>
                  <a:ext cx="0" cy="172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4" name="Rectangle 91"/>
                <p:cNvSpPr>
                  <a:spLocks noChangeArrowheads="1"/>
                </p:cNvSpPr>
                <p:nvPr/>
              </p:nvSpPr>
              <p:spPr bwMode="auto">
                <a:xfrm>
                  <a:off x="1770" y="2220"/>
                  <a:ext cx="96" cy="48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5" name="Rectangle 92"/>
                <p:cNvSpPr>
                  <a:spLocks noChangeArrowheads="1"/>
                </p:cNvSpPr>
                <p:nvPr/>
              </p:nvSpPr>
              <p:spPr bwMode="auto">
                <a:xfrm>
                  <a:off x="294" y="2136"/>
                  <a:ext cx="864" cy="732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6" name="Line 93"/>
                <p:cNvSpPr>
                  <a:spLocks noChangeShapeType="1"/>
                </p:cNvSpPr>
                <p:nvPr/>
              </p:nvSpPr>
              <p:spPr bwMode="auto">
                <a:xfrm>
                  <a:off x="1086" y="1644"/>
                  <a:ext cx="38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7" name="Text Box 94"/>
                <p:cNvSpPr txBox="1">
                  <a:spLocks noChangeArrowheads="1"/>
                </p:cNvSpPr>
                <p:nvPr/>
              </p:nvSpPr>
              <p:spPr bwMode="auto">
                <a:xfrm>
                  <a:off x="1506" y="2268"/>
                  <a:ext cx="384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800" b="1" i="1"/>
                    <a:t>R</a:t>
                  </a:r>
                </a:p>
              </p:txBody>
            </p:sp>
            <p:sp>
              <p:nvSpPr>
                <p:cNvPr id="78" name="Line 95"/>
                <p:cNvSpPr>
                  <a:spLocks noChangeShapeType="1"/>
                </p:cNvSpPr>
                <p:nvPr/>
              </p:nvSpPr>
              <p:spPr bwMode="auto">
                <a:xfrm flipH="1">
                  <a:off x="1098" y="3372"/>
                  <a:ext cx="38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9" name="Text Box 96"/>
                <p:cNvSpPr txBox="1">
                  <a:spLocks noChangeArrowheads="1"/>
                </p:cNvSpPr>
                <p:nvPr/>
              </p:nvSpPr>
              <p:spPr bwMode="auto">
                <a:xfrm>
                  <a:off x="426" y="2592"/>
                  <a:ext cx="288" cy="57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5400" b="1"/>
                    <a:t>-</a:t>
                  </a:r>
                </a:p>
              </p:txBody>
            </p:sp>
            <p:sp>
              <p:nvSpPr>
                <p:cNvPr id="80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1134" y="1596"/>
                  <a:ext cx="384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800" b="1" i="1"/>
                    <a:t>I</a:t>
                  </a:r>
                </a:p>
              </p:txBody>
            </p:sp>
            <p:sp>
              <p:nvSpPr>
                <p:cNvPr id="81" name="Text Box 98"/>
                <p:cNvSpPr txBox="1">
                  <a:spLocks noChangeArrowheads="1"/>
                </p:cNvSpPr>
                <p:nvPr/>
              </p:nvSpPr>
              <p:spPr bwMode="auto">
                <a:xfrm>
                  <a:off x="414" y="1836"/>
                  <a:ext cx="288" cy="40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3600" b="1"/>
                    <a:t>+</a:t>
                  </a:r>
                </a:p>
              </p:txBody>
            </p:sp>
          </p:grpSp>
        </p:grpSp>
        <p:sp>
          <p:nvSpPr>
            <p:cNvPr id="82" name="Line 99"/>
            <p:cNvSpPr>
              <a:spLocks noChangeShapeType="1"/>
            </p:cNvSpPr>
            <p:nvPr/>
          </p:nvSpPr>
          <p:spPr bwMode="auto">
            <a:xfrm>
              <a:off x="563563" y="3460205"/>
              <a:ext cx="1143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utoUpdateAnimBg="0"/>
      <p:bldP spid="46" grpId="0" autoUpdateAnimBg="0"/>
      <p:bldP spid="47" grpId="0" autoUpdateAnimBg="0"/>
      <p:bldP spid="7" grpId="0"/>
      <p:bldP spid="10" grpId="0"/>
      <p:bldP spid="11" grpId="0"/>
      <p:bldP spid="12" grpId="0"/>
      <p:bldP spid="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7D067-9F49-4810-B4EE-3C5E23214B7D}" type="slidenum">
              <a:rPr lang="en-US" altLang="zh-CN"/>
              <a:pPr/>
              <a:t>26</a:t>
            </a:fld>
            <a:endParaRPr lang="en-US" altLang="zh-CN"/>
          </a:p>
        </p:txBody>
      </p:sp>
      <p:graphicFrame>
        <p:nvGraphicFramePr>
          <p:cNvPr id="34853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8024033"/>
              </p:ext>
            </p:extLst>
          </p:nvPr>
        </p:nvGraphicFramePr>
        <p:xfrm>
          <a:off x="2947814" y="1482181"/>
          <a:ext cx="8001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95" name="公式" r:id="rId3" imgW="279360" imgH="241200" progId="Equation.3">
                  <p:embed/>
                </p:oleObj>
              </mc:Choice>
              <mc:Fallback>
                <p:oleObj name="公式" r:id="rId3" imgW="27936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7814" y="1482181"/>
                        <a:ext cx="8001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54" name="Text Box 38"/>
          <p:cNvSpPr txBox="1">
            <a:spLocks noChangeArrowheads="1"/>
          </p:cNvSpPr>
          <p:nvPr/>
        </p:nvSpPr>
        <p:spPr bwMode="auto">
          <a:xfrm>
            <a:off x="3995936" y="1631539"/>
            <a:ext cx="411817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电磁，化学</a:t>
            </a:r>
            <a:r>
              <a:rPr lang="en-US" altLang="zh-CN" sz="2800" b="1"/>
              <a:t>, </a:t>
            </a:r>
            <a:r>
              <a:rPr lang="zh-CN" altLang="en-US" sz="2800" b="1"/>
              <a:t>热，光</a:t>
            </a:r>
            <a:r>
              <a:rPr lang="zh-CN" altLang="en-US" sz="2800" b="1">
                <a:sym typeface="Symbol" pitchFamily="18" charset="2"/>
              </a:rPr>
              <a:t></a:t>
            </a:r>
            <a:endParaRPr lang="zh-CN" altLang="en-US" sz="2800" b="1"/>
          </a:p>
        </p:txBody>
      </p:sp>
      <p:sp>
        <p:nvSpPr>
          <p:cNvPr id="34876" name="Text Box 60"/>
          <p:cNvSpPr txBox="1">
            <a:spLocks noChangeArrowheads="1"/>
          </p:cNvSpPr>
          <p:nvPr/>
        </p:nvSpPr>
        <p:spPr bwMode="auto">
          <a:xfrm>
            <a:off x="2941513" y="3009722"/>
            <a:ext cx="3657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00"/>
                </a:solidFill>
              </a:rPr>
              <a:t>定义</a:t>
            </a:r>
            <a:r>
              <a:rPr lang="zh-CN" altLang="en-US" sz="2800" b="1" dirty="0">
                <a:solidFill>
                  <a:srgbClr val="0000FF"/>
                </a:solidFill>
              </a:rPr>
              <a:t>非静电性场强</a:t>
            </a:r>
          </a:p>
        </p:txBody>
      </p:sp>
      <p:graphicFrame>
        <p:nvGraphicFramePr>
          <p:cNvPr id="34877" name="Object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5051909"/>
              </p:ext>
            </p:extLst>
          </p:nvPr>
        </p:nvGraphicFramePr>
        <p:xfrm>
          <a:off x="6732240" y="2696096"/>
          <a:ext cx="1636712" cy="111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96" name="公式" r:id="rId5" imgW="647640" imgH="444240" progId="Equation.3">
                  <p:embed/>
                </p:oleObj>
              </mc:Choice>
              <mc:Fallback>
                <p:oleObj name="公式" r:id="rId5" imgW="6476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240" y="2696096"/>
                        <a:ext cx="1636712" cy="1119188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80" name="Text Box 64"/>
          <p:cNvSpPr txBox="1">
            <a:spLocks noChangeArrowheads="1"/>
          </p:cNvSpPr>
          <p:nvPr/>
        </p:nvSpPr>
        <p:spPr bwMode="auto">
          <a:xfrm>
            <a:off x="1981200" y="167730"/>
            <a:ext cx="699539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800" b="1"/>
              <a:t>从能量角度</a:t>
            </a:r>
            <a:r>
              <a:rPr lang="zh-CN" altLang="en-US" sz="2800" b="1" smtClean="0"/>
              <a:t>看，电源就是将其它形式的能量转化为电能的装置</a:t>
            </a:r>
            <a:endParaRPr lang="zh-CN" altLang="en-US" sz="2800" b="1"/>
          </a:p>
        </p:txBody>
      </p:sp>
      <p:grpSp>
        <p:nvGrpSpPr>
          <p:cNvPr id="7" name="组合 6"/>
          <p:cNvGrpSpPr/>
          <p:nvPr/>
        </p:nvGrpSpPr>
        <p:grpSpPr>
          <a:xfrm>
            <a:off x="126901" y="1453084"/>
            <a:ext cx="2533650" cy="2819400"/>
            <a:chOff x="466725" y="2533650"/>
            <a:chExt cx="2533650" cy="2819400"/>
          </a:xfrm>
        </p:grpSpPr>
        <p:grpSp>
          <p:nvGrpSpPr>
            <p:cNvPr id="34819" name="Group 3"/>
            <p:cNvGrpSpPr>
              <a:grpSpLocks/>
            </p:cNvGrpSpPr>
            <p:nvPr/>
          </p:nvGrpSpPr>
          <p:grpSpPr bwMode="auto">
            <a:xfrm>
              <a:off x="942975" y="3657600"/>
              <a:ext cx="628650" cy="579438"/>
              <a:chOff x="792" y="2916"/>
              <a:chExt cx="396" cy="365"/>
            </a:xfrm>
          </p:grpSpPr>
          <p:grpSp>
            <p:nvGrpSpPr>
              <p:cNvPr id="34820" name="Group 4"/>
              <p:cNvGrpSpPr>
                <a:grpSpLocks/>
              </p:cNvGrpSpPr>
              <p:nvPr/>
            </p:nvGrpSpPr>
            <p:grpSpPr bwMode="auto">
              <a:xfrm>
                <a:off x="792" y="2916"/>
                <a:ext cx="288" cy="365"/>
                <a:chOff x="792" y="2916"/>
                <a:chExt cx="288" cy="365"/>
              </a:xfrm>
            </p:grpSpPr>
            <p:sp>
              <p:nvSpPr>
                <p:cNvPr id="34821" name="Oval 5"/>
                <p:cNvSpPr>
                  <a:spLocks noChangeArrowheads="1"/>
                </p:cNvSpPr>
                <p:nvPr/>
              </p:nvSpPr>
              <p:spPr bwMode="auto">
                <a:xfrm>
                  <a:off x="816" y="3012"/>
                  <a:ext cx="192" cy="19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4822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792" y="2916"/>
                  <a:ext cx="288" cy="3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/>
                    <a:t>+</a:t>
                  </a:r>
                </a:p>
              </p:txBody>
            </p:sp>
          </p:grpSp>
          <p:sp>
            <p:nvSpPr>
              <p:cNvPr id="34823" name="Text Box 7"/>
              <p:cNvSpPr txBox="1">
                <a:spLocks noChangeArrowheads="1"/>
              </p:cNvSpPr>
              <p:nvPr/>
            </p:nvSpPr>
            <p:spPr bwMode="auto">
              <a:xfrm>
                <a:off x="996" y="2916"/>
                <a:ext cx="19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i="1"/>
                  <a:t>q</a:t>
                </a:r>
              </a:p>
            </p:txBody>
          </p:sp>
        </p:grpSp>
        <p:grpSp>
          <p:nvGrpSpPr>
            <p:cNvPr id="34841" name="Group 25"/>
            <p:cNvGrpSpPr>
              <a:grpSpLocks/>
            </p:cNvGrpSpPr>
            <p:nvPr/>
          </p:nvGrpSpPr>
          <p:grpSpPr bwMode="auto">
            <a:xfrm>
              <a:off x="1133475" y="2838450"/>
              <a:ext cx="584200" cy="971550"/>
              <a:chOff x="912" y="2400"/>
              <a:chExt cx="368" cy="612"/>
            </a:xfrm>
          </p:grpSpPr>
          <p:sp>
            <p:nvSpPr>
              <p:cNvPr id="34842" name="Line 26"/>
              <p:cNvSpPr>
                <a:spLocks noChangeShapeType="1"/>
              </p:cNvSpPr>
              <p:nvPr/>
            </p:nvSpPr>
            <p:spPr bwMode="auto">
              <a:xfrm flipV="1">
                <a:off x="912" y="2448"/>
                <a:ext cx="0" cy="564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4843" name="Object 27"/>
              <p:cNvGraphicFramePr>
                <a:graphicFrameLocks noChangeAspect="1"/>
              </p:cNvGraphicFramePr>
              <p:nvPr/>
            </p:nvGraphicFramePr>
            <p:xfrm>
              <a:off x="960" y="2400"/>
              <a:ext cx="320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6097" name="公式" r:id="rId7" imgW="228600" imgH="241200" progId="Equation.3">
                      <p:embed/>
                    </p:oleObj>
                  </mc:Choice>
                  <mc:Fallback>
                    <p:oleObj name="公式" r:id="rId7" imgW="228600" imgH="2412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60" y="2400"/>
                            <a:ext cx="320" cy="3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4844" name="Group 28"/>
            <p:cNvGrpSpPr>
              <a:grpSpLocks/>
            </p:cNvGrpSpPr>
            <p:nvPr/>
          </p:nvGrpSpPr>
          <p:grpSpPr bwMode="auto">
            <a:xfrm>
              <a:off x="1133475" y="4114800"/>
              <a:ext cx="465138" cy="1023938"/>
              <a:chOff x="912" y="3204"/>
              <a:chExt cx="293" cy="645"/>
            </a:xfrm>
          </p:grpSpPr>
          <p:sp>
            <p:nvSpPr>
              <p:cNvPr id="34845" name="Line 29"/>
              <p:cNvSpPr>
                <a:spLocks noChangeShapeType="1"/>
              </p:cNvSpPr>
              <p:nvPr/>
            </p:nvSpPr>
            <p:spPr bwMode="auto">
              <a:xfrm>
                <a:off x="912" y="3204"/>
                <a:ext cx="0" cy="588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4846" name="Object 30"/>
              <p:cNvGraphicFramePr>
                <a:graphicFrameLocks noChangeAspect="1"/>
              </p:cNvGraphicFramePr>
              <p:nvPr/>
            </p:nvGraphicFramePr>
            <p:xfrm>
              <a:off x="938" y="3496"/>
              <a:ext cx="267" cy="3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6098" name="公式" r:id="rId9" imgW="190440" imgH="253800" progId="Equation.3">
                      <p:embed/>
                    </p:oleObj>
                  </mc:Choice>
                  <mc:Fallback>
                    <p:oleObj name="公式" r:id="rId9" imgW="190440" imgH="2538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38" y="3496"/>
                            <a:ext cx="267" cy="35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4917" name="Group 101"/>
            <p:cNvGrpSpPr>
              <a:grpSpLocks/>
            </p:cNvGrpSpPr>
            <p:nvPr/>
          </p:nvGrpSpPr>
          <p:grpSpPr bwMode="auto">
            <a:xfrm>
              <a:off x="466725" y="2533650"/>
              <a:ext cx="2533650" cy="2819400"/>
              <a:chOff x="294" y="1596"/>
              <a:chExt cx="1596" cy="1776"/>
            </a:xfrm>
          </p:grpSpPr>
          <p:sp>
            <p:nvSpPr>
              <p:cNvPr id="34899" name="Line 83"/>
              <p:cNvSpPr>
                <a:spLocks noChangeShapeType="1"/>
              </p:cNvSpPr>
              <p:nvPr/>
            </p:nvSpPr>
            <p:spPr bwMode="auto">
              <a:xfrm>
                <a:off x="378" y="2220"/>
                <a:ext cx="72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34916" name="Group 100"/>
              <p:cNvGrpSpPr>
                <a:grpSpLocks/>
              </p:cNvGrpSpPr>
              <p:nvPr/>
            </p:nvGrpSpPr>
            <p:grpSpPr bwMode="auto">
              <a:xfrm>
                <a:off x="294" y="1596"/>
                <a:ext cx="1596" cy="1776"/>
                <a:chOff x="294" y="1596"/>
                <a:chExt cx="1596" cy="1776"/>
              </a:xfrm>
            </p:grpSpPr>
            <p:sp>
              <p:nvSpPr>
                <p:cNvPr id="34902" name="Line 86"/>
                <p:cNvSpPr>
                  <a:spLocks noChangeShapeType="1"/>
                </p:cNvSpPr>
                <p:nvPr/>
              </p:nvSpPr>
              <p:spPr bwMode="auto">
                <a:xfrm>
                  <a:off x="714" y="2796"/>
                  <a:ext cx="0" cy="57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4903" name="Line 87"/>
                <p:cNvSpPr>
                  <a:spLocks noChangeShapeType="1"/>
                </p:cNvSpPr>
                <p:nvPr/>
              </p:nvSpPr>
              <p:spPr bwMode="auto">
                <a:xfrm flipV="1">
                  <a:off x="714" y="1644"/>
                  <a:ext cx="0" cy="57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4904" name="Line 88"/>
                <p:cNvSpPr>
                  <a:spLocks noChangeShapeType="1"/>
                </p:cNvSpPr>
                <p:nvPr/>
              </p:nvSpPr>
              <p:spPr bwMode="auto">
                <a:xfrm>
                  <a:off x="714" y="1644"/>
                  <a:ext cx="110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4905" name="Line 89"/>
                <p:cNvSpPr>
                  <a:spLocks noChangeShapeType="1"/>
                </p:cNvSpPr>
                <p:nvPr/>
              </p:nvSpPr>
              <p:spPr bwMode="auto">
                <a:xfrm>
                  <a:off x="726" y="3372"/>
                  <a:ext cx="110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4906" name="Line 90"/>
                <p:cNvSpPr>
                  <a:spLocks noChangeShapeType="1"/>
                </p:cNvSpPr>
                <p:nvPr/>
              </p:nvSpPr>
              <p:spPr bwMode="auto">
                <a:xfrm>
                  <a:off x="1818" y="1644"/>
                  <a:ext cx="0" cy="172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4907" name="Rectangle 91"/>
                <p:cNvSpPr>
                  <a:spLocks noChangeArrowheads="1"/>
                </p:cNvSpPr>
                <p:nvPr/>
              </p:nvSpPr>
              <p:spPr bwMode="auto">
                <a:xfrm>
                  <a:off x="1770" y="2220"/>
                  <a:ext cx="96" cy="48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4908" name="Rectangle 92"/>
                <p:cNvSpPr>
                  <a:spLocks noChangeArrowheads="1"/>
                </p:cNvSpPr>
                <p:nvPr/>
              </p:nvSpPr>
              <p:spPr bwMode="auto">
                <a:xfrm>
                  <a:off x="294" y="2136"/>
                  <a:ext cx="864" cy="732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4909" name="Line 93"/>
                <p:cNvSpPr>
                  <a:spLocks noChangeShapeType="1"/>
                </p:cNvSpPr>
                <p:nvPr/>
              </p:nvSpPr>
              <p:spPr bwMode="auto">
                <a:xfrm>
                  <a:off x="1086" y="1644"/>
                  <a:ext cx="38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4910" name="Text Box 94"/>
                <p:cNvSpPr txBox="1">
                  <a:spLocks noChangeArrowheads="1"/>
                </p:cNvSpPr>
                <p:nvPr/>
              </p:nvSpPr>
              <p:spPr bwMode="auto">
                <a:xfrm>
                  <a:off x="1506" y="2268"/>
                  <a:ext cx="384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800" b="1" i="1"/>
                    <a:t>R</a:t>
                  </a:r>
                </a:p>
              </p:txBody>
            </p:sp>
            <p:sp>
              <p:nvSpPr>
                <p:cNvPr id="34911" name="Line 95"/>
                <p:cNvSpPr>
                  <a:spLocks noChangeShapeType="1"/>
                </p:cNvSpPr>
                <p:nvPr/>
              </p:nvSpPr>
              <p:spPr bwMode="auto">
                <a:xfrm flipH="1">
                  <a:off x="1098" y="3372"/>
                  <a:ext cx="38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4912" name="Text Box 96"/>
                <p:cNvSpPr txBox="1">
                  <a:spLocks noChangeArrowheads="1"/>
                </p:cNvSpPr>
                <p:nvPr/>
              </p:nvSpPr>
              <p:spPr bwMode="auto">
                <a:xfrm>
                  <a:off x="426" y="2592"/>
                  <a:ext cx="288" cy="57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5400" b="1"/>
                    <a:t>-</a:t>
                  </a:r>
                </a:p>
              </p:txBody>
            </p:sp>
            <p:sp>
              <p:nvSpPr>
                <p:cNvPr id="34913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1134" y="1596"/>
                  <a:ext cx="384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800" b="1" i="1"/>
                    <a:t>I</a:t>
                  </a:r>
                </a:p>
              </p:txBody>
            </p:sp>
            <p:sp>
              <p:nvSpPr>
                <p:cNvPr id="34914" name="Text Box 98"/>
                <p:cNvSpPr txBox="1">
                  <a:spLocks noChangeArrowheads="1"/>
                </p:cNvSpPr>
                <p:nvPr/>
              </p:nvSpPr>
              <p:spPr bwMode="auto">
                <a:xfrm>
                  <a:off x="414" y="1836"/>
                  <a:ext cx="288" cy="40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3600" b="1"/>
                    <a:t>+</a:t>
                  </a:r>
                </a:p>
              </p:txBody>
            </p:sp>
          </p:grpSp>
        </p:grpSp>
        <p:sp>
          <p:nvSpPr>
            <p:cNvPr id="34915" name="Line 99"/>
            <p:cNvSpPr>
              <a:spLocks noChangeShapeType="1"/>
            </p:cNvSpPr>
            <p:nvPr/>
          </p:nvSpPr>
          <p:spPr bwMode="auto">
            <a:xfrm>
              <a:off x="601663" y="4437063"/>
              <a:ext cx="1143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8308154"/>
              </p:ext>
            </p:extLst>
          </p:nvPr>
        </p:nvGraphicFramePr>
        <p:xfrm>
          <a:off x="2941513" y="5013176"/>
          <a:ext cx="4300538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99" name="Equation" r:id="rId11" imgW="1701720" imgH="253800" progId="Equation.DSMT4">
                  <p:embed/>
                </p:oleObj>
              </mc:Choice>
              <mc:Fallback>
                <p:oleObj name="Equation" r:id="rId11" imgW="17017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1513" y="5013176"/>
                        <a:ext cx="4300538" cy="639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2678961" y="4257309"/>
            <a:ext cx="6468437" cy="542076"/>
            <a:chOff x="3491880" y="5334194"/>
            <a:chExt cx="6468437" cy="542076"/>
          </a:xfrm>
        </p:grpSpPr>
        <p:sp>
          <p:nvSpPr>
            <p:cNvPr id="2" name="TextBox 1"/>
            <p:cNvSpPr txBox="1"/>
            <p:nvPr/>
          </p:nvSpPr>
          <p:spPr>
            <a:xfrm>
              <a:off x="3491880" y="5353050"/>
              <a:ext cx="646843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/>
                <a:t>同时存在静电场    和非静电性场强      时</a:t>
              </a:r>
              <a:endParaRPr lang="zh-CN" altLang="en-US" sz="2800" dirty="0"/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7374948"/>
                </p:ext>
              </p:extLst>
            </p:nvPr>
          </p:nvGraphicFramePr>
          <p:xfrm>
            <a:off x="8964488" y="5353048"/>
            <a:ext cx="497062" cy="523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100" name="Equation" r:id="rId13" imgW="241200" imgH="253800" progId="Equation.DSMT4">
                    <p:embed/>
                  </p:oleObj>
                </mc:Choice>
                <mc:Fallback>
                  <p:oleObj name="Equation" r:id="rId13" imgW="24120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8964488" y="5353048"/>
                          <a:ext cx="497062" cy="52322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06319546"/>
                </p:ext>
              </p:extLst>
            </p:nvPr>
          </p:nvGraphicFramePr>
          <p:xfrm>
            <a:off x="6055276" y="5334194"/>
            <a:ext cx="473075" cy="523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101" name="Equation" r:id="rId15" imgW="228600" imgH="253800" progId="Equation.DSMT4">
                    <p:embed/>
                  </p:oleObj>
                </mc:Choice>
                <mc:Fallback>
                  <p:oleObj name="Equation" r:id="rId15" imgW="22860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55276" y="5334194"/>
                          <a:ext cx="473075" cy="5238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782245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4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"/>
                                        <p:tgtEl>
                                          <p:spTgt spid="34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4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34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54" grpId="0" autoUpdateAnimBg="0"/>
      <p:bldP spid="34876" grpId="0" autoUpdateAnimBg="0"/>
      <p:bldP spid="34880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80425" y="6285513"/>
            <a:ext cx="454025" cy="457200"/>
          </a:xfrm>
        </p:spPr>
        <p:txBody>
          <a:bodyPr/>
          <a:lstStyle/>
          <a:p>
            <a:fld id="{38EE650E-0699-4680-8F7A-7B755E4DD4BF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229741" y="345132"/>
            <a:ext cx="41262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000000"/>
                </a:solidFill>
              </a:rPr>
              <a:t>仿照</a:t>
            </a:r>
            <a:r>
              <a:rPr lang="zh-CN" altLang="en-US" b="1">
                <a:solidFill>
                  <a:srgbClr val="0000FF"/>
                </a:solidFill>
              </a:rPr>
              <a:t>电势差（电压）</a:t>
            </a:r>
            <a:r>
              <a:rPr lang="zh-CN" altLang="en-US" b="1"/>
              <a:t>的定义</a:t>
            </a:r>
            <a:endParaRPr lang="zh-CN" altLang="en-US" b="1">
              <a:solidFill>
                <a:srgbClr val="0000FF"/>
              </a:solidFill>
            </a:endParaRPr>
          </a:p>
        </p:txBody>
      </p:sp>
      <p:graphicFrame>
        <p:nvGraphicFramePr>
          <p:cNvPr id="133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505517"/>
              </p:ext>
            </p:extLst>
          </p:nvPr>
        </p:nvGraphicFramePr>
        <p:xfrm>
          <a:off x="4355976" y="44624"/>
          <a:ext cx="4366592" cy="1244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789" name="公式" r:id="rId3" imgW="1650960" imgH="469800" progId="Equation.3">
                  <p:embed/>
                </p:oleObj>
              </mc:Choice>
              <mc:Fallback>
                <p:oleObj name="公式" r:id="rId3" imgW="1650960" imgH="469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976" y="44624"/>
                        <a:ext cx="4366592" cy="12443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3515461" y="1284113"/>
            <a:ext cx="54711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smtClean="0">
                <a:solidFill>
                  <a:srgbClr val="0000FF"/>
                </a:solidFill>
              </a:rPr>
              <a:t>电场强度的方向为电势降的方向</a:t>
            </a:r>
            <a:endParaRPr lang="zh-CN" altLang="en-US" dirty="0"/>
          </a:p>
        </p:txBody>
      </p:sp>
      <p:sp>
        <p:nvSpPr>
          <p:cNvPr id="13320" name="Text Box 8"/>
          <p:cNvSpPr txBox="1">
            <a:spLocks noChangeArrowheads="1"/>
          </p:cNvSpPr>
          <p:nvPr/>
        </p:nvSpPr>
        <p:spPr bwMode="auto">
          <a:xfrm>
            <a:off x="2885449" y="2279540"/>
            <a:ext cx="22073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</a:rPr>
              <a:t>定义</a:t>
            </a:r>
            <a:r>
              <a:rPr lang="zh-CN" altLang="en-US" b="1" dirty="0">
                <a:solidFill>
                  <a:srgbClr val="0000FF"/>
                </a:solidFill>
              </a:rPr>
              <a:t>电动势</a:t>
            </a:r>
          </a:p>
        </p:txBody>
      </p:sp>
      <p:graphicFrame>
        <p:nvGraphicFramePr>
          <p:cNvPr id="133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5831028"/>
              </p:ext>
            </p:extLst>
          </p:nvPr>
        </p:nvGraphicFramePr>
        <p:xfrm>
          <a:off x="5436096" y="1929107"/>
          <a:ext cx="3264768" cy="1134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790" name="公式" r:id="rId5" imgW="1485720" imgH="469800" progId="Equation.3">
                  <p:embed/>
                </p:oleObj>
              </mc:Choice>
              <mc:Fallback>
                <p:oleObj name="公式" r:id="rId5" imgW="1485720" imgH="469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096" y="1929107"/>
                        <a:ext cx="3264768" cy="11342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400" name="Group 88"/>
          <p:cNvGrpSpPr>
            <a:grpSpLocks/>
          </p:cNvGrpSpPr>
          <p:nvPr/>
        </p:nvGrpSpPr>
        <p:grpSpPr bwMode="auto">
          <a:xfrm>
            <a:off x="169553" y="1765528"/>
            <a:ext cx="2085508" cy="2671584"/>
            <a:chOff x="420" y="864"/>
            <a:chExt cx="1476" cy="1776"/>
          </a:xfrm>
        </p:grpSpPr>
        <p:grpSp>
          <p:nvGrpSpPr>
            <p:cNvPr id="13372" name="Group 60"/>
            <p:cNvGrpSpPr>
              <a:grpSpLocks/>
            </p:cNvGrpSpPr>
            <p:nvPr/>
          </p:nvGrpSpPr>
          <p:grpSpPr bwMode="auto">
            <a:xfrm>
              <a:off x="607" y="1572"/>
              <a:ext cx="389" cy="324"/>
              <a:chOff x="799" y="2916"/>
              <a:chExt cx="389" cy="324"/>
            </a:xfrm>
          </p:grpSpPr>
          <p:grpSp>
            <p:nvGrpSpPr>
              <p:cNvPr id="13373" name="Group 61"/>
              <p:cNvGrpSpPr>
                <a:grpSpLocks/>
              </p:cNvGrpSpPr>
              <p:nvPr/>
            </p:nvGrpSpPr>
            <p:grpSpPr bwMode="auto">
              <a:xfrm>
                <a:off x="799" y="2949"/>
                <a:ext cx="288" cy="291"/>
                <a:chOff x="799" y="2949"/>
                <a:chExt cx="288" cy="291"/>
              </a:xfrm>
            </p:grpSpPr>
            <p:sp>
              <p:nvSpPr>
                <p:cNvPr id="13374" name="Oval 62"/>
                <p:cNvSpPr>
                  <a:spLocks noChangeArrowheads="1"/>
                </p:cNvSpPr>
                <p:nvPr/>
              </p:nvSpPr>
              <p:spPr bwMode="auto">
                <a:xfrm>
                  <a:off x="816" y="3012"/>
                  <a:ext cx="192" cy="19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75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799" y="2949"/>
                  <a:ext cx="28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b="1"/>
                    <a:t>+</a:t>
                  </a:r>
                </a:p>
              </p:txBody>
            </p:sp>
          </p:grpSp>
          <p:sp>
            <p:nvSpPr>
              <p:cNvPr id="13376" name="Text Box 64"/>
              <p:cNvSpPr txBox="1">
                <a:spLocks noChangeArrowheads="1"/>
              </p:cNvSpPr>
              <p:nvPr/>
            </p:nvSpPr>
            <p:spPr bwMode="auto">
              <a:xfrm>
                <a:off x="996" y="2916"/>
                <a:ext cx="19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i="1"/>
                  <a:t>q</a:t>
                </a:r>
              </a:p>
            </p:txBody>
          </p:sp>
        </p:grpSp>
        <p:grpSp>
          <p:nvGrpSpPr>
            <p:cNvPr id="13377" name="Group 65"/>
            <p:cNvGrpSpPr>
              <a:grpSpLocks/>
            </p:cNvGrpSpPr>
            <p:nvPr/>
          </p:nvGrpSpPr>
          <p:grpSpPr bwMode="auto">
            <a:xfrm>
              <a:off x="420" y="864"/>
              <a:ext cx="1476" cy="1776"/>
              <a:chOff x="420" y="2412"/>
              <a:chExt cx="1476" cy="1776"/>
            </a:xfrm>
          </p:grpSpPr>
          <p:sp>
            <p:nvSpPr>
              <p:cNvPr id="13378" name="Line 66"/>
              <p:cNvSpPr>
                <a:spLocks noChangeShapeType="1"/>
              </p:cNvSpPr>
              <p:nvPr/>
            </p:nvSpPr>
            <p:spPr bwMode="auto">
              <a:xfrm>
                <a:off x="505" y="3039"/>
                <a:ext cx="432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3379" name="Group 67"/>
              <p:cNvGrpSpPr>
                <a:grpSpLocks/>
              </p:cNvGrpSpPr>
              <p:nvPr/>
            </p:nvGrpSpPr>
            <p:grpSpPr bwMode="auto">
              <a:xfrm>
                <a:off x="420" y="2412"/>
                <a:ext cx="1476" cy="1776"/>
                <a:chOff x="612" y="2208"/>
                <a:chExt cx="1476" cy="1776"/>
              </a:xfrm>
            </p:grpSpPr>
            <p:sp>
              <p:nvSpPr>
                <p:cNvPr id="13380" name="Line 68"/>
                <p:cNvSpPr>
                  <a:spLocks noChangeShapeType="1"/>
                </p:cNvSpPr>
                <p:nvPr/>
              </p:nvSpPr>
              <p:spPr bwMode="auto">
                <a:xfrm>
                  <a:off x="708" y="3408"/>
                  <a:ext cx="432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81" name="Line 69"/>
                <p:cNvSpPr>
                  <a:spLocks noChangeShapeType="1"/>
                </p:cNvSpPr>
                <p:nvPr/>
              </p:nvSpPr>
              <p:spPr bwMode="auto">
                <a:xfrm>
                  <a:off x="912" y="3408"/>
                  <a:ext cx="0" cy="57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82" name="Line 70"/>
                <p:cNvSpPr>
                  <a:spLocks noChangeShapeType="1"/>
                </p:cNvSpPr>
                <p:nvPr/>
              </p:nvSpPr>
              <p:spPr bwMode="auto">
                <a:xfrm flipV="1">
                  <a:off x="912" y="2256"/>
                  <a:ext cx="0" cy="57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83" name="Line 71"/>
                <p:cNvSpPr>
                  <a:spLocks noChangeShapeType="1"/>
                </p:cNvSpPr>
                <p:nvPr/>
              </p:nvSpPr>
              <p:spPr bwMode="auto">
                <a:xfrm>
                  <a:off x="912" y="2256"/>
                  <a:ext cx="110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84" name="Line 72"/>
                <p:cNvSpPr>
                  <a:spLocks noChangeShapeType="1"/>
                </p:cNvSpPr>
                <p:nvPr/>
              </p:nvSpPr>
              <p:spPr bwMode="auto">
                <a:xfrm>
                  <a:off x="924" y="3984"/>
                  <a:ext cx="110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85" name="Line 73"/>
                <p:cNvSpPr>
                  <a:spLocks noChangeShapeType="1"/>
                </p:cNvSpPr>
                <p:nvPr/>
              </p:nvSpPr>
              <p:spPr bwMode="auto">
                <a:xfrm>
                  <a:off x="2016" y="2256"/>
                  <a:ext cx="0" cy="172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86" name="Rectangle 74"/>
                <p:cNvSpPr>
                  <a:spLocks noChangeArrowheads="1"/>
                </p:cNvSpPr>
                <p:nvPr/>
              </p:nvSpPr>
              <p:spPr bwMode="auto">
                <a:xfrm>
                  <a:off x="1968" y="2832"/>
                  <a:ext cx="96" cy="48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87" name="Rectangle 75"/>
                <p:cNvSpPr>
                  <a:spLocks noChangeArrowheads="1"/>
                </p:cNvSpPr>
                <p:nvPr/>
              </p:nvSpPr>
              <p:spPr bwMode="auto">
                <a:xfrm>
                  <a:off x="612" y="2748"/>
                  <a:ext cx="648" cy="732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88" name="Line 76"/>
                <p:cNvSpPr>
                  <a:spLocks noChangeShapeType="1"/>
                </p:cNvSpPr>
                <p:nvPr/>
              </p:nvSpPr>
              <p:spPr bwMode="auto">
                <a:xfrm>
                  <a:off x="1284" y="2256"/>
                  <a:ext cx="38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89" name="Text Box 77"/>
                <p:cNvSpPr txBox="1">
                  <a:spLocks noChangeArrowheads="1"/>
                </p:cNvSpPr>
                <p:nvPr/>
              </p:nvSpPr>
              <p:spPr bwMode="auto">
                <a:xfrm>
                  <a:off x="1704" y="2880"/>
                  <a:ext cx="384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b="1" i="1"/>
                    <a:t>R</a:t>
                  </a:r>
                </a:p>
              </p:txBody>
            </p:sp>
            <p:sp>
              <p:nvSpPr>
                <p:cNvPr id="13390" name="Line 78"/>
                <p:cNvSpPr>
                  <a:spLocks noChangeShapeType="1"/>
                </p:cNvSpPr>
                <p:nvPr/>
              </p:nvSpPr>
              <p:spPr bwMode="auto">
                <a:xfrm flipH="1">
                  <a:off x="1296" y="3984"/>
                  <a:ext cx="38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91" name="Text Box 79"/>
                <p:cNvSpPr txBox="1">
                  <a:spLocks noChangeArrowheads="1"/>
                </p:cNvSpPr>
                <p:nvPr/>
              </p:nvSpPr>
              <p:spPr bwMode="auto">
                <a:xfrm>
                  <a:off x="637" y="3362"/>
                  <a:ext cx="28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b="1"/>
                    <a:t>-</a:t>
                  </a:r>
                </a:p>
              </p:txBody>
            </p:sp>
            <p:sp>
              <p:nvSpPr>
                <p:cNvPr id="13392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1332" y="2208"/>
                  <a:ext cx="384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b="1" i="1"/>
                    <a:t>I</a:t>
                  </a:r>
                </a:p>
              </p:txBody>
            </p:sp>
            <p:sp>
              <p:nvSpPr>
                <p:cNvPr id="13393" name="Text Box 81"/>
                <p:cNvSpPr txBox="1">
                  <a:spLocks noChangeArrowheads="1"/>
                </p:cNvSpPr>
                <p:nvPr/>
              </p:nvSpPr>
              <p:spPr bwMode="auto">
                <a:xfrm>
                  <a:off x="612" y="2448"/>
                  <a:ext cx="28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b="1"/>
                    <a:t>+</a:t>
                  </a:r>
                </a:p>
              </p:txBody>
            </p:sp>
          </p:grpSp>
        </p:grpSp>
        <p:grpSp>
          <p:nvGrpSpPr>
            <p:cNvPr id="13394" name="Group 82"/>
            <p:cNvGrpSpPr>
              <a:grpSpLocks/>
            </p:cNvGrpSpPr>
            <p:nvPr/>
          </p:nvGrpSpPr>
          <p:grpSpPr bwMode="auto">
            <a:xfrm>
              <a:off x="718" y="1056"/>
              <a:ext cx="368" cy="612"/>
              <a:chOff x="912" y="2400"/>
              <a:chExt cx="368" cy="612"/>
            </a:xfrm>
          </p:grpSpPr>
          <p:sp>
            <p:nvSpPr>
              <p:cNvPr id="13395" name="Line 83"/>
              <p:cNvSpPr>
                <a:spLocks noChangeShapeType="1"/>
              </p:cNvSpPr>
              <p:nvPr/>
            </p:nvSpPr>
            <p:spPr bwMode="auto">
              <a:xfrm flipV="1">
                <a:off x="912" y="2448"/>
                <a:ext cx="0" cy="564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3396" name="Object 84"/>
              <p:cNvGraphicFramePr>
                <a:graphicFrameLocks noChangeAspect="1"/>
              </p:cNvGraphicFramePr>
              <p:nvPr/>
            </p:nvGraphicFramePr>
            <p:xfrm>
              <a:off x="960" y="2400"/>
              <a:ext cx="320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8791" name="公式" r:id="rId7" imgW="228600" imgH="241200" progId="Equation.3">
                      <p:embed/>
                    </p:oleObj>
                  </mc:Choice>
                  <mc:Fallback>
                    <p:oleObj name="公式" r:id="rId7" imgW="228600" imgH="241200" progId="Equation.3">
                      <p:embed/>
                      <p:pic>
                        <p:nvPicPr>
                          <p:cNvPr id="0" name="Object 8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60" y="2400"/>
                            <a:ext cx="320" cy="3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3397" name="Group 85"/>
            <p:cNvGrpSpPr>
              <a:grpSpLocks/>
            </p:cNvGrpSpPr>
            <p:nvPr/>
          </p:nvGrpSpPr>
          <p:grpSpPr bwMode="auto">
            <a:xfrm>
              <a:off x="720" y="1860"/>
              <a:ext cx="293" cy="645"/>
              <a:chOff x="912" y="3204"/>
              <a:chExt cx="293" cy="645"/>
            </a:xfrm>
          </p:grpSpPr>
          <p:sp>
            <p:nvSpPr>
              <p:cNvPr id="13398" name="Line 86"/>
              <p:cNvSpPr>
                <a:spLocks noChangeShapeType="1"/>
              </p:cNvSpPr>
              <p:nvPr/>
            </p:nvSpPr>
            <p:spPr bwMode="auto">
              <a:xfrm>
                <a:off x="912" y="3204"/>
                <a:ext cx="0" cy="588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3399" name="Object 87"/>
              <p:cNvGraphicFramePr>
                <a:graphicFrameLocks noChangeAspect="1"/>
              </p:cNvGraphicFramePr>
              <p:nvPr/>
            </p:nvGraphicFramePr>
            <p:xfrm>
              <a:off x="938" y="3496"/>
              <a:ext cx="267" cy="3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8792" name="公式" r:id="rId9" imgW="190440" imgH="253800" progId="Equation.3">
                      <p:embed/>
                    </p:oleObj>
                  </mc:Choice>
                  <mc:Fallback>
                    <p:oleObj name="公式" r:id="rId9" imgW="190440" imgH="253800" progId="Equation.3">
                      <p:embed/>
                      <p:pic>
                        <p:nvPicPr>
                          <p:cNvPr id="0" name="Object 8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38" y="3496"/>
                            <a:ext cx="267" cy="35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" name="组合 3"/>
          <p:cNvGrpSpPr/>
          <p:nvPr/>
        </p:nvGrpSpPr>
        <p:grpSpPr>
          <a:xfrm>
            <a:off x="309602" y="1101253"/>
            <a:ext cx="3114596" cy="644525"/>
            <a:chOff x="364331" y="4735513"/>
            <a:chExt cx="3114596" cy="644525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80027702"/>
                </p:ext>
              </p:extLst>
            </p:nvPr>
          </p:nvGraphicFramePr>
          <p:xfrm>
            <a:off x="364331" y="4735513"/>
            <a:ext cx="642937" cy="644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793" name="Equation" r:id="rId11" imgW="228600" imgH="228600" progId="Equation.DSMT4">
                    <p:embed/>
                  </p:oleObj>
                </mc:Choice>
                <mc:Fallback>
                  <p:oleObj name="Equation" r:id="rId11" imgW="228600" imgH="2286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331" y="4735513"/>
                          <a:ext cx="642937" cy="644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TextBox 2"/>
            <p:cNvSpPr txBox="1"/>
            <p:nvPr/>
          </p:nvSpPr>
          <p:spPr>
            <a:xfrm>
              <a:off x="1139825" y="4814094"/>
              <a:ext cx="23391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 smtClean="0"/>
                <a:t>静电力所做的功</a:t>
              </a:r>
              <a:endParaRPr lang="zh-CN" altLang="en-US" b="1" dirty="0"/>
            </a:p>
          </p:txBody>
        </p:sp>
      </p:grpSp>
      <p:sp>
        <p:nvSpPr>
          <p:cNvPr id="5" name="矩形 4"/>
          <p:cNvSpPr/>
          <p:nvPr/>
        </p:nvSpPr>
        <p:spPr>
          <a:xfrm>
            <a:off x="2913999" y="3220509"/>
            <a:ext cx="5658741" cy="83099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b="1"/>
              <a:t>把单位正电荷从负极通过电源内部移到正极时，非静电力所做的功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1577646" y="4267030"/>
            <a:ext cx="7566354" cy="1777459"/>
            <a:chOff x="541065" y="4941168"/>
            <a:chExt cx="7566354" cy="1777459"/>
          </a:xfrm>
        </p:grpSpPr>
        <p:sp>
          <p:nvSpPr>
            <p:cNvPr id="6" name="矩形 5"/>
            <p:cNvSpPr/>
            <p:nvPr/>
          </p:nvSpPr>
          <p:spPr>
            <a:xfrm>
              <a:off x="541065" y="4941168"/>
              <a:ext cx="7094289" cy="1754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800100" lvl="1" indent="-342900">
                <a:lnSpc>
                  <a:spcPct val="150000"/>
                </a:lnSpc>
                <a:buFont typeface="Wingdings" pitchFamily="2" charset="2"/>
                <a:buChar char="Ø"/>
              </a:pPr>
              <a:r>
                <a:rPr lang="zh-CN" altLang="en-US" b="1" smtClean="0"/>
                <a:t>标量，方向</a:t>
              </a:r>
              <a:r>
                <a:rPr lang="zh-CN" altLang="en-US" b="1"/>
                <a:t>：电源</a:t>
              </a:r>
              <a:r>
                <a:rPr lang="zh-CN" altLang="en-US" b="1" smtClean="0"/>
                <a:t>内部负极        正极</a:t>
              </a:r>
              <a:endParaRPr lang="zh-CN" altLang="en-US" b="1"/>
            </a:p>
            <a:p>
              <a:pPr marL="800100" lvl="1" indent="-342900">
                <a:lnSpc>
                  <a:spcPct val="150000"/>
                </a:lnSpc>
                <a:buFont typeface="Wingdings" pitchFamily="2" charset="2"/>
                <a:buChar char="Ø"/>
              </a:pPr>
              <a:r>
                <a:rPr lang="zh-CN" altLang="en-US" b="1"/>
                <a:t>与外电路是否接通无关 </a:t>
              </a:r>
            </a:p>
            <a:p>
              <a:pPr marL="800100" lvl="1" indent="-342900">
                <a:lnSpc>
                  <a:spcPct val="150000"/>
                </a:lnSpc>
                <a:buFont typeface="Wingdings" pitchFamily="2" charset="2"/>
                <a:buChar char="Ø"/>
              </a:pPr>
              <a:r>
                <a:rPr lang="zh-CN" altLang="en-US" b="1"/>
                <a:t>有时无法区分电源内外，如涡旋电场  </a:t>
              </a:r>
            </a:p>
          </p:txBody>
        </p:sp>
        <p:cxnSp>
          <p:nvCxnSpPr>
            <p:cNvPr id="10" name="直接箭头连接符 9"/>
            <p:cNvCxnSpPr/>
            <p:nvPr/>
          </p:nvCxnSpPr>
          <p:spPr bwMode="auto">
            <a:xfrm>
              <a:off x="5220072" y="5301208"/>
              <a:ext cx="457200" cy="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9333532"/>
                </p:ext>
              </p:extLst>
            </p:nvPr>
          </p:nvGraphicFramePr>
          <p:xfrm>
            <a:off x="6516216" y="6093296"/>
            <a:ext cx="1591203" cy="625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794" r:id="rId13" imgW="723586" imgH="279279" progId="Equation.3">
                    <p:embed/>
                  </p:oleObj>
                </mc:Choice>
                <mc:Fallback>
                  <p:oleObj r:id="rId13" imgW="723586" imgH="279279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16216" y="6093296"/>
                          <a:ext cx="1591203" cy="625331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bg1"/>
                          </a:solidFill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9801355"/>
              </p:ext>
            </p:extLst>
          </p:nvPr>
        </p:nvGraphicFramePr>
        <p:xfrm>
          <a:off x="5420461" y="6161112"/>
          <a:ext cx="205740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795" r:id="rId15" imgW="875920" imgH="253890" progId="Equation.3">
                  <p:embed/>
                </p:oleObj>
              </mc:Choice>
              <mc:Fallback>
                <p:oleObj r:id="rId15" imgW="875920" imgH="2538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0461" y="6161112"/>
                        <a:ext cx="2057400" cy="6127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Text Box 12"/>
          <p:cNvSpPr txBox="1">
            <a:spLocks noChangeArrowheads="1"/>
          </p:cNvSpPr>
          <p:nvPr/>
        </p:nvSpPr>
        <p:spPr bwMode="auto">
          <a:xfrm>
            <a:off x="2067661" y="6237312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ea typeface="黑体" pitchFamily="49" charset="-122"/>
              </a:rPr>
              <a:t>电源内部</a:t>
            </a:r>
            <a:r>
              <a:rPr lang="zh-CN" altLang="en-US"/>
              <a:t> </a:t>
            </a:r>
            <a:r>
              <a:rPr lang="zh-CN" altLang="en-US" b="1"/>
              <a:t>电流密度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3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 autoUpdateAnimBg="0"/>
      <p:bldP spid="13319" grpId="0" autoUpdateAnimBg="0"/>
      <p:bldP spid="13320" grpId="0" autoUpdateAnimBg="0"/>
      <p:bldP spid="5" grpId="0"/>
      <p:bldP spid="52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570242" y="6383387"/>
            <a:ext cx="501824" cy="457200"/>
          </a:xfrm>
        </p:spPr>
        <p:txBody>
          <a:bodyPr/>
          <a:lstStyle/>
          <a:p>
            <a:fld id="{9CA2D9BE-F7BE-4735-B3FB-4E83358A8CB9}" type="slidenum">
              <a:rPr lang="en-US" altLang="zh-CN"/>
              <a:pPr/>
              <a:t>28</a:t>
            </a:fld>
            <a:endParaRPr lang="en-US" altLang="zh-CN"/>
          </a:p>
        </p:txBody>
      </p:sp>
      <p:grpSp>
        <p:nvGrpSpPr>
          <p:cNvPr id="25603" name="Group 3"/>
          <p:cNvGrpSpPr>
            <a:grpSpLocks/>
          </p:cNvGrpSpPr>
          <p:nvPr/>
        </p:nvGrpSpPr>
        <p:grpSpPr bwMode="auto">
          <a:xfrm>
            <a:off x="419100" y="781050"/>
            <a:ext cx="3333750" cy="2520950"/>
            <a:chOff x="72" y="681"/>
            <a:chExt cx="2400" cy="1815"/>
          </a:xfrm>
        </p:grpSpPr>
        <p:grpSp>
          <p:nvGrpSpPr>
            <p:cNvPr id="25604" name="Group 4"/>
            <p:cNvGrpSpPr>
              <a:grpSpLocks/>
            </p:cNvGrpSpPr>
            <p:nvPr/>
          </p:nvGrpSpPr>
          <p:grpSpPr bwMode="auto">
            <a:xfrm>
              <a:off x="432" y="960"/>
              <a:ext cx="1728" cy="480"/>
              <a:chOff x="432" y="960"/>
              <a:chExt cx="1728" cy="480"/>
            </a:xfrm>
          </p:grpSpPr>
          <p:sp>
            <p:nvSpPr>
              <p:cNvPr id="25605" name="Freeform 5"/>
              <p:cNvSpPr>
                <a:spLocks/>
              </p:cNvSpPr>
              <p:nvPr/>
            </p:nvSpPr>
            <p:spPr bwMode="auto">
              <a:xfrm>
                <a:off x="432" y="960"/>
                <a:ext cx="1728" cy="480"/>
              </a:xfrm>
              <a:custGeom>
                <a:avLst/>
                <a:gdLst>
                  <a:gd name="T0" fmla="*/ 0 w 1728"/>
                  <a:gd name="T1" fmla="*/ 392 h 392"/>
                  <a:gd name="T2" fmla="*/ 288 w 1728"/>
                  <a:gd name="T3" fmla="*/ 152 h 392"/>
                  <a:gd name="T4" fmla="*/ 912 w 1728"/>
                  <a:gd name="T5" fmla="*/ 8 h 392"/>
                  <a:gd name="T6" fmla="*/ 1584 w 1728"/>
                  <a:gd name="T7" fmla="*/ 200 h 392"/>
                  <a:gd name="T8" fmla="*/ 1728 w 1728"/>
                  <a:gd name="T9" fmla="*/ 392 h 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28" h="392">
                    <a:moveTo>
                      <a:pt x="0" y="392"/>
                    </a:moveTo>
                    <a:cubicBezTo>
                      <a:pt x="68" y="304"/>
                      <a:pt x="136" y="216"/>
                      <a:pt x="288" y="152"/>
                    </a:cubicBezTo>
                    <a:cubicBezTo>
                      <a:pt x="440" y="88"/>
                      <a:pt x="696" y="0"/>
                      <a:pt x="912" y="8"/>
                    </a:cubicBezTo>
                    <a:cubicBezTo>
                      <a:pt x="1128" y="16"/>
                      <a:pt x="1448" y="136"/>
                      <a:pt x="1584" y="200"/>
                    </a:cubicBezTo>
                    <a:cubicBezTo>
                      <a:pt x="1720" y="264"/>
                      <a:pt x="1724" y="328"/>
                      <a:pt x="1728" y="392"/>
                    </a:cubicBez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06" name="Freeform 6"/>
              <p:cNvSpPr>
                <a:spLocks/>
              </p:cNvSpPr>
              <p:nvPr/>
            </p:nvSpPr>
            <p:spPr bwMode="auto">
              <a:xfrm>
                <a:off x="624" y="1152"/>
                <a:ext cx="1344" cy="288"/>
              </a:xfrm>
              <a:custGeom>
                <a:avLst/>
                <a:gdLst>
                  <a:gd name="T0" fmla="*/ 0 w 1728"/>
                  <a:gd name="T1" fmla="*/ 392 h 392"/>
                  <a:gd name="T2" fmla="*/ 288 w 1728"/>
                  <a:gd name="T3" fmla="*/ 152 h 392"/>
                  <a:gd name="T4" fmla="*/ 912 w 1728"/>
                  <a:gd name="T5" fmla="*/ 8 h 392"/>
                  <a:gd name="T6" fmla="*/ 1584 w 1728"/>
                  <a:gd name="T7" fmla="*/ 200 h 392"/>
                  <a:gd name="T8" fmla="*/ 1728 w 1728"/>
                  <a:gd name="T9" fmla="*/ 392 h 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28" h="392">
                    <a:moveTo>
                      <a:pt x="0" y="392"/>
                    </a:moveTo>
                    <a:cubicBezTo>
                      <a:pt x="68" y="304"/>
                      <a:pt x="136" y="216"/>
                      <a:pt x="288" y="152"/>
                    </a:cubicBezTo>
                    <a:cubicBezTo>
                      <a:pt x="440" y="88"/>
                      <a:pt x="696" y="0"/>
                      <a:pt x="912" y="8"/>
                    </a:cubicBezTo>
                    <a:cubicBezTo>
                      <a:pt x="1128" y="16"/>
                      <a:pt x="1448" y="136"/>
                      <a:pt x="1584" y="200"/>
                    </a:cubicBezTo>
                    <a:cubicBezTo>
                      <a:pt x="1720" y="264"/>
                      <a:pt x="1724" y="328"/>
                      <a:pt x="1728" y="392"/>
                    </a:cubicBez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07" name="Line 7"/>
              <p:cNvSpPr>
                <a:spLocks noChangeShapeType="1"/>
              </p:cNvSpPr>
              <p:nvPr/>
            </p:nvSpPr>
            <p:spPr bwMode="auto">
              <a:xfrm>
                <a:off x="432" y="144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08" name="Line 8"/>
              <p:cNvSpPr>
                <a:spLocks noChangeShapeType="1"/>
              </p:cNvSpPr>
              <p:nvPr/>
            </p:nvSpPr>
            <p:spPr bwMode="auto">
              <a:xfrm>
                <a:off x="1968" y="144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5609" name="Group 9"/>
            <p:cNvGrpSpPr>
              <a:grpSpLocks/>
            </p:cNvGrpSpPr>
            <p:nvPr/>
          </p:nvGrpSpPr>
          <p:grpSpPr bwMode="auto">
            <a:xfrm flipV="1">
              <a:off x="432" y="1440"/>
              <a:ext cx="1728" cy="480"/>
              <a:chOff x="432" y="960"/>
              <a:chExt cx="1728" cy="480"/>
            </a:xfrm>
          </p:grpSpPr>
          <p:sp>
            <p:nvSpPr>
              <p:cNvPr id="25610" name="Freeform 10"/>
              <p:cNvSpPr>
                <a:spLocks/>
              </p:cNvSpPr>
              <p:nvPr/>
            </p:nvSpPr>
            <p:spPr bwMode="auto">
              <a:xfrm>
                <a:off x="432" y="960"/>
                <a:ext cx="1728" cy="480"/>
              </a:xfrm>
              <a:custGeom>
                <a:avLst/>
                <a:gdLst>
                  <a:gd name="T0" fmla="*/ 0 w 1728"/>
                  <a:gd name="T1" fmla="*/ 392 h 392"/>
                  <a:gd name="T2" fmla="*/ 288 w 1728"/>
                  <a:gd name="T3" fmla="*/ 152 h 392"/>
                  <a:gd name="T4" fmla="*/ 912 w 1728"/>
                  <a:gd name="T5" fmla="*/ 8 h 392"/>
                  <a:gd name="T6" fmla="*/ 1584 w 1728"/>
                  <a:gd name="T7" fmla="*/ 200 h 392"/>
                  <a:gd name="T8" fmla="*/ 1728 w 1728"/>
                  <a:gd name="T9" fmla="*/ 392 h 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28" h="392">
                    <a:moveTo>
                      <a:pt x="0" y="392"/>
                    </a:moveTo>
                    <a:cubicBezTo>
                      <a:pt x="68" y="304"/>
                      <a:pt x="136" y="216"/>
                      <a:pt x="288" y="152"/>
                    </a:cubicBezTo>
                    <a:cubicBezTo>
                      <a:pt x="440" y="88"/>
                      <a:pt x="696" y="0"/>
                      <a:pt x="912" y="8"/>
                    </a:cubicBezTo>
                    <a:cubicBezTo>
                      <a:pt x="1128" y="16"/>
                      <a:pt x="1448" y="136"/>
                      <a:pt x="1584" y="200"/>
                    </a:cubicBezTo>
                    <a:cubicBezTo>
                      <a:pt x="1720" y="264"/>
                      <a:pt x="1724" y="328"/>
                      <a:pt x="1728" y="392"/>
                    </a:cubicBez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11" name="Freeform 11"/>
              <p:cNvSpPr>
                <a:spLocks/>
              </p:cNvSpPr>
              <p:nvPr/>
            </p:nvSpPr>
            <p:spPr bwMode="auto">
              <a:xfrm>
                <a:off x="624" y="1152"/>
                <a:ext cx="1344" cy="288"/>
              </a:xfrm>
              <a:custGeom>
                <a:avLst/>
                <a:gdLst>
                  <a:gd name="T0" fmla="*/ 0 w 1728"/>
                  <a:gd name="T1" fmla="*/ 392 h 392"/>
                  <a:gd name="T2" fmla="*/ 288 w 1728"/>
                  <a:gd name="T3" fmla="*/ 152 h 392"/>
                  <a:gd name="T4" fmla="*/ 912 w 1728"/>
                  <a:gd name="T5" fmla="*/ 8 h 392"/>
                  <a:gd name="T6" fmla="*/ 1584 w 1728"/>
                  <a:gd name="T7" fmla="*/ 200 h 392"/>
                  <a:gd name="T8" fmla="*/ 1728 w 1728"/>
                  <a:gd name="T9" fmla="*/ 392 h 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28" h="392">
                    <a:moveTo>
                      <a:pt x="0" y="392"/>
                    </a:moveTo>
                    <a:cubicBezTo>
                      <a:pt x="68" y="304"/>
                      <a:pt x="136" y="216"/>
                      <a:pt x="288" y="152"/>
                    </a:cubicBezTo>
                    <a:cubicBezTo>
                      <a:pt x="440" y="88"/>
                      <a:pt x="696" y="0"/>
                      <a:pt x="912" y="8"/>
                    </a:cubicBezTo>
                    <a:cubicBezTo>
                      <a:pt x="1128" y="16"/>
                      <a:pt x="1448" y="136"/>
                      <a:pt x="1584" y="200"/>
                    </a:cubicBezTo>
                    <a:cubicBezTo>
                      <a:pt x="1720" y="264"/>
                      <a:pt x="1724" y="328"/>
                      <a:pt x="1728" y="392"/>
                    </a:cubicBez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12" name="Line 12"/>
              <p:cNvSpPr>
                <a:spLocks noChangeShapeType="1"/>
              </p:cNvSpPr>
              <p:nvPr/>
            </p:nvSpPr>
            <p:spPr bwMode="auto">
              <a:xfrm>
                <a:off x="432" y="1440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13" name="Line 13"/>
              <p:cNvSpPr>
                <a:spLocks noChangeShapeType="1"/>
              </p:cNvSpPr>
              <p:nvPr/>
            </p:nvSpPr>
            <p:spPr bwMode="auto">
              <a:xfrm>
                <a:off x="1968" y="1440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5614" name="Text Box 14"/>
            <p:cNvSpPr txBox="1">
              <a:spLocks noChangeArrowheads="1"/>
            </p:cNvSpPr>
            <p:nvPr/>
          </p:nvSpPr>
          <p:spPr bwMode="auto">
            <a:xfrm>
              <a:off x="1104" y="1872"/>
              <a:ext cx="480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Cu</a:t>
              </a:r>
            </a:p>
          </p:txBody>
        </p:sp>
        <p:sp>
          <p:nvSpPr>
            <p:cNvPr id="25615" name="Text Box 15"/>
            <p:cNvSpPr txBox="1">
              <a:spLocks noChangeArrowheads="1"/>
            </p:cNvSpPr>
            <p:nvPr/>
          </p:nvSpPr>
          <p:spPr bwMode="auto">
            <a:xfrm>
              <a:off x="1152" y="681"/>
              <a:ext cx="480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Fe</a:t>
              </a:r>
            </a:p>
          </p:txBody>
        </p:sp>
        <p:grpSp>
          <p:nvGrpSpPr>
            <p:cNvPr id="25616" name="Group 16"/>
            <p:cNvGrpSpPr>
              <a:grpSpLocks/>
            </p:cNvGrpSpPr>
            <p:nvPr/>
          </p:nvGrpSpPr>
          <p:grpSpPr bwMode="auto">
            <a:xfrm>
              <a:off x="72" y="1564"/>
              <a:ext cx="684" cy="932"/>
              <a:chOff x="204" y="1768"/>
              <a:chExt cx="684" cy="932"/>
            </a:xfrm>
          </p:grpSpPr>
          <p:sp>
            <p:nvSpPr>
              <p:cNvPr id="25617" name="Oval 17"/>
              <p:cNvSpPr>
                <a:spLocks noChangeArrowheads="1"/>
              </p:cNvSpPr>
              <p:nvPr/>
            </p:nvSpPr>
            <p:spPr bwMode="auto">
              <a:xfrm>
                <a:off x="288" y="2256"/>
                <a:ext cx="528" cy="19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18" name="Oval 18"/>
              <p:cNvSpPr>
                <a:spLocks noChangeArrowheads="1"/>
              </p:cNvSpPr>
              <p:nvPr/>
            </p:nvSpPr>
            <p:spPr bwMode="auto">
              <a:xfrm>
                <a:off x="288" y="2508"/>
                <a:ext cx="528" cy="19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19" name="Rectangle 19"/>
              <p:cNvSpPr>
                <a:spLocks noChangeArrowheads="1"/>
              </p:cNvSpPr>
              <p:nvPr/>
            </p:nvSpPr>
            <p:spPr bwMode="auto">
              <a:xfrm>
                <a:off x="240" y="2460"/>
                <a:ext cx="624" cy="14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20" name="Freeform 20"/>
              <p:cNvSpPr>
                <a:spLocks/>
              </p:cNvSpPr>
              <p:nvPr/>
            </p:nvSpPr>
            <p:spPr bwMode="auto">
              <a:xfrm>
                <a:off x="204" y="2352"/>
                <a:ext cx="60" cy="240"/>
              </a:xfrm>
              <a:custGeom>
                <a:avLst/>
                <a:gdLst>
                  <a:gd name="T0" fmla="*/ 48 w 48"/>
                  <a:gd name="T1" fmla="*/ 0 h 288"/>
                  <a:gd name="T2" fmla="*/ 0 w 48"/>
                  <a:gd name="T3" fmla="*/ 96 h 288"/>
                  <a:gd name="T4" fmla="*/ 48 w 48"/>
                  <a:gd name="T5" fmla="*/ 288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8" h="288">
                    <a:moveTo>
                      <a:pt x="48" y="0"/>
                    </a:moveTo>
                    <a:cubicBezTo>
                      <a:pt x="24" y="24"/>
                      <a:pt x="0" y="48"/>
                      <a:pt x="0" y="96"/>
                    </a:cubicBezTo>
                    <a:cubicBezTo>
                      <a:pt x="0" y="144"/>
                      <a:pt x="24" y="216"/>
                      <a:pt x="48" y="288"/>
                    </a:cubicBez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21" name="Freeform 21"/>
              <p:cNvSpPr>
                <a:spLocks/>
              </p:cNvSpPr>
              <p:nvPr/>
            </p:nvSpPr>
            <p:spPr bwMode="auto">
              <a:xfrm flipH="1">
                <a:off x="828" y="2352"/>
                <a:ext cx="60" cy="240"/>
              </a:xfrm>
              <a:custGeom>
                <a:avLst/>
                <a:gdLst>
                  <a:gd name="T0" fmla="*/ 48 w 48"/>
                  <a:gd name="T1" fmla="*/ 0 h 288"/>
                  <a:gd name="T2" fmla="*/ 0 w 48"/>
                  <a:gd name="T3" fmla="*/ 96 h 288"/>
                  <a:gd name="T4" fmla="*/ 48 w 48"/>
                  <a:gd name="T5" fmla="*/ 288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8" h="288">
                    <a:moveTo>
                      <a:pt x="48" y="0"/>
                    </a:moveTo>
                    <a:cubicBezTo>
                      <a:pt x="24" y="24"/>
                      <a:pt x="0" y="48"/>
                      <a:pt x="0" y="96"/>
                    </a:cubicBezTo>
                    <a:cubicBezTo>
                      <a:pt x="0" y="144"/>
                      <a:pt x="24" y="216"/>
                      <a:pt x="48" y="288"/>
                    </a:cubicBez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5622" name="Group 22"/>
              <p:cNvGrpSpPr>
                <a:grpSpLocks/>
              </p:cNvGrpSpPr>
              <p:nvPr/>
            </p:nvGrpSpPr>
            <p:grpSpPr bwMode="auto">
              <a:xfrm>
                <a:off x="408" y="2148"/>
                <a:ext cx="288" cy="216"/>
                <a:chOff x="408" y="2136"/>
                <a:chExt cx="288" cy="216"/>
              </a:xfrm>
            </p:grpSpPr>
            <p:grpSp>
              <p:nvGrpSpPr>
                <p:cNvPr id="25623" name="Group 23"/>
                <p:cNvGrpSpPr>
                  <a:grpSpLocks/>
                </p:cNvGrpSpPr>
                <p:nvPr/>
              </p:nvGrpSpPr>
              <p:grpSpPr bwMode="auto">
                <a:xfrm>
                  <a:off x="468" y="2136"/>
                  <a:ext cx="192" cy="192"/>
                  <a:chOff x="432" y="2112"/>
                  <a:chExt cx="192" cy="192"/>
                </a:xfrm>
              </p:grpSpPr>
              <p:sp>
                <p:nvSpPr>
                  <p:cNvPr id="25624" name="Line 2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32" y="2112"/>
                    <a:ext cx="48" cy="192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25" name="Line 25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624" y="2112"/>
                    <a:ext cx="0" cy="192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26" name="Oval 26"/>
                  <p:cNvSpPr>
                    <a:spLocks noChangeArrowheads="1"/>
                  </p:cNvSpPr>
                  <p:nvPr/>
                </p:nvSpPr>
                <p:spPr bwMode="auto">
                  <a:xfrm>
                    <a:off x="480" y="2112"/>
                    <a:ext cx="144" cy="48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5627" name="Freeform 27"/>
                <p:cNvSpPr>
                  <a:spLocks/>
                </p:cNvSpPr>
                <p:nvPr/>
              </p:nvSpPr>
              <p:spPr bwMode="auto">
                <a:xfrm>
                  <a:off x="408" y="2304"/>
                  <a:ext cx="288" cy="48"/>
                </a:xfrm>
                <a:custGeom>
                  <a:avLst/>
                  <a:gdLst>
                    <a:gd name="T0" fmla="*/ 0 w 240"/>
                    <a:gd name="T1" fmla="*/ 0 h 48"/>
                    <a:gd name="T2" fmla="*/ 96 w 240"/>
                    <a:gd name="T3" fmla="*/ 48 h 48"/>
                    <a:gd name="T4" fmla="*/ 240 w 240"/>
                    <a:gd name="T5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40" h="48">
                      <a:moveTo>
                        <a:pt x="0" y="0"/>
                      </a:moveTo>
                      <a:cubicBezTo>
                        <a:pt x="28" y="24"/>
                        <a:pt x="56" y="48"/>
                        <a:pt x="96" y="48"/>
                      </a:cubicBezTo>
                      <a:cubicBezTo>
                        <a:pt x="136" y="48"/>
                        <a:pt x="188" y="24"/>
                        <a:pt x="240" y="0"/>
                      </a:cubicBez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5628" name="Line 28"/>
              <p:cNvSpPr>
                <a:spLocks noChangeShapeType="1"/>
              </p:cNvSpPr>
              <p:nvPr/>
            </p:nvSpPr>
            <p:spPr bwMode="auto">
              <a:xfrm>
                <a:off x="504" y="2256"/>
                <a:ext cx="144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29" name="Freeform 29"/>
              <p:cNvSpPr>
                <a:spLocks/>
              </p:cNvSpPr>
              <p:nvPr/>
            </p:nvSpPr>
            <p:spPr bwMode="auto">
              <a:xfrm>
                <a:off x="480" y="1768"/>
                <a:ext cx="200" cy="400"/>
              </a:xfrm>
              <a:custGeom>
                <a:avLst/>
                <a:gdLst>
                  <a:gd name="T0" fmla="*/ 96 w 200"/>
                  <a:gd name="T1" fmla="*/ 392 h 400"/>
                  <a:gd name="T2" fmla="*/ 0 w 200"/>
                  <a:gd name="T3" fmla="*/ 152 h 400"/>
                  <a:gd name="T4" fmla="*/ 96 w 200"/>
                  <a:gd name="T5" fmla="*/ 8 h 400"/>
                  <a:gd name="T6" fmla="*/ 192 w 200"/>
                  <a:gd name="T7" fmla="*/ 200 h 400"/>
                  <a:gd name="T8" fmla="*/ 96 w 200"/>
                  <a:gd name="T9" fmla="*/ 392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" h="400">
                    <a:moveTo>
                      <a:pt x="96" y="392"/>
                    </a:moveTo>
                    <a:cubicBezTo>
                      <a:pt x="64" y="384"/>
                      <a:pt x="0" y="216"/>
                      <a:pt x="0" y="152"/>
                    </a:cubicBezTo>
                    <a:cubicBezTo>
                      <a:pt x="0" y="88"/>
                      <a:pt x="64" y="0"/>
                      <a:pt x="96" y="8"/>
                    </a:cubicBezTo>
                    <a:cubicBezTo>
                      <a:pt x="128" y="16"/>
                      <a:pt x="184" y="144"/>
                      <a:pt x="192" y="200"/>
                    </a:cubicBezTo>
                    <a:cubicBezTo>
                      <a:pt x="200" y="256"/>
                      <a:pt x="128" y="400"/>
                      <a:pt x="96" y="392"/>
                    </a:cubicBezTo>
                    <a:close/>
                  </a:path>
                </a:pathLst>
              </a:cu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5630" name="Freeform 30"/>
            <p:cNvSpPr>
              <a:spLocks/>
            </p:cNvSpPr>
            <p:nvPr/>
          </p:nvSpPr>
          <p:spPr bwMode="auto">
            <a:xfrm rot="241111">
              <a:off x="961" y="1056"/>
              <a:ext cx="720" cy="96"/>
            </a:xfrm>
            <a:custGeom>
              <a:avLst/>
              <a:gdLst>
                <a:gd name="T0" fmla="*/ 0 w 720"/>
                <a:gd name="T1" fmla="*/ 104 h 104"/>
                <a:gd name="T2" fmla="*/ 336 w 720"/>
                <a:gd name="T3" fmla="*/ 8 h 104"/>
                <a:gd name="T4" fmla="*/ 720 w 720"/>
                <a:gd name="T5" fmla="*/ 56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0" h="104">
                  <a:moveTo>
                    <a:pt x="0" y="104"/>
                  </a:moveTo>
                  <a:cubicBezTo>
                    <a:pt x="108" y="60"/>
                    <a:pt x="216" y="16"/>
                    <a:pt x="336" y="8"/>
                  </a:cubicBezTo>
                  <a:cubicBezTo>
                    <a:pt x="456" y="0"/>
                    <a:pt x="588" y="28"/>
                    <a:pt x="720" y="56"/>
                  </a:cubicBezTo>
                </a:path>
              </a:pathLst>
            </a:custGeom>
            <a:noFill/>
            <a:ln w="38100" cmpd="sng">
              <a:solidFill>
                <a:srgbClr val="FF3300"/>
              </a:solidFill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1" name="Freeform 31"/>
            <p:cNvSpPr>
              <a:spLocks/>
            </p:cNvSpPr>
            <p:nvPr/>
          </p:nvSpPr>
          <p:spPr bwMode="auto">
            <a:xfrm rot="241111" flipH="1" flipV="1">
              <a:off x="900" y="1716"/>
              <a:ext cx="720" cy="96"/>
            </a:xfrm>
            <a:custGeom>
              <a:avLst/>
              <a:gdLst>
                <a:gd name="T0" fmla="*/ 0 w 720"/>
                <a:gd name="T1" fmla="*/ 104 h 104"/>
                <a:gd name="T2" fmla="*/ 336 w 720"/>
                <a:gd name="T3" fmla="*/ 8 h 104"/>
                <a:gd name="T4" fmla="*/ 720 w 720"/>
                <a:gd name="T5" fmla="*/ 56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0" h="104">
                  <a:moveTo>
                    <a:pt x="0" y="104"/>
                  </a:moveTo>
                  <a:cubicBezTo>
                    <a:pt x="108" y="60"/>
                    <a:pt x="216" y="16"/>
                    <a:pt x="336" y="8"/>
                  </a:cubicBezTo>
                  <a:cubicBezTo>
                    <a:pt x="456" y="0"/>
                    <a:pt x="588" y="28"/>
                    <a:pt x="720" y="56"/>
                  </a:cubicBezTo>
                </a:path>
              </a:pathLst>
            </a:custGeom>
            <a:noFill/>
            <a:ln w="38100" cmpd="sng">
              <a:solidFill>
                <a:srgbClr val="FF3300"/>
              </a:solidFill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2" name="Text Box 32"/>
            <p:cNvSpPr txBox="1">
              <a:spLocks noChangeArrowheads="1"/>
            </p:cNvSpPr>
            <p:nvPr/>
          </p:nvSpPr>
          <p:spPr bwMode="auto">
            <a:xfrm>
              <a:off x="1200" y="1008"/>
              <a:ext cx="384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FF3300"/>
                  </a:solidFill>
                </a:rPr>
                <a:t>I</a:t>
              </a:r>
            </a:p>
          </p:txBody>
        </p:sp>
        <p:sp>
          <p:nvSpPr>
            <p:cNvPr id="25633" name="Text Box 33"/>
            <p:cNvSpPr txBox="1">
              <a:spLocks noChangeArrowheads="1"/>
            </p:cNvSpPr>
            <p:nvPr/>
          </p:nvSpPr>
          <p:spPr bwMode="auto">
            <a:xfrm>
              <a:off x="1224" y="1524"/>
              <a:ext cx="38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FF3300"/>
                  </a:solidFill>
                </a:rPr>
                <a:t>I</a:t>
              </a:r>
            </a:p>
          </p:txBody>
        </p:sp>
        <p:sp>
          <p:nvSpPr>
            <p:cNvPr id="25634" name="Text Box 34"/>
            <p:cNvSpPr txBox="1">
              <a:spLocks noChangeArrowheads="1"/>
            </p:cNvSpPr>
            <p:nvPr/>
          </p:nvSpPr>
          <p:spPr bwMode="auto">
            <a:xfrm>
              <a:off x="144" y="864"/>
              <a:ext cx="336" cy="8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FF3300"/>
                  </a:solidFill>
                </a:rPr>
                <a:t>热接头</a:t>
              </a:r>
            </a:p>
          </p:txBody>
        </p:sp>
        <p:sp>
          <p:nvSpPr>
            <p:cNvPr id="25635" name="Text Box 35"/>
            <p:cNvSpPr txBox="1">
              <a:spLocks noChangeArrowheads="1"/>
            </p:cNvSpPr>
            <p:nvPr/>
          </p:nvSpPr>
          <p:spPr bwMode="auto">
            <a:xfrm>
              <a:off x="2136" y="828"/>
              <a:ext cx="336" cy="8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/>
                <a:t>冷接头</a:t>
              </a:r>
            </a:p>
          </p:txBody>
        </p:sp>
      </p:grpSp>
      <p:sp>
        <p:nvSpPr>
          <p:cNvPr id="25636" name="Text Box 36"/>
          <p:cNvSpPr txBox="1">
            <a:spLocks noChangeArrowheads="1"/>
          </p:cNvSpPr>
          <p:nvPr/>
        </p:nvSpPr>
        <p:spPr bwMode="auto">
          <a:xfrm>
            <a:off x="3924300" y="1409700"/>
            <a:ext cx="52197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b="1" dirty="0"/>
              <a:t>若两个接头处的温度不同，     </a:t>
            </a:r>
          </a:p>
        </p:txBody>
      </p:sp>
      <p:sp>
        <p:nvSpPr>
          <p:cNvPr id="25638" name="Rectangle 38"/>
          <p:cNvSpPr>
            <a:spLocks noChangeArrowheads="1"/>
          </p:cNvSpPr>
          <p:nvPr/>
        </p:nvSpPr>
        <p:spPr bwMode="auto">
          <a:xfrm>
            <a:off x="4362450" y="895350"/>
            <a:ext cx="46894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/>
              <a:t>两种金属接成一个回路，</a:t>
            </a:r>
          </a:p>
        </p:txBody>
      </p:sp>
      <p:sp>
        <p:nvSpPr>
          <p:cNvPr id="25640" name="Text Box 40"/>
          <p:cNvSpPr txBox="1">
            <a:spLocks noChangeArrowheads="1"/>
          </p:cNvSpPr>
          <p:nvPr/>
        </p:nvSpPr>
        <p:spPr bwMode="auto">
          <a:xfrm>
            <a:off x="4362450" y="2800350"/>
            <a:ext cx="4114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0000FF"/>
                </a:solidFill>
              </a:rPr>
              <a:t>温差电动势的成因：</a:t>
            </a:r>
          </a:p>
        </p:txBody>
      </p:sp>
      <p:sp>
        <p:nvSpPr>
          <p:cNvPr id="25641" name="Text Box 41"/>
          <p:cNvSpPr txBox="1">
            <a:spLocks noChangeArrowheads="1"/>
          </p:cNvSpPr>
          <p:nvPr/>
        </p:nvSpPr>
        <p:spPr bwMode="auto">
          <a:xfrm>
            <a:off x="342900" y="3402013"/>
            <a:ext cx="8572500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</a:rPr>
              <a:t>▲ </a:t>
            </a:r>
            <a:r>
              <a:rPr lang="zh-CN" altLang="en-US" sz="3200" b="1"/>
              <a:t>在</a:t>
            </a:r>
            <a:r>
              <a:rPr lang="zh-CN" altLang="en-US" sz="3200" b="1">
                <a:solidFill>
                  <a:srgbClr val="0000FF"/>
                </a:solidFill>
              </a:rPr>
              <a:t>同种金属</a:t>
            </a:r>
            <a:r>
              <a:rPr lang="zh-CN" altLang="en-US" sz="3200" b="1"/>
              <a:t>中，温差形成自由电子的</a:t>
            </a:r>
            <a:r>
              <a:rPr lang="zh-CN" altLang="en-US" sz="3200" b="1">
                <a:solidFill>
                  <a:srgbClr val="0000FF"/>
                </a:solidFill>
              </a:rPr>
              <a:t>热扩散</a:t>
            </a:r>
            <a:r>
              <a:rPr lang="zh-CN" altLang="en-US" sz="3200" b="1"/>
              <a:t>（汤姆孙</a:t>
            </a:r>
            <a:r>
              <a:rPr lang="zh-CN" altLang="en-US" sz="3200" b="1">
                <a:solidFill>
                  <a:srgbClr val="FF3300"/>
                </a:solidFill>
                <a:sym typeface="Symbol" pitchFamily="18" charset="2"/>
              </a:rPr>
              <a:t></a:t>
            </a:r>
            <a:r>
              <a:rPr lang="en-US" altLang="zh-CN" sz="3200" b="1">
                <a:solidFill>
                  <a:srgbClr val="FF3300"/>
                </a:solidFill>
                <a:sym typeface="Symbol" pitchFamily="18" charset="2"/>
              </a:rPr>
              <a:t>Thomon</a:t>
            </a:r>
            <a:r>
              <a:rPr lang="zh-CN" altLang="zh-CN" sz="3200" b="1">
                <a:sym typeface="Symbol" pitchFamily="18" charset="2"/>
              </a:rPr>
              <a:t>电动势）</a:t>
            </a:r>
            <a:endParaRPr lang="zh-CN" altLang="en-US" sz="3200" b="1">
              <a:sym typeface="Symbol" pitchFamily="18" charset="2"/>
            </a:endParaRPr>
          </a:p>
        </p:txBody>
      </p:sp>
      <p:sp>
        <p:nvSpPr>
          <p:cNvPr id="25642" name="Text Box 42"/>
          <p:cNvSpPr txBox="1">
            <a:spLocks noChangeArrowheads="1"/>
          </p:cNvSpPr>
          <p:nvPr/>
        </p:nvSpPr>
        <p:spPr bwMode="auto">
          <a:xfrm>
            <a:off x="304800" y="4792663"/>
            <a:ext cx="84963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</a:rPr>
              <a:t>▲ </a:t>
            </a:r>
            <a:r>
              <a:rPr lang="zh-CN" altLang="en-US" sz="3200" b="1">
                <a:solidFill>
                  <a:srgbClr val="0000FF"/>
                </a:solidFill>
              </a:rPr>
              <a:t>不同金属</a:t>
            </a:r>
            <a:r>
              <a:rPr lang="zh-CN" altLang="en-US" sz="3200" b="1"/>
              <a:t>自由电子</a:t>
            </a:r>
            <a:r>
              <a:rPr lang="zh-CN" altLang="en-US" sz="3200" b="1">
                <a:solidFill>
                  <a:srgbClr val="0000FF"/>
                </a:solidFill>
              </a:rPr>
              <a:t>浓度不同，</a:t>
            </a:r>
            <a:r>
              <a:rPr lang="zh-CN" altLang="en-US" sz="3200" b="1"/>
              <a:t>在接头处产生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3200" b="1"/>
              <a:t>   与温度有关的扩散（珀耳帖</a:t>
            </a:r>
            <a:r>
              <a:rPr lang="zh-CN" altLang="en-US" sz="3200" b="1">
                <a:solidFill>
                  <a:srgbClr val="FF3300"/>
                </a:solidFill>
                <a:sym typeface="Symbol" pitchFamily="18" charset="2"/>
              </a:rPr>
              <a:t></a:t>
            </a:r>
            <a:r>
              <a:rPr lang="en-US" altLang="zh-CN" sz="3200" b="1">
                <a:solidFill>
                  <a:srgbClr val="FF3300"/>
                </a:solidFill>
                <a:sym typeface="Symbol" pitchFamily="18" charset="2"/>
              </a:rPr>
              <a:t>Peltier</a:t>
            </a:r>
            <a:r>
              <a:rPr lang="zh-CN" altLang="zh-CN" sz="3200" b="1">
                <a:sym typeface="Symbol" pitchFamily="18" charset="2"/>
              </a:rPr>
              <a:t>电动势）</a:t>
            </a:r>
            <a:endParaRPr lang="zh-CN" altLang="en-US" sz="3200" b="1">
              <a:sym typeface="Symbol" pitchFamily="18" charset="2"/>
            </a:endParaRPr>
          </a:p>
        </p:txBody>
      </p:sp>
      <p:sp>
        <p:nvSpPr>
          <p:cNvPr id="25643" name="AutoShape 43"/>
          <p:cNvSpPr>
            <a:spLocks/>
          </p:cNvSpPr>
          <p:nvPr/>
        </p:nvSpPr>
        <p:spPr bwMode="auto">
          <a:xfrm>
            <a:off x="228600" y="3867150"/>
            <a:ext cx="152400" cy="1257300"/>
          </a:xfrm>
          <a:prstGeom prst="leftBrace">
            <a:avLst>
              <a:gd name="adj1" fmla="val 6875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44" name="Text Box 44"/>
          <p:cNvSpPr txBox="1">
            <a:spLocks noChangeArrowheads="1"/>
          </p:cNvSpPr>
          <p:nvPr/>
        </p:nvSpPr>
        <p:spPr bwMode="auto">
          <a:xfrm>
            <a:off x="3943350" y="2152650"/>
            <a:ext cx="5105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/>
              <a:t>则回路中形成</a:t>
            </a:r>
            <a:r>
              <a:rPr lang="zh-CN" altLang="en-US" sz="3200" b="1">
                <a:solidFill>
                  <a:srgbClr val="0000FF"/>
                </a:solidFill>
              </a:rPr>
              <a:t>温差电动势。</a:t>
            </a:r>
          </a:p>
        </p:txBody>
      </p:sp>
      <p:sp>
        <p:nvSpPr>
          <p:cNvPr id="25645" name="Text Box 45"/>
          <p:cNvSpPr txBox="1">
            <a:spLocks noChangeArrowheads="1"/>
          </p:cNvSpPr>
          <p:nvPr/>
        </p:nvSpPr>
        <p:spPr bwMode="auto">
          <a:xfrm>
            <a:off x="171450" y="6076950"/>
            <a:ext cx="85772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/>
              <a:t>（见赵凯华等著</a:t>
            </a:r>
            <a:r>
              <a:rPr lang="en-US" altLang="zh-CN" sz="3200" b="1"/>
              <a:t>《</a:t>
            </a:r>
            <a:r>
              <a:rPr lang="zh-CN" altLang="en-US" sz="3200" b="1"/>
              <a:t>电磁学</a:t>
            </a:r>
            <a:r>
              <a:rPr lang="en-US" altLang="zh-CN" sz="3200" b="1"/>
              <a:t>》</a:t>
            </a:r>
            <a:r>
              <a:rPr lang="zh-CN" altLang="en-US" sz="3200" b="1"/>
              <a:t>上册，第三章</a:t>
            </a:r>
            <a:r>
              <a:rPr lang="en-US" altLang="zh-CN" sz="3200" b="1"/>
              <a:t>§5</a:t>
            </a:r>
            <a:r>
              <a:rPr lang="zh-CN" altLang="en-US" sz="3200" b="1"/>
              <a:t>）</a:t>
            </a:r>
          </a:p>
        </p:txBody>
      </p:sp>
      <p:grpSp>
        <p:nvGrpSpPr>
          <p:cNvPr id="25647" name="Group 47"/>
          <p:cNvGrpSpPr>
            <a:grpSpLocks/>
          </p:cNvGrpSpPr>
          <p:nvPr/>
        </p:nvGrpSpPr>
        <p:grpSpPr bwMode="auto">
          <a:xfrm>
            <a:off x="190500" y="152400"/>
            <a:ext cx="7240588" cy="628650"/>
            <a:chOff x="120" y="96"/>
            <a:chExt cx="4561" cy="396"/>
          </a:xfrm>
        </p:grpSpPr>
        <p:sp>
          <p:nvSpPr>
            <p:cNvPr id="25602" name="Text Box 2"/>
            <p:cNvSpPr txBox="1">
              <a:spLocks noChangeArrowheads="1"/>
            </p:cNvSpPr>
            <p:nvPr/>
          </p:nvSpPr>
          <p:spPr bwMode="auto">
            <a:xfrm>
              <a:off x="120" y="96"/>
              <a:ext cx="1992" cy="3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10000"/>
                </a:lnSpc>
                <a:spcBef>
                  <a:spcPct val="50000"/>
                </a:spcBef>
              </a:pPr>
              <a:r>
                <a:rPr lang="zh-CN" altLang="zh-CN" sz="3200" b="1">
                  <a:solidFill>
                    <a:srgbClr val="0000FF"/>
                  </a:solidFill>
                </a:rPr>
                <a:t>二</a:t>
              </a:r>
              <a:r>
                <a:rPr lang="en-US" altLang="zh-CN" sz="3200" b="1">
                  <a:solidFill>
                    <a:srgbClr val="0000FF"/>
                  </a:solidFill>
                </a:rPr>
                <a:t>. </a:t>
              </a:r>
              <a:r>
                <a:rPr lang="zh-CN" altLang="zh-CN" sz="3200" b="1">
                  <a:solidFill>
                    <a:srgbClr val="0000FF"/>
                  </a:solidFill>
                </a:rPr>
                <a:t>温差电现象</a:t>
              </a:r>
              <a:endParaRPr lang="zh-CN" altLang="en-US" sz="3200" b="1">
                <a:solidFill>
                  <a:srgbClr val="0000FF"/>
                </a:solidFill>
              </a:endParaRPr>
            </a:p>
          </p:txBody>
        </p:sp>
        <p:sp>
          <p:nvSpPr>
            <p:cNvPr id="25646" name="Rectangle 46"/>
            <p:cNvSpPr>
              <a:spLocks noChangeArrowheads="1"/>
            </p:cNvSpPr>
            <p:nvPr/>
          </p:nvSpPr>
          <p:spPr bwMode="auto">
            <a:xfrm>
              <a:off x="1716" y="120"/>
              <a:ext cx="296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zh-CN" sz="3200" b="1"/>
                <a:t>（</a:t>
              </a:r>
              <a:r>
                <a:rPr lang="zh-CN" altLang="zh-CN" sz="3200" b="1">
                  <a:solidFill>
                    <a:srgbClr val="FF3300"/>
                  </a:solidFill>
                  <a:sym typeface="Symbol" pitchFamily="18" charset="2"/>
                </a:rPr>
                <a:t></a:t>
              </a:r>
              <a:r>
                <a:rPr lang="en-US" altLang="zh-CN" sz="3200" b="1">
                  <a:solidFill>
                    <a:srgbClr val="FF3300"/>
                  </a:solidFill>
                  <a:sym typeface="Symbol" pitchFamily="18" charset="2"/>
                </a:rPr>
                <a:t>Seebeck</a:t>
              </a:r>
              <a:r>
                <a:rPr lang="zh-CN" altLang="zh-CN" sz="3200" b="1"/>
                <a:t>效应，1821）</a:t>
              </a:r>
              <a:endParaRPr lang="zh-CN" altLang="en-US" sz="3200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25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25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25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25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5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300"/>
                                        <p:tgtEl>
                                          <p:spTgt spid="25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36" grpId="0" autoUpdateAnimBg="0"/>
      <p:bldP spid="25638" grpId="0" autoUpdateAnimBg="0"/>
      <p:bldP spid="25640" grpId="0" autoUpdateAnimBg="0"/>
      <p:bldP spid="25641" grpId="0" autoUpdateAnimBg="0"/>
      <p:bldP spid="25642" grpId="0" autoUpdateAnimBg="0"/>
      <p:bldP spid="25643" grpId="0" animBg="1"/>
      <p:bldP spid="25644" grpId="0" autoUpdateAnimBg="0"/>
      <p:bldP spid="25645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3A5B-2D49-4C94-AF91-6F452879D5DD}" type="slidenum">
              <a:rPr lang="en-US" altLang="zh-CN"/>
              <a:pPr/>
              <a:t>29</a:t>
            </a:fld>
            <a:endParaRPr lang="en-US" altLang="zh-CN"/>
          </a:p>
        </p:txBody>
      </p:sp>
      <p:grpSp>
        <p:nvGrpSpPr>
          <p:cNvPr id="19555" name="Group 99"/>
          <p:cNvGrpSpPr>
            <a:grpSpLocks/>
          </p:cNvGrpSpPr>
          <p:nvPr/>
        </p:nvGrpSpPr>
        <p:grpSpPr bwMode="auto">
          <a:xfrm>
            <a:off x="990600" y="5875338"/>
            <a:ext cx="3848100" cy="609600"/>
            <a:chOff x="2880" y="3876"/>
            <a:chExt cx="2424" cy="384"/>
          </a:xfrm>
        </p:grpSpPr>
        <p:sp>
          <p:nvSpPr>
            <p:cNvPr id="19510" name="Text Box 54"/>
            <p:cNvSpPr txBox="1">
              <a:spLocks noChangeArrowheads="1"/>
            </p:cNvSpPr>
            <p:nvPr/>
          </p:nvSpPr>
          <p:spPr bwMode="auto">
            <a:xfrm>
              <a:off x="2904" y="3888"/>
              <a:ext cx="240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b="1"/>
                <a:t>演示    温差电现象</a:t>
              </a:r>
            </a:p>
          </p:txBody>
        </p:sp>
        <p:sp>
          <p:nvSpPr>
            <p:cNvPr id="19511" name="Rectangle 55"/>
            <p:cNvSpPr>
              <a:spLocks noChangeArrowheads="1"/>
            </p:cNvSpPr>
            <p:nvPr/>
          </p:nvSpPr>
          <p:spPr bwMode="auto">
            <a:xfrm>
              <a:off x="2880" y="3876"/>
              <a:ext cx="732" cy="384"/>
            </a:xfrm>
            <a:prstGeom prst="rect">
              <a:avLst/>
            </a:prstGeom>
            <a:noFill/>
            <a:ln w="38100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537" name="Group 81"/>
          <p:cNvGrpSpPr>
            <a:grpSpLocks/>
          </p:cNvGrpSpPr>
          <p:nvPr/>
        </p:nvGrpSpPr>
        <p:grpSpPr bwMode="auto">
          <a:xfrm>
            <a:off x="533400" y="742950"/>
            <a:ext cx="3276600" cy="884238"/>
            <a:chOff x="3168" y="1104"/>
            <a:chExt cx="2064" cy="557"/>
          </a:xfrm>
        </p:grpSpPr>
        <p:sp>
          <p:nvSpPr>
            <p:cNvPr id="19535" name="Text Box 79"/>
            <p:cNvSpPr txBox="1">
              <a:spLocks noChangeArrowheads="1"/>
            </p:cNvSpPr>
            <p:nvPr/>
          </p:nvSpPr>
          <p:spPr bwMode="auto">
            <a:xfrm>
              <a:off x="3168" y="1296"/>
              <a:ext cx="206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b="1"/>
                <a:t>一般</a:t>
              </a:r>
              <a:r>
                <a:rPr lang="zh-CN" altLang="en-US" sz="3200" b="1" i="1">
                  <a:sym typeface="Symbol" pitchFamily="18" charset="2"/>
                </a:rPr>
                <a:t></a:t>
              </a:r>
              <a:r>
                <a:rPr lang="zh-CN" altLang="en-US" sz="3200" b="1">
                  <a:sym typeface="Symbol" pitchFamily="18" charset="2"/>
                </a:rPr>
                <a:t> </a:t>
              </a:r>
              <a:r>
                <a:rPr lang="en-US" altLang="zh-CN" sz="3200" b="1">
                  <a:sym typeface="Symbol" pitchFamily="18" charset="2"/>
                </a:rPr>
                <a:t>mV/100 C</a:t>
              </a:r>
              <a:endParaRPr lang="en-US" altLang="zh-CN" sz="3200" b="1"/>
            </a:p>
          </p:txBody>
        </p:sp>
        <p:sp>
          <p:nvSpPr>
            <p:cNvPr id="19536" name="Text Box 80"/>
            <p:cNvSpPr txBox="1">
              <a:spLocks noChangeArrowheads="1"/>
            </p:cNvSpPr>
            <p:nvPr/>
          </p:nvSpPr>
          <p:spPr bwMode="auto">
            <a:xfrm>
              <a:off x="4812" y="1104"/>
              <a:ext cx="28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600" b="1"/>
                <a:t>。</a:t>
              </a:r>
            </a:p>
          </p:txBody>
        </p:sp>
      </p:grpSp>
      <p:sp>
        <p:nvSpPr>
          <p:cNvPr id="19543" name="Text Box 87"/>
          <p:cNvSpPr txBox="1">
            <a:spLocks noChangeArrowheads="1"/>
          </p:cNvSpPr>
          <p:nvPr/>
        </p:nvSpPr>
        <p:spPr bwMode="auto">
          <a:xfrm>
            <a:off x="914400" y="3086100"/>
            <a:ext cx="14970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0000FF"/>
                </a:solidFill>
              </a:rPr>
              <a:t>优点：</a:t>
            </a:r>
          </a:p>
        </p:txBody>
      </p:sp>
      <p:grpSp>
        <p:nvGrpSpPr>
          <p:cNvPr id="19546" name="Group 90"/>
          <p:cNvGrpSpPr>
            <a:grpSpLocks/>
          </p:cNvGrpSpPr>
          <p:nvPr/>
        </p:nvGrpSpPr>
        <p:grpSpPr bwMode="auto">
          <a:xfrm>
            <a:off x="2000250" y="2819400"/>
            <a:ext cx="5181600" cy="884238"/>
            <a:chOff x="2496" y="1920"/>
            <a:chExt cx="3264" cy="557"/>
          </a:xfrm>
        </p:grpSpPr>
        <p:sp>
          <p:nvSpPr>
            <p:cNvPr id="19544" name="Text Box 88"/>
            <p:cNvSpPr txBox="1">
              <a:spLocks noChangeArrowheads="1"/>
            </p:cNvSpPr>
            <p:nvPr/>
          </p:nvSpPr>
          <p:spPr bwMode="auto">
            <a:xfrm>
              <a:off x="2496" y="2112"/>
              <a:ext cx="326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>
                  <a:solidFill>
                    <a:srgbClr val="FF3300"/>
                  </a:solidFill>
                </a:rPr>
                <a:t>▲</a:t>
              </a:r>
              <a:r>
                <a:rPr lang="zh-CN" altLang="en-US" sz="3200" b="1"/>
                <a:t>热容小，灵敏度高</a:t>
              </a:r>
              <a:r>
                <a:rPr lang="en-US" altLang="zh-CN" sz="3200" b="1"/>
                <a:t>(10</a:t>
              </a:r>
              <a:r>
                <a:rPr lang="en-US" altLang="zh-CN" sz="3200" b="1" baseline="30000"/>
                <a:t>-3  </a:t>
              </a:r>
              <a:r>
                <a:rPr lang="en-US" altLang="zh-CN" sz="3200" b="1"/>
                <a:t>C)</a:t>
              </a:r>
            </a:p>
          </p:txBody>
        </p:sp>
        <p:sp>
          <p:nvSpPr>
            <p:cNvPr id="19545" name="Text Box 89"/>
            <p:cNvSpPr txBox="1">
              <a:spLocks noChangeArrowheads="1"/>
            </p:cNvSpPr>
            <p:nvPr/>
          </p:nvSpPr>
          <p:spPr bwMode="auto">
            <a:xfrm>
              <a:off x="5196" y="1920"/>
              <a:ext cx="336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600" b="1"/>
                <a:t>。</a:t>
              </a:r>
            </a:p>
          </p:txBody>
        </p:sp>
      </p:grpSp>
      <p:sp>
        <p:nvSpPr>
          <p:cNvPr id="19547" name="Text Box 91"/>
          <p:cNvSpPr txBox="1">
            <a:spLocks noChangeArrowheads="1"/>
          </p:cNvSpPr>
          <p:nvPr/>
        </p:nvSpPr>
        <p:spPr bwMode="auto">
          <a:xfrm>
            <a:off x="2000250" y="3810000"/>
            <a:ext cx="6705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</a:rPr>
              <a:t>▲</a:t>
            </a:r>
            <a:r>
              <a:rPr lang="zh-CN" altLang="en-US" sz="3200" b="1"/>
              <a:t>可逐点测量，测小范围内温度变化</a:t>
            </a:r>
          </a:p>
        </p:txBody>
      </p:sp>
      <p:grpSp>
        <p:nvGrpSpPr>
          <p:cNvPr id="19551" name="Group 95"/>
          <p:cNvGrpSpPr>
            <a:grpSpLocks/>
          </p:cNvGrpSpPr>
          <p:nvPr/>
        </p:nvGrpSpPr>
        <p:grpSpPr bwMode="auto">
          <a:xfrm>
            <a:off x="2000250" y="4248150"/>
            <a:ext cx="5943600" cy="865188"/>
            <a:chOff x="288" y="2844"/>
            <a:chExt cx="3744" cy="545"/>
          </a:xfrm>
        </p:grpSpPr>
        <p:sp>
          <p:nvSpPr>
            <p:cNvPr id="19548" name="Text Box 92"/>
            <p:cNvSpPr txBox="1">
              <a:spLocks noChangeArrowheads="1"/>
            </p:cNvSpPr>
            <p:nvPr/>
          </p:nvSpPr>
          <p:spPr bwMode="auto">
            <a:xfrm>
              <a:off x="288" y="3024"/>
              <a:ext cx="37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>
                  <a:solidFill>
                    <a:srgbClr val="FF3300"/>
                  </a:solidFill>
                </a:rPr>
                <a:t>▲</a:t>
              </a:r>
              <a:r>
                <a:rPr lang="zh-CN" altLang="en-US" sz="3200" b="1"/>
                <a:t>测温范围大（</a:t>
              </a:r>
              <a:r>
                <a:rPr lang="en-US" altLang="zh-CN" sz="3200" b="1"/>
                <a:t>-200 C—2000 C</a:t>
              </a:r>
              <a:r>
                <a:rPr lang="zh-CN" altLang="en-US" sz="3200" b="1"/>
                <a:t>）</a:t>
              </a:r>
            </a:p>
          </p:txBody>
        </p:sp>
        <p:sp>
          <p:nvSpPr>
            <p:cNvPr id="19549" name="Text Box 93"/>
            <p:cNvSpPr txBox="1">
              <a:spLocks noChangeArrowheads="1"/>
            </p:cNvSpPr>
            <p:nvPr/>
          </p:nvSpPr>
          <p:spPr bwMode="auto">
            <a:xfrm>
              <a:off x="2460" y="2844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b="1"/>
                <a:t>。</a:t>
              </a:r>
            </a:p>
          </p:txBody>
        </p:sp>
        <p:sp>
          <p:nvSpPr>
            <p:cNvPr id="19550" name="Text Box 94"/>
            <p:cNvSpPr txBox="1">
              <a:spLocks noChangeArrowheads="1"/>
            </p:cNvSpPr>
            <p:nvPr/>
          </p:nvSpPr>
          <p:spPr bwMode="auto">
            <a:xfrm>
              <a:off x="3468" y="2856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b="1"/>
                <a:t>。</a:t>
              </a:r>
            </a:p>
          </p:txBody>
        </p:sp>
      </p:grpSp>
      <p:sp>
        <p:nvSpPr>
          <p:cNvPr id="19552" name="Text Box 96"/>
          <p:cNvSpPr txBox="1">
            <a:spLocks noChangeArrowheads="1"/>
          </p:cNvSpPr>
          <p:nvPr/>
        </p:nvSpPr>
        <p:spPr bwMode="auto">
          <a:xfrm>
            <a:off x="2000250" y="5181600"/>
            <a:ext cx="3581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</a:rPr>
              <a:t>▲</a:t>
            </a:r>
            <a:r>
              <a:rPr lang="zh-CN" altLang="en-US" sz="3200" b="1"/>
              <a:t>便于自动控制</a:t>
            </a:r>
          </a:p>
        </p:txBody>
      </p:sp>
      <p:grpSp>
        <p:nvGrpSpPr>
          <p:cNvPr id="19564" name="Group 108"/>
          <p:cNvGrpSpPr>
            <a:grpSpLocks/>
          </p:cNvGrpSpPr>
          <p:nvPr/>
        </p:nvGrpSpPr>
        <p:grpSpPr bwMode="auto">
          <a:xfrm>
            <a:off x="4533900" y="495300"/>
            <a:ext cx="4419600" cy="2482850"/>
            <a:chOff x="2856" y="312"/>
            <a:chExt cx="2784" cy="1564"/>
          </a:xfrm>
        </p:grpSpPr>
        <p:grpSp>
          <p:nvGrpSpPr>
            <p:cNvPr id="19525" name="Group 69"/>
            <p:cNvGrpSpPr>
              <a:grpSpLocks/>
            </p:cNvGrpSpPr>
            <p:nvPr/>
          </p:nvGrpSpPr>
          <p:grpSpPr bwMode="auto">
            <a:xfrm>
              <a:off x="3008" y="512"/>
              <a:ext cx="445" cy="431"/>
              <a:chOff x="288" y="1368"/>
              <a:chExt cx="456" cy="384"/>
            </a:xfrm>
          </p:grpSpPr>
          <p:sp>
            <p:nvSpPr>
              <p:cNvPr id="19521" name="Rectangle 65"/>
              <p:cNvSpPr>
                <a:spLocks noChangeArrowheads="1"/>
              </p:cNvSpPr>
              <p:nvPr/>
            </p:nvSpPr>
            <p:spPr bwMode="auto">
              <a:xfrm>
                <a:off x="288" y="1368"/>
                <a:ext cx="408" cy="38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22" name="Rectangle 66"/>
              <p:cNvSpPr>
                <a:spLocks noChangeArrowheads="1"/>
              </p:cNvSpPr>
              <p:nvPr/>
            </p:nvSpPr>
            <p:spPr bwMode="auto">
              <a:xfrm>
                <a:off x="600" y="1488"/>
                <a:ext cx="144" cy="9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9512" name="Line 56"/>
            <p:cNvSpPr>
              <a:spLocks noChangeShapeType="1"/>
            </p:cNvSpPr>
            <p:nvPr/>
          </p:nvSpPr>
          <p:spPr bwMode="auto">
            <a:xfrm>
              <a:off x="3523" y="1401"/>
              <a:ext cx="0" cy="4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13" name="Line 57"/>
            <p:cNvSpPr>
              <a:spLocks noChangeShapeType="1"/>
            </p:cNvSpPr>
            <p:nvPr/>
          </p:nvSpPr>
          <p:spPr bwMode="auto">
            <a:xfrm>
              <a:off x="3523" y="1832"/>
              <a:ext cx="10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14" name="Line 58"/>
            <p:cNvSpPr>
              <a:spLocks noChangeShapeType="1"/>
            </p:cNvSpPr>
            <p:nvPr/>
          </p:nvSpPr>
          <p:spPr bwMode="auto">
            <a:xfrm>
              <a:off x="4599" y="1401"/>
              <a:ext cx="0" cy="4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15" name="Line 59"/>
            <p:cNvSpPr>
              <a:spLocks noChangeShapeType="1"/>
            </p:cNvSpPr>
            <p:nvPr/>
          </p:nvSpPr>
          <p:spPr bwMode="auto">
            <a:xfrm>
              <a:off x="3523" y="1509"/>
              <a:ext cx="10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16" name="Arc 60"/>
            <p:cNvSpPr>
              <a:spLocks/>
            </p:cNvSpPr>
            <p:nvPr/>
          </p:nvSpPr>
          <p:spPr bwMode="auto">
            <a:xfrm>
              <a:off x="3382" y="701"/>
              <a:ext cx="889" cy="1024"/>
            </a:xfrm>
            <a:custGeom>
              <a:avLst/>
              <a:gdLst>
                <a:gd name="G0" fmla="+- 2625 0 0"/>
                <a:gd name="G1" fmla="+- 21600 0 0"/>
                <a:gd name="G2" fmla="+- 21600 0 0"/>
                <a:gd name="T0" fmla="*/ 0 w 24225"/>
                <a:gd name="T1" fmla="*/ 160 h 21600"/>
                <a:gd name="T2" fmla="*/ 24225 w 24225"/>
                <a:gd name="T3" fmla="*/ 21600 h 21600"/>
                <a:gd name="T4" fmla="*/ 2625 w 2422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225" h="21600" fill="none" extrusionOk="0">
                  <a:moveTo>
                    <a:pt x="0" y="160"/>
                  </a:moveTo>
                  <a:cubicBezTo>
                    <a:pt x="870" y="53"/>
                    <a:pt x="1747" y="0"/>
                    <a:pt x="2625" y="0"/>
                  </a:cubicBezTo>
                  <a:cubicBezTo>
                    <a:pt x="14554" y="0"/>
                    <a:pt x="24225" y="9670"/>
                    <a:pt x="24225" y="21600"/>
                  </a:cubicBezTo>
                </a:path>
                <a:path w="24225" h="21600" stroke="0" extrusionOk="0">
                  <a:moveTo>
                    <a:pt x="0" y="160"/>
                  </a:moveTo>
                  <a:cubicBezTo>
                    <a:pt x="870" y="53"/>
                    <a:pt x="1747" y="0"/>
                    <a:pt x="2625" y="0"/>
                  </a:cubicBezTo>
                  <a:cubicBezTo>
                    <a:pt x="14554" y="0"/>
                    <a:pt x="24225" y="9670"/>
                    <a:pt x="24225" y="21600"/>
                  </a:cubicBezTo>
                  <a:lnTo>
                    <a:pt x="2625" y="21600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17" name="Arc 61"/>
            <p:cNvSpPr>
              <a:spLocks/>
            </p:cNvSpPr>
            <p:nvPr/>
          </p:nvSpPr>
          <p:spPr bwMode="auto">
            <a:xfrm>
              <a:off x="3336" y="701"/>
              <a:ext cx="608" cy="1024"/>
            </a:xfrm>
            <a:custGeom>
              <a:avLst/>
              <a:gdLst>
                <a:gd name="G0" fmla="+- 2625 0 0"/>
                <a:gd name="G1" fmla="+- 21600 0 0"/>
                <a:gd name="G2" fmla="+- 21600 0 0"/>
                <a:gd name="T0" fmla="*/ 0 w 24225"/>
                <a:gd name="T1" fmla="*/ 160 h 21600"/>
                <a:gd name="T2" fmla="*/ 24225 w 24225"/>
                <a:gd name="T3" fmla="*/ 21600 h 21600"/>
                <a:gd name="T4" fmla="*/ 2625 w 2422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225" h="21600" fill="none" extrusionOk="0">
                  <a:moveTo>
                    <a:pt x="0" y="160"/>
                  </a:moveTo>
                  <a:cubicBezTo>
                    <a:pt x="870" y="53"/>
                    <a:pt x="1747" y="0"/>
                    <a:pt x="2625" y="0"/>
                  </a:cubicBezTo>
                  <a:cubicBezTo>
                    <a:pt x="14554" y="0"/>
                    <a:pt x="24225" y="9670"/>
                    <a:pt x="24225" y="21600"/>
                  </a:cubicBezTo>
                </a:path>
                <a:path w="24225" h="21600" stroke="0" extrusionOk="0">
                  <a:moveTo>
                    <a:pt x="0" y="160"/>
                  </a:moveTo>
                  <a:cubicBezTo>
                    <a:pt x="870" y="53"/>
                    <a:pt x="1747" y="0"/>
                    <a:pt x="2625" y="0"/>
                  </a:cubicBezTo>
                  <a:cubicBezTo>
                    <a:pt x="14554" y="0"/>
                    <a:pt x="24225" y="9670"/>
                    <a:pt x="24225" y="21600"/>
                  </a:cubicBezTo>
                  <a:lnTo>
                    <a:pt x="2625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18" name="Text Box 62"/>
            <p:cNvSpPr txBox="1">
              <a:spLocks noChangeArrowheads="1"/>
            </p:cNvSpPr>
            <p:nvPr/>
          </p:nvSpPr>
          <p:spPr bwMode="auto">
            <a:xfrm>
              <a:off x="3827" y="1536"/>
              <a:ext cx="4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ym typeface="Symbol" pitchFamily="18" charset="2"/>
                </a:rPr>
                <a:t></a:t>
              </a:r>
              <a:endParaRPr lang="en-US" altLang="zh-CN"/>
            </a:p>
          </p:txBody>
        </p:sp>
        <p:sp>
          <p:nvSpPr>
            <p:cNvPr id="19519" name="Text Box 63"/>
            <p:cNvSpPr txBox="1">
              <a:spLocks noChangeArrowheads="1"/>
            </p:cNvSpPr>
            <p:nvPr/>
          </p:nvSpPr>
          <p:spPr bwMode="auto">
            <a:xfrm>
              <a:off x="4166" y="1548"/>
              <a:ext cx="4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ym typeface="Symbol" pitchFamily="18" charset="2"/>
                </a:rPr>
                <a:t></a:t>
              </a:r>
              <a:endParaRPr lang="en-US" altLang="zh-CN"/>
            </a:p>
          </p:txBody>
        </p:sp>
        <p:sp>
          <p:nvSpPr>
            <p:cNvPr id="19520" name="Text Box 64"/>
            <p:cNvSpPr txBox="1">
              <a:spLocks noChangeArrowheads="1"/>
            </p:cNvSpPr>
            <p:nvPr/>
          </p:nvSpPr>
          <p:spPr bwMode="auto">
            <a:xfrm>
              <a:off x="3230" y="553"/>
              <a:ext cx="4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FF3300"/>
                  </a:solidFill>
                  <a:sym typeface="Symbol" pitchFamily="18" charset="2"/>
                </a:rPr>
                <a:t>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19524" name="Text Box 68"/>
            <p:cNvSpPr txBox="1">
              <a:spLocks noChangeArrowheads="1"/>
            </p:cNvSpPr>
            <p:nvPr/>
          </p:nvSpPr>
          <p:spPr bwMode="auto">
            <a:xfrm>
              <a:off x="3570" y="1478"/>
              <a:ext cx="37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T</a:t>
              </a:r>
              <a:r>
                <a:rPr lang="en-US" altLang="zh-CN" sz="2800" b="1" baseline="-25000"/>
                <a:t>2</a:t>
              </a:r>
              <a:endParaRPr lang="en-US" altLang="zh-CN" sz="2800" b="1"/>
            </a:p>
          </p:txBody>
        </p:sp>
        <p:sp>
          <p:nvSpPr>
            <p:cNvPr id="19526" name="Text Box 70"/>
            <p:cNvSpPr txBox="1">
              <a:spLocks noChangeArrowheads="1"/>
            </p:cNvSpPr>
            <p:nvPr/>
          </p:nvSpPr>
          <p:spPr bwMode="auto">
            <a:xfrm>
              <a:off x="3008" y="512"/>
              <a:ext cx="37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FF3300"/>
                  </a:solidFill>
                </a:rPr>
                <a:t>T</a:t>
              </a:r>
              <a:r>
                <a:rPr lang="en-US" altLang="zh-CN" sz="2800" b="1" baseline="-25000">
                  <a:solidFill>
                    <a:srgbClr val="FF3300"/>
                  </a:solidFill>
                </a:rPr>
                <a:t>1</a:t>
              </a:r>
              <a:endParaRPr lang="en-US" altLang="zh-CN" sz="2800" b="1">
                <a:solidFill>
                  <a:srgbClr val="FF3300"/>
                </a:solidFill>
              </a:endParaRPr>
            </a:p>
          </p:txBody>
        </p:sp>
        <p:sp>
          <p:nvSpPr>
            <p:cNvPr id="19527" name="Text Box 71"/>
            <p:cNvSpPr txBox="1">
              <a:spLocks noChangeArrowheads="1"/>
            </p:cNvSpPr>
            <p:nvPr/>
          </p:nvSpPr>
          <p:spPr bwMode="auto">
            <a:xfrm>
              <a:off x="2856" y="990"/>
              <a:ext cx="7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FF3300"/>
                  </a:solidFill>
                </a:rPr>
                <a:t>  </a:t>
              </a:r>
              <a:r>
                <a:rPr lang="zh-CN" altLang="en-US" b="1">
                  <a:solidFill>
                    <a:srgbClr val="FF3300"/>
                  </a:solidFill>
                </a:rPr>
                <a:t>待测</a:t>
              </a:r>
            </a:p>
          </p:txBody>
        </p:sp>
        <p:sp>
          <p:nvSpPr>
            <p:cNvPr id="19528" name="Text Box 72"/>
            <p:cNvSpPr txBox="1">
              <a:spLocks noChangeArrowheads="1"/>
            </p:cNvSpPr>
            <p:nvPr/>
          </p:nvSpPr>
          <p:spPr bwMode="auto">
            <a:xfrm>
              <a:off x="2998" y="1358"/>
              <a:ext cx="561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/>
                <a:t>已知恒温</a:t>
              </a:r>
            </a:p>
          </p:txBody>
        </p:sp>
        <p:sp>
          <p:nvSpPr>
            <p:cNvPr id="19529" name="Arc 73"/>
            <p:cNvSpPr>
              <a:spLocks/>
            </p:cNvSpPr>
            <p:nvPr/>
          </p:nvSpPr>
          <p:spPr bwMode="auto">
            <a:xfrm flipH="1">
              <a:off x="3944" y="486"/>
              <a:ext cx="1123" cy="118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 type="arrow" w="med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30" name="Arc 74"/>
            <p:cNvSpPr>
              <a:spLocks/>
            </p:cNvSpPr>
            <p:nvPr/>
          </p:nvSpPr>
          <p:spPr bwMode="auto">
            <a:xfrm flipH="1">
              <a:off x="4271" y="863"/>
              <a:ext cx="796" cy="80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 type="arrow" w="med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32" name="Text Box 76"/>
            <p:cNvSpPr txBox="1">
              <a:spLocks noChangeArrowheads="1"/>
            </p:cNvSpPr>
            <p:nvPr/>
          </p:nvSpPr>
          <p:spPr bwMode="auto">
            <a:xfrm>
              <a:off x="4891" y="1062"/>
              <a:ext cx="74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/>
                <a:t>（</a:t>
              </a:r>
              <a:r>
                <a:rPr lang="zh-CN" altLang="en-US" b="1"/>
                <a:t>测</a:t>
              </a:r>
              <a:r>
                <a:rPr lang="zh-CN" altLang="en-US" sz="2800" b="1" i="1">
                  <a:sym typeface="Symbol" pitchFamily="18" charset="2"/>
                </a:rPr>
                <a:t></a:t>
              </a:r>
              <a:r>
                <a:rPr lang="zh-CN" altLang="en-US" sz="2800" b="1">
                  <a:sym typeface="Symbol" pitchFamily="18" charset="2"/>
                </a:rPr>
                <a:t>）</a:t>
              </a:r>
              <a:endParaRPr lang="zh-CN" altLang="en-US" sz="2800" b="1"/>
            </a:p>
          </p:txBody>
        </p:sp>
        <p:sp>
          <p:nvSpPr>
            <p:cNvPr id="19531" name="Text Box 75"/>
            <p:cNvSpPr txBox="1">
              <a:spLocks noChangeArrowheads="1"/>
            </p:cNvSpPr>
            <p:nvPr/>
          </p:nvSpPr>
          <p:spPr bwMode="auto">
            <a:xfrm>
              <a:off x="5067" y="312"/>
              <a:ext cx="561" cy="7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40000"/>
                </a:lnSpc>
                <a:spcBef>
                  <a:spcPct val="50000"/>
                </a:spcBef>
              </a:pPr>
              <a:r>
                <a:rPr lang="zh-CN" altLang="en-US" b="1"/>
                <a:t>电位差计</a:t>
              </a:r>
            </a:p>
          </p:txBody>
        </p:sp>
        <p:sp>
          <p:nvSpPr>
            <p:cNvPr id="19533" name="Rectangle 77"/>
            <p:cNvSpPr>
              <a:spLocks noChangeArrowheads="1"/>
            </p:cNvSpPr>
            <p:nvPr/>
          </p:nvSpPr>
          <p:spPr bwMode="auto">
            <a:xfrm>
              <a:off x="5067" y="337"/>
              <a:ext cx="561" cy="70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56" name="Text Box 100"/>
            <p:cNvSpPr txBox="1">
              <a:spLocks noChangeArrowheads="1"/>
            </p:cNvSpPr>
            <p:nvPr/>
          </p:nvSpPr>
          <p:spPr bwMode="auto">
            <a:xfrm>
              <a:off x="3710" y="445"/>
              <a:ext cx="28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FF"/>
                  </a:solidFill>
                </a:rPr>
                <a:t>A</a:t>
              </a:r>
            </a:p>
          </p:txBody>
        </p:sp>
        <p:sp>
          <p:nvSpPr>
            <p:cNvPr id="19557" name="Text Box 101"/>
            <p:cNvSpPr txBox="1">
              <a:spLocks noChangeArrowheads="1"/>
            </p:cNvSpPr>
            <p:nvPr/>
          </p:nvSpPr>
          <p:spPr bwMode="auto">
            <a:xfrm>
              <a:off x="3511" y="849"/>
              <a:ext cx="28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B</a:t>
              </a:r>
            </a:p>
          </p:txBody>
        </p:sp>
        <p:sp>
          <p:nvSpPr>
            <p:cNvPr id="19558" name="Text Box 102"/>
            <p:cNvSpPr txBox="1">
              <a:spLocks noChangeArrowheads="1"/>
            </p:cNvSpPr>
            <p:nvPr/>
          </p:nvSpPr>
          <p:spPr bwMode="auto">
            <a:xfrm>
              <a:off x="4517" y="553"/>
              <a:ext cx="28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FF3300"/>
                  </a:solidFill>
                </a:rPr>
                <a:t>C</a:t>
              </a:r>
            </a:p>
          </p:txBody>
        </p:sp>
      </p:grpSp>
      <p:grpSp>
        <p:nvGrpSpPr>
          <p:cNvPr id="19565" name="Group 109"/>
          <p:cNvGrpSpPr>
            <a:grpSpLocks/>
          </p:cNvGrpSpPr>
          <p:nvPr/>
        </p:nvGrpSpPr>
        <p:grpSpPr bwMode="auto">
          <a:xfrm>
            <a:off x="38100" y="1371600"/>
            <a:ext cx="4648200" cy="1414463"/>
            <a:chOff x="24" y="864"/>
            <a:chExt cx="2928" cy="891"/>
          </a:xfrm>
        </p:grpSpPr>
        <p:grpSp>
          <p:nvGrpSpPr>
            <p:cNvPr id="19542" name="Group 86"/>
            <p:cNvGrpSpPr>
              <a:grpSpLocks/>
            </p:cNvGrpSpPr>
            <p:nvPr/>
          </p:nvGrpSpPr>
          <p:grpSpPr bwMode="auto">
            <a:xfrm>
              <a:off x="288" y="864"/>
              <a:ext cx="2664" cy="581"/>
              <a:chOff x="2928" y="1332"/>
              <a:chExt cx="2664" cy="581"/>
            </a:xfrm>
          </p:grpSpPr>
          <p:sp>
            <p:nvSpPr>
              <p:cNvPr id="19538" name="Text Box 82"/>
              <p:cNvSpPr txBox="1">
                <a:spLocks noChangeArrowheads="1"/>
              </p:cNvSpPr>
              <p:nvPr/>
            </p:nvSpPr>
            <p:spPr bwMode="auto">
              <a:xfrm>
                <a:off x="2928" y="1548"/>
                <a:ext cx="266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200" b="1"/>
                  <a:t>Bi—Sb</a:t>
                </a:r>
                <a:r>
                  <a:rPr lang="en-US" altLang="zh-CN" sz="3200"/>
                  <a:t> </a:t>
                </a:r>
                <a:r>
                  <a:rPr lang="en-US" altLang="zh-CN" sz="3200" b="1" i="1">
                    <a:sym typeface="Symbol" pitchFamily="18" charset="2"/>
                  </a:rPr>
                  <a:t></a:t>
                </a:r>
                <a:r>
                  <a:rPr lang="en-US" altLang="zh-CN" sz="3200" b="1">
                    <a:sym typeface="Symbol" pitchFamily="18" charset="2"/>
                  </a:rPr>
                  <a:t> 10 </a:t>
                </a:r>
                <a:r>
                  <a:rPr lang="en-US" altLang="zh-CN" sz="3200" b="1" baseline="30000">
                    <a:sym typeface="Symbol" pitchFamily="18" charset="2"/>
                  </a:rPr>
                  <a:t>-2</a:t>
                </a:r>
                <a:r>
                  <a:rPr lang="en-US" altLang="zh-CN" sz="3200" b="1">
                    <a:sym typeface="Symbol" pitchFamily="18" charset="2"/>
                  </a:rPr>
                  <a:t>V/100 C</a:t>
                </a:r>
              </a:p>
            </p:txBody>
          </p:sp>
          <p:sp>
            <p:nvSpPr>
              <p:cNvPr id="19539" name="Text Box 83"/>
              <p:cNvSpPr txBox="1">
                <a:spLocks noChangeArrowheads="1"/>
              </p:cNvSpPr>
              <p:nvPr/>
            </p:nvSpPr>
            <p:spPr bwMode="auto">
              <a:xfrm>
                <a:off x="5172" y="1332"/>
                <a:ext cx="288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3600" b="1"/>
                  <a:t>。</a:t>
                </a:r>
              </a:p>
            </p:txBody>
          </p:sp>
        </p:grpSp>
        <p:sp>
          <p:nvSpPr>
            <p:cNvPr id="19561" name="Text Box 105"/>
            <p:cNvSpPr txBox="1">
              <a:spLocks noChangeArrowheads="1"/>
            </p:cNvSpPr>
            <p:nvPr/>
          </p:nvSpPr>
          <p:spPr bwMode="auto">
            <a:xfrm>
              <a:off x="24" y="1428"/>
              <a:ext cx="8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/>
                <a:t>（铋）</a:t>
              </a:r>
            </a:p>
          </p:txBody>
        </p:sp>
        <p:sp>
          <p:nvSpPr>
            <p:cNvPr id="19562" name="Text Box 106"/>
            <p:cNvSpPr txBox="1">
              <a:spLocks noChangeArrowheads="1"/>
            </p:cNvSpPr>
            <p:nvPr/>
          </p:nvSpPr>
          <p:spPr bwMode="auto">
            <a:xfrm>
              <a:off x="624" y="1428"/>
              <a:ext cx="8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/>
                <a:t>（锑）</a:t>
              </a:r>
            </a:p>
          </p:txBody>
        </p:sp>
      </p:grpSp>
      <p:sp>
        <p:nvSpPr>
          <p:cNvPr id="19563" name="Text Box 107"/>
          <p:cNvSpPr txBox="1">
            <a:spLocks noChangeArrowheads="1"/>
          </p:cNvSpPr>
          <p:nvPr/>
        </p:nvSpPr>
        <p:spPr bwMode="auto">
          <a:xfrm>
            <a:off x="971550" y="361950"/>
            <a:ext cx="20161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0000FF"/>
                </a:solidFill>
              </a:rPr>
              <a:t>热电偶：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9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00"/>
                                        <p:tgtEl>
                                          <p:spTgt spid="19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300"/>
                                        <p:tgtEl>
                                          <p:spTgt spid="19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300"/>
                                        <p:tgtEl>
                                          <p:spTgt spid="19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43" grpId="0" autoUpdateAnimBg="0"/>
      <p:bldP spid="19547" grpId="0" autoUpdateAnimBg="0"/>
      <p:bldP spid="19552" grpId="0" autoUpdateAnimBg="0"/>
      <p:bldP spid="19563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3D4BD-C25B-4434-BFC1-8FEB52656D89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1123950" y="228600"/>
            <a:ext cx="5715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 b="1">
                <a:solidFill>
                  <a:srgbClr val="0000FF"/>
                </a:solidFill>
              </a:rPr>
              <a:t>温差电现象的现代应用实例：</a:t>
            </a:r>
          </a:p>
        </p:txBody>
      </p:sp>
      <p:grpSp>
        <p:nvGrpSpPr>
          <p:cNvPr id="26639" name="Group 15"/>
          <p:cNvGrpSpPr>
            <a:grpSpLocks/>
          </p:cNvGrpSpPr>
          <p:nvPr/>
        </p:nvGrpSpPr>
        <p:grpSpPr bwMode="auto">
          <a:xfrm>
            <a:off x="1371600" y="939800"/>
            <a:ext cx="5924550" cy="5715000"/>
            <a:chOff x="864" y="592"/>
            <a:chExt cx="3732" cy="3600"/>
          </a:xfrm>
        </p:grpSpPr>
        <p:grpSp>
          <p:nvGrpSpPr>
            <p:cNvPr id="26637" name="Group 13"/>
            <p:cNvGrpSpPr>
              <a:grpSpLocks/>
            </p:cNvGrpSpPr>
            <p:nvPr/>
          </p:nvGrpSpPr>
          <p:grpSpPr bwMode="auto">
            <a:xfrm>
              <a:off x="864" y="592"/>
              <a:ext cx="3732" cy="3600"/>
              <a:chOff x="864" y="592"/>
              <a:chExt cx="3732" cy="3600"/>
            </a:xfrm>
          </p:grpSpPr>
          <p:sp>
            <p:nvSpPr>
              <p:cNvPr id="26626" name="Rectangle 2"/>
              <p:cNvSpPr>
                <a:spLocks noChangeArrowheads="1"/>
              </p:cNvSpPr>
              <p:nvPr/>
            </p:nvSpPr>
            <p:spPr bwMode="auto">
              <a:xfrm>
                <a:off x="2004" y="3865"/>
                <a:ext cx="152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>
                    <a:solidFill>
                      <a:srgbClr val="FF3300"/>
                    </a:solidFill>
                  </a:rPr>
                  <a:t> </a:t>
                </a:r>
                <a:r>
                  <a:rPr lang="zh-CN" altLang="en-US" sz="2800" b="1">
                    <a:solidFill>
                      <a:srgbClr val="FF3300"/>
                    </a:solidFill>
                  </a:rPr>
                  <a:t>扫描热显微镜</a:t>
                </a:r>
              </a:p>
            </p:txBody>
          </p:sp>
          <p:pic>
            <p:nvPicPr>
              <p:cNvPr id="26627" name="Picture 3" descr="热探针22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72" y="592"/>
                <a:ext cx="3624" cy="323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6629" name="Text Box 5"/>
              <p:cNvSpPr txBox="1">
                <a:spLocks noChangeArrowheads="1"/>
              </p:cNvSpPr>
              <p:nvPr/>
            </p:nvSpPr>
            <p:spPr bwMode="auto">
              <a:xfrm>
                <a:off x="2256" y="648"/>
                <a:ext cx="1392" cy="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/>
                  <a:t>压电控制装置</a:t>
                </a:r>
              </a:p>
            </p:txBody>
          </p:sp>
          <p:sp>
            <p:nvSpPr>
              <p:cNvPr id="26630" name="Text Box 6"/>
              <p:cNvSpPr txBox="1">
                <a:spLocks noChangeArrowheads="1"/>
              </p:cNvSpPr>
              <p:nvPr/>
            </p:nvSpPr>
            <p:spPr bwMode="auto">
              <a:xfrm>
                <a:off x="2832" y="1440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>
                    <a:solidFill>
                      <a:srgbClr val="0000FF"/>
                    </a:solidFill>
                  </a:rPr>
                  <a:t>钨</a:t>
                </a:r>
              </a:p>
            </p:txBody>
          </p:sp>
          <p:sp>
            <p:nvSpPr>
              <p:cNvPr id="26632" name="Rectangle 8"/>
              <p:cNvSpPr>
                <a:spLocks noChangeArrowheads="1"/>
              </p:cNvSpPr>
              <p:nvPr/>
            </p:nvSpPr>
            <p:spPr bwMode="auto">
              <a:xfrm>
                <a:off x="3648" y="1872"/>
                <a:ext cx="96" cy="14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631" name="Text Box 7"/>
              <p:cNvSpPr txBox="1">
                <a:spLocks noChangeArrowheads="1"/>
              </p:cNvSpPr>
              <p:nvPr/>
            </p:nvSpPr>
            <p:spPr bwMode="auto">
              <a:xfrm>
                <a:off x="3516" y="1800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>
                    <a:solidFill>
                      <a:srgbClr val="FF3300"/>
                    </a:solidFill>
                  </a:rPr>
                  <a:t>镍</a:t>
                </a:r>
              </a:p>
            </p:txBody>
          </p:sp>
          <p:sp>
            <p:nvSpPr>
              <p:cNvPr id="26634" name="Text Box 10"/>
              <p:cNvSpPr txBox="1">
                <a:spLocks noChangeArrowheads="1"/>
              </p:cNvSpPr>
              <p:nvPr/>
            </p:nvSpPr>
            <p:spPr bwMode="auto">
              <a:xfrm>
                <a:off x="3456" y="2400"/>
                <a:ext cx="720" cy="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/>
                  <a:t>绝缘体</a:t>
                </a:r>
              </a:p>
            </p:txBody>
          </p:sp>
          <p:sp>
            <p:nvSpPr>
              <p:cNvPr id="26635" name="Line 11"/>
              <p:cNvSpPr>
                <a:spLocks noChangeShapeType="1"/>
              </p:cNvSpPr>
              <p:nvPr/>
            </p:nvSpPr>
            <p:spPr bwMode="auto">
              <a:xfrm flipH="1">
                <a:off x="3096" y="2448"/>
                <a:ext cx="48" cy="192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636" name="Text Box 12"/>
              <p:cNvSpPr txBox="1">
                <a:spLocks noChangeArrowheads="1"/>
              </p:cNvSpPr>
              <p:nvPr/>
            </p:nvSpPr>
            <p:spPr bwMode="auto">
              <a:xfrm>
                <a:off x="864" y="1572"/>
                <a:ext cx="1392" cy="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>
                    <a:solidFill>
                      <a:srgbClr val="FF33CC"/>
                    </a:solidFill>
                  </a:rPr>
                  <a:t>通向电子装置</a:t>
                </a:r>
              </a:p>
            </p:txBody>
          </p:sp>
        </p:grpSp>
        <p:sp>
          <p:nvSpPr>
            <p:cNvPr id="26638" name="Text Box 14"/>
            <p:cNvSpPr txBox="1">
              <a:spLocks noChangeArrowheads="1"/>
            </p:cNvSpPr>
            <p:nvPr/>
          </p:nvSpPr>
          <p:spPr bwMode="auto">
            <a:xfrm>
              <a:off x="2100" y="3096"/>
              <a:ext cx="576" cy="3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/>
                <a:t>芯片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2A22C-31E8-4A46-AA94-F226245C12B0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533400" y="400050"/>
            <a:ext cx="4876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0000FF"/>
                </a:solidFill>
              </a:rPr>
              <a:t>扫描热显微镜简介</a:t>
            </a:r>
            <a:endParaRPr lang="zh-CN" altLang="en-US" sz="3200" b="1"/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1619250" y="1181100"/>
            <a:ext cx="5772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/>
              <a:t>热探针针尖直径只有约</a:t>
            </a:r>
            <a:r>
              <a:rPr lang="en-US" altLang="zh-CN" sz="3200" b="1"/>
              <a:t>30nm</a:t>
            </a:r>
            <a:r>
              <a:rPr lang="zh-CN" altLang="en-US" sz="3200" b="1"/>
              <a:t>，</a:t>
            </a:r>
          </a:p>
        </p:txBody>
      </p:sp>
      <p:sp>
        <p:nvSpPr>
          <p:cNvPr id="27653" name="Text Box 5"/>
          <p:cNvSpPr txBox="1">
            <a:spLocks noChangeArrowheads="1"/>
          </p:cNvSpPr>
          <p:nvPr/>
        </p:nvSpPr>
        <p:spPr bwMode="auto">
          <a:xfrm>
            <a:off x="495300" y="1847850"/>
            <a:ext cx="85725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/>
              <a:t>纳米的尺度上，测出万分之一度的温度变化。</a:t>
            </a:r>
          </a:p>
        </p:txBody>
      </p:sp>
      <p:sp>
        <p:nvSpPr>
          <p:cNvPr id="27654" name="Text Box 6"/>
          <p:cNvSpPr txBox="1">
            <a:spLocks noChangeArrowheads="1"/>
          </p:cNvSpPr>
          <p:nvPr/>
        </p:nvSpPr>
        <p:spPr bwMode="auto">
          <a:xfrm>
            <a:off x="190500" y="2476500"/>
            <a:ext cx="26527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</a:rPr>
              <a:t>▲ </a:t>
            </a:r>
            <a:r>
              <a:rPr lang="zh-CN" altLang="en-US" sz="3200" b="1">
                <a:solidFill>
                  <a:srgbClr val="0000FF"/>
                </a:solidFill>
              </a:rPr>
              <a:t>工作原理：</a:t>
            </a:r>
            <a:endParaRPr lang="zh-CN" altLang="en-US" sz="3200" b="1"/>
          </a:p>
        </p:txBody>
      </p:sp>
      <p:sp>
        <p:nvSpPr>
          <p:cNvPr id="27655" name="Text Box 7"/>
          <p:cNvSpPr txBox="1">
            <a:spLocks noChangeArrowheads="1"/>
          </p:cNvSpPr>
          <p:nvPr/>
        </p:nvSpPr>
        <p:spPr bwMode="auto">
          <a:xfrm>
            <a:off x="514350" y="5829300"/>
            <a:ext cx="5029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/>
              <a:t>表面的起伏状况。</a:t>
            </a:r>
          </a:p>
        </p:txBody>
      </p:sp>
      <p:sp>
        <p:nvSpPr>
          <p:cNvPr id="27656" name="Text Box 8"/>
          <p:cNvSpPr txBox="1">
            <a:spLocks noChangeArrowheads="1"/>
          </p:cNvSpPr>
          <p:nvPr/>
        </p:nvSpPr>
        <p:spPr bwMode="auto">
          <a:xfrm>
            <a:off x="171450" y="1143000"/>
            <a:ext cx="1736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</a:rPr>
              <a:t>▲ </a:t>
            </a:r>
            <a:r>
              <a:rPr lang="zh-CN" altLang="en-US" sz="3200" b="1">
                <a:solidFill>
                  <a:srgbClr val="0000FF"/>
                </a:solidFill>
              </a:rPr>
              <a:t>性能：</a:t>
            </a:r>
          </a:p>
        </p:txBody>
      </p:sp>
      <p:sp>
        <p:nvSpPr>
          <p:cNvPr id="27658" name="Rectangle 10"/>
          <p:cNvSpPr>
            <a:spLocks noChangeArrowheads="1"/>
          </p:cNvSpPr>
          <p:nvPr/>
        </p:nvSpPr>
        <p:spPr bwMode="auto">
          <a:xfrm>
            <a:off x="533400" y="3181350"/>
            <a:ext cx="41163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/>
              <a:t>针尖和被测表面距离</a:t>
            </a:r>
            <a:r>
              <a:rPr lang="zh-CN" altLang="en-US" sz="3200" b="1">
                <a:sym typeface="Symbol" pitchFamily="18" charset="2"/>
              </a:rPr>
              <a:t></a:t>
            </a:r>
          </a:p>
        </p:txBody>
      </p:sp>
      <p:sp>
        <p:nvSpPr>
          <p:cNvPr id="27659" name="Rectangle 11"/>
          <p:cNvSpPr>
            <a:spLocks noChangeArrowheads="1"/>
          </p:cNvSpPr>
          <p:nvPr/>
        </p:nvSpPr>
        <p:spPr bwMode="auto">
          <a:xfrm>
            <a:off x="4552950" y="3143250"/>
            <a:ext cx="2470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sym typeface="Symbol" pitchFamily="18" charset="2"/>
              </a:rPr>
              <a:t></a:t>
            </a:r>
            <a:r>
              <a:rPr lang="zh-CN" altLang="en-US" sz="3200" b="1"/>
              <a:t>针尖散热</a:t>
            </a:r>
            <a:r>
              <a:rPr lang="zh-CN" altLang="en-US" sz="3200" b="1">
                <a:sym typeface="Symbol" pitchFamily="18" charset="2"/>
              </a:rPr>
              <a:t></a:t>
            </a:r>
          </a:p>
        </p:txBody>
      </p:sp>
      <p:sp>
        <p:nvSpPr>
          <p:cNvPr id="27660" name="Rectangle 12"/>
          <p:cNvSpPr>
            <a:spLocks noChangeArrowheads="1"/>
          </p:cNvSpPr>
          <p:nvPr/>
        </p:nvSpPr>
        <p:spPr bwMode="auto">
          <a:xfrm>
            <a:off x="2424113" y="2495550"/>
            <a:ext cx="67214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/>
              <a:t>通电流使探针加热并接近试样表面。</a:t>
            </a:r>
          </a:p>
        </p:txBody>
      </p:sp>
      <p:sp>
        <p:nvSpPr>
          <p:cNvPr id="27662" name="Rectangle 14"/>
          <p:cNvSpPr>
            <a:spLocks noChangeArrowheads="1"/>
          </p:cNvSpPr>
          <p:nvPr/>
        </p:nvSpPr>
        <p:spPr bwMode="auto">
          <a:xfrm>
            <a:off x="495300" y="4438650"/>
            <a:ext cx="8439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 b="1">
                <a:sym typeface="Symbol" pitchFamily="18" charset="2"/>
              </a:rPr>
              <a:t>由此可反映出探</a:t>
            </a:r>
            <a:r>
              <a:rPr lang="zh-CN" altLang="en-US" sz="3200" b="1"/>
              <a:t>针尖与试样表面间隙的大小。</a:t>
            </a:r>
          </a:p>
        </p:txBody>
      </p:sp>
      <p:sp>
        <p:nvSpPr>
          <p:cNvPr id="27664" name="Rectangle 16"/>
          <p:cNvSpPr>
            <a:spLocks noChangeArrowheads="1"/>
          </p:cNvSpPr>
          <p:nvPr/>
        </p:nvSpPr>
        <p:spPr bwMode="auto">
          <a:xfrm>
            <a:off x="533400" y="5143500"/>
            <a:ext cx="55006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/>
              <a:t>当探针在试样表面上扫描时，</a:t>
            </a:r>
          </a:p>
        </p:txBody>
      </p:sp>
      <p:sp>
        <p:nvSpPr>
          <p:cNvPr id="27667" name="Rectangle 19"/>
          <p:cNvSpPr>
            <a:spLocks noChangeArrowheads="1"/>
          </p:cNvSpPr>
          <p:nvPr/>
        </p:nvSpPr>
        <p:spPr bwMode="auto">
          <a:xfrm>
            <a:off x="514350" y="3810000"/>
            <a:ext cx="41163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/>
              <a:t>针尖和被测表面距离</a:t>
            </a:r>
            <a:r>
              <a:rPr lang="zh-CN" altLang="en-US" sz="3200" b="1">
                <a:sym typeface="Symbol" pitchFamily="18" charset="2"/>
              </a:rPr>
              <a:t></a:t>
            </a:r>
          </a:p>
        </p:txBody>
      </p:sp>
      <p:sp>
        <p:nvSpPr>
          <p:cNvPr id="27668" name="Rectangle 20"/>
          <p:cNvSpPr>
            <a:spLocks noChangeArrowheads="1"/>
          </p:cNvSpPr>
          <p:nvPr/>
        </p:nvSpPr>
        <p:spPr bwMode="auto">
          <a:xfrm>
            <a:off x="4591050" y="3771900"/>
            <a:ext cx="2571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sym typeface="Symbol" pitchFamily="18" charset="2"/>
              </a:rPr>
              <a:t></a:t>
            </a:r>
            <a:r>
              <a:rPr lang="zh-CN" altLang="en-US" sz="3200" b="1"/>
              <a:t>针尖散热</a:t>
            </a:r>
            <a:r>
              <a:rPr lang="zh-CN" altLang="en-US" sz="3200" b="1">
                <a:sym typeface="Symbol" pitchFamily="18" charset="2"/>
              </a:rPr>
              <a:t></a:t>
            </a:r>
            <a:r>
              <a:rPr lang="zh-CN" altLang="en-US" sz="3200" b="1"/>
              <a:t> </a:t>
            </a:r>
          </a:p>
        </p:txBody>
      </p:sp>
      <p:sp>
        <p:nvSpPr>
          <p:cNvPr id="27669" name="Rectangle 21"/>
          <p:cNvSpPr>
            <a:spLocks noChangeArrowheads="1"/>
          </p:cNvSpPr>
          <p:nvPr/>
        </p:nvSpPr>
        <p:spPr bwMode="auto">
          <a:xfrm>
            <a:off x="6915150" y="3714750"/>
            <a:ext cx="22288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200" b="1">
                <a:sym typeface="Symbol" pitchFamily="18" charset="2"/>
              </a:rPr>
              <a:t></a:t>
            </a:r>
            <a:r>
              <a:rPr lang="zh-CN" altLang="en-US" sz="3200" b="1">
                <a:sym typeface="Symbol" pitchFamily="18" charset="2"/>
              </a:rPr>
              <a:t>温度。</a:t>
            </a:r>
          </a:p>
        </p:txBody>
      </p:sp>
      <p:sp>
        <p:nvSpPr>
          <p:cNvPr id="27670" name="Rectangle 22"/>
          <p:cNvSpPr>
            <a:spLocks noChangeArrowheads="1"/>
          </p:cNvSpPr>
          <p:nvPr/>
        </p:nvSpPr>
        <p:spPr bwMode="auto">
          <a:xfrm>
            <a:off x="6915150" y="3124200"/>
            <a:ext cx="22288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200" b="1">
                <a:sym typeface="Symbol" pitchFamily="18" charset="2"/>
              </a:rPr>
              <a:t></a:t>
            </a:r>
            <a:r>
              <a:rPr lang="zh-CN" altLang="en-US" sz="3200" b="1">
                <a:sym typeface="Symbol" pitchFamily="18" charset="2"/>
              </a:rPr>
              <a:t>温度；</a:t>
            </a:r>
          </a:p>
        </p:txBody>
      </p:sp>
      <p:sp>
        <p:nvSpPr>
          <p:cNvPr id="27671" name="Rectangle 23"/>
          <p:cNvSpPr>
            <a:spLocks noChangeArrowheads="1"/>
          </p:cNvSpPr>
          <p:nvPr/>
        </p:nvSpPr>
        <p:spPr bwMode="auto">
          <a:xfrm>
            <a:off x="5810250" y="5143500"/>
            <a:ext cx="26336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/>
              <a:t>就能测出试样</a:t>
            </a:r>
          </a:p>
        </p:txBody>
      </p:sp>
      <p:sp>
        <p:nvSpPr>
          <p:cNvPr id="27672" name="Rectangle 24"/>
          <p:cNvSpPr>
            <a:spLocks noChangeArrowheads="1"/>
          </p:cNvSpPr>
          <p:nvPr/>
        </p:nvSpPr>
        <p:spPr bwMode="auto">
          <a:xfrm>
            <a:off x="7029450" y="1162050"/>
            <a:ext cx="18224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/>
              <a:t>可在数十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27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300"/>
                                        <p:tgtEl>
                                          <p:spTgt spid="27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300"/>
                                        <p:tgtEl>
                                          <p:spTgt spid="2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7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utoUpdateAnimBg="0"/>
      <p:bldP spid="27652" grpId="0" autoUpdateAnimBg="0"/>
      <p:bldP spid="27653" grpId="0" autoUpdateAnimBg="0"/>
      <p:bldP spid="27654" grpId="0" autoUpdateAnimBg="0"/>
      <p:bldP spid="27655" grpId="0" autoUpdateAnimBg="0"/>
      <p:bldP spid="27656" grpId="0" autoUpdateAnimBg="0"/>
      <p:bldP spid="27658" grpId="0" autoUpdateAnimBg="0"/>
      <p:bldP spid="27659" grpId="0" autoUpdateAnimBg="0"/>
      <p:bldP spid="27660" grpId="0" autoUpdateAnimBg="0"/>
      <p:bldP spid="27662" grpId="0" autoUpdateAnimBg="0"/>
      <p:bldP spid="27664" grpId="0" autoUpdateAnimBg="0"/>
      <p:bldP spid="27667" grpId="0" autoUpdateAnimBg="0"/>
      <p:bldP spid="27668" grpId="0" autoUpdateAnimBg="0"/>
      <p:bldP spid="27669" grpId="0" autoUpdateAnimBg="0"/>
      <p:bldP spid="27670" grpId="0" autoUpdateAnimBg="0"/>
      <p:bldP spid="27671" grpId="0" autoUpdateAnimBg="0"/>
      <p:bldP spid="27672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E6502-4247-456D-A1CB-76661F58E048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533400" y="209550"/>
            <a:ext cx="47593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</a:rPr>
              <a:t>▲</a:t>
            </a:r>
            <a:r>
              <a:rPr lang="zh-CN" altLang="en-US" sz="3200" b="1">
                <a:solidFill>
                  <a:srgbClr val="0000FF"/>
                </a:solidFill>
              </a:rPr>
              <a:t>扫描热显微镜的应用：</a:t>
            </a: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304800" y="838200"/>
            <a:ext cx="5486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</a:rPr>
              <a:t>◆ </a:t>
            </a:r>
            <a:r>
              <a:rPr lang="zh-CN" altLang="en-US" sz="3200" b="1"/>
              <a:t>检测电子芯片表面的质量。</a:t>
            </a:r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285750" y="1447800"/>
            <a:ext cx="87058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</a:rPr>
              <a:t>◆ </a:t>
            </a:r>
            <a:r>
              <a:rPr lang="zh-CN" altLang="en-US" sz="3200" b="1"/>
              <a:t>探测活细胞中温度的变化，从而给出新陈代谢</a:t>
            </a:r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590550" y="2076450"/>
            <a:ext cx="2625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/>
              <a:t>方式的线索。</a:t>
            </a:r>
          </a:p>
        </p:txBody>
      </p:sp>
      <p:sp>
        <p:nvSpPr>
          <p:cNvPr id="28678" name="Text Box 6"/>
          <p:cNvSpPr txBox="1">
            <a:spLocks noChangeArrowheads="1"/>
          </p:cNvSpPr>
          <p:nvPr/>
        </p:nvSpPr>
        <p:spPr bwMode="auto">
          <a:xfrm>
            <a:off x="266700" y="2705100"/>
            <a:ext cx="87249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3300"/>
                </a:solidFill>
              </a:rPr>
              <a:t>◆ </a:t>
            </a:r>
            <a:r>
              <a:rPr lang="zh-CN" altLang="en-US" sz="3200" b="1" dirty="0"/>
              <a:t>通过探针尖端热量的散失情况，测定微细气流</a:t>
            </a:r>
          </a:p>
        </p:txBody>
      </p:sp>
      <p:sp>
        <p:nvSpPr>
          <p:cNvPr id="28679" name="Rectangle 7"/>
          <p:cNvSpPr>
            <a:spLocks noChangeArrowheads="1"/>
          </p:cNvSpPr>
          <p:nvPr/>
        </p:nvSpPr>
        <p:spPr bwMode="auto">
          <a:xfrm>
            <a:off x="612775" y="3314700"/>
            <a:ext cx="30353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/>
              <a:t>或液流的流量。</a:t>
            </a:r>
          </a:p>
        </p:txBody>
      </p:sp>
      <p:sp>
        <p:nvSpPr>
          <p:cNvPr id="28680" name="Text Box 8"/>
          <p:cNvSpPr txBox="1">
            <a:spLocks noChangeArrowheads="1"/>
          </p:cNvSpPr>
          <p:nvPr/>
        </p:nvSpPr>
        <p:spPr bwMode="auto">
          <a:xfrm>
            <a:off x="304800" y="3943350"/>
            <a:ext cx="79438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</a:rPr>
              <a:t>◆ </a:t>
            </a:r>
            <a:r>
              <a:rPr lang="zh-CN" altLang="en-US" sz="3200" b="1"/>
              <a:t>检测试样表面成分（光热吸收分光术）：</a:t>
            </a:r>
          </a:p>
        </p:txBody>
      </p:sp>
      <p:sp>
        <p:nvSpPr>
          <p:cNvPr id="28681" name="Text Box 9"/>
          <p:cNvSpPr txBox="1">
            <a:spLocks noChangeArrowheads="1"/>
          </p:cNvSpPr>
          <p:nvPr/>
        </p:nvSpPr>
        <p:spPr bwMode="auto">
          <a:xfrm>
            <a:off x="3009900" y="5257800"/>
            <a:ext cx="6134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/>
              <a:t>进而给出试样表面成分在极小尺</a:t>
            </a:r>
          </a:p>
        </p:txBody>
      </p:sp>
      <p:sp>
        <p:nvSpPr>
          <p:cNvPr id="28682" name="Rectangle 10"/>
          <p:cNvSpPr>
            <a:spLocks noChangeArrowheads="1"/>
          </p:cNvSpPr>
          <p:nvPr/>
        </p:nvSpPr>
        <p:spPr bwMode="auto">
          <a:xfrm>
            <a:off x="666750" y="4610100"/>
            <a:ext cx="3460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/>
              <a:t>用激光照射试样，</a:t>
            </a:r>
          </a:p>
        </p:txBody>
      </p:sp>
      <p:sp>
        <p:nvSpPr>
          <p:cNvPr id="28683" name="Rectangle 11"/>
          <p:cNvSpPr>
            <a:spLocks noChangeArrowheads="1"/>
          </p:cNvSpPr>
          <p:nvPr/>
        </p:nvSpPr>
        <p:spPr bwMode="auto">
          <a:xfrm>
            <a:off x="3905250" y="4610100"/>
            <a:ext cx="3043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/>
              <a:t>改变激光波长，</a:t>
            </a:r>
          </a:p>
        </p:txBody>
      </p:sp>
      <p:sp>
        <p:nvSpPr>
          <p:cNvPr id="28684" name="Rectangle 12"/>
          <p:cNvSpPr>
            <a:spLocks noChangeArrowheads="1"/>
          </p:cNvSpPr>
          <p:nvPr/>
        </p:nvSpPr>
        <p:spPr bwMode="auto">
          <a:xfrm>
            <a:off x="6724650" y="4564063"/>
            <a:ext cx="2419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 b="1"/>
              <a:t>同时测试样</a:t>
            </a:r>
          </a:p>
        </p:txBody>
      </p:sp>
      <p:sp>
        <p:nvSpPr>
          <p:cNvPr id="28685" name="Rectangle 13"/>
          <p:cNvSpPr>
            <a:spLocks noChangeArrowheads="1"/>
          </p:cNvSpPr>
          <p:nvPr/>
        </p:nvSpPr>
        <p:spPr bwMode="auto">
          <a:xfrm>
            <a:off x="666750" y="5257800"/>
            <a:ext cx="2625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/>
              <a:t>温度的变化，</a:t>
            </a:r>
          </a:p>
        </p:txBody>
      </p:sp>
      <p:sp>
        <p:nvSpPr>
          <p:cNvPr id="28686" name="Rectangle 14"/>
          <p:cNvSpPr>
            <a:spLocks noChangeArrowheads="1"/>
          </p:cNvSpPr>
          <p:nvPr/>
        </p:nvSpPr>
        <p:spPr bwMode="auto">
          <a:xfrm>
            <a:off x="3048000" y="5935663"/>
            <a:ext cx="57007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 b="1"/>
              <a:t>实现微观尺度上的光谱分析。</a:t>
            </a:r>
          </a:p>
        </p:txBody>
      </p:sp>
      <p:sp>
        <p:nvSpPr>
          <p:cNvPr id="28687" name="Rectangle 15"/>
          <p:cNvSpPr>
            <a:spLocks noChangeArrowheads="1"/>
          </p:cNvSpPr>
          <p:nvPr/>
        </p:nvSpPr>
        <p:spPr bwMode="auto">
          <a:xfrm>
            <a:off x="717550" y="5954713"/>
            <a:ext cx="2625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/>
              <a:t>度上的变化，</a:t>
            </a:r>
          </a:p>
        </p:txBody>
      </p:sp>
      <p:sp>
        <p:nvSpPr>
          <p:cNvPr id="28688" name="AutoShape 1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8572500" y="6324600"/>
            <a:ext cx="304800" cy="152400"/>
          </a:xfrm>
          <a:prstGeom prst="actionButtonBeginning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20EFF-688C-42FC-AB51-81846CDFBF33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152400" y="228600"/>
            <a:ext cx="8702675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b="1"/>
              <a:t>Profiling the Thermoelectric Power of Semiconductor Junctions with Nanometer Resolution</a:t>
            </a:r>
            <a:r>
              <a:rPr lang="en-US" sz="3200" b="1"/>
              <a:t>  </a:t>
            </a:r>
            <a:r>
              <a:rPr lang="en-US" sz="1800"/>
              <a:t>by</a:t>
            </a:r>
            <a:r>
              <a:rPr lang="en-US" sz="1800" b="1"/>
              <a:t> </a:t>
            </a:r>
            <a:r>
              <a:rPr lang="en-US" sz="1800"/>
              <a:t>Ho-Ki Lyeo,1 A. A. Khajetoorians,1 Li Shi,2,3*</a:t>
            </a:r>
          </a:p>
          <a:p>
            <a:r>
              <a:rPr lang="en-US" sz="1800"/>
              <a:t>SCIENCE 303(2004)816</a:t>
            </a:r>
            <a:endParaRPr lang="en-US" sz="1800" b="1"/>
          </a:p>
        </p:txBody>
      </p:sp>
      <p:pic>
        <p:nvPicPr>
          <p:cNvPr id="93186" name="Picture 2" descr="https://media.proquest.com/media/pq/classic/doc/546277741/fmt/zi/rep/full/zone/1?_a=ChgyMDE5MTAwNzA3MjQzMTcyMjoxOTA2NzcSBTk2MzE3GgpPTkVfU0VBUkNIIg4xODMuMTczLjE0Ni42NCoEMTI1NjIJMjEzNTgyNTMwOgtJbmxpbmVJbWFnZUIBMFIGT25saW5lWgNJTEliBFRIVU1qCjIwMDQvMDIvMDZyCjIwMDQvMDIvMDZ6AIIBO1AtMTAwNzE2MC0xNDQyNi1DVVNUT01FUi0xMDAwMDI1My8xMDAwMDIzNC8xMDAwMDAzNS01ODIwNjE2kgEGT25saW5lygFJTW96aWxsYS81LjAgKFdpbmRvd3MgTlQgNi4xOyBXaW42NDsgeDY0OyBUcmlkZW50LzcuMDsgcnY6MTEuMCkgbGlrZSBHZWNrb9IBElNjaG9sYXJseSBKb3VybmFsc5oCB1ByZVBhaWSqAixPUzpFTVMtVGV4dFBsdXNHcmFwaGljc0NvbnRhaW5lci1wcmVwYXJlQm9kecoCD0ZlYXR1cmV8QXJ0aWNsZeICAPICAPoCAU6CAwNXZWI%3D&amp;_s=5P6odqkyU82rWz1G66RjdKP2yuU%3D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4" t="3022" r="71276" b="19328"/>
          <a:stretch/>
        </p:blipFill>
        <p:spPr bwMode="auto">
          <a:xfrm>
            <a:off x="2114550" y="1556792"/>
            <a:ext cx="4473674" cy="4606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E5D2-5592-4511-AE97-C575E436EF0A}" type="slidenum">
              <a:rPr lang="en-US" altLang="zh-CN"/>
              <a:pPr/>
              <a:t>34</a:t>
            </a:fld>
            <a:endParaRPr lang="en-US" altLang="zh-CN"/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914400"/>
            <a:ext cx="5105400" cy="482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362200"/>
            <a:ext cx="33528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A6ED1-41A4-4077-B6CD-02048108C3C2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441325" y="554038"/>
            <a:ext cx="3841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三、液体流动产生的电动势</a:t>
            </a:r>
          </a:p>
        </p:txBody>
      </p:sp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5791200" cy="513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4572000" y="457200"/>
            <a:ext cx="3632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800" b="1">
                <a:latin typeface="Bliss-Bold" charset="-122"/>
              </a:rPr>
              <a:t>Carbon Nanotube Flow Sensors</a:t>
            </a:r>
            <a:endParaRPr lang="en-US" altLang="zh-CN" sz="1800">
              <a:latin typeface="Bliss-Bold" charset="-122"/>
            </a:endParaRPr>
          </a:p>
          <a:p>
            <a:r>
              <a:rPr lang="en-US" altLang="zh-CN" sz="1800"/>
              <a:t>Science 14</a:t>
            </a:r>
            <a:r>
              <a:rPr lang="zh-CN" altLang="en-US" sz="1800"/>
              <a:t>，</a:t>
            </a:r>
            <a:r>
              <a:rPr lang="en-US" altLang="zh-CN" sz="1800"/>
              <a:t>Feb</a:t>
            </a:r>
            <a:r>
              <a:rPr lang="zh-CN" altLang="en-US" sz="1800"/>
              <a:t>，</a:t>
            </a:r>
            <a:r>
              <a:rPr lang="en-US" altLang="zh-CN" sz="1800"/>
              <a:t>2003  V299, 1042</a:t>
            </a:r>
          </a:p>
        </p:txBody>
      </p:sp>
      <p:pic>
        <p:nvPicPr>
          <p:cNvPr id="3686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600200"/>
            <a:ext cx="3581400" cy="293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6870" name="Text Box 6"/>
          <p:cNvSpPr txBox="1">
            <a:spLocks noChangeArrowheads="1"/>
          </p:cNvSpPr>
          <p:nvPr/>
        </p:nvSpPr>
        <p:spPr bwMode="auto">
          <a:xfrm>
            <a:off x="5257800" y="4724400"/>
            <a:ext cx="3879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800" b="1"/>
              <a:t>SWNT single walled carbon nanotube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DBD70-7ED5-49B1-9B4F-C9BD70755D8D}" type="slidenum">
              <a:rPr lang="en-US" altLang="zh-CN"/>
              <a:pPr/>
              <a:t>36</a:t>
            </a:fld>
            <a:endParaRPr lang="en-US" altLang="zh-CN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143000"/>
            <a:ext cx="5638800" cy="4560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066800"/>
            <a:ext cx="3200400" cy="287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15DB4-3ADD-486A-AE30-D60483B9AC4F}" type="slidenum">
              <a:rPr lang="en-US" altLang="zh-CN"/>
              <a:pPr/>
              <a:t>37</a:t>
            </a:fld>
            <a:endParaRPr lang="en-US" altLang="zh-CN"/>
          </a:p>
        </p:txBody>
      </p:sp>
      <p:grpSp>
        <p:nvGrpSpPr>
          <p:cNvPr id="14374" name="Group 38"/>
          <p:cNvGrpSpPr>
            <a:grpSpLocks/>
          </p:cNvGrpSpPr>
          <p:nvPr/>
        </p:nvGrpSpPr>
        <p:grpSpPr bwMode="auto">
          <a:xfrm>
            <a:off x="3124200" y="1574626"/>
            <a:ext cx="5715000" cy="630238"/>
            <a:chOff x="1968" y="912"/>
            <a:chExt cx="3600" cy="397"/>
          </a:xfrm>
        </p:grpSpPr>
        <p:sp>
          <p:nvSpPr>
            <p:cNvPr id="14341" name="Text Box 5"/>
            <p:cNvSpPr txBox="1">
              <a:spLocks noChangeArrowheads="1"/>
            </p:cNvSpPr>
            <p:nvPr/>
          </p:nvSpPr>
          <p:spPr bwMode="auto">
            <a:xfrm>
              <a:off x="1968" y="912"/>
              <a:ext cx="225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b="1">
                  <a:solidFill>
                    <a:srgbClr val="000000"/>
                  </a:solidFill>
                </a:rPr>
                <a:t>考虑到      ，有：</a:t>
              </a:r>
            </a:p>
          </p:txBody>
        </p:sp>
        <p:graphicFrame>
          <p:nvGraphicFramePr>
            <p:cNvPr id="14342" name="Object 6"/>
            <p:cNvGraphicFramePr>
              <a:graphicFrameLocks noChangeAspect="1"/>
            </p:cNvGraphicFramePr>
            <p:nvPr/>
          </p:nvGraphicFramePr>
          <p:xfrm>
            <a:off x="2786" y="928"/>
            <a:ext cx="392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98" name="公式" r:id="rId3" imgW="253800" imgH="241200" progId="Equation.3">
                    <p:embed/>
                  </p:oleObj>
                </mc:Choice>
                <mc:Fallback>
                  <p:oleObj name="公式" r:id="rId3" imgW="253800" imgH="2412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6" y="928"/>
                          <a:ext cx="392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3" name="Object 7"/>
            <p:cNvGraphicFramePr>
              <a:graphicFrameLocks noChangeAspect="1"/>
            </p:cNvGraphicFramePr>
            <p:nvPr/>
          </p:nvGraphicFramePr>
          <p:xfrm>
            <a:off x="3939" y="915"/>
            <a:ext cx="1629" cy="3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99" name="公式" r:id="rId5" imgW="990360" imgH="241200" progId="Equation.3">
                    <p:embed/>
                  </p:oleObj>
                </mc:Choice>
                <mc:Fallback>
                  <p:oleObj name="公式" r:id="rId5" imgW="990360" imgH="2412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9" y="915"/>
                          <a:ext cx="1629" cy="3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345" name="Object 9"/>
          <p:cNvGraphicFramePr>
            <a:graphicFrameLocks noChangeAspect="1"/>
          </p:cNvGraphicFramePr>
          <p:nvPr/>
        </p:nvGraphicFramePr>
        <p:xfrm>
          <a:off x="3814763" y="2089150"/>
          <a:ext cx="4872037" cy="1236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00" name="公式" r:id="rId7" imgW="2120760" imgH="457200" progId="Equation.3">
                  <p:embed/>
                </p:oleObj>
              </mc:Choice>
              <mc:Fallback>
                <p:oleObj name="公式" r:id="rId7" imgW="2120760" imgH="457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4763" y="2089150"/>
                        <a:ext cx="4872037" cy="1236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Object 10"/>
          <p:cNvGraphicFramePr>
            <a:graphicFrameLocks noChangeAspect="1"/>
          </p:cNvGraphicFramePr>
          <p:nvPr/>
        </p:nvGraphicFramePr>
        <p:xfrm>
          <a:off x="4154488" y="3298825"/>
          <a:ext cx="4151312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01" name="公式" r:id="rId9" imgW="1638000" imgH="419040" progId="Equation.3">
                  <p:embed/>
                </p:oleObj>
              </mc:Choice>
              <mc:Fallback>
                <p:oleObj name="公式" r:id="rId9" imgW="1638000" imgH="4190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4488" y="3298825"/>
                        <a:ext cx="4151312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7" name="Object 11"/>
          <p:cNvGraphicFramePr>
            <a:graphicFrameLocks noChangeAspect="1"/>
          </p:cNvGraphicFramePr>
          <p:nvPr/>
        </p:nvGraphicFramePr>
        <p:xfrm>
          <a:off x="1674813" y="4525963"/>
          <a:ext cx="2976562" cy="10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02" name="公式" r:id="rId11" imgW="965160" imgH="330120" progId="Equation.3">
                  <p:embed/>
                </p:oleObj>
              </mc:Choice>
              <mc:Fallback>
                <p:oleObj name="公式" r:id="rId11" imgW="965160" imgH="33012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4813" y="4525963"/>
                        <a:ext cx="2976562" cy="1017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53" name="Group 17"/>
          <p:cNvGrpSpPr>
            <a:grpSpLocks/>
          </p:cNvGrpSpPr>
          <p:nvPr/>
        </p:nvGrpSpPr>
        <p:grpSpPr bwMode="auto">
          <a:xfrm>
            <a:off x="4838700" y="4525963"/>
            <a:ext cx="2667000" cy="673100"/>
            <a:chOff x="2760" y="2383"/>
            <a:chExt cx="1680" cy="424"/>
          </a:xfrm>
        </p:grpSpPr>
        <p:graphicFrame>
          <p:nvGraphicFramePr>
            <p:cNvPr id="14348" name="Object 12"/>
            <p:cNvGraphicFramePr>
              <a:graphicFrameLocks noChangeAspect="1"/>
            </p:cNvGraphicFramePr>
            <p:nvPr/>
          </p:nvGraphicFramePr>
          <p:xfrm>
            <a:off x="3168" y="2383"/>
            <a:ext cx="1272" cy="4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03" name="公式" r:id="rId13" imgW="685800" imgH="228600" progId="Equation.3">
                    <p:embed/>
                  </p:oleObj>
                </mc:Choice>
                <mc:Fallback>
                  <p:oleObj name="公式" r:id="rId13" imgW="685800" imgH="2286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2383"/>
                          <a:ext cx="1272" cy="4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49" name="Line 13"/>
            <p:cNvSpPr>
              <a:spLocks noChangeShapeType="1"/>
            </p:cNvSpPr>
            <p:nvPr/>
          </p:nvSpPr>
          <p:spPr bwMode="auto">
            <a:xfrm>
              <a:off x="2760" y="2599"/>
              <a:ext cx="48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350" name="Text Box 14"/>
          <p:cNvSpPr txBox="1">
            <a:spLocks noChangeArrowheads="1"/>
          </p:cNvSpPr>
          <p:nvPr/>
        </p:nvSpPr>
        <p:spPr bwMode="auto">
          <a:xfrm>
            <a:off x="838200" y="5543550"/>
            <a:ext cx="3200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000000"/>
                </a:solidFill>
              </a:rPr>
              <a:t>对上图</a:t>
            </a:r>
            <a:r>
              <a:rPr lang="zh-CN" altLang="en-US" sz="3200" b="1">
                <a:solidFill>
                  <a:srgbClr val="0000FF"/>
                </a:solidFill>
              </a:rPr>
              <a:t>单回路：</a:t>
            </a:r>
          </a:p>
        </p:txBody>
      </p:sp>
      <p:graphicFrame>
        <p:nvGraphicFramePr>
          <p:cNvPr id="14351" name="Object 15"/>
          <p:cNvGraphicFramePr>
            <a:graphicFrameLocks noChangeAspect="1"/>
          </p:cNvGraphicFramePr>
          <p:nvPr/>
        </p:nvGraphicFramePr>
        <p:xfrm>
          <a:off x="3671888" y="5491163"/>
          <a:ext cx="4926012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04" name="公式" r:id="rId15" imgW="1701720" imgH="228600" progId="Equation.3">
                  <p:embed/>
                </p:oleObj>
              </mc:Choice>
              <mc:Fallback>
                <p:oleObj name="公式" r:id="rId15" imgW="1701720" imgH="2286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1888" y="5491163"/>
                        <a:ext cx="4926012" cy="661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2" name="Text Box 16"/>
          <p:cNvSpPr txBox="1">
            <a:spLocks noChangeArrowheads="1"/>
          </p:cNvSpPr>
          <p:nvPr/>
        </p:nvSpPr>
        <p:spPr bwMode="auto">
          <a:xfrm>
            <a:off x="2971800" y="6210300"/>
            <a:ext cx="4876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2" algn="just"/>
            <a:r>
              <a:rPr lang="en-US" altLang="zh-CN" sz="3200" b="1" i="1">
                <a:solidFill>
                  <a:srgbClr val="000000"/>
                </a:solidFill>
              </a:rPr>
              <a:t> U </a:t>
            </a:r>
            <a:r>
              <a:rPr lang="en-US" altLang="zh-CN" sz="3200" b="1">
                <a:solidFill>
                  <a:srgbClr val="000000"/>
                </a:solidFill>
                <a:latin typeface="宋体" pitchFamily="2" charset="-122"/>
              </a:rPr>
              <a:t>─ </a:t>
            </a:r>
            <a:r>
              <a:rPr lang="zh-CN" altLang="en-US" sz="3200" b="1">
                <a:solidFill>
                  <a:srgbClr val="000000"/>
                </a:solidFill>
                <a:latin typeface="宋体" pitchFamily="2" charset="-122"/>
              </a:rPr>
              <a:t>电源的端电压</a:t>
            </a:r>
            <a:endParaRPr lang="zh-CN" altLang="en-US" sz="3200"/>
          </a:p>
        </p:txBody>
      </p:sp>
      <p:sp>
        <p:nvSpPr>
          <p:cNvPr id="14354" name="Rectangle 18"/>
          <p:cNvSpPr>
            <a:spLocks noChangeArrowheads="1"/>
          </p:cNvSpPr>
          <p:nvPr/>
        </p:nvSpPr>
        <p:spPr bwMode="auto">
          <a:xfrm>
            <a:off x="2305050" y="158750"/>
            <a:ext cx="4343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0000FF"/>
                </a:solidFill>
                <a:latin typeface="宋体" pitchFamily="2" charset="-122"/>
              </a:rPr>
              <a:t>△</a:t>
            </a:r>
            <a:r>
              <a:rPr lang="en-US" altLang="zh-CN" sz="3600" b="1">
                <a:solidFill>
                  <a:srgbClr val="0000FF"/>
                </a:solidFill>
              </a:rPr>
              <a:t>§5 </a:t>
            </a:r>
            <a:r>
              <a:rPr lang="zh-CN" altLang="en-US" sz="3600" b="1">
                <a:solidFill>
                  <a:srgbClr val="0000FF"/>
                </a:solidFill>
              </a:rPr>
              <a:t>含源电路</a:t>
            </a:r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381000" y="838200"/>
            <a:ext cx="3048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0000FF"/>
                </a:solidFill>
              </a:rPr>
              <a:t>一 </a:t>
            </a:r>
            <a:r>
              <a:rPr lang="en-US" altLang="zh-CN" sz="3200" b="1">
                <a:solidFill>
                  <a:srgbClr val="0000FF"/>
                </a:solidFill>
              </a:rPr>
              <a:t>. </a:t>
            </a:r>
            <a:r>
              <a:rPr lang="zh-CN" altLang="en-US" sz="3200" b="1">
                <a:solidFill>
                  <a:srgbClr val="0000FF"/>
                </a:solidFill>
              </a:rPr>
              <a:t>单闭合回路</a:t>
            </a:r>
          </a:p>
        </p:txBody>
      </p:sp>
      <p:grpSp>
        <p:nvGrpSpPr>
          <p:cNvPr id="14373" name="Group 37"/>
          <p:cNvGrpSpPr>
            <a:grpSpLocks/>
          </p:cNvGrpSpPr>
          <p:nvPr/>
        </p:nvGrpSpPr>
        <p:grpSpPr bwMode="auto">
          <a:xfrm>
            <a:off x="685800" y="2095500"/>
            <a:ext cx="2266950" cy="1885950"/>
            <a:chOff x="180" y="1176"/>
            <a:chExt cx="1428" cy="1188"/>
          </a:xfrm>
        </p:grpSpPr>
        <p:sp>
          <p:nvSpPr>
            <p:cNvPr id="14356" name="Line 20"/>
            <p:cNvSpPr>
              <a:spLocks noChangeShapeType="1"/>
            </p:cNvSpPr>
            <p:nvPr/>
          </p:nvSpPr>
          <p:spPr bwMode="auto">
            <a:xfrm>
              <a:off x="528" y="1728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7" name="Line 21"/>
            <p:cNvSpPr>
              <a:spLocks noChangeShapeType="1"/>
            </p:cNvSpPr>
            <p:nvPr/>
          </p:nvSpPr>
          <p:spPr bwMode="auto">
            <a:xfrm>
              <a:off x="600" y="1812"/>
              <a:ext cx="144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8" name="Line 22"/>
            <p:cNvSpPr>
              <a:spLocks noChangeShapeType="1"/>
            </p:cNvSpPr>
            <p:nvPr/>
          </p:nvSpPr>
          <p:spPr bwMode="auto">
            <a:xfrm flipV="1">
              <a:off x="672" y="1200"/>
              <a:ext cx="0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9" name="Line 23"/>
            <p:cNvSpPr>
              <a:spLocks noChangeShapeType="1"/>
            </p:cNvSpPr>
            <p:nvPr/>
          </p:nvSpPr>
          <p:spPr bwMode="auto">
            <a:xfrm flipV="1">
              <a:off x="672" y="1824"/>
              <a:ext cx="0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0" name="Line 24"/>
            <p:cNvSpPr>
              <a:spLocks noChangeShapeType="1"/>
            </p:cNvSpPr>
            <p:nvPr/>
          </p:nvSpPr>
          <p:spPr bwMode="auto">
            <a:xfrm>
              <a:off x="672" y="1212"/>
              <a:ext cx="6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1" name="Line 25"/>
            <p:cNvSpPr>
              <a:spLocks noChangeShapeType="1"/>
            </p:cNvSpPr>
            <p:nvPr/>
          </p:nvSpPr>
          <p:spPr bwMode="auto">
            <a:xfrm>
              <a:off x="672" y="2352"/>
              <a:ext cx="6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2" name="Line 26"/>
            <p:cNvSpPr>
              <a:spLocks noChangeShapeType="1"/>
            </p:cNvSpPr>
            <p:nvPr/>
          </p:nvSpPr>
          <p:spPr bwMode="auto">
            <a:xfrm>
              <a:off x="1284" y="1212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3" name="Rectangle 27"/>
            <p:cNvSpPr>
              <a:spLocks noChangeArrowheads="1"/>
            </p:cNvSpPr>
            <p:nvPr/>
          </p:nvSpPr>
          <p:spPr bwMode="auto">
            <a:xfrm>
              <a:off x="1236" y="1584"/>
              <a:ext cx="96" cy="3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4" name="Line 28"/>
            <p:cNvSpPr>
              <a:spLocks noChangeShapeType="1"/>
            </p:cNvSpPr>
            <p:nvPr/>
          </p:nvSpPr>
          <p:spPr bwMode="auto">
            <a:xfrm>
              <a:off x="816" y="121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5" name="Line 29"/>
            <p:cNvSpPr>
              <a:spLocks noChangeShapeType="1"/>
            </p:cNvSpPr>
            <p:nvPr/>
          </p:nvSpPr>
          <p:spPr bwMode="auto">
            <a:xfrm flipH="1">
              <a:off x="768" y="235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6" name="Text Box 30"/>
            <p:cNvSpPr txBox="1">
              <a:spLocks noChangeArrowheads="1"/>
            </p:cNvSpPr>
            <p:nvPr/>
          </p:nvSpPr>
          <p:spPr bwMode="auto">
            <a:xfrm>
              <a:off x="864" y="1176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I</a:t>
              </a:r>
            </a:p>
          </p:txBody>
        </p:sp>
        <p:sp>
          <p:nvSpPr>
            <p:cNvPr id="14367" name="Text Box 31"/>
            <p:cNvSpPr txBox="1">
              <a:spLocks noChangeArrowheads="1"/>
            </p:cNvSpPr>
            <p:nvPr/>
          </p:nvSpPr>
          <p:spPr bwMode="auto">
            <a:xfrm>
              <a:off x="1320" y="1560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R</a:t>
              </a:r>
            </a:p>
          </p:txBody>
        </p:sp>
        <p:sp>
          <p:nvSpPr>
            <p:cNvPr id="14368" name="Text Box 32"/>
            <p:cNvSpPr txBox="1">
              <a:spLocks noChangeArrowheads="1"/>
            </p:cNvSpPr>
            <p:nvPr/>
          </p:nvSpPr>
          <p:spPr bwMode="auto">
            <a:xfrm>
              <a:off x="660" y="1416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/>
                <a:t>+</a:t>
              </a:r>
            </a:p>
          </p:txBody>
        </p:sp>
        <p:sp>
          <p:nvSpPr>
            <p:cNvPr id="14369" name="Text Box 33"/>
            <p:cNvSpPr txBox="1">
              <a:spLocks noChangeArrowheads="1"/>
            </p:cNvSpPr>
            <p:nvPr/>
          </p:nvSpPr>
          <p:spPr bwMode="auto">
            <a:xfrm>
              <a:off x="672" y="1644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_</a:t>
              </a:r>
            </a:p>
          </p:txBody>
        </p:sp>
        <p:sp>
          <p:nvSpPr>
            <p:cNvPr id="14370" name="Line 34"/>
            <p:cNvSpPr>
              <a:spLocks noChangeShapeType="1"/>
            </p:cNvSpPr>
            <p:nvPr/>
          </p:nvSpPr>
          <p:spPr bwMode="auto">
            <a:xfrm flipV="1">
              <a:off x="468" y="1512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1" name="Text Box 35"/>
            <p:cNvSpPr txBox="1">
              <a:spLocks noChangeArrowheads="1"/>
            </p:cNvSpPr>
            <p:nvPr/>
          </p:nvSpPr>
          <p:spPr bwMode="auto">
            <a:xfrm>
              <a:off x="180" y="1512"/>
              <a:ext cx="432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4000" b="1" i="1">
                  <a:sym typeface="Symbol" pitchFamily="18" charset="2"/>
                </a:rPr>
                <a:t></a:t>
              </a:r>
              <a:endParaRPr lang="en-US" altLang="zh-CN" sz="4000" b="1" i="1"/>
            </a:p>
          </p:txBody>
        </p:sp>
        <p:sp>
          <p:nvSpPr>
            <p:cNvPr id="14372" name="Text Box 36"/>
            <p:cNvSpPr txBox="1">
              <a:spLocks noChangeArrowheads="1"/>
            </p:cNvSpPr>
            <p:nvPr/>
          </p:nvSpPr>
          <p:spPr bwMode="auto">
            <a:xfrm>
              <a:off x="792" y="1584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r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14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"/>
                                        <p:tgtEl>
                                          <p:spTgt spid="1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50" grpId="0" autoUpdateAnimBg="0"/>
      <p:bldP spid="14352" grpId="0" autoUpdateAnimBg="0"/>
      <p:bldP spid="14354" grpId="0" autoUpdateAnimBg="0"/>
      <p:bldP spid="14355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98F3C-595C-430A-9437-1DBCB4819560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533400" y="544513"/>
            <a:ext cx="3962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0000FF"/>
                </a:solidFill>
              </a:rPr>
              <a:t>二 </a:t>
            </a:r>
            <a:r>
              <a:rPr lang="en-US" altLang="zh-CN" sz="3200" b="1">
                <a:solidFill>
                  <a:srgbClr val="0000FF"/>
                </a:solidFill>
              </a:rPr>
              <a:t>. </a:t>
            </a:r>
            <a:r>
              <a:rPr lang="zh-CN" altLang="en-US" sz="3200" b="1">
                <a:solidFill>
                  <a:srgbClr val="0000FF"/>
                </a:solidFill>
              </a:rPr>
              <a:t>有分叉的回路</a:t>
            </a:r>
          </a:p>
        </p:txBody>
      </p:sp>
      <p:graphicFrame>
        <p:nvGraphicFramePr>
          <p:cNvPr id="15365" name="Object 5"/>
          <p:cNvGraphicFramePr>
            <a:graphicFrameLocks noChangeAspect="1"/>
          </p:cNvGraphicFramePr>
          <p:nvPr/>
        </p:nvGraphicFramePr>
        <p:xfrm>
          <a:off x="1295400" y="4506913"/>
          <a:ext cx="281940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70" name="公式" r:id="rId3" imgW="952200" imgH="228600" progId="Equation.3">
                  <p:embed/>
                </p:oleObj>
              </mc:Choice>
              <mc:Fallback>
                <p:oleObj name="公式" r:id="rId3" imgW="9522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506913"/>
                        <a:ext cx="2819400" cy="676275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68" name="Group 8"/>
          <p:cNvGrpSpPr>
            <a:grpSpLocks/>
          </p:cNvGrpSpPr>
          <p:nvPr/>
        </p:nvGrpSpPr>
        <p:grpSpPr bwMode="auto">
          <a:xfrm>
            <a:off x="4552950" y="4545013"/>
            <a:ext cx="4438650" cy="1227137"/>
            <a:chOff x="2868" y="2712"/>
            <a:chExt cx="2796" cy="773"/>
          </a:xfrm>
        </p:grpSpPr>
        <p:sp>
          <p:nvSpPr>
            <p:cNvPr id="15366" name="Text Box 6"/>
            <p:cNvSpPr txBox="1">
              <a:spLocks noChangeArrowheads="1"/>
            </p:cNvSpPr>
            <p:nvPr/>
          </p:nvSpPr>
          <p:spPr bwMode="auto">
            <a:xfrm>
              <a:off x="2868" y="2712"/>
              <a:ext cx="2592" cy="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>
                <a:spcBef>
                  <a:spcPts val="1200"/>
                </a:spcBef>
                <a:spcAft>
                  <a:spcPts val="1200"/>
                </a:spcAft>
              </a:pPr>
              <a:r>
                <a:rPr lang="en-US" altLang="zh-CN" sz="3200" b="1">
                  <a:solidFill>
                    <a:srgbClr val="0000FF"/>
                  </a:solidFill>
                  <a:latin typeface="宋体" pitchFamily="2" charset="-122"/>
                </a:rPr>
                <a:t>─</a:t>
              </a:r>
              <a:r>
                <a:rPr lang="zh-CN" altLang="en-US" sz="3200" b="1">
                  <a:solidFill>
                    <a:srgbClr val="0000FF"/>
                  </a:solidFill>
                </a:rPr>
                <a:t>基尔霍夫第二定律</a:t>
              </a:r>
              <a:r>
                <a:rPr lang="zh-CN" altLang="en-US" sz="3200">
                  <a:solidFill>
                    <a:srgbClr val="0000FF"/>
                  </a:solidFill>
                </a:rPr>
                <a:t> </a:t>
              </a:r>
              <a:endParaRPr lang="zh-CN" altLang="en-US" sz="3200"/>
            </a:p>
          </p:txBody>
        </p:sp>
        <p:sp>
          <p:nvSpPr>
            <p:cNvPr id="15367" name="Text Box 7"/>
            <p:cNvSpPr txBox="1">
              <a:spLocks noChangeArrowheads="1"/>
            </p:cNvSpPr>
            <p:nvPr/>
          </p:nvSpPr>
          <p:spPr bwMode="auto">
            <a:xfrm>
              <a:off x="2928" y="3024"/>
              <a:ext cx="2736" cy="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>
                <a:spcBef>
                  <a:spcPts val="1200"/>
                </a:spcBef>
                <a:spcAft>
                  <a:spcPts val="1200"/>
                </a:spcAft>
              </a:pPr>
              <a:r>
                <a:rPr lang="en-US" altLang="zh-CN" sz="3200">
                  <a:solidFill>
                    <a:srgbClr val="0000FF"/>
                  </a:solidFill>
                </a:rPr>
                <a:t> </a:t>
              </a:r>
              <a:r>
                <a:rPr lang="en-US" altLang="zh-CN" sz="3200" b="1">
                  <a:solidFill>
                    <a:srgbClr val="FF0000"/>
                  </a:solidFill>
                </a:rPr>
                <a:t>(Kirchhoff second law)</a:t>
              </a:r>
              <a:endParaRPr lang="en-US" altLang="zh-CN" sz="3200"/>
            </a:p>
          </p:txBody>
        </p:sp>
      </p:grpSp>
      <p:grpSp>
        <p:nvGrpSpPr>
          <p:cNvPr id="15371" name="Group 11"/>
          <p:cNvGrpSpPr>
            <a:grpSpLocks/>
          </p:cNvGrpSpPr>
          <p:nvPr/>
        </p:nvGrpSpPr>
        <p:grpSpPr bwMode="auto">
          <a:xfrm>
            <a:off x="990600" y="5726113"/>
            <a:ext cx="5372100" cy="827087"/>
            <a:chOff x="624" y="3456"/>
            <a:chExt cx="3384" cy="521"/>
          </a:xfrm>
        </p:grpSpPr>
        <p:graphicFrame>
          <p:nvGraphicFramePr>
            <p:cNvPr id="15369" name="Object 9"/>
            <p:cNvGraphicFramePr>
              <a:graphicFrameLocks noChangeAspect="1"/>
            </p:cNvGraphicFramePr>
            <p:nvPr/>
          </p:nvGraphicFramePr>
          <p:xfrm>
            <a:off x="624" y="3456"/>
            <a:ext cx="672" cy="4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71" name="公式" r:id="rId5" imgW="355320" imgH="228600" progId="Equation.3">
                    <p:embed/>
                  </p:oleObj>
                </mc:Choice>
                <mc:Fallback>
                  <p:oleObj name="公式" r:id="rId5" imgW="355320" imgH="2286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3456"/>
                          <a:ext cx="672" cy="4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0" name="Text Box 10"/>
            <p:cNvSpPr txBox="1">
              <a:spLocks noChangeArrowheads="1"/>
            </p:cNvSpPr>
            <p:nvPr/>
          </p:nvSpPr>
          <p:spPr bwMode="auto">
            <a:xfrm>
              <a:off x="1224" y="3516"/>
              <a:ext cx="2784" cy="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>
                <a:spcBef>
                  <a:spcPts val="1200"/>
                </a:spcBef>
                <a:spcAft>
                  <a:spcPts val="1200"/>
                </a:spcAft>
              </a:pPr>
              <a:r>
                <a:rPr lang="zh-CN" altLang="en-US" sz="3200" b="1"/>
                <a:t>与 </a:t>
              </a:r>
              <a:r>
                <a:rPr lang="en-US" altLang="zh-CN" sz="3200" b="1" i="1"/>
                <a:t>L </a:t>
              </a:r>
              <a:r>
                <a:rPr lang="zh-CN" altLang="en-US" sz="3200" b="1"/>
                <a:t>绕向一致为正。</a:t>
              </a:r>
              <a:endParaRPr lang="zh-CN" altLang="en-US" sz="3200"/>
            </a:p>
          </p:txBody>
        </p:sp>
      </p:grpSp>
      <p:grpSp>
        <p:nvGrpSpPr>
          <p:cNvPr id="15413" name="Group 53"/>
          <p:cNvGrpSpPr>
            <a:grpSpLocks/>
          </p:cNvGrpSpPr>
          <p:nvPr/>
        </p:nvGrpSpPr>
        <p:grpSpPr bwMode="auto">
          <a:xfrm>
            <a:off x="4191000" y="1935163"/>
            <a:ext cx="1663700" cy="1447800"/>
            <a:chOff x="2640" y="1008"/>
            <a:chExt cx="1048" cy="912"/>
          </a:xfrm>
        </p:grpSpPr>
        <p:sp>
          <p:nvSpPr>
            <p:cNvPr id="15408" name="Freeform 48"/>
            <p:cNvSpPr>
              <a:spLocks/>
            </p:cNvSpPr>
            <p:nvPr/>
          </p:nvSpPr>
          <p:spPr bwMode="auto">
            <a:xfrm>
              <a:off x="2640" y="1008"/>
              <a:ext cx="1048" cy="912"/>
            </a:xfrm>
            <a:custGeom>
              <a:avLst/>
              <a:gdLst>
                <a:gd name="T0" fmla="*/ 0 w 1048"/>
                <a:gd name="T1" fmla="*/ 240 h 912"/>
                <a:gd name="T2" fmla="*/ 336 w 1048"/>
                <a:gd name="T3" fmla="*/ 48 h 912"/>
                <a:gd name="T4" fmla="*/ 768 w 1048"/>
                <a:gd name="T5" fmla="*/ 48 h 912"/>
                <a:gd name="T6" fmla="*/ 1008 w 1048"/>
                <a:gd name="T7" fmla="*/ 336 h 912"/>
                <a:gd name="T8" fmla="*/ 1008 w 1048"/>
                <a:gd name="T9" fmla="*/ 672 h 912"/>
                <a:gd name="T10" fmla="*/ 768 w 1048"/>
                <a:gd name="T11" fmla="*/ 864 h 912"/>
                <a:gd name="T12" fmla="*/ 384 w 1048"/>
                <a:gd name="T13" fmla="*/ 864 h 912"/>
                <a:gd name="T14" fmla="*/ 0 w 1048"/>
                <a:gd name="T15" fmla="*/ 576 h 9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8" h="912">
                  <a:moveTo>
                    <a:pt x="0" y="240"/>
                  </a:moveTo>
                  <a:cubicBezTo>
                    <a:pt x="104" y="160"/>
                    <a:pt x="208" y="80"/>
                    <a:pt x="336" y="48"/>
                  </a:cubicBezTo>
                  <a:cubicBezTo>
                    <a:pt x="464" y="16"/>
                    <a:pt x="656" y="0"/>
                    <a:pt x="768" y="48"/>
                  </a:cubicBezTo>
                  <a:cubicBezTo>
                    <a:pt x="880" y="96"/>
                    <a:pt x="968" y="232"/>
                    <a:pt x="1008" y="336"/>
                  </a:cubicBezTo>
                  <a:cubicBezTo>
                    <a:pt x="1048" y="440"/>
                    <a:pt x="1048" y="584"/>
                    <a:pt x="1008" y="672"/>
                  </a:cubicBezTo>
                  <a:cubicBezTo>
                    <a:pt x="968" y="760"/>
                    <a:pt x="872" y="832"/>
                    <a:pt x="768" y="864"/>
                  </a:cubicBezTo>
                  <a:cubicBezTo>
                    <a:pt x="664" y="896"/>
                    <a:pt x="512" y="912"/>
                    <a:pt x="384" y="864"/>
                  </a:cubicBezTo>
                  <a:cubicBezTo>
                    <a:pt x="256" y="816"/>
                    <a:pt x="128" y="696"/>
                    <a:pt x="0" y="576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 type="arrow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9" name="Text Box 49"/>
            <p:cNvSpPr txBox="1">
              <a:spLocks noChangeArrowheads="1"/>
            </p:cNvSpPr>
            <p:nvPr/>
          </p:nvSpPr>
          <p:spPr bwMode="auto">
            <a:xfrm>
              <a:off x="3108" y="1284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L</a:t>
              </a:r>
            </a:p>
          </p:txBody>
        </p:sp>
      </p:grpSp>
      <p:grpSp>
        <p:nvGrpSpPr>
          <p:cNvPr id="15417" name="Group 57"/>
          <p:cNvGrpSpPr>
            <a:grpSpLocks/>
          </p:cNvGrpSpPr>
          <p:nvPr/>
        </p:nvGrpSpPr>
        <p:grpSpPr bwMode="auto">
          <a:xfrm>
            <a:off x="1790700" y="1096963"/>
            <a:ext cx="5410200" cy="3055937"/>
            <a:chOff x="1128" y="540"/>
            <a:chExt cx="3408" cy="1925"/>
          </a:xfrm>
        </p:grpSpPr>
        <p:sp>
          <p:nvSpPr>
            <p:cNvPr id="15406" name="Text Box 46"/>
            <p:cNvSpPr txBox="1">
              <a:spLocks noChangeArrowheads="1"/>
            </p:cNvSpPr>
            <p:nvPr/>
          </p:nvSpPr>
          <p:spPr bwMode="auto">
            <a:xfrm>
              <a:off x="3984" y="540"/>
              <a:ext cx="480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4800" b="1"/>
                <a:t>.</a:t>
              </a:r>
            </a:p>
          </p:txBody>
        </p:sp>
        <p:sp>
          <p:nvSpPr>
            <p:cNvPr id="15407" name="Text Box 47"/>
            <p:cNvSpPr txBox="1">
              <a:spLocks noChangeArrowheads="1"/>
            </p:cNvSpPr>
            <p:nvPr/>
          </p:nvSpPr>
          <p:spPr bwMode="auto">
            <a:xfrm>
              <a:off x="1848" y="540"/>
              <a:ext cx="480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4800" b="1"/>
                <a:t>.</a:t>
              </a:r>
            </a:p>
          </p:txBody>
        </p:sp>
        <p:grpSp>
          <p:nvGrpSpPr>
            <p:cNvPr id="15416" name="Group 56"/>
            <p:cNvGrpSpPr>
              <a:grpSpLocks/>
            </p:cNvGrpSpPr>
            <p:nvPr/>
          </p:nvGrpSpPr>
          <p:grpSpPr bwMode="auto">
            <a:xfrm>
              <a:off x="1128" y="732"/>
              <a:ext cx="3408" cy="1733"/>
              <a:chOff x="1128" y="732"/>
              <a:chExt cx="3408" cy="1733"/>
            </a:xfrm>
          </p:grpSpPr>
          <p:grpSp>
            <p:nvGrpSpPr>
              <p:cNvPr id="15415" name="Group 55"/>
              <p:cNvGrpSpPr>
                <a:grpSpLocks/>
              </p:cNvGrpSpPr>
              <p:nvPr/>
            </p:nvGrpSpPr>
            <p:grpSpPr bwMode="auto">
              <a:xfrm>
                <a:off x="1128" y="732"/>
                <a:ext cx="3408" cy="1548"/>
                <a:chOff x="1128" y="732"/>
                <a:chExt cx="3408" cy="1548"/>
              </a:xfrm>
            </p:grpSpPr>
            <p:grpSp>
              <p:nvGrpSpPr>
                <p:cNvPr id="15377" name="Group 17"/>
                <p:cNvGrpSpPr>
                  <a:grpSpLocks/>
                </p:cNvGrpSpPr>
                <p:nvPr/>
              </p:nvGrpSpPr>
              <p:grpSpPr bwMode="auto">
                <a:xfrm>
                  <a:off x="2760" y="732"/>
                  <a:ext cx="96" cy="336"/>
                  <a:chOff x="2880" y="624"/>
                  <a:chExt cx="96" cy="336"/>
                </a:xfrm>
              </p:grpSpPr>
              <p:sp>
                <p:nvSpPr>
                  <p:cNvPr id="15375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2976" y="624"/>
                    <a:ext cx="0" cy="33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376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2880" y="732"/>
                    <a:ext cx="0" cy="132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5378" name="Line 18"/>
                <p:cNvSpPr>
                  <a:spLocks noChangeShapeType="1"/>
                </p:cNvSpPr>
                <p:nvPr/>
              </p:nvSpPr>
              <p:spPr bwMode="auto">
                <a:xfrm>
                  <a:off x="1128" y="912"/>
                  <a:ext cx="163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379" name="Line 19"/>
                <p:cNvSpPr>
                  <a:spLocks noChangeShapeType="1"/>
                </p:cNvSpPr>
                <p:nvPr/>
              </p:nvSpPr>
              <p:spPr bwMode="auto">
                <a:xfrm>
                  <a:off x="2856" y="912"/>
                  <a:ext cx="163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5380" name="Group 20"/>
                <p:cNvGrpSpPr>
                  <a:grpSpLocks/>
                </p:cNvGrpSpPr>
                <p:nvPr/>
              </p:nvGrpSpPr>
              <p:grpSpPr bwMode="auto">
                <a:xfrm>
                  <a:off x="2808" y="1944"/>
                  <a:ext cx="96" cy="336"/>
                  <a:chOff x="2880" y="624"/>
                  <a:chExt cx="96" cy="336"/>
                </a:xfrm>
              </p:grpSpPr>
              <p:sp>
                <p:nvSpPr>
                  <p:cNvPr id="15381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2976" y="624"/>
                    <a:ext cx="0" cy="33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382" name="Line 22"/>
                  <p:cNvSpPr>
                    <a:spLocks noChangeShapeType="1"/>
                  </p:cNvSpPr>
                  <p:nvPr/>
                </p:nvSpPr>
                <p:spPr bwMode="auto">
                  <a:xfrm>
                    <a:off x="2880" y="732"/>
                    <a:ext cx="0" cy="132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5383" name="Line 23"/>
                <p:cNvSpPr>
                  <a:spLocks noChangeShapeType="1"/>
                </p:cNvSpPr>
                <p:nvPr/>
              </p:nvSpPr>
              <p:spPr bwMode="auto">
                <a:xfrm>
                  <a:off x="1176" y="2124"/>
                  <a:ext cx="163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384" name="Line 24"/>
                <p:cNvSpPr>
                  <a:spLocks noChangeShapeType="1"/>
                </p:cNvSpPr>
                <p:nvPr/>
              </p:nvSpPr>
              <p:spPr bwMode="auto">
                <a:xfrm>
                  <a:off x="2904" y="2124"/>
                  <a:ext cx="163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5385" name="Group 25"/>
                <p:cNvGrpSpPr>
                  <a:grpSpLocks/>
                </p:cNvGrpSpPr>
                <p:nvPr/>
              </p:nvGrpSpPr>
              <p:grpSpPr bwMode="auto">
                <a:xfrm rot="-5400000">
                  <a:off x="1896" y="1560"/>
                  <a:ext cx="96" cy="336"/>
                  <a:chOff x="2880" y="624"/>
                  <a:chExt cx="96" cy="336"/>
                </a:xfrm>
              </p:grpSpPr>
              <p:sp>
                <p:nvSpPr>
                  <p:cNvPr id="15386" name="Line 26"/>
                  <p:cNvSpPr>
                    <a:spLocks noChangeShapeType="1"/>
                  </p:cNvSpPr>
                  <p:nvPr/>
                </p:nvSpPr>
                <p:spPr bwMode="auto">
                  <a:xfrm>
                    <a:off x="2976" y="624"/>
                    <a:ext cx="0" cy="33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387" name="Line 27"/>
                  <p:cNvSpPr>
                    <a:spLocks noChangeShapeType="1"/>
                  </p:cNvSpPr>
                  <p:nvPr/>
                </p:nvSpPr>
                <p:spPr bwMode="auto">
                  <a:xfrm>
                    <a:off x="2880" y="732"/>
                    <a:ext cx="0" cy="132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5388" name="Line 28"/>
                <p:cNvSpPr>
                  <a:spLocks noChangeShapeType="1"/>
                </p:cNvSpPr>
                <p:nvPr/>
              </p:nvSpPr>
              <p:spPr bwMode="auto">
                <a:xfrm>
                  <a:off x="1944" y="1788"/>
                  <a:ext cx="0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389" name="Line 29"/>
                <p:cNvSpPr>
                  <a:spLocks noChangeShapeType="1"/>
                </p:cNvSpPr>
                <p:nvPr/>
              </p:nvSpPr>
              <p:spPr bwMode="auto">
                <a:xfrm flipV="1">
                  <a:off x="1944" y="912"/>
                  <a:ext cx="0" cy="76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390" name="Rectangle 30"/>
                <p:cNvSpPr>
                  <a:spLocks noChangeArrowheads="1"/>
                </p:cNvSpPr>
                <p:nvPr/>
              </p:nvSpPr>
              <p:spPr bwMode="auto">
                <a:xfrm>
                  <a:off x="1896" y="1164"/>
                  <a:ext cx="96" cy="288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5391" name="Group 31"/>
                <p:cNvGrpSpPr>
                  <a:grpSpLocks/>
                </p:cNvGrpSpPr>
                <p:nvPr/>
              </p:nvGrpSpPr>
              <p:grpSpPr bwMode="auto">
                <a:xfrm rot="-5400000">
                  <a:off x="4032" y="1548"/>
                  <a:ext cx="96" cy="336"/>
                  <a:chOff x="2880" y="624"/>
                  <a:chExt cx="96" cy="336"/>
                </a:xfrm>
              </p:grpSpPr>
              <p:sp>
                <p:nvSpPr>
                  <p:cNvPr id="15392" name="Line 32"/>
                  <p:cNvSpPr>
                    <a:spLocks noChangeShapeType="1"/>
                  </p:cNvSpPr>
                  <p:nvPr/>
                </p:nvSpPr>
                <p:spPr bwMode="auto">
                  <a:xfrm>
                    <a:off x="2976" y="624"/>
                    <a:ext cx="0" cy="33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393" name="Line 33"/>
                  <p:cNvSpPr>
                    <a:spLocks noChangeShapeType="1"/>
                  </p:cNvSpPr>
                  <p:nvPr/>
                </p:nvSpPr>
                <p:spPr bwMode="auto">
                  <a:xfrm>
                    <a:off x="2880" y="732"/>
                    <a:ext cx="0" cy="132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5394" name="Line 34"/>
                <p:cNvSpPr>
                  <a:spLocks noChangeShapeType="1"/>
                </p:cNvSpPr>
                <p:nvPr/>
              </p:nvSpPr>
              <p:spPr bwMode="auto">
                <a:xfrm>
                  <a:off x="4080" y="1776"/>
                  <a:ext cx="0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395" name="Line 35"/>
                <p:cNvSpPr>
                  <a:spLocks noChangeShapeType="1"/>
                </p:cNvSpPr>
                <p:nvPr/>
              </p:nvSpPr>
              <p:spPr bwMode="auto">
                <a:xfrm flipV="1">
                  <a:off x="4080" y="900"/>
                  <a:ext cx="0" cy="76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396" name="Rectangle 36"/>
                <p:cNvSpPr>
                  <a:spLocks noChangeArrowheads="1"/>
                </p:cNvSpPr>
                <p:nvPr/>
              </p:nvSpPr>
              <p:spPr bwMode="auto">
                <a:xfrm>
                  <a:off x="4032" y="1152"/>
                  <a:ext cx="96" cy="288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397" name="Rectangle 37"/>
                <p:cNvSpPr>
                  <a:spLocks noChangeArrowheads="1"/>
                </p:cNvSpPr>
                <p:nvPr/>
              </p:nvSpPr>
              <p:spPr bwMode="auto">
                <a:xfrm>
                  <a:off x="3384" y="864"/>
                  <a:ext cx="288" cy="96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5399" name="Line 39"/>
              <p:cNvSpPr>
                <a:spLocks noChangeShapeType="1"/>
              </p:cNvSpPr>
              <p:nvPr/>
            </p:nvSpPr>
            <p:spPr bwMode="auto">
              <a:xfrm flipV="1">
                <a:off x="1728" y="1536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00" name="Text Box 40"/>
              <p:cNvSpPr txBox="1">
                <a:spLocks noChangeArrowheads="1"/>
              </p:cNvSpPr>
              <p:nvPr/>
            </p:nvSpPr>
            <p:spPr bwMode="auto">
              <a:xfrm>
                <a:off x="1380" y="1452"/>
                <a:ext cx="384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4000" b="1" i="1">
                    <a:sym typeface="Symbol" pitchFamily="18" charset="2"/>
                  </a:rPr>
                  <a:t></a:t>
                </a:r>
                <a:r>
                  <a:rPr lang="en-US" altLang="zh-CN" sz="4000" b="1" i="1" baseline="-25000">
                    <a:sym typeface="Symbol" pitchFamily="18" charset="2"/>
                  </a:rPr>
                  <a:t>i</a:t>
                </a:r>
                <a:endParaRPr lang="en-US" altLang="zh-CN" sz="4000" b="1" i="1"/>
              </a:p>
            </p:txBody>
          </p:sp>
          <p:sp>
            <p:nvSpPr>
              <p:cNvPr id="15401" name="Text Box 41"/>
              <p:cNvSpPr txBox="1">
                <a:spLocks noChangeArrowheads="1"/>
              </p:cNvSpPr>
              <p:nvPr/>
            </p:nvSpPr>
            <p:spPr bwMode="auto">
              <a:xfrm>
                <a:off x="1572" y="1116"/>
                <a:ext cx="33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i="1"/>
                  <a:t>R</a:t>
                </a:r>
                <a:r>
                  <a:rPr lang="en-US" altLang="zh-CN" sz="2800" b="1" i="1" baseline="-25000"/>
                  <a:t>i</a:t>
                </a:r>
                <a:endParaRPr lang="en-US" altLang="zh-CN" sz="2800" b="1" i="1"/>
              </a:p>
            </p:txBody>
          </p:sp>
          <p:sp>
            <p:nvSpPr>
              <p:cNvPr id="15402" name="Line 42"/>
              <p:cNvSpPr>
                <a:spLocks noChangeShapeType="1"/>
              </p:cNvSpPr>
              <p:nvPr/>
            </p:nvSpPr>
            <p:spPr bwMode="auto">
              <a:xfrm flipV="1">
                <a:off x="2064" y="1092"/>
                <a:ext cx="0" cy="43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03" name="Text Box 43"/>
              <p:cNvSpPr txBox="1">
                <a:spLocks noChangeArrowheads="1"/>
              </p:cNvSpPr>
              <p:nvPr/>
            </p:nvSpPr>
            <p:spPr bwMode="auto">
              <a:xfrm>
                <a:off x="2076" y="1140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i="1"/>
                  <a:t>I</a:t>
                </a:r>
                <a:r>
                  <a:rPr lang="en-US" altLang="zh-CN" sz="2800" b="1" i="1" baseline="-25000"/>
                  <a:t>i</a:t>
                </a:r>
                <a:endParaRPr lang="en-US" altLang="zh-CN" sz="2800" b="1" i="1"/>
              </a:p>
            </p:txBody>
          </p:sp>
          <p:sp>
            <p:nvSpPr>
              <p:cNvPr id="15404" name="Text Box 44"/>
              <p:cNvSpPr txBox="1">
                <a:spLocks noChangeArrowheads="1"/>
              </p:cNvSpPr>
              <p:nvPr/>
            </p:nvSpPr>
            <p:spPr bwMode="auto">
              <a:xfrm>
                <a:off x="1848" y="1764"/>
                <a:ext cx="480" cy="5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4800" b="1"/>
                  <a:t>.</a:t>
                </a:r>
              </a:p>
            </p:txBody>
          </p:sp>
          <p:sp>
            <p:nvSpPr>
              <p:cNvPr id="15405" name="Text Box 45"/>
              <p:cNvSpPr txBox="1">
                <a:spLocks noChangeArrowheads="1"/>
              </p:cNvSpPr>
              <p:nvPr/>
            </p:nvSpPr>
            <p:spPr bwMode="auto">
              <a:xfrm>
                <a:off x="3984" y="1764"/>
                <a:ext cx="480" cy="5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4800" b="1"/>
                  <a:t>.</a:t>
                </a:r>
              </a:p>
            </p:txBody>
          </p:sp>
          <p:sp>
            <p:nvSpPr>
              <p:cNvPr id="15410" name="Text Box 50"/>
              <p:cNvSpPr txBox="1">
                <a:spLocks noChangeArrowheads="1"/>
              </p:cNvSpPr>
              <p:nvPr/>
            </p:nvSpPr>
            <p:spPr bwMode="auto">
              <a:xfrm>
                <a:off x="1824" y="2064"/>
                <a:ext cx="288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200" b="1" i="1"/>
                  <a:t>a</a:t>
                </a:r>
              </a:p>
            </p:txBody>
          </p:sp>
          <p:sp>
            <p:nvSpPr>
              <p:cNvPr id="15411" name="Text Box 51"/>
              <p:cNvSpPr txBox="1">
                <a:spLocks noChangeArrowheads="1"/>
              </p:cNvSpPr>
              <p:nvPr/>
            </p:nvSpPr>
            <p:spPr bwMode="auto">
              <a:xfrm>
                <a:off x="3972" y="2100"/>
                <a:ext cx="288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200" b="1" i="1"/>
                  <a:t>b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5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D048F-8A31-4D71-BD6B-6E91185B6D48}" type="slidenum">
              <a:rPr lang="en-US" altLang="zh-CN"/>
              <a:pPr/>
              <a:t>39</a:t>
            </a:fld>
            <a:endParaRPr lang="en-US" altLang="zh-CN"/>
          </a:p>
        </p:txBody>
      </p:sp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304800" y="228600"/>
            <a:ext cx="4038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rgbClr val="0000FF"/>
                </a:solidFill>
              </a:rPr>
              <a:t> </a:t>
            </a:r>
            <a:r>
              <a:rPr lang="zh-CN" altLang="en-US" sz="3200" b="1">
                <a:solidFill>
                  <a:srgbClr val="0000FF"/>
                </a:solidFill>
              </a:rPr>
              <a:t>三 </a:t>
            </a:r>
            <a:r>
              <a:rPr lang="en-US" altLang="zh-CN" sz="3200" b="1">
                <a:solidFill>
                  <a:srgbClr val="0000FF"/>
                </a:solidFill>
              </a:rPr>
              <a:t>. </a:t>
            </a:r>
            <a:r>
              <a:rPr lang="zh-CN" altLang="en-US" sz="3200" b="1">
                <a:solidFill>
                  <a:srgbClr val="0000FF"/>
                </a:solidFill>
              </a:rPr>
              <a:t>一段含源电路</a:t>
            </a:r>
            <a:endParaRPr lang="zh-CN" altLang="en-US" sz="3200" b="1">
              <a:solidFill>
                <a:srgbClr val="000000"/>
              </a:solidFill>
            </a:endParaRPr>
          </a:p>
        </p:txBody>
      </p:sp>
      <p:graphicFrame>
        <p:nvGraphicFramePr>
          <p:cNvPr id="41989" name="Object 5"/>
          <p:cNvGraphicFramePr>
            <a:graphicFrameLocks noChangeAspect="1"/>
          </p:cNvGraphicFramePr>
          <p:nvPr/>
        </p:nvGraphicFramePr>
        <p:xfrm>
          <a:off x="674688" y="4305300"/>
          <a:ext cx="413702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83" name="公式" r:id="rId3" imgW="1828800" imgH="228600" progId="Equation.3">
                  <p:embed/>
                </p:oleObj>
              </mc:Choice>
              <mc:Fallback>
                <p:oleObj name="公式" r:id="rId3" imgW="18288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688" y="4305300"/>
                        <a:ext cx="4137025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0" name="Object 6"/>
          <p:cNvGraphicFramePr>
            <a:graphicFrameLocks noChangeAspect="1"/>
          </p:cNvGraphicFramePr>
          <p:nvPr/>
        </p:nvGraphicFramePr>
        <p:xfrm>
          <a:off x="1512888" y="5181600"/>
          <a:ext cx="3735387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84" name="公式" r:id="rId5" imgW="1282680" imgH="228600" progId="Equation.3">
                  <p:embed/>
                </p:oleObj>
              </mc:Choice>
              <mc:Fallback>
                <p:oleObj name="公式" r:id="rId5" imgW="128268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2888" y="5181600"/>
                        <a:ext cx="3735387" cy="66675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1" name="Text Box 7"/>
          <p:cNvSpPr txBox="1">
            <a:spLocks noChangeArrowheads="1"/>
          </p:cNvSpPr>
          <p:nvPr/>
        </p:nvSpPr>
        <p:spPr bwMode="auto">
          <a:xfrm>
            <a:off x="5695950" y="5162550"/>
            <a:ext cx="34480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rgbClr val="0000FF"/>
                </a:solidFill>
                <a:latin typeface="Times New Roman"/>
              </a:rPr>
              <a:t>—</a:t>
            </a:r>
            <a:r>
              <a:rPr lang="en-US" altLang="zh-CN" sz="3200" b="1">
                <a:latin typeface="宋体" pitchFamily="2" charset="-122"/>
              </a:rPr>
              <a:t> </a:t>
            </a:r>
            <a:r>
              <a:rPr lang="zh-CN" altLang="en-US" sz="3200" b="1">
                <a:solidFill>
                  <a:srgbClr val="0000FF"/>
                </a:solidFill>
              </a:rPr>
              <a:t>一 段含源电路</a:t>
            </a:r>
          </a:p>
        </p:txBody>
      </p:sp>
      <p:grpSp>
        <p:nvGrpSpPr>
          <p:cNvPr id="41992" name="Group 8"/>
          <p:cNvGrpSpPr>
            <a:grpSpLocks/>
          </p:cNvGrpSpPr>
          <p:nvPr/>
        </p:nvGrpSpPr>
        <p:grpSpPr bwMode="auto">
          <a:xfrm>
            <a:off x="914400" y="6019800"/>
            <a:ext cx="3152775" cy="682625"/>
            <a:chOff x="3792" y="2592"/>
            <a:chExt cx="1908" cy="430"/>
          </a:xfrm>
        </p:grpSpPr>
        <p:graphicFrame>
          <p:nvGraphicFramePr>
            <p:cNvPr id="41993" name="Object 9"/>
            <p:cNvGraphicFramePr>
              <a:graphicFrameLocks noChangeAspect="1"/>
            </p:cNvGraphicFramePr>
            <p:nvPr/>
          </p:nvGraphicFramePr>
          <p:xfrm>
            <a:off x="3792" y="2592"/>
            <a:ext cx="692" cy="4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485" name="公式" r:id="rId7" imgW="368280" imgH="228600" progId="Equation.3">
                    <p:embed/>
                  </p:oleObj>
                </mc:Choice>
                <mc:Fallback>
                  <p:oleObj name="公式" r:id="rId7" imgW="368280" imgH="2286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2592"/>
                          <a:ext cx="692" cy="4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994" name="Text Box 10"/>
            <p:cNvSpPr txBox="1">
              <a:spLocks noChangeArrowheads="1"/>
            </p:cNvSpPr>
            <p:nvPr/>
          </p:nvSpPr>
          <p:spPr bwMode="auto">
            <a:xfrm>
              <a:off x="4452" y="2640"/>
              <a:ext cx="124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b="1"/>
                <a:t>的正方向：</a:t>
              </a:r>
            </a:p>
          </p:txBody>
        </p:sp>
      </p:grpSp>
      <p:graphicFrame>
        <p:nvGraphicFramePr>
          <p:cNvPr id="41995" name="Object 11"/>
          <p:cNvGraphicFramePr>
            <a:graphicFrameLocks noChangeAspect="1"/>
          </p:cNvGraphicFramePr>
          <p:nvPr/>
        </p:nvGraphicFramePr>
        <p:xfrm>
          <a:off x="4094163" y="5976938"/>
          <a:ext cx="2401887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86" name="公式" r:id="rId9" imgW="850680" imgH="228600" progId="Equation.3">
                  <p:embed/>
                </p:oleObj>
              </mc:Choice>
              <mc:Fallback>
                <p:oleObj name="公式" r:id="rId9" imgW="85068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4163" y="5976938"/>
                        <a:ext cx="2401887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6" name="Text Box 12"/>
          <p:cNvSpPr txBox="1">
            <a:spLocks noChangeArrowheads="1"/>
          </p:cNvSpPr>
          <p:nvPr/>
        </p:nvSpPr>
        <p:spPr bwMode="auto">
          <a:xfrm>
            <a:off x="400050" y="5143500"/>
            <a:ext cx="685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/>
              <a:t>有</a:t>
            </a:r>
          </a:p>
        </p:txBody>
      </p:sp>
      <p:grpSp>
        <p:nvGrpSpPr>
          <p:cNvPr id="41997" name="Group 13"/>
          <p:cNvGrpSpPr>
            <a:grpSpLocks/>
          </p:cNvGrpSpPr>
          <p:nvPr/>
        </p:nvGrpSpPr>
        <p:grpSpPr bwMode="auto">
          <a:xfrm>
            <a:off x="1695450" y="1219200"/>
            <a:ext cx="5372100" cy="3055938"/>
            <a:chOff x="1128" y="691"/>
            <a:chExt cx="3384" cy="1925"/>
          </a:xfrm>
        </p:grpSpPr>
        <p:sp>
          <p:nvSpPr>
            <p:cNvPr id="41998" name="Text Box 14"/>
            <p:cNvSpPr txBox="1">
              <a:spLocks noChangeArrowheads="1"/>
            </p:cNvSpPr>
            <p:nvPr/>
          </p:nvSpPr>
          <p:spPr bwMode="auto">
            <a:xfrm>
              <a:off x="3972" y="2251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 i="1"/>
                <a:t>b</a:t>
              </a:r>
            </a:p>
          </p:txBody>
        </p:sp>
        <p:grpSp>
          <p:nvGrpSpPr>
            <p:cNvPr id="41999" name="Group 15"/>
            <p:cNvGrpSpPr>
              <a:grpSpLocks/>
            </p:cNvGrpSpPr>
            <p:nvPr/>
          </p:nvGrpSpPr>
          <p:grpSpPr bwMode="auto">
            <a:xfrm>
              <a:off x="2640" y="1219"/>
              <a:ext cx="1048" cy="912"/>
              <a:chOff x="2640" y="1008"/>
              <a:chExt cx="1048" cy="912"/>
            </a:xfrm>
          </p:grpSpPr>
          <p:sp>
            <p:nvSpPr>
              <p:cNvPr id="42000" name="Freeform 16"/>
              <p:cNvSpPr>
                <a:spLocks/>
              </p:cNvSpPr>
              <p:nvPr/>
            </p:nvSpPr>
            <p:spPr bwMode="auto">
              <a:xfrm>
                <a:off x="2640" y="1008"/>
                <a:ext cx="1048" cy="912"/>
              </a:xfrm>
              <a:custGeom>
                <a:avLst/>
                <a:gdLst>
                  <a:gd name="T0" fmla="*/ 0 w 1048"/>
                  <a:gd name="T1" fmla="*/ 240 h 912"/>
                  <a:gd name="T2" fmla="*/ 336 w 1048"/>
                  <a:gd name="T3" fmla="*/ 48 h 912"/>
                  <a:gd name="T4" fmla="*/ 768 w 1048"/>
                  <a:gd name="T5" fmla="*/ 48 h 912"/>
                  <a:gd name="T6" fmla="*/ 1008 w 1048"/>
                  <a:gd name="T7" fmla="*/ 336 h 912"/>
                  <a:gd name="T8" fmla="*/ 1008 w 1048"/>
                  <a:gd name="T9" fmla="*/ 672 h 912"/>
                  <a:gd name="T10" fmla="*/ 768 w 1048"/>
                  <a:gd name="T11" fmla="*/ 864 h 912"/>
                  <a:gd name="T12" fmla="*/ 384 w 1048"/>
                  <a:gd name="T13" fmla="*/ 864 h 912"/>
                  <a:gd name="T14" fmla="*/ 0 w 1048"/>
                  <a:gd name="T15" fmla="*/ 576 h 9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48" h="912">
                    <a:moveTo>
                      <a:pt x="0" y="240"/>
                    </a:moveTo>
                    <a:cubicBezTo>
                      <a:pt x="104" y="160"/>
                      <a:pt x="208" y="80"/>
                      <a:pt x="336" y="48"/>
                    </a:cubicBezTo>
                    <a:cubicBezTo>
                      <a:pt x="464" y="16"/>
                      <a:pt x="656" y="0"/>
                      <a:pt x="768" y="48"/>
                    </a:cubicBezTo>
                    <a:cubicBezTo>
                      <a:pt x="880" y="96"/>
                      <a:pt x="968" y="232"/>
                      <a:pt x="1008" y="336"/>
                    </a:cubicBezTo>
                    <a:cubicBezTo>
                      <a:pt x="1048" y="440"/>
                      <a:pt x="1048" y="584"/>
                      <a:pt x="1008" y="672"/>
                    </a:cubicBezTo>
                    <a:cubicBezTo>
                      <a:pt x="968" y="760"/>
                      <a:pt x="872" y="832"/>
                      <a:pt x="768" y="864"/>
                    </a:cubicBezTo>
                    <a:cubicBezTo>
                      <a:pt x="664" y="896"/>
                      <a:pt x="512" y="912"/>
                      <a:pt x="384" y="864"/>
                    </a:cubicBezTo>
                    <a:cubicBezTo>
                      <a:pt x="256" y="816"/>
                      <a:pt x="128" y="696"/>
                      <a:pt x="0" y="576"/>
                    </a:cubicBez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 type="arrow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01" name="Text Box 17"/>
              <p:cNvSpPr txBox="1">
                <a:spLocks noChangeArrowheads="1"/>
              </p:cNvSpPr>
              <p:nvPr/>
            </p:nvSpPr>
            <p:spPr bwMode="auto">
              <a:xfrm>
                <a:off x="3108" y="1284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i="1"/>
                  <a:t>L</a:t>
                </a:r>
              </a:p>
            </p:txBody>
          </p:sp>
        </p:grpSp>
        <p:sp>
          <p:nvSpPr>
            <p:cNvPr id="42002" name="Text Box 18"/>
            <p:cNvSpPr txBox="1">
              <a:spLocks noChangeArrowheads="1"/>
            </p:cNvSpPr>
            <p:nvPr/>
          </p:nvSpPr>
          <p:spPr bwMode="auto">
            <a:xfrm>
              <a:off x="3984" y="691"/>
              <a:ext cx="480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4800" b="1"/>
                <a:t>.</a:t>
              </a:r>
            </a:p>
          </p:txBody>
        </p:sp>
        <p:sp>
          <p:nvSpPr>
            <p:cNvPr id="42003" name="Text Box 19"/>
            <p:cNvSpPr txBox="1">
              <a:spLocks noChangeArrowheads="1"/>
            </p:cNvSpPr>
            <p:nvPr/>
          </p:nvSpPr>
          <p:spPr bwMode="auto">
            <a:xfrm>
              <a:off x="1848" y="691"/>
              <a:ext cx="480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4800" b="1"/>
                <a:t>.</a:t>
              </a:r>
            </a:p>
          </p:txBody>
        </p:sp>
        <p:grpSp>
          <p:nvGrpSpPr>
            <p:cNvPr id="42004" name="Group 20"/>
            <p:cNvGrpSpPr>
              <a:grpSpLocks/>
            </p:cNvGrpSpPr>
            <p:nvPr/>
          </p:nvGrpSpPr>
          <p:grpSpPr bwMode="auto">
            <a:xfrm>
              <a:off x="2760" y="883"/>
              <a:ext cx="96" cy="336"/>
              <a:chOff x="2880" y="624"/>
              <a:chExt cx="96" cy="336"/>
            </a:xfrm>
          </p:grpSpPr>
          <p:sp>
            <p:nvSpPr>
              <p:cNvPr id="42005" name="Line 21"/>
              <p:cNvSpPr>
                <a:spLocks noChangeShapeType="1"/>
              </p:cNvSpPr>
              <p:nvPr/>
            </p:nvSpPr>
            <p:spPr bwMode="auto">
              <a:xfrm>
                <a:off x="2976" y="624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06" name="Line 22"/>
              <p:cNvSpPr>
                <a:spLocks noChangeShapeType="1"/>
              </p:cNvSpPr>
              <p:nvPr/>
            </p:nvSpPr>
            <p:spPr bwMode="auto">
              <a:xfrm>
                <a:off x="2880" y="732"/>
                <a:ext cx="0" cy="132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2007" name="Line 23"/>
            <p:cNvSpPr>
              <a:spLocks noChangeShapeType="1"/>
            </p:cNvSpPr>
            <p:nvPr/>
          </p:nvSpPr>
          <p:spPr bwMode="auto">
            <a:xfrm>
              <a:off x="1128" y="1063"/>
              <a:ext cx="16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08" name="Line 24"/>
            <p:cNvSpPr>
              <a:spLocks noChangeShapeType="1"/>
            </p:cNvSpPr>
            <p:nvPr/>
          </p:nvSpPr>
          <p:spPr bwMode="auto">
            <a:xfrm>
              <a:off x="2856" y="1063"/>
              <a:ext cx="16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09" name="Line 25"/>
            <p:cNvSpPr>
              <a:spLocks noChangeShapeType="1"/>
            </p:cNvSpPr>
            <p:nvPr/>
          </p:nvSpPr>
          <p:spPr bwMode="auto">
            <a:xfrm>
              <a:off x="1200" y="2292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10" name="Line 26"/>
            <p:cNvSpPr>
              <a:spLocks noChangeShapeType="1"/>
            </p:cNvSpPr>
            <p:nvPr/>
          </p:nvSpPr>
          <p:spPr bwMode="auto">
            <a:xfrm flipV="1">
              <a:off x="4080" y="2280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2011" name="Group 27"/>
            <p:cNvGrpSpPr>
              <a:grpSpLocks/>
            </p:cNvGrpSpPr>
            <p:nvPr/>
          </p:nvGrpSpPr>
          <p:grpSpPr bwMode="auto">
            <a:xfrm rot="-5400000">
              <a:off x="1896" y="1711"/>
              <a:ext cx="96" cy="336"/>
              <a:chOff x="2880" y="624"/>
              <a:chExt cx="96" cy="336"/>
            </a:xfrm>
          </p:grpSpPr>
          <p:sp>
            <p:nvSpPr>
              <p:cNvPr id="42012" name="Line 28"/>
              <p:cNvSpPr>
                <a:spLocks noChangeShapeType="1"/>
              </p:cNvSpPr>
              <p:nvPr/>
            </p:nvSpPr>
            <p:spPr bwMode="auto">
              <a:xfrm>
                <a:off x="2976" y="624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13" name="Line 29"/>
              <p:cNvSpPr>
                <a:spLocks noChangeShapeType="1"/>
              </p:cNvSpPr>
              <p:nvPr/>
            </p:nvSpPr>
            <p:spPr bwMode="auto">
              <a:xfrm>
                <a:off x="2880" y="732"/>
                <a:ext cx="0" cy="132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2014" name="Line 30"/>
            <p:cNvSpPr>
              <a:spLocks noChangeShapeType="1"/>
            </p:cNvSpPr>
            <p:nvPr/>
          </p:nvSpPr>
          <p:spPr bwMode="auto">
            <a:xfrm>
              <a:off x="1944" y="1939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15" name="Line 31"/>
            <p:cNvSpPr>
              <a:spLocks noChangeShapeType="1"/>
            </p:cNvSpPr>
            <p:nvPr/>
          </p:nvSpPr>
          <p:spPr bwMode="auto">
            <a:xfrm flipV="1">
              <a:off x="1944" y="1063"/>
              <a:ext cx="0" cy="7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16" name="Rectangle 32"/>
            <p:cNvSpPr>
              <a:spLocks noChangeArrowheads="1"/>
            </p:cNvSpPr>
            <p:nvPr/>
          </p:nvSpPr>
          <p:spPr bwMode="auto">
            <a:xfrm>
              <a:off x="1896" y="1315"/>
              <a:ext cx="96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2017" name="Group 33"/>
            <p:cNvGrpSpPr>
              <a:grpSpLocks/>
            </p:cNvGrpSpPr>
            <p:nvPr/>
          </p:nvGrpSpPr>
          <p:grpSpPr bwMode="auto">
            <a:xfrm rot="-5400000">
              <a:off x="4032" y="1699"/>
              <a:ext cx="96" cy="336"/>
              <a:chOff x="2880" y="624"/>
              <a:chExt cx="96" cy="336"/>
            </a:xfrm>
          </p:grpSpPr>
          <p:sp>
            <p:nvSpPr>
              <p:cNvPr id="42018" name="Line 34"/>
              <p:cNvSpPr>
                <a:spLocks noChangeShapeType="1"/>
              </p:cNvSpPr>
              <p:nvPr/>
            </p:nvSpPr>
            <p:spPr bwMode="auto">
              <a:xfrm>
                <a:off x="2976" y="624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19" name="Line 35"/>
              <p:cNvSpPr>
                <a:spLocks noChangeShapeType="1"/>
              </p:cNvSpPr>
              <p:nvPr/>
            </p:nvSpPr>
            <p:spPr bwMode="auto">
              <a:xfrm>
                <a:off x="2880" y="732"/>
                <a:ext cx="0" cy="132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2020" name="Line 36"/>
            <p:cNvSpPr>
              <a:spLocks noChangeShapeType="1"/>
            </p:cNvSpPr>
            <p:nvPr/>
          </p:nvSpPr>
          <p:spPr bwMode="auto">
            <a:xfrm>
              <a:off x="4080" y="1927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21" name="Line 37"/>
            <p:cNvSpPr>
              <a:spLocks noChangeShapeType="1"/>
            </p:cNvSpPr>
            <p:nvPr/>
          </p:nvSpPr>
          <p:spPr bwMode="auto">
            <a:xfrm flipV="1">
              <a:off x="4080" y="1051"/>
              <a:ext cx="0" cy="7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22" name="Rectangle 38"/>
            <p:cNvSpPr>
              <a:spLocks noChangeArrowheads="1"/>
            </p:cNvSpPr>
            <p:nvPr/>
          </p:nvSpPr>
          <p:spPr bwMode="auto">
            <a:xfrm>
              <a:off x="4032" y="1303"/>
              <a:ext cx="96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23" name="Rectangle 39"/>
            <p:cNvSpPr>
              <a:spLocks noChangeArrowheads="1"/>
            </p:cNvSpPr>
            <p:nvPr/>
          </p:nvSpPr>
          <p:spPr bwMode="auto">
            <a:xfrm>
              <a:off x="3384" y="1015"/>
              <a:ext cx="288" cy="9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24" name="Line 40"/>
            <p:cNvSpPr>
              <a:spLocks noChangeShapeType="1"/>
            </p:cNvSpPr>
            <p:nvPr/>
          </p:nvSpPr>
          <p:spPr bwMode="auto">
            <a:xfrm flipV="1">
              <a:off x="1728" y="1687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25" name="Text Box 41"/>
            <p:cNvSpPr txBox="1">
              <a:spLocks noChangeArrowheads="1"/>
            </p:cNvSpPr>
            <p:nvPr/>
          </p:nvSpPr>
          <p:spPr bwMode="auto">
            <a:xfrm>
              <a:off x="1380" y="1603"/>
              <a:ext cx="38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4000" b="1" i="1">
                  <a:sym typeface="Symbol" pitchFamily="18" charset="2"/>
                </a:rPr>
                <a:t></a:t>
              </a:r>
              <a:r>
                <a:rPr lang="en-US" altLang="zh-CN" sz="4000" b="1" i="1" baseline="-25000">
                  <a:sym typeface="Symbol" pitchFamily="18" charset="2"/>
                </a:rPr>
                <a:t>i</a:t>
              </a:r>
              <a:endParaRPr lang="en-US" altLang="zh-CN" sz="4000" b="1" i="1"/>
            </a:p>
          </p:txBody>
        </p:sp>
        <p:sp>
          <p:nvSpPr>
            <p:cNvPr id="42026" name="Text Box 42"/>
            <p:cNvSpPr txBox="1">
              <a:spLocks noChangeArrowheads="1"/>
            </p:cNvSpPr>
            <p:nvPr/>
          </p:nvSpPr>
          <p:spPr bwMode="auto">
            <a:xfrm>
              <a:off x="1572" y="1267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R</a:t>
              </a:r>
              <a:r>
                <a:rPr lang="en-US" altLang="zh-CN" sz="2800" b="1" i="1" baseline="-25000"/>
                <a:t>i</a:t>
              </a:r>
              <a:endParaRPr lang="en-US" altLang="zh-CN" sz="2800" b="1" i="1"/>
            </a:p>
          </p:txBody>
        </p:sp>
        <p:sp>
          <p:nvSpPr>
            <p:cNvPr id="42027" name="Line 43"/>
            <p:cNvSpPr>
              <a:spLocks noChangeShapeType="1"/>
            </p:cNvSpPr>
            <p:nvPr/>
          </p:nvSpPr>
          <p:spPr bwMode="auto">
            <a:xfrm flipV="1">
              <a:off x="2064" y="1243"/>
              <a:ext cx="0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28" name="Text Box 44"/>
            <p:cNvSpPr txBox="1">
              <a:spLocks noChangeArrowheads="1"/>
            </p:cNvSpPr>
            <p:nvPr/>
          </p:nvSpPr>
          <p:spPr bwMode="auto">
            <a:xfrm>
              <a:off x="2076" y="1291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I</a:t>
              </a:r>
              <a:r>
                <a:rPr lang="en-US" altLang="zh-CN" sz="2800" b="1" i="1" baseline="-25000"/>
                <a:t>i</a:t>
              </a:r>
              <a:endParaRPr lang="en-US" altLang="zh-CN" sz="2800" b="1" i="1"/>
            </a:p>
          </p:txBody>
        </p:sp>
        <p:sp>
          <p:nvSpPr>
            <p:cNvPr id="42029" name="Text Box 45"/>
            <p:cNvSpPr txBox="1">
              <a:spLocks noChangeArrowheads="1"/>
            </p:cNvSpPr>
            <p:nvPr/>
          </p:nvSpPr>
          <p:spPr bwMode="auto">
            <a:xfrm>
              <a:off x="1848" y="1915"/>
              <a:ext cx="480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4800" b="1"/>
                <a:t>.</a:t>
              </a:r>
            </a:p>
          </p:txBody>
        </p:sp>
        <p:sp>
          <p:nvSpPr>
            <p:cNvPr id="42030" name="Text Box 46"/>
            <p:cNvSpPr txBox="1">
              <a:spLocks noChangeArrowheads="1"/>
            </p:cNvSpPr>
            <p:nvPr/>
          </p:nvSpPr>
          <p:spPr bwMode="auto">
            <a:xfrm>
              <a:off x="3972" y="1903"/>
              <a:ext cx="480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4800" b="1"/>
                <a:t>.</a:t>
              </a:r>
            </a:p>
          </p:txBody>
        </p:sp>
        <p:sp>
          <p:nvSpPr>
            <p:cNvPr id="42031" name="Text Box 47"/>
            <p:cNvSpPr txBox="1">
              <a:spLocks noChangeArrowheads="1"/>
            </p:cNvSpPr>
            <p:nvPr/>
          </p:nvSpPr>
          <p:spPr bwMode="auto">
            <a:xfrm>
              <a:off x="1824" y="2215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 i="1"/>
                <a:t>a</a:t>
              </a:r>
            </a:p>
          </p:txBody>
        </p:sp>
        <p:sp>
          <p:nvSpPr>
            <p:cNvPr id="42032" name="Text Box 48"/>
            <p:cNvSpPr txBox="1">
              <a:spLocks noChangeArrowheads="1"/>
            </p:cNvSpPr>
            <p:nvPr/>
          </p:nvSpPr>
          <p:spPr bwMode="auto">
            <a:xfrm>
              <a:off x="1956" y="2076"/>
              <a:ext cx="5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 i="1">
                  <a:sym typeface="Symbol" pitchFamily="18" charset="2"/>
                </a:rPr>
                <a:t></a:t>
              </a:r>
              <a:r>
                <a:rPr lang="en-US" altLang="zh-CN" sz="3200" b="1" i="1" baseline="-25000"/>
                <a:t>a</a:t>
              </a:r>
              <a:endParaRPr lang="en-US" altLang="zh-CN" sz="3200" b="1" i="1"/>
            </a:p>
          </p:txBody>
        </p:sp>
        <p:sp>
          <p:nvSpPr>
            <p:cNvPr id="42033" name="Text Box 49"/>
            <p:cNvSpPr txBox="1">
              <a:spLocks noChangeArrowheads="1"/>
            </p:cNvSpPr>
            <p:nvPr/>
          </p:nvSpPr>
          <p:spPr bwMode="auto">
            <a:xfrm>
              <a:off x="3684" y="2016"/>
              <a:ext cx="5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 i="1">
                  <a:sym typeface="Symbol" pitchFamily="18" charset="2"/>
                </a:rPr>
                <a:t></a:t>
              </a:r>
              <a:r>
                <a:rPr lang="en-US" altLang="zh-CN" sz="3200" b="1" i="1" baseline="-25000"/>
                <a:t>b</a:t>
              </a:r>
              <a:endParaRPr lang="en-US" altLang="zh-CN" sz="3200" b="1" i="1"/>
            </a:p>
          </p:txBody>
        </p:sp>
      </p:grpSp>
      <p:sp>
        <p:nvSpPr>
          <p:cNvPr id="42034" name="Rectangle 50"/>
          <p:cNvSpPr>
            <a:spLocks noChangeArrowheads="1"/>
          </p:cNvSpPr>
          <p:nvPr/>
        </p:nvSpPr>
        <p:spPr bwMode="auto">
          <a:xfrm>
            <a:off x="6286500" y="5695950"/>
            <a:ext cx="23336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solidFill>
                  <a:srgbClr val="0000FF"/>
                </a:solidFill>
              </a:rPr>
              <a:t>的欧姆定律 </a:t>
            </a:r>
          </a:p>
        </p:txBody>
      </p:sp>
      <p:sp>
        <p:nvSpPr>
          <p:cNvPr id="42035" name="Rectangle 51"/>
          <p:cNvSpPr>
            <a:spLocks noChangeArrowheads="1"/>
          </p:cNvSpPr>
          <p:nvPr/>
        </p:nvSpPr>
        <p:spPr bwMode="auto">
          <a:xfrm>
            <a:off x="1127125" y="876300"/>
            <a:ext cx="61182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solidFill>
                  <a:srgbClr val="000000"/>
                </a:solidFill>
              </a:rPr>
              <a:t>例如，上面电路从 </a:t>
            </a:r>
            <a:r>
              <a:rPr lang="en-US" altLang="zh-CN" sz="3200" b="1" i="1">
                <a:solidFill>
                  <a:srgbClr val="000000"/>
                </a:solidFill>
              </a:rPr>
              <a:t>a</a:t>
            </a:r>
            <a:r>
              <a:rPr lang="zh-CN" altLang="en-US" sz="3200" b="1">
                <a:solidFill>
                  <a:srgbClr val="000000"/>
                </a:solidFill>
              </a:rPr>
              <a:t>、</a:t>
            </a:r>
            <a:r>
              <a:rPr lang="en-US" altLang="zh-CN" sz="3200" b="1" i="1">
                <a:solidFill>
                  <a:srgbClr val="000000"/>
                </a:solidFill>
              </a:rPr>
              <a:t>b </a:t>
            </a:r>
            <a:r>
              <a:rPr lang="zh-CN" altLang="en-US" sz="3200" b="1">
                <a:solidFill>
                  <a:srgbClr val="000000"/>
                </a:solidFill>
              </a:rPr>
              <a:t>间断开：</a:t>
            </a:r>
          </a:p>
        </p:txBody>
      </p:sp>
      <p:sp>
        <p:nvSpPr>
          <p:cNvPr id="42036" name="AutoShape 52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8610600" y="6343650"/>
            <a:ext cx="304800" cy="152400"/>
          </a:xfrm>
          <a:prstGeom prst="actionButtonBeginning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2037" name="Object 53"/>
          <p:cNvGraphicFramePr>
            <a:graphicFrameLocks noChangeAspect="1"/>
          </p:cNvGraphicFramePr>
          <p:nvPr/>
        </p:nvGraphicFramePr>
        <p:xfrm>
          <a:off x="5032375" y="4400550"/>
          <a:ext cx="372745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87" name="公式" r:id="rId11" imgW="1384200" imgH="228600" progId="Equation.3">
                  <p:embed/>
                </p:oleObj>
              </mc:Choice>
              <mc:Fallback>
                <p:oleObj name="公式" r:id="rId11" imgW="1384200" imgH="228600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2375" y="4400550"/>
                        <a:ext cx="3727450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3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"/>
                                        <p:tgtEl>
                                          <p:spTgt spid="4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8" grpId="0" autoUpdateAnimBg="0"/>
      <p:bldP spid="41991" grpId="0" autoUpdateAnimBg="0"/>
      <p:bldP spid="41996" grpId="0" autoUpdateAnimBg="0"/>
      <p:bldP spid="42034" grpId="0" autoUpdateAnimBg="0"/>
      <p:bldP spid="42035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8C1A8EA8-F9D2-4721-A991-0A4AE6BE03F6}" type="slidenum">
              <a:rPr lang="en-US" altLang="zh-CN" sz="1400" b="0" smtClean="0"/>
              <a:pPr eaLnBrk="1" hangingPunct="1"/>
              <a:t>40</a:t>
            </a:fld>
            <a:endParaRPr lang="en-US" altLang="zh-CN" sz="1400" b="0" smtClean="0"/>
          </a:p>
        </p:txBody>
      </p:sp>
      <p:grpSp>
        <p:nvGrpSpPr>
          <p:cNvPr id="23558" name="组合 48"/>
          <p:cNvGrpSpPr>
            <a:grpSpLocks/>
          </p:cNvGrpSpPr>
          <p:nvPr/>
        </p:nvGrpSpPr>
        <p:grpSpPr bwMode="auto">
          <a:xfrm>
            <a:off x="928688" y="1500188"/>
            <a:ext cx="7099300" cy="4500562"/>
            <a:chOff x="714348" y="1357298"/>
            <a:chExt cx="7099327" cy="4500594"/>
          </a:xfrm>
        </p:grpSpPr>
        <p:grpSp>
          <p:nvGrpSpPr>
            <p:cNvPr id="23560" name="组合 19"/>
            <p:cNvGrpSpPr>
              <a:grpSpLocks/>
            </p:cNvGrpSpPr>
            <p:nvPr/>
          </p:nvGrpSpPr>
          <p:grpSpPr bwMode="auto">
            <a:xfrm>
              <a:off x="714348" y="1428736"/>
              <a:ext cx="1714512" cy="4357718"/>
              <a:chOff x="1428728" y="1142984"/>
              <a:chExt cx="1714512" cy="4357718"/>
            </a:xfrm>
          </p:grpSpPr>
          <p:cxnSp>
            <p:nvCxnSpPr>
              <p:cNvPr id="23585" name="直接连接符 16"/>
              <p:cNvCxnSpPr>
                <a:cxnSpLocks noChangeShapeType="1"/>
              </p:cNvCxnSpPr>
              <p:nvPr/>
            </p:nvCxnSpPr>
            <p:spPr bwMode="auto">
              <a:xfrm rot="5400000">
                <a:off x="1535885" y="5107793"/>
                <a:ext cx="785818" cy="0"/>
              </a:xfrm>
              <a:prstGeom prst="line">
                <a:avLst/>
              </a:prstGeom>
              <a:noFill/>
              <a:ln w="381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" name="矩形 2"/>
              <p:cNvSpPr/>
              <p:nvPr/>
            </p:nvSpPr>
            <p:spPr bwMode="auto">
              <a:xfrm>
                <a:off x="1643041" y="1928803"/>
                <a:ext cx="571502" cy="1357322"/>
              </a:xfrm>
              <a:prstGeom prst="rect">
                <a:avLst/>
              </a:prstGeom>
              <a:solidFill>
                <a:srgbClr val="FFFFFF"/>
              </a:solidFill>
              <a:ln w="38100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3587" name="TextBox 3"/>
              <p:cNvSpPr txBox="1">
                <a:spLocks noChangeArrowheads="1"/>
              </p:cNvSpPr>
              <p:nvPr/>
            </p:nvSpPr>
            <p:spPr bwMode="auto">
              <a:xfrm>
                <a:off x="2357422" y="2357430"/>
                <a:ext cx="564578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32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32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32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32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32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/>
                  <a:t>R</a:t>
                </a:r>
                <a:r>
                  <a:rPr lang="en-US" altLang="zh-CN" sz="2800" baseline="-25000"/>
                  <a:t>1</a:t>
                </a:r>
                <a:endParaRPr lang="zh-CN" altLang="en-US" sz="2800" baseline="-25000"/>
              </a:p>
            </p:txBody>
          </p:sp>
          <p:cxnSp>
            <p:nvCxnSpPr>
              <p:cNvPr id="23588" name="直接连接符 10"/>
              <p:cNvCxnSpPr>
                <a:cxnSpLocks noChangeShapeType="1"/>
                <a:stCxn id="3" idx="2"/>
              </p:cNvCxnSpPr>
              <p:nvPr/>
            </p:nvCxnSpPr>
            <p:spPr bwMode="auto">
              <a:xfrm rot="5400000">
                <a:off x="1285852" y="3929066"/>
                <a:ext cx="1285884" cy="0"/>
              </a:xfrm>
              <a:prstGeom prst="line">
                <a:avLst/>
              </a:prstGeom>
              <a:noFill/>
              <a:ln w="381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aphicFrame>
            <p:nvGraphicFramePr>
              <p:cNvPr id="23556" name="Object 2"/>
              <p:cNvGraphicFramePr>
                <a:graphicFrameLocks noChangeAspect="1"/>
              </p:cNvGraphicFramePr>
              <p:nvPr/>
            </p:nvGraphicFramePr>
            <p:xfrm>
              <a:off x="2500298" y="4143380"/>
              <a:ext cx="642942" cy="9644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814" name="Equation" r:id="rId3" imgW="152280" imgH="228600" progId="Equation.DSMT4">
                      <p:embed/>
                    </p:oleObj>
                  </mc:Choice>
                  <mc:Fallback>
                    <p:oleObj name="Equation" r:id="rId3" imgW="15228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00298" y="4143380"/>
                            <a:ext cx="642942" cy="9644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3589" name="直接连接符 5"/>
              <p:cNvCxnSpPr>
                <a:cxnSpLocks noChangeShapeType="1"/>
              </p:cNvCxnSpPr>
              <p:nvPr/>
            </p:nvCxnSpPr>
            <p:spPr bwMode="auto">
              <a:xfrm>
                <a:off x="1428728" y="4572008"/>
                <a:ext cx="1000132" cy="0"/>
              </a:xfrm>
              <a:prstGeom prst="line">
                <a:avLst/>
              </a:prstGeom>
              <a:noFill/>
              <a:ln w="57150" algn="ctr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3590" name="直接连接符 6"/>
              <p:cNvCxnSpPr>
                <a:cxnSpLocks noChangeShapeType="1"/>
              </p:cNvCxnSpPr>
              <p:nvPr/>
            </p:nvCxnSpPr>
            <p:spPr bwMode="auto">
              <a:xfrm>
                <a:off x="1714480" y="4714884"/>
                <a:ext cx="500066" cy="0"/>
              </a:xfrm>
              <a:prstGeom prst="line">
                <a:avLst/>
              </a:prstGeom>
              <a:noFill/>
              <a:ln w="57150" algn="ctr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3591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1535885" y="1535893"/>
                <a:ext cx="785818" cy="0"/>
              </a:xfrm>
              <a:prstGeom prst="line">
                <a:avLst/>
              </a:prstGeom>
              <a:noFill/>
              <a:ln w="381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3561" name="组合 20"/>
            <p:cNvGrpSpPr>
              <a:grpSpLocks/>
            </p:cNvGrpSpPr>
            <p:nvPr/>
          </p:nvGrpSpPr>
          <p:grpSpPr bwMode="auto">
            <a:xfrm>
              <a:off x="3500430" y="1428736"/>
              <a:ext cx="1741495" cy="4357718"/>
              <a:chOff x="1428728" y="1142984"/>
              <a:chExt cx="1741495" cy="4357718"/>
            </a:xfrm>
          </p:grpSpPr>
          <p:cxnSp>
            <p:nvCxnSpPr>
              <p:cNvPr id="23578" name="直接连接符 21"/>
              <p:cNvCxnSpPr>
                <a:cxnSpLocks noChangeShapeType="1"/>
              </p:cNvCxnSpPr>
              <p:nvPr/>
            </p:nvCxnSpPr>
            <p:spPr bwMode="auto">
              <a:xfrm rot="5400000">
                <a:off x="1535885" y="5107793"/>
                <a:ext cx="785818" cy="0"/>
              </a:xfrm>
              <a:prstGeom prst="line">
                <a:avLst/>
              </a:prstGeom>
              <a:noFill/>
              <a:ln w="381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3" name="矩形 22"/>
              <p:cNvSpPr/>
              <p:nvPr/>
            </p:nvSpPr>
            <p:spPr bwMode="auto">
              <a:xfrm>
                <a:off x="1643033" y="1928803"/>
                <a:ext cx="571502" cy="1357322"/>
              </a:xfrm>
              <a:prstGeom prst="rect">
                <a:avLst/>
              </a:prstGeom>
              <a:solidFill>
                <a:srgbClr val="FFFFFF"/>
              </a:solidFill>
              <a:ln w="38100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3580" name="TextBox 23"/>
              <p:cNvSpPr txBox="1">
                <a:spLocks noChangeArrowheads="1"/>
              </p:cNvSpPr>
              <p:nvPr/>
            </p:nvSpPr>
            <p:spPr bwMode="auto">
              <a:xfrm>
                <a:off x="2357423" y="2357430"/>
                <a:ext cx="564577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32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32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32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32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32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/>
                  <a:t>R</a:t>
                </a:r>
                <a:r>
                  <a:rPr lang="en-US" altLang="zh-CN" sz="2800" baseline="-25000"/>
                  <a:t>2</a:t>
                </a:r>
                <a:endParaRPr lang="zh-CN" altLang="en-US" sz="2800" baseline="-25000"/>
              </a:p>
            </p:txBody>
          </p:sp>
          <p:cxnSp>
            <p:nvCxnSpPr>
              <p:cNvPr id="23581" name="直接连接符 24"/>
              <p:cNvCxnSpPr>
                <a:cxnSpLocks noChangeShapeType="1"/>
                <a:stCxn id="23" idx="2"/>
              </p:cNvCxnSpPr>
              <p:nvPr/>
            </p:nvCxnSpPr>
            <p:spPr bwMode="auto">
              <a:xfrm rot="5400000">
                <a:off x="1285852" y="3929066"/>
                <a:ext cx="1285884" cy="0"/>
              </a:xfrm>
              <a:prstGeom prst="line">
                <a:avLst/>
              </a:prstGeom>
              <a:noFill/>
              <a:ln w="381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aphicFrame>
            <p:nvGraphicFramePr>
              <p:cNvPr id="23555" name="Object 3"/>
              <p:cNvGraphicFramePr>
                <a:graphicFrameLocks noChangeAspect="1"/>
              </p:cNvGraphicFramePr>
              <p:nvPr/>
            </p:nvGraphicFramePr>
            <p:xfrm>
              <a:off x="2473311" y="4143373"/>
              <a:ext cx="696912" cy="965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815" name="Equation" r:id="rId5" imgW="164880" imgH="228600" progId="Equation.DSMT4">
                      <p:embed/>
                    </p:oleObj>
                  </mc:Choice>
                  <mc:Fallback>
                    <p:oleObj name="Equation" r:id="rId5" imgW="16488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73311" y="4143373"/>
                            <a:ext cx="696912" cy="965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3582" name="直接连接符 26"/>
              <p:cNvCxnSpPr>
                <a:cxnSpLocks noChangeShapeType="1"/>
              </p:cNvCxnSpPr>
              <p:nvPr/>
            </p:nvCxnSpPr>
            <p:spPr bwMode="auto">
              <a:xfrm>
                <a:off x="1428728" y="4572008"/>
                <a:ext cx="1000132" cy="0"/>
              </a:xfrm>
              <a:prstGeom prst="line">
                <a:avLst/>
              </a:prstGeom>
              <a:noFill/>
              <a:ln w="57150" algn="ctr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3583" name="直接连接符 27"/>
              <p:cNvCxnSpPr>
                <a:cxnSpLocks noChangeShapeType="1"/>
              </p:cNvCxnSpPr>
              <p:nvPr/>
            </p:nvCxnSpPr>
            <p:spPr bwMode="auto">
              <a:xfrm>
                <a:off x="1714480" y="4714884"/>
                <a:ext cx="500066" cy="0"/>
              </a:xfrm>
              <a:prstGeom prst="line">
                <a:avLst/>
              </a:prstGeom>
              <a:noFill/>
              <a:ln w="57150" algn="ctr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3584" name="直接连接符 28"/>
              <p:cNvCxnSpPr>
                <a:cxnSpLocks noChangeShapeType="1"/>
              </p:cNvCxnSpPr>
              <p:nvPr/>
            </p:nvCxnSpPr>
            <p:spPr bwMode="auto">
              <a:xfrm rot="5400000">
                <a:off x="1535885" y="1535893"/>
                <a:ext cx="785818" cy="0"/>
              </a:xfrm>
              <a:prstGeom prst="line">
                <a:avLst/>
              </a:prstGeom>
              <a:noFill/>
              <a:ln w="381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3562" name="组合 29"/>
            <p:cNvGrpSpPr>
              <a:grpSpLocks/>
            </p:cNvGrpSpPr>
            <p:nvPr/>
          </p:nvGrpSpPr>
          <p:grpSpPr bwMode="auto">
            <a:xfrm>
              <a:off x="6072198" y="1428736"/>
              <a:ext cx="1741477" cy="4357718"/>
              <a:chOff x="1428728" y="1142984"/>
              <a:chExt cx="1741477" cy="4357718"/>
            </a:xfrm>
          </p:grpSpPr>
          <p:cxnSp>
            <p:nvCxnSpPr>
              <p:cNvPr id="23571" name="直接连接符 30"/>
              <p:cNvCxnSpPr>
                <a:cxnSpLocks noChangeShapeType="1"/>
              </p:cNvCxnSpPr>
              <p:nvPr/>
            </p:nvCxnSpPr>
            <p:spPr bwMode="auto">
              <a:xfrm rot="5400000">
                <a:off x="1535885" y="5107793"/>
                <a:ext cx="785818" cy="0"/>
              </a:xfrm>
              <a:prstGeom prst="line">
                <a:avLst/>
              </a:prstGeom>
              <a:noFill/>
              <a:ln w="381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2" name="矩形 31"/>
              <p:cNvSpPr/>
              <p:nvPr/>
            </p:nvSpPr>
            <p:spPr bwMode="auto">
              <a:xfrm>
                <a:off x="1643024" y="1928803"/>
                <a:ext cx="571502" cy="1357322"/>
              </a:xfrm>
              <a:prstGeom prst="rect">
                <a:avLst/>
              </a:prstGeom>
              <a:solidFill>
                <a:srgbClr val="FFFFFF"/>
              </a:solidFill>
              <a:ln w="38100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3573" name="TextBox 32"/>
              <p:cNvSpPr txBox="1">
                <a:spLocks noChangeArrowheads="1"/>
              </p:cNvSpPr>
              <p:nvPr/>
            </p:nvSpPr>
            <p:spPr bwMode="auto">
              <a:xfrm>
                <a:off x="2357423" y="2357430"/>
                <a:ext cx="564577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32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32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32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32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32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/>
                  <a:t>R</a:t>
                </a:r>
                <a:r>
                  <a:rPr lang="en-US" altLang="zh-CN" sz="2800" baseline="-25000"/>
                  <a:t>3</a:t>
                </a:r>
                <a:endParaRPr lang="zh-CN" altLang="en-US" sz="2800" baseline="-25000"/>
              </a:p>
            </p:txBody>
          </p:sp>
          <p:cxnSp>
            <p:nvCxnSpPr>
              <p:cNvPr id="23574" name="直接连接符 33"/>
              <p:cNvCxnSpPr>
                <a:cxnSpLocks noChangeShapeType="1"/>
                <a:stCxn id="32" idx="2"/>
              </p:cNvCxnSpPr>
              <p:nvPr/>
            </p:nvCxnSpPr>
            <p:spPr bwMode="auto">
              <a:xfrm rot="5400000">
                <a:off x="1285852" y="3929066"/>
                <a:ext cx="1285884" cy="0"/>
              </a:xfrm>
              <a:prstGeom prst="line">
                <a:avLst/>
              </a:prstGeom>
              <a:noFill/>
              <a:ln w="381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aphicFrame>
            <p:nvGraphicFramePr>
              <p:cNvPr id="23554" name="Object 4"/>
              <p:cNvGraphicFramePr>
                <a:graphicFrameLocks noChangeAspect="1"/>
              </p:cNvGraphicFramePr>
              <p:nvPr/>
            </p:nvGraphicFramePr>
            <p:xfrm>
              <a:off x="2473293" y="4143373"/>
              <a:ext cx="696912" cy="965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816" name="Equation" r:id="rId7" imgW="164880" imgH="228600" progId="Equation.DSMT4">
                      <p:embed/>
                    </p:oleObj>
                  </mc:Choice>
                  <mc:Fallback>
                    <p:oleObj name="Equation" r:id="rId7" imgW="16488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73293" y="4143373"/>
                            <a:ext cx="696912" cy="965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3575" name="直接连接符 35"/>
              <p:cNvCxnSpPr>
                <a:cxnSpLocks noChangeShapeType="1"/>
              </p:cNvCxnSpPr>
              <p:nvPr/>
            </p:nvCxnSpPr>
            <p:spPr bwMode="auto">
              <a:xfrm>
                <a:off x="1428728" y="4572008"/>
                <a:ext cx="1000132" cy="0"/>
              </a:xfrm>
              <a:prstGeom prst="line">
                <a:avLst/>
              </a:prstGeom>
              <a:noFill/>
              <a:ln w="57150" algn="ctr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3576" name="直接连接符 36"/>
              <p:cNvCxnSpPr>
                <a:cxnSpLocks noChangeShapeType="1"/>
              </p:cNvCxnSpPr>
              <p:nvPr/>
            </p:nvCxnSpPr>
            <p:spPr bwMode="auto">
              <a:xfrm>
                <a:off x="1714480" y="4714884"/>
                <a:ext cx="500066" cy="0"/>
              </a:xfrm>
              <a:prstGeom prst="line">
                <a:avLst/>
              </a:prstGeom>
              <a:noFill/>
              <a:ln w="57150" algn="ctr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3577" name="直接连接符 37"/>
              <p:cNvCxnSpPr>
                <a:cxnSpLocks noChangeShapeType="1"/>
              </p:cNvCxnSpPr>
              <p:nvPr/>
            </p:nvCxnSpPr>
            <p:spPr bwMode="auto">
              <a:xfrm rot="5400000">
                <a:off x="1535885" y="1535893"/>
                <a:ext cx="785818" cy="0"/>
              </a:xfrm>
              <a:prstGeom prst="line">
                <a:avLst/>
              </a:prstGeom>
              <a:noFill/>
              <a:ln w="381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23563" name="直接连接符 39"/>
            <p:cNvCxnSpPr>
              <a:cxnSpLocks noChangeShapeType="1"/>
            </p:cNvCxnSpPr>
            <p:nvPr/>
          </p:nvCxnSpPr>
          <p:spPr bwMode="auto">
            <a:xfrm>
              <a:off x="1214414" y="1428736"/>
              <a:ext cx="5357850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564" name="椭圆 41"/>
            <p:cNvSpPr>
              <a:spLocks noChangeArrowheads="1"/>
            </p:cNvSpPr>
            <p:nvPr/>
          </p:nvSpPr>
          <p:spPr bwMode="auto">
            <a:xfrm>
              <a:off x="1142976" y="1357298"/>
              <a:ext cx="142876" cy="14287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5" name="椭圆 42"/>
            <p:cNvSpPr>
              <a:spLocks noChangeArrowheads="1"/>
            </p:cNvSpPr>
            <p:nvPr/>
          </p:nvSpPr>
          <p:spPr bwMode="auto">
            <a:xfrm>
              <a:off x="3929058" y="1357298"/>
              <a:ext cx="142876" cy="14287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6" name="椭圆 43"/>
            <p:cNvSpPr>
              <a:spLocks noChangeArrowheads="1"/>
            </p:cNvSpPr>
            <p:nvPr/>
          </p:nvSpPr>
          <p:spPr bwMode="auto">
            <a:xfrm>
              <a:off x="6500826" y="1357298"/>
              <a:ext cx="142876" cy="14287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23567" name="直接连接符 44"/>
            <p:cNvCxnSpPr>
              <a:cxnSpLocks noChangeShapeType="1"/>
            </p:cNvCxnSpPr>
            <p:nvPr/>
          </p:nvCxnSpPr>
          <p:spPr bwMode="auto">
            <a:xfrm>
              <a:off x="1214414" y="5786454"/>
              <a:ext cx="5357850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568" name="椭圆 45"/>
            <p:cNvSpPr>
              <a:spLocks noChangeArrowheads="1"/>
            </p:cNvSpPr>
            <p:nvPr/>
          </p:nvSpPr>
          <p:spPr bwMode="auto">
            <a:xfrm>
              <a:off x="1142976" y="5715016"/>
              <a:ext cx="142876" cy="14287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9" name="椭圆 46"/>
            <p:cNvSpPr>
              <a:spLocks noChangeArrowheads="1"/>
            </p:cNvSpPr>
            <p:nvPr/>
          </p:nvSpPr>
          <p:spPr bwMode="auto">
            <a:xfrm>
              <a:off x="3929058" y="5715016"/>
              <a:ext cx="142876" cy="14287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0" name="椭圆 47"/>
            <p:cNvSpPr>
              <a:spLocks noChangeArrowheads="1"/>
            </p:cNvSpPr>
            <p:nvPr/>
          </p:nvSpPr>
          <p:spPr bwMode="auto">
            <a:xfrm>
              <a:off x="6500826" y="5715016"/>
              <a:ext cx="142876" cy="14287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0" name="Text Box 3"/>
          <p:cNvSpPr txBox="1">
            <a:spLocks noChangeArrowheads="1"/>
          </p:cNvSpPr>
          <p:nvPr/>
        </p:nvSpPr>
        <p:spPr bwMode="auto">
          <a:xfrm>
            <a:off x="214313" y="357188"/>
            <a:ext cx="4953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0000FF"/>
                </a:solidFill>
              </a:rPr>
              <a:t> </a:t>
            </a:r>
            <a:r>
              <a:rPr lang="zh-CN" altLang="en-US">
                <a:solidFill>
                  <a:srgbClr val="0000FF"/>
                </a:solidFill>
              </a:rPr>
              <a:t>四 </a:t>
            </a:r>
            <a:r>
              <a:rPr lang="en-US" altLang="zh-CN">
                <a:solidFill>
                  <a:srgbClr val="0000FF"/>
                </a:solidFill>
              </a:rPr>
              <a:t>. </a:t>
            </a:r>
            <a:r>
              <a:rPr lang="zh-CN" altLang="en-US">
                <a:solidFill>
                  <a:srgbClr val="0000FF"/>
                </a:solidFill>
              </a:rPr>
              <a:t>典型电路的求解</a:t>
            </a:r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8597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A9F511AF-67F6-4089-AFF7-6CF0FC494FD1}" type="slidenum">
              <a:rPr lang="en-US" altLang="zh-CN" sz="1400" b="0" smtClean="0"/>
              <a:pPr eaLnBrk="1" hangingPunct="1"/>
              <a:t>41</a:t>
            </a:fld>
            <a:endParaRPr lang="en-US" altLang="zh-CN" sz="1400" b="0" smtClean="0"/>
          </a:p>
        </p:txBody>
      </p:sp>
      <p:cxnSp>
        <p:nvCxnSpPr>
          <p:cNvPr id="24583" name="直接连接符 87"/>
          <p:cNvCxnSpPr>
            <a:cxnSpLocks noChangeShapeType="1"/>
            <a:endCxn id="46" idx="2"/>
          </p:cNvCxnSpPr>
          <p:nvPr/>
        </p:nvCxnSpPr>
        <p:spPr bwMode="auto">
          <a:xfrm>
            <a:off x="3429000" y="1143000"/>
            <a:ext cx="1071563" cy="1905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4584" name="直接连接符 76"/>
          <p:cNvCxnSpPr>
            <a:cxnSpLocks noChangeShapeType="1"/>
            <a:stCxn id="24596" idx="6"/>
          </p:cNvCxnSpPr>
          <p:nvPr/>
        </p:nvCxnSpPr>
        <p:spPr bwMode="auto">
          <a:xfrm flipV="1">
            <a:off x="2044700" y="1143000"/>
            <a:ext cx="1241425" cy="14288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24585" name="组合 19"/>
          <p:cNvGrpSpPr>
            <a:grpSpLocks/>
          </p:cNvGrpSpPr>
          <p:nvPr/>
        </p:nvGrpSpPr>
        <p:grpSpPr bwMode="auto">
          <a:xfrm>
            <a:off x="1571625" y="2486025"/>
            <a:ext cx="1397000" cy="3529013"/>
            <a:chOff x="1428728" y="1142984"/>
            <a:chExt cx="1714512" cy="4357718"/>
          </a:xfrm>
        </p:grpSpPr>
        <p:cxnSp>
          <p:nvCxnSpPr>
            <p:cNvPr id="24623" name="直接连接符 16"/>
            <p:cNvCxnSpPr>
              <a:cxnSpLocks noChangeShapeType="1"/>
            </p:cNvCxnSpPr>
            <p:nvPr/>
          </p:nvCxnSpPr>
          <p:spPr bwMode="auto">
            <a:xfrm rot="5400000">
              <a:off x="1535885" y="5107793"/>
              <a:ext cx="785818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" name="矩形 2"/>
            <p:cNvSpPr/>
            <p:nvPr/>
          </p:nvSpPr>
          <p:spPr bwMode="auto">
            <a:xfrm>
              <a:off x="1643042" y="1929060"/>
              <a:ext cx="570855" cy="1356518"/>
            </a:xfrm>
            <a:prstGeom prst="rect">
              <a:avLst/>
            </a:prstGeom>
            <a:solidFill>
              <a:srgbClr val="FFFFFF"/>
            </a:solidFill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4625" name="TextBox 3"/>
            <p:cNvSpPr txBox="1">
              <a:spLocks noChangeArrowheads="1"/>
            </p:cNvSpPr>
            <p:nvPr/>
          </p:nvSpPr>
          <p:spPr bwMode="auto">
            <a:xfrm>
              <a:off x="2357422" y="2357430"/>
              <a:ext cx="56457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800"/>
                <a:t>R</a:t>
              </a:r>
              <a:r>
                <a:rPr lang="en-US" altLang="zh-CN" sz="2800" baseline="-25000"/>
                <a:t>1</a:t>
              </a:r>
              <a:endParaRPr lang="zh-CN" altLang="en-US" sz="2800" baseline="-25000"/>
            </a:p>
          </p:txBody>
        </p:sp>
        <p:cxnSp>
          <p:nvCxnSpPr>
            <p:cNvPr id="24626" name="直接连接符 10"/>
            <p:cNvCxnSpPr>
              <a:cxnSpLocks noChangeShapeType="1"/>
            </p:cNvCxnSpPr>
            <p:nvPr/>
          </p:nvCxnSpPr>
          <p:spPr bwMode="auto">
            <a:xfrm rot="5400000">
              <a:off x="1285852" y="3929066"/>
              <a:ext cx="1285884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aphicFrame>
          <p:nvGraphicFramePr>
            <p:cNvPr id="24578" name="Object 2"/>
            <p:cNvGraphicFramePr>
              <a:graphicFrameLocks noChangeAspect="1"/>
            </p:cNvGraphicFramePr>
            <p:nvPr/>
          </p:nvGraphicFramePr>
          <p:xfrm>
            <a:off x="2500298" y="4143380"/>
            <a:ext cx="642942" cy="964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906" name="Equation" r:id="rId3" imgW="152280" imgH="228600" progId="Equation.DSMT4">
                    <p:embed/>
                  </p:oleObj>
                </mc:Choice>
                <mc:Fallback>
                  <p:oleObj name="Equation" r:id="rId3" imgW="1522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0298" y="4143380"/>
                          <a:ext cx="642942" cy="9644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4627" name="直接连接符 5"/>
            <p:cNvCxnSpPr>
              <a:cxnSpLocks noChangeShapeType="1"/>
            </p:cNvCxnSpPr>
            <p:nvPr/>
          </p:nvCxnSpPr>
          <p:spPr bwMode="auto">
            <a:xfrm>
              <a:off x="1428728" y="4572008"/>
              <a:ext cx="1000132" cy="0"/>
            </a:xfrm>
            <a:prstGeom prst="line">
              <a:avLst/>
            </a:prstGeom>
            <a:noFill/>
            <a:ln w="571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28" name="直接连接符 6"/>
            <p:cNvCxnSpPr>
              <a:cxnSpLocks noChangeShapeType="1"/>
            </p:cNvCxnSpPr>
            <p:nvPr/>
          </p:nvCxnSpPr>
          <p:spPr bwMode="auto">
            <a:xfrm>
              <a:off x="1714480" y="4714884"/>
              <a:ext cx="500066" cy="0"/>
            </a:xfrm>
            <a:prstGeom prst="line">
              <a:avLst/>
            </a:prstGeom>
            <a:noFill/>
            <a:ln w="571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29" name="直接连接符 18"/>
            <p:cNvCxnSpPr>
              <a:cxnSpLocks noChangeShapeType="1"/>
            </p:cNvCxnSpPr>
            <p:nvPr/>
          </p:nvCxnSpPr>
          <p:spPr bwMode="auto">
            <a:xfrm rot="5400000">
              <a:off x="1535885" y="1535893"/>
              <a:ext cx="785818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4586" name="组合 20"/>
          <p:cNvGrpSpPr>
            <a:grpSpLocks/>
          </p:cNvGrpSpPr>
          <p:nvPr/>
        </p:nvGrpSpPr>
        <p:grpSpPr bwMode="auto">
          <a:xfrm>
            <a:off x="3841750" y="2486025"/>
            <a:ext cx="1420813" cy="3529013"/>
            <a:chOff x="1428728" y="1142984"/>
            <a:chExt cx="1741495" cy="4357718"/>
          </a:xfrm>
        </p:grpSpPr>
        <p:cxnSp>
          <p:nvCxnSpPr>
            <p:cNvPr id="24616" name="直接连接符 21"/>
            <p:cNvCxnSpPr>
              <a:cxnSpLocks noChangeShapeType="1"/>
            </p:cNvCxnSpPr>
            <p:nvPr/>
          </p:nvCxnSpPr>
          <p:spPr bwMode="auto">
            <a:xfrm rot="5400000">
              <a:off x="1535885" y="5107793"/>
              <a:ext cx="785818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" name="矩形 23"/>
            <p:cNvSpPr/>
            <p:nvPr/>
          </p:nvSpPr>
          <p:spPr bwMode="auto">
            <a:xfrm>
              <a:off x="1642766" y="1929060"/>
              <a:ext cx="572066" cy="1356518"/>
            </a:xfrm>
            <a:prstGeom prst="rect">
              <a:avLst/>
            </a:prstGeom>
            <a:solidFill>
              <a:srgbClr val="FFFFFF"/>
            </a:solidFill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4618" name="TextBox 23"/>
            <p:cNvSpPr txBox="1">
              <a:spLocks noChangeArrowheads="1"/>
            </p:cNvSpPr>
            <p:nvPr/>
          </p:nvSpPr>
          <p:spPr bwMode="auto">
            <a:xfrm>
              <a:off x="2357423" y="2357430"/>
              <a:ext cx="56457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800"/>
                <a:t>R</a:t>
              </a:r>
              <a:r>
                <a:rPr lang="en-US" altLang="zh-CN" sz="2800" baseline="-25000"/>
                <a:t>2</a:t>
              </a:r>
              <a:endParaRPr lang="zh-CN" altLang="en-US" sz="2800" baseline="-25000"/>
            </a:p>
          </p:txBody>
        </p:sp>
        <p:cxnSp>
          <p:nvCxnSpPr>
            <p:cNvPr id="24619" name="直接连接符 24"/>
            <p:cNvCxnSpPr>
              <a:cxnSpLocks noChangeShapeType="1"/>
              <a:stCxn id="24" idx="2"/>
            </p:cNvCxnSpPr>
            <p:nvPr/>
          </p:nvCxnSpPr>
          <p:spPr bwMode="auto">
            <a:xfrm rot="5400000">
              <a:off x="1285852" y="3929066"/>
              <a:ext cx="1285884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aphicFrame>
          <p:nvGraphicFramePr>
            <p:cNvPr id="24579" name="Object 3"/>
            <p:cNvGraphicFramePr>
              <a:graphicFrameLocks noChangeAspect="1"/>
            </p:cNvGraphicFramePr>
            <p:nvPr/>
          </p:nvGraphicFramePr>
          <p:xfrm>
            <a:off x="2473311" y="4143373"/>
            <a:ext cx="696912" cy="965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907" name="Equation" r:id="rId5" imgW="164880" imgH="228600" progId="Equation.DSMT4">
                    <p:embed/>
                  </p:oleObj>
                </mc:Choice>
                <mc:Fallback>
                  <p:oleObj name="Equation" r:id="rId5" imgW="1648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3311" y="4143373"/>
                          <a:ext cx="696912" cy="965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4620" name="直接连接符 26"/>
            <p:cNvCxnSpPr>
              <a:cxnSpLocks noChangeShapeType="1"/>
            </p:cNvCxnSpPr>
            <p:nvPr/>
          </p:nvCxnSpPr>
          <p:spPr bwMode="auto">
            <a:xfrm>
              <a:off x="1428728" y="4572008"/>
              <a:ext cx="1000132" cy="0"/>
            </a:xfrm>
            <a:prstGeom prst="line">
              <a:avLst/>
            </a:prstGeom>
            <a:noFill/>
            <a:ln w="571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21" name="直接连接符 27"/>
            <p:cNvCxnSpPr>
              <a:cxnSpLocks noChangeShapeType="1"/>
            </p:cNvCxnSpPr>
            <p:nvPr/>
          </p:nvCxnSpPr>
          <p:spPr bwMode="auto">
            <a:xfrm>
              <a:off x="1714480" y="4714884"/>
              <a:ext cx="500066" cy="0"/>
            </a:xfrm>
            <a:prstGeom prst="line">
              <a:avLst/>
            </a:prstGeom>
            <a:noFill/>
            <a:ln w="571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22" name="直接连接符 28"/>
            <p:cNvCxnSpPr>
              <a:cxnSpLocks noChangeShapeType="1"/>
            </p:cNvCxnSpPr>
            <p:nvPr/>
          </p:nvCxnSpPr>
          <p:spPr bwMode="auto">
            <a:xfrm rot="5400000">
              <a:off x="1535885" y="1535893"/>
              <a:ext cx="785818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4587" name="组合 29"/>
          <p:cNvGrpSpPr>
            <a:grpSpLocks/>
          </p:cNvGrpSpPr>
          <p:nvPr/>
        </p:nvGrpSpPr>
        <p:grpSpPr bwMode="auto">
          <a:xfrm>
            <a:off x="5938838" y="2486025"/>
            <a:ext cx="1419225" cy="3529013"/>
            <a:chOff x="1428728" y="1142984"/>
            <a:chExt cx="1741477" cy="4357718"/>
          </a:xfrm>
        </p:grpSpPr>
        <p:cxnSp>
          <p:nvCxnSpPr>
            <p:cNvPr id="24609" name="直接连接符 30"/>
            <p:cNvCxnSpPr>
              <a:cxnSpLocks noChangeShapeType="1"/>
            </p:cNvCxnSpPr>
            <p:nvPr/>
          </p:nvCxnSpPr>
          <p:spPr bwMode="auto">
            <a:xfrm rot="5400000">
              <a:off x="1535885" y="5107793"/>
              <a:ext cx="785818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" name="矩形 15"/>
            <p:cNvSpPr/>
            <p:nvPr/>
          </p:nvSpPr>
          <p:spPr bwMode="auto">
            <a:xfrm>
              <a:off x="1643004" y="1929060"/>
              <a:ext cx="570752" cy="1356518"/>
            </a:xfrm>
            <a:prstGeom prst="rect">
              <a:avLst/>
            </a:prstGeom>
            <a:solidFill>
              <a:srgbClr val="FFFFFF"/>
            </a:solidFill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4611" name="TextBox 32"/>
            <p:cNvSpPr txBox="1">
              <a:spLocks noChangeArrowheads="1"/>
            </p:cNvSpPr>
            <p:nvPr/>
          </p:nvSpPr>
          <p:spPr bwMode="auto">
            <a:xfrm>
              <a:off x="2357423" y="2357430"/>
              <a:ext cx="56457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800"/>
                <a:t>R</a:t>
              </a:r>
              <a:r>
                <a:rPr lang="en-US" altLang="zh-CN" sz="2800" baseline="-25000"/>
                <a:t>3</a:t>
              </a:r>
              <a:endParaRPr lang="zh-CN" altLang="en-US" sz="2800" baseline="-25000"/>
            </a:p>
          </p:txBody>
        </p:sp>
        <p:cxnSp>
          <p:nvCxnSpPr>
            <p:cNvPr id="24612" name="直接连接符 33"/>
            <p:cNvCxnSpPr>
              <a:cxnSpLocks noChangeShapeType="1"/>
              <a:stCxn id="16" idx="2"/>
            </p:cNvCxnSpPr>
            <p:nvPr/>
          </p:nvCxnSpPr>
          <p:spPr bwMode="auto">
            <a:xfrm rot="5400000">
              <a:off x="1285852" y="3929066"/>
              <a:ext cx="1285884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aphicFrame>
          <p:nvGraphicFramePr>
            <p:cNvPr id="24580" name="Object 4"/>
            <p:cNvGraphicFramePr>
              <a:graphicFrameLocks noChangeAspect="1"/>
            </p:cNvGraphicFramePr>
            <p:nvPr/>
          </p:nvGraphicFramePr>
          <p:xfrm>
            <a:off x="2473293" y="4143373"/>
            <a:ext cx="696912" cy="965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908" name="Equation" r:id="rId7" imgW="164880" imgH="228600" progId="Equation.DSMT4">
                    <p:embed/>
                  </p:oleObj>
                </mc:Choice>
                <mc:Fallback>
                  <p:oleObj name="Equation" r:id="rId7" imgW="1648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3293" y="4143373"/>
                          <a:ext cx="696912" cy="965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4613" name="直接连接符 35"/>
            <p:cNvCxnSpPr>
              <a:cxnSpLocks noChangeShapeType="1"/>
            </p:cNvCxnSpPr>
            <p:nvPr/>
          </p:nvCxnSpPr>
          <p:spPr bwMode="auto">
            <a:xfrm>
              <a:off x="1428728" y="4572008"/>
              <a:ext cx="1000132" cy="0"/>
            </a:xfrm>
            <a:prstGeom prst="line">
              <a:avLst/>
            </a:prstGeom>
            <a:noFill/>
            <a:ln w="571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14" name="直接连接符 36"/>
            <p:cNvCxnSpPr>
              <a:cxnSpLocks noChangeShapeType="1"/>
            </p:cNvCxnSpPr>
            <p:nvPr/>
          </p:nvCxnSpPr>
          <p:spPr bwMode="auto">
            <a:xfrm>
              <a:off x="1714480" y="4714884"/>
              <a:ext cx="500066" cy="0"/>
            </a:xfrm>
            <a:prstGeom prst="line">
              <a:avLst/>
            </a:prstGeom>
            <a:noFill/>
            <a:ln w="571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15" name="直接连接符 37"/>
            <p:cNvCxnSpPr>
              <a:cxnSpLocks noChangeShapeType="1"/>
            </p:cNvCxnSpPr>
            <p:nvPr/>
          </p:nvCxnSpPr>
          <p:spPr bwMode="auto">
            <a:xfrm rot="5400000">
              <a:off x="1535885" y="1535893"/>
              <a:ext cx="785818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4588" name="椭圆 41"/>
          <p:cNvSpPr>
            <a:spLocks noChangeArrowheads="1"/>
          </p:cNvSpPr>
          <p:nvPr/>
        </p:nvSpPr>
        <p:spPr bwMode="auto">
          <a:xfrm>
            <a:off x="1920875" y="2428875"/>
            <a:ext cx="115888" cy="115888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9" name="椭圆 42"/>
          <p:cNvSpPr>
            <a:spLocks noChangeArrowheads="1"/>
          </p:cNvSpPr>
          <p:nvPr/>
        </p:nvSpPr>
        <p:spPr bwMode="auto">
          <a:xfrm>
            <a:off x="4192588" y="2428875"/>
            <a:ext cx="115887" cy="115888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0" name="椭圆 43"/>
          <p:cNvSpPr>
            <a:spLocks noChangeArrowheads="1"/>
          </p:cNvSpPr>
          <p:nvPr/>
        </p:nvSpPr>
        <p:spPr bwMode="auto">
          <a:xfrm>
            <a:off x="6288088" y="2428875"/>
            <a:ext cx="115887" cy="115888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24591" name="直接连接符 44"/>
          <p:cNvCxnSpPr>
            <a:cxnSpLocks noChangeShapeType="1"/>
          </p:cNvCxnSpPr>
          <p:nvPr/>
        </p:nvCxnSpPr>
        <p:spPr bwMode="auto">
          <a:xfrm>
            <a:off x="1979613" y="6015038"/>
            <a:ext cx="4367212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592" name="椭圆 45"/>
          <p:cNvSpPr>
            <a:spLocks noChangeArrowheads="1"/>
          </p:cNvSpPr>
          <p:nvPr/>
        </p:nvSpPr>
        <p:spPr bwMode="auto">
          <a:xfrm>
            <a:off x="1920875" y="5956300"/>
            <a:ext cx="115888" cy="115888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3" name="椭圆 46"/>
          <p:cNvSpPr>
            <a:spLocks noChangeArrowheads="1"/>
          </p:cNvSpPr>
          <p:nvPr/>
        </p:nvSpPr>
        <p:spPr bwMode="auto">
          <a:xfrm>
            <a:off x="4192588" y="5956300"/>
            <a:ext cx="115887" cy="115888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4" name="椭圆 47"/>
          <p:cNvSpPr>
            <a:spLocks noChangeArrowheads="1"/>
          </p:cNvSpPr>
          <p:nvPr/>
        </p:nvSpPr>
        <p:spPr bwMode="auto">
          <a:xfrm>
            <a:off x="6288088" y="5956300"/>
            <a:ext cx="115887" cy="115888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24595" name="直接连接符 39"/>
          <p:cNvCxnSpPr>
            <a:cxnSpLocks noChangeShapeType="1"/>
            <a:stCxn id="24588" idx="0"/>
            <a:endCxn id="24596" idx="0"/>
          </p:cNvCxnSpPr>
          <p:nvPr/>
        </p:nvCxnSpPr>
        <p:spPr bwMode="auto">
          <a:xfrm rot="5400000" flipH="1" flipV="1">
            <a:off x="1318419" y="1759744"/>
            <a:ext cx="1330325" cy="7937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4596" name="椭圆 41"/>
          <p:cNvSpPr>
            <a:spLocks noChangeArrowheads="1"/>
          </p:cNvSpPr>
          <p:nvPr/>
        </p:nvSpPr>
        <p:spPr bwMode="auto">
          <a:xfrm>
            <a:off x="1928813" y="1098550"/>
            <a:ext cx="115887" cy="115888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2"/>
          <p:cNvSpPr/>
          <p:nvPr/>
        </p:nvSpPr>
        <p:spPr bwMode="auto">
          <a:xfrm rot="5400000">
            <a:off x="4817269" y="611982"/>
            <a:ext cx="465137" cy="109855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24598" name="TextBox 3"/>
          <p:cNvSpPr txBox="1">
            <a:spLocks noChangeArrowheads="1"/>
          </p:cNvSpPr>
          <p:nvPr/>
        </p:nvSpPr>
        <p:spPr bwMode="auto">
          <a:xfrm>
            <a:off x="4733925" y="1500188"/>
            <a:ext cx="565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/>
              <a:t>R</a:t>
            </a:r>
            <a:r>
              <a:rPr lang="en-US" altLang="zh-CN" sz="2800" baseline="-25000"/>
              <a:t>4</a:t>
            </a:r>
            <a:endParaRPr lang="zh-CN" altLang="en-US" sz="2800" baseline="-25000"/>
          </a:p>
        </p:txBody>
      </p:sp>
      <p:graphicFrame>
        <p:nvGraphicFramePr>
          <p:cNvPr id="24581" name="Object 5"/>
          <p:cNvGraphicFramePr>
            <a:graphicFrameLocks noChangeAspect="1"/>
          </p:cNvGraphicFramePr>
          <p:nvPr/>
        </p:nvGraphicFramePr>
        <p:xfrm>
          <a:off x="2928938" y="1143000"/>
          <a:ext cx="568325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09" name="Equation" r:id="rId9" imgW="164880" imgH="228600" progId="Equation.DSMT4">
                  <p:embed/>
                </p:oleObj>
              </mc:Choice>
              <mc:Fallback>
                <p:oleObj name="Equation" r:id="rId9" imgW="164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38" y="1143000"/>
                        <a:ext cx="568325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4599" name="直接连接符 56"/>
          <p:cNvCxnSpPr>
            <a:cxnSpLocks noChangeShapeType="1"/>
          </p:cNvCxnSpPr>
          <p:nvPr/>
        </p:nvCxnSpPr>
        <p:spPr bwMode="auto">
          <a:xfrm rot="5400000" flipH="1" flipV="1">
            <a:off x="5689600" y="1811338"/>
            <a:ext cx="1357313" cy="20637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4600" name="椭圆 41"/>
          <p:cNvSpPr>
            <a:spLocks noChangeArrowheads="1"/>
          </p:cNvSpPr>
          <p:nvPr/>
        </p:nvSpPr>
        <p:spPr bwMode="auto">
          <a:xfrm>
            <a:off x="6307138" y="1098550"/>
            <a:ext cx="117475" cy="115888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24601" name="直接连接符 59"/>
          <p:cNvCxnSpPr>
            <a:cxnSpLocks noChangeShapeType="1"/>
            <a:stCxn id="46" idx="0"/>
            <a:endCxn id="24600" idx="2"/>
          </p:cNvCxnSpPr>
          <p:nvPr/>
        </p:nvCxnSpPr>
        <p:spPr bwMode="auto">
          <a:xfrm flipV="1">
            <a:off x="5599113" y="1157288"/>
            <a:ext cx="708025" cy="4762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4602" name="直接连接符 66"/>
          <p:cNvCxnSpPr>
            <a:cxnSpLocks noChangeShapeType="1"/>
          </p:cNvCxnSpPr>
          <p:nvPr/>
        </p:nvCxnSpPr>
        <p:spPr bwMode="auto">
          <a:xfrm rot="5400000">
            <a:off x="3036094" y="1178719"/>
            <a:ext cx="785812" cy="0"/>
          </a:xfrm>
          <a:prstGeom prst="line">
            <a:avLst/>
          </a:prstGeom>
          <a:noFill/>
          <a:ln w="57150" algn="ctr">
            <a:solidFill>
              <a:srgbClr val="C00000"/>
            </a:solidFill>
            <a:round/>
            <a:headEnd/>
            <a:tailEnd/>
          </a:ln>
        </p:spPr>
      </p:cxnSp>
      <p:cxnSp>
        <p:nvCxnSpPr>
          <p:cNvPr id="24603" name="直接连接符 70"/>
          <p:cNvCxnSpPr>
            <a:cxnSpLocks noChangeShapeType="1"/>
          </p:cNvCxnSpPr>
          <p:nvPr/>
        </p:nvCxnSpPr>
        <p:spPr bwMode="auto">
          <a:xfrm rot="5400000">
            <a:off x="3071812" y="1143001"/>
            <a:ext cx="428625" cy="0"/>
          </a:xfrm>
          <a:prstGeom prst="line">
            <a:avLst/>
          </a:prstGeom>
          <a:noFill/>
          <a:ln w="57150" algn="ctr">
            <a:solidFill>
              <a:srgbClr val="C00000"/>
            </a:solidFill>
            <a:round/>
            <a:headEnd/>
            <a:tailEnd/>
          </a:ln>
        </p:spPr>
      </p:cxnSp>
      <p:cxnSp>
        <p:nvCxnSpPr>
          <p:cNvPr id="24604" name="直接连接符 95"/>
          <p:cNvCxnSpPr>
            <a:cxnSpLocks noChangeShapeType="1"/>
            <a:stCxn id="24589" idx="6"/>
            <a:endCxn id="24590" idx="2"/>
          </p:cNvCxnSpPr>
          <p:nvPr/>
        </p:nvCxnSpPr>
        <p:spPr bwMode="auto">
          <a:xfrm>
            <a:off x="4308475" y="2486025"/>
            <a:ext cx="1979613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9" name="矩形 2"/>
          <p:cNvSpPr/>
          <p:nvPr/>
        </p:nvSpPr>
        <p:spPr bwMode="auto">
          <a:xfrm rot="5400000">
            <a:off x="2861469" y="1932782"/>
            <a:ext cx="465137" cy="109855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cxnSp>
        <p:nvCxnSpPr>
          <p:cNvPr id="24606" name="直接连接符 100"/>
          <p:cNvCxnSpPr>
            <a:cxnSpLocks noChangeShapeType="1"/>
            <a:stCxn id="99" idx="0"/>
            <a:endCxn id="24589" idx="2"/>
          </p:cNvCxnSpPr>
          <p:nvPr/>
        </p:nvCxnSpPr>
        <p:spPr bwMode="auto">
          <a:xfrm>
            <a:off x="3643313" y="2481263"/>
            <a:ext cx="549275" cy="4762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4607" name="直接连接符 101"/>
          <p:cNvCxnSpPr>
            <a:cxnSpLocks noChangeShapeType="1"/>
          </p:cNvCxnSpPr>
          <p:nvPr/>
        </p:nvCxnSpPr>
        <p:spPr bwMode="auto">
          <a:xfrm>
            <a:off x="2000250" y="2500313"/>
            <a:ext cx="549275" cy="4762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4608" name="TextBox 3"/>
          <p:cNvSpPr txBox="1">
            <a:spLocks noChangeArrowheads="1"/>
          </p:cNvSpPr>
          <p:nvPr/>
        </p:nvSpPr>
        <p:spPr bwMode="auto">
          <a:xfrm>
            <a:off x="2786063" y="2786063"/>
            <a:ext cx="565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/>
              <a:t>R</a:t>
            </a:r>
            <a:r>
              <a:rPr lang="en-US" altLang="zh-CN" sz="2800" baseline="-25000"/>
              <a:t>5</a:t>
            </a:r>
            <a:endParaRPr lang="zh-CN" altLang="en-US" sz="2800" baseline="-25000"/>
          </a:p>
        </p:txBody>
      </p:sp>
    </p:spTree>
    <p:extLst>
      <p:ext uri="{BB962C8B-B14F-4D97-AF65-F5344CB8AC3E}">
        <p14:creationId xmlns:p14="http://schemas.microsoft.com/office/powerpoint/2010/main" val="3467087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DE63-7C20-417D-B26D-6FFAEA97A481}" type="slidenum">
              <a:rPr lang="en-US" altLang="zh-CN"/>
              <a:pPr/>
              <a:t>42</a:t>
            </a:fld>
            <a:endParaRPr lang="en-US" altLang="zh-CN"/>
          </a:p>
        </p:txBody>
      </p:sp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381000" y="381000"/>
            <a:ext cx="72151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五、</a:t>
            </a:r>
            <a:r>
              <a:rPr lang="zh-CN" altLang="en-US" sz="32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产生稳恒电场的电荷分布在何处？</a:t>
            </a:r>
          </a:p>
        </p:txBody>
      </p:sp>
      <p:sp>
        <p:nvSpPr>
          <p:cNvPr id="45059" name="Text Box 3"/>
          <p:cNvSpPr txBox="1">
            <a:spLocks noChangeArrowheads="1"/>
          </p:cNvSpPr>
          <p:nvPr/>
        </p:nvSpPr>
        <p:spPr bwMode="auto">
          <a:xfrm>
            <a:off x="395288" y="1481138"/>
            <a:ext cx="8534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chemeClr val="accent2"/>
                </a:solidFill>
                <a:ea typeface="楷体_GB2312" pitchFamily="49" charset="-122"/>
              </a:rPr>
              <a:t>1.</a:t>
            </a:r>
            <a:r>
              <a:rPr lang="en-US" altLang="zh-CN" sz="32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电场决不仅仅是由电源两端的电荷产生。</a:t>
            </a:r>
          </a:p>
        </p:txBody>
      </p:sp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3851275" y="2830513"/>
            <a:ext cx="4572000" cy="175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0"/>
              </a:spcBef>
            </a:pPr>
            <a:r>
              <a:rPr lang="zh-CN" altLang="en-US" sz="2800" b="1" dirty="0"/>
              <a:t>如图，如果仅仅是由电源 两端的电荷产生，  </a:t>
            </a:r>
            <a:r>
              <a:rPr lang="zh-CN" altLang="zh-CN" sz="2800" b="1" dirty="0"/>
              <a:t>与</a:t>
            </a:r>
            <a:r>
              <a:rPr lang="zh-CN" altLang="en-US" sz="2800" b="1" dirty="0"/>
              <a:t>    </a:t>
            </a:r>
            <a:r>
              <a:rPr lang="zh-CN" altLang="zh-CN" sz="2800" b="1" dirty="0"/>
              <a:t>的方向决不可能截然相反！</a:t>
            </a:r>
            <a:endParaRPr lang="zh-CN" altLang="en-US" sz="2800" b="1" dirty="0"/>
          </a:p>
        </p:txBody>
      </p:sp>
      <p:pic>
        <p:nvPicPr>
          <p:cNvPr id="4506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38" y="2541588"/>
            <a:ext cx="2925762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5062" name="Object 6"/>
          <p:cNvGraphicFramePr>
            <a:graphicFrameLocks noChangeAspect="1"/>
          </p:cNvGraphicFramePr>
          <p:nvPr/>
        </p:nvGraphicFramePr>
        <p:xfrm>
          <a:off x="6227763" y="3500438"/>
          <a:ext cx="396875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32" name="公式" r:id="rId5" imgW="177480" imgH="228600" progId="Equation.3">
                  <p:embed/>
                </p:oleObj>
              </mc:Choice>
              <mc:Fallback>
                <p:oleObj name="公式" r:id="rId5" imgW="17748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3500438"/>
                        <a:ext cx="396875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3" name="Object 7"/>
          <p:cNvGraphicFramePr>
            <a:graphicFrameLocks noChangeAspect="1"/>
          </p:cNvGraphicFramePr>
          <p:nvPr/>
        </p:nvGraphicFramePr>
        <p:xfrm>
          <a:off x="7164388" y="3500438"/>
          <a:ext cx="4254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33" name="公式" r:id="rId7" imgW="190440" imgH="228600" progId="Equation.3">
                  <p:embed/>
                </p:oleObj>
              </mc:Choice>
              <mc:Fallback>
                <p:oleObj name="公式" r:id="rId7" imgW="19044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3500438"/>
                        <a:ext cx="4254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4" name="Object 8"/>
          <p:cNvGraphicFramePr>
            <a:graphicFrameLocks noChangeAspect="1"/>
          </p:cNvGraphicFramePr>
          <p:nvPr/>
        </p:nvGraphicFramePr>
        <p:xfrm>
          <a:off x="5364163" y="4797425"/>
          <a:ext cx="139382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34" name="公式" r:id="rId9" imgW="545760" imgH="241200" progId="Equation.3">
                  <p:embed/>
                </p:oleObj>
              </mc:Choice>
              <mc:Fallback>
                <p:oleObj name="公式" r:id="rId9" imgW="545760" imgH="241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4797425"/>
                        <a:ext cx="1393825" cy="61595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 autoUpdateAnimBg="0"/>
      <p:bldP spid="45059" grpId="0" autoUpdateAnimBg="0"/>
      <p:bldP spid="4506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52E94-135B-4824-B735-3F85FFA8D851}" type="slidenum">
              <a:rPr lang="en-US" altLang="zh-CN"/>
              <a:pPr/>
              <a:t>43</a:t>
            </a:fld>
            <a:endParaRPr lang="en-US" altLang="zh-CN"/>
          </a:p>
        </p:txBody>
      </p:sp>
      <p:sp>
        <p:nvSpPr>
          <p:cNvPr id="46082" name="Text Box 2"/>
          <p:cNvSpPr txBox="1">
            <a:spLocks noChangeArrowheads="1"/>
          </p:cNvSpPr>
          <p:nvPr/>
        </p:nvSpPr>
        <p:spPr bwMode="auto">
          <a:xfrm>
            <a:off x="457200" y="533400"/>
            <a:ext cx="43307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chemeClr val="accent2"/>
                </a:solidFill>
              </a:rPr>
              <a:t>2. </a:t>
            </a:r>
            <a:r>
              <a:rPr lang="zh-CN" altLang="en-US" sz="3200" b="1">
                <a:solidFill>
                  <a:schemeClr val="accent2"/>
                </a:solidFill>
                <a:ea typeface="楷体_GB2312" pitchFamily="49" charset="-122"/>
              </a:rPr>
              <a:t>均匀导体内无净电荷</a:t>
            </a:r>
            <a:r>
              <a:rPr lang="zh-CN" altLang="en-US" sz="3200" b="1">
                <a:solidFill>
                  <a:schemeClr val="accent2"/>
                </a:solidFill>
              </a:rPr>
              <a:t>  </a:t>
            </a:r>
          </a:p>
        </p:txBody>
      </p:sp>
      <p:grpSp>
        <p:nvGrpSpPr>
          <p:cNvPr id="46083" name="Group 3"/>
          <p:cNvGrpSpPr>
            <a:grpSpLocks/>
          </p:cNvGrpSpPr>
          <p:nvPr/>
        </p:nvGrpSpPr>
        <p:grpSpPr bwMode="auto">
          <a:xfrm>
            <a:off x="1066800" y="1600200"/>
            <a:ext cx="2017713" cy="1819275"/>
            <a:chOff x="672" y="1008"/>
            <a:chExt cx="1271" cy="1146"/>
          </a:xfrm>
        </p:grpSpPr>
        <p:graphicFrame>
          <p:nvGraphicFramePr>
            <p:cNvPr id="46084" name="Object 4"/>
            <p:cNvGraphicFramePr>
              <a:graphicFrameLocks noChangeAspect="1"/>
            </p:cNvGraphicFramePr>
            <p:nvPr/>
          </p:nvGraphicFramePr>
          <p:xfrm>
            <a:off x="672" y="1008"/>
            <a:ext cx="1271" cy="5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424" name="公式" r:id="rId4" imgW="711000" imgH="330120" progId="Equation.3">
                    <p:embed/>
                  </p:oleObj>
                </mc:Choice>
                <mc:Fallback>
                  <p:oleObj name="公式" r:id="rId4" imgW="711000" imgH="33012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1008"/>
                          <a:ext cx="1271" cy="5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85" name="Object 5"/>
            <p:cNvGraphicFramePr>
              <a:graphicFrameLocks noChangeAspect="1"/>
            </p:cNvGraphicFramePr>
            <p:nvPr/>
          </p:nvGraphicFramePr>
          <p:xfrm>
            <a:off x="816" y="1728"/>
            <a:ext cx="992" cy="4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425" name="公式" r:id="rId6" imgW="558720" imgH="241200" progId="Equation.3">
                    <p:embed/>
                  </p:oleObj>
                </mc:Choice>
                <mc:Fallback>
                  <p:oleObj name="公式" r:id="rId6" imgW="558720" imgH="2412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1728"/>
                          <a:ext cx="992" cy="4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6086" name="Group 6"/>
          <p:cNvGrpSpPr>
            <a:grpSpLocks/>
          </p:cNvGrpSpPr>
          <p:nvPr/>
        </p:nvGrpSpPr>
        <p:grpSpPr bwMode="auto">
          <a:xfrm>
            <a:off x="3429000" y="1981200"/>
            <a:ext cx="5246688" cy="1295400"/>
            <a:chOff x="2160" y="1248"/>
            <a:chExt cx="3201" cy="816"/>
          </a:xfrm>
        </p:grpSpPr>
        <p:sp>
          <p:nvSpPr>
            <p:cNvPr id="46087" name="AutoShape 7"/>
            <p:cNvSpPr>
              <a:spLocks/>
            </p:cNvSpPr>
            <p:nvPr/>
          </p:nvSpPr>
          <p:spPr bwMode="auto">
            <a:xfrm>
              <a:off x="2160" y="1248"/>
              <a:ext cx="240" cy="816"/>
            </a:xfrm>
            <a:prstGeom prst="rightBrace">
              <a:avLst>
                <a:gd name="adj1" fmla="val 28333"/>
                <a:gd name="adj2" fmla="val 50000"/>
              </a:avLst>
            </a:prstGeom>
            <a:noFill/>
            <a:ln w="9525">
              <a:solidFill>
                <a:srgbClr val="9933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88" name="AutoShape 8"/>
            <p:cNvSpPr>
              <a:spLocks noChangeArrowheads="1"/>
            </p:cNvSpPr>
            <p:nvPr/>
          </p:nvSpPr>
          <p:spPr bwMode="auto">
            <a:xfrm>
              <a:off x="2496" y="1536"/>
              <a:ext cx="720" cy="240"/>
            </a:xfrm>
            <a:prstGeom prst="rightArrow">
              <a:avLst>
                <a:gd name="adj1" fmla="val 50000"/>
                <a:gd name="adj2" fmla="val 7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89" name="Rectangle 9"/>
            <p:cNvSpPr>
              <a:spLocks noChangeArrowheads="1"/>
            </p:cNvSpPr>
            <p:nvPr/>
          </p:nvSpPr>
          <p:spPr bwMode="auto">
            <a:xfrm>
              <a:off x="3216" y="1488"/>
              <a:ext cx="214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800" b="1">
                  <a:solidFill>
                    <a:srgbClr val="FF33CC"/>
                  </a:solidFill>
                </a:rPr>
                <a:t>均匀导体内无净电荷</a:t>
              </a:r>
            </a:p>
          </p:txBody>
        </p:sp>
      </p:grpSp>
      <p:graphicFrame>
        <p:nvGraphicFramePr>
          <p:cNvPr id="46090" name="Object 10"/>
          <p:cNvGraphicFramePr>
            <a:graphicFrameLocks noChangeAspect="1"/>
          </p:cNvGraphicFramePr>
          <p:nvPr/>
        </p:nvGraphicFramePr>
        <p:xfrm>
          <a:off x="2484438" y="3860800"/>
          <a:ext cx="5526087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26" name="公式" r:id="rId8" imgW="2044440" imgH="380880" progId="Equation.3">
                  <p:embed/>
                </p:oleObj>
              </mc:Choice>
              <mc:Fallback>
                <p:oleObj name="公式" r:id="rId8" imgW="2044440" imgH="3808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3860800"/>
                        <a:ext cx="5526087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505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091" name="Group 11"/>
          <p:cNvGrpSpPr>
            <a:grpSpLocks/>
          </p:cNvGrpSpPr>
          <p:nvPr/>
        </p:nvGrpSpPr>
        <p:grpSpPr bwMode="auto">
          <a:xfrm>
            <a:off x="900113" y="4076700"/>
            <a:ext cx="1219200" cy="457200"/>
            <a:chOff x="384" y="2976"/>
            <a:chExt cx="768" cy="288"/>
          </a:xfrm>
        </p:grpSpPr>
        <p:sp>
          <p:nvSpPr>
            <p:cNvPr id="46092" name="Line 12"/>
            <p:cNvSpPr>
              <a:spLocks noChangeShapeType="1"/>
            </p:cNvSpPr>
            <p:nvPr/>
          </p:nvSpPr>
          <p:spPr bwMode="auto">
            <a:xfrm>
              <a:off x="384" y="2976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93" name="Line 13"/>
            <p:cNvSpPr>
              <a:spLocks noChangeShapeType="1"/>
            </p:cNvSpPr>
            <p:nvPr/>
          </p:nvSpPr>
          <p:spPr bwMode="auto">
            <a:xfrm>
              <a:off x="384" y="3264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94" name="Oval 14"/>
            <p:cNvSpPr>
              <a:spLocks noChangeArrowheads="1"/>
            </p:cNvSpPr>
            <p:nvPr/>
          </p:nvSpPr>
          <p:spPr bwMode="auto">
            <a:xfrm>
              <a:off x="576" y="3024"/>
              <a:ext cx="240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95" name="Text Box 15"/>
            <p:cNvSpPr txBox="1">
              <a:spLocks noChangeArrowheads="1"/>
            </p:cNvSpPr>
            <p:nvPr/>
          </p:nvSpPr>
          <p:spPr bwMode="auto">
            <a:xfrm>
              <a:off x="384" y="2976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/>
                <a:t>S</a:t>
              </a:r>
            </a:p>
          </p:txBody>
        </p:sp>
      </p:grpSp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689223" y="5085184"/>
            <a:ext cx="5562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</a:pPr>
            <a:r>
              <a:rPr lang="en-US" altLang="zh-CN" sz="2800" b="1">
                <a:solidFill>
                  <a:srgbClr val="00B0F0"/>
                </a:solidFill>
                <a:latin typeface="Times New Roman" pitchFamily="18" charset="0"/>
                <a:ea typeface="华文中宋" pitchFamily="2" charset="-122"/>
              </a:rPr>
              <a:t>“</a:t>
            </a:r>
            <a:r>
              <a:rPr lang="zh-CN" altLang="en-US" sz="2800" b="1">
                <a:solidFill>
                  <a:srgbClr val="00B0F0"/>
                </a:solidFill>
                <a:latin typeface="华文中宋" pitchFamily="2" charset="-122"/>
                <a:ea typeface="华文中宋" pitchFamily="2" charset="-122"/>
              </a:rPr>
              <a:t>有体电流但无体电荷密度</a:t>
            </a:r>
            <a:r>
              <a:rPr lang="zh-CN" altLang="en-US" sz="2800" b="1">
                <a:solidFill>
                  <a:srgbClr val="00B0F0"/>
                </a:solidFill>
                <a:latin typeface="Times New Roman" pitchFamily="18" charset="0"/>
                <a:ea typeface="华文中宋" pitchFamily="2" charset="-122"/>
              </a:rPr>
              <a:t>”</a:t>
            </a:r>
            <a:r>
              <a:rPr lang="zh-CN" altLang="en-US" sz="2800" b="1">
                <a:solidFill>
                  <a:srgbClr val="00B0F0"/>
                </a:solidFill>
                <a:latin typeface="华文中宋" pitchFamily="2" charset="-122"/>
                <a:ea typeface="华文中宋" pitchFamily="2" charset="-122"/>
              </a:rPr>
              <a:t>，如何理解？</a:t>
            </a:r>
            <a:endParaRPr lang="zh-CN" altLang="en-US" sz="2800" b="1">
              <a:solidFill>
                <a:srgbClr val="00B0F0"/>
              </a:solidFill>
              <a:ea typeface="华文中宋" pitchFamily="2" charset="-122"/>
              <a:sym typeface="Symbol" pitchFamily="18" charset="2"/>
            </a:endParaRPr>
          </a:p>
        </p:txBody>
      </p:sp>
      <p:graphicFrame>
        <p:nvGraphicFramePr>
          <p:cNvPr id="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4755547"/>
              </p:ext>
            </p:extLst>
          </p:nvPr>
        </p:nvGraphicFramePr>
        <p:xfrm>
          <a:off x="6404223" y="4627984"/>
          <a:ext cx="1787525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27" name="位图图像" r:id="rId10" imgW="1181265" imgH="1409897" progId="Paint.Picture">
                  <p:embed/>
                </p:oleObj>
              </mc:Choice>
              <mc:Fallback>
                <p:oleObj name="位图图像" r:id="rId10" imgW="1181265" imgH="1409897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4223" y="4627984"/>
                        <a:ext cx="1787525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2979771"/>
              </p:ext>
            </p:extLst>
          </p:nvPr>
        </p:nvGraphicFramePr>
        <p:xfrm>
          <a:off x="689223" y="6165304"/>
          <a:ext cx="483711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28" name="Equation" r:id="rId12" imgW="2197100" imgH="228600" progId="Equation.3">
                  <p:embed/>
                </p:oleObj>
              </mc:Choice>
              <mc:Fallback>
                <p:oleObj name="Equation" r:id="rId12" imgW="21971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223" y="6165304"/>
                        <a:ext cx="4837113" cy="5032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0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60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2" grpId="0" autoUpdateAnimBg="0"/>
      <p:bldP spid="17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F2C93-17CD-4384-9369-F983C310D7F8}" type="slidenum">
              <a:rPr lang="en-US" altLang="zh-CN"/>
              <a:pPr/>
              <a:t>44</a:t>
            </a:fld>
            <a:endParaRPr lang="en-US" altLang="zh-CN"/>
          </a:p>
        </p:txBody>
      </p:sp>
      <p:sp>
        <p:nvSpPr>
          <p:cNvPr id="47106" name="Text Box 2"/>
          <p:cNvSpPr txBox="1">
            <a:spLocks noChangeArrowheads="1"/>
          </p:cNvSpPr>
          <p:nvPr/>
        </p:nvSpPr>
        <p:spPr bwMode="auto">
          <a:xfrm>
            <a:off x="533400" y="381000"/>
            <a:ext cx="8229600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chemeClr val="accent2"/>
                </a:solidFill>
              </a:rPr>
              <a:t>3. </a:t>
            </a:r>
            <a:r>
              <a:rPr lang="zh-CN" altLang="en-US" sz="28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电荷分布在导体表面、电导率不均匀的界面</a:t>
            </a:r>
            <a:r>
              <a:rPr lang="en-US" altLang="zh-CN" sz="28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体电</a:t>
            </a:r>
          </a:p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    荷积累</a:t>
            </a:r>
            <a:r>
              <a:rPr lang="en-US" altLang="zh-CN" sz="28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) </a:t>
            </a:r>
          </a:p>
        </p:txBody>
      </p:sp>
      <p:pic>
        <p:nvPicPr>
          <p:cNvPr id="47107" name="Picture 3" descr="zhu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8"/>
          <a:stretch>
            <a:fillRect/>
          </a:stretch>
        </p:blipFill>
        <p:spPr bwMode="auto">
          <a:xfrm>
            <a:off x="1258888" y="1700213"/>
            <a:ext cx="6297612" cy="437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7108" name="Object 4"/>
          <p:cNvGraphicFramePr>
            <a:graphicFrameLocks noChangeAspect="1"/>
          </p:cNvGraphicFramePr>
          <p:nvPr/>
        </p:nvGraphicFramePr>
        <p:xfrm>
          <a:off x="6156325" y="5084763"/>
          <a:ext cx="2303463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8" name="公式" r:id="rId4" imgW="939600" imgH="431640" progId="Equation.3">
                  <p:embed/>
                </p:oleObj>
              </mc:Choice>
              <mc:Fallback>
                <p:oleObj name="公式" r:id="rId4" imgW="93960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5084763"/>
                        <a:ext cx="2303463" cy="1060450"/>
                      </a:xfrm>
                      <a:prstGeom prst="rect">
                        <a:avLst/>
                      </a:prstGeom>
                      <a:solidFill>
                        <a:schemeClr val="hlink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17EAB-2809-453F-A15F-6529D84B1C7B}" type="slidenum">
              <a:rPr lang="en-US" altLang="zh-CN"/>
              <a:pPr/>
              <a:t>45</a:t>
            </a:fld>
            <a:endParaRPr lang="en-US" altLang="zh-CN"/>
          </a:p>
        </p:txBody>
      </p:sp>
      <p:pic>
        <p:nvPicPr>
          <p:cNvPr id="48130" name="Picture 2" descr="zhu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066800"/>
            <a:ext cx="8964613" cy="2878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8131" name="Object 3"/>
          <p:cNvGraphicFramePr>
            <a:graphicFrameLocks noChangeAspect="1"/>
          </p:cNvGraphicFramePr>
          <p:nvPr/>
        </p:nvGraphicFramePr>
        <p:xfrm>
          <a:off x="5364163" y="4437063"/>
          <a:ext cx="2303462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21" name="公式" r:id="rId4" imgW="939600" imgH="431640" progId="Equation.3">
                  <p:embed/>
                </p:oleObj>
              </mc:Choice>
              <mc:Fallback>
                <p:oleObj name="公式" r:id="rId4" imgW="939600" imgH="431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4437063"/>
                        <a:ext cx="2303462" cy="1060450"/>
                      </a:xfrm>
                      <a:prstGeom prst="rect">
                        <a:avLst/>
                      </a:prstGeom>
                      <a:solidFill>
                        <a:schemeClr val="hlink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188913"/>
            <a:ext cx="8604250" cy="579437"/>
          </a:xfrm>
        </p:spPr>
        <p:txBody>
          <a:bodyPr/>
          <a:lstStyle/>
          <a:p>
            <a:pPr eaLnBrk="1" hangingPunct="1"/>
            <a:r>
              <a:rPr lang="zh-CN" altLang="en-US" sz="3200" b="1" smtClean="0">
                <a:ea typeface="华文中宋" pitchFamily="2" charset="-122"/>
              </a:rPr>
              <a:t>接通电源达到稳定前瞬间电荷分布过程的分析</a:t>
            </a:r>
          </a:p>
        </p:txBody>
      </p:sp>
      <p:pic>
        <p:nvPicPr>
          <p:cNvPr id="22533" name="Picture 4" descr="Pict008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1557338"/>
            <a:ext cx="6840538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3" name="AutoShape 5"/>
          <p:cNvSpPr>
            <a:spLocks/>
          </p:cNvSpPr>
          <p:nvPr/>
        </p:nvSpPr>
        <p:spPr bwMode="auto">
          <a:xfrm>
            <a:off x="684213" y="3213100"/>
            <a:ext cx="1295400" cy="2376488"/>
          </a:xfrm>
          <a:prstGeom prst="borderCallout2">
            <a:avLst>
              <a:gd name="adj1" fmla="val 4810"/>
              <a:gd name="adj2" fmla="val 105884"/>
              <a:gd name="adj3" fmla="val 4810"/>
              <a:gd name="adj4" fmla="val 130514"/>
              <a:gd name="adj5" fmla="val 40148"/>
              <a:gd name="adj6" fmla="val 15613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b="1"/>
              <a:t>两极附近等势面密集，电力线密场强大</a:t>
            </a:r>
          </a:p>
          <a:p>
            <a:pPr algn="ctr"/>
            <a:endParaRPr lang="en-US" altLang="zh-CN" sz="2800" b="1"/>
          </a:p>
        </p:txBody>
      </p:sp>
      <p:sp>
        <p:nvSpPr>
          <p:cNvPr id="22535" name="AutoShape 6"/>
          <p:cNvSpPr>
            <a:spLocks/>
          </p:cNvSpPr>
          <p:nvPr/>
        </p:nvSpPr>
        <p:spPr bwMode="auto">
          <a:xfrm>
            <a:off x="179388" y="1844675"/>
            <a:ext cx="1290637" cy="609600"/>
          </a:xfrm>
          <a:prstGeom prst="borderCallout2">
            <a:avLst>
              <a:gd name="adj1" fmla="val 18750"/>
              <a:gd name="adj2" fmla="val 105903"/>
              <a:gd name="adj3" fmla="val 18750"/>
              <a:gd name="adj4" fmla="val 155352"/>
              <a:gd name="adj5" fmla="val 105468"/>
              <a:gd name="adj6" fmla="val 20651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2800" b="1"/>
              <a:t>电力线</a:t>
            </a:r>
          </a:p>
        </p:txBody>
      </p:sp>
      <p:sp>
        <p:nvSpPr>
          <p:cNvPr id="63495" name="AutoShape 7"/>
          <p:cNvSpPr>
            <a:spLocks/>
          </p:cNvSpPr>
          <p:nvPr/>
        </p:nvSpPr>
        <p:spPr bwMode="auto">
          <a:xfrm>
            <a:off x="2411413" y="5516563"/>
            <a:ext cx="2805112" cy="936625"/>
          </a:xfrm>
          <a:prstGeom prst="borderCallout2">
            <a:avLst>
              <a:gd name="adj1" fmla="val 12204"/>
              <a:gd name="adj2" fmla="val 102718"/>
              <a:gd name="adj3" fmla="val 12204"/>
              <a:gd name="adj4" fmla="val 109000"/>
              <a:gd name="adj5" fmla="val -222880"/>
              <a:gd name="adj6" fmla="val 11550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b="1"/>
              <a:t>场强逐渐减小，有过剩正电荷出现</a:t>
            </a:r>
          </a:p>
        </p:txBody>
      </p:sp>
      <p:sp>
        <p:nvSpPr>
          <p:cNvPr id="63498" name="AutoShape 10"/>
          <p:cNvSpPr>
            <a:spLocks/>
          </p:cNvSpPr>
          <p:nvPr/>
        </p:nvSpPr>
        <p:spPr bwMode="auto">
          <a:xfrm>
            <a:off x="2195513" y="908050"/>
            <a:ext cx="3092450" cy="928688"/>
          </a:xfrm>
          <a:prstGeom prst="borderCallout2">
            <a:avLst>
              <a:gd name="adj1" fmla="val 12306"/>
              <a:gd name="adj2" fmla="val 102463"/>
              <a:gd name="adj3" fmla="val 12306"/>
              <a:gd name="adj4" fmla="val 110472"/>
              <a:gd name="adj5" fmla="val 193847"/>
              <a:gd name="adj6" fmla="val 11873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b="1">
                <a:ea typeface="华文中宋" pitchFamily="2" charset="-122"/>
              </a:rPr>
              <a:t>最后使电流强度沿导线分布趋于均匀</a:t>
            </a: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5508104" y="5498629"/>
            <a:ext cx="331236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81000" indent="-3810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indent="0" algn="just">
              <a:spcBef>
                <a:spcPct val="50000"/>
              </a:spcBef>
            </a:pPr>
            <a:r>
              <a:rPr lang="zh-CN" altLang="en-US" b="1" smtClean="0">
                <a:solidFill>
                  <a:schemeClr val="accent2"/>
                </a:solidFill>
                <a:ea typeface="楷体_GB2312" pitchFamily="49" charset="-122"/>
              </a:rPr>
              <a:t>产生</a:t>
            </a:r>
            <a:r>
              <a:rPr lang="zh-CN" altLang="en-US" b="1">
                <a:solidFill>
                  <a:schemeClr val="accent2"/>
                </a:solidFill>
                <a:ea typeface="楷体_GB2312" pitchFamily="49" charset="-122"/>
              </a:rPr>
              <a:t>稳恒电场的电荷不仅在导体内产生电场，在导体外也激发电场。</a:t>
            </a:r>
          </a:p>
        </p:txBody>
      </p:sp>
    </p:spTree>
    <p:extLst>
      <p:ext uri="{BB962C8B-B14F-4D97-AF65-F5344CB8AC3E}">
        <p14:creationId xmlns:p14="http://schemas.microsoft.com/office/powerpoint/2010/main" val="2652634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3" grpId="0" animBg="1"/>
      <p:bldP spid="63495" grpId="0" animBg="1"/>
      <p:bldP spid="63498" grpId="0" animBg="1"/>
      <p:bldP spid="8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53" name="Text Box 9"/>
          <p:cNvSpPr txBox="1">
            <a:spLocks noChangeArrowheads="1"/>
          </p:cNvSpPr>
          <p:nvPr/>
        </p:nvSpPr>
        <p:spPr bwMode="auto">
          <a:xfrm>
            <a:off x="250825" y="167730"/>
            <a:ext cx="836771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defRPr/>
            </a:pPr>
            <a:r>
              <a:rPr lang="zh-CN" altLang="en-US" sz="3200" b="1" smtClean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结论</a:t>
            </a:r>
            <a:endParaRPr lang="en-US" altLang="zh-CN" sz="2800" b="1" smtClean="0">
              <a:solidFill>
                <a:srgbClr val="0000FF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10816" y="3084635"/>
            <a:ext cx="79342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-457200">
              <a:spcBef>
                <a:spcPct val="50000"/>
              </a:spcBef>
              <a:buClr>
                <a:schemeClr val="folHlink"/>
              </a:buClr>
              <a:buSzPct val="70000"/>
              <a:buFont typeface="Wingdings" pitchFamily="2" charset="2"/>
              <a:buChar char="Ø"/>
              <a:defRPr/>
            </a:pPr>
            <a:r>
              <a:rPr lang="zh-CN" altLang="en-US" sz="2800" b="1">
                <a:latin typeface="宋体" pitchFamily="2" charset="-122"/>
              </a:rPr>
              <a:t>电流分布由电场决定，稳恒电场由电源和分布于导线表面及内部不均匀处的电荷产生 </a:t>
            </a:r>
          </a:p>
        </p:txBody>
      </p:sp>
      <p:sp>
        <p:nvSpPr>
          <p:cNvPr id="4" name="矩形 3"/>
          <p:cNvSpPr/>
          <p:nvPr/>
        </p:nvSpPr>
        <p:spPr>
          <a:xfrm>
            <a:off x="683568" y="836712"/>
            <a:ext cx="807943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-457200">
              <a:spcBef>
                <a:spcPct val="50000"/>
              </a:spcBef>
              <a:buClr>
                <a:schemeClr val="folHlink"/>
              </a:buClr>
              <a:buSzPct val="70000"/>
              <a:buFont typeface="Wingdings" pitchFamily="2" charset="2"/>
              <a:buChar char="Ø"/>
              <a:defRPr/>
            </a:pPr>
            <a:r>
              <a:rPr lang="zh-CN" altLang="en-US" sz="2800" b="1">
                <a:latin typeface="宋体" pitchFamily="2" charset="-122"/>
              </a:rPr>
              <a:t>均匀导线联接电路瞬间，电路中的电流从</a:t>
            </a:r>
            <a:r>
              <a:rPr lang="zh-CN" altLang="en-US" sz="2800" b="1">
                <a:latin typeface="华文中宋" pitchFamily="2" charset="-122"/>
              </a:rPr>
              <a:t> </a:t>
            </a:r>
            <a:r>
              <a:rPr lang="en-US" altLang="zh-CN" sz="2800" b="1">
                <a:latin typeface="华文中宋" pitchFamily="2" charset="-122"/>
              </a:rPr>
              <a:t>0</a:t>
            </a:r>
            <a:r>
              <a:rPr lang="en-US" altLang="zh-CN" sz="2800" b="1">
                <a:latin typeface="Times New Roman"/>
              </a:rPr>
              <a:t>——</a:t>
            </a:r>
            <a:r>
              <a:rPr lang="en-US" altLang="zh-CN" sz="2800" b="1">
                <a:latin typeface="华文中宋" pitchFamily="2" charset="-122"/>
              </a:rPr>
              <a:t> I</a:t>
            </a:r>
            <a:r>
              <a:rPr lang="zh-CN" altLang="en-US" sz="2800" b="1">
                <a:latin typeface="宋体" pitchFamily="2" charset="-122"/>
              </a:rPr>
              <a:t>的过程是一个从非恒定向恒定过渡的过程</a:t>
            </a:r>
            <a:r>
              <a:rPr lang="zh-CN" altLang="en-US" sz="2800" b="1">
                <a:latin typeface="华文中宋" pitchFamily="2" charset="-122"/>
                <a:ea typeface="华文中宋" pitchFamily="2" charset="-122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654832" y="1916832"/>
            <a:ext cx="81369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-457200">
              <a:spcBef>
                <a:spcPct val="50000"/>
              </a:spcBef>
              <a:buClr>
                <a:schemeClr val="folHlink"/>
              </a:buClr>
              <a:buSzPct val="70000"/>
              <a:buFont typeface="Wingdings" pitchFamily="2" charset="2"/>
              <a:buChar char="Ø"/>
              <a:defRPr/>
            </a:pPr>
            <a:r>
              <a:rPr lang="zh-CN" altLang="en-US" sz="2800" b="1">
                <a:latin typeface="宋体" pitchFamily="2" charset="-122"/>
              </a:rPr>
              <a:t>达到恒定时，电荷分布在导体表面、电导率不均匀的界面</a:t>
            </a:r>
          </a:p>
        </p:txBody>
      </p:sp>
      <p:sp>
        <p:nvSpPr>
          <p:cNvPr id="17" name="Text Box 2"/>
          <p:cNvSpPr txBox="1">
            <a:spLocks noChangeArrowheads="1"/>
          </p:cNvSpPr>
          <p:nvPr/>
        </p:nvSpPr>
        <p:spPr bwMode="auto">
          <a:xfrm>
            <a:off x="683568" y="4437112"/>
            <a:ext cx="8108168" cy="95410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buClr>
                <a:schemeClr val="folHlink"/>
              </a:buClr>
              <a:buSzPct val="75000"/>
              <a:defRPr sz="2800" b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defRPr>
            </a:lvl1pPr>
          </a:lstStyle>
          <a:p>
            <a:pPr lvl="1" indent="-457200">
              <a:spcBef>
                <a:spcPct val="50000"/>
              </a:spcBef>
              <a:buClr>
                <a:schemeClr val="folHlink"/>
              </a:buClr>
              <a:buSzPct val="70000"/>
              <a:buFont typeface="Wingdings" pitchFamily="2" charset="2"/>
              <a:buChar char="Ø"/>
              <a:defRPr/>
            </a:pPr>
            <a:r>
              <a:rPr lang="zh-CN" altLang="en-US" sz="2800" b="1">
                <a:latin typeface="宋体" pitchFamily="2" charset="-122"/>
              </a:rPr>
              <a:t>产生稳恒电场的电荷不仅在导体内产生电场，在导体外也激发电场。</a:t>
            </a: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 bwMode="auto">
          <a:xfrm>
            <a:off x="683568" y="5559623"/>
            <a:ext cx="8079432" cy="95410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buClr>
                <a:schemeClr val="folHlink"/>
              </a:buClr>
              <a:buSzPct val="75000"/>
              <a:defRPr sz="2800" b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defRPr>
            </a:lvl1pPr>
          </a:lstStyle>
          <a:p>
            <a:pPr lvl="1" indent="-457200">
              <a:spcBef>
                <a:spcPct val="50000"/>
              </a:spcBef>
              <a:buClr>
                <a:schemeClr val="folHlink"/>
              </a:buClr>
              <a:buSzPct val="70000"/>
              <a:buFont typeface="Wingdings" pitchFamily="2" charset="2"/>
              <a:buChar char="Ø"/>
              <a:defRPr/>
            </a:pPr>
            <a:r>
              <a:rPr lang="zh-CN" altLang="en-US" sz="2800" b="1">
                <a:latin typeface="宋体" pitchFamily="2" charset="-122"/>
              </a:rPr>
              <a:t>恒定情况下导体内部电力线和电流线必须与导体表面平行</a:t>
            </a:r>
          </a:p>
        </p:txBody>
      </p:sp>
    </p:spTree>
    <p:extLst>
      <p:ext uri="{BB962C8B-B14F-4D97-AF65-F5344CB8AC3E}">
        <p14:creationId xmlns:p14="http://schemas.microsoft.com/office/powerpoint/2010/main" val="1378227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304800" y="1812850"/>
            <a:ext cx="8839200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dirty="0" smtClean="0">
                <a:latin typeface="宋体" pitchFamily="2" charset="-122"/>
                <a:sym typeface="Monotype Sorts" pitchFamily="2" charset="2"/>
              </a:rPr>
              <a:t>相同</a:t>
            </a:r>
            <a:r>
              <a:rPr lang="zh-CN" altLang="en-US" dirty="0">
                <a:latin typeface="宋体" pitchFamily="2" charset="-122"/>
                <a:sym typeface="Monotype Sorts" pitchFamily="2" charset="2"/>
              </a:rPr>
              <a:t>处：因为电荷分布不变，所以稳恒电场也</a:t>
            </a:r>
          </a:p>
          <a:p>
            <a:pPr algn="l">
              <a:lnSpc>
                <a:spcPct val="75000"/>
              </a:lnSpc>
              <a:spcBef>
                <a:spcPct val="50000"/>
              </a:spcBef>
            </a:pPr>
            <a:r>
              <a:rPr lang="zh-CN" altLang="en-US" dirty="0">
                <a:latin typeface="宋体" pitchFamily="2" charset="-122"/>
                <a:sym typeface="Monotype Sorts" pitchFamily="2" charset="2"/>
              </a:rPr>
              <a:t>   满足高斯定理</a:t>
            </a:r>
          </a:p>
          <a:p>
            <a:pPr algn="l">
              <a:lnSpc>
                <a:spcPct val="75000"/>
              </a:lnSpc>
              <a:spcBef>
                <a:spcPct val="50000"/>
              </a:spcBef>
            </a:pPr>
            <a:r>
              <a:rPr lang="zh-CN" altLang="en-US" dirty="0">
                <a:latin typeface="宋体" pitchFamily="2" charset="-122"/>
                <a:sym typeface="Monotype Sorts" pitchFamily="2" charset="2"/>
              </a:rPr>
              <a:t>   满足环路定理   同样可引入电势概念</a:t>
            </a: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395288" y="4462487"/>
            <a:ext cx="600392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/>
            <a:r>
              <a:rPr lang="zh-CN" altLang="en-US" dirty="0"/>
              <a:t>不同处： </a:t>
            </a:r>
            <a:r>
              <a:rPr lang="zh-CN" altLang="en-US" dirty="0">
                <a:latin typeface="宋体" pitchFamily="2" charset="-122"/>
                <a:sym typeface="Monotype Sorts" pitchFamily="2" charset="2"/>
              </a:rPr>
              <a:t></a:t>
            </a:r>
            <a:r>
              <a:rPr lang="zh-CN" altLang="en-US" dirty="0"/>
              <a:t> 导体内有电荷流动</a:t>
            </a:r>
          </a:p>
          <a:p>
            <a:pPr algn="l"/>
            <a:r>
              <a:rPr lang="zh-CN" altLang="en-US" dirty="0"/>
              <a:t>                 </a:t>
            </a:r>
            <a:r>
              <a:rPr lang="zh-CN" altLang="en-US" dirty="0">
                <a:latin typeface="宋体" pitchFamily="2" charset="-122"/>
                <a:sym typeface="Monotype Sorts" pitchFamily="2" charset="2"/>
              </a:rPr>
              <a:t></a:t>
            </a:r>
            <a:r>
              <a:rPr lang="zh-CN" altLang="en-US" dirty="0"/>
              <a:t>导体内场强不为零；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2268538" y="5657874"/>
            <a:ext cx="56880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defTabSz="762000" eaLnBrk="0" hangingPunct="0"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/>
            <a:r>
              <a:rPr lang="zh-CN" altLang="en-US"/>
              <a:t>维持稳</a:t>
            </a:r>
            <a:r>
              <a:rPr lang="zh-CN" altLang="en-US">
                <a:latin typeface="宋体" pitchFamily="2" charset="-122"/>
                <a:sym typeface="Monotype Sorts" pitchFamily="2" charset="2"/>
              </a:rPr>
              <a:t>恒</a:t>
            </a:r>
            <a:r>
              <a:rPr lang="zh-CN" altLang="en-US"/>
              <a:t>电场需要提供能量</a:t>
            </a:r>
          </a:p>
        </p:txBody>
      </p:sp>
      <p:sp>
        <p:nvSpPr>
          <p:cNvPr id="13" name="Line 12"/>
          <p:cNvSpPr>
            <a:spLocks noChangeShapeType="1"/>
          </p:cNvSpPr>
          <p:nvPr/>
        </p:nvSpPr>
        <p:spPr bwMode="auto">
          <a:xfrm>
            <a:off x="1658938" y="5961087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03370" y="260648"/>
            <a:ext cx="6932925" cy="630942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81000" indent="-381000">
              <a:lnSpc>
                <a:spcPct val="125000"/>
              </a:lnSpc>
              <a:spcBef>
                <a:spcPct val="50000"/>
              </a:spcBef>
            </a:pPr>
            <a:r>
              <a:rPr lang="en-US" altLang="zh-CN" sz="2800" b="1" dirty="0" smtClean="0"/>
              <a:t>*6</a:t>
            </a:r>
            <a:r>
              <a:rPr lang="zh-CN" altLang="en-US" sz="2800" b="1" dirty="0" smtClean="0"/>
              <a:t>、稳</a:t>
            </a:r>
            <a:r>
              <a:rPr lang="zh-CN" altLang="en-US" sz="2800" b="1" dirty="0">
                <a:sym typeface="Monotype Sorts" pitchFamily="2" charset="2"/>
              </a:rPr>
              <a:t>恒</a:t>
            </a:r>
            <a:r>
              <a:rPr lang="zh-CN" altLang="en-US" sz="2800" b="1" dirty="0"/>
              <a:t>电场的性质（与静电场对比）</a:t>
            </a:r>
          </a:p>
        </p:txBody>
      </p:sp>
    </p:spTree>
    <p:extLst>
      <p:ext uri="{BB962C8B-B14F-4D97-AF65-F5344CB8AC3E}">
        <p14:creationId xmlns:p14="http://schemas.microsoft.com/office/powerpoint/2010/main" val="2781253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5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utoUpdateAnimBg="0"/>
      <p:bldP spid="11" grpId="0" build="p" autoUpdateAnimBg="0"/>
      <p:bldP spid="12" grpId="0" autoUpdateAnimBg="0"/>
      <p:bldP spid="1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51CC4-3B22-4D5B-BE9F-5C156C2A90A7}" type="slidenum">
              <a:rPr lang="en-US" altLang="zh-CN"/>
              <a:pPr/>
              <a:t>49</a:t>
            </a:fld>
            <a:endParaRPr lang="en-US" altLang="zh-CN"/>
          </a:p>
        </p:txBody>
      </p:sp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1409700" y="133350"/>
            <a:ext cx="65151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0000FF"/>
                </a:solidFill>
                <a:latin typeface="宋体" pitchFamily="2" charset="-122"/>
              </a:rPr>
              <a:t>△</a:t>
            </a:r>
            <a:r>
              <a:rPr lang="en-US" altLang="zh-CN" sz="3600" b="1">
                <a:solidFill>
                  <a:srgbClr val="0000FF"/>
                </a:solidFill>
              </a:rPr>
              <a:t>§6 .</a:t>
            </a:r>
            <a:r>
              <a:rPr lang="zh-CN" altLang="en-US" sz="3600" b="1">
                <a:solidFill>
                  <a:srgbClr val="0000FF"/>
                </a:solidFill>
              </a:rPr>
              <a:t>电容器的充电与放电</a:t>
            </a:r>
          </a:p>
        </p:txBody>
      </p:sp>
      <p:grpSp>
        <p:nvGrpSpPr>
          <p:cNvPr id="17475" name="Group 67"/>
          <p:cNvGrpSpPr>
            <a:grpSpLocks/>
          </p:cNvGrpSpPr>
          <p:nvPr/>
        </p:nvGrpSpPr>
        <p:grpSpPr bwMode="auto">
          <a:xfrm>
            <a:off x="2857500" y="2850356"/>
            <a:ext cx="3352800" cy="1547813"/>
            <a:chOff x="324" y="1284"/>
            <a:chExt cx="2112" cy="975"/>
          </a:xfrm>
        </p:grpSpPr>
        <p:sp>
          <p:nvSpPr>
            <p:cNvPr id="17444" name="Line 36"/>
            <p:cNvSpPr>
              <a:spLocks noChangeShapeType="1"/>
            </p:cNvSpPr>
            <p:nvPr/>
          </p:nvSpPr>
          <p:spPr bwMode="auto">
            <a:xfrm>
              <a:off x="384" y="1968"/>
              <a:ext cx="19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8" name="Line 40"/>
            <p:cNvSpPr>
              <a:spLocks noChangeShapeType="1"/>
            </p:cNvSpPr>
            <p:nvPr/>
          </p:nvSpPr>
          <p:spPr bwMode="auto">
            <a:xfrm flipV="1">
              <a:off x="624" y="1440"/>
              <a:ext cx="0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1" name="Line 43"/>
            <p:cNvSpPr>
              <a:spLocks noChangeShapeType="1"/>
            </p:cNvSpPr>
            <p:nvPr/>
          </p:nvSpPr>
          <p:spPr bwMode="auto">
            <a:xfrm>
              <a:off x="624" y="1680"/>
              <a:ext cx="81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2" name="Line 44"/>
            <p:cNvSpPr>
              <a:spLocks noChangeShapeType="1"/>
            </p:cNvSpPr>
            <p:nvPr/>
          </p:nvSpPr>
          <p:spPr bwMode="auto">
            <a:xfrm>
              <a:off x="1440" y="1680"/>
              <a:ext cx="0" cy="28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3" name="Text Box 45"/>
            <p:cNvSpPr txBox="1">
              <a:spLocks noChangeArrowheads="1"/>
            </p:cNvSpPr>
            <p:nvPr/>
          </p:nvSpPr>
          <p:spPr bwMode="auto">
            <a:xfrm>
              <a:off x="444" y="19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0</a:t>
              </a:r>
            </a:p>
          </p:txBody>
        </p:sp>
        <p:sp>
          <p:nvSpPr>
            <p:cNvPr id="17454" name="Text Box 46"/>
            <p:cNvSpPr txBox="1">
              <a:spLocks noChangeArrowheads="1"/>
            </p:cNvSpPr>
            <p:nvPr/>
          </p:nvSpPr>
          <p:spPr bwMode="auto">
            <a:xfrm>
              <a:off x="2148" y="1932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t</a:t>
              </a:r>
            </a:p>
          </p:txBody>
        </p:sp>
        <p:sp>
          <p:nvSpPr>
            <p:cNvPr id="17465" name="Text Box 57"/>
            <p:cNvSpPr txBox="1">
              <a:spLocks noChangeArrowheads="1"/>
            </p:cNvSpPr>
            <p:nvPr/>
          </p:nvSpPr>
          <p:spPr bwMode="auto">
            <a:xfrm>
              <a:off x="636" y="1284"/>
              <a:ext cx="48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 i="1">
                  <a:solidFill>
                    <a:srgbClr val="0000FF"/>
                  </a:solidFill>
                </a:rPr>
                <a:t>u</a:t>
              </a:r>
              <a:r>
                <a:rPr lang="zh-CN" altLang="en-US" b="1" baseline="-25000">
                  <a:solidFill>
                    <a:srgbClr val="0000FF"/>
                  </a:solidFill>
                </a:rPr>
                <a:t>入</a:t>
              </a:r>
              <a:endParaRPr lang="zh-CN" altLang="en-US" sz="3200" b="1">
                <a:solidFill>
                  <a:srgbClr val="0000FF"/>
                </a:solidFill>
              </a:endParaRPr>
            </a:p>
          </p:txBody>
        </p:sp>
        <p:sp>
          <p:nvSpPr>
            <p:cNvPr id="17471" name="Text Box 63"/>
            <p:cNvSpPr txBox="1">
              <a:spLocks noChangeArrowheads="1"/>
            </p:cNvSpPr>
            <p:nvPr/>
          </p:nvSpPr>
          <p:spPr bwMode="auto">
            <a:xfrm>
              <a:off x="324" y="152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0000FF"/>
                  </a:solidFill>
                </a:rPr>
                <a:t>U</a:t>
              </a:r>
              <a:r>
                <a:rPr lang="en-US" altLang="zh-CN" b="1" baseline="-25000">
                  <a:solidFill>
                    <a:srgbClr val="0000FF"/>
                  </a:solidFill>
                </a:rPr>
                <a:t>0</a:t>
              </a:r>
              <a:endParaRPr lang="en-US" altLang="zh-CN" b="1">
                <a:solidFill>
                  <a:srgbClr val="0000FF"/>
                </a:solidFill>
              </a:endParaRPr>
            </a:p>
          </p:txBody>
        </p:sp>
      </p:grpSp>
      <p:grpSp>
        <p:nvGrpSpPr>
          <p:cNvPr id="17474" name="Group 66"/>
          <p:cNvGrpSpPr>
            <a:grpSpLocks/>
          </p:cNvGrpSpPr>
          <p:nvPr/>
        </p:nvGrpSpPr>
        <p:grpSpPr bwMode="auto">
          <a:xfrm>
            <a:off x="2914650" y="1364456"/>
            <a:ext cx="3676650" cy="1616075"/>
            <a:chOff x="360" y="360"/>
            <a:chExt cx="2316" cy="1018"/>
          </a:xfrm>
        </p:grpSpPr>
        <p:sp>
          <p:nvSpPr>
            <p:cNvPr id="17430" name="Text Box 22"/>
            <p:cNvSpPr txBox="1">
              <a:spLocks noChangeArrowheads="1"/>
            </p:cNvSpPr>
            <p:nvPr/>
          </p:nvSpPr>
          <p:spPr bwMode="auto">
            <a:xfrm>
              <a:off x="360" y="360"/>
              <a:ext cx="52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4000" b="1"/>
                <a:t>。</a:t>
              </a:r>
            </a:p>
          </p:txBody>
        </p:sp>
        <p:sp>
          <p:nvSpPr>
            <p:cNvPr id="17438" name="Text Box 30"/>
            <p:cNvSpPr txBox="1">
              <a:spLocks noChangeArrowheads="1"/>
            </p:cNvSpPr>
            <p:nvPr/>
          </p:nvSpPr>
          <p:spPr bwMode="auto">
            <a:xfrm>
              <a:off x="1584" y="816"/>
              <a:ext cx="5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FF3300"/>
                  </a:solidFill>
                </a:rPr>
                <a:t>C</a:t>
              </a:r>
            </a:p>
          </p:txBody>
        </p:sp>
        <p:sp>
          <p:nvSpPr>
            <p:cNvPr id="17424" name="Line 16"/>
            <p:cNvSpPr>
              <a:spLocks noChangeShapeType="1"/>
            </p:cNvSpPr>
            <p:nvPr/>
          </p:nvSpPr>
          <p:spPr bwMode="auto">
            <a:xfrm>
              <a:off x="516" y="684"/>
              <a:ext cx="1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5" name="Line 17"/>
            <p:cNvSpPr>
              <a:spLocks noChangeShapeType="1"/>
            </p:cNvSpPr>
            <p:nvPr/>
          </p:nvSpPr>
          <p:spPr bwMode="auto">
            <a:xfrm>
              <a:off x="528" y="1260"/>
              <a:ext cx="1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8" name="Line 20"/>
            <p:cNvSpPr>
              <a:spLocks noChangeShapeType="1"/>
            </p:cNvSpPr>
            <p:nvPr/>
          </p:nvSpPr>
          <p:spPr bwMode="auto">
            <a:xfrm>
              <a:off x="2004" y="684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9" name="Line 21"/>
            <p:cNvSpPr>
              <a:spLocks noChangeShapeType="1"/>
            </p:cNvSpPr>
            <p:nvPr/>
          </p:nvSpPr>
          <p:spPr bwMode="auto">
            <a:xfrm>
              <a:off x="2004" y="1020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1" name="Text Box 23"/>
            <p:cNvSpPr txBox="1">
              <a:spLocks noChangeArrowheads="1"/>
            </p:cNvSpPr>
            <p:nvPr/>
          </p:nvSpPr>
          <p:spPr bwMode="auto">
            <a:xfrm>
              <a:off x="360" y="936"/>
              <a:ext cx="52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4000" b="1"/>
                <a:t>。</a:t>
              </a:r>
            </a:p>
          </p:txBody>
        </p:sp>
        <p:sp>
          <p:nvSpPr>
            <p:cNvPr id="17432" name="Line 24"/>
            <p:cNvSpPr>
              <a:spLocks noChangeShapeType="1"/>
            </p:cNvSpPr>
            <p:nvPr/>
          </p:nvSpPr>
          <p:spPr bwMode="auto">
            <a:xfrm>
              <a:off x="468" y="816"/>
              <a:ext cx="0" cy="336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3" name="Text Box 25"/>
            <p:cNvSpPr txBox="1">
              <a:spLocks noChangeArrowheads="1"/>
            </p:cNvSpPr>
            <p:nvPr/>
          </p:nvSpPr>
          <p:spPr bwMode="auto">
            <a:xfrm>
              <a:off x="492" y="756"/>
              <a:ext cx="48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 i="1">
                  <a:solidFill>
                    <a:srgbClr val="0000FF"/>
                  </a:solidFill>
                </a:rPr>
                <a:t>u</a:t>
              </a:r>
              <a:r>
                <a:rPr lang="zh-CN" altLang="en-US" b="1" baseline="-25000">
                  <a:solidFill>
                    <a:srgbClr val="0000FF"/>
                  </a:solidFill>
                </a:rPr>
                <a:t>入</a:t>
              </a:r>
              <a:endParaRPr lang="zh-CN" altLang="en-US" sz="3200" b="1">
                <a:solidFill>
                  <a:srgbClr val="0000FF"/>
                </a:solidFill>
              </a:endParaRPr>
            </a:p>
          </p:txBody>
        </p:sp>
        <p:sp>
          <p:nvSpPr>
            <p:cNvPr id="17434" name="Line 26"/>
            <p:cNvSpPr>
              <a:spLocks noChangeShapeType="1"/>
            </p:cNvSpPr>
            <p:nvPr/>
          </p:nvSpPr>
          <p:spPr bwMode="auto">
            <a:xfrm>
              <a:off x="1500" y="684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5" name="Text Box 27"/>
            <p:cNvSpPr txBox="1">
              <a:spLocks noChangeArrowheads="1"/>
            </p:cNvSpPr>
            <p:nvPr/>
          </p:nvSpPr>
          <p:spPr bwMode="auto">
            <a:xfrm>
              <a:off x="1488" y="648"/>
              <a:ext cx="5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i</a:t>
              </a:r>
            </a:p>
          </p:txBody>
        </p:sp>
        <p:sp>
          <p:nvSpPr>
            <p:cNvPr id="17436" name="Rectangle 28"/>
            <p:cNvSpPr>
              <a:spLocks noChangeArrowheads="1"/>
            </p:cNvSpPr>
            <p:nvPr/>
          </p:nvSpPr>
          <p:spPr bwMode="auto">
            <a:xfrm>
              <a:off x="984" y="636"/>
              <a:ext cx="336" cy="9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7" name="Text Box 29"/>
            <p:cNvSpPr txBox="1">
              <a:spLocks noChangeArrowheads="1"/>
            </p:cNvSpPr>
            <p:nvPr/>
          </p:nvSpPr>
          <p:spPr bwMode="auto">
            <a:xfrm>
              <a:off x="996" y="384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</a:p>
          </p:txBody>
        </p:sp>
        <p:sp>
          <p:nvSpPr>
            <p:cNvPr id="17426" name="Line 18"/>
            <p:cNvSpPr>
              <a:spLocks noChangeShapeType="1"/>
            </p:cNvSpPr>
            <p:nvPr/>
          </p:nvSpPr>
          <p:spPr bwMode="auto">
            <a:xfrm>
              <a:off x="1860" y="924"/>
              <a:ext cx="288" cy="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7" name="Line 19"/>
            <p:cNvSpPr>
              <a:spLocks noChangeShapeType="1"/>
            </p:cNvSpPr>
            <p:nvPr/>
          </p:nvSpPr>
          <p:spPr bwMode="auto">
            <a:xfrm>
              <a:off x="1860" y="1020"/>
              <a:ext cx="288" cy="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9" name="Line 31"/>
            <p:cNvSpPr>
              <a:spLocks noChangeShapeType="1"/>
            </p:cNvSpPr>
            <p:nvPr/>
          </p:nvSpPr>
          <p:spPr bwMode="auto">
            <a:xfrm>
              <a:off x="2196" y="780"/>
              <a:ext cx="0" cy="38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0" name="Text Box 32"/>
            <p:cNvSpPr txBox="1">
              <a:spLocks noChangeArrowheads="1"/>
            </p:cNvSpPr>
            <p:nvPr/>
          </p:nvSpPr>
          <p:spPr bwMode="auto">
            <a:xfrm>
              <a:off x="2196" y="780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FF3300"/>
                  </a:solidFill>
                </a:rPr>
                <a:t>u</a:t>
              </a:r>
              <a:r>
                <a:rPr lang="en-US" altLang="zh-CN" sz="2800" b="1" i="1" baseline="-25000">
                  <a:solidFill>
                    <a:srgbClr val="FF3300"/>
                  </a:solidFill>
                </a:rPr>
                <a:t>C</a:t>
              </a:r>
              <a:endParaRPr lang="en-US" altLang="zh-CN" sz="2800" b="1" i="1">
                <a:solidFill>
                  <a:srgbClr val="FF3300"/>
                </a:solidFill>
              </a:endParaRPr>
            </a:p>
          </p:txBody>
        </p:sp>
        <p:sp>
          <p:nvSpPr>
            <p:cNvPr id="17472" name="Line 64"/>
            <p:cNvSpPr>
              <a:spLocks noChangeShapeType="1"/>
            </p:cNvSpPr>
            <p:nvPr/>
          </p:nvSpPr>
          <p:spPr bwMode="auto">
            <a:xfrm>
              <a:off x="948" y="780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73" name="Text Box 65"/>
            <p:cNvSpPr txBox="1">
              <a:spLocks noChangeArrowheads="1"/>
            </p:cNvSpPr>
            <p:nvPr/>
          </p:nvSpPr>
          <p:spPr bwMode="auto">
            <a:xfrm>
              <a:off x="996" y="696"/>
              <a:ext cx="4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u</a:t>
              </a:r>
              <a:r>
                <a:rPr lang="en-US" altLang="zh-CN" sz="2800" b="1" i="1" baseline="-25000"/>
                <a:t>R</a:t>
              </a:r>
              <a:endParaRPr lang="en-US" altLang="zh-CN" sz="2800" b="1" i="1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266593" y="4725144"/>
            <a:ext cx="5594801" cy="138499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defPPr>
              <a:defRPr lang="zh-CN"/>
            </a:defPPr>
            <a:lvl1pPr defTabSz="762000" eaLnBrk="0" hangingPunct="0">
              <a:defRPr sz="3200" b="1"/>
            </a:lvl1pPr>
            <a:lvl2pPr marL="742950" indent="-285750" defTabSz="762000" eaLnBrk="0" hangingPunct="0">
              <a:defRPr sz="3200" b="1"/>
            </a:lvl2pPr>
            <a:lvl3pPr marL="1143000" indent="-228600" defTabSz="762000" eaLnBrk="0" hangingPunct="0">
              <a:defRPr sz="3200" b="1"/>
            </a:lvl3pPr>
            <a:lvl4pPr marL="1600200" indent="-228600" defTabSz="762000" eaLnBrk="0" hangingPunct="0">
              <a:defRPr sz="3200" b="1"/>
            </a:lvl4pPr>
            <a:lvl5pPr marL="2057400" indent="-228600" defTabSz="762000" eaLnBrk="0" hangingPunct="0">
              <a:defRPr sz="3200" b="1"/>
            </a:lvl5pPr>
            <a:lvl6pPr marL="25146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3200" b="1"/>
            </a:lvl6pPr>
            <a:lvl7pPr marL="29718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3200" b="1"/>
            </a:lvl7pPr>
            <a:lvl8pPr marL="34290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3200" b="1"/>
            </a:lvl8pPr>
            <a:lvl9pPr marL="38862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3200" b="1"/>
            </a:lvl9pPr>
          </a:lstStyle>
          <a:p>
            <a:r>
              <a:rPr lang="zh-CN" altLang="en-US" sz="2800"/>
              <a:t>基尔霍夫第一、第二定律成立吗？</a:t>
            </a:r>
            <a:endParaRPr lang="en-US" altLang="zh-CN" sz="2800"/>
          </a:p>
          <a:p>
            <a:endParaRPr lang="en-US" altLang="zh-CN" sz="2800"/>
          </a:p>
          <a:p>
            <a:r>
              <a:rPr lang="zh-CN" altLang="en-US" sz="2800"/>
              <a:t>电压概念成立吗？</a:t>
            </a:r>
          </a:p>
        </p:txBody>
      </p:sp>
    </p:spTree>
    <p:extLst>
      <p:ext uri="{BB962C8B-B14F-4D97-AF65-F5344CB8AC3E}">
        <p14:creationId xmlns:p14="http://schemas.microsoft.com/office/powerpoint/2010/main" val="1070280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autoUpdateAnimBg="0"/>
      <p:bldP spid="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082" name="Object 2"/>
          <p:cNvGraphicFramePr>
            <a:graphicFrameLocks noChangeAspect="1"/>
          </p:cNvGraphicFramePr>
          <p:nvPr/>
        </p:nvGraphicFramePr>
        <p:xfrm>
          <a:off x="5378450" y="1628775"/>
          <a:ext cx="1627188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6" name="公式" r:id="rId3" imgW="698400" imgH="393480" progId="Equation.3">
                  <p:embed/>
                </p:oleObj>
              </mc:Choice>
              <mc:Fallback>
                <p:oleObj name="公式" r:id="rId3" imgW="6984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8450" y="1628775"/>
                        <a:ext cx="1627188" cy="915988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4" name="Rectangle 3"/>
          <p:cNvSpPr>
            <a:spLocks noGrp="1" noChangeArrowheads="1"/>
          </p:cNvSpPr>
          <p:nvPr>
            <p:ph type="title"/>
          </p:nvPr>
        </p:nvSpPr>
        <p:spPr>
          <a:xfrm>
            <a:off x="107157" y="116632"/>
            <a:ext cx="2016572" cy="762000"/>
          </a:xfrm>
        </p:spPr>
        <p:txBody>
          <a:bodyPr/>
          <a:lstStyle/>
          <a:p>
            <a:pPr eaLnBrk="1" hangingPunct="1"/>
            <a:r>
              <a:rPr lang="zh-CN" altLang="en-US" sz="2800" b="1" smtClean="0">
                <a:latin typeface="Times New Roman" pitchFamily="18" charset="0"/>
                <a:ea typeface="华文中宋" pitchFamily="2" charset="-122"/>
              </a:rPr>
              <a:t>似稳条件</a:t>
            </a:r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276600" y="404813"/>
            <a:ext cx="3095625" cy="10080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b="1" smtClean="0">
                <a:latin typeface="Times New Roman" pitchFamily="18" charset="0"/>
                <a:ea typeface="华文中宋" pitchFamily="2" charset="-122"/>
              </a:rPr>
              <a:t>电磁场的变化以光速</a:t>
            </a:r>
            <a:r>
              <a:rPr lang="en-US" altLang="zh-CN" b="1" smtClean="0">
                <a:latin typeface="Times New Roman" pitchFamily="18" charset="0"/>
                <a:ea typeface="华文中宋" pitchFamily="2" charset="-122"/>
              </a:rPr>
              <a:t>c</a:t>
            </a:r>
            <a:r>
              <a:rPr lang="zh-CN" altLang="en-US" b="1" smtClean="0">
                <a:latin typeface="Times New Roman" pitchFamily="18" charset="0"/>
                <a:ea typeface="华文中宋" pitchFamily="2" charset="-122"/>
              </a:rPr>
              <a:t>传播</a:t>
            </a:r>
            <a:r>
              <a:rPr lang="zh-CN" altLang="en-US" smtClean="0">
                <a:latin typeface="Times New Roman" pitchFamily="18" charset="0"/>
                <a:ea typeface="华文中宋" pitchFamily="2" charset="-122"/>
              </a:rPr>
              <a:t> </a:t>
            </a:r>
          </a:p>
        </p:txBody>
      </p:sp>
      <p:graphicFrame>
        <p:nvGraphicFramePr>
          <p:cNvPr id="46085" name="Object 5"/>
          <p:cNvGraphicFramePr>
            <a:graphicFrameLocks noChangeAspect="1"/>
          </p:cNvGraphicFramePr>
          <p:nvPr/>
        </p:nvGraphicFramePr>
        <p:xfrm>
          <a:off x="6372225" y="476250"/>
          <a:ext cx="152400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7" r:id="rId5" imgW="571252" imgH="203112" progId="Equation.3">
                  <p:embed/>
                </p:oleObj>
              </mc:Choice>
              <mc:Fallback>
                <p:oleObj r:id="rId5" imgW="571252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476250"/>
                        <a:ext cx="1524000" cy="5381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6" name="Rectangle 6"/>
          <p:cNvSpPr>
            <a:spLocks noChangeArrowheads="1"/>
          </p:cNvSpPr>
          <p:nvPr/>
        </p:nvSpPr>
        <p:spPr bwMode="auto">
          <a:xfrm>
            <a:off x="395288" y="1700213"/>
            <a:ext cx="49530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zh-CN" altLang="en-US" sz="3200" b="1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电源频率很高</a:t>
            </a:r>
            <a:r>
              <a:rPr lang="zh-CN" altLang="en-US" sz="3200" b="1">
                <a:latin typeface="华文中宋" pitchFamily="2" charset="-122"/>
                <a:ea typeface="华文中宋" pitchFamily="2" charset="-122"/>
              </a:rPr>
              <a:t> </a:t>
            </a:r>
          </a:p>
          <a:p>
            <a:pPr marL="742950" lvl="1" indent="-28575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zh-CN" altLang="en-US" sz="2800" b="1">
                <a:solidFill>
                  <a:srgbClr val="800000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基尔霍夫第一定律不成立</a:t>
            </a:r>
            <a:r>
              <a:rPr lang="zh-CN" altLang="en-US" sz="3200" b="1">
                <a:latin typeface="华文中宋" pitchFamily="2" charset="-122"/>
                <a:ea typeface="华文中宋" pitchFamily="2" charset="-122"/>
              </a:rPr>
              <a:t> </a:t>
            </a:r>
          </a:p>
          <a:p>
            <a:pPr marL="742950" lvl="1" indent="-28575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zh-CN" altLang="en-US" sz="2800" b="1">
                <a:latin typeface="华文中宋" pitchFamily="2" charset="-122"/>
                <a:ea typeface="华文中宋" pitchFamily="2" charset="-122"/>
              </a:rPr>
              <a:t>“电压”的</a:t>
            </a:r>
            <a:r>
              <a:rPr lang="zh-CN" altLang="en-US" sz="2800" b="1">
                <a:solidFill>
                  <a:srgbClr val="800000"/>
                </a:solidFill>
                <a:latin typeface="华文中宋" pitchFamily="2" charset="-122"/>
                <a:ea typeface="华文中宋" pitchFamily="2" charset="-122"/>
              </a:rPr>
              <a:t>概念也不成立</a:t>
            </a:r>
            <a:r>
              <a:rPr lang="zh-CN" altLang="en-US" sz="3200" b="1">
                <a:latin typeface="宋体" pitchFamily="2" charset="-122"/>
              </a:rPr>
              <a:t> </a:t>
            </a:r>
          </a:p>
        </p:txBody>
      </p:sp>
      <p:graphicFrame>
        <p:nvGraphicFramePr>
          <p:cNvPr id="46087" name="Object 7"/>
          <p:cNvGraphicFramePr>
            <a:graphicFrameLocks noChangeAspect="1"/>
          </p:cNvGraphicFramePr>
          <p:nvPr/>
        </p:nvGraphicFramePr>
        <p:xfrm>
          <a:off x="3635375" y="1773238"/>
          <a:ext cx="129540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8" r:id="rId7" imgW="469696" imgH="177723" progId="Equation.3">
                  <p:embed/>
                </p:oleObj>
              </mc:Choice>
              <mc:Fallback>
                <p:oleObj r:id="rId7" imgW="469696" imgH="17772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1773238"/>
                        <a:ext cx="1295400" cy="496887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8" name="AutoShape 8"/>
          <p:cNvSpPr>
            <a:spLocks/>
          </p:cNvSpPr>
          <p:nvPr/>
        </p:nvSpPr>
        <p:spPr bwMode="auto">
          <a:xfrm>
            <a:off x="900113" y="1341438"/>
            <a:ext cx="1736725" cy="412750"/>
          </a:xfrm>
          <a:prstGeom prst="borderCallout2">
            <a:avLst>
              <a:gd name="adj1" fmla="val 27694"/>
              <a:gd name="adj2" fmla="val 104389"/>
              <a:gd name="adj3" fmla="val 27694"/>
              <a:gd name="adj4" fmla="val 137204"/>
              <a:gd name="adj5" fmla="val 133463"/>
              <a:gd name="adj6" fmla="val 21151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2000" b="1">
                <a:ea typeface="华文中宋" pitchFamily="2" charset="-122"/>
              </a:rPr>
              <a:t>仪器几何线度</a:t>
            </a:r>
          </a:p>
        </p:txBody>
      </p:sp>
      <p:sp>
        <p:nvSpPr>
          <p:cNvPr id="46089" name="AutoShape 9"/>
          <p:cNvSpPr>
            <a:spLocks/>
          </p:cNvSpPr>
          <p:nvPr/>
        </p:nvSpPr>
        <p:spPr bwMode="auto">
          <a:xfrm>
            <a:off x="7596188" y="1773238"/>
            <a:ext cx="1338262" cy="647700"/>
          </a:xfrm>
          <a:prstGeom prst="borderCallout2">
            <a:avLst>
              <a:gd name="adj1" fmla="val 17648"/>
              <a:gd name="adj2" fmla="val -5694"/>
              <a:gd name="adj3" fmla="val 17648"/>
              <a:gd name="adj4" fmla="val -10912"/>
              <a:gd name="adj5" fmla="val 13972"/>
              <a:gd name="adj6" fmla="val -5611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2000" b="1">
                <a:ea typeface="华文中宋" pitchFamily="2" charset="-122"/>
              </a:rPr>
              <a:t>电源变化周期</a:t>
            </a:r>
          </a:p>
        </p:txBody>
      </p:sp>
      <p:sp>
        <p:nvSpPr>
          <p:cNvPr id="46090" name="AutoShape 10"/>
          <p:cNvSpPr>
            <a:spLocks/>
          </p:cNvSpPr>
          <p:nvPr/>
        </p:nvSpPr>
        <p:spPr bwMode="auto">
          <a:xfrm>
            <a:off x="5410200" y="2708275"/>
            <a:ext cx="3733800" cy="685800"/>
          </a:xfrm>
          <a:prstGeom prst="borderCallout2">
            <a:avLst>
              <a:gd name="adj1" fmla="val 16667"/>
              <a:gd name="adj2" fmla="val -2042"/>
              <a:gd name="adj3" fmla="val 16667"/>
              <a:gd name="adj4" fmla="val -19769"/>
              <a:gd name="adj5" fmla="val 5787"/>
              <a:gd name="adj6" fmla="val -3758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2000" b="1">
                <a:latin typeface="华文中宋" pitchFamily="2" charset="-122"/>
                <a:ea typeface="华文中宋" pitchFamily="2" charset="-122"/>
              </a:rPr>
              <a:t>电路中各部分电磁场、电流、电荷变化将按距离远近而不同</a:t>
            </a:r>
            <a:r>
              <a:rPr lang="zh-CN" altLang="en-US" sz="2000">
                <a:latin typeface="华文中宋" pitchFamily="2" charset="-122"/>
                <a:ea typeface="华文中宋" pitchFamily="2" charset="-122"/>
              </a:rPr>
              <a:t> </a:t>
            </a:r>
          </a:p>
        </p:txBody>
      </p:sp>
      <p:sp>
        <p:nvSpPr>
          <p:cNvPr id="46091" name="AutoShape 11"/>
          <p:cNvSpPr>
            <a:spLocks/>
          </p:cNvSpPr>
          <p:nvPr/>
        </p:nvSpPr>
        <p:spPr bwMode="auto">
          <a:xfrm>
            <a:off x="5940425" y="3429000"/>
            <a:ext cx="2813050" cy="544513"/>
          </a:xfrm>
          <a:prstGeom prst="borderCallout2">
            <a:avLst>
              <a:gd name="adj1" fmla="val 20991"/>
              <a:gd name="adj2" fmla="val -2708"/>
              <a:gd name="adj3" fmla="val 20991"/>
              <a:gd name="adj4" fmla="val -54287"/>
              <a:gd name="adj5" fmla="val -27699"/>
              <a:gd name="adj6" fmla="val -10999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b="1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有较强的涡旋电场</a:t>
            </a:r>
            <a:r>
              <a:rPr lang="zh-CN" altLang="en-US"/>
              <a:t> </a:t>
            </a:r>
          </a:p>
        </p:txBody>
      </p:sp>
      <p:sp>
        <p:nvSpPr>
          <p:cNvPr id="46092" name="Rectangle 12"/>
          <p:cNvSpPr>
            <a:spLocks noChangeArrowheads="1"/>
          </p:cNvSpPr>
          <p:nvPr/>
        </p:nvSpPr>
        <p:spPr bwMode="auto">
          <a:xfrm>
            <a:off x="539750" y="3573463"/>
            <a:ext cx="49530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zh-CN" altLang="en-US" sz="3200" b="1">
                <a:solidFill>
                  <a:schemeClr val="tx2"/>
                </a:solidFill>
                <a:latin typeface="宋体" pitchFamily="2" charset="-122"/>
                <a:ea typeface="华文中宋" pitchFamily="2" charset="-122"/>
              </a:rPr>
              <a:t>电源频率较低</a:t>
            </a:r>
            <a:r>
              <a:rPr lang="zh-CN" altLang="en-US" sz="3200" b="1">
                <a:latin typeface="宋体" pitchFamily="2" charset="-122"/>
              </a:rPr>
              <a:t> </a:t>
            </a:r>
          </a:p>
          <a:p>
            <a:pPr marL="742950" lvl="1" indent="-28575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zh-CN" altLang="en-US" sz="2800" b="1">
                <a:solidFill>
                  <a:srgbClr val="800000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基尔霍夫第一定律成立</a:t>
            </a:r>
            <a:r>
              <a:rPr lang="zh-CN" altLang="en-US" sz="3200" b="1">
                <a:latin typeface="华文中宋" pitchFamily="2" charset="-122"/>
                <a:ea typeface="华文中宋" pitchFamily="2" charset="-122"/>
              </a:rPr>
              <a:t> </a:t>
            </a:r>
          </a:p>
          <a:p>
            <a:pPr marL="742950" lvl="1" indent="-28575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zh-CN" altLang="en-US" sz="2800" b="1">
                <a:latin typeface="华文中宋" pitchFamily="2" charset="-122"/>
                <a:ea typeface="华文中宋" pitchFamily="2" charset="-122"/>
              </a:rPr>
              <a:t>“电压”的</a:t>
            </a:r>
            <a:r>
              <a:rPr lang="zh-CN" altLang="en-US" sz="2800" b="1">
                <a:solidFill>
                  <a:srgbClr val="800000"/>
                </a:solidFill>
                <a:latin typeface="华文中宋" pitchFamily="2" charset="-122"/>
                <a:ea typeface="华文中宋" pitchFamily="2" charset="-122"/>
              </a:rPr>
              <a:t>概念可以成立</a:t>
            </a:r>
            <a:r>
              <a:rPr lang="zh-CN" altLang="en-US" sz="3200" b="1">
                <a:latin typeface="宋体" pitchFamily="2" charset="-122"/>
              </a:rPr>
              <a:t> </a:t>
            </a:r>
          </a:p>
        </p:txBody>
      </p:sp>
      <p:graphicFrame>
        <p:nvGraphicFramePr>
          <p:cNvPr id="46093" name="Object 13"/>
          <p:cNvGraphicFramePr>
            <a:graphicFrameLocks noChangeAspect="1"/>
          </p:cNvGraphicFramePr>
          <p:nvPr/>
        </p:nvGraphicFramePr>
        <p:xfrm>
          <a:off x="5364163" y="4292600"/>
          <a:ext cx="126682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9" r:id="rId9" imgW="482181" imgH="177646" progId="Equation.3">
                  <p:embed/>
                </p:oleObj>
              </mc:Choice>
              <mc:Fallback>
                <p:oleObj r:id="rId9" imgW="482181" imgH="1776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4292600"/>
                        <a:ext cx="1266825" cy="47783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4" name="Object 14"/>
          <p:cNvGraphicFramePr>
            <a:graphicFrameLocks noChangeAspect="1"/>
          </p:cNvGraphicFramePr>
          <p:nvPr/>
        </p:nvGraphicFramePr>
        <p:xfrm>
          <a:off x="7164388" y="4149725"/>
          <a:ext cx="1600200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40" r:id="rId11" imgW="710891" imgH="393529" progId="Equation.3">
                  <p:embed/>
                </p:oleObj>
              </mc:Choice>
              <mc:Fallback>
                <p:oleObj r:id="rId11" imgW="710891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4149725"/>
                        <a:ext cx="1600200" cy="88423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5" name="AutoShape 15"/>
          <p:cNvSpPr>
            <a:spLocks/>
          </p:cNvSpPr>
          <p:nvPr/>
        </p:nvSpPr>
        <p:spPr bwMode="auto">
          <a:xfrm>
            <a:off x="7019925" y="5157788"/>
            <a:ext cx="1800225" cy="1308100"/>
          </a:xfrm>
          <a:prstGeom prst="borderCallout2">
            <a:avLst>
              <a:gd name="adj1" fmla="val 8736"/>
              <a:gd name="adj2" fmla="val -4231"/>
              <a:gd name="adj3" fmla="val 8736"/>
              <a:gd name="adj4" fmla="val -52912"/>
              <a:gd name="adj5" fmla="val -7523"/>
              <a:gd name="adj6" fmla="val -11243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2000" b="1">
                <a:latin typeface="华文中宋" pitchFamily="2" charset="-122"/>
                <a:ea typeface="华文中宋" pitchFamily="2" charset="-122"/>
              </a:rPr>
              <a:t>电路中电流将随电源电动势同步地作缓慢的变化</a:t>
            </a:r>
            <a:r>
              <a:rPr lang="zh-CN" altLang="en-US"/>
              <a:t> </a:t>
            </a:r>
          </a:p>
        </p:txBody>
      </p:sp>
      <p:sp>
        <p:nvSpPr>
          <p:cNvPr id="46096" name="Rectangle 16"/>
          <p:cNvSpPr>
            <a:spLocks noChangeArrowheads="1"/>
          </p:cNvSpPr>
          <p:nvPr/>
        </p:nvSpPr>
        <p:spPr bwMode="auto">
          <a:xfrm>
            <a:off x="539750" y="5300663"/>
            <a:ext cx="6337300" cy="1055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zh-CN" altLang="en-US" sz="2800" b="1">
                <a:solidFill>
                  <a:schemeClr val="tx2"/>
                </a:solidFill>
                <a:ea typeface="华文中宋" pitchFamily="2" charset="-122"/>
              </a:rPr>
              <a:t>电工技术中遇到的电路大部分属于似稳电路，如</a:t>
            </a:r>
            <a:r>
              <a:rPr lang="en-US" altLang="zh-CN" sz="2800" b="1">
                <a:solidFill>
                  <a:schemeClr val="tx2"/>
                </a:solidFill>
                <a:latin typeface="Times New Roman" pitchFamily="18" charset="0"/>
                <a:ea typeface="华文中宋" pitchFamily="2" charset="-122"/>
              </a:rPr>
              <a:t>50Hz</a:t>
            </a:r>
            <a:r>
              <a:rPr lang="en-US" altLang="zh-CN"/>
              <a:t> </a:t>
            </a:r>
            <a:endParaRPr lang="en-US" altLang="zh-CN" sz="3200" b="1">
              <a:latin typeface="宋体" pitchFamily="2" charset="-122"/>
            </a:endParaRPr>
          </a:p>
        </p:txBody>
      </p:sp>
      <p:sp>
        <p:nvSpPr>
          <p:cNvPr id="6164" name="Rectangle 17"/>
          <p:cNvSpPr>
            <a:spLocks noChangeArrowheads="1"/>
          </p:cNvSpPr>
          <p:nvPr/>
        </p:nvSpPr>
        <p:spPr bwMode="auto">
          <a:xfrm>
            <a:off x="0" y="32908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6098" name="Object 18"/>
          <p:cNvGraphicFramePr>
            <a:graphicFrameLocks noChangeAspect="1"/>
          </p:cNvGraphicFramePr>
          <p:nvPr/>
        </p:nvGraphicFramePr>
        <p:xfrm>
          <a:off x="3851275" y="5805488"/>
          <a:ext cx="28082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41" name="公式" r:id="rId13" imgW="1167893" imgH="203112" progId="Equation.3">
                  <p:embed/>
                </p:oleObj>
              </mc:Choice>
              <mc:Fallback>
                <p:oleObj name="公式" r:id="rId13" imgW="1167893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5805488"/>
                        <a:ext cx="2808288" cy="4667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9" name="AutoShape 19"/>
          <p:cNvSpPr>
            <a:spLocks/>
          </p:cNvSpPr>
          <p:nvPr/>
        </p:nvSpPr>
        <p:spPr bwMode="auto">
          <a:xfrm>
            <a:off x="6592888" y="1154113"/>
            <a:ext cx="2011362" cy="403225"/>
          </a:xfrm>
          <a:prstGeom prst="borderCallout2">
            <a:avLst>
              <a:gd name="adj1" fmla="val 28347"/>
              <a:gd name="adj2" fmla="val -3787"/>
              <a:gd name="adj3" fmla="val 28347"/>
              <a:gd name="adj4" fmla="val -28412"/>
              <a:gd name="adj5" fmla="val 188977"/>
              <a:gd name="adj6" fmla="val -5390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2000" b="1">
                <a:ea typeface="华文中宋" pitchFamily="2" charset="-122"/>
              </a:rPr>
              <a:t>传遍仪器的时间</a:t>
            </a:r>
          </a:p>
        </p:txBody>
      </p:sp>
    </p:spTree>
    <p:extLst>
      <p:ext uri="{BB962C8B-B14F-4D97-AF65-F5344CB8AC3E}">
        <p14:creationId xmlns:p14="http://schemas.microsoft.com/office/powerpoint/2010/main" val="2090494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6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6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6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6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6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6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6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6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6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6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6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6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6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6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6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60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60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4" grpId="0" build="p" autoUpdateAnimBg="0"/>
      <p:bldP spid="46086" grpId="0" autoUpdateAnimBg="0"/>
      <p:bldP spid="46088" grpId="0" animBg="1"/>
      <p:bldP spid="46089" grpId="0" animBg="1" autoUpdateAnimBg="0"/>
      <p:bldP spid="46090" grpId="0" animBg="1" autoUpdateAnimBg="0"/>
      <p:bldP spid="46091" grpId="0" animBg="1" autoUpdateAnimBg="0"/>
      <p:bldP spid="46092" grpId="0" autoUpdateAnimBg="0"/>
      <p:bldP spid="46095" grpId="0" animBg="1" autoUpdateAnimBg="0"/>
      <p:bldP spid="46096" grpId="0" autoUpdateAnimBg="0"/>
      <p:bldP spid="4609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51CC4-3B22-4D5B-BE9F-5C156C2A90A7}" type="slidenum">
              <a:rPr lang="en-US" altLang="zh-CN"/>
              <a:pPr/>
              <a:t>51</a:t>
            </a:fld>
            <a:endParaRPr lang="en-US" altLang="zh-CN"/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4133850" y="1439863"/>
            <a:ext cx="15906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0000FF"/>
                </a:solidFill>
              </a:rPr>
              <a:t>充电：</a:t>
            </a:r>
          </a:p>
        </p:txBody>
      </p:sp>
      <p:graphicFrame>
        <p:nvGraphicFramePr>
          <p:cNvPr id="17413" name="Object 5"/>
          <p:cNvGraphicFramePr>
            <a:graphicFrameLocks noChangeAspect="1"/>
          </p:cNvGraphicFramePr>
          <p:nvPr/>
        </p:nvGraphicFramePr>
        <p:xfrm>
          <a:off x="4859338" y="4797425"/>
          <a:ext cx="1938337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17" name="公式" r:id="rId3" imgW="774360" imgH="406080" progId="Equation.3">
                  <p:embed/>
                </p:oleObj>
              </mc:Choice>
              <mc:Fallback>
                <p:oleObj name="公式" r:id="rId3" imgW="774360" imgH="4060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4797425"/>
                        <a:ext cx="1938337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6"/>
          <p:cNvGraphicFramePr>
            <a:graphicFrameLocks noChangeAspect="1"/>
          </p:cNvGraphicFramePr>
          <p:nvPr/>
        </p:nvGraphicFramePr>
        <p:xfrm>
          <a:off x="827088" y="5949950"/>
          <a:ext cx="291465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18" name="公式" r:id="rId5" imgW="1104840" imgH="241200" progId="Equation.3">
                  <p:embed/>
                </p:oleObj>
              </mc:Choice>
              <mc:Fallback>
                <p:oleObj name="公式" r:id="rId5" imgW="1104840" imgH="241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949950"/>
                        <a:ext cx="2914650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75" name="Group 67"/>
          <p:cNvGrpSpPr>
            <a:grpSpLocks/>
          </p:cNvGrpSpPr>
          <p:nvPr/>
        </p:nvGrpSpPr>
        <p:grpSpPr bwMode="auto">
          <a:xfrm>
            <a:off x="514350" y="2057400"/>
            <a:ext cx="3352800" cy="1547813"/>
            <a:chOff x="324" y="1284"/>
            <a:chExt cx="2112" cy="975"/>
          </a:xfrm>
        </p:grpSpPr>
        <p:sp>
          <p:nvSpPr>
            <p:cNvPr id="17444" name="Line 36"/>
            <p:cNvSpPr>
              <a:spLocks noChangeShapeType="1"/>
            </p:cNvSpPr>
            <p:nvPr/>
          </p:nvSpPr>
          <p:spPr bwMode="auto">
            <a:xfrm>
              <a:off x="384" y="1968"/>
              <a:ext cx="19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8" name="Line 40"/>
            <p:cNvSpPr>
              <a:spLocks noChangeShapeType="1"/>
            </p:cNvSpPr>
            <p:nvPr/>
          </p:nvSpPr>
          <p:spPr bwMode="auto">
            <a:xfrm flipV="1">
              <a:off x="624" y="1440"/>
              <a:ext cx="0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1" name="Line 43"/>
            <p:cNvSpPr>
              <a:spLocks noChangeShapeType="1"/>
            </p:cNvSpPr>
            <p:nvPr/>
          </p:nvSpPr>
          <p:spPr bwMode="auto">
            <a:xfrm>
              <a:off x="624" y="1680"/>
              <a:ext cx="81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2" name="Line 44"/>
            <p:cNvSpPr>
              <a:spLocks noChangeShapeType="1"/>
            </p:cNvSpPr>
            <p:nvPr/>
          </p:nvSpPr>
          <p:spPr bwMode="auto">
            <a:xfrm>
              <a:off x="1440" y="1680"/>
              <a:ext cx="0" cy="28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3" name="Text Box 45"/>
            <p:cNvSpPr txBox="1">
              <a:spLocks noChangeArrowheads="1"/>
            </p:cNvSpPr>
            <p:nvPr/>
          </p:nvSpPr>
          <p:spPr bwMode="auto">
            <a:xfrm>
              <a:off x="444" y="19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0</a:t>
              </a:r>
            </a:p>
          </p:txBody>
        </p:sp>
        <p:sp>
          <p:nvSpPr>
            <p:cNvPr id="17454" name="Text Box 46"/>
            <p:cNvSpPr txBox="1">
              <a:spLocks noChangeArrowheads="1"/>
            </p:cNvSpPr>
            <p:nvPr/>
          </p:nvSpPr>
          <p:spPr bwMode="auto">
            <a:xfrm>
              <a:off x="2148" y="1932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t</a:t>
              </a:r>
            </a:p>
          </p:txBody>
        </p:sp>
        <p:sp>
          <p:nvSpPr>
            <p:cNvPr id="17465" name="Text Box 57"/>
            <p:cNvSpPr txBox="1">
              <a:spLocks noChangeArrowheads="1"/>
            </p:cNvSpPr>
            <p:nvPr/>
          </p:nvSpPr>
          <p:spPr bwMode="auto">
            <a:xfrm>
              <a:off x="636" y="1284"/>
              <a:ext cx="48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 i="1">
                  <a:solidFill>
                    <a:srgbClr val="0000FF"/>
                  </a:solidFill>
                </a:rPr>
                <a:t>u</a:t>
              </a:r>
              <a:r>
                <a:rPr lang="zh-CN" altLang="en-US" b="1" baseline="-25000">
                  <a:solidFill>
                    <a:srgbClr val="0000FF"/>
                  </a:solidFill>
                </a:rPr>
                <a:t>入</a:t>
              </a:r>
              <a:endParaRPr lang="zh-CN" altLang="en-US" sz="3200" b="1">
                <a:solidFill>
                  <a:srgbClr val="0000FF"/>
                </a:solidFill>
              </a:endParaRPr>
            </a:p>
          </p:txBody>
        </p:sp>
        <p:sp>
          <p:nvSpPr>
            <p:cNvPr id="17471" name="Text Box 63"/>
            <p:cNvSpPr txBox="1">
              <a:spLocks noChangeArrowheads="1"/>
            </p:cNvSpPr>
            <p:nvPr/>
          </p:nvSpPr>
          <p:spPr bwMode="auto">
            <a:xfrm>
              <a:off x="324" y="152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0000FF"/>
                  </a:solidFill>
                </a:rPr>
                <a:t>U</a:t>
              </a:r>
              <a:r>
                <a:rPr lang="en-US" altLang="zh-CN" b="1" baseline="-25000">
                  <a:solidFill>
                    <a:srgbClr val="0000FF"/>
                  </a:solidFill>
                </a:rPr>
                <a:t>0</a:t>
              </a:r>
              <a:endParaRPr lang="en-US" altLang="zh-CN" b="1">
                <a:solidFill>
                  <a:srgbClr val="0000FF"/>
                </a:solidFill>
              </a:endParaRPr>
            </a:p>
          </p:txBody>
        </p:sp>
      </p:grpSp>
      <p:grpSp>
        <p:nvGrpSpPr>
          <p:cNvPr id="17474" name="Group 66"/>
          <p:cNvGrpSpPr>
            <a:grpSpLocks/>
          </p:cNvGrpSpPr>
          <p:nvPr/>
        </p:nvGrpSpPr>
        <p:grpSpPr bwMode="auto">
          <a:xfrm>
            <a:off x="571500" y="571500"/>
            <a:ext cx="3676650" cy="1616075"/>
            <a:chOff x="360" y="360"/>
            <a:chExt cx="2316" cy="1018"/>
          </a:xfrm>
        </p:grpSpPr>
        <p:sp>
          <p:nvSpPr>
            <p:cNvPr id="17430" name="Text Box 22"/>
            <p:cNvSpPr txBox="1">
              <a:spLocks noChangeArrowheads="1"/>
            </p:cNvSpPr>
            <p:nvPr/>
          </p:nvSpPr>
          <p:spPr bwMode="auto">
            <a:xfrm>
              <a:off x="360" y="360"/>
              <a:ext cx="52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4000" b="1"/>
                <a:t>。</a:t>
              </a:r>
            </a:p>
          </p:txBody>
        </p:sp>
        <p:sp>
          <p:nvSpPr>
            <p:cNvPr id="17438" name="Text Box 30"/>
            <p:cNvSpPr txBox="1">
              <a:spLocks noChangeArrowheads="1"/>
            </p:cNvSpPr>
            <p:nvPr/>
          </p:nvSpPr>
          <p:spPr bwMode="auto">
            <a:xfrm>
              <a:off x="1584" y="816"/>
              <a:ext cx="5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FF3300"/>
                  </a:solidFill>
                </a:rPr>
                <a:t>C</a:t>
              </a:r>
            </a:p>
          </p:txBody>
        </p:sp>
        <p:sp>
          <p:nvSpPr>
            <p:cNvPr id="17424" name="Line 16"/>
            <p:cNvSpPr>
              <a:spLocks noChangeShapeType="1"/>
            </p:cNvSpPr>
            <p:nvPr/>
          </p:nvSpPr>
          <p:spPr bwMode="auto">
            <a:xfrm>
              <a:off x="516" y="684"/>
              <a:ext cx="1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5" name="Line 17"/>
            <p:cNvSpPr>
              <a:spLocks noChangeShapeType="1"/>
            </p:cNvSpPr>
            <p:nvPr/>
          </p:nvSpPr>
          <p:spPr bwMode="auto">
            <a:xfrm>
              <a:off x="528" y="1260"/>
              <a:ext cx="1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8" name="Line 20"/>
            <p:cNvSpPr>
              <a:spLocks noChangeShapeType="1"/>
            </p:cNvSpPr>
            <p:nvPr/>
          </p:nvSpPr>
          <p:spPr bwMode="auto">
            <a:xfrm>
              <a:off x="2004" y="684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9" name="Line 21"/>
            <p:cNvSpPr>
              <a:spLocks noChangeShapeType="1"/>
            </p:cNvSpPr>
            <p:nvPr/>
          </p:nvSpPr>
          <p:spPr bwMode="auto">
            <a:xfrm>
              <a:off x="2004" y="1020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1" name="Text Box 23"/>
            <p:cNvSpPr txBox="1">
              <a:spLocks noChangeArrowheads="1"/>
            </p:cNvSpPr>
            <p:nvPr/>
          </p:nvSpPr>
          <p:spPr bwMode="auto">
            <a:xfrm>
              <a:off x="360" y="936"/>
              <a:ext cx="52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4000" b="1"/>
                <a:t>。</a:t>
              </a:r>
            </a:p>
          </p:txBody>
        </p:sp>
        <p:sp>
          <p:nvSpPr>
            <p:cNvPr id="17432" name="Line 24"/>
            <p:cNvSpPr>
              <a:spLocks noChangeShapeType="1"/>
            </p:cNvSpPr>
            <p:nvPr/>
          </p:nvSpPr>
          <p:spPr bwMode="auto">
            <a:xfrm>
              <a:off x="468" y="816"/>
              <a:ext cx="0" cy="336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3" name="Text Box 25"/>
            <p:cNvSpPr txBox="1">
              <a:spLocks noChangeArrowheads="1"/>
            </p:cNvSpPr>
            <p:nvPr/>
          </p:nvSpPr>
          <p:spPr bwMode="auto">
            <a:xfrm>
              <a:off x="492" y="756"/>
              <a:ext cx="48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 i="1">
                  <a:solidFill>
                    <a:srgbClr val="0000FF"/>
                  </a:solidFill>
                </a:rPr>
                <a:t>u</a:t>
              </a:r>
              <a:r>
                <a:rPr lang="zh-CN" altLang="en-US" b="1" baseline="-25000">
                  <a:solidFill>
                    <a:srgbClr val="0000FF"/>
                  </a:solidFill>
                </a:rPr>
                <a:t>入</a:t>
              </a:r>
              <a:endParaRPr lang="zh-CN" altLang="en-US" sz="3200" b="1">
                <a:solidFill>
                  <a:srgbClr val="0000FF"/>
                </a:solidFill>
              </a:endParaRPr>
            </a:p>
          </p:txBody>
        </p:sp>
        <p:sp>
          <p:nvSpPr>
            <p:cNvPr id="17434" name="Line 26"/>
            <p:cNvSpPr>
              <a:spLocks noChangeShapeType="1"/>
            </p:cNvSpPr>
            <p:nvPr/>
          </p:nvSpPr>
          <p:spPr bwMode="auto">
            <a:xfrm>
              <a:off x="1500" y="684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5" name="Text Box 27"/>
            <p:cNvSpPr txBox="1">
              <a:spLocks noChangeArrowheads="1"/>
            </p:cNvSpPr>
            <p:nvPr/>
          </p:nvSpPr>
          <p:spPr bwMode="auto">
            <a:xfrm>
              <a:off x="1488" y="648"/>
              <a:ext cx="5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i</a:t>
              </a:r>
            </a:p>
          </p:txBody>
        </p:sp>
        <p:sp>
          <p:nvSpPr>
            <p:cNvPr id="17436" name="Rectangle 28"/>
            <p:cNvSpPr>
              <a:spLocks noChangeArrowheads="1"/>
            </p:cNvSpPr>
            <p:nvPr/>
          </p:nvSpPr>
          <p:spPr bwMode="auto">
            <a:xfrm>
              <a:off x="984" y="636"/>
              <a:ext cx="336" cy="9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7" name="Text Box 29"/>
            <p:cNvSpPr txBox="1">
              <a:spLocks noChangeArrowheads="1"/>
            </p:cNvSpPr>
            <p:nvPr/>
          </p:nvSpPr>
          <p:spPr bwMode="auto">
            <a:xfrm>
              <a:off x="996" y="384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</a:p>
          </p:txBody>
        </p:sp>
        <p:sp>
          <p:nvSpPr>
            <p:cNvPr id="17426" name="Line 18"/>
            <p:cNvSpPr>
              <a:spLocks noChangeShapeType="1"/>
            </p:cNvSpPr>
            <p:nvPr/>
          </p:nvSpPr>
          <p:spPr bwMode="auto">
            <a:xfrm>
              <a:off x="1860" y="924"/>
              <a:ext cx="288" cy="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7" name="Line 19"/>
            <p:cNvSpPr>
              <a:spLocks noChangeShapeType="1"/>
            </p:cNvSpPr>
            <p:nvPr/>
          </p:nvSpPr>
          <p:spPr bwMode="auto">
            <a:xfrm>
              <a:off x="1860" y="1020"/>
              <a:ext cx="288" cy="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9" name="Line 31"/>
            <p:cNvSpPr>
              <a:spLocks noChangeShapeType="1"/>
            </p:cNvSpPr>
            <p:nvPr/>
          </p:nvSpPr>
          <p:spPr bwMode="auto">
            <a:xfrm>
              <a:off x="2196" y="780"/>
              <a:ext cx="0" cy="38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0" name="Text Box 32"/>
            <p:cNvSpPr txBox="1">
              <a:spLocks noChangeArrowheads="1"/>
            </p:cNvSpPr>
            <p:nvPr/>
          </p:nvSpPr>
          <p:spPr bwMode="auto">
            <a:xfrm>
              <a:off x="2196" y="780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FF3300"/>
                  </a:solidFill>
                </a:rPr>
                <a:t>u</a:t>
              </a:r>
              <a:r>
                <a:rPr lang="en-US" altLang="zh-CN" sz="2800" b="1" i="1" baseline="-25000">
                  <a:solidFill>
                    <a:srgbClr val="FF3300"/>
                  </a:solidFill>
                </a:rPr>
                <a:t>C</a:t>
              </a:r>
              <a:endParaRPr lang="en-US" altLang="zh-CN" sz="2800" b="1" i="1">
                <a:solidFill>
                  <a:srgbClr val="FF3300"/>
                </a:solidFill>
              </a:endParaRPr>
            </a:p>
          </p:txBody>
        </p:sp>
        <p:sp>
          <p:nvSpPr>
            <p:cNvPr id="17472" name="Line 64"/>
            <p:cNvSpPr>
              <a:spLocks noChangeShapeType="1"/>
            </p:cNvSpPr>
            <p:nvPr/>
          </p:nvSpPr>
          <p:spPr bwMode="auto">
            <a:xfrm>
              <a:off x="948" y="780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73" name="Text Box 65"/>
            <p:cNvSpPr txBox="1">
              <a:spLocks noChangeArrowheads="1"/>
            </p:cNvSpPr>
            <p:nvPr/>
          </p:nvSpPr>
          <p:spPr bwMode="auto">
            <a:xfrm>
              <a:off x="996" y="696"/>
              <a:ext cx="4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u</a:t>
              </a:r>
              <a:r>
                <a:rPr lang="en-US" altLang="zh-CN" sz="2800" b="1" i="1" baseline="-25000"/>
                <a:t>R</a:t>
              </a:r>
              <a:endParaRPr lang="en-US" altLang="zh-CN" sz="2800" b="1" i="1"/>
            </a:p>
          </p:txBody>
        </p:sp>
      </p:grpSp>
      <p:graphicFrame>
        <p:nvGraphicFramePr>
          <p:cNvPr id="17479" name="Object 71"/>
          <p:cNvGraphicFramePr>
            <a:graphicFrameLocks noChangeAspect="1"/>
          </p:cNvGraphicFramePr>
          <p:nvPr/>
        </p:nvGraphicFramePr>
        <p:xfrm>
          <a:off x="4724400" y="762000"/>
          <a:ext cx="206533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19" name="Equation" r:id="rId7" imgW="825480" imgH="228600" progId="Equation.3">
                  <p:embed/>
                </p:oleObj>
              </mc:Choice>
              <mc:Fallback>
                <p:oleObj name="Equation" r:id="rId7" imgW="825480" imgH="228600" progId="Equation.3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762000"/>
                        <a:ext cx="2065338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80" name="Object 72"/>
          <p:cNvGraphicFramePr>
            <a:graphicFrameLocks noChangeAspect="1"/>
          </p:cNvGraphicFramePr>
          <p:nvPr/>
        </p:nvGraphicFramePr>
        <p:xfrm>
          <a:off x="4572000" y="2057400"/>
          <a:ext cx="3970338" cy="158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20" name="Equation" r:id="rId9" imgW="1587240" imgH="634680" progId="Equation.3">
                  <p:embed/>
                </p:oleObj>
              </mc:Choice>
              <mc:Fallback>
                <p:oleObj name="Equation" r:id="rId9" imgW="1587240" imgH="634680" progId="Equation.3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057400"/>
                        <a:ext cx="3970338" cy="158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81" name="Object 73"/>
          <p:cNvGraphicFramePr>
            <a:graphicFrameLocks noChangeAspect="1"/>
          </p:cNvGraphicFramePr>
          <p:nvPr/>
        </p:nvGraphicFramePr>
        <p:xfrm>
          <a:off x="755650" y="3789363"/>
          <a:ext cx="4624388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21" name="公式" r:id="rId11" imgW="2019240" imgH="393480" progId="Equation.3">
                  <p:embed/>
                </p:oleObj>
              </mc:Choice>
              <mc:Fallback>
                <p:oleObj name="公式" r:id="rId11" imgW="2019240" imgH="393480" progId="Equation.3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789363"/>
                        <a:ext cx="4624388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82" name="Object 74"/>
          <p:cNvGraphicFramePr>
            <a:graphicFrameLocks noChangeAspect="1"/>
          </p:cNvGraphicFramePr>
          <p:nvPr/>
        </p:nvGraphicFramePr>
        <p:xfrm>
          <a:off x="755650" y="4941888"/>
          <a:ext cx="2703513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22" name="公式" r:id="rId13" imgW="1180800" imgH="291960" progId="Equation.3">
                  <p:embed/>
                </p:oleObj>
              </mc:Choice>
              <mc:Fallback>
                <p:oleObj name="公式" r:id="rId13" imgW="1180800" imgH="291960" progId="Equation.3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941888"/>
                        <a:ext cx="2703513" cy="668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D1A-B8DD-4B34-B3B7-BEEFB33D3C84}" type="slidenum">
              <a:rPr lang="en-US" altLang="zh-CN"/>
              <a:pPr/>
              <a:t>52</a:t>
            </a:fld>
            <a:endParaRPr lang="en-US" altLang="zh-CN"/>
          </a:p>
        </p:txBody>
      </p:sp>
      <p:sp>
        <p:nvSpPr>
          <p:cNvPr id="35846" name="Text Box 1030"/>
          <p:cNvSpPr txBox="1">
            <a:spLocks noChangeArrowheads="1"/>
          </p:cNvSpPr>
          <p:nvPr/>
        </p:nvSpPr>
        <p:spPr bwMode="auto">
          <a:xfrm>
            <a:off x="4191000" y="4430713"/>
            <a:ext cx="1524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0000FF"/>
                </a:solidFill>
              </a:rPr>
              <a:t>放电：</a:t>
            </a:r>
          </a:p>
        </p:txBody>
      </p:sp>
      <p:graphicFrame>
        <p:nvGraphicFramePr>
          <p:cNvPr id="35847" name="Object 1031"/>
          <p:cNvGraphicFramePr>
            <a:graphicFrameLocks noChangeAspect="1"/>
          </p:cNvGraphicFramePr>
          <p:nvPr/>
        </p:nvGraphicFramePr>
        <p:xfrm>
          <a:off x="5505450" y="4305300"/>
          <a:ext cx="1809750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861" name="公式" r:id="rId3" imgW="736560" imgH="406080" progId="Equation.3">
                  <p:embed/>
                </p:oleObj>
              </mc:Choice>
              <mc:Fallback>
                <p:oleObj name="公式" r:id="rId3" imgW="736560" imgH="406080" progId="Equation.3">
                  <p:embed/>
                  <p:pic>
                    <p:nvPicPr>
                      <p:cNvPr id="0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5450" y="4305300"/>
                        <a:ext cx="1809750" cy="995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8" name="Object 1032"/>
          <p:cNvGraphicFramePr>
            <a:graphicFrameLocks noChangeAspect="1"/>
          </p:cNvGraphicFramePr>
          <p:nvPr/>
        </p:nvGraphicFramePr>
        <p:xfrm>
          <a:off x="5524500" y="5295900"/>
          <a:ext cx="222885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862" name="公式" r:id="rId5" imgW="825480" imgH="241200" progId="Equation.3">
                  <p:embed/>
                </p:oleObj>
              </mc:Choice>
              <mc:Fallback>
                <p:oleObj name="公式" r:id="rId5" imgW="825480" imgH="241200" progId="Equation.3">
                  <p:embed/>
                  <p:pic>
                    <p:nvPicPr>
                      <p:cNvPr id="0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0" y="5295900"/>
                        <a:ext cx="222885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9" name="Text Box 1033"/>
          <p:cNvSpPr txBox="1">
            <a:spLocks noChangeArrowheads="1"/>
          </p:cNvSpPr>
          <p:nvPr/>
        </p:nvSpPr>
        <p:spPr bwMode="auto">
          <a:xfrm>
            <a:off x="4114800" y="3276600"/>
            <a:ext cx="5029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200" b="1"/>
              <a:t> </a:t>
            </a:r>
            <a:r>
              <a:rPr lang="zh-CN" altLang="en-US" sz="3200" b="1">
                <a:solidFill>
                  <a:srgbClr val="0000FF"/>
                </a:solidFill>
              </a:rPr>
              <a:t>时间常数</a:t>
            </a:r>
            <a:r>
              <a:rPr lang="en-US" altLang="zh-CN" sz="3200" b="1">
                <a:solidFill>
                  <a:srgbClr val="FF0000"/>
                </a:solidFill>
              </a:rPr>
              <a:t>(time constant)</a:t>
            </a:r>
            <a:r>
              <a:rPr lang="zh-CN" altLang="en-US" sz="3200" b="1">
                <a:solidFill>
                  <a:srgbClr val="FF0000"/>
                </a:solidFill>
              </a:rPr>
              <a:t>：</a:t>
            </a:r>
            <a:endParaRPr lang="zh-CN" altLang="en-US" sz="3200"/>
          </a:p>
        </p:txBody>
      </p:sp>
      <p:graphicFrame>
        <p:nvGraphicFramePr>
          <p:cNvPr id="35850" name="Object 1034"/>
          <p:cNvGraphicFramePr>
            <a:graphicFrameLocks noChangeAspect="1"/>
          </p:cNvGraphicFramePr>
          <p:nvPr/>
        </p:nvGraphicFramePr>
        <p:xfrm>
          <a:off x="5410200" y="2209800"/>
          <a:ext cx="13716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863" name="公式" r:id="rId7" imgW="507960" imgH="177480" progId="Equation.3">
                  <p:embed/>
                </p:oleObj>
              </mc:Choice>
              <mc:Fallback>
                <p:oleObj name="公式" r:id="rId7" imgW="507960" imgH="177480" progId="Equation.3">
                  <p:embed/>
                  <p:pic>
                    <p:nvPicPr>
                      <p:cNvPr id="0" name="Object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2209800"/>
                        <a:ext cx="1371600" cy="47625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1" name="Text Box 1035"/>
          <p:cNvSpPr txBox="1">
            <a:spLocks noChangeArrowheads="1"/>
          </p:cNvSpPr>
          <p:nvPr/>
        </p:nvSpPr>
        <p:spPr bwMode="auto">
          <a:xfrm>
            <a:off x="4324350" y="6202363"/>
            <a:ext cx="4267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0000FF"/>
                </a:solidFill>
              </a:rPr>
              <a:t>特点：</a:t>
            </a:r>
            <a:r>
              <a:rPr lang="en-US" altLang="zh-CN" sz="3200" b="1" i="1">
                <a:solidFill>
                  <a:srgbClr val="FF0000"/>
                </a:solidFill>
              </a:rPr>
              <a:t>u</a:t>
            </a:r>
            <a:r>
              <a:rPr lang="en-US" altLang="zh-CN" sz="3200" b="1" i="1" baseline="-25000">
                <a:solidFill>
                  <a:srgbClr val="FF0000"/>
                </a:solidFill>
              </a:rPr>
              <a:t>C </a:t>
            </a:r>
            <a:r>
              <a:rPr lang="zh-CN" altLang="en-US" sz="3200" b="1">
                <a:solidFill>
                  <a:srgbClr val="FF0000"/>
                </a:solidFill>
              </a:rPr>
              <a:t>不能突变。</a:t>
            </a:r>
          </a:p>
        </p:txBody>
      </p:sp>
      <p:sp>
        <p:nvSpPr>
          <p:cNvPr id="35852" name="Line 1036"/>
          <p:cNvSpPr>
            <a:spLocks noChangeShapeType="1"/>
          </p:cNvSpPr>
          <p:nvPr/>
        </p:nvSpPr>
        <p:spPr bwMode="auto">
          <a:xfrm>
            <a:off x="2286000" y="3124200"/>
            <a:ext cx="0" cy="3276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3" name="Arc 1037"/>
          <p:cNvSpPr>
            <a:spLocks/>
          </p:cNvSpPr>
          <p:nvPr/>
        </p:nvSpPr>
        <p:spPr bwMode="auto">
          <a:xfrm flipH="1">
            <a:off x="990600" y="4114800"/>
            <a:ext cx="1295400" cy="55245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4" name="Arc 1038"/>
          <p:cNvSpPr>
            <a:spLocks/>
          </p:cNvSpPr>
          <p:nvPr/>
        </p:nvSpPr>
        <p:spPr bwMode="auto">
          <a:xfrm flipH="1" flipV="1">
            <a:off x="2305050" y="4133850"/>
            <a:ext cx="1295400" cy="4191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5855" name="Group 1039"/>
          <p:cNvGrpSpPr>
            <a:grpSpLocks/>
          </p:cNvGrpSpPr>
          <p:nvPr/>
        </p:nvGrpSpPr>
        <p:grpSpPr bwMode="auto">
          <a:xfrm>
            <a:off x="495300" y="3543300"/>
            <a:ext cx="3448050" cy="1528763"/>
            <a:chOff x="312" y="2232"/>
            <a:chExt cx="2172" cy="963"/>
          </a:xfrm>
        </p:grpSpPr>
        <p:sp>
          <p:nvSpPr>
            <p:cNvPr id="35856" name="Line 1040"/>
            <p:cNvSpPr>
              <a:spLocks noChangeShapeType="1"/>
            </p:cNvSpPr>
            <p:nvPr/>
          </p:nvSpPr>
          <p:spPr bwMode="auto">
            <a:xfrm>
              <a:off x="432" y="2892"/>
              <a:ext cx="19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7" name="Line 1041"/>
            <p:cNvSpPr>
              <a:spLocks noChangeShapeType="1"/>
            </p:cNvSpPr>
            <p:nvPr/>
          </p:nvSpPr>
          <p:spPr bwMode="auto">
            <a:xfrm flipV="1">
              <a:off x="624" y="2412"/>
              <a:ext cx="0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8" name="Text Box 1042"/>
            <p:cNvSpPr txBox="1">
              <a:spLocks noChangeArrowheads="1"/>
            </p:cNvSpPr>
            <p:nvPr/>
          </p:nvSpPr>
          <p:spPr bwMode="auto">
            <a:xfrm>
              <a:off x="2196" y="2868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t</a:t>
              </a:r>
            </a:p>
          </p:txBody>
        </p:sp>
        <p:sp>
          <p:nvSpPr>
            <p:cNvPr id="35859" name="Line 1043"/>
            <p:cNvSpPr>
              <a:spLocks noChangeShapeType="1"/>
            </p:cNvSpPr>
            <p:nvPr/>
          </p:nvSpPr>
          <p:spPr bwMode="auto">
            <a:xfrm>
              <a:off x="624" y="260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0" name="Text Box 1044"/>
            <p:cNvSpPr txBox="1">
              <a:spLocks noChangeArrowheads="1"/>
            </p:cNvSpPr>
            <p:nvPr/>
          </p:nvSpPr>
          <p:spPr bwMode="auto">
            <a:xfrm>
              <a:off x="636" y="2232"/>
              <a:ext cx="4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FF3300"/>
                  </a:solidFill>
                </a:rPr>
                <a:t>u</a:t>
              </a:r>
              <a:r>
                <a:rPr lang="en-US" altLang="zh-CN" sz="2800" b="1" i="1" baseline="-25000">
                  <a:solidFill>
                    <a:srgbClr val="FF3300"/>
                  </a:solidFill>
                </a:rPr>
                <a:t>C</a:t>
              </a:r>
              <a:endParaRPr lang="en-US" altLang="zh-CN" sz="2800" b="1" i="1">
                <a:solidFill>
                  <a:srgbClr val="FF3300"/>
                </a:solidFill>
              </a:endParaRPr>
            </a:p>
          </p:txBody>
        </p:sp>
        <p:sp>
          <p:nvSpPr>
            <p:cNvPr id="35861" name="Text Box 1045"/>
            <p:cNvSpPr txBox="1">
              <a:spLocks noChangeArrowheads="1"/>
            </p:cNvSpPr>
            <p:nvPr/>
          </p:nvSpPr>
          <p:spPr bwMode="auto">
            <a:xfrm>
              <a:off x="432" y="2844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0</a:t>
              </a:r>
            </a:p>
          </p:txBody>
        </p:sp>
        <p:sp>
          <p:nvSpPr>
            <p:cNvPr id="35862" name="Text Box 1046"/>
            <p:cNvSpPr txBox="1">
              <a:spLocks noChangeArrowheads="1"/>
            </p:cNvSpPr>
            <p:nvPr/>
          </p:nvSpPr>
          <p:spPr bwMode="auto">
            <a:xfrm>
              <a:off x="312" y="2400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FF3300"/>
                  </a:solidFill>
                </a:rPr>
                <a:t>U</a:t>
              </a:r>
              <a:r>
                <a:rPr lang="en-US" altLang="zh-CN" b="1" baseline="-25000">
                  <a:solidFill>
                    <a:srgbClr val="FF3300"/>
                  </a:solidFill>
                </a:rPr>
                <a:t>0</a:t>
              </a:r>
              <a:endParaRPr lang="en-US" altLang="zh-CN" b="1">
                <a:solidFill>
                  <a:srgbClr val="FF3300"/>
                </a:solidFill>
              </a:endParaRPr>
            </a:p>
          </p:txBody>
        </p:sp>
      </p:grpSp>
      <p:grpSp>
        <p:nvGrpSpPr>
          <p:cNvPr id="35863" name="Group 1047"/>
          <p:cNvGrpSpPr>
            <a:grpSpLocks/>
          </p:cNvGrpSpPr>
          <p:nvPr/>
        </p:nvGrpSpPr>
        <p:grpSpPr bwMode="auto">
          <a:xfrm>
            <a:off x="476250" y="5010150"/>
            <a:ext cx="3505200" cy="1638300"/>
            <a:chOff x="300" y="3012"/>
            <a:chExt cx="2208" cy="1032"/>
          </a:xfrm>
        </p:grpSpPr>
        <p:sp>
          <p:nvSpPr>
            <p:cNvPr id="35864" name="Line 1048"/>
            <p:cNvSpPr>
              <a:spLocks noChangeShapeType="1"/>
            </p:cNvSpPr>
            <p:nvPr/>
          </p:nvSpPr>
          <p:spPr bwMode="auto">
            <a:xfrm>
              <a:off x="432" y="3600"/>
              <a:ext cx="19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5" name="Line 1049"/>
            <p:cNvSpPr>
              <a:spLocks noChangeShapeType="1"/>
            </p:cNvSpPr>
            <p:nvPr/>
          </p:nvSpPr>
          <p:spPr bwMode="auto">
            <a:xfrm flipV="1">
              <a:off x="624" y="3132"/>
              <a:ext cx="0" cy="9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6" name="Text Box 1050"/>
            <p:cNvSpPr txBox="1">
              <a:spLocks noChangeArrowheads="1"/>
            </p:cNvSpPr>
            <p:nvPr/>
          </p:nvSpPr>
          <p:spPr bwMode="auto">
            <a:xfrm>
              <a:off x="2220" y="3564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t</a:t>
              </a:r>
            </a:p>
          </p:txBody>
        </p:sp>
        <p:sp>
          <p:nvSpPr>
            <p:cNvPr id="35867" name="Arc 1051"/>
            <p:cNvSpPr>
              <a:spLocks/>
            </p:cNvSpPr>
            <p:nvPr/>
          </p:nvSpPr>
          <p:spPr bwMode="auto">
            <a:xfrm flipH="1" flipV="1">
              <a:off x="636" y="3288"/>
              <a:ext cx="708" cy="30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8" name="Arc 1052"/>
            <p:cNvSpPr>
              <a:spLocks/>
            </p:cNvSpPr>
            <p:nvPr/>
          </p:nvSpPr>
          <p:spPr bwMode="auto">
            <a:xfrm flipH="1">
              <a:off x="1440" y="3600"/>
              <a:ext cx="672" cy="33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9" name="Text Box 1053"/>
            <p:cNvSpPr txBox="1">
              <a:spLocks noChangeArrowheads="1"/>
            </p:cNvSpPr>
            <p:nvPr/>
          </p:nvSpPr>
          <p:spPr bwMode="auto">
            <a:xfrm>
              <a:off x="636" y="3012"/>
              <a:ext cx="4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u</a:t>
              </a:r>
              <a:r>
                <a:rPr lang="en-US" altLang="zh-CN" sz="2800" b="1" i="1" baseline="-25000"/>
                <a:t>R</a:t>
              </a:r>
              <a:endParaRPr lang="en-US" altLang="zh-CN" sz="2800" b="1" i="1"/>
            </a:p>
          </p:txBody>
        </p:sp>
        <p:sp>
          <p:nvSpPr>
            <p:cNvPr id="35870" name="Text Box 1054"/>
            <p:cNvSpPr txBox="1">
              <a:spLocks noChangeArrowheads="1"/>
            </p:cNvSpPr>
            <p:nvPr/>
          </p:nvSpPr>
          <p:spPr bwMode="auto">
            <a:xfrm>
              <a:off x="444" y="3564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0</a:t>
              </a:r>
            </a:p>
          </p:txBody>
        </p:sp>
        <p:sp>
          <p:nvSpPr>
            <p:cNvPr id="35871" name="Text Box 1055"/>
            <p:cNvSpPr txBox="1">
              <a:spLocks noChangeArrowheads="1"/>
            </p:cNvSpPr>
            <p:nvPr/>
          </p:nvSpPr>
          <p:spPr bwMode="auto">
            <a:xfrm>
              <a:off x="300" y="314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U</a:t>
              </a:r>
              <a:r>
                <a:rPr lang="en-US" altLang="zh-CN" b="1" baseline="-25000"/>
                <a:t>0</a:t>
              </a:r>
              <a:endParaRPr lang="en-US" altLang="zh-CN" b="1"/>
            </a:p>
          </p:txBody>
        </p:sp>
      </p:grpSp>
      <p:grpSp>
        <p:nvGrpSpPr>
          <p:cNvPr id="35872" name="Group 1056"/>
          <p:cNvGrpSpPr>
            <a:grpSpLocks/>
          </p:cNvGrpSpPr>
          <p:nvPr/>
        </p:nvGrpSpPr>
        <p:grpSpPr bwMode="auto">
          <a:xfrm>
            <a:off x="514350" y="2057400"/>
            <a:ext cx="3352800" cy="1547813"/>
            <a:chOff x="324" y="1284"/>
            <a:chExt cx="2112" cy="975"/>
          </a:xfrm>
        </p:grpSpPr>
        <p:sp>
          <p:nvSpPr>
            <p:cNvPr id="35873" name="Line 1057"/>
            <p:cNvSpPr>
              <a:spLocks noChangeShapeType="1"/>
            </p:cNvSpPr>
            <p:nvPr/>
          </p:nvSpPr>
          <p:spPr bwMode="auto">
            <a:xfrm>
              <a:off x="384" y="1968"/>
              <a:ext cx="19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4" name="Line 1058"/>
            <p:cNvSpPr>
              <a:spLocks noChangeShapeType="1"/>
            </p:cNvSpPr>
            <p:nvPr/>
          </p:nvSpPr>
          <p:spPr bwMode="auto">
            <a:xfrm flipV="1">
              <a:off x="624" y="1440"/>
              <a:ext cx="0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5" name="Line 1059"/>
            <p:cNvSpPr>
              <a:spLocks noChangeShapeType="1"/>
            </p:cNvSpPr>
            <p:nvPr/>
          </p:nvSpPr>
          <p:spPr bwMode="auto">
            <a:xfrm>
              <a:off x="624" y="1680"/>
              <a:ext cx="81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6" name="Line 1060"/>
            <p:cNvSpPr>
              <a:spLocks noChangeShapeType="1"/>
            </p:cNvSpPr>
            <p:nvPr/>
          </p:nvSpPr>
          <p:spPr bwMode="auto">
            <a:xfrm>
              <a:off x="1440" y="1680"/>
              <a:ext cx="0" cy="28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7" name="Text Box 1061"/>
            <p:cNvSpPr txBox="1">
              <a:spLocks noChangeArrowheads="1"/>
            </p:cNvSpPr>
            <p:nvPr/>
          </p:nvSpPr>
          <p:spPr bwMode="auto">
            <a:xfrm>
              <a:off x="444" y="19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0</a:t>
              </a:r>
            </a:p>
          </p:txBody>
        </p:sp>
        <p:sp>
          <p:nvSpPr>
            <p:cNvPr id="35878" name="Text Box 1062"/>
            <p:cNvSpPr txBox="1">
              <a:spLocks noChangeArrowheads="1"/>
            </p:cNvSpPr>
            <p:nvPr/>
          </p:nvSpPr>
          <p:spPr bwMode="auto">
            <a:xfrm>
              <a:off x="2148" y="1932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t</a:t>
              </a:r>
            </a:p>
          </p:txBody>
        </p:sp>
        <p:sp>
          <p:nvSpPr>
            <p:cNvPr id="35879" name="Text Box 1063"/>
            <p:cNvSpPr txBox="1">
              <a:spLocks noChangeArrowheads="1"/>
            </p:cNvSpPr>
            <p:nvPr/>
          </p:nvSpPr>
          <p:spPr bwMode="auto">
            <a:xfrm>
              <a:off x="636" y="1284"/>
              <a:ext cx="48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 i="1">
                  <a:solidFill>
                    <a:srgbClr val="0000FF"/>
                  </a:solidFill>
                </a:rPr>
                <a:t>u</a:t>
              </a:r>
              <a:r>
                <a:rPr lang="zh-CN" altLang="en-US" b="1" baseline="-25000">
                  <a:solidFill>
                    <a:srgbClr val="0000FF"/>
                  </a:solidFill>
                </a:rPr>
                <a:t>入</a:t>
              </a:r>
              <a:endParaRPr lang="zh-CN" altLang="en-US" sz="3200" b="1">
                <a:solidFill>
                  <a:srgbClr val="0000FF"/>
                </a:solidFill>
              </a:endParaRPr>
            </a:p>
          </p:txBody>
        </p:sp>
        <p:sp>
          <p:nvSpPr>
            <p:cNvPr id="35880" name="Text Box 1064"/>
            <p:cNvSpPr txBox="1">
              <a:spLocks noChangeArrowheads="1"/>
            </p:cNvSpPr>
            <p:nvPr/>
          </p:nvSpPr>
          <p:spPr bwMode="auto">
            <a:xfrm>
              <a:off x="324" y="152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0000FF"/>
                  </a:solidFill>
                </a:rPr>
                <a:t>U</a:t>
              </a:r>
              <a:r>
                <a:rPr lang="en-US" altLang="zh-CN" b="1" baseline="-25000">
                  <a:solidFill>
                    <a:srgbClr val="0000FF"/>
                  </a:solidFill>
                </a:rPr>
                <a:t>0</a:t>
              </a:r>
              <a:endParaRPr lang="en-US" altLang="zh-CN" b="1">
                <a:solidFill>
                  <a:srgbClr val="0000FF"/>
                </a:solidFill>
              </a:endParaRPr>
            </a:p>
          </p:txBody>
        </p:sp>
      </p:grpSp>
      <p:grpSp>
        <p:nvGrpSpPr>
          <p:cNvPr id="35881" name="Group 1065"/>
          <p:cNvGrpSpPr>
            <a:grpSpLocks/>
          </p:cNvGrpSpPr>
          <p:nvPr/>
        </p:nvGrpSpPr>
        <p:grpSpPr bwMode="auto">
          <a:xfrm>
            <a:off x="571500" y="571500"/>
            <a:ext cx="3676650" cy="1616075"/>
            <a:chOff x="360" y="360"/>
            <a:chExt cx="2316" cy="1018"/>
          </a:xfrm>
        </p:grpSpPr>
        <p:sp>
          <p:nvSpPr>
            <p:cNvPr id="35882" name="Text Box 1066"/>
            <p:cNvSpPr txBox="1">
              <a:spLocks noChangeArrowheads="1"/>
            </p:cNvSpPr>
            <p:nvPr/>
          </p:nvSpPr>
          <p:spPr bwMode="auto">
            <a:xfrm>
              <a:off x="360" y="360"/>
              <a:ext cx="52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4000" b="1"/>
                <a:t>。</a:t>
              </a:r>
            </a:p>
          </p:txBody>
        </p:sp>
        <p:sp>
          <p:nvSpPr>
            <p:cNvPr id="35883" name="Text Box 1067"/>
            <p:cNvSpPr txBox="1">
              <a:spLocks noChangeArrowheads="1"/>
            </p:cNvSpPr>
            <p:nvPr/>
          </p:nvSpPr>
          <p:spPr bwMode="auto">
            <a:xfrm>
              <a:off x="1584" y="816"/>
              <a:ext cx="5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FF3300"/>
                  </a:solidFill>
                </a:rPr>
                <a:t>C</a:t>
              </a:r>
            </a:p>
          </p:txBody>
        </p:sp>
        <p:sp>
          <p:nvSpPr>
            <p:cNvPr id="35884" name="Line 1068"/>
            <p:cNvSpPr>
              <a:spLocks noChangeShapeType="1"/>
            </p:cNvSpPr>
            <p:nvPr/>
          </p:nvSpPr>
          <p:spPr bwMode="auto">
            <a:xfrm>
              <a:off x="516" y="684"/>
              <a:ext cx="1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85" name="Line 1069"/>
            <p:cNvSpPr>
              <a:spLocks noChangeShapeType="1"/>
            </p:cNvSpPr>
            <p:nvPr/>
          </p:nvSpPr>
          <p:spPr bwMode="auto">
            <a:xfrm>
              <a:off x="528" y="1260"/>
              <a:ext cx="1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86" name="Line 1070"/>
            <p:cNvSpPr>
              <a:spLocks noChangeShapeType="1"/>
            </p:cNvSpPr>
            <p:nvPr/>
          </p:nvSpPr>
          <p:spPr bwMode="auto">
            <a:xfrm>
              <a:off x="2004" y="684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87" name="Line 1071"/>
            <p:cNvSpPr>
              <a:spLocks noChangeShapeType="1"/>
            </p:cNvSpPr>
            <p:nvPr/>
          </p:nvSpPr>
          <p:spPr bwMode="auto">
            <a:xfrm>
              <a:off x="2004" y="1020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88" name="Text Box 1072"/>
            <p:cNvSpPr txBox="1">
              <a:spLocks noChangeArrowheads="1"/>
            </p:cNvSpPr>
            <p:nvPr/>
          </p:nvSpPr>
          <p:spPr bwMode="auto">
            <a:xfrm>
              <a:off x="360" y="936"/>
              <a:ext cx="52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4000" b="1"/>
                <a:t>。</a:t>
              </a:r>
            </a:p>
          </p:txBody>
        </p:sp>
        <p:sp>
          <p:nvSpPr>
            <p:cNvPr id="35889" name="Line 1073"/>
            <p:cNvSpPr>
              <a:spLocks noChangeShapeType="1"/>
            </p:cNvSpPr>
            <p:nvPr/>
          </p:nvSpPr>
          <p:spPr bwMode="auto">
            <a:xfrm>
              <a:off x="468" y="816"/>
              <a:ext cx="0" cy="336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90" name="Text Box 1074"/>
            <p:cNvSpPr txBox="1">
              <a:spLocks noChangeArrowheads="1"/>
            </p:cNvSpPr>
            <p:nvPr/>
          </p:nvSpPr>
          <p:spPr bwMode="auto">
            <a:xfrm>
              <a:off x="492" y="756"/>
              <a:ext cx="48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 i="1">
                  <a:solidFill>
                    <a:srgbClr val="0000FF"/>
                  </a:solidFill>
                </a:rPr>
                <a:t>u</a:t>
              </a:r>
              <a:r>
                <a:rPr lang="zh-CN" altLang="en-US" b="1" baseline="-25000">
                  <a:solidFill>
                    <a:srgbClr val="0000FF"/>
                  </a:solidFill>
                </a:rPr>
                <a:t>入</a:t>
              </a:r>
              <a:endParaRPr lang="zh-CN" altLang="en-US" sz="3200" b="1">
                <a:solidFill>
                  <a:srgbClr val="0000FF"/>
                </a:solidFill>
              </a:endParaRPr>
            </a:p>
          </p:txBody>
        </p:sp>
        <p:sp>
          <p:nvSpPr>
            <p:cNvPr id="35891" name="Line 1075"/>
            <p:cNvSpPr>
              <a:spLocks noChangeShapeType="1"/>
            </p:cNvSpPr>
            <p:nvPr/>
          </p:nvSpPr>
          <p:spPr bwMode="auto">
            <a:xfrm>
              <a:off x="1500" y="684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92" name="Text Box 1076"/>
            <p:cNvSpPr txBox="1">
              <a:spLocks noChangeArrowheads="1"/>
            </p:cNvSpPr>
            <p:nvPr/>
          </p:nvSpPr>
          <p:spPr bwMode="auto">
            <a:xfrm>
              <a:off x="1488" y="648"/>
              <a:ext cx="5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i</a:t>
              </a:r>
            </a:p>
          </p:txBody>
        </p:sp>
        <p:sp>
          <p:nvSpPr>
            <p:cNvPr id="35893" name="Rectangle 1077"/>
            <p:cNvSpPr>
              <a:spLocks noChangeArrowheads="1"/>
            </p:cNvSpPr>
            <p:nvPr/>
          </p:nvSpPr>
          <p:spPr bwMode="auto">
            <a:xfrm>
              <a:off x="984" y="636"/>
              <a:ext cx="336" cy="9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94" name="Text Box 1078"/>
            <p:cNvSpPr txBox="1">
              <a:spLocks noChangeArrowheads="1"/>
            </p:cNvSpPr>
            <p:nvPr/>
          </p:nvSpPr>
          <p:spPr bwMode="auto">
            <a:xfrm>
              <a:off x="996" y="384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/>
                <a:t>R</a:t>
              </a:r>
            </a:p>
          </p:txBody>
        </p:sp>
        <p:sp>
          <p:nvSpPr>
            <p:cNvPr id="35895" name="Line 1079"/>
            <p:cNvSpPr>
              <a:spLocks noChangeShapeType="1"/>
            </p:cNvSpPr>
            <p:nvPr/>
          </p:nvSpPr>
          <p:spPr bwMode="auto">
            <a:xfrm>
              <a:off x="1860" y="924"/>
              <a:ext cx="288" cy="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96" name="Line 1080"/>
            <p:cNvSpPr>
              <a:spLocks noChangeShapeType="1"/>
            </p:cNvSpPr>
            <p:nvPr/>
          </p:nvSpPr>
          <p:spPr bwMode="auto">
            <a:xfrm>
              <a:off x="1860" y="1020"/>
              <a:ext cx="288" cy="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97" name="Line 1081"/>
            <p:cNvSpPr>
              <a:spLocks noChangeShapeType="1"/>
            </p:cNvSpPr>
            <p:nvPr/>
          </p:nvSpPr>
          <p:spPr bwMode="auto">
            <a:xfrm>
              <a:off x="2196" y="780"/>
              <a:ext cx="0" cy="38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98" name="Text Box 1082"/>
            <p:cNvSpPr txBox="1">
              <a:spLocks noChangeArrowheads="1"/>
            </p:cNvSpPr>
            <p:nvPr/>
          </p:nvSpPr>
          <p:spPr bwMode="auto">
            <a:xfrm>
              <a:off x="2196" y="780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FF3300"/>
                  </a:solidFill>
                </a:rPr>
                <a:t>u</a:t>
              </a:r>
              <a:r>
                <a:rPr lang="en-US" altLang="zh-CN" sz="2800" b="1" i="1" baseline="-25000">
                  <a:solidFill>
                    <a:srgbClr val="FF3300"/>
                  </a:solidFill>
                </a:rPr>
                <a:t>C</a:t>
              </a:r>
              <a:endParaRPr lang="en-US" altLang="zh-CN" sz="2800" b="1" i="1">
                <a:solidFill>
                  <a:srgbClr val="FF3300"/>
                </a:solidFill>
              </a:endParaRPr>
            </a:p>
          </p:txBody>
        </p:sp>
        <p:sp>
          <p:nvSpPr>
            <p:cNvPr id="35899" name="Line 1083"/>
            <p:cNvSpPr>
              <a:spLocks noChangeShapeType="1"/>
            </p:cNvSpPr>
            <p:nvPr/>
          </p:nvSpPr>
          <p:spPr bwMode="auto">
            <a:xfrm>
              <a:off x="948" y="780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00" name="Text Box 1084"/>
            <p:cNvSpPr txBox="1">
              <a:spLocks noChangeArrowheads="1"/>
            </p:cNvSpPr>
            <p:nvPr/>
          </p:nvSpPr>
          <p:spPr bwMode="auto">
            <a:xfrm>
              <a:off x="996" y="696"/>
              <a:ext cx="4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u</a:t>
              </a:r>
              <a:r>
                <a:rPr lang="en-US" altLang="zh-CN" sz="2800" b="1" i="1" baseline="-25000"/>
                <a:t>R</a:t>
              </a:r>
              <a:endParaRPr lang="en-US" altLang="zh-CN" sz="2800" b="1" i="1"/>
            </a:p>
          </p:txBody>
        </p:sp>
      </p:grpSp>
      <p:sp>
        <p:nvSpPr>
          <p:cNvPr id="35903" name="Text Box 1087"/>
          <p:cNvSpPr txBox="1">
            <a:spLocks noChangeArrowheads="1"/>
          </p:cNvSpPr>
          <p:nvPr/>
        </p:nvSpPr>
        <p:spPr bwMode="auto">
          <a:xfrm>
            <a:off x="4343400" y="152400"/>
            <a:ext cx="1524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0000FF"/>
                </a:solidFill>
              </a:rPr>
              <a:t>充电：</a:t>
            </a:r>
          </a:p>
        </p:txBody>
      </p:sp>
      <p:graphicFrame>
        <p:nvGraphicFramePr>
          <p:cNvPr id="35904" name="Object 1088"/>
          <p:cNvGraphicFramePr>
            <a:graphicFrameLocks noChangeAspect="1"/>
          </p:cNvGraphicFramePr>
          <p:nvPr/>
        </p:nvGraphicFramePr>
        <p:xfrm>
          <a:off x="5562600" y="228600"/>
          <a:ext cx="1938338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864" name="公式" r:id="rId9" imgW="774360" imgH="406080" progId="Equation.3">
                  <p:embed/>
                </p:oleObj>
              </mc:Choice>
              <mc:Fallback>
                <p:oleObj name="公式" r:id="rId9" imgW="774360" imgH="406080" progId="Equation.3">
                  <p:embed/>
                  <p:pic>
                    <p:nvPicPr>
                      <p:cNvPr id="0" name="Object 10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228600"/>
                        <a:ext cx="1938338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905" name="Object 1089"/>
          <p:cNvGraphicFramePr>
            <a:graphicFrameLocks noChangeAspect="1"/>
          </p:cNvGraphicFramePr>
          <p:nvPr/>
        </p:nvGraphicFramePr>
        <p:xfrm>
          <a:off x="5410200" y="1447800"/>
          <a:ext cx="291465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865" name="公式" r:id="rId11" imgW="1104840" imgH="241200" progId="Equation.3">
                  <p:embed/>
                </p:oleObj>
              </mc:Choice>
              <mc:Fallback>
                <p:oleObj name="公式" r:id="rId11" imgW="1104840" imgH="241200" progId="Equation.3">
                  <p:embed/>
                  <p:pic>
                    <p:nvPicPr>
                      <p:cNvPr id="0" name="Object 10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447800"/>
                        <a:ext cx="2914650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35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5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3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5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300"/>
                                        <p:tgtEl>
                                          <p:spTgt spid="3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5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6" grpId="0" autoUpdateAnimBg="0"/>
      <p:bldP spid="35849" grpId="0" autoUpdateAnimBg="0"/>
      <p:bldP spid="35851" grpId="0" autoUpdateAnimBg="0"/>
      <p:bldP spid="35852" grpId="0" animBg="1"/>
      <p:bldP spid="35853" grpId="0" animBg="1"/>
      <p:bldP spid="35854" grpId="0" animBg="1"/>
      <p:bldP spid="35903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B1150-582B-4753-8DED-B3FF17F6A1BF}" type="slidenum">
              <a:rPr lang="en-US" altLang="zh-CN"/>
              <a:pPr/>
              <a:t>53</a:t>
            </a:fld>
            <a:endParaRPr lang="en-US" altLang="zh-CN"/>
          </a:p>
        </p:txBody>
      </p:sp>
      <p:sp>
        <p:nvSpPr>
          <p:cNvPr id="29698" name="Text Box 1026"/>
          <p:cNvSpPr txBox="1">
            <a:spLocks noChangeArrowheads="1"/>
          </p:cNvSpPr>
          <p:nvPr/>
        </p:nvSpPr>
        <p:spPr bwMode="auto">
          <a:xfrm>
            <a:off x="609600" y="404813"/>
            <a:ext cx="7239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zh-CN" sz="2800" b="1">
                <a:solidFill>
                  <a:srgbClr val="0000FF"/>
                </a:solidFill>
                <a:latin typeface="宋体" pitchFamily="2" charset="-122"/>
              </a:rPr>
              <a:t>△</a:t>
            </a:r>
            <a:r>
              <a:rPr lang="en-US" altLang="zh-CN" sz="3200" b="1">
                <a:solidFill>
                  <a:srgbClr val="0000FF"/>
                </a:solidFill>
              </a:rPr>
              <a:t>§7</a:t>
            </a:r>
            <a:r>
              <a:rPr lang="zh-CN" altLang="en-US" sz="3600" b="1">
                <a:solidFill>
                  <a:srgbClr val="0000FF"/>
                </a:solidFill>
              </a:rPr>
              <a:t>电流的一种经典微观图象</a:t>
            </a:r>
          </a:p>
        </p:txBody>
      </p:sp>
      <p:sp>
        <p:nvSpPr>
          <p:cNvPr id="29701" name="Text Box 1029"/>
          <p:cNvSpPr txBox="1">
            <a:spLocks noChangeArrowheads="1"/>
          </p:cNvSpPr>
          <p:nvPr/>
        </p:nvSpPr>
        <p:spPr bwMode="auto">
          <a:xfrm>
            <a:off x="2484438" y="1195388"/>
            <a:ext cx="39036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/>
              <a:t>（本节全部自学）</a:t>
            </a:r>
          </a:p>
        </p:txBody>
      </p:sp>
      <p:sp>
        <p:nvSpPr>
          <p:cNvPr id="29702" name="AutoShape 103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8534400" y="5891213"/>
            <a:ext cx="304800" cy="152400"/>
          </a:xfrm>
          <a:prstGeom prst="actionButtonBeginning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709" name="Object 1037"/>
          <p:cNvGraphicFramePr>
            <a:graphicFrameLocks noChangeAspect="1"/>
          </p:cNvGraphicFramePr>
          <p:nvPr/>
        </p:nvGraphicFramePr>
        <p:xfrm>
          <a:off x="661988" y="2149475"/>
          <a:ext cx="1843087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13" name="Equation" r:id="rId3" imgW="774360" imgH="279360" progId="Equation.DSMT4">
                  <p:embed/>
                </p:oleObj>
              </mc:Choice>
              <mc:Fallback>
                <p:oleObj name="Equation" r:id="rId3" imgW="774360" imgH="279360" progId="Equation.DSMT4">
                  <p:embed/>
                  <p:pic>
                    <p:nvPicPr>
                      <p:cNvPr id="0" name="Object 10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988" y="2149475"/>
                        <a:ext cx="1843087" cy="8048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1" name="Object 1039"/>
          <p:cNvGraphicFramePr>
            <a:graphicFrameLocks noChangeAspect="1"/>
          </p:cNvGraphicFramePr>
          <p:nvPr/>
        </p:nvGraphicFramePr>
        <p:xfrm>
          <a:off x="3132138" y="2133600"/>
          <a:ext cx="1844675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14" name="Equation" r:id="rId5" imgW="774360" imgH="279360" progId="Equation.DSMT4">
                  <p:embed/>
                </p:oleObj>
              </mc:Choice>
              <mc:Fallback>
                <p:oleObj name="Equation" r:id="rId5" imgW="774360" imgH="279360" progId="Equation.DSMT4">
                  <p:embed/>
                  <p:pic>
                    <p:nvPicPr>
                      <p:cNvPr id="0" name="Object 10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2133600"/>
                        <a:ext cx="1844675" cy="8048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2" name="Object 1040"/>
          <p:cNvGraphicFramePr>
            <a:graphicFrameLocks noChangeAspect="1"/>
          </p:cNvGraphicFramePr>
          <p:nvPr/>
        </p:nvGraphicFramePr>
        <p:xfrm>
          <a:off x="684213" y="3213100"/>
          <a:ext cx="3452812" cy="108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15" name="Equation" r:id="rId7" imgW="1955520" imgH="507960" progId="Equation.DSMT4">
                  <p:embed/>
                </p:oleObj>
              </mc:Choice>
              <mc:Fallback>
                <p:oleObj name="Equation" r:id="rId7" imgW="1955520" imgH="507960" progId="Equation.DSMT4">
                  <p:embed/>
                  <p:pic>
                    <p:nvPicPr>
                      <p:cNvPr id="0" name="Object 10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213100"/>
                        <a:ext cx="3452812" cy="10842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3" name="Object 1041"/>
          <p:cNvGraphicFramePr>
            <a:graphicFrameLocks noChangeAspect="1"/>
          </p:cNvGraphicFramePr>
          <p:nvPr/>
        </p:nvGraphicFramePr>
        <p:xfrm>
          <a:off x="4643438" y="3644900"/>
          <a:ext cx="2905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16" name="Equation" r:id="rId9" imgW="164880" imgH="190440" progId="Equation.DSMT4">
                  <p:embed/>
                </p:oleObj>
              </mc:Choice>
              <mc:Fallback>
                <p:oleObj name="Equation" r:id="rId9" imgW="164880" imgH="190440" progId="Equation.DSMT4">
                  <p:embed/>
                  <p:pic>
                    <p:nvPicPr>
                      <p:cNvPr id="0" name="Object 10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3644900"/>
                        <a:ext cx="290512" cy="406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4" name="Text Box 1042"/>
          <p:cNvSpPr txBox="1">
            <a:spLocks noChangeArrowheads="1"/>
          </p:cNvSpPr>
          <p:nvPr/>
        </p:nvSpPr>
        <p:spPr bwMode="auto">
          <a:xfrm>
            <a:off x="5056188" y="3573463"/>
            <a:ext cx="2622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平均自由飞行时间</a:t>
            </a:r>
          </a:p>
        </p:txBody>
      </p:sp>
      <p:graphicFrame>
        <p:nvGraphicFramePr>
          <p:cNvPr id="29715" name="Object 1043"/>
          <p:cNvGraphicFramePr>
            <a:graphicFrameLocks noChangeAspect="1"/>
          </p:cNvGraphicFramePr>
          <p:nvPr/>
        </p:nvGraphicFramePr>
        <p:xfrm>
          <a:off x="611188" y="4365625"/>
          <a:ext cx="2668587" cy="108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17" name="Equation" r:id="rId11" imgW="1511280" imgH="507960" progId="Equation.DSMT4">
                  <p:embed/>
                </p:oleObj>
              </mc:Choice>
              <mc:Fallback>
                <p:oleObj name="Equation" r:id="rId11" imgW="1511280" imgH="507960" progId="Equation.DSMT4">
                  <p:embed/>
                  <p:pic>
                    <p:nvPicPr>
                      <p:cNvPr id="0" name="Object 10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365625"/>
                        <a:ext cx="2668587" cy="10842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7" name="Object 1045"/>
          <p:cNvGraphicFramePr>
            <a:graphicFrameLocks noChangeAspect="1"/>
          </p:cNvGraphicFramePr>
          <p:nvPr/>
        </p:nvGraphicFramePr>
        <p:xfrm>
          <a:off x="3563938" y="4437063"/>
          <a:ext cx="4608512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18" name="Equation" r:id="rId13" imgW="2247840" imgH="507960" progId="Equation.DSMT4">
                  <p:embed/>
                </p:oleObj>
              </mc:Choice>
              <mc:Fallback>
                <p:oleObj name="Equation" r:id="rId13" imgW="2247840" imgH="507960" progId="Equation.DSMT4">
                  <p:embed/>
                  <p:pic>
                    <p:nvPicPr>
                      <p:cNvPr id="0" name="Object 10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4437063"/>
                        <a:ext cx="4608512" cy="9350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8" name="Object 1046"/>
          <p:cNvGraphicFramePr>
            <a:graphicFrameLocks noChangeAspect="1"/>
          </p:cNvGraphicFramePr>
          <p:nvPr/>
        </p:nvGraphicFramePr>
        <p:xfrm>
          <a:off x="684213" y="5589588"/>
          <a:ext cx="1655762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19" name="Equation" r:id="rId15" imgW="787320" imgH="495000" progId="Equation.DSMT4">
                  <p:embed/>
                </p:oleObj>
              </mc:Choice>
              <mc:Fallback>
                <p:oleObj name="Equation" r:id="rId15" imgW="787320" imgH="495000" progId="Equation.DSMT4">
                  <p:embed/>
                  <p:pic>
                    <p:nvPicPr>
                      <p:cNvPr id="0" name="Object 10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5589588"/>
                        <a:ext cx="1655762" cy="10525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9" name="Object 1047"/>
          <p:cNvGraphicFramePr>
            <a:graphicFrameLocks noChangeAspect="1"/>
          </p:cNvGraphicFramePr>
          <p:nvPr/>
        </p:nvGraphicFramePr>
        <p:xfrm>
          <a:off x="3203575" y="5661025"/>
          <a:ext cx="1095375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20" name="Equation" r:id="rId17" imgW="520560" imgH="495000" progId="Equation.DSMT4">
                  <p:embed/>
                </p:oleObj>
              </mc:Choice>
              <mc:Fallback>
                <p:oleObj name="Equation" r:id="rId17" imgW="520560" imgH="495000" progId="Equation.DSMT4">
                  <p:embed/>
                  <p:pic>
                    <p:nvPicPr>
                      <p:cNvPr id="0" name="Object 10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5661025"/>
                        <a:ext cx="1095375" cy="10525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0" name="Object 1048"/>
          <p:cNvGraphicFramePr>
            <a:graphicFrameLocks noChangeAspect="1"/>
          </p:cNvGraphicFramePr>
          <p:nvPr/>
        </p:nvGraphicFramePr>
        <p:xfrm>
          <a:off x="5521325" y="5913438"/>
          <a:ext cx="347663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21" name="Equation" r:id="rId19" imgW="164880" imgH="190440" progId="Equation.DSMT4">
                  <p:embed/>
                </p:oleObj>
              </mc:Choice>
              <mc:Fallback>
                <p:oleObj name="Equation" r:id="rId19" imgW="164880" imgH="190440" progId="Equation.DSMT4">
                  <p:embed/>
                  <p:pic>
                    <p:nvPicPr>
                      <p:cNvPr id="0" name="Object 1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1325" y="5913438"/>
                        <a:ext cx="347663" cy="4048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1" name="Text Box 1049"/>
          <p:cNvSpPr txBox="1">
            <a:spLocks noChangeArrowheads="1"/>
          </p:cNvSpPr>
          <p:nvPr/>
        </p:nvSpPr>
        <p:spPr bwMode="auto">
          <a:xfrm>
            <a:off x="5992813" y="5805488"/>
            <a:ext cx="1098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不同于</a:t>
            </a:r>
          </a:p>
        </p:txBody>
      </p:sp>
      <p:graphicFrame>
        <p:nvGraphicFramePr>
          <p:cNvPr id="29722" name="Object 1050"/>
          <p:cNvGraphicFramePr>
            <a:graphicFrameLocks noChangeAspect="1"/>
          </p:cNvGraphicFramePr>
          <p:nvPr/>
        </p:nvGraphicFramePr>
        <p:xfrm>
          <a:off x="7019925" y="5805488"/>
          <a:ext cx="3460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22" name="Equation" r:id="rId21" imgW="152280" imgH="190440" progId="Equation.DSMT4">
                  <p:embed/>
                </p:oleObj>
              </mc:Choice>
              <mc:Fallback>
                <p:oleObj name="Equation" r:id="rId21" imgW="152280" imgH="190440" progId="Equation.DSMT4">
                  <p:embed/>
                  <p:pic>
                    <p:nvPicPr>
                      <p:cNvPr id="0" name="Object 10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5805488"/>
                        <a:ext cx="3460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7B66E-897B-47CF-881D-C41F1CA0F0F5}" type="slidenum">
              <a:rPr lang="en-US" altLang="zh-CN"/>
              <a:pPr/>
              <a:t>54</a:t>
            </a:fld>
            <a:endParaRPr lang="en-US" altLang="zh-CN" dirty="0"/>
          </a:p>
        </p:txBody>
      </p:sp>
      <p:grpSp>
        <p:nvGrpSpPr>
          <p:cNvPr id="51204" name="Group 4"/>
          <p:cNvGrpSpPr>
            <a:grpSpLocks/>
          </p:cNvGrpSpPr>
          <p:nvPr/>
        </p:nvGrpSpPr>
        <p:grpSpPr bwMode="auto">
          <a:xfrm>
            <a:off x="900113" y="116632"/>
            <a:ext cx="4095750" cy="2714625"/>
            <a:chOff x="144" y="594"/>
            <a:chExt cx="2580" cy="1710"/>
          </a:xfrm>
        </p:grpSpPr>
        <p:sp>
          <p:nvSpPr>
            <p:cNvPr id="51205" name="Freeform 5"/>
            <p:cNvSpPr>
              <a:spLocks/>
            </p:cNvSpPr>
            <p:nvPr/>
          </p:nvSpPr>
          <p:spPr bwMode="auto">
            <a:xfrm>
              <a:off x="252" y="1680"/>
              <a:ext cx="2352" cy="624"/>
            </a:xfrm>
            <a:custGeom>
              <a:avLst/>
              <a:gdLst>
                <a:gd name="T0" fmla="*/ 0 w 2352"/>
                <a:gd name="T1" fmla="*/ 144 h 432"/>
                <a:gd name="T2" fmla="*/ 960 w 2352"/>
                <a:gd name="T3" fmla="*/ 48 h 432"/>
                <a:gd name="T4" fmla="*/ 2352 w 2352"/>
                <a:gd name="T5" fmla="*/ 432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52" h="432">
                  <a:moveTo>
                    <a:pt x="0" y="144"/>
                  </a:moveTo>
                  <a:cubicBezTo>
                    <a:pt x="284" y="72"/>
                    <a:pt x="568" y="0"/>
                    <a:pt x="960" y="48"/>
                  </a:cubicBezTo>
                  <a:cubicBezTo>
                    <a:pt x="1352" y="96"/>
                    <a:pt x="2120" y="368"/>
                    <a:pt x="2352" y="432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06" name="Freeform 6"/>
            <p:cNvSpPr>
              <a:spLocks/>
            </p:cNvSpPr>
            <p:nvPr/>
          </p:nvSpPr>
          <p:spPr bwMode="auto">
            <a:xfrm>
              <a:off x="300" y="696"/>
              <a:ext cx="2208" cy="344"/>
            </a:xfrm>
            <a:custGeom>
              <a:avLst/>
              <a:gdLst>
                <a:gd name="T0" fmla="*/ 0 w 2208"/>
                <a:gd name="T1" fmla="*/ 336 h 344"/>
                <a:gd name="T2" fmla="*/ 1104 w 2208"/>
                <a:gd name="T3" fmla="*/ 288 h 344"/>
                <a:gd name="T4" fmla="*/ 2208 w 2208"/>
                <a:gd name="T5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08" h="344">
                  <a:moveTo>
                    <a:pt x="0" y="336"/>
                  </a:moveTo>
                  <a:cubicBezTo>
                    <a:pt x="368" y="340"/>
                    <a:pt x="736" y="344"/>
                    <a:pt x="1104" y="288"/>
                  </a:cubicBezTo>
                  <a:cubicBezTo>
                    <a:pt x="1472" y="232"/>
                    <a:pt x="1840" y="116"/>
                    <a:pt x="2208" y="0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07" name="Oval 7" descr="深色上对角线"/>
            <p:cNvSpPr>
              <a:spLocks noChangeArrowheads="1"/>
            </p:cNvSpPr>
            <p:nvPr/>
          </p:nvSpPr>
          <p:spPr bwMode="auto">
            <a:xfrm>
              <a:off x="1500" y="1176"/>
              <a:ext cx="192" cy="432"/>
            </a:xfrm>
            <a:prstGeom prst="ellipse">
              <a:avLst/>
            </a:prstGeom>
            <a:pattFill prst="dkUpDiag">
              <a:fgClr>
                <a:schemeClr val="tx1"/>
              </a:fgClr>
              <a:bgClr>
                <a:srgbClr val="FFFFFF"/>
              </a:bgClr>
            </a:patt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51208" name="Line 8"/>
            <p:cNvSpPr>
              <a:spLocks noChangeShapeType="1"/>
            </p:cNvSpPr>
            <p:nvPr/>
          </p:nvSpPr>
          <p:spPr bwMode="auto">
            <a:xfrm>
              <a:off x="1116" y="1572"/>
              <a:ext cx="480" cy="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09" name="Line 9"/>
            <p:cNvSpPr>
              <a:spLocks noChangeShapeType="1"/>
            </p:cNvSpPr>
            <p:nvPr/>
          </p:nvSpPr>
          <p:spPr bwMode="auto">
            <a:xfrm>
              <a:off x="1596" y="1404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10" name="Freeform 10"/>
            <p:cNvSpPr>
              <a:spLocks/>
            </p:cNvSpPr>
            <p:nvPr/>
          </p:nvSpPr>
          <p:spPr bwMode="auto">
            <a:xfrm>
              <a:off x="1692" y="1416"/>
              <a:ext cx="864" cy="96"/>
            </a:xfrm>
            <a:custGeom>
              <a:avLst/>
              <a:gdLst>
                <a:gd name="T0" fmla="*/ 0 w 864"/>
                <a:gd name="T1" fmla="*/ 0 h 96"/>
                <a:gd name="T2" fmla="*/ 432 w 864"/>
                <a:gd name="T3" fmla="*/ 48 h 96"/>
                <a:gd name="T4" fmla="*/ 864 w 864"/>
                <a:gd name="T5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64" h="96">
                  <a:moveTo>
                    <a:pt x="0" y="0"/>
                  </a:moveTo>
                  <a:cubicBezTo>
                    <a:pt x="144" y="16"/>
                    <a:pt x="288" y="32"/>
                    <a:pt x="432" y="48"/>
                  </a:cubicBezTo>
                  <a:cubicBezTo>
                    <a:pt x="576" y="64"/>
                    <a:pt x="720" y="80"/>
                    <a:pt x="864" y="96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11" name="Line 11"/>
            <p:cNvSpPr>
              <a:spLocks noChangeShapeType="1"/>
            </p:cNvSpPr>
            <p:nvPr/>
          </p:nvSpPr>
          <p:spPr bwMode="auto">
            <a:xfrm>
              <a:off x="1116" y="1368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12" name="Oval 12"/>
            <p:cNvSpPr>
              <a:spLocks noChangeArrowheads="1"/>
            </p:cNvSpPr>
            <p:nvPr/>
          </p:nvSpPr>
          <p:spPr bwMode="auto">
            <a:xfrm>
              <a:off x="1020" y="1140"/>
              <a:ext cx="192" cy="43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51213" name="Rectangle 13"/>
            <p:cNvSpPr>
              <a:spLocks noChangeArrowheads="1"/>
            </p:cNvSpPr>
            <p:nvPr/>
          </p:nvSpPr>
          <p:spPr bwMode="auto">
            <a:xfrm>
              <a:off x="1128" y="1140"/>
              <a:ext cx="192" cy="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14" name="Oval 14"/>
            <p:cNvSpPr>
              <a:spLocks noChangeArrowheads="1"/>
            </p:cNvSpPr>
            <p:nvPr/>
          </p:nvSpPr>
          <p:spPr bwMode="auto">
            <a:xfrm>
              <a:off x="1020" y="1140"/>
              <a:ext cx="192" cy="43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51215" name="Line 15"/>
            <p:cNvSpPr>
              <a:spLocks noChangeShapeType="1"/>
            </p:cNvSpPr>
            <p:nvPr/>
          </p:nvSpPr>
          <p:spPr bwMode="auto">
            <a:xfrm>
              <a:off x="1116" y="1128"/>
              <a:ext cx="480" cy="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16" name="Rectangle 16"/>
            <p:cNvSpPr>
              <a:spLocks noChangeArrowheads="1"/>
            </p:cNvSpPr>
            <p:nvPr/>
          </p:nvSpPr>
          <p:spPr bwMode="auto">
            <a:xfrm>
              <a:off x="1032" y="1272"/>
              <a:ext cx="96" cy="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17" name="Line 17"/>
            <p:cNvSpPr>
              <a:spLocks noChangeShapeType="1"/>
            </p:cNvSpPr>
            <p:nvPr/>
          </p:nvSpPr>
          <p:spPr bwMode="auto">
            <a:xfrm>
              <a:off x="1596" y="1416"/>
              <a:ext cx="38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18" name="Line 18"/>
            <p:cNvSpPr>
              <a:spLocks noChangeShapeType="1"/>
            </p:cNvSpPr>
            <p:nvPr/>
          </p:nvSpPr>
          <p:spPr bwMode="auto">
            <a:xfrm>
              <a:off x="1116" y="1368"/>
              <a:ext cx="384" cy="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19" name="Rectangle 19"/>
            <p:cNvSpPr>
              <a:spLocks noChangeArrowheads="1"/>
            </p:cNvSpPr>
            <p:nvPr/>
          </p:nvSpPr>
          <p:spPr bwMode="auto">
            <a:xfrm>
              <a:off x="348" y="1368"/>
              <a:ext cx="144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20" name="Freeform 20"/>
            <p:cNvSpPr>
              <a:spLocks/>
            </p:cNvSpPr>
            <p:nvPr/>
          </p:nvSpPr>
          <p:spPr bwMode="auto">
            <a:xfrm>
              <a:off x="300" y="1364"/>
              <a:ext cx="720" cy="112"/>
            </a:xfrm>
            <a:custGeom>
              <a:avLst/>
              <a:gdLst>
                <a:gd name="T0" fmla="*/ 0 w 720"/>
                <a:gd name="T1" fmla="*/ 112 h 112"/>
                <a:gd name="T2" fmla="*/ 528 w 720"/>
                <a:gd name="T3" fmla="*/ 16 h 112"/>
                <a:gd name="T4" fmla="*/ 720 w 720"/>
                <a:gd name="T5" fmla="*/ 16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0" h="112">
                  <a:moveTo>
                    <a:pt x="0" y="112"/>
                  </a:moveTo>
                  <a:cubicBezTo>
                    <a:pt x="204" y="72"/>
                    <a:pt x="408" y="32"/>
                    <a:pt x="528" y="16"/>
                  </a:cubicBezTo>
                  <a:cubicBezTo>
                    <a:pt x="648" y="0"/>
                    <a:pt x="684" y="8"/>
                    <a:pt x="720" y="16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21" name="Oval 21" descr="深色上对角线"/>
            <p:cNvSpPr>
              <a:spLocks noChangeArrowheads="1"/>
            </p:cNvSpPr>
            <p:nvPr/>
          </p:nvSpPr>
          <p:spPr bwMode="auto">
            <a:xfrm>
              <a:off x="288" y="1032"/>
              <a:ext cx="288" cy="768"/>
            </a:xfrm>
            <a:prstGeom prst="ellipse">
              <a:avLst/>
            </a:prstGeom>
            <a:pattFill prst="dkUpDiag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22" name="Line 22"/>
            <p:cNvSpPr>
              <a:spLocks noChangeShapeType="1"/>
            </p:cNvSpPr>
            <p:nvPr/>
          </p:nvSpPr>
          <p:spPr bwMode="auto">
            <a:xfrm>
              <a:off x="444" y="1416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23" name="Line 23"/>
            <p:cNvSpPr>
              <a:spLocks noChangeShapeType="1"/>
            </p:cNvSpPr>
            <p:nvPr/>
          </p:nvSpPr>
          <p:spPr bwMode="auto">
            <a:xfrm flipH="1">
              <a:off x="144" y="1416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24" name="Text Box 24"/>
            <p:cNvSpPr txBox="1">
              <a:spLocks noChangeArrowheads="1"/>
            </p:cNvSpPr>
            <p:nvPr/>
          </p:nvSpPr>
          <p:spPr bwMode="auto">
            <a:xfrm>
              <a:off x="312" y="1764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I</a:t>
              </a:r>
            </a:p>
          </p:txBody>
        </p:sp>
        <p:grpSp>
          <p:nvGrpSpPr>
            <p:cNvPr id="51225" name="Group 25"/>
            <p:cNvGrpSpPr>
              <a:grpSpLocks/>
            </p:cNvGrpSpPr>
            <p:nvPr/>
          </p:nvGrpSpPr>
          <p:grpSpPr bwMode="auto">
            <a:xfrm>
              <a:off x="1788" y="1464"/>
              <a:ext cx="288" cy="327"/>
              <a:chOff x="2736" y="2736"/>
              <a:chExt cx="288" cy="327"/>
            </a:xfrm>
          </p:grpSpPr>
          <p:sp>
            <p:nvSpPr>
              <p:cNvPr id="51226" name="Text Box 26"/>
              <p:cNvSpPr txBox="1">
                <a:spLocks noChangeArrowheads="1"/>
              </p:cNvSpPr>
              <p:nvPr/>
            </p:nvSpPr>
            <p:spPr bwMode="auto">
              <a:xfrm>
                <a:off x="2736" y="2736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i="1">
                    <a:solidFill>
                      <a:srgbClr val="FF3300"/>
                    </a:solidFill>
                  </a:rPr>
                  <a:t>j</a:t>
                </a:r>
              </a:p>
            </p:txBody>
          </p:sp>
          <p:sp>
            <p:nvSpPr>
              <p:cNvPr id="51227" name="Line 27"/>
              <p:cNvSpPr>
                <a:spLocks noChangeShapeType="1"/>
              </p:cNvSpPr>
              <p:nvPr/>
            </p:nvSpPr>
            <p:spPr bwMode="auto">
              <a:xfrm>
                <a:off x="2736" y="2796"/>
                <a:ext cx="192" cy="0"/>
              </a:xfrm>
              <a:prstGeom prst="line">
                <a:avLst/>
              </a:prstGeom>
              <a:noFill/>
              <a:ln w="12700">
                <a:solidFill>
                  <a:srgbClr val="FF3300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1228" name="Text Box 28"/>
            <p:cNvSpPr txBox="1">
              <a:spLocks noChangeArrowheads="1"/>
            </p:cNvSpPr>
            <p:nvPr/>
          </p:nvSpPr>
          <p:spPr bwMode="auto">
            <a:xfrm>
              <a:off x="768" y="1008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>
                  <a:sym typeface="Symbol" pitchFamily="18" charset="2"/>
                </a:rPr>
                <a:t></a:t>
              </a:r>
              <a:endParaRPr lang="en-US" altLang="zh-CN" sz="2800" b="1" i="1"/>
            </a:p>
          </p:txBody>
        </p:sp>
        <p:sp>
          <p:nvSpPr>
            <p:cNvPr id="51229" name="Text Box 29"/>
            <p:cNvSpPr txBox="1">
              <a:spLocks noChangeArrowheads="1"/>
            </p:cNvSpPr>
            <p:nvPr/>
          </p:nvSpPr>
          <p:spPr bwMode="auto">
            <a:xfrm>
              <a:off x="1188" y="1521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/>
                <a:t>d</a:t>
              </a:r>
              <a:r>
                <a:rPr lang="en-US" altLang="zh-CN" sz="2800" b="1" i="1"/>
                <a:t>l</a:t>
              </a:r>
            </a:p>
          </p:txBody>
        </p:sp>
        <p:sp>
          <p:nvSpPr>
            <p:cNvPr id="51230" name="Text Box 30"/>
            <p:cNvSpPr txBox="1">
              <a:spLocks noChangeArrowheads="1"/>
            </p:cNvSpPr>
            <p:nvPr/>
          </p:nvSpPr>
          <p:spPr bwMode="auto">
            <a:xfrm>
              <a:off x="1440" y="1536"/>
              <a:ext cx="4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/>
                <a:t>d</a:t>
              </a:r>
              <a:r>
                <a:rPr lang="en-US" altLang="zh-CN" sz="2800" b="1" i="1"/>
                <a:t>S</a:t>
              </a:r>
              <a:endParaRPr lang="en-US" altLang="zh-CN" sz="2800" b="1"/>
            </a:p>
          </p:txBody>
        </p:sp>
        <p:sp>
          <p:nvSpPr>
            <p:cNvPr id="51231" name="Text Box 31"/>
            <p:cNvSpPr txBox="1">
              <a:spLocks noChangeArrowheads="1"/>
            </p:cNvSpPr>
            <p:nvPr/>
          </p:nvSpPr>
          <p:spPr bwMode="auto">
            <a:xfrm>
              <a:off x="1992" y="1512"/>
              <a:ext cx="7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/>
                <a:t>电流线</a:t>
              </a:r>
            </a:p>
          </p:txBody>
        </p:sp>
        <p:sp>
          <p:nvSpPr>
            <p:cNvPr id="51232" name="Text Box 32"/>
            <p:cNvSpPr txBox="1">
              <a:spLocks noChangeArrowheads="1"/>
            </p:cNvSpPr>
            <p:nvPr/>
          </p:nvSpPr>
          <p:spPr bwMode="auto">
            <a:xfrm>
              <a:off x="1632" y="1020"/>
              <a:ext cx="9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>
                  <a:sym typeface="Symbol" pitchFamily="18" charset="2"/>
                </a:rPr>
                <a:t> </a:t>
              </a:r>
              <a:r>
                <a:rPr lang="en-US" altLang="zh-CN" sz="2800" b="1"/>
                <a:t>+d</a:t>
              </a:r>
              <a:r>
                <a:rPr lang="en-US" altLang="zh-CN" sz="2800" b="1" i="1">
                  <a:sym typeface="Symbol" pitchFamily="18" charset="2"/>
                </a:rPr>
                <a:t></a:t>
              </a:r>
              <a:endParaRPr lang="en-US" altLang="zh-CN" sz="2800" b="1" i="1"/>
            </a:p>
          </p:txBody>
        </p:sp>
        <p:sp>
          <p:nvSpPr>
            <p:cNvPr id="51233" name="Line 33"/>
            <p:cNvSpPr>
              <a:spLocks noChangeShapeType="1"/>
            </p:cNvSpPr>
            <p:nvPr/>
          </p:nvSpPr>
          <p:spPr bwMode="auto">
            <a:xfrm flipV="1">
              <a:off x="1104" y="67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34" name="Line 34"/>
            <p:cNvSpPr>
              <a:spLocks noChangeShapeType="1"/>
            </p:cNvSpPr>
            <p:nvPr/>
          </p:nvSpPr>
          <p:spPr bwMode="auto">
            <a:xfrm flipV="1">
              <a:off x="1596" y="68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35" name="Line 35"/>
            <p:cNvSpPr>
              <a:spLocks noChangeShapeType="1"/>
            </p:cNvSpPr>
            <p:nvPr/>
          </p:nvSpPr>
          <p:spPr bwMode="auto">
            <a:xfrm>
              <a:off x="768" y="768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36" name="Line 36"/>
            <p:cNvSpPr>
              <a:spLocks noChangeShapeType="1"/>
            </p:cNvSpPr>
            <p:nvPr/>
          </p:nvSpPr>
          <p:spPr bwMode="auto">
            <a:xfrm flipH="1">
              <a:off x="1608" y="768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37" name="Rectangle 37"/>
            <p:cNvSpPr>
              <a:spLocks noChangeArrowheads="1"/>
            </p:cNvSpPr>
            <p:nvPr/>
          </p:nvSpPr>
          <p:spPr bwMode="auto">
            <a:xfrm>
              <a:off x="1154" y="594"/>
              <a:ext cx="40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/>
                <a:t>d</a:t>
              </a:r>
              <a:r>
                <a:rPr lang="en-US" altLang="zh-CN" sz="2800" b="1" i="1">
                  <a:sym typeface="Symbol" pitchFamily="18" charset="2"/>
                </a:rPr>
                <a:t>U</a:t>
              </a:r>
            </a:p>
          </p:txBody>
        </p:sp>
      </p:grpSp>
      <p:graphicFrame>
        <p:nvGraphicFramePr>
          <p:cNvPr id="51238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8969761"/>
              </p:ext>
            </p:extLst>
          </p:nvPr>
        </p:nvGraphicFramePr>
        <p:xfrm>
          <a:off x="755650" y="2637582"/>
          <a:ext cx="6392863" cy="167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68" name="Equation" r:id="rId3" imgW="3035160" imgH="787320" progId="Equation.DSMT4">
                  <p:embed/>
                </p:oleObj>
              </mc:Choice>
              <mc:Fallback>
                <p:oleObj name="Equation" r:id="rId3" imgW="3035160" imgH="78732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637582"/>
                        <a:ext cx="6392863" cy="16732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3846810"/>
              </p:ext>
            </p:extLst>
          </p:nvPr>
        </p:nvGraphicFramePr>
        <p:xfrm>
          <a:off x="990600" y="4389288"/>
          <a:ext cx="1524000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69" name="Equation" r:id="rId5" imgW="558720" imgH="228600" progId="Equation.3">
                  <p:embed/>
                </p:oleObj>
              </mc:Choice>
              <mc:Fallback>
                <p:oleObj name="Equation" r:id="rId5" imgW="55872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389288"/>
                        <a:ext cx="1524000" cy="62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 Box 10"/>
          <p:cNvSpPr txBox="1">
            <a:spLocks noChangeArrowheads="1"/>
          </p:cNvSpPr>
          <p:nvPr/>
        </p:nvSpPr>
        <p:spPr bwMode="auto">
          <a:xfrm>
            <a:off x="2955925" y="4430563"/>
            <a:ext cx="4575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/>
              <a:t>热功率密度</a:t>
            </a:r>
            <a:r>
              <a:rPr lang="en-US" altLang="zh-CN" b="1"/>
              <a:t>(</a:t>
            </a:r>
            <a:r>
              <a:rPr lang="zh-CN" altLang="en-US" b="1"/>
              <a:t>单位体积发热功率）</a:t>
            </a:r>
          </a:p>
        </p:txBody>
      </p:sp>
      <p:sp>
        <p:nvSpPr>
          <p:cNvPr id="41" name="Text Box 7"/>
          <p:cNvSpPr txBox="1">
            <a:spLocks noChangeArrowheads="1"/>
          </p:cNvSpPr>
          <p:nvPr/>
        </p:nvSpPr>
        <p:spPr bwMode="auto">
          <a:xfrm>
            <a:off x="593725" y="5085184"/>
            <a:ext cx="7843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 dirty="0"/>
              <a:t>电场的加速过程和晶格、杂质的散射过程导致了欧姆定律</a:t>
            </a:r>
          </a:p>
        </p:txBody>
      </p:sp>
      <p:sp>
        <p:nvSpPr>
          <p:cNvPr id="42" name="Text Box 8"/>
          <p:cNvSpPr txBox="1">
            <a:spLocks noChangeArrowheads="1"/>
          </p:cNvSpPr>
          <p:nvPr/>
        </p:nvSpPr>
        <p:spPr bwMode="auto">
          <a:xfrm>
            <a:off x="685800" y="5674146"/>
            <a:ext cx="45159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 dirty="0"/>
              <a:t>由于电阻的存在，所以有</a:t>
            </a:r>
            <a:r>
              <a:rPr lang="zh-CN" altLang="en-US" b="1" dirty="0" smtClean="0"/>
              <a:t>焦耳热</a:t>
            </a:r>
            <a:endParaRPr lang="zh-CN" altLang="en-US" b="1" dirty="0"/>
          </a:p>
        </p:txBody>
      </p:sp>
      <p:graphicFrame>
        <p:nvGraphicFramePr>
          <p:cNvPr id="4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8437884"/>
              </p:ext>
            </p:extLst>
          </p:nvPr>
        </p:nvGraphicFramePr>
        <p:xfrm>
          <a:off x="4114800" y="6150247"/>
          <a:ext cx="155892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70" name="Equation" r:id="rId7" imgW="571320" imgH="190440" progId="Equation.3">
                  <p:embed/>
                </p:oleObj>
              </mc:Choice>
              <mc:Fallback>
                <p:oleObj name="Equation" r:id="rId7" imgW="57132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6150247"/>
                        <a:ext cx="155892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 Box 12"/>
          <p:cNvSpPr txBox="1">
            <a:spLocks noChangeArrowheads="1"/>
          </p:cNvSpPr>
          <p:nvPr/>
        </p:nvSpPr>
        <p:spPr bwMode="auto">
          <a:xfrm>
            <a:off x="909205" y="6186630"/>
            <a:ext cx="26597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 dirty="0"/>
              <a:t>整段</a:t>
            </a:r>
            <a:r>
              <a:rPr lang="zh-CN" altLang="en-US" b="1" dirty="0" smtClean="0"/>
              <a:t>导体</a:t>
            </a:r>
            <a:r>
              <a:rPr lang="zh-CN" altLang="en-US" b="1" dirty="0"/>
              <a:t>的热功率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2" grpId="0"/>
      <p:bldP spid="4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7114A-F1B8-419F-9A79-649230A4E5E8}" type="slidenum">
              <a:rPr lang="en-US" altLang="zh-CN"/>
              <a:pPr/>
              <a:t>55</a:t>
            </a:fld>
            <a:endParaRPr lang="en-US" altLang="zh-CN"/>
          </a:p>
        </p:txBody>
      </p:sp>
      <p:sp>
        <p:nvSpPr>
          <p:cNvPr id="52227" name="Text Box 3"/>
          <p:cNvSpPr txBox="1">
            <a:spLocks noChangeArrowheads="1"/>
          </p:cNvSpPr>
          <p:nvPr/>
        </p:nvSpPr>
        <p:spPr bwMode="auto">
          <a:xfrm>
            <a:off x="4724400" y="5791200"/>
            <a:ext cx="31607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zh-CN" altLang="en-US" sz="3200" b="1" i="1" dirty="0">
                <a:solidFill>
                  <a:srgbClr val="FF00FF"/>
                </a:solidFill>
              </a:rPr>
              <a:t>第十六章结束</a:t>
            </a:r>
            <a:endParaRPr lang="zh-CN" altLang="en-US" sz="3200" dirty="0"/>
          </a:p>
        </p:txBody>
      </p:sp>
      <p:graphicFrame>
        <p:nvGraphicFramePr>
          <p:cNvPr id="522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4285561"/>
              </p:ext>
            </p:extLst>
          </p:nvPr>
        </p:nvGraphicFramePr>
        <p:xfrm>
          <a:off x="2339752" y="2348880"/>
          <a:ext cx="2590800" cy="148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66" name="文档" r:id="rId3" imgW="1791360" imgH="1026720" progId="Word.Document.8">
                  <p:embed/>
                </p:oleObj>
              </mc:Choice>
              <mc:Fallback>
                <p:oleObj name="文档" r:id="rId3" imgW="1791360" imgH="102672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2348880"/>
                        <a:ext cx="2590800" cy="1484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0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8534400" y="6324600"/>
            <a:ext cx="304800" cy="152400"/>
          </a:xfrm>
          <a:prstGeom prst="actionButtonBeginning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260350"/>
            <a:ext cx="762000" cy="2287588"/>
          </a:xfrm>
        </p:spPr>
        <p:txBody>
          <a:bodyPr/>
          <a:lstStyle/>
          <a:p>
            <a:pPr eaLnBrk="1" hangingPunct="1"/>
            <a:r>
              <a:rPr lang="zh-CN" altLang="en-US" sz="4800" b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温差电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66800" y="260350"/>
            <a:ext cx="8077200" cy="1524000"/>
          </a:xfrm>
        </p:spPr>
        <p:txBody>
          <a:bodyPr/>
          <a:lstStyle/>
          <a:p>
            <a:pPr eaLnBrk="1" hangingPunct="1"/>
            <a:r>
              <a:rPr lang="zh-CN" altLang="en-US" sz="2800" b="1">
                <a:latin typeface="华文中宋" pitchFamily="2" charset="-122"/>
                <a:ea typeface="华文中宋" pitchFamily="2" charset="-122"/>
              </a:rPr>
              <a:t>形成温差电动势的非静电力与热现象有关</a:t>
            </a:r>
            <a:r>
              <a:rPr lang="zh-CN" altLang="en-US" sz="2800"/>
              <a:t> </a:t>
            </a:r>
          </a:p>
          <a:p>
            <a:pPr eaLnBrk="1" hangingPunct="1"/>
            <a:r>
              <a:rPr lang="zh-CN" altLang="en-US" sz="2800" b="1">
                <a:latin typeface="华文中宋" pitchFamily="2" charset="-122"/>
                <a:ea typeface="华文中宋" pitchFamily="2" charset="-122"/>
              </a:rPr>
              <a:t>汤姆孙效应及电动势</a:t>
            </a:r>
            <a:r>
              <a:rPr lang="zh-CN" altLang="en-US" sz="2800"/>
              <a:t> </a:t>
            </a:r>
          </a:p>
          <a:p>
            <a:pPr lvl="1" algn="just" eaLnBrk="1" hangingPunct="1"/>
            <a:r>
              <a:rPr lang="zh-CN" altLang="en-US" sz="2400" b="1">
                <a:latin typeface="Times New Roman" pitchFamily="18" charset="0"/>
              </a:rPr>
              <a:t>因温度不均匀引起的热扩散</a:t>
            </a:r>
            <a:r>
              <a:rPr lang="en-US" sz="2400" b="1">
                <a:latin typeface="Times New Roman" pitchFamily="18" charset="0"/>
              </a:rPr>
              <a:t>——</a:t>
            </a:r>
            <a:r>
              <a:rPr lang="zh-CN" altLang="en-US" sz="2400" b="1">
                <a:latin typeface="Times New Roman" pitchFamily="18" charset="0"/>
              </a:rPr>
              <a:t>等效于一种非静电力</a:t>
            </a:r>
          </a:p>
        </p:txBody>
      </p:sp>
      <p:sp>
        <p:nvSpPr>
          <p:cNvPr id="9222" name="Rectangle 4"/>
          <p:cNvSpPr>
            <a:spLocks noChangeArrowheads="1"/>
          </p:cNvSpPr>
          <p:nvPr/>
        </p:nvSpPr>
        <p:spPr bwMode="auto">
          <a:xfrm>
            <a:off x="4210050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9223" name="Object 5"/>
          <p:cNvGraphicFramePr>
            <a:graphicFrameLocks noChangeAspect="1"/>
          </p:cNvGraphicFramePr>
          <p:nvPr/>
        </p:nvGraphicFramePr>
        <p:xfrm>
          <a:off x="1295400" y="3276600"/>
          <a:ext cx="1524000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78" r:id="rId3" imgW="971686" imgH="533474" progId="PBrush">
                  <p:embed/>
                </p:oleObj>
              </mc:Choice>
              <mc:Fallback>
                <p:oleObj r:id="rId3" imgW="971686" imgH="533474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276600"/>
                        <a:ext cx="1524000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4" name="Rectangle 6"/>
          <p:cNvSpPr>
            <a:spLocks noChangeArrowheads="1"/>
          </p:cNvSpPr>
          <p:nvPr/>
        </p:nvSpPr>
        <p:spPr bwMode="auto">
          <a:xfrm>
            <a:off x="4005263" y="31718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9225" name="Object 9"/>
          <p:cNvGraphicFramePr>
            <a:graphicFrameLocks noChangeAspect="1"/>
          </p:cNvGraphicFramePr>
          <p:nvPr/>
        </p:nvGraphicFramePr>
        <p:xfrm>
          <a:off x="1143000" y="4114800"/>
          <a:ext cx="205740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79" r:id="rId5" imgW="863542" imgH="393846" progId="">
                  <p:embed/>
                </p:oleObj>
              </mc:Choice>
              <mc:Fallback>
                <p:oleObj r:id="rId5" imgW="863542" imgH="393846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114800"/>
                        <a:ext cx="2057400" cy="9334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" name="Object 10"/>
          <p:cNvGraphicFramePr>
            <a:graphicFrameLocks noChangeAspect="1"/>
          </p:cNvGraphicFramePr>
          <p:nvPr/>
        </p:nvGraphicFramePr>
        <p:xfrm>
          <a:off x="228600" y="5257800"/>
          <a:ext cx="462915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80" r:id="rId7" imgW="2055933" imgH="355609" progId="">
                  <p:embed/>
                </p:oleObj>
              </mc:Choice>
              <mc:Fallback>
                <p:oleObj r:id="rId7" imgW="2055933" imgH="35560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5257800"/>
                        <a:ext cx="4629150" cy="808038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7" name="Line 9"/>
          <p:cNvSpPr>
            <a:spLocks noChangeShapeType="1"/>
          </p:cNvSpPr>
          <p:nvPr/>
        </p:nvSpPr>
        <p:spPr bwMode="auto">
          <a:xfrm>
            <a:off x="2057400" y="4800600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9228" name="Object 10"/>
          <p:cNvGraphicFramePr>
            <a:graphicFrameLocks noChangeAspect="1"/>
          </p:cNvGraphicFramePr>
          <p:nvPr/>
        </p:nvGraphicFramePr>
        <p:xfrm>
          <a:off x="990600" y="1752600"/>
          <a:ext cx="2819400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81" r:id="rId9" imgW="2123810" imgH="961905" progId="PBrush">
                  <p:embed/>
                </p:oleObj>
              </mc:Choice>
              <mc:Fallback>
                <p:oleObj r:id="rId9" imgW="2123810" imgH="961905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752600"/>
                        <a:ext cx="2819400" cy="1276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9" name="AutoShape 11"/>
          <p:cNvSpPr>
            <a:spLocks noChangeArrowheads="1"/>
          </p:cNvSpPr>
          <p:nvPr/>
        </p:nvSpPr>
        <p:spPr bwMode="auto">
          <a:xfrm>
            <a:off x="1752600" y="2667000"/>
            <a:ext cx="457200" cy="533400"/>
          </a:xfrm>
          <a:prstGeom prst="upDownArrow">
            <a:avLst>
              <a:gd name="adj1" fmla="val 50000"/>
              <a:gd name="adj2" fmla="val 23333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0" name="Text Box 12"/>
          <p:cNvSpPr txBox="1">
            <a:spLocks noChangeArrowheads="1"/>
          </p:cNvSpPr>
          <p:nvPr/>
        </p:nvSpPr>
        <p:spPr bwMode="auto">
          <a:xfrm>
            <a:off x="3810000" y="1676400"/>
            <a:ext cx="4800600" cy="330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zh-CN" altLang="en-US" b="1">
                <a:latin typeface="Times New Roman" pitchFamily="18" charset="0"/>
              </a:rPr>
              <a:t>类似气体分子热运动，自由电子从高温端向低温端扩散</a:t>
            </a:r>
          </a:p>
          <a:p>
            <a:pPr algn="just" eaLnBrk="1" hangingPunct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zh-CN" altLang="en-US" b="1">
                <a:latin typeface="Times New Roman" pitchFamily="18" charset="0"/>
              </a:rPr>
              <a:t>宏观上等效于一个非静电力</a:t>
            </a:r>
            <a:r>
              <a:rPr lang="en-US" b="1">
                <a:latin typeface="Times New Roman" pitchFamily="18" charset="0"/>
              </a:rPr>
              <a:t>——</a:t>
            </a:r>
            <a:r>
              <a:rPr lang="en-US" b="1" i="1">
                <a:latin typeface="Times New Roman" pitchFamily="18" charset="0"/>
              </a:rPr>
              <a:t>K</a:t>
            </a:r>
            <a:r>
              <a:rPr lang="zh-CN" altLang="en-US" b="1">
                <a:latin typeface="Times New Roman" pitchFamily="18" charset="0"/>
              </a:rPr>
              <a:t>导致电荷迁移</a:t>
            </a:r>
          </a:p>
          <a:p>
            <a:pPr algn="just" eaLnBrk="1" hangingPunct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zh-CN" altLang="en-US" b="1">
                <a:latin typeface="Times New Roman" pitchFamily="18" charset="0"/>
              </a:rPr>
              <a:t>在导体两端，有电荷积累</a:t>
            </a:r>
            <a:r>
              <a:rPr lang="en-US" b="1">
                <a:latin typeface="Times New Roman" pitchFamily="18" charset="0"/>
              </a:rPr>
              <a:t>——</a:t>
            </a:r>
            <a:r>
              <a:rPr lang="en-US" b="1" i="1">
                <a:latin typeface="Times New Roman" pitchFamily="18" charset="0"/>
              </a:rPr>
              <a:t>E</a:t>
            </a:r>
            <a:r>
              <a:rPr lang="zh-CN" altLang="en-US" b="1">
                <a:latin typeface="Times New Roman" pitchFamily="18" charset="0"/>
              </a:rPr>
              <a:t>，反抗</a:t>
            </a:r>
            <a:r>
              <a:rPr lang="en-US" b="1">
                <a:latin typeface="Times New Roman" pitchFamily="18" charset="0"/>
              </a:rPr>
              <a:t>K</a:t>
            </a:r>
          </a:p>
          <a:p>
            <a:pPr algn="just" eaLnBrk="1" hangingPunct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b="1" i="1">
                <a:latin typeface="Times New Roman" pitchFamily="18" charset="0"/>
              </a:rPr>
              <a:t>E</a:t>
            </a:r>
            <a:r>
              <a:rPr lang="en-US" b="1">
                <a:latin typeface="Times New Roman" pitchFamily="18" charset="0"/>
              </a:rPr>
              <a:t>+</a:t>
            </a:r>
            <a:r>
              <a:rPr lang="en-US" b="1" i="1">
                <a:latin typeface="Times New Roman" pitchFamily="18" charset="0"/>
              </a:rPr>
              <a:t>K</a:t>
            </a:r>
            <a:r>
              <a:rPr lang="zh-CN" altLang="en-US" b="1">
                <a:latin typeface="Times New Roman" pitchFamily="18" charset="0"/>
              </a:rPr>
              <a:t>＝</a:t>
            </a:r>
            <a:r>
              <a:rPr lang="en-US" b="1">
                <a:latin typeface="Times New Roman" pitchFamily="18" charset="0"/>
              </a:rPr>
              <a:t>0</a:t>
            </a:r>
            <a:r>
              <a:rPr lang="zh-CN" altLang="en-US" b="1">
                <a:latin typeface="Times New Roman" pitchFamily="18" charset="0"/>
              </a:rPr>
              <a:t>，达到平衡</a:t>
            </a:r>
          </a:p>
          <a:p>
            <a:pPr algn="just" eaLnBrk="1" hangingPunct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zh-CN" altLang="en-US" b="1">
                <a:latin typeface="Times New Roman" pitchFamily="18" charset="0"/>
              </a:rPr>
              <a:t>瞬间完成</a:t>
            </a:r>
            <a:r>
              <a:rPr lang="en-US" b="1">
                <a:latin typeface="Times New Roman" pitchFamily="18" charset="0"/>
              </a:rPr>
              <a:t>——</a:t>
            </a:r>
            <a:r>
              <a:rPr lang="zh-CN" altLang="en-US" b="1">
                <a:latin typeface="Times New Roman" pitchFamily="18" charset="0"/>
              </a:rPr>
              <a:t>吸热</a:t>
            </a:r>
            <a:endParaRPr lang="zh-CN" altLang="en-US"/>
          </a:p>
        </p:txBody>
      </p:sp>
      <p:sp>
        <p:nvSpPr>
          <p:cNvPr id="9231" name="AutoShape 13"/>
          <p:cNvSpPr>
            <a:spLocks/>
          </p:cNvSpPr>
          <p:nvPr/>
        </p:nvSpPr>
        <p:spPr bwMode="auto">
          <a:xfrm>
            <a:off x="5867400" y="5189538"/>
            <a:ext cx="2514600" cy="830262"/>
          </a:xfrm>
          <a:prstGeom prst="borderCallout2">
            <a:avLst>
              <a:gd name="adj1" fmla="val 13769"/>
              <a:gd name="adj2" fmla="val -3032"/>
              <a:gd name="adj3" fmla="val 13769"/>
              <a:gd name="adj4" fmla="val -3032"/>
              <a:gd name="adj5" fmla="val 35755"/>
              <a:gd name="adj6" fmla="val -7209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b="1"/>
              <a:t>汤姆孙系数</a:t>
            </a:r>
          </a:p>
          <a:p>
            <a:pPr algn="ctr"/>
            <a:r>
              <a:rPr lang="zh-CN" altLang="en-US" b="1">
                <a:latin typeface="Times New Roman" pitchFamily="18" charset="0"/>
                <a:sym typeface="Symbol" pitchFamily="18" charset="2"/>
              </a:rPr>
              <a:t></a:t>
            </a:r>
            <a:r>
              <a:rPr lang="en-US" b="1">
                <a:latin typeface="Times New Roman" pitchFamily="18" charset="0"/>
                <a:sym typeface="Symbol" pitchFamily="18" charset="2"/>
              </a:rPr>
              <a:t>(T)~10</a:t>
            </a:r>
            <a:r>
              <a:rPr lang="en-US" b="1" baseline="30000">
                <a:latin typeface="Times New Roman" pitchFamily="18" charset="0"/>
                <a:sym typeface="Symbol" pitchFamily="18" charset="2"/>
              </a:rPr>
              <a:t>-5</a:t>
            </a:r>
            <a:r>
              <a:rPr lang="en-US" b="1">
                <a:latin typeface="Times New Roman" pitchFamily="18" charset="0"/>
                <a:sym typeface="Symbol" pitchFamily="18" charset="2"/>
              </a:rPr>
              <a:t>V/</a:t>
            </a:r>
            <a:r>
              <a:rPr lang="en-US" b="1" baseline="300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º</a:t>
            </a:r>
            <a:r>
              <a:rPr lang="en-US" b="1">
                <a:latin typeface="Times New Roman" pitchFamily="18" charset="0"/>
                <a:sym typeface="Symbol" pitchFamily="18" charset="2"/>
              </a:rPr>
              <a:t>C</a:t>
            </a:r>
            <a:endParaRPr lang="en-US" sz="1400" b="1">
              <a:latin typeface="Times New Roman" pitchFamily="18" charset="0"/>
            </a:endParaRPr>
          </a:p>
          <a:p>
            <a:pPr algn="ctr"/>
            <a:endParaRPr lang="en-US" b="1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464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2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2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1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9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9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9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9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92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9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9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1" grpId="0" build="p" bldLvl="5" autoUpdateAnimBg="0"/>
      <p:bldP spid="9227" grpId="0" animBg="1"/>
      <p:bldP spid="9229" grpId="0" animBg="1" autoUpdateAnimBg="0"/>
      <p:bldP spid="9230" grpId="0" build="p" autoUpdateAnimBg="0"/>
      <p:bldP spid="9231" grpId="0" animBg="1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28600" y="2286000"/>
            <a:ext cx="4267200" cy="1143000"/>
          </a:xfrm>
        </p:spPr>
        <p:txBody>
          <a:bodyPr/>
          <a:lstStyle/>
          <a:p>
            <a:pPr eaLnBrk="1" hangingPunct="1"/>
            <a:r>
              <a:rPr lang="zh-CN" altLang="en-US" sz="2800" b="1">
                <a:ea typeface="华文中宋" pitchFamily="2" charset="-122"/>
              </a:rPr>
              <a:t>此电流过程</a:t>
            </a:r>
            <a:r>
              <a:rPr lang="en-US" sz="2800" b="1" i="1">
                <a:latin typeface="Times New Roman" pitchFamily="18" charset="0"/>
                <a:ea typeface="华文中宋" pitchFamily="2" charset="-122"/>
              </a:rPr>
              <a:t>K</a:t>
            </a:r>
            <a:r>
              <a:rPr lang="zh-CN" altLang="en-US" sz="2800" b="1">
                <a:ea typeface="华文中宋" pitchFamily="2" charset="-122"/>
              </a:rPr>
              <a:t>作正功</a:t>
            </a:r>
          </a:p>
          <a:p>
            <a:pPr eaLnBrk="1" hangingPunct="1"/>
            <a:r>
              <a:rPr lang="zh-CN" altLang="en-US" sz="2800" b="1">
                <a:ea typeface="华文中宋" pitchFamily="2" charset="-122"/>
              </a:rPr>
              <a:t>吸热</a:t>
            </a:r>
            <a:r>
              <a:rPr lang="en-US" sz="2800" b="1">
                <a:latin typeface="Times New Roman" pitchFamily="18" charset="0"/>
                <a:ea typeface="华文中宋" pitchFamily="2" charset="-122"/>
              </a:rPr>
              <a:t>——</a:t>
            </a:r>
            <a:r>
              <a:rPr lang="zh-CN" altLang="en-US" sz="2800" b="1">
                <a:ea typeface="华文中宋" pitchFamily="2" charset="-122"/>
              </a:rPr>
              <a:t>转化成电势能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876800" y="2286000"/>
            <a:ext cx="4146550" cy="99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1">
                <a:ea typeface="华文中宋" pitchFamily="2" charset="-122"/>
              </a:rPr>
              <a:t>此电流过程</a:t>
            </a:r>
            <a:r>
              <a:rPr lang="en-US" sz="2800" b="1" i="1">
                <a:latin typeface="Times New Roman" pitchFamily="18" charset="0"/>
                <a:ea typeface="华文中宋" pitchFamily="2" charset="-122"/>
              </a:rPr>
              <a:t>K</a:t>
            </a:r>
            <a:r>
              <a:rPr lang="zh-CN" altLang="en-US" sz="2800" b="1">
                <a:ea typeface="华文中宋" pitchFamily="2" charset="-122"/>
              </a:rPr>
              <a:t>作负功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b="1">
                <a:ea typeface="华文中宋" pitchFamily="2" charset="-122"/>
              </a:rPr>
              <a:t>电势能降低</a:t>
            </a:r>
            <a:r>
              <a:rPr lang="en-US" sz="2800" b="1">
                <a:latin typeface="Times New Roman" pitchFamily="18" charset="0"/>
                <a:ea typeface="华文中宋" pitchFamily="2" charset="-122"/>
              </a:rPr>
              <a:t>——</a:t>
            </a:r>
            <a:r>
              <a:rPr lang="zh-CN" altLang="en-US" sz="2800" b="1">
                <a:ea typeface="华文中宋" pitchFamily="2" charset="-122"/>
              </a:rPr>
              <a:t>放热</a:t>
            </a:r>
          </a:p>
        </p:txBody>
      </p:sp>
      <p:graphicFrame>
        <p:nvGraphicFramePr>
          <p:cNvPr id="10246" name="Object 4"/>
          <p:cNvGraphicFramePr>
            <a:graphicFrameLocks noChangeAspect="1"/>
          </p:cNvGraphicFramePr>
          <p:nvPr/>
        </p:nvGraphicFramePr>
        <p:xfrm>
          <a:off x="1066800" y="304800"/>
          <a:ext cx="2895600" cy="191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02" r:id="rId3" imgW="2467319" imgH="1628571" progId="PBrush">
                  <p:embed/>
                </p:oleObj>
              </mc:Choice>
              <mc:Fallback>
                <p:oleObj r:id="rId3" imgW="2467319" imgH="1628571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04800"/>
                        <a:ext cx="2895600" cy="191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5"/>
          <p:cNvGraphicFramePr>
            <a:graphicFrameLocks noChangeAspect="1"/>
          </p:cNvGraphicFramePr>
          <p:nvPr/>
        </p:nvGraphicFramePr>
        <p:xfrm>
          <a:off x="4876800" y="228600"/>
          <a:ext cx="2895600" cy="190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03" r:id="rId5" imgW="2523810" imgH="1657581" progId="PBrush">
                  <p:embed/>
                </p:oleObj>
              </mc:Choice>
              <mc:Fallback>
                <p:oleObj r:id="rId5" imgW="2523810" imgH="1657581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28600"/>
                        <a:ext cx="2895600" cy="190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8" name="Text Box 6"/>
          <p:cNvSpPr txBox="1">
            <a:spLocks noChangeArrowheads="1"/>
          </p:cNvSpPr>
          <p:nvPr/>
        </p:nvSpPr>
        <p:spPr bwMode="auto">
          <a:xfrm>
            <a:off x="228600" y="3429000"/>
            <a:ext cx="5715000" cy="291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b="1">
                <a:ea typeface="华文中宋" pitchFamily="2" charset="-122"/>
              </a:rPr>
              <a:t> </a:t>
            </a:r>
            <a:r>
              <a:rPr lang="zh-CN" altLang="en-US" sz="2800" b="1">
                <a:ea typeface="华文中宋" pitchFamily="2" charset="-122"/>
              </a:rPr>
              <a:t>汤姆孙效应是热</a:t>
            </a:r>
            <a:r>
              <a:rPr lang="en-US" sz="2800" b="1">
                <a:latin typeface="Times New Roman" pitchFamily="18" charset="0"/>
                <a:ea typeface="华文中宋" pitchFamily="2" charset="-122"/>
              </a:rPr>
              <a:t>——</a:t>
            </a:r>
            <a:r>
              <a:rPr lang="zh-CN" altLang="en-US" sz="2800" b="1">
                <a:ea typeface="华文中宋" pitchFamily="2" charset="-122"/>
              </a:rPr>
              <a:t>电转换效应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zh-CN" altLang="en-US" sz="2800" b="1">
                <a:ea typeface="华文中宋" pitchFamily="2" charset="-122"/>
              </a:rPr>
              <a:t> 可逆（不同于焦耳热）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zh-CN" altLang="en-US" sz="2800" b="1">
                <a:latin typeface="宋体" charset="-122"/>
              </a:rPr>
              <a:t> </a:t>
            </a:r>
            <a:r>
              <a:rPr lang="zh-CN" altLang="en-US" sz="2800" b="1" i="1">
                <a:latin typeface="Times New Roman" pitchFamily="18" charset="0"/>
                <a:ea typeface="华文中宋" pitchFamily="2" charset="-122"/>
                <a:sym typeface="Symbol" pitchFamily="18" charset="2"/>
              </a:rPr>
              <a:t></a:t>
            </a:r>
            <a:r>
              <a:rPr lang="en-US" sz="2800" b="1" i="1">
                <a:latin typeface="Times New Roman" pitchFamily="18" charset="0"/>
                <a:ea typeface="华文中宋" pitchFamily="2" charset="-122"/>
                <a:sym typeface="Symbol" pitchFamily="18" charset="2"/>
              </a:rPr>
              <a:t>(T)</a:t>
            </a:r>
            <a:r>
              <a:rPr lang="zh-CN" altLang="en-US" sz="2800" b="1">
                <a:latin typeface="华文中宋" pitchFamily="2" charset="-122"/>
                <a:ea typeface="华文中宋" pitchFamily="2" charset="-122"/>
                <a:sym typeface="Symbol" pitchFamily="18" charset="2"/>
              </a:rPr>
              <a:t>与材料的性质有关</a:t>
            </a:r>
            <a:r>
              <a:rPr lang="zh-CN" altLang="en-US" b="1">
                <a:latin typeface="Times New Roman" pitchFamily="18" charset="0"/>
                <a:sym typeface="Symbol" pitchFamily="18" charset="2"/>
              </a:rPr>
              <a:t> </a:t>
            </a:r>
            <a:endParaRPr lang="zh-CN" altLang="en-US" sz="2800" b="1">
              <a:latin typeface="宋体" charset="-122"/>
            </a:endParaRP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zh-CN" altLang="en-US" sz="2800" b="1">
                <a:latin typeface="华文中宋" pitchFamily="2" charset="-122"/>
                <a:ea typeface="华文中宋" pitchFamily="2" charset="-122"/>
              </a:rPr>
              <a:t>用同种金属，</a:t>
            </a:r>
            <a:r>
              <a:rPr lang="zh-CN" altLang="en-US" sz="2800" b="1">
                <a:solidFill>
                  <a:srgbClr val="660033"/>
                </a:solidFill>
                <a:latin typeface="华文中宋" pitchFamily="2" charset="-122"/>
                <a:ea typeface="华文中宋" pitchFamily="2" charset="-122"/>
              </a:rPr>
              <a:t>只依靠汤姆孙电动势，也不能在闭合回路内建立恒定电流。</a:t>
            </a:r>
            <a:r>
              <a:rPr lang="zh-CN" altLang="en-US" sz="2800" b="1">
                <a:solidFill>
                  <a:srgbClr val="660033"/>
                </a:solidFill>
                <a:ea typeface="华文中宋" pitchFamily="2" charset="-122"/>
              </a:rPr>
              <a:t> </a:t>
            </a:r>
          </a:p>
        </p:txBody>
      </p:sp>
      <p:pic>
        <p:nvPicPr>
          <p:cNvPr id="10249" name="Picture 7" descr="Ne509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038600"/>
            <a:ext cx="2743200" cy="148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250" name="Object 10"/>
          <p:cNvGraphicFramePr>
            <a:graphicFrameLocks noChangeAspect="1"/>
          </p:cNvGraphicFramePr>
          <p:nvPr/>
        </p:nvGraphicFramePr>
        <p:xfrm>
          <a:off x="7239000" y="3886200"/>
          <a:ext cx="685800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04" r:id="rId8" imgW="355609" imgH="203341" progId="">
                  <p:embed/>
                </p:oleObj>
              </mc:Choice>
              <mc:Fallback>
                <p:oleObj r:id="rId8" imgW="355609" imgH="203341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3886200"/>
                        <a:ext cx="685800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1" name="Object 11"/>
          <p:cNvGraphicFramePr>
            <a:graphicFrameLocks noChangeAspect="1"/>
          </p:cNvGraphicFramePr>
          <p:nvPr/>
        </p:nvGraphicFramePr>
        <p:xfrm>
          <a:off x="7391400" y="5562600"/>
          <a:ext cx="685800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05" r:id="rId10" imgW="355609" imgH="203341" progId="">
                  <p:embed/>
                </p:oleObj>
              </mc:Choice>
              <mc:Fallback>
                <p:oleObj r:id="rId10" imgW="355609" imgH="203341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5562600"/>
                        <a:ext cx="685800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58723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2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2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2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2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build="p" autoUpdateAnimBg="0"/>
      <p:bldP spid="10245" grpId="0" build="p" autoUpdateAnimBg="0"/>
      <p:bldP spid="10248" grpId="0" build="p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381000"/>
            <a:ext cx="6096000" cy="762000"/>
          </a:xfrm>
        </p:spPr>
        <p:txBody>
          <a:bodyPr/>
          <a:lstStyle/>
          <a:p>
            <a:pPr eaLnBrk="1" hangingPunct="1"/>
            <a:r>
              <a:rPr lang="zh-CN" altLang="en-US" b="1">
                <a:latin typeface="华文中宋" pitchFamily="2" charset="-122"/>
                <a:ea typeface="华文中宋" pitchFamily="2" charset="-122"/>
              </a:rPr>
              <a:t>佩尔捷效应及其电动势</a:t>
            </a:r>
            <a:r>
              <a:rPr lang="zh-CN" altLang="en-US" b="1">
                <a:ea typeface="华文中宋" pitchFamily="2" charset="-122"/>
              </a:rPr>
              <a:t> 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219200"/>
            <a:ext cx="6096000" cy="1066800"/>
          </a:xfrm>
        </p:spPr>
        <p:txBody>
          <a:bodyPr/>
          <a:lstStyle/>
          <a:p>
            <a:pPr eaLnBrk="1" hangingPunct="1"/>
            <a:r>
              <a:rPr lang="zh-CN" altLang="en-US" b="1">
                <a:latin typeface="宋体" charset="-122"/>
                <a:ea typeface="华文中宋" pitchFamily="2" charset="-122"/>
              </a:rPr>
              <a:t>密度不均匀引起的电子扩散</a:t>
            </a:r>
            <a:r>
              <a:rPr lang="en-US" b="1">
                <a:latin typeface="Times New Roman" pitchFamily="18" charset="0"/>
                <a:ea typeface="华文中宋" pitchFamily="2" charset="-122"/>
              </a:rPr>
              <a:t>——</a:t>
            </a:r>
            <a:r>
              <a:rPr lang="zh-CN" altLang="en-US" b="1">
                <a:latin typeface="宋体" charset="-122"/>
                <a:ea typeface="华文中宋" pitchFamily="2" charset="-122"/>
              </a:rPr>
              <a:t>等效于一种非静电力</a:t>
            </a:r>
          </a:p>
        </p:txBody>
      </p:sp>
      <p:sp>
        <p:nvSpPr>
          <p:cNvPr id="11270" name="AutoShape 4"/>
          <p:cNvSpPr>
            <a:spLocks noChangeArrowheads="1"/>
          </p:cNvSpPr>
          <p:nvPr/>
        </p:nvSpPr>
        <p:spPr bwMode="auto">
          <a:xfrm>
            <a:off x="7696200" y="1447800"/>
            <a:ext cx="304800" cy="457200"/>
          </a:xfrm>
          <a:prstGeom prst="downArrow">
            <a:avLst>
              <a:gd name="adj1" fmla="val 50000"/>
              <a:gd name="adj2" fmla="val 37500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1271" name="Object 5"/>
          <p:cNvGraphicFramePr>
            <a:graphicFrameLocks noChangeAspect="1"/>
          </p:cNvGraphicFramePr>
          <p:nvPr/>
        </p:nvGraphicFramePr>
        <p:xfrm>
          <a:off x="7391400" y="1905000"/>
          <a:ext cx="114300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44" r:id="rId3" imgW="876190" imgH="581106" progId="PBrush">
                  <p:embed/>
                </p:oleObj>
              </mc:Choice>
              <mc:Fallback>
                <p:oleObj r:id="rId3" imgW="876190" imgH="581106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1905000"/>
                        <a:ext cx="114300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2" name="Object 6"/>
          <p:cNvGraphicFramePr>
            <a:graphicFrameLocks noChangeAspect="1"/>
          </p:cNvGraphicFramePr>
          <p:nvPr/>
        </p:nvGraphicFramePr>
        <p:xfrm>
          <a:off x="7010400" y="152400"/>
          <a:ext cx="1828800" cy="123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45" r:id="rId5" imgW="1133633" imgH="762106" progId="PBrush">
                  <p:embed/>
                </p:oleObj>
              </mc:Choice>
              <mc:Fallback>
                <p:oleObj r:id="rId5" imgW="1133633" imgH="762106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152400"/>
                        <a:ext cx="1828800" cy="1230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3" name="Object 7"/>
          <p:cNvGraphicFramePr>
            <a:graphicFrameLocks noChangeAspect="1"/>
          </p:cNvGraphicFramePr>
          <p:nvPr/>
        </p:nvGraphicFramePr>
        <p:xfrm>
          <a:off x="609600" y="2438400"/>
          <a:ext cx="2438400" cy="141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46" r:id="rId7" imgW="1523810" imgH="885949" progId="PBrush">
                  <p:embed/>
                </p:oleObj>
              </mc:Choice>
              <mc:Fallback>
                <p:oleObj r:id="rId7" imgW="1523810" imgH="885949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438400"/>
                        <a:ext cx="2438400" cy="1417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" name="Object 8"/>
          <p:cNvGraphicFramePr>
            <a:graphicFrameLocks noChangeAspect="1"/>
          </p:cNvGraphicFramePr>
          <p:nvPr/>
        </p:nvGraphicFramePr>
        <p:xfrm>
          <a:off x="3429000" y="2438400"/>
          <a:ext cx="23622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47" r:id="rId9" imgW="1476190" imgH="952633" progId="PBrush">
                  <p:embed/>
                </p:oleObj>
              </mc:Choice>
              <mc:Fallback>
                <p:oleObj r:id="rId9" imgW="1476190" imgH="952633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438400"/>
                        <a:ext cx="23622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5" name="Text Box 9"/>
          <p:cNvSpPr txBox="1">
            <a:spLocks noChangeArrowheads="1"/>
          </p:cNvSpPr>
          <p:nvPr/>
        </p:nvSpPr>
        <p:spPr bwMode="auto">
          <a:xfrm>
            <a:off x="3348038" y="3933825"/>
            <a:ext cx="273685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ea typeface="华文中宋" pitchFamily="2" charset="-122"/>
              </a:rPr>
              <a:t>吸热</a:t>
            </a:r>
            <a:r>
              <a:rPr lang="en-US" b="1">
                <a:latin typeface="Times New Roman" pitchFamily="18" charset="0"/>
                <a:ea typeface="华文中宋" pitchFamily="2" charset="-122"/>
              </a:rPr>
              <a:t>——</a:t>
            </a:r>
            <a:r>
              <a:rPr lang="en-US" b="1">
                <a:ea typeface="华文中宋" pitchFamily="2" charset="-122"/>
              </a:rPr>
              <a:t> </a:t>
            </a:r>
            <a:r>
              <a:rPr lang="en-US" b="1">
                <a:latin typeface="Times New Roman" pitchFamily="18" charset="0"/>
                <a:ea typeface="华文中宋" pitchFamily="2" charset="-122"/>
              </a:rPr>
              <a:t>K</a:t>
            </a:r>
            <a:r>
              <a:rPr lang="zh-CN" altLang="en-US" b="1">
                <a:latin typeface="Times New Roman" pitchFamily="18" charset="0"/>
                <a:ea typeface="华文中宋" pitchFamily="2" charset="-122"/>
              </a:rPr>
              <a:t>作正功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b="1">
                <a:latin typeface="Times New Roman" pitchFamily="18" charset="0"/>
                <a:ea typeface="华文中宋" pitchFamily="2" charset="-122"/>
              </a:rPr>
              <a:t>电势能提高</a:t>
            </a:r>
          </a:p>
        </p:txBody>
      </p:sp>
      <p:sp>
        <p:nvSpPr>
          <p:cNvPr id="11276" name="Text Box 10"/>
          <p:cNvSpPr txBox="1">
            <a:spLocks noChangeArrowheads="1"/>
          </p:cNvSpPr>
          <p:nvPr/>
        </p:nvSpPr>
        <p:spPr bwMode="auto">
          <a:xfrm>
            <a:off x="611188" y="3860800"/>
            <a:ext cx="28194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ea typeface="华文中宋" pitchFamily="2" charset="-122"/>
              </a:rPr>
              <a:t>放热</a:t>
            </a:r>
            <a:r>
              <a:rPr lang="en-US" b="1">
                <a:latin typeface="Times New Roman" pitchFamily="18" charset="0"/>
                <a:ea typeface="华文中宋" pitchFamily="2" charset="-122"/>
              </a:rPr>
              <a:t>——</a:t>
            </a:r>
            <a:r>
              <a:rPr lang="en-US" b="1">
                <a:ea typeface="华文中宋" pitchFamily="2" charset="-122"/>
              </a:rPr>
              <a:t> </a:t>
            </a:r>
            <a:r>
              <a:rPr lang="en-US" b="1">
                <a:latin typeface="Times New Roman" pitchFamily="18" charset="0"/>
                <a:ea typeface="华文中宋" pitchFamily="2" charset="-122"/>
              </a:rPr>
              <a:t>K</a:t>
            </a:r>
            <a:r>
              <a:rPr lang="zh-CN" altLang="en-US" b="1">
                <a:latin typeface="Times New Roman" pitchFamily="18" charset="0"/>
                <a:ea typeface="华文中宋" pitchFamily="2" charset="-122"/>
              </a:rPr>
              <a:t>作负功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b="1">
                <a:latin typeface="Times New Roman" pitchFamily="18" charset="0"/>
                <a:ea typeface="华文中宋" pitchFamily="2" charset="-122"/>
              </a:rPr>
              <a:t>电势能降低</a:t>
            </a:r>
          </a:p>
        </p:txBody>
      </p:sp>
      <p:graphicFrame>
        <p:nvGraphicFramePr>
          <p:cNvPr id="11277" name="Object 13"/>
          <p:cNvGraphicFramePr>
            <a:graphicFrameLocks noChangeAspect="1"/>
          </p:cNvGraphicFramePr>
          <p:nvPr/>
        </p:nvGraphicFramePr>
        <p:xfrm>
          <a:off x="6400800" y="2895600"/>
          <a:ext cx="24384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48" r:id="rId11" imgW="1167198" imgH="215936" progId="">
                  <p:embed/>
                </p:oleObj>
              </mc:Choice>
              <mc:Fallback>
                <p:oleObj r:id="rId11" imgW="1167198" imgH="215936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2895600"/>
                        <a:ext cx="2438400" cy="4508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8" name="Object 14"/>
          <p:cNvGraphicFramePr>
            <a:graphicFrameLocks noChangeAspect="1"/>
          </p:cNvGraphicFramePr>
          <p:nvPr/>
        </p:nvGraphicFramePr>
        <p:xfrm>
          <a:off x="6324600" y="3581400"/>
          <a:ext cx="259080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49" r:id="rId13" imgW="1206817" imgH="228917" progId="">
                  <p:embed/>
                </p:oleObj>
              </mc:Choice>
              <mc:Fallback>
                <p:oleObj r:id="rId13" imgW="1206817" imgH="228917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3581400"/>
                        <a:ext cx="2590800" cy="49053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9" name="Text Box 13"/>
          <p:cNvSpPr txBox="1">
            <a:spLocks noChangeArrowheads="1"/>
          </p:cNvSpPr>
          <p:nvPr/>
        </p:nvSpPr>
        <p:spPr bwMode="auto">
          <a:xfrm>
            <a:off x="228600" y="5029200"/>
            <a:ext cx="6248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660033"/>
                </a:solidFill>
                <a:latin typeface="华文中宋" pitchFamily="2" charset="-122"/>
                <a:ea typeface="华文中宋" pitchFamily="2" charset="-122"/>
              </a:rPr>
              <a:t>在单一温度下只依靠珀耳帖电动势不能在闭合回路内建立恒定电流</a:t>
            </a:r>
            <a:r>
              <a:rPr lang="zh-CN" altLang="en-US" sz="2800">
                <a:solidFill>
                  <a:srgbClr val="660033"/>
                </a:solidFill>
                <a:latin typeface="华文中宋" pitchFamily="2" charset="-122"/>
                <a:ea typeface="华文中宋" pitchFamily="2" charset="-122"/>
              </a:rPr>
              <a:t> </a:t>
            </a:r>
          </a:p>
        </p:txBody>
      </p:sp>
      <p:pic>
        <p:nvPicPr>
          <p:cNvPr id="11280" name="Picture 14" descr="Ne511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4495800"/>
            <a:ext cx="1752600" cy="138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1659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 build="p" autoUpdateAnimBg="0"/>
      <p:bldP spid="11270" grpId="0" animBg="1" autoUpdateAnimBg="0"/>
      <p:bldP spid="11275" grpId="0" autoUpdateAnimBg="0"/>
      <p:bldP spid="11276" grpId="0" autoUpdateAnimBg="0"/>
      <p:bldP spid="11279" grpId="0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838200"/>
            <a:ext cx="3090863" cy="762000"/>
          </a:xfrm>
        </p:spPr>
        <p:txBody>
          <a:bodyPr/>
          <a:lstStyle/>
          <a:p>
            <a:pPr eaLnBrk="1" hangingPunct="1"/>
            <a:r>
              <a:rPr lang="zh-CN" altLang="en-US" b="1">
                <a:latin typeface="华文中宋" pitchFamily="2" charset="-122"/>
                <a:ea typeface="华文中宋" pitchFamily="2" charset="-122"/>
              </a:rPr>
              <a:t>温差电动势</a:t>
            </a:r>
            <a:r>
              <a:rPr lang="zh-CN" altLang="en-US">
                <a:ea typeface="华文中宋" pitchFamily="2" charset="-122"/>
              </a:rPr>
              <a:t> 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752600"/>
            <a:ext cx="5792788" cy="91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1">
                <a:latin typeface="Times New Roman" pitchFamily="18" charset="0"/>
                <a:ea typeface="华文中宋" pitchFamily="2" charset="-122"/>
              </a:rPr>
              <a:t>闭合回路是由两种金属</a:t>
            </a:r>
            <a:r>
              <a:rPr lang="en-US" sz="2800" b="1" i="1">
                <a:latin typeface="Times New Roman" pitchFamily="18" charset="0"/>
                <a:ea typeface="华文中宋" pitchFamily="2" charset="-122"/>
              </a:rPr>
              <a:t>A</a:t>
            </a:r>
            <a:r>
              <a:rPr lang="zh-CN" altLang="en-US" sz="2800" b="1">
                <a:latin typeface="Times New Roman" pitchFamily="18" charset="0"/>
                <a:ea typeface="华文中宋" pitchFamily="2" charset="-122"/>
              </a:rPr>
              <a:t>、 </a:t>
            </a:r>
            <a:r>
              <a:rPr lang="en-US" sz="2800" b="1" i="1">
                <a:latin typeface="Times New Roman" pitchFamily="18" charset="0"/>
                <a:ea typeface="华文中宋" pitchFamily="2" charset="-122"/>
              </a:rPr>
              <a:t>B</a:t>
            </a:r>
            <a:r>
              <a:rPr lang="zh-CN" altLang="en-US" sz="2800" b="1">
                <a:latin typeface="Times New Roman" pitchFamily="18" charset="0"/>
                <a:ea typeface="华文中宋" pitchFamily="2" charset="-122"/>
              </a:rPr>
              <a:t>组成的，接头</a:t>
            </a:r>
            <a:r>
              <a:rPr lang="en-US" sz="2800" b="1">
                <a:latin typeface="Times New Roman" pitchFamily="18" charset="0"/>
                <a:ea typeface="华文中宋" pitchFamily="2" charset="-122"/>
              </a:rPr>
              <a:t>1</a:t>
            </a:r>
            <a:r>
              <a:rPr lang="zh-CN" altLang="en-US" sz="2800" b="1">
                <a:latin typeface="Times New Roman" pitchFamily="18" charset="0"/>
                <a:ea typeface="华文中宋" pitchFamily="2" charset="-122"/>
              </a:rPr>
              <a:t>、</a:t>
            </a:r>
            <a:r>
              <a:rPr lang="en-US" sz="2800" b="1">
                <a:latin typeface="Times New Roman" pitchFamily="18" charset="0"/>
                <a:ea typeface="华文中宋" pitchFamily="2" charset="-122"/>
              </a:rPr>
              <a:t>2</a:t>
            </a:r>
            <a:r>
              <a:rPr lang="zh-CN" altLang="en-US" sz="2800" b="1">
                <a:latin typeface="Times New Roman" pitchFamily="18" charset="0"/>
                <a:ea typeface="华文中宋" pitchFamily="2" charset="-122"/>
              </a:rPr>
              <a:t>温度分别为</a:t>
            </a:r>
            <a:r>
              <a:rPr lang="en-US" sz="2800" b="1" i="1">
                <a:latin typeface="Times New Roman" pitchFamily="18" charset="0"/>
                <a:ea typeface="华文中宋" pitchFamily="2" charset="-122"/>
              </a:rPr>
              <a:t>T</a:t>
            </a:r>
            <a:r>
              <a:rPr lang="en-US" sz="2800" b="1" i="1" baseline="-30000">
                <a:latin typeface="Times New Roman" pitchFamily="18" charset="0"/>
                <a:ea typeface="华文中宋" pitchFamily="2" charset="-122"/>
              </a:rPr>
              <a:t>1</a:t>
            </a:r>
            <a:r>
              <a:rPr lang="zh-CN" altLang="en-US" sz="2800" b="1">
                <a:latin typeface="Times New Roman" pitchFamily="18" charset="0"/>
                <a:ea typeface="华文中宋" pitchFamily="2" charset="-122"/>
              </a:rPr>
              <a:t>，</a:t>
            </a:r>
            <a:r>
              <a:rPr lang="en-US" sz="2800" b="1" i="1">
                <a:latin typeface="Times New Roman" pitchFamily="18" charset="0"/>
                <a:ea typeface="华文中宋" pitchFamily="2" charset="-122"/>
              </a:rPr>
              <a:t>T</a:t>
            </a:r>
            <a:r>
              <a:rPr lang="en-US" sz="2800" b="1" i="1" baseline="-30000">
                <a:latin typeface="Times New Roman" pitchFamily="18" charset="0"/>
                <a:ea typeface="华文中宋" pitchFamily="2" charset="-122"/>
              </a:rPr>
              <a:t>2</a:t>
            </a:r>
            <a:r>
              <a:rPr lang="en-US" sz="2400">
                <a:latin typeface="Times New Roman" pitchFamily="18" charset="0"/>
                <a:ea typeface="华文中宋" pitchFamily="2" charset="-122"/>
              </a:rPr>
              <a:t> </a:t>
            </a:r>
          </a:p>
        </p:txBody>
      </p:sp>
      <p:pic>
        <p:nvPicPr>
          <p:cNvPr id="12294" name="Picture 4" descr="Ne5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1066800"/>
            <a:ext cx="2438400" cy="145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5" name="Rectangle 5"/>
          <p:cNvSpPr>
            <a:spLocks noChangeArrowheads="1"/>
          </p:cNvSpPr>
          <p:nvPr/>
        </p:nvSpPr>
        <p:spPr bwMode="auto">
          <a:xfrm>
            <a:off x="2286000" y="31718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2296" name="Object 8"/>
          <p:cNvGraphicFramePr>
            <a:graphicFrameLocks noChangeAspect="1"/>
          </p:cNvGraphicFramePr>
          <p:nvPr/>
        </p:nvGraphicFramePr>
        <p:xfrm>
          <a:off x="466725" y="5029200"/>
          <a:ext cx="8677275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23" r:id="rId4" imgW="3261386" imgH="355609" progId="">
                  <p:embed/>
                </p:oleObj>
              </mc:Choice>
              <mc:Fallback>
                <p:oleObj r:id="rId4" imgW="3261386" imgH="35560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" y="5029200"/>
                        <a:ext cx="8677275" cy="9461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7" name="Text Box 7"/>
          <p:cNvSpPr txBox="1">
            <a:spLocks noChangeArrowheads="1"/>
          </p:cNvSpPr>
          <p:nvPr/>
        </p:nvSpPr>
        <p:spPr bwMode="auto">
          <a:xfrm>
            <a:off x="457200" y="2667000"/>
            <a:ext cx="8382000" cy="235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b="1">
                <a:latin typeface="宋体" charset="-122"/>
              </a:rPr>
              <a:t> </a:t>
            </a:r>
            <a:r>
              <a:rPr lang="zh-CN" altLang="en-US" sz="2800" b="1">
                <a:latin typeface="Times New Roman" pitchFamily="18" charset="0"/>
                <a:ea typeface="华文中宋" pitchFamily="2" charset="-122"/>
              </a:rPr>
              <a:t>在接头</a:t>
            </a:r>
            <a:r>
              <a:rPr lang="en-US" sz="2800" b="1">
                <a:latin typeface="Times New Roman" pitchFamily="18" charset="0"/>
                <a:ea typeface="华文中宋" pitchFamily="2" charset="-122"/>
              </a:rPr>
              <a:t>1</a:t>
            </a:r>
            <a:r>
              <a:rPr lang="zh-CN" altLang="en-US" sz="2800" b="1">
                <a:latin typeface="Times New Roman" pitchFamily="18" charset="0"/>
                <a:ea typeface="华文中宋" pitchFamily="2" charset="-122"/>
              </a:rPr>
              <a:t>、</a:t>
            </a:r>
            <a:r>
              <a:rPr lang="en-US" sz="2800" b="1">
                <a:latin typeface="Times New Roman" pitchFamily="18" charset="0"/>
                <a:ea typeface="华文中宋" pitchFamily="2" charset="-122"/>
              </a:rPr>
              <a:t>2</a:t>
            </a:r>
            <a:r>
              <a:rPr lang="zh-CN" altLang="en-US" sz="2800" b="1">
                <a:latin typeface="Times New Roman" pitchFamily="18" charset="0"/>
                <a:ea typeface="华文中宋" pitchFamily="2" charset="-122"/>
              </a:rPr>
              <a:t>两处形成了</a:t>
            </a:r>
            <a:r>
              <a:rPr lang="zh-CN" altLang="en-US" sz="2800" b="1">
                <a:solidFill>
                  <a:srgbClr val="660033"/>
                </a:solidFill>
                <a:latin typeface="华文中宋" pitchFamily="2" charset="-122"/>
                <a:ea typeface="华文中宋" pitchFamily="2" charset="-122"/>
              </a:rPr>
              <a:t>佩尔捷</a:t>
            </a:r>
            <a:r>
              <a:rPr lang="zh-CN" altLang="en-US" sz="2800" b="1">
                <a:latin typeface="Times New Roman" pitchFamily="18" charset="0"/>
                <a:ea typeface="华文中宋" pitchFamily="2" charset="-122"/>
              </a:rPr>
              <a:t>电动势大小不等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zh-CN" altLang="en-US" sz="2800" b="1">
                <a:latin typeface="Times New Roman" pitchFamily="18" charset="0"/>
                <a:ea typeface="华文中宋" pitchFamily="2" charset="-122"/>
              </a:rPr>
              <a:t>  在金属</a:t>
            </a:r>
            <a:r>
              <a:rPr lang="en-US" sz="2800" b="1">
                <a:latin typeface="Times New Roman" pitchFamily="18" charset="0"/>
                <a:ea typeface="华文中宋" pitchFamily="2" charset="-122"/>
              </a:rPr>
              <a:t>A</a:t>
            </a:r>
            <a:r>
              <a:rPr lang="zh-CN" altLang="en-US" sz="2800" b="1">
                <a:latin typeface="Times New Roman" pitchFamily="18" charset="0"/>
                <a:ea typeface="华文中宋" pitchFamily="2" charset="-122"/>
              </a:rPr>
              <a:t>和</a:t>
            </a:r>
            <a:r>
              <a:rPr lang="en-US" sz="2800" b="1">
                <a:latin typeface="Times New Roman" pitchFamily="18" charset="0"/>
                <a:ea typeface="华文中宋" pitchFamily="2" charset="-122"/>
              </a:rPr>
              <a:t>B</a:t>
            </a:r>
            <a:r>
              <a:rPr lang="zh-CN" altLang="en-US" sz="2800" b="1">
                <a:latin typeface="Times New Roman" pitchFamily="18" charset="0"/>
                <a:ea typeface="华文中宋" pitchFamily="2" charset="-122"/>
              </a:rPr>
              <a:t>内分别形成的</a:t>
            </a:r>
            <a:r>
              <a:rPr lang="zh-CN" altLang="en-US" sz="2800" b="1">
                <a:solidFill>
                  <a:srgbClr val="660033"/>
                </a:solidFill>
                <a:latin typeface="Times New Roman" pitchFamily="18" charset="0"/>
                <a:ea typeface="华文中宋" pitchFamily="2" charset="-122"/>
              </a:rPr>
              <a:t>汤姆孙</a:t>
            </a:r>
            <a:r>
              <a:rPr lang="zh-CN" altLang="en-US" sz="2800" b="1">
                <a:latin typeface="Times New Roman" pitchFamily="18" charset="0"/>
                <a:ea typeface="华文中宋" pitchFamily="2" charset="-122"/>
              </a:rPr>
              <a:t>电动势的大小也  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zh-CN" altLang="en-US" sz="2800" b="1">
                <a:latin typeface="Times New Roman" pitchFamily="18" charset="0"/>
                <a:ea typeface="华文中宋" pitchFamily="2" charset="-122"/>
              </a:rPr>
              <a:t>    不相等</a:t>
            </a:r>
            <a:r>
              <a:rPr lang="en-US" sz="2800" b="1">
                <a:latin typeface="Times New Roman" pitchFamily="18" charset="0"/>
                <a:ea typeface="华文中宋" pitchFamily="2" charset="-122"/>
              </a:rPr>
              <a:t>——</a:t>
            </a:r>
            <a:r>
              <a:rPr lang="zh-CN" altLang="en-US" sz="2800" b="1">
                <a:solidFill>
                  <a:srgbClr val="660033"/>
                </a:solidFill>
                <a:latin typeface="Times New Roman" pitchFamily="18" charset="0"/>
                <a:ea typeface="华文中宋" pitchFamily="2" charset="-122"/>
              </a:rPr>
              <a:t>温差电动势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zh-CN" altLang="en-US" sz="2800" b="1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  </a:t>
            </a:r>
            <a:r>
              <a:rPr lang="zh-CN" altLang="en-US" sz="2800" b="1">
                <a:solidFill>
                  <a:srgbClr val="660033"/>
                </a:solidFill>
                <a:latin typeface="Times New Roman" pitchFamily="18" charset="0"/>
                <a:ea typeface="华文中宋" pitchFamily="2" charset="-122"/>
              </a:rPr>
              <a:t>温差电动势</a:t>
            </a:r>
            <a:r>
              <a:rPr lang="zh-CN" altLang="en-US" sz="2800" b="1">
                <a:latin typeface="Times New Roman" pitchFamily="18" charset="0"/>
                <a:ea typeface="华文中宋" pitchFamily="2" charset="-122"/>
              </a:rPr>
              <a:t>存在于整个闭合回路上，在它的推动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zh-CN" altLang="en-US" sz="2800" b="1">
                <a:latin typeface="Times New Roman" pitchFamily="18" charset="0"/>
                <a:ea typeface="华文中宋" pitchFamily="2" charset="-122"/>
              </a:rPr>
              <a:t>    下，闭合回路中形成恒定电流 </a:t>
            </a:r>
            <a:r>
              <a:rPr lang="zh-CN" altLang="en-US" sz="2800">
                <a:latin typeface="Times New Roman" pitchFamily="18" charset="0"/>
                <a:ea typeface="华文中宋" pitchFamily="2" charset="-122"/>
              </a:rPr>
              <a:t> </a:t>
            </a:r>
          </a:p>
        </p:txBody>
      </p:sp>
      <p:sp>
        <p:nvSpPr>
          <p:cNvPr id="12298" name="AutoShape 8"/>
          <p:cNvSpPr>
            <a:spLocks/>
          </p:cNvSpPr>
          <p:nvPr/>
        </p:nvSpPr>
        <p:spPr bwMode="auto">
          <a:xfrm>
            <a:off x="2133600" y="228600"/>
            <a:ext cx="4343400" cy="457200"/>
          </a:xfrm>
          <a:prstGeom prst="borderCallout2">
            <a:avLst>
              <a:gd name="adj1" fmla="val 25000"/>
              <a:gd name="adj2" fmla="val 101755"/>
              <a:gd name="adj3" fmla="val 25000"/>
              <a:gd name="adj4" fmla="val 118569"/>
              <a:gd name="adj5" fmla="val 249653"/>
              <a:gd name="adj6" fmla="val 13611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b="1"/>
              <a:t>电动势存在于整个闭合回路</a:t>
            </a:r>
          </a:p>
        </p:txBody>
      </p:sp>
    </p:spTree>
    <p:extLst>
      <p:ext uri="{BB962C8B-B14F-4D97-AF65-F5344CB8AC3E}">
        <p14:creationId xmlns:p14="http://schemas.microsoft.com/office/powerpoint/2010/main" val="2289399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2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22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22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22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3" grpId="0" build="p" autoUpdateAnimBg="0"/>
      <p:bldP spid="12297" grpId="0" build="p" autoUpdateAnimBg="0"/>
      <p:bldP spid="12298" grpId="0" animBg="1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228600"/>
            <a:ext cx="1414463" cy="701675"/>
          </a:xfrm>
        </p:spPr>
        <p:txBody>
          <a:bodyPr/>
          <a:lstStyle/>
          <a:p>
            <a:pPr eaLnBrk="1" hangingPunct="1"/>
            <a:r>
              <a:rPr lang="zh-CN" altLang="en-US" sz="4000" b="1">
                <a:effectLst>
                  <a:outerShdw blurRad="38100" dist="38100" dir="2700000" algn="tl">
                    <a:srgbClr val="000000"/>
                  </a:outerShdw>
                </a:effectLst>
                <a:latin typeface="华文中宋" pitchFamily="2" charset="-122"/>
                <a:ea typeface="华文中宋" pitchFamily="2" charset="-122"/>
              </a:rPr>
              <a:t>应用</a:t>
            </a:r>
            <a:r>
              <a:rPr lang="zh-CN" altLang="en-US" sz="4000">
                <a:latin typeface="Times New Roman" pitchFamily="18" charset="0"/>
                <a:ea typeface="华文中宋" pitchFamily="2" charset="-122"/>
              </a:rPr>
              <a:t> 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0" y="1143000"/>
            <a:ext cx="8077200" cy="2667000"/>
          </a:xfrm>
        </p:spPr>
        <p:txBody>
          <a:bodyPr/>
          <a:lstStyle/>
          <a:p>
            <a:pPr eaLnBrk="1" hangingPunct="1"/>
            <a:r>
              <a:rPr lang="zh-CN" altLang="en-US" b="1">
                <a:latin typeface="Times New Roman" pitchFamily="18" charset="0"/>
                <a:ea typeface="华文中宋" pitchFamily="2" charset="-122"/>
              </a:rPr>
              <a:t>温差电偶（如图）</a:t>
            </a:r>
          </a:p>
          <a:p>
            <a:pPr lvl="1" eaLnBrk="1" hangingPunct="1"/>
            <a:r>
              <a:rPr lang="zh-CN" altLang="en-US" b="1">
                <a:latin typeface="华文中宋" pitchFamily="2" charset="-122"/>
                <a:ea typeface="华文中宋" pitchFamily="2" charset="-122"/>
              </a:rPr>
              <a:t>主要用于测量温度</a:t>
            </a:r>
          </a:p>
          <a:p>
            <a:pPr lvl="1" eaLnBrk="1" hangingPunct="1"/>
            <a:r>
              <a:rPr lang="zh-CN" altLang="en-US" b="1">
                <a:latin typeface="华文中宋" pitchFamily="2" charset="-122"/>
                <a:ea typeface="华文中宋" pitchFamily="2" charset="-122"/>
              </a:rPr>
              <a:t>优点是，测量范围广</a:t>
            </a:r>
          </a:p>
          <a:p>
            <a:pPr lvl="1" eaLnBrk="1" hangingPunct="1"/>
            <a:r>
              <a:rPr lang="zh-CN" altLang="en-US" b="1">
                <a:latin typeface="华文中宋" pitchFamily="2" charset="-122"/>
                <a:ea typeface="华文中宋" pitchFamily="2" charset="-122"/>
              </a:rPr>
              <a:t>受热面积和热容量都可以做得很小，可测量微小的温度变化或微小的热量  </a:t>
            </a:r>
          </a:p>
        </p:txBody>
      </p:sp>
      <p:pic>
        <p:nvPicPr>
          <p:cNvPr id="13318" name="Picture 4" descr="Ne51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962400"/>
            <a:ext cx="2047875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3319" name="Object 5"/>
          <p:cNvGraphicFramePr>
            <a:graphicFrameLocks noChangeAspect="1"/>
          </p:cNvGraphicFramePr>
          <p:nvPr/>
        </p:nvGraphicFramePr>
        <p:xfrm>
          <a:off x="685800" y="3810000"/>
          <a:ext cx="1425575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47" r:id="rId4" imgW="838095" imgH="1523810" progId="PBrush">
                  <p:embed/>
                </p:oleObj>
              </mc:Choice>
              <mc:Fallback>
                <p:oleObj r:id="rId4" imgW="838095" imgH="1523810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810000"/>
                        <a:ext cx="1425575" cy="259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320" name="Picture 6" descr="Ne51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4038600"/>
            <a:ext cx="2895600" cy="196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1" name="AutoShape 7"/>
          <p:cNvSpPr>
            <a:spLocks noChangeArrowheads="1"/>
          </p:cNvSpPr>
          <p:nvPr/>
        </p:nvSpPr>
        <p:spPr bwMode="auto">
          <a:xfrm>
            <a:off x="2051050" y="4724400"/>
            <a:ext cx="1008063" cy="304800"/>
          </a:xfrm>
          <a:prstGeom prst="leftRightArrow">
            <a:avLst>
              <a:gd name="adj1" fmla="val 50000"/>
              <a:gd name="adj2" fmla="val 66146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2" name="AutoShape 8"/>
          <p:cNvSpPr>
            <a:spLocks noChangeArrowheads="1"/>
          </p:cNvSpPr>
          <p:nvPr/>
        </p:nvSpPr>
        <p:spPr bwMode="auto">
          <a:xfrm>
            <a:off x="4932363" y="4797425"/>
            <a:ext cx="1079500" cy="307975"/>
          </a:xfrm>
          <a:prstGeom prst="leftRightArrow">
            <a:avLst>
              <a:gd name="adj1" fmla="val 50000"/>
              <a:gd name="adj2" fmla="val 70103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714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1" grpId="0" animBg="1" autoUpdateAnimBg="0"/>
      <p:bldP spid="13322" grpId="0" animBg="1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228600"/>
            <a:ext cx="5486400" cy="762000"/>
          </a:xfrm>
        </p:spPr>
        <p:txBody>
          <a:bodyPr/>
          <a:lstStyle/>
          <a:p>
            <a:pPr eaLnBrk="1" hangingPunct="1"/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华文中宋" pitchFamily="2" charset="-122"/>
                <a:ea typeface="华文中宋" pitchFamily="2" charset="-122"/>
              </a:rPr>
              <a:t>半导体的温差效应</a:t>
            </a:r>
            <a:r>
              <a:rPr lang="zh-CN" altLang="en-US" b="1">
                <a:latin typeface="华文中宋" pitchFamily="2" charset="-122"/>
                <a:ea typeface="华文中宋" pitchFamily="2" charset="-122"/>
              </a:rPr>
              <a:t> 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990600"/>
            <a:ext cx="5562600" cy="2057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1">
                <a:latin typeface="Times New Roman" pitchFamily="18" charset="0"/>
                <a:ea typeface="华文中宋" pitchFamily="2" charset="-122"/>
              </a:rPr>
              <a:t>金属中的温差电动势约为           </a:t>
            </a:r>
            <a:r>
              <a:rPr lang="en-US" sz="2800" b="1">
                <a:latin typeface="Times New Roman" pitchFamily="18" charset="0"/>
                <a:ea typeface="华文中宋" pitchFamily="2" charset="-122"/>
              </a:rPr>
              <a:t>0</a:t>
            </a:r>
            <a:r>
              <a:rPr lang="zh-CN" altLang="en-US" sz="2800" b="1">
                <a:latin typeface="Times New Roman" pitchFamily="18" charset="0"/>
                <a:ea typeface="华文中宋" pitchFamily="2" charset="-122"/>
              </a:rPr>
              <a:t>一</a:t>
            </a:r>
            <a:r>
              <a:rPr lang="en-US" sz="2800" b="1">
                <a:latin typeface="Times New Roman" pitchFamily="18" charset="0"/>
                <a:ea typeface="华文中宋" pitchFamily="2" charset="-122"/>
              </a:rPr>
              <a:t>10</a:t>
            </a:r>
            <a:r>
              <a:rPr lang="en-US" sz="2800" b="1" i="1">
                <a:latin typeface="Times New Roman" pitchFamily="18" charset="0"/>
                <a:ea typeface="华文中宋" pitchFamily="2" charset="-122"/>
                <a:sym typeface="Symbol" pitchFamily="18" charset="2"/>
              </a:rPr>
              <a:t>V</a:t>
            </a:r>
            <a:r>
              <a:rPr lang="zh-CN" altLang="en-US" sz="2800" b="1">
                <a:latin typeface="Times New Roman" pitchFamily="18" charset="0"/>
                <a:ea typeface="华文中宋" pitchFamily="2" charset="-122"/>
              </a:rPr>
              <a:t>／</a:t>
            </a:r>
            <a:r>
              <a:rPr lang="zh-CN" altLang="en-US" sz="2800" b="1" i="1" baseline="30000">
                <a:latin typeface="Times New Roman" pitchFamily="18" charset="0"/>
                <a:ea typeface="华文中宋" pitchFamily="2" charset="-122"/>
                <a:sym typeface="Symbol" pitchFamily="18" charset="2"/>
              </a:rPr>
              <a:t></a:t>
            </a:r>
            <a:r>
              <a:rPr lang="en-US" sz="2800" b="1" i="1">
                <a:latin typeface="Times New Roman" pitchFamily="18" charset="0"/>
                <a:ea typeface="华文中宋" pitchFamily="2" charset="-122"/>
              </a:rPr>
              <a:t>C</a:t>
            </a:r>
            <a:r>
              <a:rPr lang="en-US" sz="2800">
                <a:latin typeface="Times New Roman" pitchFamily="18" charset="0"/>
                <a:ea typeface="华文中宋" pitchFamily="2" charset="-122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b="1">
                <a:latin typeface="Times New Roman" pitchFamily="18" charset="0"/>
                <a:ea typeface="华文中宋" pitchFamily="2" charset="-122"/>
              </a:rPr>
              <a:t>半导体中同样存在着以上三种效应，而且更为显著，常为几百</a:t>
            </a:r>
            <a:r>
              <a:rPr lang="zh-CN" altLang="en-US" sz="2800" b="1" i="1">
                <a:latin typeface="Times New Roman" pitchFamily="18" charset="0"/>
                <a:ea typeface="华文中宋" pitchFamily="2" charset="-122"/>
                <a:sym typeface="Symbol" pitchFamily="18" charset="2"/>
              </a:rPr>
              <a:t></a:t>
            </a:r>
            <a:r>
              <a:rPr lang="en-US" sz="2800" b="1" i="1">
                <a:latin typeface="Times New Roman" pitchFamily="18" charset="0"/>
                <a:ea typeface="华文中宋" pitchFamily="2" charset="-122"/>
                <a:sym typeface="Symbol" pitchFamily="18" charset="2"/>
              </a:rPr>
              <a:t>V</a:t>
            </a:r>
            <a:r>
              <a:rPr lang="zh-CN" altLang="en-US" sz="2800" b="1" i="1">
                <a:latin typeface="Times New Roman" pitchFamily="18" charset="0"/>
                <a:ea typeface="华文中宋" pitchFamily="2" charset="-122"/>
              </a:rPr>
              <a:t>／</a:t>
            </a:r>
            <a:r>
              <a:rPr lang="zh-CN" altLang="en-US" sz="2800" b="1" i="1" baseline="30000">
                <a:latin typeface="Times New Roman" pitchFamily="18" charset="0"/>
                <a:ea typeface="华文中宋" pitchFamily="2" charset="-122"/>
                <a:sym typeface="Symbol" pitchFamily="18" charset="2"/>
              </a:rPr>
              <a:t></a:t>
            </a:r>
            <a:r>
              <a:rPr lang="en-US" sz="2800" b="1" i="1">
                <a:latin typeface="Times New Roman" pitchFamily="18" charset="0"/>
                <a:ea typeface="华文中宋" pitchFamily="2" charset="-122"/>
              </a:rPr>
              <a:t>C</a:t>
            </a:r>
            <a:r>
              <a:rPr lang="en-US" sz="2800">
                <a:latin typeface="Times New Roman" pitchFamily="18" charset="0"/>
                <a:ea typeface="华文中宋" pitchFamily="2" charset="-122"/>
              </a:rPr>
              <a:t> </a:t>
            </a:r>
            <a:r>
              <a:rPr lang="zh-CN" altLang="en-US" sz="2800" b="1">
                <a:latin typeface="Times New Roman" pitchFamily="18" charset="0"/>
                <a:ea typeface="华文中宋" pitchFamily="2" charset="-122"/>
              </a:rPr>
              <a:t>，甚至达到几</a:t>
            </a:r>
            <a:r>
              <a:rPr lang="en-US" sz="2800" b="1" i="1">
                <a:latin typeface="Times New Roman" pitchFamily="18" charset="0"/>
                <a:ea typeface="华文中宋" pitchFamily="2" charset="-122"/>
                <a:sym typeface="Symbol" pitchFamily="18" charset="2"/>
              </a:rPr>
              <a:t>mV</a:t>
            </a:r>
            <a:r>
              <a:rPr lang="zh-CN" altLang="en-US" sz="2800" b="1" i="1">
                <a:latin typeface="Times New Roman" pitchFamily="18" charset="0"/>
                <a:ea typeface="华文中宋" pitchFamily="2" charset="-122"/>
              </a:rPr>
              <a:t>／</a:t>
            </a:r>
            <a:r>
              <a:rPr lang="zh-CN" altLang="en-US" sz="2800" b="1" i="1" baseline="30000">
                <a:latin typeface="Times New Roman" pitchFamily="18" charset="0"/>
                <a:ea typeface="华文中宋" pitchFamily="2" charset="-122"/>
                <a:sym typeface="Symbol" pitchFamily="18" charset="2"/>
              </a:rPr>
              <a:t></a:t>
            </a:r>
            <a:r>
              <a:rPr lang="en-US" sz="2800" b="1" i="1">
                <a:latin typeface="Times New Roman" pitchFamily="18" charset="0"/>
                <a:ea typeface="华文中宋" pitchFamily="2" charset="-122"/>
              </a:rPr>
              <a:t>C</a:t>
            </a:r>
            <a:r>
              <a:rPr lang="en-US" sz="2800">
                <a:latin typeface="Times New Roman" pitchFamily="18" charset="0"/>
                <a:ea typeface="华文中宋" pitchFamily="2" charset="-122"/>
              </a:rPr>
              <a:t> </a:t>
            </a:r>
          </a:p>
        </p:txBody>
      </p:sp>
      <p:sp>
        <p:nvSpPr>
          <p:cNvPr id="14342" name="Text Box 4"/>
          <p:cNvSpPr txBox="1">
            <a:spLocks noChangeArrowheads="1"/>
          </p:cNvSpPr>
          <p:nvPr/>
        </p:nvSpPr>
        <p:spPr bwMode="auto">
          <a:xfrm>
            <a:off x="250825" y="3213100"/>
            <a:ext cx="8686800" cy="309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zh-CN" altLang="en-US" sz="2800" b="1">
                <a:latin typeface="华文中宋" pitchFamily="2" charset="-122"/>
                <a:ea typeface="华文中宋" pitchFamily="2" charset="-122"/>
              </a:rPr>
              <a:t>温差电堆</a:t>
            </a:r>
            <a:r>
              <a:rPr lang="en-US" sz="2800" b="1">
                <a:latin typeface="Times New Roman" pitchFamily="18" charset="0"/>
                <a:ea typeface="华文中宋" pitchFamily="2" charset="-122"/>
              </a:rPr>
              <a:t>——</a:t>
            </a:r>
            <a:r>
              <a:rPr lang="zh-CN" altLang="en-US" sz="2800" b="1">
                <a:latin typeface="华文中宋" pitchFamily="2" charset="-122"/>
                <a:ea typeface="华文中宋" pitchFamily="2" charset="-122"/>
              </a:rPr>
              <a:t>发电 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zh-CN" altLang="en-US" sz="2800" b="1">
                <a:latin typeface="华文中宋" pitchFamily="2" charset="-122"/>
                <a:ea typeface="华文中宋" pitchFamily="2" charset="-122"/>
              </a:rPr>
              <a:t>半导体的</a:t>
            </a:r>
            <a:r>
              <a:rPr lang="zh-CN" altLang="en-US" sz="2800" b="1">
                <a:solidFill>
                  <a:srgbClr val="660033"/>
                </a:solidFill>
                <a:latin typeface="华文中宋" pitchFamily="2" charset="-122"/>
                <a:ea typeface="华文中宋" pitchFamily="2" charset="-122"/>
              </a:rPr>
              <a:t>佩尔捷</a:t>
            </a:r>
            <a:r>
              <a:rPr lang="zh-CN" altLang="en-US" sz="2800" b="1">
                <a:latin typeface="华文中宋" pitchFamily="2" charset="-122"/>
                <a:ea typeface="华文中宋" pitchFamily="2" charset="-122"/>
              </a:rPr>
              <a:t>效应较强，可用于致冷</a:t>
            </a:r>
            <a:r>
              <a:rPr lang="en-US" sz="2800" b="1">
                <a:latin typeface="华文中宋" pitchFamily="2" charset="-122"/>
                <a:ea typeface="华文中宋" pitchFamily="2" charset="-122"/>
              </a:rPr>
              <a:t>(</a:t>
            </a:r>
            <a:r>
              <a:rPr lang="zh-CN" altLang="en-US" sz="2800" b="1">
                <a:latin typeface="华文中宋" pitchFamily="2" charset="-122"/>
                <a:ea typeface="华文中宋" pitchFamily="2" charset="-122"/>
              </a:rPr>
              <a:t>使电流反向</a:t>
            </a:r>
            <a:r>
              <a:rPr lang="en-US" sz="2800" b="1">
                <a:latin typeface="华文中宋" pitchFamily="2" charset="-122"/>
                <a:ea typeface="华文中宋" pitchFamily="2" charset="-122"/>
              </a:rPr>
              <a:t>) </a:t>
            </a:r>
            <a:r>
              <a:rPr lang="zh-CN" altLang="en-US" sz="2800" b="1">
                <a:latin typeface="华文中宋" pitchFamily="2" charset="-122"/>
                <a:ea typeface="华文中宋" pitchFamily="2" charset="-122"/>
              </a:rPr>
              <a:t>温差发电和致冷的效率都并不高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zh-CN" altLang="en-US" sz="2800" b="1">
                <a:latin typeface="华文中宋" pitchFamily="2" charset="-122"/>
                <a:ea typeface="华文中宋" pitchFamily="2" charset="-122"/>
              </a:rPr>
              <a:t>优点：无转动部件、结构简单、寿命长、可靠、反应快、易控制、可小型化、无噪声、无干扰、污染等 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zh-CN" altLang="en-US" sz="2800" b="1">
                <a:latin typeface="华文中宋" pitchFamily="2" charset="-122"/>
                <a:ea typeface="华文中宋" pitchFamily="2" charset="-122"/>
              </a:rPr>
              <a:t>适用于某些特殊的场合。如太阳能汽车和空间站及人造卫星中的太阳能电池</a:t>
            </a:r>
            <a:r>
              <a:rPr lang="zh-CN" altLang="en-US" sz="3200" b="1">
                <a:latin typeface="华文中宋" pitchFamily="2" charset="-122"/>
                <a:ea typeface="华文中宋" pitchFamily="2" charset="-122"/>
              </a:rPr>
              <a:t> </a:t>
            </a:r>
          </a:p>
        </p:txBody>
      </p:sp>
      <p:graphicFrame>
        <p:nvGraphicFramePr>
          <p:cNvPr id="14343" name="Object 5"/>
          <p:cNvGraphicFramePr>
            <a:graphicFrameLocks noChangeAspect="1"/>
          </p:cNvGraphicFramePr>
          <p:nvPr/>
        </p:nvGraphicFramePr>
        <p:xfrm>
          <a:off x="5791200" y="228600"/>
          <a:ext cx="3352800" cy="271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1" r:id="rId3" imgW="2505425" imgH="2029108" progId="PBrush">
                  <p:embed/>
                </p:oleObj>
              </mc:Choice>
              <mc:Fallback>
                <p:oleObj r:id="rId3" imgW="2505425" imgH="2029108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228600"/>
                        <a:ext cx="3352800" cy="271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6532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4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43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1" grpId="0" build="p" bldLvl="5" autoUpdateAnimBg="0"/>
      <p:bldP spid="14342" grpId="0" build="p" autoUpdateAnimBg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5590</TotalTime>
  <Words>2872</Words>
  <Application>Microsoft Office PowerPoint</Application>
  <PresentationFormat>全屏显示(4:3)</PresentationFormat>
  <Paragraphs>607</Paragraphs>
  <Slides>61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61</vt:i4>
      </vt:variant>
    </vt:vector>
  </HeadingPairs>
  <TitlesOfParts>
    <vt:vector size="67" baseType="lpstr">
      <vt:lpstr>默认设计模板</vt:lpstr>
      <vt:lpstr>Microsoft 公式 3.0</vt:lpstr>
      <vt:lpstr>Equation</vt:lpstr>
      <vt:lpstr>公式</vt:lpstr>
      <vt:lpstr>位图图像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焦耳定律——电流热效应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接通电源达到稳定前瞬间电荷分布过程的分析</vt:lpstr>
      <vt:lpstr>PowerPoint 演示文稿</vt:lpstr>
      <vt:lpstr>PowerPoint 演示文稿</vt:lpstr>
      <vt:lpstr>PowerPoint 演示文稿</vt:lpstr>
      <vt:lpstr>似稳条件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温差电</vt:lpstr>
      <vt:lpstr>PowerPoint 演示文稿</vt:lpstr>
      <vt:lpstr>佩尔捷效应及其电动势 </vt:lpstr>
      <vt:lpstr>温差电动势 </vt:lpstr>
      <vt:lpstr>应用 </vt:lpstr>
      <vt:lpstr>半导体的温差效应 </vt:lpstr>
    </vt:vector>
  </TitlesOfParts>
  <Company>QHDX WLX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稳恒电流</dc:title>
  <dc:creator>zhang lw</dc:creator>
  <cp:lastModifiedBy>lwzhang</cp:lastModifiedBy>
  <cp:revision>217</cp:revision>
  <dcterms:created xsi:type="dcterms:W3CDTF">1994-04-19T00:46:52Z</dcterms:created>
  <dcterms:modified xsi:type="dcterms:W3CDTF">2019-10-08T09:25:57Z</dcterms:modified>
</cp:coreProperties>
</file>