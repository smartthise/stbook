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实验室探究课程</a:t>
            </a:r>
            <a:br>
              <a:rPr lang="en-US" altLang="zh-CN" sz="3200" dirty="0"/>
            </a:br>
            <a:br>
              <a:rPr lang="en-US" altLang="zh-CN" sz="4000" dirty="0"/>
            </a:br>
            <a:r>
              <a:rPr lang="en-US" altLang="zh-CN" sz="4000" dirty="0"/>
              <a:t>《</a:t>
            </a:r>
            <a:r>
              <a:rPr lang="zh-CN" altLang="zh-CN" sz="4000" dirty="0"/>
              <a:t>蛋白质表征与组学分析</a:t>
            </a:r>
            <a:r>
              <a:rPr lang="en-US" altLang="zh-CN" sz="4000" dirty="0"/>
              <a:t>》</a:t>
            </a:r>
            <a:r>
              <a:rPr lang="zh-CN" altLang="en-US" sz="4000" dirty="0"/>
              <a:t>模块</a:t>
            </a:r>
            <a:br>
              <a:rPr lang="en-US" altLang="zh-CN" sz="4000" dirty="0"/>
            </a:br>
            <a:br>
              <a:rPr lang="en-US" altLang="zh-CN" sz="4000" dirty="0"/>
            </a:br>
            <a:r>
              <a:rPr lang="zh-CN" altLang="en-US" sz="4000" dirty="0"/>
              <a:t>课程简介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74838" y="407987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清华大学分析中心  石文昊</a:t>
            </a:r>
            <a:endParaRPr lang="en-US" altLang="zh-CN" dirty="0"/>
          </a:p>
          <a:p>
            <a:r>
              <a:rPr lang="en-US" altLang="zh-CN" dirty="0"/>
              <a:t>whaosmith@mail.tsinghua.edu.cn</a:t>
            </a:r>
          </a:p>
          <a:p>
            <a:r>
              <a:rPr lang="zh-CN" altLang="en-US" dirty="0"/>
              <a:t>蛋白质组学实验室   国强楼</a:t>
            </a:r>
            <a:r>
              <a:rPr lang="en-US" altLang="zh-CN" dirty="0"/>
              <a:t>B205</a:t>
            </a:r>
          </a:p>
          <a:p>
            <a:r>
              <a:rPr lang="en-US" altLang="zh-CN" dirty="0"/>
              <a:t>2026</a:t>
            </a:r>
            <a:r>
              <a:rPr lang="zh-CN" altLang="en-US" dirty="0"/>
              <a:t>年秋季学期</a:t>
            </a:r>
          </a:p>
        </p:txBody>
      </p:sp>
      <p:sp>
        <p:nvSpPr>
          <p:cNvPr id="5" name="图文框 4">
            <a:extLst>
              <a:ext uri="{FF2B5EF4-FFF2-40B4-BE49-F238E27FC236}">
                <a16:creationId xmlns:a16="http://schemas.microsoft.com/office/drawing/2014/main" id="{0237C219-14FA-09B3-6856-D5CF07E5C4D3}"/>
              </a:ext>
            </a:extLst>
          </p:cNvPr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蛋白质</a:t>
            </a:r>
            <a:r>
              <a:rPr lang="en-US" altLang="zh-CN" dirty="0"/>
              <a:t>——</a:t>
            </a:r>
            <a:r>
              <a:rPr lang="zh-CN" altLang="en-US" dirty="0"/>
              <a:t>生命活动的执行者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/>
              <a:t>蛋白质是生命活动的核心，蛋白质组学作为化学与生命科学交叉融合的前沿领域，可用于疾病标志物的筛选与鉴定，助力药物靶点发现与药物研发，同时在临床诊疗优化、个性化医疗实施以及生命科学基础研究中，均提供了重要的技术支撑。</a:t>
            </a:r>
          </a:p>
          <a:p>
            <a:pPr>
              <a:lnSpc>
                <a:spcPct val="150000"/>
              </a:lnSpc>
            </a:pPr>
            <a:r>
              <a:rPr lang="zh-CN" altLang="zh-CN" sz="2000" dirty="0"/>
              <a:t>依托分析中心蛋白质组学实验室，开展蛋白质表征与组学分析实验室探究课程，</a:t>
            </a:r>
            <a:r>
              <a:rPr lang="zh-CN" altLang="en-US" sz="2000" dirty="0"/>
              <a:t>面向零基础学生，兼具科学性与趣味性。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本课程包含三部分主要内容。</a:t>
            </a:r>
            <a:endParaRPr lang="zh-CN" altLang="zh-CN" sz="2000" dirty="0"/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图文框 4"/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838200" y="1690688"/>
            <a:ext cx="10585862" cy="0"/>
          </a:xfrm>
          <a:prstGeom prst="straightConnector1">
            <a:avLst/>
          </a:prstGeom>
          <a:ln w="60325">
            <a:solidFill>
              <a:srgbClr val="7030A0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第一部分 蛋白质组学概论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539171"/>
            <a:ext cx="2878394" cy="1211673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蛋白质与健康基础理论</a:t>
            </a:r>
            <a:endParaRPr lang="en-US" altLang="zh-CN" sz="1800" dirty="0"/>
          </a:p>
        </p:txBody>
      </p:sp>
      <p:sp>
        <p:nvSpPr>
          <p:cNvPr id="5" name="图文框 4"/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838200" y="1690688"/>
            <a:ext cx="10585862" cy="0"/>
          </a:xfrm>
          <a:prstGeom prst="straightConnector1">
            <a:avLst/>
          </a:prstGeom>
          <a:ln w="60325">
            <a:solidFill>
              <a:srgbClr val="7030A0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B9464D6B-EF4A-CF45-E6F7-CEE052479C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90"/>
          <a:stretch>
            <a:fillRect/>
          </a:stretch>
        </p:blipFill>
        <p:spPr bwMode="auto">
          <a:xfrm>
            <a:off x="7583809" y="2155644"/>
            <a:ext cx="3913317" cy="299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47E260-699C-40F5-90F5-148BA7C66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89" y="1888691"/>
            <a:ext cx="2653254" cy="3526086"/>
          </a:xfrm>
          <a:prstGeom prst="rect">
            <a:avLst/>
          </a:prstGeom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ECD99E2-D9B0-F6A7-3D32-7E0379620BDF}"/>
              </a:ext>
            </a:extLst>
          </p:cNvPr>
          <p:cNvSpPr txBox="1">
            <a:spLocks/>
          </p:cNvSpPr>
          <p:nvPr/>
        </p:nvSpPr>
        <p:spPr>
          <a:xfrm>
            <a:off x="4264130" y="5019630"/>
            <a:ext cx="2703974" cy="121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  <a:p>
            <a:r>
              <a:rPr lang="zh-CN" altLang="en-US" sz="1900" dirty="0"/>
              <a:t>质谱检测</a:t>
            </a:r>
            <a:r>
              <a:rPr lang="zh-CN" altLang="zh-CN" sz="1900" dirty="0"/>
              <a:t>方法</a:t>
            </a:r>
            <a:r>
              <a:rPr lang="zh-CN" altLang="en-US" sz="1900" dirty="0"/>
              <a:t>与原理</a:t>
            </a:r>
            <a:endParaRPr lang="en-US" altLang="zh-CN" sz="1900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485B3D97-A01E-7C84-CC15-827078CF2965}"/>
              </a:ext>
            </a:extLst>
          </p:cNvPr>
          <p:cNvSpPr txBox="1">
            <a:spLocks/>
          </p:cNvSpPr>
          <p:nvPr/>
        </p:nvSpPr>
        <p:spPr>
          <a:xfrm>
            <a:off x="8023333" y="5043922"/>
            <a:ext cx="4260103" cy="121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  <a:p>
            <a:r>
              <a:rPr lang="zh-CN" altLang="en-US" sz="1800" dirty="0"/>
              <a:t>组学</a:t>
            </a:r>
            <a:r>
              <a:rPr lang="zh-CN" altLang="zh-CN" sz="1800" dirty="0"/>
              <a:t>学科发展</a:t>
            </a:r>
            <a:r>
              <a:rPr lang="zh-CN" altLang="en-US" sz="1800" dirty="0"/>
              <a:t>与</a:t>
            </a:r>
            <a:r>
              <a:rPr lang="zh-CN" altLang="zh-CN" sz="1800" dirty="0"/>
              <a:t>应用前景</a:t>
            </a:r>
            <a:endParaRPr lang="zh-CN" altLang="en-US" sz="18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C4C43CF-D9A5-A451-028D-B5F8F002C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186" y="2833428"/>
            <a:ext cx="3736766" cy="2373015"/>
          </a:xfrm>
          <a:prstGeom prst="rect">
            <a:avLst/>
          </a:prstGeom>
        </p:spPr>
      </p:pic>
      <p:pic>
        <p:nvPicPr>
          <p:cNvPr id="15" name="图片 14" descr="Tribrids">
            <a:extLst>
              <a:ext uri="{FF2B5EF4-FFF2-40B4-BE49-F238E27FC236}">
                <a16:creationId xmlns:a16="http://schemas.microsoft.com/office/drawing/2014/main" id="{8DC1AB40-836C-43D5-F7BB-258355360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0505" y="2381437"/>
            <a:ext cx="1095374" cy="928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第二部分 蛋白质组学实验室观摩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8565" y="4673741"/>
            <a:ext cx="7276893" cy="122150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参观分析中心蛋白质组实验室，了解组学实验室配置和运行体系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参观质谱仪、高通量液相等大型仪器，</a:t>
            </a:r>
            <a:r>
              <a:rPr lang="zh-CN" altLang="zh-CN" sz="2000" dirty="0"/>
              <a:t>讲解主流质谱仪</a:t>
            </a:r>
            <a:r>
              <a:rPr lang="zh-CN" altLang="en-US" sz="2000" dirty="0"/>
              <a:t>基本情况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质谱仪</a:t>
            </a:r>
            <a:r>
              <a:rPr lang="zh-CN" altLang="zh-CN" sz="2000" dirty="0"/>
              <a:t>上机实操，</a:t>
            </a:r>
            <a:r>
              <a:rPr lang="zh-CN" altLang="en-US" sz="2000" dirty="0"/>
              <a:t>体验质谱运维</a:t>
            </a:r>
            <a:r>
              <a:rPr lang="zh-CN" altLang="zh-CN" sz="2000" dirty="0"/>
              <a:t>技术要点</a:t>
            </a:r>
            <a:endParaRPr lang="zh-CN" altLang="en-US" sz="2000" dirty="0"/>
          </a:p>
        </p:txBody>
      </p:sp>
      <p:sp>
        <p:nvSpPr>
          <p:cNvPr id="5" name="图文框 4"/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838200" y="1690688"/>
            <a:ext cx="10585862" cy="0"/>
          </a:xfrm>
          <a:prstGeom prst="straightConnector1">
            <a:avLst/>
          </a:prstGeom>
          <a:ln w="60325">
            <a:solidFill>
              <a:srgbClr val="7030A0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Orbitrap Eclipse&amp;trade; Tribrid&amp;trade; Mass Spectrometer">
            <a:extLst>
              <a:ext uri="{FF2B5EF4-FFF2-40B4-BE49-F238E27FC236}">
                <a16:creationId xmlns:a16="http://schemas.microsoft.com/office/drawing/2014/main" id="{9DA4A560-13AF-DD01-1423-2AB19AA46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247" b="22816"/>
          <a:stretch>
            <a:fillRect/>
          </a:stretch>
        </p:blipFill>
        <p:spPr>
          <a:xfrm>
            <a:off x="3409679" y="2566830"/>
            <a:ext cx="2010144" cy="11036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45">
            <a:extLst>
              <a:ext uri="{FF2B5EF4-FFF2-40B4-BE49-F238E27FC236}">
                <a16:creationId xmlns:a16="http://schemas.microsoft.com/office/drawing/2014/main" id="{008379B6-EC9A-B6E6-9B13-FFBC352BF728}"/>
              </a:ext>
            </a:extLst>
          </p:cNvPr>
          <p:cNvSpPr txBox="1"/>
          <p:nvPr/>
        </p:nvSpPr>
        <p:spPr>
          <a:xfrm>
            <a:off x="3639721" y="3883987"/>
            <a:ext cx="166687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三合一质谱仪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6D4F613E-4B4B-20FA-5FAF-9280581D8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4947" y="2366604"/>
            <a:ext cx="2157413" cy="1352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55">
            <a:extLst>
              <a:ext uri="{FF2B5EF4-FFF2-40B4-BE49-F238E27FC236}">
                <a16:creationId xmlns:a16="http://schemas.microsoft.com/office/drawing/2014/main" id="{B2480A29-5CDF-A4A3-FD06-18DE20659320}"/>
              </a:ext>
            </a:extLst>
          </p:cNvPr>
          <p:cNvSpPr txBox="1"/>
          <p:nvPr/>
        </p:nvSpPr>
        <p:spPr>
          <a:xfrm>
            <a:off x="8063249" y="3857243"/>
            <a:ext cx="2376488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CytoFLEX LX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流式细胞仪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AA78D1B-4AB4-8C99-7F24-682260F33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946" y="1925279"/>
            <a:ext cx="2083396" cy="206617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A11E379-E5C2-A9A6-5853-D79943C0FEA5}"/>
              </a:ext>
            </a:extLst>
          </p:cNvPr>
          <p:cNvPicPr/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53383" y="2096729"/>
            <a:ext cx="1358708" cy="1673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FF7198D-04F7-F046-ACE7-E6001729F3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7963" y="3866781"/>
            <a:ext cx="250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</a:rPr>
              <a:t>Evosep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高通量液相</a:t>
            </a:r>
          </a:p>
        </p:txBody>
      </p:sp>
      <p:sp>
        <p:nvSpPr>
          <p:cNvPr id="21" name="文本框 45">
            <a:extLst>
              <a:ext uri="{FF2B5EF4-FFF2-40B4-BE49-F238E27FC236}">
                <a16:creationId xmlns:a16="http://schemas.microsoft.com/office/drawing/2014/main" id="{7CD82FB4-9943-D290-E08D-55869EF1DDFE}"/>
              </a:ext>
            </a:extLst>
          </p:cNvPr>
          <p:cNvSpPr txBox="1"/>
          <p:nvPr/>
        </p:nvSpPr>
        <p:spPr>
          <a:xfrm>
            <a:off x="1300206" y="3867026"/>
            <a:ext cx="166687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en-US" altLang="zh-CN" sz="1400" dirty="0" err="1">
                <a:latin typeface="微软雅黑" panose="020B0503020204020204" charset="-122"/>
                <a:ea typeface="微软雅黑" panose="020B0503020204020204" charset="-122"/>
              </a:rPr>
              <a:t>timsTOF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质谱仪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第三部分 蛋白质组数据分析体验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8355" y="5616750"/>
            <a:ext cx="4208045" cy="1413233"/>
          </a:xfrm>
        </p:spPr>
        <p:txBody>
          <a:bodyPr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dirty="0"/>
              <a:t>质谱解谱体验：蛋白修饰位点识别的谱图解析方法</a:t>
            </a:r>
            <a:endParaRPr lang="en-US" altLang="zh-CN" sz="1800" dirty="0"/>
          </a:p>
        </p:txBody>
      </p:sp>
      <p:sp>
        <p:nvSpPr>
          <p:cNvPr id="5" name="图文框 4"/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838200" y="1690688"/>
            <a:ext cx="10585862" cy="0"/>
          </a:xfrm>
          <a:prstGeom prst="straightConnector1">
            <a:avLst/>
          </a:prstGeom>
          <a:ln w="60325">
            <a:solidFill>
              <a:srgbClr val="7030A0">
                <a:alpha val="7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53E14B4-5B28-258E-1041-18C2D16634BB}"/>
              </a:ext>
            </a:extLst>
          </p:cNvPr>
          <p:cNvSpPr txBox="1">
            <a:spLocks/>
          </p:cNvSpPr>
          <p:nvPr/>
        </p:nvSpPr>
        <p:spPr>
          <a:xfrm>
            <a:off x="6260852" y="5598235"/>
            <a:ext cx="4835013" cy="1413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dirty="0"/>
              <a:t>生信分析体验：基于</a:t>
            </a:r>
            <a:r>
              <a:rPr lang="en-US" altLang="zh-CN" sz="1800" dirty="0"/>
              <a:t>AI</a:t>
            </a:r>
            <a:r>
              <a:rPr lang="zh-CN" altLang="en-US" sz="1800" dirty="0"/>
              <a:t>的组学数据分析平台体验组学数据挖掘与科学绘图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A4C0D4-6419-C285-A764-686931E49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846"/>
          <a:stretch>
            <a:fillRect/>
          </a:stretch>
        </p:blipFill>
        <p:spPr>
          <a:xfrm>
            <a:off x="1669516" y="1984561"/>
            <a:ext cx="3517000" cy="35010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B45CF64-5950-30CA-EE1A-704487CC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581"/>
          <a:stretch>
            <a:fillRect/>
          </a:stretch>
        </p:blipFill>
        <p:spPr>
          <a:xfrm>
            <a:off x="6433113" y="1784479"/>
            <a:ext cx="4193620" cy="5620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8373932-9BB1-4AD8-BDB1-CEEF1B6B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780" y="2536302"/>
            <a:ext cx="3240287" cy="29147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5516" y="2248002"/>
            <a:ext cx="10515600" cy="1325563"/>
          </a:xfrm>
        </p:spPr>
        <p:txBody>
          <a:bodyPr/>
          <a:lstStyle/>
          <a:p>
            <a:r>
              <a:rPr lang="zh-CN" altLang="en-US" dirty="0"/>
              <a:t>感谢选择该模块的课程！</a:t>
            </a:r>
            <a:endParaRPr lang="en-US" altLang="zh-CN" dirty="0"/>
          </a:p>
        </p:txBody>
      </p:sp>
      <p:sp>
        <p:nvSpPr>
          <p:cNvPr id="5" name="图文框 4"/>
          <p:cNvSpPr/>
          <p:nvPr/>
        </p:nvSpPr>
        <p:spPr>
          <a:xfrm>
            <a:off x="79169" y="71252"/>
            <a:ext cx="12033662" cy="6715496"/>
          </a:xfrm>
          <a:custGeom>
            <a:avLst/>
            <a:gdLst>
              <a:gd name="connsiteX0" fmla="*/ 0 w 12033662"/>
              <a:gd name="connsiteY0" fmla="*/ 0 h 6715496"/>
              <a:gd name="connsiteX1" fmla="*/ 12033662 w 12033662"/>
              <a:gd name="connsiteY1" fmla="*/ 0 h 6715496"/>
              <a:gd name="connsiteX2" fmla="*/ 12033662 w 12033662"/>
              <a:gd name="connsiteY2" fmla="*/ 6715496 h 6715496"/>
              <a:gd name="connsiteX3" fmla="*/ 0 w 12033662"/>
              <a:gd name="connsiteY3" fmla="*/ 6715496 h 6715496"/>
              <a:gd name="connsiteX4" fmla="*/ 0 w 12033662"/>
              <a:gd name="connsiteY4" fmla="*/ 0 h 6715496"/>
              <a:gd name="connsiteX5" fmla="*/ 839437 w 12033662"/>
              <a:gd name="connsiteY5" fmla="*/ 839437 h 6715496"/>
              <a:gd name="connsiteX6" fmla="*/ 839437 w 12033662"/>
              <a:gd name="connsiteY6" fmla="*/ 5876059 h 6715496"/>
              <a:gd name="connsiteX7" fmla="*/ 11194225 w 12033662"/>
              <a:gd name="connsiteY7" fmla="*/ 5876059 h 6715496"/>
              <a:gd name="connsiteX8" fmla="*/ 11194225 w 12033662"/>
              <a:gd name="connsiteY8" fmla="*/ 839437 h 6715496"/>
              <a:gd name="connsiteX9" fmla="*/ 839437 w 12033662"/>
              <a:gd name="connsiteY9" fmla="*/ 839437 h 6715496"/>
              <a:gd name="connsiteX0-1" fmla="*/ 0 w 12033662"/>
              <a:gd name="connsiteY0-2" fmla="*/ 0 h 6715496"/>
              <a:gd name="connsiteX1-3" fmla="*/ 12033662 w 12033662"/>
              <a:gd name="connsiteY1-4" fmla="*/ 0 h 6715496"/>
              <a:gd name="connsiteX2-5" fmla="*/ 12033662 w 12033662"/>
              <a:gd name="connsiteY2-6" fmla="*/ 6715496 h 6715496"/>
              <a:gd name="connsiteX3-7" fmla="*/ 0 w 12033662"/>
              <a:gd name="connsiteY3-8" fmla="*/ 6715496 h 6715496"/>
              <a:gd name="connsiteX4-9" fmla="*/ 0 w 12033662"/>
              <a:gd name="connsiteY4-10" fmla="*/ 0 h 6715496"/>
              <a:gd name="connsiteX5-11" fmla="*/ 156606 w 12033662"/>
              <a:gd name="connsiteY5-12" fmla="*/ 156605 h 6715496"/>
              <a:gd name="connsiteX6-13" fmla="*/ 839437 w 12033662"/>
              <a:gd name="connsiteY6-14" fmla="*/ 5876059 h 6715496"/>
              <a:gd name="connsiteX7-15" fmla="*/ 11194225 w 12033662"/>
              <a:gd name="connsiteY7-16" fmla="*/ 5876059 h 6715496"/>
              <a:gd name="connsiteX8-17" fmla="*/ 11194225 w 12033662"/>
              <a:gd name="connsiteY8-18" fmla="*/ 839437 h 6715496"/>
              <a:gd name="connsiteX9-19" fmla="*/ 156606 w 12033662"/>
              <a:gd name="connsiteY9-20" fmla="*/ 156605 h 6715496"/>
              <a:gd name="connsiteX0-21" fmla="*/ 0 w 12033662"/>
              <a:gd name="connsiteY0-22" fmla="*/ 0 h 6715496"/>
              <a:gd name="connsiteX1-23" fmla="*/ 12033662 w 12033662"/>
              <a:gd name="connsiteY1-24" fmla="*/ 0 h 6715496"/>
              <a:gd name="connsiteX2-25" fmla="*/ 12033662 w 12033662"/>
              <a:gd name="connsiteY2-26" fmla="*/ 6715496 h 6715496"/>
              <a:gd name="connsiteX3-27" fmla="*/ 0 w 12033662"/>
              <a:gd name="connsiteY3-28" fmla="*/ 6715496 h 6715496"/>
              <a:gd name="connsiteX4-29" fmla="*/ 0 w 12033662"/>
              <a:gd name="connsiteY4-30" fmla="*/ 0 h 6715496"/>
              <a:gd name="connsiteX5-31" fmla="*/ 156606 w 12033662"/>
              <a:gd name="connsiteY5-32" fmla="*/ 156605 h 6715496"/>
              <a:gd name="connsiteX6-33" fmla="*/ 144730 w 12033662"/>
              <a:gd name="connsiteY6-34" fmla="*/ 6541078 h 6715496"/>
              <a:gd name="connsiteX7-35" fmla="*/ 11194225 w 12033662"/>
              <a:gd name="connsiteY7-36" fmla="*/ 5876059 h 6715496"/>
              <a:gd name="connsiteX8-37" fmla="*/ 11194225 w 12033662"/>
              <a:gd name="connsiteY8-38" fmla="*/ 839437 h 6715496"/>
              <a:gd name="connsiteX9-39" fmla="*/ 156606 w 12033662"/>
              <a:gd name="connsiteY9-40" fmla="*/ 156605 h 6715496"/>
              <a:gd name="connsiteX0-41" fmla="*/ 0 w 12033662"/>
              <a:gd name="connsiteY0-42" fmla="*/ 0 h 6715496"/>
              <a:gd name="connsiteX1-43" fmla="*/ 12033662 w 12033662"/>
              <a:gd name="connsiteY1-44" fmla="*/ 0 h 6715496"/>
              <a:gd name="connsiteX2-45" fmla="*/ 12033662 w 12033662"/>
              <a:gd name="connsiteY2-46" fmla="*/ 6715496 h 6715496"/>
              <a:gd name="connsiteX3-47" fmla="*/ 0 w 12033662"/>
              <a:gd name="connsiteY3-48" fmla="*/ 6715496 h 6715496"/>
              <a:gd name="connsiteX4-49" fmla="*/ 0 w 12033662"/>
              <a:gd name="connsiteY4-50" fmla="*/ 0 h 6715496"/>
              <a:gd name="connsiteX5-51" fmla="*/ 156606 w 12033662"/>
              <a:gd name="connsiteY5-52" fmla="*/ 156605 h 6715496"/>
              <a:gd name="connsiteX6-53" fmla="*/ 144730 w 12033662"/>
              <a:gd name="connsiteY6-54" fmla="*/ 6541078 h 6715496"/>
              <a:gd name="connsiteX7-55" fmla="*/ 11811742 w 12033662"/>
              <a:gd name="connsiteY7-56" fmla="*/ 6547015 h 6715496"/>
              <a:gd name="connsiteX8-57" fmla="*/ 11194225 w 12033662"/>
              <a:gd name="connsiteY8-58" fmla="*/ 839437 h 6715496"/>
              <a:gd name="connsiteX9-59" fmla="*/ 156606 w 12033662"/>
              <a:gd name="connsiteY9-60" fmla="*/ 156605 h 6715496"/>
              <a:gd name="connsiteX0-61" fmla="*/ 0 w 12033662"/>
              <a:gd name="connsiteY0-62" fmla="*/ 0 h 6715496"/>
              <a:gd name="connsiteX1-63" fmla="*/ 12033662 w 12033662"/>
              <a:gd name="connsiteY1-64" fmla="*/ 0 h 6715496"/>
              <a:gd name="connsiteX2-65" fmla="*/ 12033662 w 12033662"/>
              <a:gd name="connsiteY2-66" fmla="*/ 6715496 h 6715496"/>
              <a:gd name="connsiteX3-67" fmla="*/ 0 w 12033662"/>
              <a:gd name="connsiteY3-68" fmla="*/ 6715496 h 6715496"/>
              <a:gd name="connsiteX4-69" fmla="*/ 0 w 12033662"/>
              <a:gd name="connsiteY4-70" fmla="*/ 0 h 6715496"/>
              <a:gd name="connsiteX5-71" fmla="*/ 156606 w 12033662"/>
              <a:gd name="connsiteY5-72" fmla="*/ 156605 h 6715496"/>
              <a:gd name="connsiteX6-73" fmla="*/ 144730 w 12033662"/>
              <a:gd name="connsiteY6-74" fmla="*/ 6541078 h 6715496"/>
              <a:gd name="connsiteX7-75" fmla="*/ 11811742 w 12033662"/>
              <a:gd name="connsiteY7-76" fmla="*/ 6547015 h 6715496"/>
              <a:gd name="connsiteX8-77" fmla="*/ 11793929 w 12033662"/>
              <a:gd name="connsiteY8-78" fmla="*/ 221920 h 6715496"/>
              <a:gd name="connsiteX9-79" fmla="*/ 156606 w 12033662"/>
              <a:gd name="connsiteY9-80" fmla="*/ 156605 h 6715496"/>
              <a:gd name="connsiteX0-81" fmla="*/ 0 w 12033662"/>
              <a:gd name="connsiteY0-82" fmla="*/ 0 h 6715496"/>
              <a:gd name="connsiteX1-83" fmla="*/ 12033662 w 12033662"/>
              <a:gd name="connsiteY1-84" fmla="*/ 0 h 6715496"/>
              <a:gd name="connsiteX2-85" fmla="*/ 12033662 w 12033662"/>
              <a:gd name="connsiteY2-86" fmla="*/ 6715496 h 6715496"/>
              <a:gd name="connsiteX3-87" fmla="*/ 0 w 12033662"/>
              <a:gd name="connsiteY3-88" fmla="*/ 6715496 h 6715496"/>
              <a:gd name="connsiteX4-89" fmla="*/ 0 w 12033662"/>
              <a:gd name="connsiteY4-90" fmla="*/ 0 h 6715496"/>
              <a:gd name="connsiteX5-91" fmla="*/ 156606 w 12033662"/>
              <a:gd name="connsiteY5-92" fmla="*/ 156605 h 6715496"/>
              <a:gd name="connsiteX6-93" fmla="*/ 144730 w 12033662"/>
              <a:gd name="connsiteY6-94" fmla="*/ 6541078 h 6715496"/>
              <a:gd name="connsiteX7-95" fmla="*/ 11811742 w 12033662"/>
              <a:gd name="connsiteY7-96" fmla="*/ 6547015 h 6715496"/>
              <a:gd name="connsiteX8-97" fmla="*/ 11835493 w 12033662"/>
              <a:gd name="connsiteY8-98" fmla="*/ 162544 h 6715496"/>
              <a:gd name="connsiteX9-99" fmla="*/ 156606 w 12033662"/>
              <a:gd name="connsiteY9-100" fmla="*/ 156605 h 6715496"/>
              <a:gd name="connsiteX0-101" fmla="*/ 0 w 12033662"/>
              <a:gd name="connsiteY0-102" fmla="*/ 0 h 6715496"/>
              <a:gd name="connsiteX1-103" fmla="*/ 12033662 w 12033662"/>
              <a:gd name="connsiteY1-104" fmla="*/ 0 h 6715496"/>
              <a:gd name="connsiteX2-105" fmla="*/ 12033662 w 12033662"/>
              <a:gd name="connsiteY2-106" fmla="*/ 6715496 h 6715496"/>
              <a:gd name="connsiteX3-107" fmla="*/ 0 w 12033662"/>
              <a:gd name="connsiteY3-108" fmla="*/ 6715496 h 6715496"/>
              <a:gd name="connsiteX4-109" fmla="*/ 0 w 12033662"/>
              <a:gd name="connsiteY4-110" fmla="*/ 0 h 6715496"/>
              <a:gd name="connsiteX5-111" fmla="*/ 156606 w 12033662"/>
              <a:gd name="connsiteY5-112" fmla="*/ 156605 h 6715496"/>
              <a:gd name="connsiteX6-113" fmla="*/ 144730 w 12033662"/>
              <a:gd name="connsiteY6-114" fmla="*/ 6541078 h 6715496"/>
              <a:gd name="connsiteX7-115" fmla="*/ 11811742 w 12033662"/>
              <a:gd name="connsiteY7-116" fmla="*/ 6547015 h 6715496"/>
              <a:gd name="connsiteX8-117" fmla="*/ 11918620 w 12033662"/>
              <a:gd name="connsiteY8-118" fmla="*/ 144731 h 6715496"/>
              <a:gd name="connsiteX9-119" fmla="*/ 156606 w 12033662"/>
              <a:gd name="connsiteY9-120" fmla="*/ 156605 h 6715496"/>
              <a:gd name="connsiteX0-121" fmla="*/ 0 w 12033662"/>
              <a:gd name="connsiteY0-122" fmla="*/ 0 h 6715496"/>
              <a:gd name="connsiteX1-123" fmla="*/ 12033662 w 12033662"/>
              <a:gd name="connsiteY1-124" fmla="*/ 0 h 6715496"/>
              <a:gd name="connsiteX2-125" fmla="*/ 12033662 w 12033662"/>
              <a:gd name="connsiteY2-126" fmla="*/ 6715496 h 6715496"/>
              <a:gd name="connsiteX3-127" fmla="*/ 0 w 12033662"/>
              <a:gd name="connsiteY3-128" fmla="*/ 6715496 h 6715496"/>
              <a:gd name="connsiteX4-129" fmla="*/ 0 w 12033662"/>
              <a:gd name="connsiteY4-130" fmla="*/ 0 h 6715496"/>
              <a:gd name="connsiteX5-131" fmla="*/ 156606 w 12033662"/>
              <a:gd name="connsiteY5-132" fmla="*/ 156605 h 6715496"/>
              <a:gd name="connsiteX6-133" fmla="*/ 144730 w 12033662"/>
              <a:gd name="connsiteY6-134" fmla="*/ 6541078 h 6715496"/>
              <a:gd name="connsiteX7-135" fmla="*/ 11948308 w 12033662"/>
              <a:gd name="connsiteY7-136" fmla="*/ 6541077 h 6715496"/>
              <a:gd name="connsiteX8-137" fmla="*/ 11918620 w 12033662"/>
              <a:gd name="connsiteY8-138" fmla="*/ 144731 h 6715496"/>
              <a:gd name="connsiteX9-139" fmla="*/ 156606 w 12033662"/>
              <a:gd name="connsiteY9-140" fmla="*/ 156605 h 6715496"/>
              <a:gd name="connsiteX0-141" fmla="*/ 0 w 12033662"/>
              <a:gd name="connsiteY0-142" fmla="*/ 0 h 6715496"/>
              <a:gd name="connsiteX1-143" fmla="*/ 12033662 w 12033662"/>
              <a:gd name="connsiteY1-144" fmla="*/ 0 h 6715496"/>
              <a:gd name="connsiteX2-145" fmla="*/ 12033662 w 12033662"/>
              <a:gd name="connsiteY2-146" fmla="*/ 6715496 h 6715496"/>
              <a:gd name="connsiteX3-147" fmla="*/ 0 w 12033662"/>
              <a:gd name="connsiteY3-148" fmla="*/ 6715496 h 6715496"/>
              <a:gd name="connsiteX4-149" fmla="*/ 0 w 12033662"/>
              <a:gd name="connsiteY4-150" fmla="*/ 0 h 6715496"/>
              <a:gd name="connsiteX5-151" fmla="*/ 156606 w 12033662"/>
              <a:gd name="connsiteY5-152" fmla="*/ 156605 h 6715496"/>
              <a:gd name="connsiteX6-153" fmla="*/ 144730 w 12033662"/>
              <a:gd name="connsiteY6-154" fmla="*/ 6541078 h 6715496"/>
              <a:gd name="connsiteX7-155" fmla="*/ 11948308 w 12033662"/>
              <a:gd name="connsiteY7-156" fmla="*/ 6541077 h 6715496"/>
              <a:gd name="connsiteX8-157" fmla="*/ 11918620 w 12033662"/>
              <a:gd name="connsiteY8-158" fmla="*/ 144731 h 6715496"/>
              <a:gd name="connsiteX9-159" fmla="*/ 156606 w 12033662"/>
              <a:gd name="connsiteY9-160" fmla="*/ 156605 h 67154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2033662" h="6715496">
                <a:moveTo>
                  <a:pt x="0" y="0"/>
                </a:moveTo>
                <a:lnTo>
                  <a:pt x="12033662" y="0"/>
                </a:lnTo>
                <a:lnTo>
                  <a:pt x="12033662" y="6715496"/>
                </a:lnTo>
                <a:lnTo>
                  <a:pt x="0" y="6715496"/>
                </a:lnTo>
                <a:lnTo>
                  <a:pt x="0" y="0"/>
                </a:lnTo>
                <a:close/>
                <a:moveTo>
                  <a:pt x="156606" y="156605"/>
                </a:moveTo>
                <a:cubicBezTo>
                  <a:pt x="152647" y="2284763"/>
                  <a:pt x="148689" y="4412920"/>
                  <a:pt x="144730" y="6541078"/>
                </a:cubicBezTo>
                <a:lnTo>
                  <a:pt x="11948308" y="6541077"/>
                </a:lnTo>
                <a:cubicBezTo>
                  <a:pt x="11871118" y="4432712"/>
                  <a:pt x="11924558" y="2253096"/>
                  <a:pt x="11918620" y="144731"/>
                </a:cubicBezTo>
                <a:lnTo>
                  <a:pt x="156606" y="156605"/>
                </a:lnTo>
                <a:close/>
              </a:path>
            </a:pathLst>
          </a:custGeom>
          <a:solidFill>
            <a:srgbClr val="7030A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Y4MmU4NmMwN2U4NDZkYmZmNWJjNDM3NWUwZTQ5Y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482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微软雅黑</vt:lpstr>
      <vt:lpstr>Arial</vt:lpstr>
      <vt:lpstr>Calibri</vt:lpstr>
      <vt:lpstr>WPS</vt:lpstr>
      <vt:lpstr>实验室探究课程  《蛋白质表征与组学分析》模块  课程简介</vt:lpstr>
      <vt:lpstr>蛋白质——生命活动的执行者</vt:lpstr>
      <vt:lpstr>第一部分 蛋白质组学概论</vt:lpstr>
      <vt:lpstr>第二部分 蛋白质组学实验室观摩</vt:lpstr>
      <vt:lpstr>第三部分 蛋白质组数据分析体验</vt:lpstr>
      <vt:lpstr>感谢选择该模块的课程！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wenhao shi</dc:creator>
  <cp:lastModifiedBy>wenhao shi</cp:lastModifiedBy>
  <cp:revision>58</cp:revision>
  <dcterms:created xsi:type="dcterms:W3CDTF">2023-08-09T12:44:00Z</dcterms:created>
  <dcterms:modified xsi:type="dcterms:W3CDTF">2026-09-10T07:57:04Z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2052-12.1.0.17133</vt:lpwstr>
  </property>
</Properties>
</file>