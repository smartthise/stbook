
<file path=[Content_Types].xml><?xml version="1.0" encoding="utf-8"?>
<Types xmlns="http://schemas.openxmlformats.org/package/2006/content-types">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comments/comment1.xml" ContentType="application/vnd.openxmlformats-officedocument.presentationml.comments+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charts/chart1.xml" ContentType="application/vnd.openxmlformats-officedocument.drawingml.chart+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Lst>
  <p:notesMasterIdLst>
    <p:notesMasterId r:id="rId30"/>
  </p:notesMasterIdLst>
  <p:sldIdLst>
    <p:sldId id="257" r:id="rId2"/>
    <p:sldId id="258" r:id="rId3"/>
    <p:sldId id="259" r:id="rId4"/>
    <p:sldId id="273" r:id="rId5"/>
    <p:sldId id="274" r:id="rId6"/>
    <p:sldId id="275" r:id="rId7"/>
    <p:sldId id="277" r:id="rId8"/>
    <p:sldId id="280" r:id="rId9"/>
    <p:sldId id="278" r:id="rId10"/>
    <p:sldId id="276" r:id="rId11"/>
    <p:sldId id="281" r:id="rId12"/>
    <p:sldId id="283" r:id="rId13"/>
    <p:sldId id="262" r:id="rId14"/>
    <p:sldId id="282" r:id="rId15"/>
    <p:sldId id="285" r:id="rId16"/>
    <p:sldId id="286" r:id="rId17"/>
    <p:sldId id="287" r:id="rId18"/>
    <p:sldId id="288" r:id="rId19"/>
    <p:sldId id="263" r:id="rId20"/>
    <p:sldId id="284" r:id="rId21"/>
    <p:sldId id="291" r:id="rId22"/>
    <p:sldId id="297" r:id="rId23"/>
    <p:sldId id="295" r:id="rId24"/>
    <p:sldId id="290" r:id="rId25"/>
    <p:sldId id="294" r:id="rId26"/>
    <p:sldId id="264" r:id="rId27"/>
    <p:sldId id="293" r:id="rId28"/>
    <p:sldId id="261" r:id="rId29"/>
  </p:sldIdLst>
  <p:sldSz cx="12192000" cy="6858000"/>
  <p:notesSz cx="6797675" cy="9928225"/>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userDrawn="1">
          <p15:clr>
            <a:srgbClr val="A4A3A4"/>
          </p15:clr>
        </p15:guide>
        <p15:guide id="2" pos="3840">
          <p15:clr>
            <a:srgbClr val="A4A3A4"/>
          </p15:clr>
        </p15:guide>
      </p15:sld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zhiminglong" initials="z" lastIdx="2" clrIdx="0">
    <p:extLst>
      <p:ext uri="{19B8F6BF-5375-455C-9EA6-DF929625EA0E}">
        <p15:presenceInfo xmlns:p15="http://schemas.microsoft.com/office/powerpoint/2012/main" userId="zhiminglong" providerId="Non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353535"/>
    <a:srgbClr val="2C2C2C"/>
    <a:srgbClr val="7F2C8B"/>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153" d="100"/>
          <a:sy n="153" d="100"/>
        </p:scale>
        <p:origin x="2802" y="138"/>
      </p:cViewPr>
      <p:guideLst>
        <p:guide orient="horz" pos="2160"/>
        <p:guide pos="384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 Type="http://schemas.openxmlformats.org/officeDocument/2006/relationships/slide" Target="slides/slide2.xml"/><Relationship Id="rId21" Type="http://schemas.openxmlformats.org/officeDocument/2006/relationships/slide" Target="slides/slide20.xml"/><Relationship Id="rId34" Type="http://schemas.openxmlformats.org/officeDocument/2006/relationships/theme" Target="theme/theme1.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viewProps" Target="viewProps.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slide" Target="slides/slide28.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presProps" Target="presProp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commentAuthors" Target="commentAuthors.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notesMaster" Target="notesMasters/notesMaster1.xml"/><Relationship Id="rId35" Type="http://schemas.openxmlformats.org/officeDocument/2006/relationships/tableStyles" Target="tableStyles.xml"/><Relationship Id="rId8" Type="http://schemas.openxmlformats.org/officeDocument/2006/relationships/slide" Target="slides/slide7.xml"/></Relationships>
</file>

<file path=ppt/charts/_rels/chart1.xml.rels><?xml version="1.0" encoding="UTF-8" standalone="yes"?>
<Relationships xmlns="http://schemas.openxmlformats.org/package/2006/relationships"><Relationship Id="rId1" Type="http://schemas.openxmlformats.org/officeDocument/2006/relationships/oleObject" Target="file:///C:\Users\zhangxi\Desktop\&#31532;&#19977;&#31687;&#35770;&#25991;&#30382;&#20811;&#25552;\GINI%20with%20Kuznets%20curve.xlsx" TargetMode="Externa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title>
      <c:overlay val="0"/>
    </c:title>
    <c:autoTitleDeleted val="0"/>
    <c:plotArea>
      <c:layout>
        <c:manualLayout>
          <c:layoutTarget val="inner"/>
          <c:xMode val="edge"/>
          <c:yMode val="edge"/>
          <c:x val="4.6999546882096788E-2"/>
          <c:y val="0.14131554278618474"/>
          <c:w val="0.80766611453012427"/>
          <c:h val="0.77383328666561157"/>
        </c:manualLayout>
      </c:layout>
      <c:lineChart>
        <c:grouping val="standard"/>
        <c:varyColors val="0"/>
        <c:ser>
          <c:idx val="0"/>
          <c:order val="0"/>
          <c:tx>
            <c:strRef>
              <c:f>Sheet1!$D$1</c:f>
              <c:strCache>
                <c:ptCount val="1"/>
                <c:pt idx="0">
                  <c:v>total Gini</c:v>
                </c:pt>
              </c:strCache>
            </c:strRef>
          </c:tx>
          <c:marker>
            <c:symbol val="none"/>
          </c:marker>
          <c:cat>
            <c:numRef>
              <c:f>Sheet1!$A$1:$A$40</c:f>
              <c:numCache>
                <c:formatCode>General</c:formatCode>
                <c:ptCount val="40"/>
                <c:pt idx="1">
                  <c:v>1957</c:v>
                </c:pt>
                <c:pt idx="2">
                  <c:v>1964</c:v>
                </c:pt>
                <c:pt idx="3">
                  <c:v>1978</c:v>
                </c:pt>
                <c:pt idx="4">
                  <c:v>1979</c:v>
                </c:pt>
                <c:pt idx="5">
                  <c:v>1980</c:v>
                </c:pt>
                <c:pt idx="6">
                  <c:v>1981</c:v>
                </c:pt>
                <c:pt idx="7">
                  <c:v>1982</c:v>
                </c:pt>
                <c:pt idx="8">
                  <c:v>1983</c:v>
                </c:pt>
                <c:pt idx="9">
                  <c:v>1984</c:v>
                </c:pt>
                <c:pt idx="10">
                  <c:v>1985</c:v>
                </c:pt>
                <c:pt idx="11">
                  <c:v>1986</c:v>
                </c:pt>
                <c:pt idx="12">
                  <c:v>1987</c:v>
                </c:pt>
                <c:pt idx="13">
                  <c:v>1988</c:v>
                </c:pt>
                <c:pt idx="14">
                  <c:v>1989</c:v>
                </c:pt>
                <c:pt idx="15">
                  <c:v>1990</c:v>
                </c:pt>
                <c:pt idx="16">
                  <c:v>1991</c:v>
                </c:pt>
                <c:pt idx="17">
                  <c:v>1992</c:v>
                </c:pt>
                <c:pt idx="18">
                  <c:v>1993</c:v>
                </c:pt>
                <c:pt idx="19">
                  <c:v>1994</c:v>
                </c:pt>
                <c:pt idx="20">
                  <c:v>1995</c:v>
                </c:pt>
                <c:pt idx="21">
                  <c:v>1996</c:v>
                </c:pt>
                <c:pt idx="22">
                  <c:v>1997</c:v>
                </c:pt>
                <c:pt idx="23">
                  <c:v>1998</c:v>
                </c:pt>
                <c:pt idx="24">
                  <c:v>1999</c:v>
                </c:pt>
                <c:pt idx="25">
                  <c:v>2000</c:v>
                </c:pt>
                <c:pt idx="26">
                  <c:v>2001</c:v>
                </c:pt>
                <c:pt idx="27">
                  <c:v>2002</c:v>
                </c:pt>
                <c:pt idx="28">
                  <c:v>2003</c:v>
                </c:pt>
                <c:pt idx="29">
                  <c:v>2004</c:v>
                </c:pt>
                <c:pt idx="30">
                  <c:v>2005</c:v>
                </c:pt>
                <c:pt idx="31">
                  <c:v>2006</c:v>
                </c:pt>
                <c:pt idx="32">
                  <c:v>2007</c:v>
                </c:pt>
                <c:pt idx="33">
                  <c:v>2008</c:v>
                </c:pt>
                <c:pt idx="34">
                  <c:v>2009</c:v>
                </c:pt>
                <c:pt idx="35">
                  <c:v>2010</c:v>
                </c:pt>
                <c:pt idx="36">
                  <c:v>2011</c:v>
                </c:pt>
                <c:pt idx="37">
                  <c:v>2012</c:v>
                </c:pt>
                <c:pt idx="38">
                  <c:v>2013</c:v>
                </c:pt>
                <c:pt idx="39">
                  <c:v>2014</c:v>
                </c:pt>
              </c:numCache>
            </c:numRef>
          </c:cat>
          <c:val>
            <c:numRef>
              <c:f>Sheet1!$D$2:$D$47</c:f>
              <c:numCache>
                <c:formatCode>General</c:formatCode>
                <c:ptCount val="46"/>
                <c:pt idx="2">
                  <c:v>0.23163674730575018</c:v>
                </c:pt>
                <c:pt idx="3">
                  <c:v>0.24697151254804417</c:v>
                </c:pt>
                <c:pt idx="4">
                  <c:v>0.23963328057879246</c:v>
                </c:pt>
                <c:pt idx="5">
                  <c:v>0.23481068656266468</c:v>
                </c:pt>
                <c:pt idx="6">
                  <c:v>0.24261353530786023</c:v>
                </c:pt>
                <c:pt idx="7">
                  <c:v>0.24870547893586537</c:v>
                </c:pt>
                <c:pt idx="8">
                  <c:v>0.26123754616022304</c:v>
                </c:pt>
                <c:pt idx="9">
                  <c:v>0.30323204461526843</c:v>
                </c:pt>
                <c:pt idx="10">
                  <c:v>0.3106786494837589</c:v>
                </c:pt>
                <c:pt idx="11">
                  <c:v>0.33150124349988686</c:v>
                </c:pt>
                <c:pt idx="12">
                  <c:v>0.33545685432210404</c:v>
                </c:pt>
                <c:pt idx="13">
                  <c:v>0.33545685432210404</c:v>
                </c:pt>
                <c:pt idx="14">
                  <c:v>0.34127786570201213</c:v>
                </c:pt>
                <c:pt idx="15">
                  <c:v>0.35192147109804806</c:v>
                </c:pt>
                <c:pt idx="16">
                  <c:v>0.37505102117717987</c:v>
                </c:pt>
                <c:pt idx="17">
                  <c:v>0.39245986886728473</c:v>
                </c:pt>
                <c:pt idx="18">
                  <c:v>0.38900000000000001</c:v>
                </c:pt>
                <c:pt idx="19">
                  <c:v>0.37892132037078907</c:v>
                </c:pt>
                <c:pt idx="20">
                  <c:v>0.38923980706910843</c:v>
                </c:pt>
                <c:pt idx="21">
                  <c:v>0.40107551435677147</c:v>
                </c:pt>
                <c:pt idx="22">
                  <c:v>0.39700000000000002</c:v>
                </c:pt>
                <c:pt idx="23">
                  <c:v>0.39700000000000002</c:v>
                </c:pt>
                <c:pt idx="24">
                  <c:v>0.41199999999999998</c:v>
                </c:pt>
                <c:pt idx="25">
                  <c:v>0.44700000000000001</c:v>
                </c:pt>
                <c:pt idx="26">
                  <c:v>0.45400000000000001</c:v>
                </c:pt>
                <c:pt idx="27">
                  <c:v>0.47899999999999998</c:v>
                </c:pt>
                <c:pt idx="28">
                  <c:v>0.47299999999999998</c:v>
                </c:pt>
                <c:pt idx="29">
                  <c:v>0.48499999999999999</c:v>
                </c:pt>
                <c:pt idx="30">
                  <c:v>0.48699999999999999</c:v>
                </c:pt>
                <c:pt idx="31">
                  <c:v>0.48399999999999999</c:v>
                </c:pt>
                <c:pt idx="32">
                  <c:v>0.49099999999999999</c:v>
                </c:pt>
                <c:pt idx="33">
                  <c:v>0.49</c:v>
                </c:pt>
                <c:pt idx="34">
                  <c:v>0.48099999999999998</c:v>
                </c:pt>
                <c:pt idx="35">
                  <c:v>0.47699999999999998</c:v>
                </c:pt>
                <c:pt idx="36">
                  <c:v>0.47399999999999998</c:v>
                </c:pt>
                <c:pt idx="37">
                  <c:v>0.47299999999999998</c:v>
                </c:pt>
                <c:pt idx="38">
                  <c:v>0.46899999999999997</c:v>
                </c:pt>
              </c:numCache>
            </c:numRef>
          </c:val>
          <c:smooth val="0"/>
          <c:extLst>
            <c:ext xmlns:c16="http://schemas.microsoft.com/office/drawing/2014/chart" uri="{C3380CC4-5D6E-409C-BE32-E72D297353CC}">
              <c16:uniqueId val="{00000000-272C-4C21-B07E-699F0C3B58A6}"/>
            </c:ext>
          </c:extLst>
        </c:ser>
        <c:dLbls>
          <c:showLegendKey val="0"/>
          <c:showVal val="0"/>
          <c:showCatName val="0"/>
          <c:showSerName val="0"/>
          <c:showPercent val="0"/>
          <c:showBubbleSize val="0"/>
        </c:dLbls>
        <c:smooth val="0"/>
        <c:axId val="81430016"/>
        <c:axId val="81431552"/>
      </c:lineChart>
      <c:catAx>
        <c:axId val="81430016"/>
        <c:scaling>
          <c:orientation val="minMax"/>
        </c:scaling>
        <c:delete val="0"/>
        <c:axPos val="b"/>
        <c:numFmt formatCode="General" sourceLinked="1"/>
        <c:majorTickMark val="out"/>
        <c:minorTickMark val="none"/>
        <c:tickLblPos val="nextTo"/>
        <c:crossAx val="81431552"/>
        <c:crosses val="autoZero"/>
        <c:auto val="1"/>
        <c:lblAlgn val="ctr"/>
        <c:lblOffset val="100"/>
        <c:noMultiLvlLbl val="0"/>
      </c:catAx>
      <c:valAx>
        <c:axId val="81431552"/>
        <c:scaling>
          <c:orientation val="minMax"/>
        </c:scaling>
        <c:delete val="0"/>
        <c:axPos val="l"/>
        <c:majorGridlines/>
        <c:numFmt formatCode="General" sourceLinked="1"/>
        <c:majorTickMark val="out"/>
        <c:minorTickMark val="none"/>
        <c:tickLblPos val="nextTo"/>
        <c:crossAx val="81430016"/>
        <c:crosses val="autoZero"/>
        <c:crossBetween val="between"/>
      </c:valAx>
    </c:plotArea>
    <c:legend>
      <c:legendPos val="r"/>
      <c:overlay val="0"/>
    </c:legend>
    <c:plotVisOnly val="1"/>
    <c:dispBlanksAs val="gap"/>
    <c:showDLblsOverMax val="0"/>
  </c:chart>
  <c:externalData r:id="rId1">
    <c:autoUpdate val="0"/>
  </c:externalData>
</c:chartSpace>
</file>

<file path=ppt/comments/comment1.xml><?xml version="1.0" encoding="utf-8"?>
<p:cmLst xmlns:a="http://schemas.openxmlformats.org/drawingml/2006/main" xmlns:r="http://schemas.openxmlformats.org/officeDocument/2006/relationships" xmlns:p="http://schemas.openxmlformats.org/presentationml/2006/main">
  <p:cm authorId="1" dt="2018-09-03T21:13:23.387" idx="1">
    <p:pos x="10" y="10"/>
    <p:text/>
    <p:extLst>
      <p:ext uri="{C676402C-5697-4E1C-873F-D02D1690AC5C}">
        <p15:threadingInfo xmlns:p15="http://schemas.microsoft.com/office/powerpoint/2012/main" timeZoneBias="-480"/>
      </p:ext>
    </p:extLst>
  </p:cm>
</p:cmLst>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45659" cy="498135"/>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50443" y="0"/>
            <a:ext cx="2945659" cy="498135"/>
          </a:xfrm>
          <a:prstGeom prst="rect">
            <a:avLst/>
          </a:prstGeom>
        </p:spPr>
        <p:txBody>
          <a:bodyPr vert="horz" lIns="91440" tIns="45720" rIns="91440" bIns="45720" rtlCol="0"/>
          <a:lstStyle>
            <a:lvl1pPr algn="r">
              <a:defRPr sz="1200"/>
            </a:lvl1pPr>
          </a:lstStyle>
          <a:p>
            <a:fld id="{7C5C5596-07AD-4DAB-AD01-C751D0CCD18A}" type="datetimeFigureOut">
              <a:rPr lang="zh-CN" altLang="en-US" smtClean="0"/>
              <a:t>2026/9/27</a:t>
            </a:fld>
            <a:endParaRPr lang="zh-CN" altLang="en-US"/>
          </a:p>
        </p:txBody>
      </p:sp>
      <p:sp>
        <p:nvSpPr>
          <p:cNvPr id="4" name="幻灯片图像占位符 3"/>
          <p:cNvSpPr>
            <a:spLocks noGrp="1" noRot="1" noChangeAspect="1"/>
          </p:cNvSpPr>
          <p:nvPr>
            <p:ph type="sldImg" idx="2"/>
          </p:nvPr>
        </p:nvSpPr>
        <p:spPr>
          <a:xfrm>
            <a:off x="422275" y="1241425"/>
            <a:ext cx="5953125" cy="3349625"/>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79768" y="4777958"/>
            <a:ext cx="5438140" cy="3909239"/>
          </a:xfrm>
          <a:prstGeom prst="rect">
            <a:avLst/>
          </a:prstGeom>
        </p:spPr>
        <p:txBody>
          <a:bodyPr vert="horz" lIns="91440" tIns="45720" rIns="91440" bIns="45720" rtlCol="0"/>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页脚占位符 5"/>
          <p:cNvSpPr>
            <a:spLocks noGrp="1"/>
          </p:cNvSpPr>
          <p:nvPr>
            <p:ph type="ftr" sz="quarter" idx="4"/>
          </p:nvPr>
        </p:nvSpPr>
        <p:spPr>
          <a:xfrm>
            <a:off x="0" y="9430091"/>
            <a:ext cx="2945659" cy="498134"/>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50443" y="9430091"/>
            <a:ext cx="2945659" cy="498134"/>
          </a:xfrm>
          <a:prstGeom prst="rect">
            <a:avLst/>
          </a:prstGeom>
        </p:spPr>
        <p:txBody>
          <a:bodyPr vert="horz" lIns="91440" tIns="45720" rIns="91440" bIns="45720" rtlCol="0" anchor="b"/>
          <a:lstStyle>
            <a:lvl1pPr algn="r">
              <a:defRPr sz="1200"/>
            </a:lvl1pPr>
          </a:lstStyle>
          <a:p>
            <a:fld id="{1BB278F2-E736-4F74-A990-70542D4D7757}" type="slidenum">
              <a:rPr lang="zh-CN" altLang="en-US" smtClean="0"/>
              <a:t>‹#›</a:t>
            </a:fld>
            <a:endParaRPr lang="zh-CN" altLang="en-US"/>
          </a:p>
        </p:txBody>
      </p:sp>
    </p:spTree>
    <p:extLst>
      <p:ext uri="{BB962C8B-B14F-4D97-AF65-F5344CB8AC3E}">
        <p14:creationId xmlns:p14="http://schemas.microsoft.com/office/powerpoint/2010/main" val="4134833659"/>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1</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250772302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2</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8462575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3</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314419043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4</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121736660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5</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313321187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6</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110319267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7</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44206745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8</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69883991"/>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9</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3601867204"/>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10</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180107788"/>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11</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1273043438"/>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12</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3231334959"/>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13</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4103995292"/>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14</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518525362"/>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15</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227719914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16</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2139352497"/>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17</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1539637042"/>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18</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943911370"/>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19</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1735781992"/>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20</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3096862222"/>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21</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498155969"/>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142DE8B-4B8F-2DD2-C8DF-22C8AB5D6C9C}"/>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D70BF0C8-3767-DC73-48F8-9F5B2C7ADD63}"/>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A60706DA-F3FE-8EEE-A039-581212B5BA3D}"/>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7D074A0D-24B6-99BF-FA33-FD2A664DEC84}"/>
              </a:ext>
            </a:extLst>
          </p:cNvPr>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22</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2059920514"/>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23</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3282835001"/>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24</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1116993486"/>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25</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3900006496"/>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26</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1833600938"/>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27</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1629121614"/>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28</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3287046499"/>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E5655FED-A3EA-4119-BB5B-DA227F7AC495}"/>
              </a:ext>
            </a:extLst>
          </p:cNvPr>
          <p:cNvSpPr>
            <a:spLocks noGrp="1"/>
          </p:cNvSpPr>
          <p:nvPr>
            <p:ph type="ctrTitle"/>
          </p:nvPr>
        </p:nvSpPr>
        <p:spPr>
          <a:xfrm>
            <a:off x="1524000" y="1122363"/>
            <a:ext cx="9144000" cy="2387600"/>
          </a:xfrm>
        </p:spPr>
        <p:txBody>
          <a:bodyPr anchor="b"/>
          <a:lstStyle>
            <a:lvl1pPr algn="ctr">
              <a:defRPr sz="6000"/>
            </a:lvl1pPr>
          </a:lstStyle>
          <a:p>
            <a:r>
              <a:rPr lang="zh-CN" altLang="en-US"/>
              <a:t>单击此处编辑母版标题样式</a:t>
            </a:r>
          </a:p>
        </p:txBody>
      </p:sp>
      <p:sp>
        <p:nvSpPr>
          <p:cNvPr id="3" name="副标题 2">
            <a:extLst>
              <a:ext uri="{FF2B5EF4-FFF2-40B4-BE49-F238E27FC236}">
                <a16:creationId xmlns:a16="http://schemas.microsoft.com/office/drawing/2014/main" id="{E382F6BA-C320-49C5-983E-F95610B2BC4F}"/>
              </a:ext>
            </a:extLst>
          </p:cNvPr>
          <p:cNvSpPr>
            <a:spLocks noGrp="1"/>
          </p:cNvSpPr>
          <p:nvPr>
            <p:ph type="subTitle" idx="1"/>
          </p:nvPr>
        </p:nvSpPr>
        <p:spPr>
          <a:xfrm>
            <a:off x="1524000" y="3602037"/>
            <a:ext cx="9144000" cy="1655763"/>
          </a:xfrm>
        </p:spPr>
        <p:txBody>
          <a:bodyPr/>
          <a:lstStyle>
            <a:lvl1pPr marL="0" indent="0" algn="ctr">
              <a:buNone/>
              <a:defRPr sz="2400"/>
            </a:lvl1pPr>
            <a:lvl2pPr marL="457189" indent="0" algn="ctr">
              <a:buNone/>
              <a:defRPr sz="2000"/>
            </a:lvl2pPr>
            <a:lvl3pPr marL="914377" indent="0" algn="ctr">
              <a:buNone/>
              <a:defRPr sz="1800"/>
            </a:lvl3pPr>
            <a:lvl4pPr marL="1371566" indent="0" algn="ctr">
              <a:buNone/>
              <a:defRPr sz="1600"/>
            </a:lvl4pPr>
            <a:lvl5pPr marL="1828754" indent="0" algn="ctr">
              <a:buNone/>
              <a:defRPr sz="1600"/>
            </a:lvl5pPr>
            <a:lvl6pPr marL="2285943" indent="0" algn="ctr">
              <a:buNone/>
              <a:defRPr sz="1600"/>
            </a:lvl6pPr>
            <a:lvl7pPr marL="2743131" indent="0" algn="ctr">
              <a:buNone/>
              <a:defRPr sz="1600"/>
            </a:lvl7pPr>
            <a:lvl8pPr marL="3200320" indent="0" algn="ctr">
              <a:buNone/>
              <a:defRPr sz="1600"/>
            </a:lvl8pPr>
            <a:lvl9pPr marL="3657509" indent="0" algn="ctr">
              <a:buNone/>
              <a:defRPr sz="1600"/>
            </a:lvl9pPr>
          </a:lstStyle>
          <a:p>
            <a:r>
              <a:rPr lang="zh-CN" altLang="en-US"/>
              <a:t>单击此处编辑母版副标题样式</a:t>
            </a:r>
          </a:p>
        </p:txBody>
      </p:sp>
      <p:sp>
        <p:nvSpPr>
          <p:cNvPr id="4" name="日期占位符 3">
            <a:extLst>
              <a:ext uri="{FF2B5EF4-FFF2-40B4-BE49-F238E27FC236}">
                <a16:creationId xmlns:a16="http://schemas.microsoft.com/office/drawing/2014/main" id="{078E0F4B-2731-420D-B8C7-1969B5D4DE0E}"/>
              </a:ext>
            </a:extLst>
          </p:cNvPr>
          <p:cNvSpPr>
            <a:spLocks noGrp="1"/>
          </p:cNvSpPr>
          <p:nvPr>
            <p:ph type="dt" sz="half" idx="10"/>
          </p:nvPr>
        </p:nvSpPr>
        <p:spPr/>
        <p:txBody>
          <a:bodyPr/>
          <a:lstStyle/>
          <a:p>
            <a:fld id="{42DF1591-7B17-44A4-9EBB-127D5B0D0BCE}" type="datetimeFigureOut">
              <a:rPr lang="zh-CN" altLang="en-US" smtClean="0"/>
              <a:t>2026/9/27</a:t>
            </a:fld>
            <a:endParaRPr lang="zh-CN" altLang="en-US"/>
          </a:p>
        </p:txBody>
      </p:sp>
      <p:sp>
        <p:nvSpPr>
          <p:cNvPr id="5" name="页脚占位符 4">
            <a:extLst>
              <a:ext uri="{FF2B5EF4-FFF2-40B4-BE49-F238E27FC236}">
                <a16:creationId xmlns:a16="http://schemas.microsoft.com/office/drawing/2014/main" id="{16FC8E7C-1413-49C3-AFC0-BDB2F54287ED}"/>
              </a:ext>
            </a:extLst>
          </p:cNvPr>
          <p:cNvSpPr>
            <a:spLocks noGrp="1"/>
          </p:cNvSpPr>
          <p:nvPr>
            <p:ph type="ftr" sz="quarter" idx="11"/>
          </p:nvPr>
        </p:nvSpPr>
        <p:spPr/>
        <p:txBody>
          <a:bodyPr/>
          <a:lstStyle/>
          <a:p>
            <a:endParaRPr lang="zh-CN" altLang="en-US"/>
          </a:p>
        </p:txBody>
      </p:sp>
      <p:sp>
        <p:nvSpPr>
          <p:cNvPr id="6" name="灯片编号占位符 5">
            <a:extLst>
              <a:ext uri="{FF2B5EF4-FFF2-40B4-BE49-F238E27FC236}">
                <a16:creationId xmlns:a16="http://schemas.microsoft.com/office/drawing/2014/main" id="{B4371A10-3301-42FB-9326-C8B06E55D3AC}"/>
              </a:ext>
            </a:extLst>
          </p:cNvPr>
          <p:cNvSpPr>
            <a:spLocks noGrp="1"/>
          </p:cNvSpPr>
          <p:nvPr>
            <p:ph type="sldNum" sz="quarter" idx="12"/>
          </p:nvPr>
        </p:nvSpPr>
        <p:spPr/>
        <p:txBody>
          <a:bodyPr/>
          <a:lstStyle/>
          <a:p>
            <a:fld id="{E402A9A3-453A-49B5-B529-04D288922142}" type="slidenum">
              <a:rPr lang="zh-CN" altLang="en-US" smtClean="0"/>
              <a:t>‹#›</a:t>
            </a:fld>
            <a:endParaRPr lang="zh-CN" altLang="en-US"/>
          </a:p>
        </p:txBody>
      </p:sp>
    </p:spTree>
    <p:extLst>
      <p:ext uri="{BB962C8B-B14F-4D97-AF65-F5344CB8AC3E}">
        <p14:creationId xmlns:p14="http://schemas.microsoft.com/office/powerpoint/2010/main" val="1209747670"/>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标题和内容">
    <p:bg>
      <p:bgPr>
        <a:solidFill>
          <a:schemeClr val="bg1"/>
        </a:solidFill>
        <a:effectLst/>
      </p:bgPr>
    </p:bg>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45A6EAE8-EC9E-4C33-8B56-AFD1526E3C59}"/>
              </a:ext>
            </a:extLst>
          </p:cNvPr>
          <p:cNvSpPr>
            <a:spLocks noGrp="1"/>
          </p:cNvSpPr>
          <p:nvPr>
            <p:ph type="title"/>
          </p:nvPr>
        </p:nvSpPr>
        <p:spPr/>
        <p:txBody>
          <a:bodyPr/>
          <a:lstStyle/>
          <a:p>
            <a:r>
              <a:rPr lang="zh-CN" altLang="en-US"/>
              <a:t>单击此处编辑母版标题样式</a:t>
            </a:r>
          </a:p>
        </p:txBody>
      </p:sp>
      <p:sp>
        <p:nvSpPr>
          <p:cNvPr id="3" name="内容占位符 2">
            <a:extLst>
              <a:ext uri="{FF2B5EF4-FFF2-40B4-BE49-F238E27FC236}">
                <a16:creationId xmlns:a16="http://schemas.microsoft.com/office/drawing/2014/main" id="{82BA0651-DDE0-47E9-901D-4BA745A81123}"/>
              </a:ext>
            </a:extLst>
          </p:cNvPr>
          <p:cNvSpPr>
            <a:spLocks noGrp="1"/>
          </p:cNvSpPr>
          <p:nvPr>
            <p:ph idx="1"/>
          </p:nvPr>
        </p:nvSpPr>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a:extLst>
              <a:ext uri="{FF2B5EF4-FFF2-40B4-BE49-F238E27FC236}">
                <a16:creationId xmlns:a16="http://schemas.microsoft.com/office/drawing/2014/main" id="{33DB356E-930B-440B-8D26-9571444CE4AF}"/>
              </a:ext>
            </a:extLst>
          </p:cNvPr>
          <p:cNvSpPr>
            <a:spLocks noGrp="1"/>
          </p:cNvSpPr>
          <p:nvPr>
            <p:ph type="dt" sz="half" idx="10"/>
          </p:nvPr>
        </p:nvSpPr>
        <p:spPr/>
        <p:txBody>
          <a:bodyPr/>
          <a:lstStyle/>
          <a:p>
            <a:fld id="{42DF1591-7B17-44A4-9EBB-127D5B0D0BCE}" type="datetimeFigureOut">
              <a:rPr lang="zh-CN" altLang="en-US" smtClean="0"/>
              <a:t>2026/9/27</a:t>
            </a:fld>
            <a:endParaRPr lang="zh-CN" altLang="en-US"/>
          </a:p>
        </p:txBody>
      </p:sp>
      <p:sp>
        <p:nvSpPr>
          <p:cNvPr id="5" name="页脚占位符 4">
            <a:extLst>
              <a:ext uri="{FF2B5EF4-FFF2-40B4-BE49-F238E27FC236}">
                <a16:creationId xmlns:a16="http://schemas.microsoft.com/office/drawing/2014/main" id="{BFC3186B-BEDC-4F0C-8961-EA796FE8EB34}"/>
              </a:ext>
            </a:extLst>
          </p:cNvPr>
          <p:cNvSpPr>
            <a:spLocks noGrp="1"/>
          </p:cNvSpPr>
          <p:nvPr>
            <p:ph type="ftr" sz="quarter" idx="11"/>
          </p:nvPr>
        </p:nvSpPr>
        <p:spPr/>
        <p:txBody>
          <a:bodyPr/>
          <a:lstStyle/>
          <a:p>
            <a:endParaRPr lang="zh-CN" altLang="en-US"/>
          </a:p>
        </p:txBody>
      </p:sp>
      <p:sp>
        <p:nvSpPr>
          <p:cNvPr id="6" name="灯片编号占位符 5">
            <a:extLst>
              <a:ext uri="{FF2B5EF4-FFF2-40B4-BE49-F238E27FC236}">
                <a16:creationId xmlns:a16="http://schemas.microsoft.com/office/drawing/2014/main" id="{FFCE1CB8-D35F-4ECD-A2AF-03D3B3AA9882}"/>
              </a:ext>
            </a:extLst>
          </p:cNvPr>
          <p:cNvSpPr>
            <a:spLocks noGrp="1"/>
          </p:cNvSpPr>
          <p:nvPr>
            <p:ph type="sldNum" sz="quarter" idx="12"/>
          </p:nvPr>
        </p:nvSpPr>
        <p:spPr/>
        <p:txBody>
          <a:bodyPr/>
          <a:lstStyle/>
          <a:p>
            <a:fld id="{E402A9A3-453A-49B5-B529-04D288922142}" type="slidenum">
              <a:rPr lang="zh-CN" altLang="en-US" smtClean="0"/>
              <a:t>‹#›</a:t>
            </a:fld>
            <a:endParaRPr lang="zh-CN" altLang="en-US"/>
          </a:p>
        </p:txBody>
      </p:sp>
    </p:spTree>
    <p:extLst>
      <p:ext uri="{BB962C8B-B14F-4D97-AF65-F5344CB8AC3E}">
        <p14:creationId xmlns:p14="http://schemas.microsoft.com/office/powerpoint/2010/main" val="73653417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4DBA02D6-FD60-4E5F-B6FD-AD60647A351C}"/>
              </a:ext>
            </a:extLst>
          </p:cNvPr>
          <p:cNvSpPr>
            <a:spLocks noGrp="1"/>
          </p:cNvSpPr>
          <p:nvPr>
            <p:ph type="title"/>
          </p:nvPr>
        </p:nvSpPr>
        <p:spPr>
          <a:xfrm>
            <a:off x="831851" y="1709740"/>
            <a:ext cx="10515600" cy="2852737"/>
          </a:xfrm>
        </p:spPr>
        <p:txBody>
          <a:bodyPr anchor="b"/>
          <a:lstStyle>
            <a:lvl1pPr>
              <a:defRPr sz="6000"/>
            </a:lvl1pPr>
          </a:lstStyle>
          <a:p>
            <a:r>
              <a:rPr lang="zh-CN" altLang="en-US"/>
              <a:t>单击此处编辑母版标题样式</a:t>
            </a:r>
          </a:p>
        </p:txBody>
      </p:sp>
      <p:sp>
        <p:nvSpPr>
          <p:cNvPr id="3" name="文本占位符 2">
            <a:extLst>
              <a:ext uri="{FF2B5EF4-FFF2-40B4-BE49-F238E27FC236}">
                <a16:creationId xmlns:a16="http://schemas.microsoft.com/office/drawing/2014/main" id="{62C989FE-73C2-4C35-9EC8-44FAE9952B3D}"/>
              </a:ext>
            </a:extLst>
          </p:cNvPr>
          <p:cNvSpPr>
            <a:spLocks noGrp="1"/>
          </p:cNvSpPr>
          <p:nvPr>
            <p:ph type="body" idx="1"/>
          </p:nvPr>
        </p:nvSpPr>
        <p:spPr>
          <a:xfrm>
            <a:off x="831851" y="4589464"/>
            <a:ext cx="10515600" cy="1500187"/>
          </a:xfrm>
        </p:spPr>
        <p:txBody>
          <a:bodyPr/>
          <a:lstStyle>
            <a:lvl1pPr marL="0" indent="0">
              <a:buNone/>
              <a:defRPr sz="2400">
                <a:solidFill>
                  <a:schemeClr val="tx1">
                    <a:tint val="75000"/>
                  </a:schemeClr>
                </a:solidFill>
              </a:defRPr>
            </a:lvl1pPr>
            <a:lvl2pPr marL="457189" indent="0">
              <a:buNone/>
              <a:defRPr sz="2000">
                <a:solidFill>
                  <a:schemeClr val="tx1">
                    <a:tint val="75000"/>
                  </a:schemeClr>
                </a:solidFill>
              </a:defRPr>
            </a:lvl2pPr>
            <a:lvl3pPr marL="914377" indent="0">
              <a:buNone/>
              <a:defRPr sz="1800">
                <a:solidFill>
                  <a:schemeClr val="tx1">
                    <a:tint val="75000"/>
                  </a:schemeClr>
                </a:solidFill>
              </a:defRPr>
            </a:lvl3pPr>
            <a:lvl4pPr marL="1371566" indent="0">
              <a:buNone/>
              <a:defRPr sz="1600">
                <a:solidFill>
                  <a:schemeClr val="tx1">
                    <a:tint val="75000"/>
                  </a:schemeClr>
                </a:solidFill>
              </a:defRPr>
            </a:lvl4pPr>
            <a:lvl5pPr marL="1828754" indent="0">
              <a:buNone/>
              <a:defRPr sz="1600">
                <a:solidFill>
                  <a:schemeClr val="tx1">
                    <a:tint val="75000"/>
                  </a:schemeClr>
                </a:solidFill>
              </a:defRPr>
            </a:lvl5pPr>
            <a:lvl6pPr marL="2285943" indent="0">
              <a:buNone/>
              <a:defRPr sz="1600">
                <a:solidFill>
                  <a:schemeClr val="tx1">
                    <a:tint val="75000"/>
                  </a:schemeClr>
                </a:solidFill>
              </a:defRPr>
            </a:lvl6pPr>
            <a:lvl7pPr marL="2743131" indent="0">
              <a:buNone/>
              <a:defRPr sz="1600">
                <a:solidFill>
                  <a:schemeClr val="tx1">
                    <a:tint val="75000"/>
                  </a:schemeClr>
                </a:solidFill>
              </a:defRPr>
            </a:lvl7pPr>
            <a:lvl8pPr marL="3200320" indent="0">
              <a:buNone/>
              <a:defRPr sz="1600">
                <a:solidFill>
                  <a:schemeClr val="tx1">
                    <a:tint val="75000"/>
                  </a:schemeClr>
                </a:solidFill>
              </a:defRPr>
            </a:lvl8pPr>
            <a:lvl9pPr marL="3657509" indent="0">
              <a:buNone/>
              <a:defRPr sz="1600">
                <a:solidFill>
                  <a:schemeClr val="tx1">
                    <a:tint val="75000"/>
                  </a:schemeClr>
                </a:solidFill>
              </a:defRPr>
            </a:lvl9pPr>
          </a:lstStyle>
          <a:p>
            <a:pPr lvl="0"/>
            <a:r>
              <a:rPr lang="zh-CN" altLang="en-US"/>
              <a:t>编辑母版文本样式</a:t>
            </a:r>
          </a:p>
        </p:txBody>
      </p:sp>
      <p:sp>
        <p:nvSpPr>
          <p:cNvPr id="4" name="日期占位符 3">
            <a:extLst>
              <a:ext uri="{FF2B5EF4-FFF2-40B4-BE49-F238E27FC236}">
                <a16:creationId xmlns:a16="http://schemas.microsoft.com/office/drawing/2014/main" id="{5C9F3666-516C-4548-ABD3-886BF84BC908}"/>
              </a:ext>
            </a:extLst>
          </p:cNvPr>
          <p:cNvSpPr>
            <a:spLocks noGrp="1"/>
          </p:cNvSpPr>
          <p:nvPr>
            <p:ph type="dt" sz="half" idx="10"/>
          </p:nvPr>
        </p:nvSpPr>
        <p:spPr/>
        <p:txBody>
          <a:bodyPr/>
          <a:lstStyle/>
          <a:p>
            <a:fld id="{42DF1591-7B17-44A4-9EBB-127D5B0D0BCE}" type="datetimeFigureOut">
              <a:rPr lang="zh-CN" altLang="en-US" smtClean="0"/>
              <a:t>2026/9/27</a:t>
            </a:fld>
            <a:endParaRPr lang="zh-CN" altLang="en-US"/>
          </a:p>
        </p:txBody>
      </p:sp>
      <p:sp>
        <p:nvSpPr>
          <p:cNvPr id="5" name="页脚占位符 4">
            <a:extLst>
              <a:ext uri="{FF2B5EF4-FFF2-40B4-BE49-F238E27FC236}">
                <a16:creationId xmlns:a16="http://schemas.microsoft.com/office/drawing/2014/main" id="{7DAE2BB3-A6B2-44FF-926B-50D609E49A2F}"/>
              </a:ext>
            </a:extLst>
          </p:cNvPr>
          <p:cNvSpPr>
            <a:spLocks noGrp="1"/>
          </p:cNvSpPr>
          <p:nvPr>
            <p:ph type="ftr" sz="quarter" idx="11"/>
          </p:nvPr>
        </p:nvSpPr>
        <p:spPr/>
        <p:txBody>
          <a:bodyPr/>
          <a:lstStyle/>
          <a:p>
            <a:endParaRPr lang="zh-CN" altLang="en-US"/>
          </a:p>
        </p:txBody>
      </p:sp>
      <p:sp>
        <p:nvSpPr>
          <p:cNvPr id="6" name="灯片编号占位符 5">
            <a:extLst>
              <a:ext uri="{FF2B5EF4-FFF2-40B4-BE49-F238E27FC236}">
                <a16:creationId xmlns:a16="http://schemas.microsoft.com/office/drawing/2014/main" id="{83E2EA07-77BE-471C-BF58-9FD88D9B4DF1}"/>
              </a:ext>
            </a:extLst>
          </p:cNvPr>
          <p:cNvSpPr>
            <a:spLocks noGrp="1"/>
          </p:cNvSpPr>
          <p:nvPr>
            <p:ph type="sldNum" sz="quarter" idx="12"/>
          </p:nvPr>
        </p:nvSpPr>
        <p:spPr/>
        <p:txBody>
          <a:bodyPr/>
          <a:lstStyle/>
          <a:p>
            <a:fld id="{E402A9A3-453A-49B5-B529-04D288922142}" type="slidenum">
              <a:rPr lang="zh-CN" altLang="en-US" smtClean="0"/>
              <a:t>‹#›</a:t>
            </a:fld>
            <a:endParaRPr lang="zh-CN" altLang="en-US"/>
          </a:p>
        </p:txBody>
      </p:sp>
    </p:spTree>
    <p:extLst>
      <p:ext uri="{BB962C8B-B14F-4D97-AF65-F5344CB8AC3E}">
        <p14:creationId xmlns:p14="http://schemas.microsoft.com/office/powerpoint/2010/main" val="577937243"/>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56CA5A9F-F24E-4AD8-8B71-D7B2C37A2413}"/>
              </a:ext>
            </a:extLst>
          </p:cNvPr>
          <p:cNvSpPr>
            <a:spLocks noGrp="1"/>
          </p:cNvSpPr>
          <p:nvPr>
            <p:ph type="title"/>
          </p:nvPr>
        </p:nvSpPr>
        <p:spPr/>
        <p:txBody>
          <a:bodyPr/>
          <a:lstStyle/>
          <a:p>
            <a:r>
              <a:rPr lang="zh-CN" altLang="en-US"/>
              <a:t>单击此处编辑母版标题样式</a:t>
            </a:r>
          </a:p>
        </p:txBody>
      </p:sp>
      <p:sp>
        <p:nvSpPr>
          <p:cNvPr id="3" name="内容占位符 2">
            <a:extLst>
              <a:ext uri="{FF2B5EF4-FFF2-40B4-BE49-F238E27FC236}">
                <a16:creationId xmlns:a16="http://schemas.microsoft.com/office/drawing/2014/main" id="{44A5972E-1187-44FB-BF04-8B7AEACC83A1}"/>
              </a:ext>
            </a:extLst>
          </p:cNvPr>
          <p:cNvSpPr>
            <a:spLocks noGrp="1"/>
          </p:cNvSpPr>
          <p:nvPr>
            <p:ph sz="half" idx="1"/>
          </p:nvPr>
        </p:nvSpPr>
        <p:spPr>
          <a:xfrm>
            <a:off x="838200" y="1825625"/>
            <a:ext cx="5181600" cy="4351339"/>
          </a:xfrm>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a:extLst>
              <a:ext uri="{FF2B5EF4-FFF2-40B4-BE49-F238E27FC236}">
                <a16:creationId xmlns:a16="http://schemas.microsoft.com/office/drawing/2014/main" id="{2574C9A3-69BE-4D7D-8BB1-63852BDA7E5D}"/>
              </a:ext>
            </a:extLst>
          </p:cNvPr>
          <p:cNvSpPr>
            <a:spLocks noGrp="1"/>
          </p:cNvSpPr>
          <p:nvPr>
            <p:ph sz="half" idx="2"/>
          </p:nvPr>
        </p:nvSpPr>
        <p:spPr>
          <a:xfrm>
            <a:off x="6172200" y="1825625"/>
            <a:ext cx="5181600" cy="4351339"/>
          </a:xfrm>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日期占位符 4">
            <a:extLst>
              <a:ext uri="{FF2B5EF4-FFF2-40B4-BE49-F238E27FC236}">
                <a16:creationId xmlns:a16="http://schemas.microsoft.com/office/drawing/2014/main" id="{9E10FDE4-2299-496F-94E8-B7FD43A3FF94}"/>
              </a:ext>
            </a:extLst>
          </p:cNvPr>
          <p:cNvSpPr>
            <a:spLocks noGrp="1"/>
          </p:cNvSpPr>
          <p:nvPr>
            <p:ph type="dt" sz="half" idx="10"/>
          </p:nvPr>
        </p:nvSpPr>
        <p:spPr/>
        <p:txBody>
          <a:bodyPr/>
          <a:lstStyle/>
          <a:p>
            <a:fld id="{42DF1591-7B17-44A4-9EBB-127D5B0D0BCE}" type="datetimeFigureOut">
              <a:rPr lang="zh-CN" altLang="en-US" smtClean="0"/>
              <a:t>2026/9/27</a:t>
            </a:fld>
            <a:endParaRPr lang="zh-CN" altLang="en-US"/>
          </a:p>
        </p:txBody>
      </p:sp>
      <p:sp>
        <p:nvSpPr>
          <p:cNvPr id="6" name="页脚占位符 5">
            <a:extLst>
              <a:ext uri="{FF2B5EF4-FFF2-40B4-BE49-F238E27FC236}">
                <a16:creationId xmlns:a16="http://schemas.microsoft.com/office/drawing/2014/main" id="{92743A53-742E-42D9-A84B-29708127598C}"/>
              </a:ext>
            </a:extLst>
          </p:cNvPr>
          <p:cNvSpPr>
            <a:spLocks noGrp="1"/>
          </p:cNvSpPr>
          <p:nvPr>
            <p:ph type="ftr" sz="quarter" idx="11"/>
          </p:nvPr>
        </p:nvSpPr>
        <p:spPr/>
        <p:txBody>
          <a:bodyPr/>
          <a:lstStyle/>
          <a:p>
            <a:endParaRPr lang="zh-CN" altLang="en-US"/>
          </a:p>
        </p:txBody>
      </p:sp>
      <p:sp>
        <p:nvSpPr>
          <p:cNvPr id="7" name="灯片编号占位符 6">
            <a:extLst>
              <a:ext uri="{FF2B5EF4-FFF2-40B4-BE49-F238E27FC236}">
                <a16:creationId xmlns:a16="http://schemas.microsoft.com/office/drawing/2014/main" id="{13B48DD5-3FFA-4970-A976-5D91C0C15485}"/>
              </a:ext>
            </a:extLst>
          </p:cNvPr>
          <p:cNvSpPr>
            <a:spLocks noGrp="1"/>
          </p:cNvSpPr>
          <p:nvPr>
            <p:ph type="sldNum" sz="quarter" idx="12"/>
          </p:nvPr>
        </p:nvSpPr>
        <p:spPr/>
        <p:txBody>
          <a:bodyPr/>
          <a:lstStyle/>
          <a:p>
            <a:fld id="{E402A9A3-453A-49B5-B529-04D288922142}" type="slidenum">
              <a:rPr lang="zh-CN" altLang="en-US" smtClean="0"/>
              <a:t>‹#›</a:t>
            </a:fld>
            <a:endParaRPr lang="zh-CN" altLang="en-US"/>
          </a:p>
        </p:txBody>
      </p:sp>
    </p:spTree>
    <p:extLst>
      <p:ext uri="{BB962C8B-B14F-4D97-AF65-F5344CB8AC3E}">
        <p14:creationId xmlns:p14="http://schemas.microsoft.com/office/powerpoint/2010/main" val="366202472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72433A74-4729-4AD1-8303-A23AA585FC9C}"/>
              </a:ext>
            </a:extLst>
          </p:cNvPr>
          <p:cNvSpPr>
            <a:spLocks noGrp="1"/>
          </p:cNvSpPr>
          <p:nvPr>
            <p:ph type="title"/>
          </p:nvPr>
        </p:nvSpPr>
        <p:spPr>
          <a:xfrm>
            <a:off x="839788" y="365125"/>
            <a:ext cx="10515600" cy="1325563"/>
          </a:xfrm>
        </p:spPr>
        <p:txBody>
          <a:bodyPr/>
          <a:lstStyle/>
          <a:p>
            <a:r>
              <a:rPr lang="zh-CN" altLang="en-US"/>
              <a:t>单击此处编辑母版标题样式</a:t>
            </a:r>
          </a:p>
        </p:txBody>
      </p:sp>
      <p:sp>
        <p:nvSpPr>
          <p:cNvPr id="3" name="文本占位符 2">
            <a:extLst>
              <a:ext uri="{FF2B5EF4-FFF2-40B4-BE49-F238E27FC236}">
                <a16:creationId xmlns:a16="http://schemas.microsoft.com/office/drawing/2014/main" id="{8A454556-4265-4CA8-B1DB-30318DCF7BF7}"/>
              </a:ext>
            </a:extLst>
          </p:cNvPr>
          <p:cNvSpPr>
            <a:spLocks noGrp="1"/>
          </p:cNvSpPr>
          <p:nvPr>
            <p:ph type="body" idx="1"/>
          </p:nvPr>
        </p:nvSpPr>
        <p:spPr>
          <a:xfrm>
            <a:off x="839789" y="1681163"/>
            <a:ext cx="5157787" cy="823912"/>
          </a:xfrm>
        </p:spPr>
        <p:txBody>
          <a:bodyPr anchor="b"/>
          <a:lstStyle>
            <a:lvl1pPr marL="0" indent="0">
              <a:buNone/>
              <a:defRPr sz="2400" b="1"/>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zh-CN" altLang="en-US"/>
              <a:t>编辑母版文本样式</a:t>
            </a:r>
          </a:p>
        </p:txBody>
      </p:sp>
      <p:sp>
        <p:nvSpPr>
          <p:cNvPr id="4" name="内容占位符 3">
            <a:extLst>
              <a:ext uri="{FF2B5EF4-FFF2-40B4-BE49-F238E27FC236}">
                <a16:creationId xmlns:a16="http://schemas.microsoft.com/office/drawing/2014/main" id="{A673BB42-76FF-436C-BFF6-76586C0B6BC4}"/>
              </a:ext>
            </a:extLst>
          </p:cNvPr>
          <p:cNvSpPr>
            <a:spLocks noGrp="1"/>
          </p:cNvSpPr>
          <p:nvPr>
            <p:ph sz="half" idx="2"/>
          </p:nvPr>
        </p:nvSpPr>
        <p:spPr>
          <a:xfrm>
            <a:off x="839789" y="2505075"/>
            <a:ext cx="5157787" cy="3684588"/>
          </a:xfrm>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文本占位符 4">
            <a:extLst>
              <a:ext uri="{FF2B5EF4-FFF2-40B4-BE49-F238E27FC236}">
                <a16:creationId xmlns:a16="http://schemas.microsoft.com/office/drawing/2014/main" id="{B29D8A39-31FB-4866-956D-5BCD2EE36ED8}"/>
              </a:ext>
            </a:extLst>
          </p:cNvPr>
          <p:cNvSpPr>
            <a:spLocks noGrp="1"/>
          </p:cNvSpPr>
          <p:nvPr>
            <p:ph type="body" sz="quarter" idx="3"/>
          </p:nvPr>
        </p:nvSpPr>
        <p:spPr>
          <a:xfrm>
            <a:off x="6172201" y="1681163"/>
            <a:ext cx="5183188" cy="823912"/>
          </a:xfrm>
        </p:spPr>
        <p:txBody>
          <a:bodyPr anchor="b"/>
          <a:lstStyle>
            <a:lvl1pPr marL="0" indent="0">
              <a:buNone/>
              <a:defRPr sz="2400" b="1"/>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zh-CN" altLang="en-US"/>
              <a:t>编辑母版文本样式</a:t>
            </a:r>
          </a:p>
        </p:txBody>
      </p:sp>
      <p:sp>
        <p:nvSpPr>
          <p:cNvPr id="6" name="内容占位符 5">
            <a:extLst>
              <a:ext uri="{FF2B5EF4-FFF2-40B4-BE49-F238E27FC236}">
                <a16:creationId xmlns:a16="http://schemas.microsoft.com/office/drawing/2014/main" id="{633340EB-FF17-4604-ADF3-EC2FA4C83F5C}"/>
              </a:ext>
            </a:extLst>
          </p:cNvPr>
          <p:cNvSpPr>
            <a:spLocks noGrp="1"/>
          </p:cNvSpPr>
          <p:nvPr>
            <p:ph sz="quarter" idx="4"/>
          </p:nvPr>
        </p:nvSpPr>
        <p:spPr>
          <a:xfrm>
            <a:off x="6172201" y="2505075"/>
            <a:ext cx="5183188" cy="3684588"/>
          </a:xfrm>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7" name="日期占位符 6">
            <a:extLst>
              <a:ext uri="{FF2B5EF4-FFF2-40B4-BE49-F238E27FC236}">
                <a16:creationId xmlns:a16="http://schemas.microsoft.com/office/drawing/2014/main" id="{36CCC224-D563-4089-8302-C1FDF53E2998}"/>
              </a:ext>
            </a:extLst>
          </p:cNvPr>
          <p:cNvSpPr>
            <a:spLocks noGrp="1"/>
          </p:cNvSpPr>
          <p:nvPr>
            <p:ph type="dt" sz="half" idx="10"/>
          </p:nvPr>
        </p:nvSpPr>
        <p:spPr/>
        <p:txBody>
          <a:bodyPr/>
          <a:lstStyle/>
          <a:p>
            <a:fld id="{42DF1591-7B17-44A4-9EBB-127D5B0D0BCE}" type="datetimeFigureOut">
              <a:rPr lang="zh-CN" altLang="en-US" smtClean="0"/>
              <a:t>2026/9/27</a:t>
            </a:fld>
            <a:endParaRPr lang="zh-CN" altLang="en-US"/>
          </a:p>
        </p:txBody>
      </p:sp>
      <p:sp>
        <p:nvSpPr>
          <p:cNvPr id="8" name="页脚占位符 7">
            <a:extLst>
              <a:ext uri="{FF2B5EF4-FFF2-40B4-BE49-F238E27FC236}">
                <a16:creationId xmlns:a16="http://schemas.microsoft.com/office/drawing/2014/main" id="{E4676D79-22C2-4AE9-9545-9E32227EA0EA}"/>
              </a:ext>
            </a:extLst>
          </p:cNvPr>
          <p:cNvSpPr>
            <a:spLocks noGrp="1"/>
          </p:cNvSpPr>
          <p:nvPr>
            <p:ph type="ftr" sz="quarter" idx="11"/>
          </p:nvPr>
        </p:nvSpPr>
        <p:spPr/>
        <p:txBody>
          <a:bodyPr/>
          <a:lstStyle/>
          <a:p>
            <a:endParaRPr lang="zh-CN" altLang="en-US"/>
          </a:p>
        </p:txBody>
      </p:sp>
      <p:sp>
        <p:nvSpPr>
          <p:cNvPr id="9" name="灯片编号占位符 8">
            <a:extLst>
              <a:ext uri="{FF2B5EF4-FFF2-40B4-BE49-F238E27FC236}">
                <a16:creationId xmlns:a16="http://schemas.microsoft.com/office/drawing/2014/main" id="{E83B67C9-271A-46BF-B08A-56D397AC9354}"/>
              </a:ext>
            </a:extLst>
          </p:cNvPr>
          <p:cNvSpPr>
            <a:spLocks noGrp="1"/>
          </p:cNvSpPr>
          <p:nvPr>
            <p:ph type="sldNum" sz="quarter" idx="12"/>
          </p:nvPr>
        </p:nvSpPr>
        <p:spPr/>
        <p:txBody>
          <a:bodyPr/>
          <a:lstStyle/>
          <a:p>
            <a:fld id="{E402A9A3-453A-49B5-B529-04D288922142}" type="slidenum">
              <a:rPr lang="zh-CN" altLang="en-US" smtClean="0"/>
              <a:t>‹#›</a:t>
            </a:fld>
            <a:endParaRPr lang="zh-CN" altLang="en-US"/>
          </a:p>
        </p:txBody>
      </p:sp>
    </p:spTree>
    <p:extLst>
      <p:ext uri="{BB962C8B-B14F-4D97-AF65-F5344CB8AC3E}">
        <p14:creationId xmlns:p14="http://schemas.microsoft.com/office/powerpoint/2010/main" val="149160418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CC196A5-3992-41E6-9E62-FE8538968896}"/>
              </a:ext>
            </a:extLst>
          </p:cNvPr>
          <p:cNvSpPr>
            <a:spLocks noGrp="1"/>
          </p:cNvSpPr>
          <p:nvPr>
            <p:ph type="title"/>
          </p:nvPr>
        </p:nvSpPr>
        <p:spPr/>
        <p:txBody>
          <a:bodyPr/>
          <a:lstStyle/>
          <a:p>
            <a:r>
              <a:rPr lang="zh-CN" altLang="en-US"/>
              <a:t>单击此处编辑母版标题样式</a:t>
            </a:r>
          </a:p>
        </p:txBody>
      </p:sp>
      <p:sp>
        <p:nvSpPr>
          <p:cNvPr id="3" name="日期占位符 2">
            <a:extLst>
              <a:ext uri="{FF2B5EF4-FFF2-40B4-BE49-F238E27FC236}">
                <a16:creationId xmlns:a16="http://schemas.microsoft.com/office/drawing/2014/main" id="{50719085-DC49-4410-9162-3E9F788A9B89}"/>
              </a:ext>
            </a:extLst>
          </p:cNvPr>
          <p:cNvSpPr>
            <a:spLocks noGrp="1"/>
          </p:cNvSpPr>
          <p:nvPr>
            <p:ph type="dt" sz="half" idx="10"/>
          </p:nvPr>
        </p:nvSpPr>
        <p:spPr/>
        <p:txBody>
          <a:bodyPr/>
          <a:lstStyle/>
          <a:p>
            <a:fld id="{42DF1591-7B17-44A4-9EBB-127D5B0D0BCE}" type="datetimeFigureOut">
              <a:rPr lang="zh-CN" altLang="en-US" smtClean="0"/>
              <a:t>2026/9/27</a:t>
            </a:fld>
            <a:endParaRPr lang="zh-CN" altLang="en-US"/>
          </a:p>
        </p:txBody>
      </p:sp>
      <p:sp>
        <p:nvSpPr>
          <p:cNvPr id="4" name="页脚占位符 3">
            <a:extLst>
              <a:ext uri="{FF2B5EF4-FFF2-40B4-BE49-F238E27FC236}">
                <a16:creationId xmlns:a16="http://schemas.microsoft.com/office/drawing/2014/main" id="{F1E05355-2F75-409F-9287-FC9D3C773FFE}"/>
              </a:ext>
            </a:extLst>
          </p:cNvPr>
          <p:cNvSpPr>
            <a:spLocks noGrp="1"/>
          </p:cNvSpPr>
          <p:nvPr>
            <p:ph type="ftr" sz="quarter" idx="11"/>
          </p:nvPr>
        </p:nvSpPr>
        <p:spPr/>
        <p:txBody>
          <a:bodyPr/>
          <a:lstStyle/>
          <a:p>
            <a:endParaRPr lang="zh-CN" altLang="en-US"/>
          </a:p>
        </p:txBody>
      </p:sp>
      <p:sp>
        <p:nvSpPr>
          <p:cNvPr id="5" name="灯片编号占位符 4">
            <a:extLst>
              <a:ext uri="{FF2B5EF4-FFF2-40B4-BE49-F238E27FC236}">
                <a16:creationId xmlns:a16="http://schemas.microsoft.com/office/drawing/2014/main" id="{639CF2D8-C8A3-4D1A-883F-CD65F9BFD9A7}"/>
              </a:ext>
            </a:extLst>
          </p:cNvPr>
          <p:cNvSpPr>
            <a:spLocks noGrp="1"/>
          </p:cNvSpPr>
          <p:nvPr>
            <p:ph type="sldNum" sz="quarter" idx="12"/>
          </p:nvPr>
        </p:nvSpPr>
        <p:spPr/>
        <p:txBody>
          <a:bodyPr/>
          <a:lstStyle/>
          <a:p>
            <a:fld id="{E402A9A3-453A-49B5-B529-04D288922142}" type="slidenum">
              <a:rPr lang="zh-CN" altLang="en-US" smtClean="0"/>
              <a:t>‹#›</a:t>
            </a:fld>
            <a:endParaRPr lang="zh-CN" altLang="en-US"/>
          </a:p>
        </p:txBody>
      </p:sp>
    </p:spTree>
    <p:extLst>
      <p:ext uri="{BB962C8B-B14F-4D97-AF65-F5344CB8AC3E}">
        <p14:creationId xmlns:p14="http://schemas.microsoft.com/office/powerpoint/2010/main" val="2198596183"/>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a:extLst>
              <a:ext uri="{FF2B5EF4-FFF2-40B4-BE49-F238E27FC236}">
                <a16:creationId xmlns:a16="http://schemas.microsoft.com/office/drawing/2014/main" id="{9D75DAB8-0B9B-4421-BE4A-731DCF864358}"/>
              </a:ext>
            </a:extLst>
          </p:cNvPr>
          <p:cNvSpPr>
            <a:spLocks noGrp="1"/>
          </p:cNvSpPr>
          <p:nvPr>
            <p:ph type="dt" sz="half" idx="10"/>
          </p:nvPr>
        </p:nvSpPr>
        <p:spPr/>
        <p:txBody>
          <a:bodyPr/>
          <a:lstStyle/>
          <a:p>
            <a:fld id="{42DF1591-7B17-44A4-9EBB-127D5B0D0BCE}" type="datetimeFigureOut">
              <a:rPr lang="zh-CN" altLang="en-US" smtClean="0"/>
              <a:t>2026/9/27</a:t>
            </a:fld>
            <a:endParaRPr lang="zh-CN" altLang="en-US"/>
          </a:p>
        </p:txBody>
      </p:sp>
      <p:sp>
        <p:nvSpPr>
          <p:cNvPr id="3" name="页脚占位符 2">
            <a:extLst>
              <a:ext uri="{FF2B5EF4-FFF2-40B4-BE49-F238E27FC236}">
                <a16:creationId xmlns:a16="http://schemas.microsoft.com/office/drawing/2014/main" id="{9902D034-32A7-479A-AE02-739AA5EB6220}"/>
              </a:ext>
            </a:extLst>
          </p:cNvPr>
          <p:cNvSpPr>
            <a:spLocks noGrp="1"/>
          </p:cNvSpPr>
          <p:nvPr>
            <p:ph type="ftr" sz="quarter" idx="11"/>
          </p:nvPr>
        </p:nvSpPr>
        <p:spPr/>
        <p:txBody>
          <a:bodyPr/>
          <a:lstStyle/>
          <a:p>
            <a:endParaRPr lang="zh-CN" altLang="en-US"/>
          </a:p>
        </p:txBody>
      </p:sp>
      <p:sp>
        <p:nvSpPr>
          <p:cNvPr id="4" name="灯片编号占位符 3">
            <a:extLst>
              <a:ext uri="{FF2B5EF4-FFF2-40B4-BE49-F238E27FC236}">
                <a16:creationId xmlns:a16="http://schemas.microsoft.com/office/drawing/2014/main" id="{B3875FCC-7B3C-4B29-B141-AFC757E17A7A}"/>
              </a:ext>
            </a:extLst>
          </p:cNvPr>
          <p:cNvSpPr>
            <a:spLocks noGrp="1"/>
          </p:cNvSpPr>
          <p:nvPr>
            <p:ph type="sldNum" sz="quarter" idx="12"/>
          </p:nvPr>
        </p:nvSpPr>
        <p:spPr/>
        <p:txBody>
          <a:bodyPr/>
          <a:lstStyle/>
          <a:p>
            <a:fld id="{E402A9A3-453A-49B5-B529-04D288922142}" type="slidenum">
              <a:rPr lang="zh-CN" altLang="en-US" smtClean="0"/>
              <a:t>‹#›</a:t>
            </a:fld>
            <a:endParaRPr lang="zh-CN" altLang="en-US"/>
          </a:p>
        </p:txBody>
      </p:sp>
    </p:spTree>
    <p:extLst>
      <p:ext uri="{BB962C8B-B14F-4D97-AF65-F5344CB8AC3E}">
        <p14:creationId xmlns:p14="http://schemas.microsoft.com/office/powerpoint/2010/main" val="506632176"/>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FEA23587-F912-43C6-AF00-2A5ADF466BC5}"/>
              </a:ext>
            </a:extLst>
          </p:cNvPr>
          <p:cNvSpPr>
            <a:spLocks noGrp="1"/>
          </p:cNvSpPr>
          <p:nvPr>
            <p:ph type="title"/>
          </p:nvPr>
        </p:nvSpPr>
        <p:spPr>
          <a:xfrm>
            <a:off x="839788" y="457200"/>
            <a:ext cx="3932237" cy="1600200"/>
          </a:xfrm>
        </p:spPr>
        <p:txBody>
          <a:bodyPr anchor="b"/>
          <a:lstStyle>
            <a:lvl1pPr>
              <a:defRPr sz="3200"/>
            </a:lvl1pPr>
          </a:lstStyle>
          <a:p>
            <a:r>
              <a:rPr lang="zh-CN" altLang="en-US"/>
              <a:t>单击此处编辑母版标题样式</a:t>
            </a:r>
          </a:p>
        </p:txBody>
      </p:sp>
      <p:sp>
        <p:nvSpPr>
          <p:cNvPr id="3" name="内容占位符 2">
            <a:extLst>
              <a:ext uri="{FF2B5EF4-FFF2-40B4-BE49-F238E27FC236}">
                <a16:creationId xmlns:a16="http://schemas.microsoft.com/office/drawing/2014/main" id="{BA34D082-A815-469A-ABD9-F33895D86D1B}"/>
              </a:ext>
            </a:extLst>
          </p:cNvPr>
          <p:cNvSpPr>
            <a:spLocks noGrp="1"/>
          </p:cNvSpPr>
          <p:nvPr>
            <p:ph idx="1"/>
          </p:nvPr>
        </p:nvSpPr>
        <p:spPr>
          <a:xfrm>
            <a:off x="5183188" y="987426"/>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文本占位符 3">
            <a:extLst>
              <a:ext uri="{FF2B5EF4-FFF2-40B4-BE49-F238E27FC236}">
                <a16:creationId xmlns:a16="http://schemas.microsoft.com/office/drawing/2014/main" id="{9B92DECF-8798-442F-85A4-5D5711A73043}"/>
              </a:ext>
            </a:extLst>
          </p:cNvPr>
          <p:cNvSpPr>
            <a:spLocks noGrp="1"/>
          </p:cNvSpPr>
          <p:nvPr>
            <p:ph type="body" sz="half" idx="2"/>
          </p:nvPr>
        </p:nvSpPr>
        <p:spPr>
          <a:xfrm>
            <a:off x="839788" y="2057401"/>
            <a:ext cx="3932237" cy="3811588"/>
          </a:xfrm>
        </p:spPr>
        <p:txBody>
          <a:bodyPr/>
          <a:lstStyle>
            <a:lvl1pPr marL="0" indent="0">
              <a:buNone/>
              <a:defRPr sz="1600"/>
            </a:lvl1pPr>
            <a:lvl2pPr marL="457189" indent="0">
              <a:buNone/>
              <a:defRPr sz="1400"/>
            </a:lvl2pPr>
            <a:lvl3pPr marL="914377" indent="0">
              <a:buNone/>
              <a:defRPr sz="1200"/>
            </a:lvl3pPr>
            <a:lvl4pPr marL="1371566" indent="0">
              <a:buNone/>
              <a:defRPr sz="1000"/>
            </a:lvl4pPr>
            <a:lvl5pPr marL="1828754" indent="0">
              <a:buNone/>
              <a:defRPr sz="1000"/>
            </a:lvl5pPr>
            <a:lvl6pPr marL="2285943" indent="0">
              <a:buNone/>
              <a:defRPr sz="1000"/>
            </a:lvl6pPr>
            <a:lvl7pPr marL="2743131" indent="0">
              <a:buNone/>
              <a:defRPr sz="1000"/>
            </a:lvl7pPr>
            <a:lvl8pPr marL="3200320" indent="0">
              <a:buNone/>
              <a:defRPr sz="1000"/>
            </a:lvl8pPr>
            <a:lvl9pPr marL="3657509" indent="0">
              <a:buNone/>
              <a:defRPr sz="1000"/>
            </a:lvl9pPr>
          </a:lstStyle>
          <a:p>
            <a:pPr lvl="0"/>
            <a:r>
              <a:rPr lang="zh-CN" altLang="en-US"/>
              <a:t>编辑母版文本样式</a:t>
            </a:r>
          </a:p>
        </p:txBody>
      </p:sp>
      <p:sp>
        <p:nvSpPr>
          <p:cNvPr id="5" name="日期占位符 4">
            <a:extLst>
              <a:ext uri="{FF2B5EF4-FFF2-40B4-BE49-F238E27FC236}">
                <a16:creationId xmlns:a16="http://schemas.microsoft.com/office/drawing/2014/main" id="{57BCB088-02D5-4765-BF97-FE9476E06F91}"/>
              </a:ext>
            </a:extLst>
          </p:cNvPr>
          <p:cNvSpPr>
            <a:spLocks noGrp="1"/>
          </p:cNvSpPr>
          <p:nvPr>
            <p:ph type="dt" sz="half" idx="10"/>
          </p:nvPr>
        </p:nvSpPr>
        <p:spPr/>
        <p:txBody>
          <a:bodyPr/>
          <a:lstStyle/>
          <a:p>
            <a:fld id="{42DF1591-7B17-44A4-9EBB-127D5B0D0BCE}" type="datetimeFigureOut">
              <a:rPr lang="zh-CN" altLang="en-US" smtClean="0"/>
              <a:t>2026/9/27</a:t>
            </a:fld>
            <a:endParaRPr lang="zh-CN" altLang="en-US"/>
          </a:p>
        </p:txBody>
      </p:sp>
      <p:sp>
        <p:nvSpPr>
          <p:cNvPr id="6" name="页脚占位符 5">
            <a:extLst>
              <a:ext uri="{FF2B5EF4-FFF2-40B4-BE49-F238E27FC236}">
                <a16:creationId xmlns:a16="http://schemas.microsoft.com/office/drawing/2014/main" id="{C3AB1EAB-EFD9-4061-9CEF-73E75688A223}"/>
              </a:ext>
            </a:extLst>
          </p:cNvPr>
          <p:cNvSpPr>
            <a:spLocks noGrp="1"/>
          </p:cNvSpPr>
          <p:nvPr>
            <p:ph type="ftr" sz="quarter" idx="11"/>
          </p:nvPr>
        </p:nvSpPr>
        <p:spPr/>
        <p:txBody>
          <a:bodyPr/>
          <a:lstStyle/>
          <a:p>
            <a:endParaRPr lang="zh-CN" altLang="en-US"/>
          </a:p>
        </p:txBody>
      </p:sp>
      <p:sp>
        <p:nvSpPr>
          <p:cNvPr id="7" name="灯片编号占位符 6">
            <a:extLst>
              <a:ext uri="{FF2B5EF4-FFF2-40B4-BE49-F238E27FC236}">
                <a16:creationId xmlns:a16="http://schemas.microsoft.com/office/drawing/2014/main" id="{CDA759D2-7D25-4714-8E0E-9C08623047B9}"/>
              </a:ext>
            </a:extLst>
          </p:cNvPr>
          <p:cNvSpPr>
            <a:spLocks noGrp="1"/>
          </p:cNvSpPr>
          <p:nvPr>
            <p:ph type="sldNum" sz="quarter" idx="12"/>
          </p:nvPr>
        </p:nvSpPr>
        <p:spPr/>
        <p:txBody>
          <a:bodyPr/>
          <a:lstStyle/>
          <a:p>
            <a:fld id="{E402A9A3-453A-49B5-B529-04D288922142}" type="slidenum">
              <a:rPr lang="zh-CN" altLang="en-US" smtClean="0"/>
              <a:t>‹#›</a:t>
            </a:fld>
            <a:endParaRPr lang="zh-CN" altLang="en-US"/>
          </a:p>
        </p:txBody>
      </p:sp>
    </p:spTree>
    <p:extLst>
      <p:ext uri="{BB962C8B-B14F-4D97-AF65-F5344CB8AC3E}">
        <p14:creationId xmlns:p14="http://schemas.microsoft.com/office/powerpoint/2010/main" val="3291013047"/>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A48D4563-1F7B-4582-B82D-820DCD73EFF1}"/>
              </a:ext>
            </a:extLst>
          </p:cNvPr>
          <p:cNvSpPr>
            <a:spLocks noGrp="1"/>
          </p:cNvSpPr>
          <p:nvPr>
            <p:ph type="title"/>
          </p:nvPr>
        </p:nvSpPr>
        <p:spPr>
          <a:xfrm>
            <a:off x="839788" y="457200"/>
            <a:ext cx="3932237" cy="1600200"/>
          </a:xfrm>
        </p:spPr>
        <p:txBody>
          <a:bodyPr anchor="b"/>
          <a:lstStyle>
            <a:lvl1pPr>
              <a:defRPr sz="3200"/>
            </a:lvl1pPr>
          </a:lstStyle>
          <a:p>
            <a:r>
              <a:rPr lang="zh-CN" altLang="en-US"/>
              <a:t>单击此处编辑母版标题样式</a:t>
            </a:r>
          </a:p>
        </p:txBody>
      </p:sp>
      <p:sp>
        <p:nvSpPr>
          <p:cNvPr id="3" name="图片占位符 2">
            <a:extLst>
              <a:ext uri="{FF2B5EF4-FFF2-40B4-BE49-F238E27FC236}">
                <a16:creationId xmlns:a16="http://schemas.microsoft.com/office/drawing/2014/main" id="{5164B3BF-64DD-49B4-8AB6-CF73FA165A29}"/>
              </a:ext>
            </a:extLst>
          </p:cNvPr>
          <p:cNvSpPr>
            <a:spLocks noGrp="1"/>
          </p:cNvSpPr>
          <p:nvPr>
            <p:ph type="pic" idx="1"/>
          </p:nvPr>
        </p:nvSpPr>
        <p:spPr>
          <a:xfrm>
            <a:off x="5183188" y="987426"/>
            <a:ext cx="6172200" cy="4873625"/>
          </a:xfrm>
        </p:spPr>
        <p:txBody>
          <a:bodyPr/>
          <a:lstStyle>
            <a:lvl1pPr marL="0" indent="0">
              <a:buNone/>
              <a:defRPr sz="3200"/>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endParaRPr lang="zh-CN" altLang="en-US"/>
          </a:p>
        </p:txBody>
      </p:sp>
      <p:sp>
        <p:nvSpPr>
          <p:cNvPr id="4" name="文本占位符 3">
            <a:extLst>
              <a:ext uri="{FF2B5EF4-FFF2-40B4-BE49-F238E27FC236}">
                <a16:creationId xmlns:a16="http://schemas.microsoft.com/office/drawing/2014/main" id="{DC4BE060-5FA8-4F62-9119-0B0457F8B5B4}"/>
              </a:ext>
            </a:extLst>
          </p:cNvPr>
          <p:cNvSpPr>
            <a:spLocks noGrp="1"/>
          </p:cNvSpPr>
          <p:nvPr>
            <p:ph type="body" sz="half" idx="2"/>
          </p:nvPr>
        </p:nvSpPr>
        <p:spPr>
          <a:xfrm>
            <a:off x="839788" y="2057401"/>
            <a:ext cx="3932237" cy="3811588"/>
          </a:xfrm>
        </p:spPr>
        <p:txBody>
          <a:bodyPr/>
          <a:lstStyle>
            <a:lvl1pPr marL="0" indent="0">
              <a:buNone/>
              <a:defRPr sz="1600"/>
            </a:lvl1pPr>
            <a:lvl2pPr marL="457189" indent="0">
              <a:buNone/>
              <a:defRPr sz="1400"/>
            </a:lvl2pPr>
            <a:lvl3pPr marL="914377" indent="0">
              <a:buNone/>
              <a:defRPr sz="1200"/>
            </a:lvl3pPr>
            <a:lvl4pPr marL="1371566" indent="0">
              <a:buNone/>
              <a:defRPr sz="1000"/>
            </a:lvl4pPr>
            <a:lvl5pPr marL="1828754" indent="0">
              <a:buNone/>
              <a:defRPr sz="1000"/>
            </a:lvl5pPr>
            <a:lvl6pPr marL="2285943" indent="0">
              <a:buNone/>
              <a:defRPr sz="1000"/>
            </a:lvl6pPr>
            <a:lvl7pPr marL="2743131" indent="0">
              <a:buNone/>
              <a:defRPr sz="1000"/>
            </a:lvl7pPr>
            <a:lvl8pPr marL="3200320" indent="0">
              <a:buNone/>
              <a:defRPr sz="1000"/>
            </a:lvl8pPr>
            <a:lvl9pPr marL="3657509" indent="0">
              <a:buNone/>
              <a:defRPr sz="1000"/>
            </a:lvl9pPr>
          </a:lstStyle>
          <a:p>
            <a:pPr lvl="0"/>
            <a:r>
              <a:rPr lang="zh-CN" altLang="en-US"/>
              <a:t>编辑母版文本样式</a:t>
            </a:r>
          </a:p>
        </p:txBody>
      </p:sp>
      <p:sp>
        <p:nvSpPr>
          <p:cNvPr id="5" name="日期占位符 4">
            <a:extLst>
              <a:ext uri="{FF2B5EF4-FFF2-40B4-BE49-F238E27FC236}">
                <a16:creationId xmlns:a16="http://schemas.microsoft.com/office/drawing/2014/main" id="{6F2B1889-7787-43CB-A1E7-F2DB0F67EEE7}"/>
              </a:ext>
            </a:extLst>
          </p:cNvPr>
          <p:cNvSpPr>
            <a:spLocks noGrp="1"/>
          </p:cNvSpPr>
          <p:nvPr>
            <p:ph type="dt" sz="half" idx="10"/>
          </p:nvPr>
        </p:nvSpPr>
        <p:spPr/>
        <p:txBody>
          <a:bodyPr/>
          <a:lstStyle/>
          <a:p>
            <a:fld id="{42DF1591-7B17-44A4-9EBB-127D5B0D0BCE}" type="datetimeFigureOut">
              <a:rPr lang="zh-CN" altLang="en-US" smtClean="0"/>
              <a:t>2026/9/27</a:t>
            </a:fld>
            <a:endParaRPr lang="zh-CN" altLang="en-US"/>
          </a:p>
        </p:txBody>
      </p:sp>
      <p:sp>
        <p:nvSpPr>
          <p:cNvPr id="6" name="页脚占位符 5">
            <a:extLst>
              <a:ext uri="{FF2B5EF4-FFF2-40B4-BE49-F238E27FC236}">
                <a16:creationId xmlns:a16="http://schemas.microsoft.com/office/drawing/2014/main" id="{7CAE394E-D20A-4234-A855-0F6A2E8765DC}"/>
              </a:ext>
            </a:extLst>
          </p:cNvPr>
          <p:cNvSpPr>
            <a:spLocks noGrp="1"/>
          </p:cNvSpPr>
          <p:nvPr>
            <p:ph type="ftr" sz="quarter" idx="11"/>
          </p:nvPr>
        </p:nvSpPr>
        <p:spPr/>
        <p:txBody>
          <a:bodyPr/>
          <a:lstStyle/>
          <a:p>
            <a:endParaRPr lang="zh-CN" altLang="en-US"/>
          </a:p>
        </p:txBody>
      </p:sp>
      <p:sp>
        <p:nvSpPr>
          <p:cNvPr id="7" name="灯片编号占位符 6">
            <a:extLst>
              <a:ext uri="{FF2B5EF4-FFF2-40B4-BE49-F238E27FC236}">
                <a16:creationId xmlns:a16="http://schemas.microsoft.com/office/drawing/2014/main" id="{36E37C38-E2A7-4847-B376-D65FE9AF03A5}"/>
              </a:ext>
            </a:extLst>
          </p:cNvPr>
          <p:cNvSpPr>
            <a:spLocks noGrp="1"/>
          </p:cNvSpPr>
          <p:nvPr>
            <p:ph type="sldNum" sz="quarter" idx="12"/>
          </p:nvPr>
        </p:nvSpPr>
        <p:spPr/>
        <p:txBody>
          <a:bodyPr/>
          <a:lstStyle/>
          <a:p>
            <a:fld id="{E402A9A3-453A-49B5-B529-04D288922142}" type="slidenum">
              <a:rPr lang="zh-CN" altLang="en-US" smtClean="0"/>
              <a:t>‹#›</a:t>
            </a:fld>
            <a:endParaRPr lang="zh-CN" altLang="en-US"/>
          </a:p>
        </p:txBody>
      </p:sp>
    </p:spTree>
    <p:extLst>
      <p:ext uri="{BB962C8B-B14F-4D97-AF65-F5344CB8AC3E}">
        <p14:creationId xmlns:p14="http://schemas.microsoft.com/office/powerpoint/2010/main" val="196839852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3CF6EEBE-ED3C-4894-9EBD-CE0D23A16286}"/>
              </a:ext>
            </a:extLst>
          </p:cNvPr>
          <p:cNvSpPr>
            <a:spLocks noGrp="1"/>
          </p:cNvSpPr>
          <p:nvPr>
            <p:ph type="title"/>
          </p:nvPr>
        </p:nvSpPr>
        <p:spPr/>
        <p:txBody>
          <a:bodyPr/>
          <a:lstStyle/>
          <a:p>
            <a:r>
              <a:rPr lang="zh-CN" altLang="en-US"/>
              <a:t>单击此处编辑母版标题样式</a:t>
            </a:r>
          </a:p>
        </p:txBody>
      </p:sp>
      <p:sp>
        <p:nvSpPr>
          <p:cNvPr id="3" name="竖排文字占位符 2">
            <a:extLst>
              <a:ext uri="{FF2B5EF4-FFF2-40B4-BE49-F238E27FC236}">
                <a16:creationId xmlns:a16="http://schemas.microsoft.com/office/drawing/2014/main" id="{C3D25431-8520-43D1-9F64-2485FF79849F}"/>
              </a:ext>
            </a:extLst>
          </p:cNvPr>
          <p:cNvSpPr>
            <a:spLocks noGrp="1"/>
          </p:cNvSpPr>
          <p:nvPr>
            <p:ph type="body" orient="vert" idx="1"/>
          </p:nvPr>
        </p:nvSpPr>
        <p:spPr/>
        <p:txBody>
          <a:bodyPr vert="eaVert"/>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a:extLst>
              <a:ext uri="{FF2B5EF4-FFF2-40B4-BE49-F238E27FC236}">
                <a16:creationId xmlns:a16="http://schemas.microsoft.com/office/drawing/2014/main" id="{491750AF-776D-4EBA-8BA9-A9BAB97196F1}"/>
              </a:ext>
            </a:extLst>
          </p:cNvPr>
          <p:cNvSpPr>
            <a:spLocks noGrp="1"/>
          </p:cNvSpPr>
          <p:nvPr>
            <p:ph type="dt" sz="half" idx="10"/>
          </p:nvPr>
        </p:nvSpPr>
        <p:spPr/>
        <p:txBody>
          <a:bodyPr/>
          <a:lstStyle/>
          <a:p>
            <a:fld id="{42DF1591-7B17-44A4-9EBB-127D5B0D0BCE}" type="datetimeFigureOut">
              <a:rPr lang="zh-CN" altLang="en-US" smtClean="0"/>
              <a:t>2026/9/27</a:t>
            </a:fld>
            <a:endParaRPr lang="zh-CN" altLang="en-US"/>
          </a:p>
        </p:txBody>
      </p:sp>
      <p:sp>
        <p:nvSpPr>
          <p:cNvPr id="5" name="页脚占位符 4">
            <a:extLst>
              <a:ext uri="{FF2B5EF4-FFF2-40B4-BE49-F238E27FC236}">
                <a16:creationId xmlns:a16="http://schemas.microsoft.com/office/drawing/2014/main" id="{07BFBE0F-DB4B-451F-B10B-C6655DCE6C92}"/>
              </a:ext>
            </a:extLst>
          </p:cNvPr>
          <p:cNvSpPr>
            <a:spLocks noGrp="1"/>
          </p:cNvSpPr>
          <p:nvPr>
            <p:ph type="ftr" sz="quarter" idx="11"/>
          </p:nvPr>
        </p:nvSpPr>
        <p:spPr/>
        <p:txBody>
          <a:bodyPr/>
          <a:lstStyle/>
          <a:p>
            <a:endParaRPr lang="zh-CN" altLang="en-US"/>
          </a:p>
        </p:txBody>
      </p:sp>
      <p:sp>
        <p:nvSpPr>
          <p:cNvPr id="6" name="灯片编号占位符 5">
            <a:extLst>
              <a:ext uri="{FF2B5EF4-FFF2-40B4-BE49-F238E27FC236}">
                <a16:creationId xmlns:a16="http://schemas.microsoft.com/office/drawing/2014/main" id="{12C12D9E-ECBF-4431-897D-C0DBF8B74727}"/>
              </a:ext>
            </a:extLst>
          </p:cNvPr>
          <p:cNvSpPr>
            <a:spLocks noGrp="1"/>
          </p:cNvSpPr>
          <p:nvPr>
            <p:ph type="sldNum" sz="quarter" idx="12"/>
          </p:nvPr>
        </p:nvSpPr>
        <p:spPr/>
        <p:txBody>
          <a:bodyPr/>
          <a:lstStyle/>
          <a:p>
            <a:fld id="{E402A9A3-453A-49B5-B529-04D288922142}" type="slidenum">
              <a:rPr lang="zh-CN" altLang="en-US" smtClean="0"/>
              <a:t>‹#›</a:t>
            </a:fld>
            <a:endParaRPr lang="zh-CN" altLang="en-US"/>
          </a:p>
        </p:txBody>
      </p:sp>
    </p:spTree>
    <p:extLst>
      <p:ext uri="{BB962C8B-B14F-4D97-AF65-F5344CB8AC3E}">
        <p14:creationId xmlns:p14="http://schemas.microsoft.com/office/powerpoint/2010/main" val="1356787315"/>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a:extLst>
              <a:ext uri="{FF2B5EF4-FFF2-40B4-BE49-F238E27FC236}">
                <a16:creationId xmlns:a16="http://schemas.microsoft.com/office/drawing/2014/main" id="{A7D7CE91-0164-47B2-95E5-6CF7FB97A5E3}"/>
              </a:ext>
            </a:extLst>
          </p:cNvPr>
          <p:cNvSpPr>
            <a:spLocks noGrp="1"/>
          </p:cNvSpPr>
          <p:nvPr>
            <p:ph type="title" orient="vert"/>
          </p:nvPr>
        </p:nvSpPr>
        <p:spPr>
          <a:xfrm>
            <a:off x="8724901" y="365126"/>
            <a:ext cx="2628900" cy="5811839"/>
          </a:xfrm>
        </p:spPr>
        <p:txBody>
          <a:bodyPr vert="eaVert"/>
          <a:lstStyle/>
          <a:p>
            <a:r>
              <a:rPr lang="zh-CN" altLang="en-US"/>
              <a:t>单击此处编辑母版标题样式</a:t>
            </a:r>
          </a:p>
        </p:txBody>
      </p:sp>
      <p:sp>
        <p:nvSpPr>
          <p:cNvPr id="3" name="竖排文字占位符 2">
            <a:extLst>
              <a:ext uri="{FF2B5EF4-FFF2-40B4-BE49-F238E27FC236}">
                <a16:creationId xmlns:a16="http://schemas.microsoft.com/office/drawing/2014/main" id="{EF81A2A1-4DB2-42D5-85DE-CBAC2D1917EE}"/>
              </a:ext>
            </a:extLst>
          </p:cNvPr>
          <p:cNvSpPr>
            <a:spLocks noGrp="1"/>
          </p:cNvSpPr>
          <p:nvPr>
            <p:ph type="body" orient="vert" idx="1"/>
          </p:nvPr>
        </p:nvSpPr>
        <p:spPr>
          <a:xfrm>
            <a:off x="838201" y="365126"/>
            <a:ext cx="7734300" cy="5811839"/>
          </a:xfrm>
        </p:spPr>
        <p:txBody>
          <a:bodyPr vert="eaVert"/>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a:extLst>
              <a:ext uri="{FF2B5EF4-FFF2-40B4-BE49-F238E27FC236}">
                <a16:creationId xmlns:a16="http://schemas.microsoft.com/office/drawing/2014/main" id="{AE58EF8A-69C2-4C05-B472-86BBD7E3258B}"/>
              </a:ext>
            </a:extLst>
          </p:cNvPr>
          <p:cNvSpPr>
            <a:spLocks noGrp="1"/>
          </p:cNvSpPr>
          <p:nvPr>
            <p:ph type="dt" sz="half" idx="10"/>
          </p:nvPr>
        </p:nvSpPr>
        <p:spPr/>
        <p:txBody>
          <a:bodyPr/>
          <a:lstStyle/>
          <a:p>
            <a:fld id="{42DF1591-7B17-44A4-9EBB-127D5B0D0BCE}" type="datetimeFigureOut">
              <a:rPr lang="zh-CN" altLang="en-US" smtClean="0"/>
              <a:t>2026/9/27</a:t>
            </a:fld>
            <a:endParaRPr lang="zh-CN" altLang="en-US"/>
          </a:p>
        </p:txBody>
      </p:sp>
      <p:sp>
        <p:nvSpPr>
          <p:cNvPr id="5" name="页脚占位符 4">
            <a:extLst>
              <a:ext uri="{FF2B5EF4-FFF2-40B4-BE49-F238E27FC236}">
                <a16:creationId xmlns:a16="http://schemas.microsoft.com/office/drawing/2014/main" id="{1AF9EA55-E424-43AD-969F-AC96183A8E86}"/>
              </a:ext>
            </a:extLst>
          </p:cNvPr>
          <p:cNvSpPr>
            <a:spLocks noGrp="1"/>
          </p:cNvSpPr>
          <p:nvPr>
            <p:ph type="ftr" sz="quarter" idx="11"/>
          </p:nvPr>
        </p:nvSpPr>
        <p:spPr/>
        <p:txBody>
          <a:bodyPr/>
          <a:lstStyle/>
          <a:p>
            <a:endParaRPr lang="zh-CN" altLang="en-US"/>
          </a:p>
        </p:txBody>
      </p:sp>
      <p:sp>
        <p:nvSpPr>
          <p:cNvPr id="6" name="灯片编号占位符 5">
            <a:extLst>
              <a:ext uri="{FF2B5EF4-FFF2-40B4-BE49-F238E27FC236}">
                <a16:creationId xmlns:a16="http://schemas.microsoft.com/office/drawing/2014/main" id="{A40D6677-53EF-4403-BAD2-C0ABA361B6A1}"/>
              </a:ext>
            </a:extLst>
          </p:cNvPr>
          <p:cNvSpPr>
            <a:spLocks noGrp="1"/>
          </p:cNvSpPr>
          <p:nvPr>
            <p:ph type="sldNum" sz="quarter" idx="12"/>
          </p:nvPr>
        </p:nvSpPr>
        <p:spPr/>
        <p:txBody>
          <a:bodyPr/>
          <a:lstStyle/>
          <a:p>
            <a:fld id="{E402A9A3-453A-49B5-B529-04D288922142}" type="slidenum">
              <a:rPr lang="zh-CN" altLang="en-US" smtClean="0"/>
              <a:t>‹#›</a:t>
            </a:fld>
            <a:endParaRPr lang="zh-CN" altLang="en-US"/>
          </a:p>
        </p:txBody>
      </p:sp>
    </p:spTree>
    <p:extLst>
      <p:ext uri="{BB962C8B-B14F-4D97-AF65-F5344CB8AC3E}">
        <p14:creationId xmlns:p14="http://schemas.microsoft.com/office/powerpoint/2010/main" val="2038927438"/>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标题占位符 1">
            <a:extLst>
              <a:ext uri="{FF2B5EF4-FFF2-40B4-BE49-F238E27FC236}">
                <a16:creationId xmlns:a16="http://schemas.microsoft.com/office/drawing/2014/main" id="{DF090DCB-FD10-40BD-9948-2F76B66CF832}"/>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a:t>单击此处编辑母版标题样式</a:t>
            </a:r>
          </a:p>
        </p:txBody>
      </p:sp>
      <p:sp>
        <p:nvSpPr>
          <p:cNvPr id="3" name="文本占位符 2">
            <a:extLst>
              <a:ext uri="{FF2B5EF4-FFF2-40B4-BE49-F238E27FC236}">
                <a16:creationId xmlns:a16="http://schemas.microsoft.com/office/drawing/2014/main" id="{D628F3CC-B05C-439C-84A5-72E54FAF1CCA}"/>
              </a:ext>
            </a:extLst>
          </p:cNvPr>
          <p:cNvSpPr>
            <a:spLocks noGrp="1"/>
          </p:cNvSpPr>
          <p:nvPr>
            <p:ph type="body" idx="1"/>
          </p:nvPr>
        </p:nvSpPr>
        <p:spPr>
          <a:xfrm>
            <a:off x="838200" y="1825625"/>
            <a:ext cx="10515600" cy="4351339"/>
          </a:xfrm>
          <a:prstGeom prst="rect">
            <a:avLst/>
          </a:prstGeom>
        </p:spPr>
        <p:txBody>
          <a:bodyPr vert="horz" lIns="91440" tIns="45720" rIns="91440" bIns="45720" rtlCol="0">
            <a:normAutofit/>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a:extLst>
              <a:ext uri="{FF2B5EF4-FFF2-40B4-BE49-F238E27FC236}">
                <a16:creationId xmlns:a16="http://schemas.microsoft.com/office/drawing/2014/main" id="{7E76DE44-9246-41A6-AE1C-522361ECD28D}"/>
              </a:ext>
            </a:extLst>
          </p:cNvPr>
          <p:cNvSpPr>
            <a:spLocks noGrp="1"/>
          </p:cNvSpPr>
          <p:nvPr>
            <p:ph type="dt" sz="half" idx="2"/>
          </p:nvPr>
        </p:nvSpPr>
        <p:spPr>
          <a:xfrm>
            <a:off x="838200" y="6356351"/>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42DF1591-7B17-44A4-9EBB-127D5B0D0BCE}" type="datetimeFigureOut">
              <a:rPr lang="zh-CN" altLang="en-US" smtClean="0"/>
              <a:t>2026/9/27</a:t>
            </a:fld>
            <a:endParaRPr lang="zh-CN" altLang="en-US"/>
          </a:p>
        </p:txBody>
      </p:sp>
      <p:sp>
        <p:nvSpPr>
          <p:cNvPr id="5" name="页脚占位符 4">
            <a:extLst>
              <a:ext uri="{FF2B5EF4-FFF2-40B4-BE49-F238E27FC236}">
                <a16:creationId xmlns:a16="http://schemas.microsoft.com/office/drawing/2014/main" id="{77653BA1-0862-4129-A790-802B5629EF7B}"/>
              </a:ext>
            </a:extLst>
          </p:cNvPr>
          <p:cNvSpPr>
            <a:spLocks noGrp="1"/>
          </p:cNvSpPr>
          <p:nvPr>
            <p:ph type="ftr" sz="quarter" idx="3"/>
          </p:nvPr>
        </p:nvSpPr>
        <p:spPr>
          <a:xfrm>
            <a:off x="4038600" y="6356351"/>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zh-CN" altLang="en-US"/>
          </a:p>
        </p:txBody>
      </p:sp>
      <p:sp>
        <p:nvSpPr>
          <p:cNvPr id="6" name="灯片编号占位符 5">
            <a:extLst>
              <a:ext uri="{FF2B5EF4-FFF2-40B4-BE49-F238E27FC236}">
                <a16:creationId xmlns:a16="http://schemas.microsoft.com/office/drawing/2014/main" id="{126B85CA-F4B1-4285-BD68-7179525485CA}"/>
              </a:ext>
            </a:extLst>
          </p:cNvPr>
          <p:cNvSpPr>
            <a:spLocks noGrp="1"/>
          </p:cNvSpPr>
          <p:nvPr>
            <p:ph type="sldNum" sz="quarter" idx="4"/>
          </p:nvPr>
        </p:nvSpPr>
        <p:spPr>
          <a:xfrm>
            <a:off x="8610600" y="6356351"/>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E402A9A3-453A-49B5-B529-04D288922142}" type="slidenum">
              <a:rPr lang="zh-CN" altLang="en-US" smtClean="0"/>
              <a:t>‹#›</a:t>
            </a:fld>
            <a:endParaRPr lang="zh-CN" altLang="en-US"/>
          </a:p>
        </p:txBody>
      </p:sp>
    </p:spTree>
    <p:extLst>
      <p:ext uri="{BB962C8B-B14F-4D97-AF65-F5344CB8AC3E}">
        <p14:creationId xmlns:p14="http://schemas.microsoft.com/office/powerpoint/2010/main" val="773401167"/>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7.xml"/></Relationships>
</file>

<file path=ppt/slides/_rels/slide2.xml.rels><?xml version="1.0" encoding="UTF-8" standalone="yes"?>
<Relationships xmlns="http://schemas.openxmlformats.org/package/2006/relationships"><Relationship Id="rId3" Type="http://schemas.openxmlformats.org/officeDocument/2006/relationships/comments" Target="../comments/comment1.xml"/><Relationship Id="rId2" Type="http://schemas.openxmlformats.org/officeDocument/2006/relationships/notesSlide" Target="../notesSlides/notesSlide2.xml"/><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xml"/><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xml"/><Relationship Id="rId1" Type="http://schemas.openxmlformats.org/officeDocument/2006/relationships/slideLayout" Target="../slideLayouts/slideLayout7.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s/_rels/slide5.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5.xml"/><Relationship Id="rId1" Type="http://schemas.openxmlformats.org/officeDocument/2006/relationships/slideLayout" Target="../slideLayouts/slideLayout7.xml"/><Relationship Id="rId4" Type="http://schemas.openxmlformats.org/officeDocument/2006/relationships/image" Target="../media/image7.jpg"/></Relationships>
</file>

<file path=ppt/slides/_rels/slide6.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6.xml"/><Relationship Id="rId1" Type="http://schemas.openxmlformats.org/officeDocument/2006/relationships/slideLayout" Target="../slideLayouts/slideLayout7.xml"/><Relationship Id="rId5" Type="http://schemas.openxmlformats.org/officeDocument/2006/relationships/image" Target="../media/image10.png"/><Relationship Id="rId4" Type="http://schemas.openxmlformats.org/officeDocument/2006/relationships/image" Target="../media/image9.png"/></Relationships>
</file>

<file path=ppt/slides/_rels/slide7.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7.xml"/><Relationship Id="rId1" Type="http://schemas.openxmlformats.org/officeDocument/2006/relationships/slideLayout" Target="../slideLayouts/slideLayout7.xml"/><Relationship Id="rId6" Type="http://schemas.openxmlformats.org/officeDocument/2006/relationships/image" Target="../media/image14.png"/><Relationship Id="rId5" Type="http://schemas.openxmlformats.org/officeDocument/2006/relationships/image" Target="../media/image13.png"/><Relationship Id="rId4" Type="http://schemas.openxmlformats.org/officeDocument/2006/relationships/image" Target="../media/image12.png"/></Relationships>
</file>

<file path=ppt/slides/_rels/slide8.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8.xml"/><Relationship Id="rId1" Type="http://schemas.openxmlformats.org/officeDocument/2006/relationships/slideLayout" Target="../slideLayouts/slideLayout7.xml"/><Relationship Id="rId5" Type="http://schemas.openxmlformats.org/officeDocument/2006/relationships/image" Target="../media/image17.png"/><Relationship Id="rId4" Type="http://schemas.openxmlformats.org/officeDocument/2006/relationships/image" Target="../media/image16.png"/></Relationships>
</file>

<file path=ppt/slides/_rels/slide9.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notesSlide" Target="../notesSlides/notesSlide9.xml"/><Relationship Id="rId1" Type="http://schemas.openxmlformats.org/officeDocument/2006/relationships/slideLayout" Target="../slideLayouts/slideLayout7.xml"/><Relationship Id="rId4" Type="http://schemas.openxmlformats.org/officeDocument/2006/relationships/image" Target="../media/image19.png"/></Relationships>
</file>

<file path=ppt/slides/_rels/slide10.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10.xml"/><Relationship Id="rId1" Type="http://schemas.openxmlformats.org/officeDocument/2006/relationships/slideLayout" Target="../slideLayouts/slideLayout7.xml"/><Relationship Id="rId4" Type="http://schemas.openxmlformats.org/officeDocument/2006/relationships/image" Target="../media/image21.png"/></Relationships>
</file>

<file path=ppt/slides/_rels/slide11.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11.xml"/><Relationship Id="rId1" Type="http://schemas.openxmlformats.org/officeDocument/2006/relationships/slideLayout" Target="../slideLayouts/slideLayout7.xml"/><Relationship Id="rId4" Type="http://schemas.openxmlformats.org/officeDocument/2006/relationships/image" Target="../media/image23.png"/></Relationships>
</file>

<file path=ppt/slides/_rels/slide1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2.xml"/><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4.xml"/><Relationship Id="rId1" Type="http://schemas.openxmlformats.org/officeDocument/2006/relationships/slideLayout" Target="../slideLayouts/slideLayout7.xml"/><Relationship Id="rId5" Type="http://schemas.openxmlformats.org/officeDocument/2006/relationships/image" Target="../media/image27.jpg"/><Relationship Id="rId4" Type="http://schemas.openxmlformats.org/officeDocument/2006/relationships/image" Target="../media/image26.png"/></Relationships>
</file>

<file path=ppt/slides/_rels/slide15.xml.rels><?xml version="1.0" encoding="UTF-8" standalone="yes"?>
<Relationships xmlns="http://schemas.openxmlformats.org/package/2006/relationships"><Relationship Id="rId3" Type="http://schemas.openxmlformats.org/officeDocument/2006/relationships/image" Target="../media/image28.jpg"/><Relationship Id="rId2" Type="http://schemas.openxmlformats.org/officeDocument/2006/relationships/notesSlide" Target="../notesSlides/notesSlide15.xml"/><Relationship Id="rId1" Type="http://schemas.openxmlformats.org/officeDocument/2006/relationships/slideLayout" Target="../slideLayouts/slideLayout7.xml"/><Relationship Id="rId5" Type="http://schemas.openxmlformats.org/officeDocument/2006/relationships/image" Target="../media/image30.jpg"/><Relationship Id="rId4" Type="http://schemas.openxmlformats.org/officeDocument/2006/relationships/image" Target="../media/image29.jpg"/></Relationships>
</file>

<file path=ppt/slides/_rels/slide16.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16.xml"/><Relationship Id="rId1" Type="http://schemas.openxmlformats.org/officeDocument/2006/relationships/slideLayout" Target="../slideLayouts/slideLayout7.xml"/><Relationship Id="rId5" Type="http://schemas.openxmlformats.org/officeDocument/2006/relationships/image" Target="../media/image32.jpg"/><Relationship Id="rId4" Type="http://schemas.openxmlformats.org/officeDocument/2006/relationships/image" Target="../media/image31.jpg"/></Relationships>
</file>

<file path=ppt/slides/_rels/slide17.xml.rels><?xml version="1.0" encoding="UTF-8" standalone="yes"?>
<Relationships xmlns="http://schemas.openxmlformats.org/package/2006/relationships"><Relationship Id="rId3" Type="http://schemas.openxmlformats.org/officeDocument/2006/relationships/image" Target="../media/image33.jpg"/><Relationship Id="rId2" Type="http://schemas.openxmlformats.org/officeDocument/2006/relationships/notesSlide" Target="../notesSlides/notesSlide17.xml"/><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18.xml"/><Relationship Id="rId1" Type="http://schemas.openxmlformats.org/officeDocument/2006/relationships/slideLayout" Target="../slideLayouts/slideLayout7.xml"/><Relationship Id="rId4" Type="http://schemas.openxmlformats.org/officeDocument/2006/relationships/image" Target="../media/image34.png"/></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notesSlide" Target="../notesSlides/notesSlide20.xml"/><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21.xml"/><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22.xml"/><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23.xml"/><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3" Type="http://schemas.openxmlformats.org/officeDocument/2006/relationships/image" Target="../media/image38.jpg"/><Relationship Id="rId2" Type="http://schemas.openxmlformats.org/officeDocument/2006/relationships/notesSlide" Target="../notesSlides/notesSlide25.xml"/><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7.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rgbClr val="7F2C8B"/>
        </a:solidFill>
        <a:effectLst/>
      </p:bgPr>
    </p:bg>
    <p:spTree>
      <p:nvGrpSpPr>
        <p:cNvPr id="1" name=""/>
        <p:cNvGrpSpPr/>
        <p:nvPr/>
      </p:nvGrpSpPr>
      <p:grpSpPr>
        <a:xfrm>
          <a:off x="0" y="0"/>
          <a:ext cx="0" cy="0"/>
          <a:chOff x="0" y="0"/>
          <a:chExt cx="0" cy="0"/>
        </a:xfrm>
      </p:grpSpPr>
      <p:sp>
        <p:nvSpPr>
          <p:cNvPr id="6" name="五边形 5">
            <a:extLst>
              <a:ext uri="{FF2B5EF4-FFF2-40B4-BE49-F238E27FC236}">
                <a16:creationId xmlns:a16="http://schemas.microsoft.com/office/drawing/2014/main" id="{C1D47CEC-DBE9-4FEE-8BFB-0BB8C017CB01}"/>
              </a:ext>
            </a:extLst>
          </p:cNvPr>
          <p:cNvSpPr/>
          <p:nvPr/>
        </p:nvSpPr>
        <p:spPr>
          <a:xfrm>
            <a:off x="-15870" y="5314526"/>
            <a:ext cx="12212891" cy="1591957"/>
          </a:xfrm>
          <a:custGeom>
            <a:avLst/>
            <a:gdLst>
              <a:gd name="connsiteX0" fmla="*/ 4 w 3514725"/>
              <a:gd name="connsiteY0" fmla="*/ 462054 h 1209675"/>
              <a:gd name="connsiteX1" fmla="*/ 1757363 w 3514725"/>
              <a:gd name="connsiteY1" fmla="*/ 0 h 1209675"/>
              <a:gd name="connsiteX2" fmla="*/ 3514721 w 3514725"/>
              <a:gd name="connsiteY2" fmla="*/ 462054 h 1209675"/>
              <a:gd name="connsiteX3" fmla="*/ 2843470 w 3514725"/>
              <a:gd name="connsiteY3" fmla="*/ 1209672 h 1209675"/>
              <a:gd name="connsiteX4" fmla="*/ 671255 w 3514725"/>
              <a:gd name="connsiteY4" fmla="*/ 1209672 h 1209675"/>
              <a:gd name="connsiteX5" fmla="*/ 4 w 3514725"/>
              <a:gd name="connsiteY5" fmla="*/ 462054 h 1209675"/>
              <a:gd name="connsiteX0" fmla="*/ 0 w 3767134"/>
              <a:gd name="connsiteY0" fmla="*/ 328704 h 1076322"/>
              <a:gd name="connsiteX1" fmla="*/ 3767134 w 3767134"/>
              <a:gd name="connsiteY1" fmla="*/ 0 h 1076322"/>
              <a:gd name="connsiteX2" fmla="*/ 3514717 w 3767134"/>
              <a:gd name="connsiteY2" fmla="*/ 328704 h 1076322"/>
              <a:gd name="connsiteX3" fmla="*/ 2843466 w 3767134"/>
              <a:gd name="connsiteY3" fmla="*/ 1076322 h 1076322"/>
              <a:gd name="connsiteX4" fmla="*/ 671251 w 3767134"/>
              <a:gd name="connsiteY4" fmla="*/ 1076322 h 1076322"/>
              <a:gd name="connsiteX5" fmla="*/ 0 w 3767134"/>
              <a:gd name="connsiteY5" fmla="*/ 328704 h 1076322"/>
              <a:gd name="connsiteX0" fmla="*/ 0 w 9368091"/>
              <a:gd name="connsiteY0" fmla="*/ 328704 h 1504947"/>
              <a:gd name="connsiteX1" fmla="*/ 3767134 w 9368091"/>
              <a:gd name="connsiteY1" fmla="*/ 0 h 1504947"/>
              <a:gd name="connsiteX2" fmla="*/ 3514717 w 9368091"/>
              <a:gd name="connsiteY2" fmla="*/ 328704 h 1504947"/>
              <a:gd name="connsiteX3" fmla="*/ 9368091 w 9368091"/>
              <a:gd name="connsiteY3" fmla="*/ 1504947 h 1504947"/>
              <a:gd name="connsiteX4" fmla="*/ 671251 w 9368091"/>
              <a:gd name="connsiteY4" fmla="*/ 1076322 h 1504947"/>
              <a:gd name="connsiteX5" fmla="*/ 0 w 9368091"/>
              <a:gd name="connsiteY5" fmla="*/ 328704 h 1504947"/>
              <a:gd name="connsiteX0" fmla="*/ 0 w 9368091"/>
              <a:gd name="connsiteY0" fmla="*/ 657225 h 1833468"/>
              <a:gd name="connsiteX1" fmla="*/ 3767134 w 9368091"/>
              <a:gd name="connsiteY1" fmla="*/ 328521 h 1833468"/>
              <a:gd name="connsiteX2" fmla="*/ 9363067 w 9368091"/>
              <a:gd name="connsiteY2" fmla="*/ 0 h 1833468"/>
              <a:gd name="connsiteX3" fmla="*/ 9368091 w 9368091"/>
              <a:gd name="connsiteY3" fmla="*/ 1833468 h 1833468"/>
              <a:gd name="connsiteX4" fmla="*/ 671251 w 9368091"/>
              <a:gd name="connsiteY4" fmla="*/ 1404843 h 1833468"/>
              <a:gd name="connsiteX5" fmla="*/ 0 w 9368091"/>
              <a:gd name="connsiteY5" fmla="*/ 657225 h 1833468"/>
              <a:gd name="connsiteX0" fmla="*/ 0 w 11349291"/>
              <a:gd name="connsiteY0" fmla="*/ 0 h 1852518"/>
              <a:gd name="connsiteX1" fmla="*/ 5748334 w 11349291"/>
              <a:gd name="connsiteY1" fmla="*/ 347571 h 1852518"/>
              <a:gd name="connsiteX2" fmla="*/ 11344267 w 11349291"/>
              <a:gd name="connsiteY2" fmla="*/ 19050 h 1852518"/>
              <a:gd name="connsiteX3" fmla="*/ 11349291 w 11349291"/>
              <a:gd name="connsiteY3" fmla="*/ 1852518 h 1852518"/>
              <a:gd name="connsiteX4" fmla="*/ 2652451 w 11349291"/>
              <a:gd name="connsiteY4" fmla="*/ 1423893 h 1852518"/>
              <a:gd name="connsiteX5" fmla="*/ 0 w 11349291"/>
              <a:gd name="connsiteY5" fmla="*/ 0 h 1852518"/>
              <a:gd name="connsiteX0" fmla="*/ 24074 w 11373365"/>
              <a:gd name="connsiteY0" fmla="*/ 0 h 1890618"/>
              <a:gd name="connsiteX1" fmla="*/ 5772408 w 11373365"/>
              <a:gd name="connsiteY1" fmla="*/ 347571 h 1890618"/>
              <a:gd name="connsiteX2" fmla="*/ 11368341 w 11373365"/>
              <a:gd name="connsiteY2" fmla="*/ 19050 h 1890618"/>
              <a:gd name="connsiteX3" fmla="*/ 11373365 w 11373365"/>
              <a:gd name="connsiteY3" fmla="*/ 1852518 h 1890618"/>
              <a:gd name="connsiteX4" fmla="*/ 0 w 11373365"/>
              <a:gd name="connsiteY4" fmla="*/ 1890618 h 1890618"/>
              <a:gd name="connsiteX5" fmla="*/ 24074 w 11373365"/>
              <a:gd name="connsiteY5" fmla="*/ 0 h 1890618"/>
              <a:gd name="connsiteX0" fmla="*/ 24074 w 11787446"/>
              <a:gd name="connsiteY0" fmla="*/ 0 h 1890618"/>
              <a:gd name="connsiteX1" fmla="*/ 5772408 w 11787446"/>
              <a:gd name="connsiteY1" fmla="*/ 347571 h 1890618"/>
              <a:gd name="connsiteX2" fmla="*/ 11787441 w 11787446"/>
              <a:gd name="connsiteY2" fmla="*/ 47625 h 1890618"/>
              <a:gd name="connsiteX3" fmla="*/ 11373365 w 11787446"/>
              <a:gd name="connsiteY3" fmla="*/ 1852518 h 1890618"/>
              <a:gd name="connsiteX4" fmla="*/ 0 w 11787446"/>
              <a:gd name="connsiteY4" fmla="*/ 1890618 h 1890618"/>
              <a:gd name="connsiteX5" fmla="*/ 24074 w 11787446"/>
              <a:gd name="connsiteY5" fmla="*/ 0 h 1890618"/>
              <a:gd name="connsiteX0" fmla="*/ 24074 w 11859140"/>
              <a:gd name="connsiteY0" fmla="*/ 0 h 1890618"/>
              <a:gd name="connsiteX1" fmla="*/ 5772408 w 11859140"/>
              <a:gd name="connsiteY1" fmla="*/ 347571 h 1890618"/>
              <a:gd name="connsiteX2" fmla="*/ 11787441 w 11859140"/>
              <a:gd name="connsiteY2" fmla="*/ 47625 h 1890618"/>
              <a:gd name="connsiteX3" fmla="*/ 11859140 w 11859140"/>
              <a:gd name="connsiteY3" fmla="*/ 1852518 h 1890618"/>
              <a:gd name="connsiteX4" fmla="*/ 0 w 11859140"/>
              <a:gd name="connsiteY4" fmla="*/ 1890618 h 1890618"/>
              <a:gd name="connsiteX5" fmla="*/ 24074 w 11859140"/>
              <a:gd name="connsiteY5" fmla="*/ 0 h 1890618"/>
              <a:gd name="connsiteX0" fmla="*/ 24074 w 11892272"/>
              <a:gd name="connsiteY0" fmla="*/ 0 h 1890618"/>
              <a:gd name="connsiteX1" fmla="*/ 5772408 w 11892272"/>
              <a:gd name="connsiteY1" fmla="*/ 347571 h 1890618"/>
              <a:gd name="connsiteX2" fmla="*/ 11892216 w 11892272"/>
              <a:gd name="connsiteY2" fmla="*/ 47625 h 1890618"/>
              <a:gd name="connsiteX3" fmla="*/ 11859140 w 11892272"/>
              <a:gd name="connsiteY3" fmla="*/ 1852518 h 1890618"/>
              <a:gd name="connsiteX4" fmla="*/ 0 w 11892272"/>
              <a:gd name="connsiteY4" fmla="*/ 1890618 h 1890618"/>
              <a:gd name="connsiteX5" fmla="*/ 24074 w 11892272"/>
              <a:gd name="connsiteY5" fmla="*/ 0 h 1890618"/>
              <a:gd name="connsiteX0" fmla="*/ 24074 w 11897240"/>
              <a:gd name="connsiteY0" fmla="*/ 0 h 1890618"/>
              <a:gd name="connsiteX1" fmla="*/ 5772408 w 11897240"/>
              <a:gd name="connsiteY1" fmla="*/ 347571 h 1890618"/>
              <a:gd name="connsiteX2" fmla="*/ 11892216 w 11897240"/>
              <a:gd name="connsiteY2" fmla="*/ 47625 h 1890618"/>
              <a:gd name="connsiteX3" fmla="*/ 11897240 w 11897240"/>
              <a:gd name="connsiteY3" fmla="*/ 1862043 h 1890618"/>
              <a:gd name="connsiteX4" fmla="*/ 0 w 11897240"/>
              <a:gd name="connsiteY4" fmla="*/ 1890618 h 1890618"/>
              <a:gd name="connsiteX5" fmla="*/ 24074 w 11897240"/>
              <a:gd name="connsiteY5" fmla="*/ 0 h 1890618"/>
              <a:gd name="connsiteX0" fmla="*/ 0 w 12187491"/>
              <a:gd name="connsiteY0" fmla="*/ 0 h 1881093"/>
              <a:gd name="connsiteX1" fmla="*/ 6062659 w 12187491"/>
              <a:gd name="connsiteY1" fmla="*/ 338046 h 1881093"/>
              <a:gd name="connsiteX2" fmla="*/ 12182467 w 12187491"/>
              <a:gd name="connsiteY2" fmla="*/ 38100 h 1881093"/>
              <a:gd name="connsiteX3" fmla="*/ 12187491 w 12187491"/>
              <a:gd name="connsiteY3" fmla="*/ 1852518 h 1881093"/>
              <a:gd name="connsiteX4" fmla="*/ 290251 w 12187491"/>
              <a:gd name="connsiteY4" fmla="*/ 1881093 h 1881093"/>
              <a:gd name="connsiteX5" fmla="*/ 0 w 12187491"/>
              <a:gd name="connsiteY5" fmla="*/ 0 h 1881093"/>
              <a:gd name="connsiteX0" fmla="*/ 24074 w 12211565"/>
              <a:gd name="connsiteY0" fmla="*/ 0 h 1900143"/>
              <a:gd name="connsiteX1" fmla="*/ 6086733 w 12211565"/>
              <a:gd name="connsiteY1" fmla="*/ 338046 h 1900143"/>
              <a:gd name="connsiteX2" fmla="*/ 12206541 w 12211565"/>
              <a:gd name="connsiteY2" fmla="*/ 38100 h 1900143"/>
              <a:gd name="connsiteX3" fmla="*/ 12211565 w 12211565"/>
              <a:gd name="connsiteY3" fmla="*/ 1852518 h 1900143"/>
              <a:gd name="connsiteX4" fmla="*/ 0 w 12211565"/>
              <a:gd name="connsiteY4" fmla="*/ 1900143 h 1900143"/>
              <a:gd name="connsiteX5" fmla="*/ 24074 w 12211565"/>
              <a:gd name="connsiteY5" fmla="*/ 0 h 1900143"/>
              <a:gd name="connsiteX0" fmla="*/ 24074 w 12211565"/>
              <a:gd name="connsiteY0" fmla="*/ 0 h 1900143"/>
              <a:gd name="connsiteX1" fmla="*/ 6181983 w 12211565"/>
              <a:gd name="connsiteY1" fmla="*/ 1166721 h 1900143"/>
              <a:gd name="connsiteX2" fmla="*/ 12206541 w 12211565"/>
              <a:gd name="connsiteY2" fmla="*/ 38100 h 1900143"/>
              <a:gd name="connsiteX3" fmla="*/ 12211565 w 12211565"/>
              <a:gd name="connsiteY3" fmla="*/ 1852518 h 1900143"/>
              <a:gd name="connsiteX4" fmla="*/ 0 w 12211565"/>
              <a:gd name="connsiteY4" fmla="*/ 1900143 h 1900143"/>
              <a:gd name="connsiteX5" fmla="*/ 24074 w 12211565"/>
              <a:gd name="connsiteY5" fmla="*/ 0 h 1900143"/>
              <a:gd name="connsiteX0" fmla="*/ 24074 w 12211565"/>
              <a:gd name="connsiteY0" fmla="*/ 0 h 1900143"/>
              <a:gd name="connsiteX1" fmla="*/ 6134358 w 12211565"/>
              <a:gd name="connsiteY1" fmla="*/ 471396 h 1900143"/>
              <a:gd name="connsiteX2" fmla="*/ 12206541 w 12211565"/>
              <a:gd name="connsiteY2" fmla="*/ 38100 h 1900143"/>
              <a:gd name="connsiteX3" fmla="*/ 12211565 w 12211565"/>
              <a:gd name="connsiteY3" fmla="*/ 1852518 h 1900143"/>
              <a:gd name="connsiteX4" fmla="*/ 0 w 12211565"/>
              <a:gd name="connsiteY4" fmla="*/ 1900143 h 1900143"/>
              <a:gd name="connsiteX5" fmla="*/ 24074 w 12211565"/>
              <a:gd name="connsiteY5" fmla="*/ 0 h 1900143"/>
              <a:gd name="connsiteX0" fmla="*/ 24074 w 12211565"/>
              <a:gd name="connsiteY0" fmla="*/ 0 h 1900143"/>
              <a:gd name="connsiteX1" fmla="*/ 6134358 w 12211565"/>
              <a:gd name="connsiteY1" fmla="*/ 471396 h 1900143"/>
              <a:gd name="connsiteX2" fmla="*/ 12206541 w 12211565"/>
              <a:gd name="connsiteY2" fmla="*/ 38100 h 1900143"/>
              <a:gd name="connsiteX3" fmla="*/ 12211565 w 12211565"/>
              <a:gd name="connsiteY3" fmla="*/ 1852518 h 1900143"/>
              <a:gd name="connsiteX4" fmla="*/ 0 w 12211565"/>
              <a:gd name="connsiteY4" fmla="*/ 1900143 h 1900143"/>
              <a:gd name="connsiteX5" fmla="*/ 24074 w 12211565"/>
              <a:gd name="connsiteY5" fmla="*/ 0 h 1900143"/>
              <a:gd name="connsiteX0" fmla="*/ 24074 w 12211565"/>
              <a:gd name="connsiteY0" fmla="*/ 0 h 1900143"/>
              <a:gd name="connsiteX1" fmla="*/ 6134358 w 12211565"/>
              <a:gd name="connsiteY1" fmla="*/ 471396 h 1900143"/>
              <a:gd name="connsiteX2" fmla="*/ 12206541 w 12211565"/>
              <a:gd name="connsiteY2" fmla="*/ 38100 h 1900143"/>
              <a:gd name="connsiteX3" fmla="*/ 12211565 w 12211565"/>
              <a:gd name="connsiteY3" fmla="*/ 1852518 h 1900143"/>
              <a:gd name="connsiteX4" fmla="*/ 0 w 12211565"/>
              <a:gd name="connsiteY4" fmla="*/ 1900143 h 1900143"/>
              <a:gd name="connsiteX5" fmla="*/ 24074 w 12211565"/>
              <a:gd name="connsiteY5" fmla="*/ 0 h 1900143"/>
              <a:gd name="connsiteX0" fmla="*/ 0 w 12212891"/>
              <a:gd name="connsiteY0" fmla="*/ 0 h 1931715"/>
              <a:gd name="connsiteX1" fmla="*/ 6135684 w 12212891"/>
              <a:gd name="connsiteY1" fmla="*/ 502968 h 1931715"/>
              <a:gd name="connsiteX2" fmla="*/ 12207867 w 12212891"/>
              <a:gd name="connsiteY2" fmla="*/ 69672 h 1931715"/>
              <a:gd name="connsiteX3" fmla="*/ 12212891 w 12212891"/>
              <a:gd name="connsiteY3" fmla="*/ 1884090 h 1931715"/>
              <a:gd name="connsiteX4" fmla="*/ 1326 w 12212891"/>
              <a:gd name="connsiteY4" fmla="*/ 1931715 h 1931715"/>
              <a:gd name="connsiteX5" fmla="*/ 0 w 12212891"/>
              <a:gd name="connsiteY5" fmla="*/ 0 h 1931715"/>
              <a:gd name="connsiteX0" fmla="*/ 0 w 12212891"/>
              <a:gd name="connsiteY0" fmla="*/ 0 h 1978807"/>
              <a:gd name="connsiteX1" fmla="*/ 6135684 w 12212891"/>
              <a:gd name="connsiteY1" fmla="*/ 502968 h 1978807"/>
              <a:gd name="connsiteX2" fmla="*/ 12207867 w 12212891"/>
              <a:gd name="connsiteY2" fmla="*/ 69672 h 1978807"/>
              <a:gd name="connsiteX3" fmla="*/ 12212891 w 12212891"/>
              <a:gd name="connsiteY3" fmla="*/ 1978807 h 1978807"/>
              <a:gd name="connsiteX4" fmla="*/ 1326 w 12212891"/>
              <a:gd name="connsiteY4" fmla="*/ 1931715 h 1978807"/>
              <a:gd name="connsiteX5" fmla="*/ 0 w 12212891"/>
              <a:gd name="connsiteY5" fmla="*/ 0 h 1978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12891" h="1978807">
                <a:moveTo>
                  <a:pt x="0" y="0"/>
                </a:moveTo>
                <a:cubicBezTo>
                  <a:pt x="2036761" y="157132"/>
                  <a:pt x="5470523" y="-216139"/>
                  <a:pt x="6135684" y="502968"/>
                </a:cubicBezTo>
                <a:cubicBezTo>
                  <a:pt x="6578595" y="-270114"/>
                  <a:pt x="10183806" y="214104"/>
                  <a:pt x="12207867" y="69672"/>
                </a:cubicBezTo>
                <a:cubicBezTo>
                  <a:pt x="12209542" y="680828"/>
                  <a:pt x="12211216" y="1367651"/>
                  <a:pt x="12212891" y="1978807"/>
                </a:cubicBezTo>
                <a:lnTo>
                  <a:pt x="1326" y="1931715"/>
                </a:lnTo>
                <a:lnTo>
                  <a:pt x="0"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grpSp>
        <p:nvGrpSpPr>
          <p:cNvPr id="10" name="组合 9">
            <a:extLst>
              <a:ext uri="{FF2B5EF4-FFF2-40B4-BE49-F238E27FC236}">
                <a16:creationId xmlns:a16="http://schemas.microsoft.com/office/drawing/2014/main" id="{B4A7B579-EFD6-4336-81C5-A3BC1EF96974}"/>
              </a:ext>
            </a:extLst>
          </p:cNvPr>
          <p:cNvGrpSpPr/>
          <p:nvPr/>
        </p:nvGrpSpPr>
        <p:grpSpPr>
          <a:xfrm>
            <a:off x="-14544" y="5055308"/>
            <a:ext cx="12221088" cy="518435"/>
            <a:chOff x="-14544" y="4884668"/>
            <a:chExt cx="12221088" cy="586767"/>
          </a:xfrm>
          <a:solidFill>
            <a:schemeClr val="bg1"/>
          </a:solidFill>
        </p:grpSpPr>
        <p:sp>
          <p:nvSpPr>
            <p:cNvPr id="9" name="矩形 8">
              <a:extLst>
                <a:ext uri="{FF2B5EF4-FFF2-40B4-BE49-F238E27FC236}">
                  <a16:creationId xmlns:a16="http://schemas.microsoft.com/office/drawing/2014/main" id="{33BD8383-C15C-4617-842A-25BBA0B06761}"/>
                </a:ext>
              </a:extLst>
            </p:cNvPr>
            <p:cNvSpPr/>
            <p:nvPr/>
          </p:nvSpPr>
          <p:spPr>
            <a:xfrm>
              <a:off x="-14544" y="4884668"/>
              <a:ext cx="6148644" cy="586767"/>
            </a:xfrm>
            <a:custGeom>
              <a:avLst/>
              <a:gdLst>
                <a:gd name="connsiteX0" fmla="*/ 0 w 6110544"/>
                <a:gd name="connsiteY0" fmla="*/ 0 h 112035"/>
                <a:gd name="connsiteX1" fmla="*/ 6110544 w 6110544"/>
                <a:gd name="connsiteY1" fmla="*/ 0 h 112035"/>
                <a:gd name="connsiteX2" fmla="*/ 6110544 w 6110544"/>
                <a:gd name="connsiteY2" fmla="*/ 112035 h 112035"/>
                <a:gd name="connsiteX3" fmla="*/ 0 w 6110544"/>
                <a:gd name="connsiteY3" fmla="*/ 112035 h 112035"/>
                <a:gd name="connsiteX4" fmla="*/ 0 w 6110544"/>
                <a:gd name="connsiteY4" fmla="*/ 0 h 112035"/>
                <a:gd name="connsiteX0" fmla="*/ 0 w 6123244"/>
                <a:gd name="connsiteY0" fmla="*/ 0 h 594635"/>
                <a:gd name="connsiteX1" fmla="*/ 6110544 w 6123244"/>
                <a:gd name="connsiteY1" fmla="*/ 0 h 594635"/>
                <a:gd name="connsiteX2" fmla="*/ 6123244 w 6123244"/>
                <a:gd name="connsiteY2" fmla="*/ 594635 h 594635"/>
                <a:gd name="connsiteX3" fmla="*/ 0 w 6123244"/>
                <a:gd name="connsiteY3" fmla="*/ 112035 h 594635"/>
                <a:gd name="connsiteX4" fmla="*/ 0 w 6123244"/>
                <a:gd name="connsiteY4" fmla="*/ 0 h 594635"/>
                <a:gd name="connsiteX0" fmla="*/ 0 w 6148644"/>
                <a:gd name="connsiteY0" fmla="*/ 0 h 594635"/>
                <a:gd name="connsiteX1" fmla="*/ 6148644 w 6148644"/>
                <a:gd name="connsiteY1" fmla="*/ 393700 h 594635"/>
                <a:gd name="connsiteX2" fmla="*/ 6123244 w 6148644"/>
                <a:gd name="connsiteY2" fmla="*/ 594635 h 594635"/>
                <a:gd name="connsiteX3" fmla="*/ 0 w 6148644"/>
                <a:gd name="connsiteY3" fmla="*/ 112035 h 594635"/>
                <a:gd name="connsiteX4" fmla="*/ 0 w 6148644"/>
                <a:gd name="connsiteY4" fmla="*/ 0 h 594635"/>
                <a:gd name="connsiteX0" fmla="*/ 0 w 6148644"/>
                <a:gd name="connsiteY0" fmla="*/ 0 h 594635"/>
                <a:gd name="connsiteX1" fmla="*/ 6148644 w 6148644"/>
                <a:gd name="connsiteY1" fmla="*/ 393700 h 594635"/>
                <a:gd name="connsiteX2" fmla="*/ 6123244 w 6148644"/>
                <a:gd name="connsiteY2" fmla="*/ 594635 h 594635"/>
                <a:gd name="connsiteX3" fmla="*/ 0 w 6148644"/>
                <a:gd name="connsiteY3" fmla="*/ 112035 h 594635"/>
                <a:gd name="connsiteX4" fmla="*/ 0 w 6148644"/>
                <a:gd name="connsiteY4" fmla="*/ 0 h 594635"/>
                <a:gd name="connsiteX0" fmla="*/ 0 w 6148644"/>
                <a:gd name="connsiteY0" fmla="*/ 0 h 594635"/>
                <a:gd name="connsiteX1" fmla="*/ 6148644 w 6148644"/>
                <a:gd name="connsiteY1" fmla="*/ 393700 h 594635"/>
                <a:gd name="connsiteX2" fmla="*/ 6123244 w 6148644"/>
                <a:gd name="connsiteY2" fmla="*/ 594635 h 594635"/>
                <a:gd name="connsiteX3" fmla="*/ 0 w 6148644"/>
                <a:gd name="connsiteY3" fmla="*/ 112035 h 594635"/>
                <a:gd name="connsiteX4" fmla="*/ 0 w 6148644"/>
                <a:gd name="connsiteY4" fmla="*/ 0 h 594635"/>
                <a:gd name="connsiteX0" fmla="*/ 0 w 6148644"/>
                <a:gd name="connsiteY0" fmla="*/ 42932 h 637567"/>
                <a:gd name="connsiteX1" fmla="*/ 6148644 w 6148644"/>
                <a:gd name="connsiteY1" fmla="*/ 436632 h 637567"/>
                <a:gd name="connsiteX2" fmla="*/ 6123244 w 6148644"/>
                <a:gd name="connsiteY2" fmla="*/ 637567 h 637567"/>
                <a:gd name="connsiteX3" fmla="*/ 0 w 6148644"/>
                <a:gd name="connsiteY3" fmla="*/ 154967 h 637567"/>
                <a:gd name="connsiteX4" fmla="*/ 0 w 6148644"/>
                <a:gd name="connsiteY4" fmla="*/ 42932 h 637567"/>
                <a:gd name="connsiteX0" fmla="*/ 0 w 6148644"/>
                <a:gd name="connsiteY0" fmla="*/ 42932 h 637567"/>
                <a:gd name="connsiteX1" fmla="*/ 6148644 w 6148644"/>
                <a:gd name="connsiteY1" fmla="*/ 436632 h 637567"/>
                <a:gd name="connsiteX2" fmla="*/ 6123244 w 6148644"/>
                <a:gd name="connsiteY2" fmla="*/ 637567 h 637567"/>
                <a:gd name="connsiteX3" fmla="*/ 0 w 6148644"/>
                <a:gd name="connsiteY3" fmla="*/ 154967 h 637567"/>
                <a:gd name="connsiteX4" fmla="*/ 0 w 6148644"/>
                <a:gd name="connsiteY4" fmla="*/ 42932 h 637567"/>
                <a:gd name="connsiteX0" fmla="*/ 0 w 6148644"/>
                <a:gd name="connsiteY0" fmla="*/ 42932 h 586767"/>
                <a:gd name="connsiteX1" fmla="*/ 6148644 w 6148644"/>
                <a:gd name="connsiteY1" fmla="*/ 436632 h 586767"/>
                <a:gd name="connsiteX2" fmla="*/ 6123244 w 6148644"/>
                <a:gd name="connsiteY2" fmla="*/ 586767 h 586767"/>
                <a:gd name="connsiteX3" fmla="*/ 0 w 6148644"/>
                <a:gd name="connsiteY3" fmla="*/ 154967 h 586767"/>
                <a:gd name="connsiteX4" fmla="*/ 0 w 6148644"/>
                <a:gd name="connsiteY4" fmla="*/ 42932 h 586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48644" h="586767">
                  <a:moveTo>
                    <a:pt x="0" y="42932"/>
                  </a:moveTo>
                  <a:cubicBezTo>
                    <a:pt x="2049548" y="174165"/>
                    <a:pt x="4340396" y="-329601"/>
                    <a:pt x="6148644" y="436632"/>
                  </a:cubicBezTo>
                  <a:lnTo>
                    <a:pt x="6123244" y="586767"/>
                  </a:lnTo>
                  <a:cubicBezTo>
                    <a:pt x="4399663" y="-272600"/>
                    <a:pt x="2041081" y="315834"/>
                    <a:pt x="0" y="154967"/>
                  </a:cubicBezTo>
                  <a:lnTo>
                    <a:pt x="0" y="42932"/>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11" name="矩形 8">
              <a:extLst>
                <a:ext uri="{FF2B5EF4-FFF2-40B4-BE49-F238E27FC236}">
                  <a16:creationId xmlns:a16="http://schemas.microsoft.com/office/drawing/2014/main" id="{D1BC5F80-6D78-4082-99B6-0F1C9175A321}"/>
                </a:ext>
              </a:extLst>
            </p:cNvPr>
            <p:cNvSpPr/>
            <p:nvPr/>
          </p:nvSpPr>
          <p:spPr>
            <a:xfrm flipH="1">
              <a:off x="6057900" y="4884668"/>
              <a:ext cx="6148644" cy="586767"/>
            </a:xfrm>
            <a:custGeom>
              <a:avLst/>
              <a:gdLst>
                <a:gd name="connsiteX0" fmla="*/ 0 w 6110544"/>
                <a:gd name="connsiteY0" fmla="*/ 0 h 112035"/>
                <a:gd name="connsiteX1" fmla="*/ 6110544 w 6110544"/>
                <a:gd name="connsiteY1" fmla="*/ 0 h 112035"/>
                <a:gd name="connsiteX2" fmla="*/ 6110544 w 6110544"/>
                <a:gd name="connsiteY2" fmla="*/ 112035 h 112035"/>
                <a:gd name="connsiteX3" fmla="*/ 0 w 6110544"/>
                <a:gd name="connsiteY3" fmla="*/ 112035 h 112035"/>
                <a:gd name="connsiteX4" fmla="*/ 0 w 6110544"/>
                <a:gd name="connsiteY4" fmla="*/ 0 h 112035"/>
                <a:gd name="connsiteX0" fmla="*/ 0 w 6123244"/>
                <a:gd name="connsiteY0" fmla="*/ 0 h 594635"/>
                <a:gd name="connsiteX1" fmla="*/ 6110544 w 6123244"/>
                <a:gd name="connsiteY1" fmla="*/ 0 h 594635"/>
                <a:gd name="connsiteX2" fmla="*/ 6123244 w 6123244"/>
                <a:gd name="connsiteY2" fmla="*/ 594635 h 594635"/>
                <a:gd name="connsiteX3" fmla="*/ 0 w 6123244"/>
                <a:gd name="connsiteY3" fmla="*/ 112035 h 594635"/>
                <a:gd name="connsiteX4" fmla="*/ 0 w 6123244"/>
                <a:gd name="connsiteY4" fmla="*/ 0 h 594635"/>
                <a:gd name="connsiteX0" fmla="*/ 0 w 6148644"/>
                <a:gd name="connsiteY0" fmla="*/ 0 h 594635"/>
                <a:gd name="connsiteX1" fmla="*/ 6148644 w 6148644"/>
                <a:gd name="connsiteY1" fmla="*/ 393700 h 594635"/>
                <a:gd name="connsiteX2" fmla="*/ 6123244 w 6148644"/>
                <a:gd name="connsiteY2" fmla="*/ 594635 h 594635"/>
                <a:gd name="connsiteX3" fmla="*/ 0 w 6148644"/>
                <a:gd name="connsiteY3" fmla="*/ 112035 h 594635"/>
                <a:gd name="connsiteX4" fmla="*/ 0 w 6148644"/>
                <a:gd name="connsiteY4" fmla="*/ 0 h 594635"/>
                <a:gd name="connsiteX0" fmla="*/ 0 w 6148644"/>
                <a:gd name="connsiteY0" fmla="*/ 0 h 594635"/>
                <a:gd name="connsiteX1" fmla="*/ 6148644 w 6148644"/>
                <a:gd name="connsiteY1" fmla="*/ 393700 h 594635"/>
                <a:gd name="connsiteX2" fmla="*/ 6123244 w 6148644"/>
                <a:gd name="connsiteY2" fmla="*/ 594635 h 594635"/>
                <a:gd name="connsiteX3" fmla="*/ 0 w 6148644"/>
                <a:gd name="connsiteY3" fmla="*/ 112035 h 594635"/>
                <a:gd name="connsiteX4" fmla="*/ 0 w 6148644"/>
                <a:gd name="connsiteY4" fmla="*/ 0 h 594635"/>
                <a:gd name="connsiteX0" fmla="*/ 0 w 6148644"/>
                <a:gd name="connsiteY0" fmla="*/ 0 h 594635"/>
                <a:gd name="connsiteX1" fmla="*/ 6148644 w 6148644"/>
                <a:gd name="connsiteY1" fmla="*/ 393700 h 594635"/>
                <a:gd name="connsiteX2" fmla="*/ 6123244 w 6148644"/>
                <a:gd name="connsiteY2" fmla="*/ 594635 h 594635"/>
                <a:gd name="connsiteX3" fmla="*/ 0 w 6148644"/>
                <a:gd name="connsiteY3" fmla="*/ 112035 h 594635"/>
                <a:gd name="connsiteX4" fmla="*/ 0 w 6148644"/>
                <a:gd name="connsiteY4" fmla="*/ 0 h 594635"/>
                <a:gd name="connsiteX0" fmla="*/ 0 w 6148644"/>
                <a:gd name="connsiteY0" fmla="*/ 42932 h 637567"/>
                <a:gd name="connsiteX1" fmla="*/ 6148644 w 6148644"/>
                <a:gd name="connsiteY1" fmla="*/ 436632 h 637567"/>
                <a:gd name="connsiteX2" fmla="*/ 6123244 w 6148644"/>
                <a:gd name="connsiteY2" fmla="*/ 637567 h 637567"/>
                <a:gd name="connsiteX3" fmla="*/ 0 w 6148644"/>
                <a:gd name="connsiteY3" fmla="*/ 154967 h 637567"/>
                <a:gd name="connsiteX4" fmla="*/ 0 w 6148644"/>
                <a:gd name="connsiteY4" fmla="*/ 42932 h 637567"/>
                <a:gd name="connsiteX0" fmla="*/ 0 w 6148644"/>
                <a:gd name="connsiteY0" fmla="*/ 42932 h 637567"/>
                <a:gd name="connsiteX1" fmla="*/ 6148644 w 6148644"/>
                <a:gd name="connsiteY1" fmla="*/ 436632 h 637567"/>
                <a:gd name="connsiteX2" fmla="*/ 6123244 w 6148644"/>
                <a:gd name="connsiteY2" fmla="*/ 637567 h 637567"/>
                <a:gd name="connsiteX3" fmla="*/ 0 w 6148644"/>
                <a:gd name="connsiteY3" fmla="*/ 154967 h 637567"/>
                <a:gd name="connsiteX4" fmla="*/ 0 w 6148644"/>
                <a:gd name="connsiteY4" fmla="*/ 42932 h 637567"/>
                <a:gd name="connsiteX0" fmla="*/ 0 w 6148644"/>
                <a:gd name="connsiteY0" fmla="*/ 42932 h 586767"/>
                <a:gd name="connsiteX1" fmla="*/ 6148644 w 6148644"/>
                <a:gd name="connsiteY1" fmla="*/ 436632 h 586767"/>
                <a:gd name="connsiteX2" fmla="*/ 6123244 w 6148644"/>
                <a:gd name="connsiteY2" fmla="*/ 586767 h 586767"/>
                <a:gd name="connsiteX3" fmla="*/ 0 w 6148644"/>
                <a:gd name="connsiteY3" fmla="*/ 154967 h 586767"/>
                <a:gd name="connsiteX4" fmla="*/ 0 w 6148644"/>
                <a:gd name="connsiteY4" fmla="*/ 42932 h 586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48644" h="586767">
                  <a:moveTo>
                    <a:pt x="0" y="42932"/>
                  </a:moveTo>
                  <a:cubicBezTo>
                    <a:pt x="2049548" y="174165"/>
                    <a:pt x="4340396" y="-329601"/>
                    <a:pt x="6148644" y="436632"/>
                  </a:cubicBezTo>
                  <a:lnTo>
                    <a:pt x="6123244" y="586767"/>
                  </a:lnTo>
                  <a:cubicBezTo>
                    <a:pt x="4399663" y="-272600"/>
                    <a:pt x="2041081" y="315834"/>
                    <a:pt x="0" y="154967"/>
                  </a:cubicBezTo>
                  <a:lnTo>
                    <a:pt x="0" y="42932"/>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prstClr val="white"/>
                </a:solidFill>
                <a:effectLst/>
                <a:uLnTx/>
                <a:uFillTx/>
                <a:latin typeface="等线" panose="020F0502020204030204"/>
                <a:ea typeface="等线" panose="02010600030101010101" pitchFamily="2" charset="-122"/>
                <a:cs typeface="+mn-cs"/>
              </a:endParaRPr>
            </a:p>
          </p:txBody>
        </p:sp>
      </p:grpSp>
      <p:grpSp>
        <p:nvGrpSpPr>
          <p:cNvPr id="12" name="组合 11">
            <a:extLst>
              <a:ext uri="{FF2B5EF4-FFF2-40B4-BE49-F238E27FC236}">
                <a16:creationId xmlns:a16="http://schemas.microsoft.com/office/drawing/2014/main" id="{76556DD8-C38E-4628-8165-E7FCA252E261}"/>
              </a:ext>
            </a:extLst>
          </p:cNvPr>
          <p:cNvGrpSpPr/>
          <p:nvPr/>
        </p:nvGrpSpPr>
        <p:grpSpPr>
          <a:xfrm>
            <a:off x="5112792" y="5970261"/>
            <a:ext cx="1812253" cy="614187"/>
            <a:chOff x="624303" y="901700"/>
            <a:chExt cx="10005598" cy="3390977"/>
          </a:xfrm>
          <a:solidFill>
            <a:srgbClr val="7F2C8B"/>
          </a:solidFill>
        </p:grpSpPr>
        <p:sp>
          <p:nvSpPr>
            <p:cNvPr id="35" name="Freeform 5">
              <a:extLst>
                <a:ext uri="{FF2B5EF4-FFF2-40B4-BE49-F238E27FC236}">
                  <a16:creationId xmlns:a16="http://schemas.microsoft.com/office/drawing/2014/main" id="{079C18FB-9569-454F-9DB6-91579112C437}"/>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6">
              <a:extLst>
                <a:ext uri="{FF2B5EF4-FFF2-40B4-BE49-F238E27FC236}">
                  <a16:creationId xmlns:a16="http://schemas.microsoft.com/office/drawing/2014/main" id="{C369E933-ABF5-40F4-BB55-C68B20201670}"/>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7">
              <a:extLst>
                <a:ext uri="{FF2B5EF4-FFF2-40B4-BE49-F238E27FC236}">
                  <a16:creationId xmlns:a16="http://schemas.microsoft.com/office/drawing/2014/main" id="{A2A7263D-9BAA-437F-8177-34C5C4C86273}"/>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8">
              <a:extLst>
                <a:ext uri="{FF2B5EF4-FFF2-40B4-BE49-F238E27FC236}">
                  <a16:creationId xmlns:a16="http://schemas.microsoft.com/office/drawing/2014/main" id="{F16F1558-8352-4703-B766-2808092D7323}"/>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9">
              <a:extLst>
                <a:ext uri="{FF2B5EF4-FFF2-40B4-BE49-F238E27FC236}">
                  <a16:creationId xmlns:a16="http://schemas.microsoft.com/office/drawing/2014/main" id="{9664B159-AC3D-467C-8773-5F333695ABD9}"/>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10">
              <a:extLst>
                <a:ext uri="{FF2B5EF4-FFF2-40B4-BE49-F238E27FC236}">
                  <a16:creationId xmlns:a16="http://schemas.microsoft.com/office/drawing/2014/main" id="{65713ACB-AA4D-4E0D-8F49-F09A92DD86B7}"/>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11">
              <a:extLst>
                <a:ext uri="{FF2B5EF4-FFF2-40B4-BE49-F238E27FC236}">
                  <a16:creationId xmlns:a16="http://schemas.microsoft.com/office/drawing/2014/main" id="{0FC58FB7-C9B3-425F-AF6E-943F00BC885C}"/>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12">
              <a:extLst>
                <a:ext uri="{FF2B5EF4-FFF2-40B4-BE49-F238E27FC236}">
                  <a16:creationId xmlns:a16="http://schemas.microsoft.com/office/drawing/2014/main" id="{A7CC7EB0-D7C9-4606-A2A4-36609486BE92}"/>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3" name="Freeform 13">
              <a:extLst>
                <a:ext uri="{FF2B5EF4-FFF2-40B4-BE49-F238E27FC236}">
                  <a16:creationId xmlns:a16="http://schemas.microsoft.com/office/drawing/2014/main" id="{48CA9210-C63C-44E1-9FDD-AC4888F3825C}"/>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4" name="Freeform 14">
              <a:extLst>
                <a:ext uri="{FF2B5EF4-FFF2-40B4-BE49-F238E27FC236}">
                  <a16:creationId xmlns:a16="http://schemas.microsoft.com/office/drawing/2014/main" id="{8FF09E83-5C66-4F36-A611-B938C9404533}"/>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5" name="Freeform 15">
              <a:extLst>
                <a:ext uri="{FF2B5EF4-FFF2-40B4-BE49-F238E27FC236}">
                  <a16:creationId xmlns:a16="http://schemas.microsoft.com/office/drawing/2014/main" id="{FE383459-04C8-42D8-964B-DCE52CF4F661}"/>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6" name="Freeform 16">
              <a:extLst>
                <a:ext uri="{FF2B5EF4-FFF2-40B4-BE49-F238E27FC236}">
                  <a16:creationId xmlns:a16="http://schemas.microsoft.com/office/drawing/2014/main" id="{D21E6ED8-D853-46CB-BAE8-941E01C50001}"/>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7" name="Freeform 17">
              <a:extLst>
                <a:ext uri="{FF2B5EF4-FFF2-40B4-BE49-F238E27FC236}">
                  <a16:creationId xmlns:a16="http://schemas.microsoft.com/office/drawing/2014/main" id="{4C6BEA4B-FF1A-4A94-8166-D1F3C8042CA3}"/>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8" name="Freeform 18">
              <a:extLst>
                <a:ext uri="{FF2B5EF4-FFF2-40B4-BE49-F238E27FC236}">
                  <a16:creationId xmlns:a16="http://schemas.microsoft.com/office/drawing/2014/main" id="{544DA956-99AA-4FD5-9D04-02C4F1CE00E2}"/>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9" name="Freeform 19">
              <a:extLst>
                <a:ext uri="{FF2B5EF4-FFF2-40B4-BE49-F238E27FC236}">
                  <a16:creationId xmlns:a16="http://schemas.microsoft.com/office/drawing/2014/main" id="{5E3281E6-72FC-47AC-8B71-86894852BA63}"/>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50" name="Freeform 20">
              <a:extLst>
                <a:ext uri="{FF2B5EF4-FFF2-40B4-BE49-F238E27FC236}">
                  <a16:creationId xmlns:a16="http://schemas.microsoft.com/office/drawing/2014/main" id="{A934B249-B9ED-48D9-8B28-665D03467969}"/>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51" name="Freeform 21">
              <a:extLst>
                <a:ext uri="{FF2B5EF4-FFF2-40B4-BE49-F238E27FC236}">
                  <a16:creationId xmlns:a16="http://schemas.microsoft.com/office/drawing/2014/main" id="{21852B90-3397-44AF-9A3E-BA608BF7CE7C}"/>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52" name="Freeform 22">
              <a:extLst>
                <a:ext uri="{FF2B5EF4-FFF2-40B4-BE49-F238E27FC236}">
                  <a16:creationId xmlns:a16="http://schemas.microsoft.com/office/drawing/2014/main" id="{1C94B3DB-FF5E-445F-8E98-39808394C7E6}"/>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53" name="Freeform 23">
              <a:extLst>
                <a:ext uri="{FF2B5EF4-FFF2-40B4-BE49-F238E27FC236}">
                  <a16:creationId xmlns:a16="http://schemas.microsoft.com/office/drawing/2014/main" id="{59855DC0-CD64-475B-9A7F-FC4B1CCD5A01}"/>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54" name="Freeform 24">
              <a:extLst>
                <a:ext uri="{FF2B5EF4-FFF2-40B4-BE49-F238E27FC236}">
                  <a16:creationId xmlns:a16="http://schemas.microsoft.com/office/drawing/2014/main" id="{2E550FDA-CAF8-478B-A2D8-2A0D49781979}"/>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p:sp>
        <p:nvSpPr>
          <p:cNvPr id="56" name="矩形 55">
            <a:extLst>
              <a:ext uri="{FF2B5EF4-FFF2-40B4-BE49-F238E27FC236}">
                <a16:creationId xmlns:a16="http://schemas.microsoft.com/office/drawing/2014/main" id="{2A19A531-450E-4F27-85E5-D346CB0A0B74}"/>
              </a:ext>
            </a:extLst>
          </p:cNvPr>
          <p:cNvSpPr/>
          <p:nvPr/>
        </p:nvSpPr>
        <p:spPr>
          <a:xfrm>
            <a:off x="4086607" y="1561738"/>
            <a:ext cx="4060727" cy="1508105"/>
          </a:xfrm>
          <a:prstGeom prst="rect">
            <a:avLst/>
          </a:prstGeom>
        </p:spPr>
        <p:txBody>
          <a:bodyPr wrap="none">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zh-CN" altLang="en-US" sz="3600" b="0" i="0" u="none" strike="noStrike" kern="1200" cap="none" spc="0" normalizeH="0" baseline="0" noProof="0" dirty="0">
                <a:ln>
                  <a:noFill/>
                </a:ln>
                <a:solidFill>
                  <a:prstClr val="white"/>
                </a:solidFill>
                <a:effectLst/>
                <a:uLnTx/>
                <a:uFillTx/>
                <a:latin typeface="微软雅黑 Light" panose="020B0502040204020203" pitchFamily="34" charset="-122"/>
                <a:ea typeface="微软雅黑 Light" panose="020B0502040204020203" pitchFamily="34" charset="-122"/>
                <a:cs typeface="+mn-cs"/>
              </a:rPr>
              <a:t> </a:t>
            </a:r>
            <a:r>
              <a:rPr lang="zh-CN" altLang="en-US" sz="3200" noProof="0">
                <a:solidFill>
                  <a:prstClr val="white"/>
                </a:solidFill>
                <a:latin typeface="微软雅黑 Light" panose="020B0502040204020203" pitchFamily="34" charset="-122"/>
                <a:ea typeface="微软雅黑 Light" panose="020B0502040204020203" pitchFamily="34" charset="-122"/>
              </a:rPr>
              <a:t>马克思主义基本原理</a:t>
            </a:r>
            <a:endParaRPr lang="en-US" altLang="zh-CN" sz="3200" noProof="0" dirty="0">
              <a:solidFill>
                <a:prstClr val="white"/>
              </a:solidFill>
              <a:latin typeface="微软雅黑 Light" panose="020B0502040204020203" pitchFamily="34" charset="-122"/>
              <a:ea typeface="微软雅黑 Light" panose="020B0502040204020203" pitchFamily="34" charset="-122"/>
            </a:endParaRPr>
          </a:p>
          <a:p>
            <a:pPr marL="0" marR="0" lvl="0" indent="0" algn="ctr" defTabSz="914377" rtl="0" eaLnBrk="1" fontAlgn="auto" latinLnBrk="0" hangingPunct="1">
              <a:lnSpc>
                <a:spcPct val="100000"/>
              </a:lnSpc>
              <a:spcBef>
                <a:spcPts val="0"/>
              </a:spcBef>
              <a:spcAft>
                <a:spcPts val="0"/>
              </a:spcAft>
              <a:buClrTx/>
              <a:buSzTx/>
              <a:buFontTx/>
              <a:buNone/>
              <a:tabLst/>
              <a:defRPr/>
            </a:pPr>
            <a:endParaRPr lang="en-US" altLang="zh-CN" sz="3200" noProof="0" dirty="0">
              <a:solidFill>
                <a:prstClr val="white"/>
              </a:solidFill>
              <a:latin typeface="微软雅黑 Light" panose="020B0502040204020203" pitchFamily="34" charset="-122"/>
              <a:ea typeface="微软雅黑 Light" panose="020B0502040204020203" pitchFamily="34" charset="-122"/>
            </a:endParaRPr>
          </a:p>
          <a:p>
            <a:pPr marL="0" marR="0" lvl="0" indent="0" algn="ctr" defTabSz="914377" rtl="0" eaLnBrk="1" fontAlgn="auto" latinLnBrk="0" hangingPunct="1">
              <a:lnSpc>
                <a:spcPct val="100000"/>
              </a:lnSpc>
              <a:spcBef>
                <a:spcPts val="0"/>
              </a:spcBef>
              <a:spcAft>
                <a:spcPts val="0"/>
              </a:spcAft>
              <a:buClrTx/>
              <a:buSzTx/>
              <a:buFontTx/>
              <a:buNone/>
              <a:tabLst/>
              <a:defRPr/>
            </a:pPr>
            <a:r>
              <a:rPr kumimoji="0" lang="zh-CN" altLang="en-US" sz="2400" b="0" i="0" u="none" strike="noStrike" kern="1200" cap="none" spc="0" normalizeH="0" baseline="0" dirty="0">
                <a:ln>
                  <a:noFill/>
                </a:ln>
                <a:solidFill>
                  <a:prstClr val="white"/>
                </a:solidFill>
                <a:effectLst/>
                <a:uLnTx/>
                <a:uFillTx/>
                <a:latin typeface="微软雅黑 Light" panose="020B0502040204020203" pitchFamily="34" charset="-122"/>
                <a:ea typeface="微软雅黑 Light" panose="020B0502040204020203" pitchFamily="34" charset="-122"/>
              </a:rPr>
              <a:t>第三讲  资本积累与收入分配</a:t>
            </a:r>
            <a:endParaRPr kumimoji="0" lang="en-US" altLang="zh-CN" sz="2400" b="0" i="0" u="none" strike="noStrike" kern="1200" cap="none" spc="0" normalizeH="0" baseline="0" dirty="0">
              <a:ln>
                <a:noFill/>
              </a:ln>
              <a:solidFill>
                <a:prstClr val="white"/>
              </a:solidFill>
              <a:effectLst/>
              <a:uLnTx/>
              <a:uFillTx/>
              <a:latin typeface="微软雅黑 Light" panose="020B0502040204020203" pitchFamily="34" charset="-122"/>
              <a:ea typeface="微软雅黑 Light" panose="020B0502040204020203" pitchFamily="34" charset="-122"/>
            </a:endParaRPr>
          </a:p>
        </p:txBody>
      </p:sp>
      <p:sp>
        <p:nvSpPr>
          <p:cNvPr id="58" name="矩形 57">
            <a:extLst>
              <a:ext uri="{FF2B5EF4-FFF2-40B4-BE49-F238E27FC236}">
                <a16:creationId xmlns:a16="http://schemas.microsoft.com/office/drawing/2014/main" id="{C2C73BF2-EA60-4993-A997-EEFBE89CC14A}"/>
              </a:ext>
            </a:extLst>
          </p:cNvPr>
          <p:cNvSpPr/>
          <p:nvPr/>
        </p:nvSpPr>
        <p:spPr>
          <a:xfrm>
            <a:off x="4655963" y="3754133"/>
            <a:ext cx="2868093" cy="369332"/>
          </a:xfrm>
          <a:prstGeom prst="rect">
            <a:avLst/>
          </a:prstGeom>
        </p:spPr>
        <p:txBody>
          <a:bodyPr wrap="none">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zh-CN" altLang="en-US" sz="1800" b="0" i="0" u="none" strike="noStrike" kern="1200" cap="none" spc="0" normalizeH="0" baseline="0" noProof="0" dirty="0">
                <a:ln>
                  <a:noFill/>
                </a:ln>
                <a:solidFill>
                  <a:prstClr val="white"/>
                </a:solidFill>
                <a:effectLst/>
                <a:uLnTx/>
                <a:uFillTx/>
                <a:latin typeface="微软雅黑 Light" panose="020B0502040204020203" pitchFamily="34" charset="-122"/>
                <a:ea typeface="微软雅黑 Light" panose="020B0502040204020203" pitchFamily="34" charset="-122"/>
                <a:cs typeface="+mn-cs"/>
              </a:rPr>
              <a:t>马克思主义学院 善斋</a:t>
            </a:r>
            <a:r>
              <a:rPr kumimoji="0" lang="en-US" altLang="zh-CN" sz="1800" b="0" i="0" u="none" strike="noStrike" kern="1200" cap="none" spc="0" normalizeH="0" baseline="0" noProof="0" dirty="0">
                <a:ln>
                  <a:noFill/>
                </a:ln>
                <a:solidFill>
                  <a:prstClr val="white"/>
                </a:solidFill>
                <a:effectLst/>
                <a:uLnTx/>
                <a:uFillTx/>
                <a:latin typeface="微软雅黑 Light" panose="020B0502040204020203" pitchFamily="34" charset="-122"/>
                <a:ea typeface="微软雅黑 Light" panose="020B0502040204020203" pitchFamily="34" charset="-122"/>
                <a:cs typeface="+mn-cs"/>
              </a:rPr>
              <a:t>307C</a:t>
            </a:r>
            <a:endParaRPr kumimoji="0" lang="zh-CN" altLang="en-US" sz="1800" b="0" i="0" u="none" strike="noStrike" kern="1200" cap="none" spc="0" normalizeH="0" baseline="0" noProof="0" dirty="0">
              <a:ln>
                <a:noFill/>
              </a:ln>
              <a:solidFill>
                <a:prstClr val="white"/>
              </a:solidFill>
              <a:effectLst/>
              <a:uLnTx/>
              <a:uFillTx/>
              <a:latin typeface="微软雅黑 Light" panose="020B0502040204020203" pitchFamily="34" charset="-122"/>
              <a:ea typeface="微软雅黑 Light" panose="020B0502040204020203" pitchFamily="34" charset="-122"/>
              <a:cs typeface="+mn-cs"/>
            </a:endParaRPr>
          </a:p>
        </p:txBody>
      </p:sp>
      <p:sp>
        <p:nvSpPr>
          <p:cNvPr id="59" name="矩形 58">
            <a:extLst>
              <a:ext uri="{FF2B5EF4-FFF2-40B4-BE49-F238E27FC236}">
                <a16:creationId xmlns:a16="http://schemas.microsoft.com/office/drawing/2014/main" id="{DE950398-5199-487C-8121-BFD875B0E38D}"/>
              </a:ext>
            </a:extLst>
          </p:cNvPr>
          <p:cNvSpPr/>
          <p:nvPr/>
        </p:nvSpPr>
        <p:spPr>
          <a:xfrm>
            <a:off x="4364334" y="4117145"/>
            <a:ext cx="3350597" cy="646331"/>
          </a:xfrm>
          <a:prstGeom prst="rect">
            <a:avLst/>
          </a:prstGeom>
        </p:spPr>
        <p:txBody>
          <a:bodyPr wrap="none">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zh-CN" altLang="en-US" sz="1800" b="0" i="0" u="none" strike="noStrike" kern="1200" cap="none" spc="0" normalizeH="0" baseline="0" noProof="0" dirty="0">
                <a:ln>
                  <a:noFill/>
                </a:ln>
                <a:solidFill>
                  <a:prstClr val="white"/>
                </a:solidFill>
                <a:effectLst/>
                <a:uLnTx/>
                <a:uFillTx/>
                <a:latin typeface="微软雅黑 Light" panose="020B0502040204020203" pitchFamily="34" charset="-122"/>
                <a:ea typeface="微软雅黑 Light" panose="020B0502040204020203" pitchFamily="34" charset="-122"/>
                <a:cs typeface="+mn-cs"/>
              </a:rPr>
              <a:t>龙治铭</a:t>
            </a:r>
            <a:endParaRPr kumimoji="0" lang="en-US" altLang="zh-CN" sz="1800" b="0" i="0" u="none" strike="noStrike" kern="1200" cap="none" spc="0" normalizeH="0" baseline="0" noProof="0" dirty="0">
              <a:ln>
                <a:noFill/>
              </a:ln>
              <a:solidFill>
                <a:prstClr val="white"/>
              </a:solidFill>
              <a:effectLst/>
              <a:uLnTx/>
              <a:uFillTx/>
              <a:latin typeface="微软雅黑 Light" panose="020B0502040204020203" pitchFamily="34" charset="-122"/>
              <a:ea typeface="微软雅黑 Light" panose="020B0502040204020203" pitchFamily="34" charset="-122"/>
              <a:cs typeface="+mn-cs"/>
            </a:endParaRPr>
          </a:p>
          <a:p>
            <a:pPr marL="0" marR="0" lvl="0" indent="0" algn="ctr" defTabSz="914377" rtl="0" eaLnBrk="1" fontAlgn="auto" latinLnBrk="0" hangingPunct="1">
              <a:lnSpc>
                <a:spcPct val="100000"/>
              </a:lnSpc>
              <a:spcBef>
                <a:spcPts val="0"/>
              </a:spcBef>
              <a:spcAft>
                <a:spcPts val="0"/>
              </a:spcAft>
              <a:buClrTx/>
              <a:buSzTx/>
              <a:buFontTx/>
              <a:buNone/>
              <a:tabLst/>
              <a:defRPr/>
            </a:pPr>
            <a:r>
              <a:rPr lang="en-US" altLang="zh-CN" dirty="0">
                <a:solidFill>
                  <a:prstClr val="white"/>
                </a:solidFill>
                <a:latin typeface="微软雅黑 Light" panose="020B0502040204020203" pitchFamily="34" charset="-122"/>
                <a:ea typeface="微软雅黑 Light" panose="020B0502040204020203" pitchFamily="34" charset="-122"/>
              </a:rPr>
              <a:t>zhiminglong@tsinghua.edu.cn</a:t>
            </a:r>
            <a:endParaRPr kumimoji="0" lang="zh-CN" altLang="en-US" sz="1800" b="0" i="0" u="none" strike="noStrike" kern="1200" cap="none" spc="0" normalizeH="0" baseline="0" noProof="0" dirty="0">
              <a:ln>
                <a:noFill/>
              </a:ln>
              <a:solidFill>
                <a:prstClr val="white"/>
              </a:solidFill>
              <a:effectLst/>
              <a:uLnTx/>
              <a:uFillTx/>
              <a:latin typeface="微软雅黑 Light" panose="020B0502040204020203" pitchFamily="34" charset="-122"/>
              <a:ea typeface="微软雅黑 Light" panose="020B0502040204020203" pitchFamily="34" charset="-122"/>
              <a:cs typeface="+mn-cs"/>
            </a:endParaRPr>
          </a:p>
        </p:txBody>
      </p:sp>
    </p:spTree>
    <p:extLst>
      <p:ext uri="{BB962C8B-B14F-4D97-AF65-F5344CB8AC3E}">
        <p14:creationId xmlns:p14="http://schemas.microsoft.com/office/powerpoint/2010/main" val="1497499638"/>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 name="组合 29">
            <a:extLst>
              <a:ext uri="{FF2B5EF4-FFF2-40B4-BE49-F238E27FC236}">
                <a16:creationId xmlns:a16="http://schemas.microsoft.com/office/drawing/2014/main" id="{1766F96E-ED64-4934-90B0-5A4BF61E0A8A}"/>
              </a:ext>
            </a:extLst>
          </p:cNvPr>
          <p:cNvGrpSpPr>
            <a:grpSpLocks noChangeAspect="1"/>
          </p:cNvGrpSpPr>
          <p:nvPr/>
        </p:nvGrpSpPr>
        <p:grpSpPr>
          <a:xfrm>
            <a:off x="4428623" y="1437984"/>
            <a:ext cx="5593563" cy="826183"/>
            <a:chOff x="5657850" y="1592831"/>
            <a:chExt cx="4048125" cy="597919"/>
          </a:xfrm>
        </p:grpSpPr>
        <p:sp>
          <p:nvSpPr>
            <p:cNvPr id="15" name="矩形: 圆角 14">
              <a:extLst>
                <a:ext uri="{FF2B5EF4-FFF2-40B4-BE49-F238E27FC236}">
                  <a16:creationId xmlns:a16="http://schemas.microsoft.com/office/drawing/2014/main" id="{95E0CA17-8694-4F08-AA6E-61EB472CF5F7}"/>
                </a:ext>
              </a:extLst>
            </p:cNvPr>
            <p:cNvSpPr/>
            <p:nvPr/>
          </p:nvSpPr>
          <p:spPr>
            <a:xfrm>
              <a:off x="5657850" y="1592831"/>
              <a:ext cx="4048125" cy="597919"/>
            </a:xfrm>
            <a:prstGeom prst="roundRect">
              <a:avLst/>
            </a:prstGeom>
            <a:solidFill>
              <a:srgbClr val="7F2C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20" name="椭圆 19">
              <a:extLst>
                <a:ext uri="{FF2B5EF4-FFF2-40B4-BE49-F238E27FC236}">
                  <a16:creationId xmlns:a16="http://schemas.microsoft.com/office/drawing/2014/main" id="{07270881-421C-4FED-8CBB-EB40207A2356}"/>
                </a:ext>
              </a:extLst>
            </p:cNvPr>
            <p:cNvSpPr/>
            <p:nvPr/>
          </p:nvSpPr>
          <p:spPr>
            <a:xfrm>
              <a:off x="5865167" y="1663535"/>
              <a:ext cx="461665" cy="46166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21" name="文本框 20">
              <a:extLst>
                <a:ext uri="{FF2B5EF4-FFF2-40B4-BE49-F238E27FC236}">
                  <a16:creationId xmlns:a16="http://schemas.microsoft.com/office/drawing/2014/main" id="{2EFCACD0-0089-441A-AD31-067EA22F6432}"/>
                </a:ext>
              </a:extLst>
            </p:cNvPr>
            <p:cNvSpPr txBox="1"/>
            <p:nvPr/>
          </p:nvSpPr>
          <p:spPr>
            <a:xfrm>
              <a:off x="5912622" y="1756452"/>
              <a:ext cx="302299" cy="289565"/>
            </a:xfrm>
            <a:prstGeom prst="rect">
              <a:avLst/>
            </a:prstGeom>
            <a:noFill/>
          </p:spPr>
          <p:txBody>
            <a:bodyPr wrap="square" rtlCol="0">
              <a:spAutoFit/>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zh-CN" altLang="en-US" sz="2000" b="0" i="0" u="none" strike="noStrike" kern="1200" cap="none" spc="0" normalizeH="0" baseline="0" noProof="0" dirty="0">
                  <a:ln>
                    <a:noFill/>
                  </a:ln>
                  <a:solidFill>
                    <a:srgbClr val="7F2C8B"/>
                  </a:solidFill>
                  <a:effectLst/>
                  <a:uLnTx/>
                  <a:uFillTx/>
                  <a:latin typeface="微软雅黑 Light" panose="020B0502040204020203" pitchFamily="34" charset="-122"/>
                  <a:ea typeface="微软雅黑 Light" panose="020B0502040204020203" pitchFamily="34" charset="-122"/>
                  <a:cs typeface="+mn-cs"/>
                </a:rPr>
                <a:t>一</a:t>
              </a:r>
            </a:p>
          </p:txBody>
        </p:sp>
      </p:grpSp>
      <p:grpSp>
        <p:nvGrpSpPr>
          <p:cNvPr id="31" name="组合 30">
            <a:extLst>
              <a:ext uri="{FF2B5EF4-FFF2-40B4-BE49-F238E27FC236}">
                <a16:creationId xmlns:a16="http://schemas.microsoft.com/office/drawing/2014/main" id="{007EF1BD-D73C-4732-BBC4-81A3F4A949BB}"/>
              </a:ext>
            </a:extLst>
          </p:cNvPr>
          <p:cNvGrpSpPr>
            <a:grpSpLocks noChangeAspect="1"/>
          </p:cNvGrpSpPr>
          <p:nvPr/>
        </p:nvGrpSpPr>
        <p:grpSpPr>
          <a:xfrm>
            <a:off x="4425032" y="2711837"/>
            <a:ext cx="5605855" cy="828000"/>
            <a:chOff x="5657850" y="2417439"/>
            <a:chExt cx="4048125" cy="597919"/>
          </a:xfrm>
        </p:grpSpPr>
        <p:sp>
          <p:nvSpPr>
            <p:cNvPr id="16" name="矩形: 圆角 15">
              <a:extLst>
                <a:ext uri="{FF2B5EF4-FFF2-40B4-BE49-F238E27FC236}">
                  <a16:creationId xmlns:a16="http://schemas.microsoft.com/office/drawing/2014/main" id="{F1B77461-0FC1-4638-A61E-0643E5192538}"/>
                </a:ext>
              </a:extLst>
            </p:cNvPr>
            <p:cNvSpPr/>
            <p:nvPr/>
          </p:nvSpPr>
          <p:spPr>
            <a:xfrm>
              <a:off x="5657850" y="2417439"/>
              <a:ext cx="4048125" cy="597919"/>
            </a:xfrm>
            <a:prstGeom prst="roundRect">
              <a:avLst/>
            </a:prstGeom>
            <a:solidFill>
              <a:srgbClr val="7F2C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22" name="椭圆 21">
              <a:extLst>
                <a:ext uri="{FF2B5EF4-FFF2-40B4-BE49-F238E27FC236}">
                  <a16:creationId xmlns:a16="http://schemas.microsoft.com/office/drawing/2014/main" id="{B1EAC464-18D5-450B-A8EB-F6B37B10405C}"/>
                </a:ext>
              </a:extLst>
            </p:cNvPr>
            <p:cNvSpPr/>
            <p:nvPr/>
          </p:nvSpPr>
          <p:spPr>
            <a:xfrm>
              <a:off x="5865167" y="2495686"/>
              <a:ext cx="461665" cy="46166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23" name="文本框 22">
              <a:extLst>
                <a:ext uri="{FF2B5EF4-FFF2-40B4-BE49-F238E27FC236}">
                  <a16:creationId xmlns:a16="http://schemas.microsoft.com/office/drawing/2014/main" id="{516D635E-EC16-4A71-9BE0-7FA0554773B8}"/>
                </a:ext>
              </a:extLst>
            </p:cNvPr>
            <p:cNvSpPr txBox="1"/>
            <p:nvPr/>
          </p:nvSpPr>
          <p:spPr>
            <a:xfrm>
              <a:off x="5947389" y="2589255"/>
              <a:ext cx="302299" cy="400110"/>
            </a:xfrm>
            <a:prstGeom prst="rect">
              <a:avLst/>
            </a:prstGeom>
            <a:noFill/>
          </p:spPr>
          <p:txBody>
            <a:bodyPr wrap="square" rtlCol="0">
              <a:spAutoFit/>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zh-CN" altLang="en-US" sz="2000" b="0" i="0" u="none" strike="noStrike" kern="1200" cap="none" spc="0" normalizeH="0" baseline="0" noProof="0" dirty="0">
                  <a:ln>
                    <a:noFill/>
                  </a:ln>
                  <a:solidFill>
                    <a:srgbClr val="7F2C8B"/>
                  </a:solidFill>
                  <a:effectLst/>
                  <a:uLnTx/>
                  <a:uFillTx/>
                  <a:latin typeface="微软雅黑 Light" panose="020B0502040204020203" pitchFamily="34" charset="-122"/>
                  <a:ea typeface="微软雅黑 Light" panose="020B0502040204020203" pitchFamily="34" charset="-122"/>
                  <a:cs typeface="+mn-cs"/>
                </a:rPr>
                <a:t>二</a:t>
              </a:r>
            </a:p>
          </p:txBody>
        </p:sp>
      </p:grpSp>
      <p:grpSp>
        <p:nvGrpSpPr>
          <p:cNvPr id="32" name="组合 31">
            <a:extLst>
              <a:ext uri="{FF2B5EF4-FFF2-40B4-BE49-F238E27FC236}">
                <a16:creationId xmlns:a16="http://schemas.microsoft.com/office/drawing/2014/main" id="{5219BBC7-85D9-416E-95AC-41094162CEC4}"/>
              </a:ext>
            </a:extLst>
          </p:cNvPr>
          <p:cNvGrpSpPr>
            <a:grpSpLocks noChangeAspect="1"/>
          </p:cNvGrpSpPr>
          <p:nvPr/>
        </p:nvGrpSpPr>
        <p:grpSpPr>
          <a:xfrm>
            <a:off x="4439200" y="3936723"/>
            <a:ext cx="5605865" cy="828000"/>
            <a:chOff x="5657850" y="3279397"/>
            <a:chExt cx="4048125" cy="597919"/>
          </a:xfrm>
        </p:grpSpPr>
        <p:sp>
          <p:nvSpPr>
            <p:cNvPr id="17" name="矩形: 圆角 16">
              <a:extLst>
                <a:ext uri="{FF2B5EF4-FFF2-40B4-BE49-F238E27FC236}">
                  <a16:creationId xmlns:a16="http://schemas.microsoft.com/office/drawing/2014/main" id="{185B19EB-D43F-435C-8AB7-12FF77352EF8}"/>
                </a:ext>
              </a:extLst>
            </p:cNvPr>
            <p:cNvSpPr/>
            <p:nvPr/>
          </p:nvSpPr>
          <p:spPr>
            <a:xfrm>
              <a:off x="5657850" y="3279397"/>
              <a:ext cx="4048125" cy="597919"/>
            </a:xfrm>
            <a:prstGeom prst="roundRect">
              <a:avLst/>
            </a:prstGeom>
            <a:solidFill>
              <a:srgbClr val="7F2C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24" name="椭圆 23">
              <a:extLst>
                <a:ext uri="{FF2B5EF4-FFF2-40B4-BE49-F238E27FC236}">
                  <a16:creationId xmlns:a16="http://schemas.microsoft.com/office/drawing/2014/main" id="{124EF26F-A036-45F8-85A9-4E35FC8ACCBE}"/>
                </a:ext>
              </a:extLst>
            </p:cNvPr>
            <p:cNvSpPr/>
            <p:nvPr/>
          </p:nvSpPr>
          <p:spPr>
            <a:xfrm>
              <a:off x="5865167" y="3351357"/>
              <a:ext cx="461665" cy="46166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25" name="文本框 24">
              <a:extLst>
                <a:ext uri="{FF2B5EF4-FFF2-40B4-BE49-F238E27FC236}">
                  <a16:creationId xmlns:a16="http://schemas.microsoft.com/office/drawing/2014/main" id="{E19F69D4-A8A2-4E91-9A2E-01EEE4947FF9}"/>
                </a:ext>
              </a:extLst>
            </p:cNvPr>
            <p:cNvSpPr txBox="1"/>
            <p:nvPr/>
          </p:nvSpPr>
          <p:spPr>
            <a:xfrm>
              <a:off x="5935857" y="3477205"/>
              <a:ext cx="302299" cy="400111"/>
            </a:xfrm>
            <a:prstGeom prst="rect">
              <a:avLst/>
            </a:prstGeom>
            <a:noFill/>
          </p:spPr>
          <p:txBody>
            <a:bodyPr wrap="square" rtlCol="0">
              <a:spAutoFit/>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zh-CN" altLang="en-US" sz="2000" b="0" i="0" u="none" strike="noStrike" kern="1200" cap="none" spc="0" normalizeH="0" baseline="0" noProof="0" dirty="0">
                  <a:ln>
                    <a:noFill/>
                  </a:ln>
                  <a:solidFill>
                    <a:srgbClr val="7F2C8B"/>
                  </a:solidFill>
                  <a:effectLst/>
                  <a:uLnTx/>
                  <a:uFillTx/>
                  <a:latin typeface="微软雅黑 Light" panose="020B0502040204020203" pitchFamily="34" charset="-122"/>
                  <a:ea typeface="微软雅黑 Light" panose="020B0502040204020203" pitchFamily="34" charset="-122"/>
                  <a:cs typeface="+mn-cs"/>
                </a:rPr>
                <a:t>三</a:t>
              </a:r>
            </a:p>
          </p:txBody>
        </p:sp>
      </p:grpSp>
      <p:grpSp>
        <p:nvGrpSpPr>
          <p:cNvPr id="33" name="组合 32">
            <a:extLst>
              <a:ext uri="{FF2B5EF4-FFF2-40B4-BE49-F238E27FC236}">
                <a16:creationId xmlns:a16="http://schemas.microsoft.com/office/drawing/2014/main" id="{B6260696-8FB4-4FCF-95E8-B6896DB149BE}"/>
              </a:ext>
            </a:extLst>
          </p:cNvPr>
          <p:cNvGrpSpPr>
            <a:grpSpLocks noChangeAspect="1"/>
          </p:cNvGrpSpPr>
          <p:nvPr/>
        </p:nvGrpSpPr>
        <p:grpSpPr>
          <a:xfrm>
            <a:off x="4425033" y="5183893"/>
            <a:ext cx="5605865" cy="828000"/>
            <a:chOff x="5657850" y="4160030"/>
            <a:chExt cx="4048125" cy="597919"/>
          </a:xfrm>
        </p:grpSpPr>
        <p:sp>
          <p:nvSpPr>
            <p:cNvPr id="18" name="矩形: 圆角 17">
              <a:extLst>
                <a:ext uri="{FF2B5EF4-FFF2-40B4-BE49-F238E27FC236}">
                  <a16:creationId xmlns:a16="http://schemas.microsoft.com/office/drawing/2014/main" id="{51672E32-D87C-4346-B327-D1122F894B40}"/>
                </a:ext>
              </a:extLst>
            </p:cNvPr>
            <p:cNvSpPr/>
            <p:nvPr/>
          </p:nvSpPr>
          <p:spPr>
            <a:xfrm>
              <a:off x="5657850" y="4160030"/>
              <a:ext cx="4048125" cy="597919"/>
            </a:xfrm>
            <a:prstGeom prst="roundRect">
              <a:avLst/>
            </a:prstGeom>
            <a:solidFill>
              <a:srgbClr val="7F2C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26" name="椭圆 25">
              <a:extLst>
                <a:ext uri="{FF2B5EF4-FFF2-40B4-BE49-F238E27FC236}">
                  <a16:creationId xmlns:a16="http://schemas.microsoft.com/office/drawing/2014/main" id="{44A78DE8-2755-406B-9C39-1B0DA85FDD4A}"/>
                </a:ext>
              </a:extLst>
            </p:cNvPr>
            <p:cNvSpPr/>
            <p:nvPr/>
          </p:nvSpPr>
          <p:spPr>
            <a:xfrm>
              <a:off x="5865167" y="4238479"/>
              <a:ext cx="461665" cy="46166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27" name="文本框 26">
              <a:extLst>
                <a:ext uri="{FF2B5EF4-FFF2-40B4-BE49-F238E27FC236}">
                  <a16:creationId xmlns:a16="http://schemas.microsoft.com/office/drawing/2014/main" id="{485B7835-91EC-4529-9998-AE773F609602}"/>
                </a:ext>
              </a:extLst>
            </p:cNvPr>
            <p:cNvSpPr txBox="1"/>
            <p:nvPr/>
          </p:nvSpPr>
          <p:spPr>
            <a:xfrm>
              <a:off x="5937605" y="4328935"/>
              <a:ext cx="302299" cy="400111"/>
            </a:xfrm>
            <a:prstGeom prst="rect">
              <a:avLst/>
            </a:prstGeom>
            <a:noFill/>
          </p:spPr>
          <p:txBody>
            <a:bodyPr wrap="square" rtlCol="0">
              <a:spAutoFit/>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zh-CN" altLang="en-US" sz="2000" b="0" i="0" u="none" strike="noStrike" kern="1200" cap="none" spc="0" normalizeH="0" baseline="0" noProof="0" dirty="0">
                  <a:ln>
                    <a:noFill/>
                  </a:ln>
                  <a:solidFill>
                    <a:srgbClr val="7F2C8B"/>
                  </a:solidFill>
                  <a:effectLst/>
                  <a:uLnTx/>
                  <a:uFillTx/>
                  <a:latin typeface="微软雅黑 Light" panose="020B0502040204020203" pitchFamily="34" charset="-122"/>
                  <a:ea typeface="微软雅黑 Light" panose="020B0502040204020203" pitchFamily="34" charset="-122"/>
                  <a:cs typeface="+mn-cs"/>
                </a:rPr>
                <a:t>四</a:t>
              </a:r>
            </a:p>
          </p:txBody>
        </p:sp>
      </p:grpSp>
      <p:sp>
        <p:nvSpPr>
          <p:cNvPr id="7" name="Freeform 5">
            <a:extLst>
              <a:ext uri="{FF2B5EF4-FFF2-40B4-BE49-F238E27FC236}">
                <a16:creationId xmlns:a16="http://schemas.microsoft.com/office/drawing/2014/main" id="{55DBFFC5-B0B1-4AD1-9E8F-10E1B2F66A2E}"/>
              </a:ext>
            </a:extLst>
          </p:cNvPr>
          <p:cNvSpPr>
            <a:spLocks/>
          </p:cNvSpPr>
          <p:nvPr/>
        </p:nvSpPr>
        <p:spPr bwMode="auto">
          <a:xfrm>
            <a:off x="-4340226" y="642938"/>
            <a:ext cx="8223251" cy="5822951"/>
          </a:xfrm>
          <a:custGeom>
            <a:avLst/>
            <a:gdLst>
              <a:gd name="T0" fmla="*/ 1505 w 1677"/>
              <a:gd name="T1" fmla="*/ 1142 h 1186"/>
              <a:gd name="T2" fmla="*/ 1306 w 1677"/>
              <a:gd name="T3" fmla="*/ 1127 h 1186"/>
              <a:gd name="T4" fmla="*/ 1085 w 1677"/>
              <a:gd name="T5" fmla="*/ 1086 h 1186"/>
              <a:gd name="T6" fmla="*/ 1024 w 1677"/>
              <a:gd name="T7" fmla="*/ 1083 h 1186"/>
              <a:gd name="T8" fmla="*/ 978 w 1677"/>
              <a:gd name="T9" fmla="*/ 1078 h 1186"/>
              <a:gd name="T10" fmla="*/ 1033 w 1677"/>
              <a:gd name="T11" fmla="*/ 1062 h 1186"/>
              <a:gd name="T12" fmla="*/ 1158 w 1677"/>
              <a:gd name="T13" fmla="*/ 1057 h 1186"/>
              <a:gd name="T14" fmla="*/ 1340 w 1677"/>
              <a:gd name="T15" fmla="*/ 1071 h 1186"/>
              <a:gd name="T16" fmla="*/ 1464 w 1677"/>
              <a:gd name="T17" fmla="*/ 1053 h 1186"/>
              <a:gd name="T18" fmla="*/ 1576 w 1677"/>
              <a:gd name="T19" fmla="*/ 0 h 1186"/>
              <a:gd name="T20" fmla="*/ 1480 w 1677"/>
              <a:gd name="T21" fmla="*/ 26 h 1186"/>
              <a:gd name="T22" fmla="*/ 1323 w 1677"/>
              <a:gd name="T23" fmla="*/ 48 h 1186"/>
              <a:gd name="T24" fmla="*/ 1164 w 1677"/>
              <a:gd name="T25" fmla="*/ 52 h 1186"/>
              <a:gd name="T26" fmla="*/ 1132 w 1677"/>
              <a:gd name="T27" fmla="*/ 52 h 1186"/>
              <a:gd name="T28" fmla="*/ 1307 w 1677"/>
              <a:gd name="T29" fmla="*/ 52 h 1186"/>
              <a:gd name="T30" fmla="*/ 1450 w 1677"/>
              <a:gd name="T31" fmla="*/ 36 h 1186"/>
              <a:gd name="T32" fmla="*/ 1570 w 1677"/>
              <a:gd name="T33" fmla="*/ 8 h 1186"/>
              <a:gd name="T34" fmla="*/ 1403 w 1677"/>
              <a:gd name="T35" fmla="*/ 1046 h 1186"/>
              <a:gd name="T36" fmla="*/ 1300 w 1677"/>
              <a:gd name="T37" fmla="*/ 1048 h 1186"/>
              <a:gd name="T38" fmla="*/ 1112 w 1677"/>
              <a:gd name="T39" fmla="*/ 1032 h 1186"/>
              <a:gd name="T40" fmla="*/ 1024 w 1677"/>
              <a:gd name="T41" fmla="*/ 1040 h 1186"/>
              <a:gd name="T42" fmla="*/ 925 w 1677"/>
              <a:gd name="T43" fmla="*/ 1072 h 1186"/>
              <a:gd name="T44" fmla="*/ 816 w 1677"/>
              <a:gd name="T45" fmla="*/ 1105 h 1186"/>
              <a:gd name="T46" fmla="*/ 661 w 1677"/>
              <a:gd name="T47" fmla="*/ 1042 h 1186"/>
              <a:gd name="T48" fmla="*/ 637 w 1677"/>
              <a:gd name="T49" fmla="*/ 1037 h 1186"/>
              <a:gd name="T50" fmla="*/ 493 w 1677"/>
              <a:gd name="T51" fmla="*/ 1036 h 1186"/>
              <a:gd name="T52" fmla="*/ 333 w 1677"/>
              <a:gd name="T53" fmla="*/ 1051 h 1186"/>
              <a:gd name="T54" fmla="*/ 195 w 1677"/>
              <a:gd name="T55" fmla="*/ 1029 h 1186"/>
              <a:gd name="T56" fmla="*/ 180 w 1677"/>
              <a:gd name="T57" fmla="*/ 27 h 1186"/>
              <a:gd name="T58" fmla="*/ 290 w 1677"/>
              <a:gd name="T59" fmla="*/ 45 h 1186"/>
              <a:gd name="T60" fmla="*/ 449 w 1677"/>
              <a:gd name="T61" fmla="*/ 54 h 1186"/>
              <a:gd name="T62" fmla="*/ 577 w 1677"/>
              <a:gd name="T63" fmla="*/ 50 h 1186"/>
              <a:gd name="T64" fmla="*/ 402 w 1677"/>
              <a:gd name="T65" fmla="*/ 51 h 1186"/>
              <a:gd name="T66" fmla="*/ 259 w 1677"/>
              <a:gd name="T67" fmla="*/ 37 h 1186"/>
              <a:gd name="T68" fmla="*/ 150 w 1677"/>
              <a:gd name="T69" fmla="*/ 15 h 1186"/>
              <a:gd name="T70" fmla="*/ 100 w 1677"/>
              <a:gd name="T71" fmla="*/ 1014 h 1186"/>
              <a:gd name="T72" fmla="*/ 283 w 1677"/>
              <a:gd name="T73" fmla="*/ 1067 h 1186"/>
              <a:gd name="T74" fmla="*/ 426 w 1677"/>
              <a:gd name="T75" fmla="*/ 1065 h 1186"/>
              <a:gd name="T76" fmla="*/ 611 w 1677"/>
              <a:gd name="T77" fmla="*/ 1057 h 1186"/>
              <a:gd name="T78" fmla="*/ 655 w 1677"/>
              <a:gd name="T79" fmla="*/ 1065 h 1186"/>
              <a:gd name="T80" fmla="*/ 680 w 1677"/>
              <a:gd name="T81" fmla="*/ 1084 h 1186"/>
              <a:gd name="T82" fmla="*/ 612 w 1677"/>
              <a:gd name="T83" fmla="*/ 1084 h 1186"/>
              <a:gd name="T84" fmla="*/ 495 w 1677"/>
              <a:gd name="T85" fmla="*/ 1103 h 1186"/>
              <a:gd name="T86" fmla="*/ 271 w 1677"/>
              <a:gd name="T87" fmla="*/ 1140 h 1186"/>
              <a:gd name="T88" fmla="*/ 36 w 1677"/>
              <a:gd name="T89" fmla="*/ 1127 h 1186"/>
              <a:gd name="T90" fmla="*/ 143 w 1677"/>
              <a:gd name="T91" fmla="*/ 1181 h 1186"/>
              <a:gd name="T92" fmla="*/ 326 w 1677"/>
              <a:gd name="T93" fmla="*/ 1181 h 1186"/>
              <a:gd name="T94" fmla="*/ 591 w 1677"/>
              <a:gd name="T95" fmla="*/ 1143 h 1186"/>
              <a:gd name="T96" fmla="*/ 628 w 1677"/>
              <a:gd name="T97" fmla="*/ 1141 h 1186"/>
              <a:gd name="T98" fmla="*/ 698 w 1677"/>
              <a:gd name="T99" fmla="*/ 1147 h 1186"/>
              <a:gd name="T100" fmla="*/ 803 w 1677"/>
              <a:gd name="T101" fmla="*/ 1185 h 1186"/>
              <a:gd name="T102" fmla="*/ 874 w 1677"/>
              <a:gd name="T103" fmla="*/ 1185 h 1186"/>
              <a:gd name="T104" fmla="*/ 979 w 1677"/>
              <a:gd name="T105" fmla="*/ 1147 h 1186"/>
              <a:gd name="T106" fmla="*/ 1049 w 1677"/>
              <a:gd name="T107" fmla="*/ 1141 h 1186"/>
              <a:gd name="T108" fmla="*/ 1080 w 1677"/>
              <a:gd name="T109" fmla="*/ 1142 h 1186"/>
              <a:gd name="T110" fmla="*/ 1299 w 1677"/>
              <a:gd name="T111" fmla="*/ 1176 h 1186"/>
              <a:gd name="T112" fmla="*/ 1508 w 1677"/>
              <a:gd name="T113" fmla="*/ 1183 h 1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77" h="1186">
                <a:moveTo>
                  <a:pt x="1676" y="1142"/>
                </a:moveTo>
                <a:cubicBezTo>
                  <a:pt x="1658" y="159"/>
                  <a:pt x="1658" y="159"/>
                  <a:pt x="1658" y="159"/>
                </a:cubicBezTo>
                <a:cubicBezTo>
                  <a:pt x="1641" y="1127"/>
                  <a:pt x="1641" y="1127"/>
                  <a:pt x="1641" y="1127"/>
                </a:cubicBezTo>
                <a:cubicBezTo>
                  <a:pt x="1605" y="1133"/>
                  <a:pt x="1605" y="1133"/>
                  <a:pt x="1605" y="1133"/>
                </a:cubicBezTo>
                <a:cubicBezTo>
                  <a:pt x="1589" y="1135"/>
                  <a:pt x="1572" y="1137"/>
                  <a:pt x="1555" y="1139"/>
                </a:cubicBezTo>
                <a:cubicBezTo>
                  <a:pt x="1530" y="1140"/>
                  <a:pt x="1530" y="1140"/>
                  <a:pt x="1530" y="1140"/>
                </a:cubicBezTo>
                <a:cubicBezTo>
                  <a:pt x="1522" y="1141"/>
                  <a:pt x="1514" y="1142"/>
                  <a:pt x="1505" y="1142"/>
                </a:cubicBezTo>
                <a:cubicBezTo>
                  <a:pt x="1489" y="1142"/>
                  <a:pt x="1472" y="1143"/>
                  <a:pt x="1455" y="1142"/>
                </a:cubicBezTo>
                <a:cubicBezTo>
                  <a:pt x="1447" y="1142"/>
                  <a:pt x="1439" y="1142"/>
                  <a:pt x="1431" y="1141"/>
                </a:cubicBezTo>
                <a:cubicBezTo>
                  <a:pt x="1406" y="1140"/>
                  <a:pt x="1406" y="1140"/>
                  <a:pt x="1406" y="1140"/>
                </a:cubicBezTo>
                <a:cubicBezTo>
                  <a:pt x="1393" y="1139"/>
                  <a:pt x="1393" y="1139"/>
                  <a:pt x="1393" y="1139"/>
                </a:cubicBezTo>
                <a:cubicBezTo>
                  <a:pt x="1381" y="1137"/>
                  <a:pt x="1381" y="1137"/>
                  <a:pt x="1381" y="1137"/>
                </a:cubicBezTo>
                <a:cubicBezTo>
                  <a:pt x="1356" y="1135"/>
                  <a:pt x="1356" y="1135"/>
                  <a:pt x="1356" y="1135"/>
                </a:cubicBezTo>
                <a:cubicBezTo>
                  <a:pt x="1339" y="1132"/>
                  <a:pt x="1323" y="1130"/>
                  <a:pt x="1306" y="1127"/>
                </a:cubicBezTo>
                <a:cubicBezTo>
                  <a:pt x="1290" y="1125"/>
                  <a:pt x="1273" y="1121"/>
                  <a:pt x="1257" y="1118"/>
                </a:cubicBezTo>
                <a:cubicBezTo>
                  <a:pt x="1207" y="1108"/>
                  <a:pt x="1207" y="1108"/>
                  <a:pt x="1207" y="1108"/>
                </a:cubicBezTo>
                <a:cubicBezTo>
                  <a:pt x="1182" y="1103"/>
                  <a:pt x="1182" y="1103"/>
                  <a:pt x="1182" y="1103"/>
                </a:cubicBezTo>
                <a:cubicBezTo>
                  <a:pt x="1174" y="1101"/>
                  <a:pt x="1165" y="1099"/>
                  <a:pt x="1157" y="1097"/>
                </a:cubicBezTo>
                <a:cubicBezTo>
                  <a:pt x="1140" y="1094"/>
                  <a:pt x="1122" y="1091"/>
                  <a:pt x="1105" y="1088"/>
                </a:cubicBezTo>
                <a:cubicBezTo>
                  <a:pt x="1092" y="1087"/>
                  <a:pt x="1092" y="1087"/>
                  <a:pt x="1092" y="1087"/>
                </a:cubicBezTo>
                <a:cubicBezTo>
                  <a:pt x="1085" y="1086"/>
                  <a:pt x="1085" y="1086"/>
                  <a:pt x="1085" y="1086"/>
                </a:cubicBezTo>
                <a:cubicBezTo>
                  <a:pt x="1082" y="1085"/>
                  <a:pt x="1082" y="1085"/>
                  <a:pt x="1082" y="1085"/>
                </a:cubicBezTo>
                <a:cubicBezTo>
                  <a:pt x="1078" y="1085"/>
                  <a:pt x="1078" y="1085"/>
                  <a:pt x="1078" y="1085"/>
                </a:cubicBezTo>
                <a:cubicBezTo>
                  <a:pt x="1065" y="1084"/>
                  <a:pt x="1065" y="1084"/>
                  <a:pt x="1065" y="1084"/>
                </a:cubicBezTo>
                <a:cubicBezTo>
                  <a:pt x="1059" y="1083"/>
                  <a:pt x="1059" y="1083"/>
                  <a:pt x="1059" y="1083"/>
                </a:cubicBezTo>
                <a:cubicBezTo>
                  <a:pt x="1056" y="1083"/>
                  <a:pt x="1054" y="1083"/>
                  <a:pt x="1052" y="1083"/>
                </a:cubicBezTo>
                <a:cubicBezTo>
                  <a:pt x="1038" y="1083"/>
                  <a:pt x="1038" y="1083"/>
                  <a:pt x="1038" y="1083"/>
                </a:cubicBezTo>
                <a:cubicBezTo>
                  <a:pt x="1033" y="1083"/>
                  <a:pt x="1028" y="1083"/>
                  <a:pt x="1024" y="1083"/>
                </a:cubicBezTo>
                <a:cubicBezTo>
                  <a:pt x="1010" y="1083"/>
                  <a:pt x="1010" y="1083"/>
                  <a:pt x="1010" y="1083"/>
                </a:cubicBezTo>
                <a:cubicBezTo>
                  <a:pt x="1003" y="1084"/>
                  <a:pt x="1003" y="1084"/>
                  <a:pt x="1003" y="1084"/>
                </a:cubicBezTo>
                <a:cubicBezTo>
                  <a:pt x="997" y="1084"/>
                  <a:pt x="997" y="1084"/>
                  <a:pt x="997" y="1084"/>
                </a:cubicBezTo>
                <a:cubicBezTo>
                  <a:pt x="983" y="1085"/>
                  <a:pt x="983" y="1085"/>
                  <a:pt x="983" y="1085"/>
                </a:cubicBezTo>
                <a:cubicBezTo>
                  <a:pt x="978" y="1086"/>
                  <a:pt x="974" y="1087"/>
                  <a:pt x="969" y="1087"/>
                </a:cubicBezTo>
                <a:cubicBezTo>
                  <a:pt x="961" y="1088"/>
                  <a:pt x="952" y="1090"/>
                  <a:pt x="943" y="1092"/>
                </a:cubicBezTo>
                <a:cubicBezTo>
                  <a:pt x="955" y="1087"/>
                  <a:pt x="966" y="1082"/>
                  <a:pt x="978" y="1078"/>
                </a:cubicBezTo>
                <a:cubicBezTo>
                  <a:pt x="985" y="1076"/>
                  <a:pt x="993" y="1073"/>
                  <a:pt x="1000" y="1071"/>
                </a:cubicBezTo>
                <a:cubicBezTo>
                  <a:pt x="1011" y="1068"/>
                  <a:pt x="1011" y="1068"/>
                  <a:pt x="1011" y="1068"/>
                </a:cubicBezTo>
                <a:cubicBezTo>
                  <a:pt x="1022" y="1065"/>
                  <a:pt x="1022" y="1065"/>
                  <a:pt x="1022" y="1065"/>
                </a:cubicBezTo>
                <a:cubicBezTo>
                  <a:pt x="1028" y="1063"/>
                  <a:pt x="1028" y="1063"/>
                  <a:pt x="1028" y="1063"/>
                </a:cubicBezTo>
                <a:cubicBezTo>
                  <a:pt x="1029" y="1063"/>
                  <a:pt x="1029" y="1063"/>
                  <a:pt x="1029" y="1063"/>
                </a:cubicBezTo>
                <a:cubicBezTo>
                  <a:pt x="1030" y="1063"/>
                  <a:pt x="1030" y="1063"/>
                  <a:pt x="1030" y="1063"/>
                </a:cubicBezTo>
                <a:cubicBezTo>
                  <a:pt x="1033" y="1062"/>
                  <a:pt x="1033" y="1062"/>
                  <a:pt x="1033" y="1062"/>
                </a:cubicBezTo>
                <a:cubicBezTo>
                  <a:pt x="1044" y="1060"/>
                  <a:pt x="1044" y="1060"/>
                  <a:pt x="1044" y="1060"/>
                </a:cubicBezTo>
                <a:cubicBezTo>
                  <a:pt x="1048" y="1059"/>
                  <a:pt x="1051" y="1059"/>
                  <a:pt x="1055" y="1058"/>
                </a:cubicBezTo>
                <a:cubicBezTo>
                  <a:pt x="1059" y="1058"/>
                  <a:pt x="1063" y="1057"/>
                  <a:pt x="1066" y="1057"/>
                </a:cubicBezTo>
                <a:cubicBezTo>
                  <a:pt x="1082" y="1056"/>
                  <a:pt x="1097" y="1055"/>
                  <a:pt x="1112" y="1055"/>
                </a:cubicBezTo>
                <a:cubicBezTo>
                  <a:pt x="1124" y="1055"/>
                  <a:pt x="1124" y="1055"/>
                  <a:pt x="1124" y="1055"/>
                </a:cubicBezTo>
                <a:cubicBezTo>
                  <a:pt x="1135" y="1055"/>
                  <a:pt x="1135" y="1055"/>
                  <a:pt x="1135" y="1055"/>
                </a:cubicBezTo>
                <a:cubicBezTo>
                  <a:pt x="1143" y="1056"/>
                  <a:pt x="1151" y="1056"/>
                  <a:pt x="1158" y="1057"/>
                </a:cubicBezTo>
                <a:cubicBezTo>
                  <a:pt x="1166" y="1057"/>
                  <a:pt x="1174" y="1058"/>
                  <a:pt x="1181" y="1058"/>
                </a:cubicBezTo>
                <a:cubicBezTo>
                  <a:pt x="1205" y="1061"/>
                  <a:pt x="1205" y="1061"/>
                  <a:pt x="1205" y="1061"/>
                </a:cubicBezTo>
                <a:cubicBezTo>
                  <a:pt x="1251" y="1065"/>
                  <a:pt x="1251" y="1065"/>
                  <a:pt x="1251" y="1065"/>
                </a:cubicBezTo>
                <a:cubicBezTo>
                  <a:pt x="1267" y="1067"/>
                  <a:pt x="1283" y="1068"/>
                  <a:pt x="1299" y="1069"/>
                </a:cubicBezTo>
                <a:cubicBezTo>
                  <a:pt x="1306" y="1070"/>
                  <a:pt x="1315" y="1070"/>
                  <a:pt x="1322" y="1070"/>
                </a:cubicBezTo>
                <a:cubicBezTo>
                  <a:pt x="1326" y="1071"/>
                  <a:pt x="1330" y="1071"/>
                  <a:pt x="1334" y="1071"/>
                </a:cubicBezTo>
                <a:cubicBezTo>
                  <a:pt x="1340" y="1071"/>
                  <a:pt x="1340" y="1071"/>
                  <a:pt x="1340" y="1071"/>
                </a:cubicBezTo>
                <a:cubicBezTo>
                  <a:pt x="1343" y="1071"/>
                  <a:pt x="1343" y="1071"/>
                  <a:pt x="1343" y="1071"/>
                </a:cubicBezTo>
                <a:cubicBezTo>
                  <a:pt x="1344" y="1071"/>
                  <a:pt x="1345" y="1071"/>
                  <a:pt x="1346" y="1071"/>
                </a:cubicBezTo>
                <a:cubicBezTo>
                  <a:pt x="1362" y="1071"/>
                  <a:pt x="1378" y="1070"/>
                  <a:pt x="1394" y="1067"/>
                </a:cubicBezTo>
                <a:cubicBezTo>
                  <a:pt x="1406" y="1066"/>
                  <a:pt x="1406" y="1066"/>
                  <a:pt x="1406" y="1066"/>
                </a:cubicBezTo>
                <a:cubicBezTo>
                  <a:pt x="1418" y="1064"/>
                  <a:pt x="1418" y="1064"/>
                  <a:pt x="1418" y="1064"/>
                </a:cubicBezTo>
                <a:cubicBezTo>
                  <a:pt x="1426" y="1062"/>
                  <a:pt x="1434" y="1061"/>
                  <a:pt x="1441" y="1059"/>
                </a:cubicBezTo>
                <a:cubicBezTo>
                  <a:pt x="1449" y="1057"/>
                  <a:pt x="1457" y="1055"/>
                  <a:pt x="1464" y="1053"/>
                </a:cubicBezTo>
                <a:cubicBezTo>
                  <a:pt x="1472" y="1051"/>
                  <a:pt x="1480" y="1049"/>
                  <a:pt x="1487" y="1047"/>
                </a:cubicBezTo>
                <a:cubicBezTo>
                  <a:pt x="1503" y="1042"/>
                  <a:pt x="1518" y="1037"/>
                  <a:pt x="1532" y="1032"/>
                </a:cubicBezTo>
                <a:cubicBezTo>
                  <a:pt x="1547" y="1026"/>
                  <a:pt x="1562" y="1021"/>
                  <a:pt x="1577" y="1014"/>
                </a:cubicBezTo>
                <a:cubicBezTo>
                  <a:pt x="1582" y="1012"/>
                  <a:pt x="1582" y="1012"/>
                  <a:pt x="1582" y="1012"/>
                </a:cubicBezTo>
                <a:cubicBezTo>
                  <a:pt x="1582" y="1006"/>
                  <a:pt x="1582" y="1006"/>
                  <a:pt x="1582" y="1006"/>
                </a:cubicBezTo>
                <a:cubicBezTo>
                  <a:pt x="1576" y="4"/>
                  <a:pt x="1576" y="4"/>
                  <a:pt x="1576" y="4"/>
                </a:cubicBezTo>
                <a:cubicBezTo>
                  <a:pt x="1576" y="0"/>
                  <a:pt x="1576" y="0"/>
                  <a:pt x="1576" y="0"/>
                </a:cubicBezTo>
                <a:cubicBezTo>
                  <a:pt x="1572" y="1"/>
                  <a:pt x="1572" y="1"/>
                  <a:pt x="1572" y="1"/>
                </a:cubicBezTo>
                <a:cubicBezTo>
                  <a:pt x="1542" y="10"/>
                  <a:pt x="1542" y="10"/>
                  <a:pt x="1542" y="10"/>
                </a:cubicBezTo>
                <a:cubicBezTo>
                  <a:pt x="1537" y="12"/>
                  <a:pt x="1532" y="14"/>
                  <a:pt x="1527" y="15"/>
                </a:cubicBezTo>
                <a:cubicBezTo>
                  <a:pt x="1511" y="19"/>
                  <a:pt x="1511" y="19"/>
                  <a:pt x="1511" y="19"/>
                </a:cubicBezTo>
                <a:cubicBezTo>
                  <a:pt x="1496" y="22"/>
                  <a:pt x="1496" y="22"/>
                  <a:pt x="1496" y="22"/>
                </a:cubicBezTo>
                <a:cubicBezTo>
                  <a:pt x="1488" y="24"/>
                  <a:pt x="1488" y="24"/>
                  <a:pt x="1488" y="24"/>
                </a:cubicBezTo>
                <a:cubicBezTo>
                  <a:pt x="1485" y="25"/>
                  <a:pt x="1483" y="25"/>
                  <a:pt x="1480" y="26"/>
                </a:cubicBezTo>
                <a:cubicBezTo>
                  <a:pt x="1449" y="32"/>
                  <a:pt x="1449" y="32"/>
                  <a:pt x="1449" y="32"/>
                </a:cubicBezTo>
                <a:cubicBezTo>
                  <a:pt x="1444" y="33"/>
                  <a:pt x="1439" y="34"/>
                  <a:pt x="1433" y="35"/>
                </a:cubicBezTo>
                <a:cubicBezTo>
                  <a:pt x="1418" y="37"/>
                  <a:pt x="1418" y="37"/>
                  <a:pt x="1418" y="37"/>
                </a:cubicBezTo>
                <a:cubicBezTo>
                  <a:pt x="1402" y="39"/>
                  <a:pt x="1402" y="39"/>
                  <a:pt x="1402" y="39"/>
                </a:cubicBezTo>
                <a:cubicBezTo>
                  <a:pt x="1397" y="40"/>
                  <a:pt x="1391" y="41"/>
                  <a:pt x="1386" y="41"/>
                </a:cubicBezTo>
                <a:cubicBezTo>
                  <a:pt x="1376" y="43"/>
                  <a:pt x="1365" y="44"/>
                  <a:pt x="1355" y="45"/>
                </a:cubicBezTo>
                <a:cubicBezTo>
                  <a:pt x="1323" y="48"/>
                  <a:pt x="1323" y="48"/>
                  <a:pt x="1323" y="48"/>
                </a:cubicBezTo>
                <a:cubicBezTo>
                  <a:pt x="1318" y="48"/>
                  <a:pt x="1312" y="49"/>
                  <a:pt x="1307" y="49"/>
                </a:cubicBezTo>
                <a:cubicBezTo>
                  <a:pt x="1291" y="50"/>
                  <a:pt x="1291" y="50"/>
                  <a:pt x="1291" y="50"/>
                </a:cubicBezTo>
                <a:cubicBezTo>
                  <a:pt x="1275" y="51"/>
                  <a:pt x="1275" y="51"/>
                  <a:pt x="1275" y="51"/>
                </a:cubicBezTo>
                <a:cubicBezTo>
                  <a:pt x="1259" y="51"/>
                  <a:pt x="1259" y="51"/>
                  <a:pt x="1259" y="51"/>
                </a:cubicBezTo>
                <a:cubicBezTo>
                  <a:pt x="1249" y="52"/>
                  <a:pt x="1238" y="52"/>
                  <a:pt x="1228" y="52"/>
                </a:cubicBezTo>
                <a:cubicBezTo>
                  <a:pt x="1217" y="52"/>
                  <a:pt x="1206" y="53"/>
                  <a:pt x="1196" y="53"/>
                </a:cubicBezTo>
                <a:cubicBezTo>
                  <a:pt x="1185" y="52"/>
                  <a:pt x="1175" y="52"/>
                  <a:pt x="1164" y="52"/>
                </a:cubicBezTo>
                <a:cubicBezTo>
                  <a:pt x="1153" y="52"/>
                  <a:pt x="1143" y="52"/>
                  <a:pt x="1132" y="51"/>
                </a:cubicBezTo>
                <a:cubicBezTo>
                  <a:pt x="1116" y="51"/>
                  <a:pt x="1116" y="51"/>
                  <a:pt x="1116" y="51"/>
                </a:cubicBezTo>
                <a:cubicBezTo>
                  <a:pt x="1100" y="50"/>
                  <a:pt x="1100" y="50"/>
                  <a:pt x="1100" y="50"/>
                </a:cubicBezTo>
                <a:cubicBezTo>
                  <a:pt x="1090" y="49"/>
                  <a:pt x="1079" y="48"/>
                  <a:pt x="1069" y="47"/>
                </a:cubicBezTo>
                <a:cubicBezTo>
                  <a:pt x="1079" y="48"/>
                  <a:pt x="1090" y="49"/>
                  <a:pt x="1100" y="50"/>
                </a:cubicBezTo>
                <a:cubicBezTo>
                  <a:pt x="1116" y="51"/>
                  <a:pt x="1116" y="51"/>
                  <a:pt x="1116" y="51"/>
                </a:cubicBezTo>
                <a:cubicBezTo>
                  <a:pt x="1132" y="52"/>
                  <a:pt x="1132" y="52"/>
                  <a:pt x="1132" y="52"/>
                </a:cubicBezTo>
                <a:cubicBezTo>
                  <a:pt x="1143" y="53"/>
                  <a:pt x="1153" y="53"/>
                  <a:pt x="1164" y="53"/>
                </a:cubicBezTo>
                <a:cubicBezTo>
                  <a:pt x="1175" y="54"/>
                  <a:pt x="1185" y="54"/>
                  <a:pt x="1196" y="54"/>
                </a:cubicBezTo>
                <a:cubicBezTo>
                  <a:pt x="1206" y="54"/>
                  <a:pt x="1217" y="54"/>
                  <a:pt x="1228" y="54"/>
                </a:cubicBezTo>
                <a:cubicBezTo>
                  <a:pt x="1238" y="54"/>
                  <a:pt x="1249" y="54"/>
                  <a:pt x="1260" y="54"/>
                </a:cubicBezTo>
                <a:cubicBezTo>
                  <a:pt x="1275" y="53"/>
                  <a:pt x="1275" y="53"/>
                  <a:pt x="1275" y="53"/>
                </a:cubicBezTo>
                <a:cubicBezTo>
                  <a:pt x="1291" y="53"/>
                  <a:pt x="1291" y="53"/>
                  <a:pt x="1291" y="53"/>
                </a:cubicBezTo>
                <a:cubicBezTo>
                  <a:pt x="1307" y="52"/>
                  <a:pt x="1307" y="52"/>
                  <a:pt x="1307" y="52"/>
                </a:cubicBezTo>
                <a:cubicBezTo>
                  <a:pt x="1313" y="52"/>
                  <a:pt x="1318" y="51"/>
                  <a:pt x="1323" y="51"/>
                </a:cubicBezTo>
                <a:cubicBezTo>
                  <a:pt x="1355" y="48"/>
                  <a:pt x="1355" y="48"/>
                  <a:pt x="1355" y="48"/>
                </a:cubicBezTo>
                <a:cubicBezTo>
                  <a:pt x="1366" y="47"/>
                  <a:pt x="1376" y="46"/>
                  <a:pt x="1387" y="45"/>
                </a:cubicBezTo>
                <a:cubicBezTo>
                  <a:pt x="1392" y="44"/>
                  <a:pt x="1397" y="44"/>
                  <a:pt x="1403" y="43"/>
                </a:cubicBezTo>
                <a:cubicBezTo>
                  <a:pt x="1418" y="41"/>
                  <a:pt x="1418" y="41"/>
                  <a:pt x="1418" y="41"/>
                </a:cubicBezTo>
                <a:cubicBezTo>
                  <a:pt x="1434" y="39"/>
                  <a:pt x="1434" y="39"/>
                  <a:pt x="1434" y="39"/>
                </a:cubicBezTo>
                <a:cubicBezTo>
                  <a:pt x="1439" y="38"/>
                  <a:pt x="1445" y="37"/>
                  <a:pt x="1450" y="36"/>
                </a:cubicBezTo>
                <a:cubicBezTo>
                  <a:pt x="1481" y="30"/>
                  <a:pt x="1481" y="30"/>
                  <a:pt x="1481" y="30"/>
                </a:cubicBezTo>
                <a:cubicBezTo>
                  <a:pt x="1484" y="30"/>
                  <a:pt x="1486" y="30"/>
                  <a:pt x="1489" y="29"/>
                </a:cubicBezTo>
                <a:cubicBezTo>
                  <a:pt x="1497" y="27"/>
                  <a:pt x="1497" y="27"/>
                  <a:pt x="1497" y="27"/>
                </a:cubicBezTo>
                <a:cubicBezTo>
                  <a:pt x="1512" y="24"/>
                  <a:pt x="1512" y="24"/>
                  <a:pt x="1512" y="24"/>
                </a:cubicBezTo>
                <a:cubicBezTo>
                  <a:pt x="1528" y="20"/>
                  <a:pt x="1528" y="20"/>
                  <a:pt x="1528" y="20"/>
                </a:cubicBezTo>
                <a:cubicBezTo>
                  <a:pt x="1533" y="19"/>
                  <a:pt x="1538" y="17"/>
                  <a:pt x="1543" y="16"/>
                </a:cubicBezTo>
                <a:cubicBezTo>
                  <a:pt x="1570" y="8"/>
                  <a:pt x="1570" y="8"/>
                  <a:pt x="1570" y="8"/>
                </a:cubicBezTo>
                <a:cubicBezTo>
                  <a:pt x="1564" y="1000"/>
                  <a:pt x="1564" y="1000"/>
                  <a:pt x="1564" y="1000"/>
                </a:cubicBezTo>
                <a:cubicBezTo>
                  <a:pt x="1552" y="1006"/>
                  <a:pt x="1539" y="1010"/>
                  <a:pt x="1526" y="1015"/>
                </a:cubicBezTo>
                <a:cubicBezTo>
                  <a:pt x="1512" y="1020"/>
                  <a:pt x="1497" y="1025"/>
                  <a:pt x="1482" y="1029"/>
                </a:cubicBezTo>
                <a:cubicBezTo>
                  <a:pt x="1475" y="1031"/>
                  <a:pt x="1467" y="1033"/>
                  <a:pt x="1460" y="1035"/>
                </a:cubicBezTo>
                <a:cubicBezTo>
                  <a:pt x="1452" y="1037"/>
                  <a:pt x="1445" y="1039"/>
                  <a:pt x="1437" y="1040"/>
                </a:cubicBezTo>
                <a:cubicBezTo>
                  <a:pt x="1430" y="1042"/>
                  <a:pt x="1422" y="1043"/>
                  <a:pt x="1415" y="1045"/>
                </a:cubicBezTo>
                <a:cubicBezTo>
                  <a:pt x="1403" y="1046"/>
                  <a:pt x="1403" y="1046"/>
                  <a:pt x="1403" y="1046"/>
                </a:cubicBezTo>
                <a:cubicBezTo>
                  <a:pt x="1392" y="1048"/>
                  <a:pt x="1392" y="1048"/>
                  <a:pt x="1392" y="1048"/>
                </a:cubicBezTo>
                <a:cubicBezTo>
                  <a:pt x="1377" y="1050"/>
                  <a:pt x="1361" y="1051"/>
                  <a:pt x="1346" y="1051"/>
                </a:cubicBezTo>
                <a:cubicBezTo>
                  <a:pt x="1345" y="1051"/>
                  <a:pt x="1344" y="1051"/>
                  <a:pt x="1344" y="1051"/>
                </a:cubicBezTo>
                <a:cubicBezTo>
                  <a:pt x="1341" y="1051"/>
                  <a:pt x="1341" y="1051"/>
                  <a:pt x="1341" y="1051"/>
                </a:cubicBezTo>
                <a:cubicBezTo>
                  <a:pt x="1335" y="1050"/>
                  <a:pt x="1335" y="1050"/>
                  <a:pt x="1335" y="1050"/>
                </a:cubicBezTo>
                <a:cubicBezTo>
                  <a:pt x="1331" y="1050"/>
                  <a:pt x="1327" y="1050"/>
                  <a:pt x="1323" y="1050"/>
                </a:cubicBezTo>
                <a:cubicBezTo>
                  <a:pt x="1315" y="1049"/>
                  <a:pt x="1308" y="1049"/>
                  <a:pt x="1300" y="1048"/>
                </a:cubicBezTo>
                <a:cubicBezTo>
                  <a:pt x="1285" y="1047"/>
                  <a:pt x="1269" y="1046"/>
                  <a:pt x="1254" y="1044"/>
                </a:cubicBezTo>
                <a:cubicBezTo>
                  <a:pt x="1207" y="1039"/>
                  <a:pt x="1207" y="1039"/>
                  <a:pt x="1207" y="1039"/>
                </a:cubicBezTo>
                <a:cubicBezTo>
                  <a:pt x="1184" y="1036"/>
                  <a:pt x="1184" y="1036"/>
                  <a:pt x="1184" y="1036"/>
                </a:cubicBezTo>
                <a:cubicBezTo>
                  <a:pt x="1176" y="1036"/>
                  <a:pt x="1168" y="1035"/>
                  <a:pt x="1160" y="1034"/>
                </a:cubicBezTo>
                <a:cubicBezTo>
                  <a:pt x="1152" y="1034"/>
                  <a:pt x="1144" y="1033"/>
                  <a:pt x="1136" y="1033"/>
                </a:cubicBezTo>
                <a:cubicBezTo>
                  <a:pt x="1124" y="1032"/>
                  <a:pt x="1124" y="1032"/>
                  <a:pt x="1124" y="1032"/>
                </a:cubicBezTo>
                <a:cubicBezTo>
                  <a:pt x="1112" y="1032"/>
                  <a:pt x="1112" y="1032"/>
                  <a:pt x="1112" y="1032"/>
                </a:cubicBezTo>
                <a:cubicBezTo>
                  <a:pt x="1096" y="1032"/>
                  <a:pt x="1080" y="1032"/>
                  <a:pt x="1064" y="1034"/>
                </a:cubicBezTo>
                <a:cubicBezTo>
                  <a:pt x="1060" y="1034"/>
                  <a:pt x="1056" y="1035"/>
                  <a:pt x="1052" y="1035"/>
                </a:cubicBezTo>
                <a:cubicBezTo>
                  <a:pt x="1048" y="1036"/>
                  <a:pt x="1044" y="1036"/>
                  <a:pt x="1040" y="1037"/>
                </a:cubicBezTo>
                <a:cubicBezTo>
                  <a:pt x="1028" y="1039"/>
                  <a:pt x="1028" y="1039"/>
                  <a:pt x="1028" y="1039"/>
                </a:cubicBezTo>
                <a:cubicBezTo>
                  <a:pt x="1025" y="1039"/>
                  <a:pt x="1025" y="1039"/>
                  <a:pt x="1025" y="1039"/>
                </a:cubicBezTo>
                <a:cubicBezTo>
                  <a:pt x="1024" y="1040"/>
                  <a:pt x="1024" y="1040"/>
                  <a:pt x="1024" y="1040"/>
                </a:cubicBezTo>
                <a:cubicBezTo>
                  <a:pt x="1024" y="1040"/>
                  <a:pt x="1024" y="1040"/>
                  <a:pt x="1024" y="1040"/>
                </a:cubicBezTo>
                <a:cubicBezTo>
                  <a:pt x="1023" y="1040"/>
                  <a:pt x="1023" y="1040"/>
                  <a:pt x="1023" y="1040"/>
                </a:cubicBezTo>
                <a:cubicBezTo>
                  <a:pt x="1022" y="1040"/>
                  <a:pt x="1022" y="1040"/>
                  <a:pt x="1022" y="1040"/>
                </a:cubicBezTo>
                <a:cubicBezTo>
                  <a:pt x="1016" y="1042"/>
                  <a:pt x="1016" y="1042"/>
                  <a:pt x="1016" y="1042"/>
                </a:cubicBezTo>
                <a:cubicBezTo>
                  <a:pt x="1005" y="1044"/>
                  <a:pt x="1005" y="1044"/>
                  <a:pt x="1005" y="1044"/>
                </a:cubicBezTo>
                <a:cubicBezTo>
                  <a:pt x="993" y="1048"/>
                  <a:pt x="993" y="1048"/>
                  <a:pt x="993" y="1048"/>
                </a:cubicBezTo>
                <a:cubicBezTo>
                  <a:pt x="985" y="1050"/>
                  <a:pt x="978" y="1052"/>
                  <a:pt x="970" y="1055"/>
                </a:cubicBezTo>
                <a:cubicBezTo>
                  <a:pt x="955" y="1060"/>
                  <a:pt x="940" y="1066"/>
                  <a:pt x="925" y="1072"/>
                </a:cubicBezTo>
                <a:cubicBezTo>
                  <a:pt x="911" y="1079"/>
                  <a:pt x="896" y="1086"/>
                  <a:pt x="882" y="1093"/>
                </a:cubicBezTo>
                <a:cubicBezTo>
                  <a:pt x="872" y="1099"/>
                  <a:pt x="872" y="1099"/>
                  <a:pt x="872" y="1099"/>
                </a:cubicBezTo>
                <a:cubicBezTo>
                  <a:pt x="861" y="1105"/>
                  <a:pt x="861" y="1105"/>
                  <a:pt x="861" y="1105"/>
                </a:cubicBezTo>
                <a:cubicBezTo>
                  <a:pt x="858" y="1107"/>
                  <a:pt x="854" y="1109"/>
                  <a:pt x="851" y="1112"/>
                </a:cubicBezTo>
                <a:cubicBezTo>
                  <a:pt x="839" y="106"/>
                  <a:pt x="839" y="106"/>
                  <a:pt x="839" y="106"/>
                </a:cubicBezTo>
                <a:cubicBezTo>
                  <a:pt x="826" y="1112"/>
                  <a:pt x="826" y="1112"/>
                  <a:pt x="826" y="1112"/>
                </a:cubicBezTo>
                <a:cubicBezTo>
                  <a:pt x="823" y="1109"/>
                  <a:pt x="819" y="1107"/>
                  <a:pt x="816" y="1105"/>
                </a:cubicBezTo>
                <a:cubicBezTo>
                  <a:pt x="805" y="1099"/>
                  <a:pt x="805" y="1099"/>
                  <a:pt x="805" y="1099"/>
                </a:cubicBezTo>
                <a:cubicBezTo>
                  <a:pt x="795" y="1093"/>
                  <a:pt x="795" y="1093"/>
                  <a:pt x="795" y="1093"/>
                </a:cubicBezTo>
                <a:cubicBezTo>
                  <a:pt x="781" y="1086"/>
                  <a:pt x="766" y="1079"/>
                  <a:pt x="752" y="1072"/>
                </a:cubicBezTo>
                <a:cubicBezTo>
                  <a:pt x="737" y="1066"/>
                  <a:pt x="722" y="1060"/>
                  <a:pt x="707" y="1055"/>
                </a:cubicBezTo>
                <a:cubicBezTo>
                  <a:pt x="699" y="1052"/>
                  <a:pt x="692" y="1050"/>
                  <a:pt x="684" y="1048"/>
                </a:cubicBezTo>
                <a:cubicBezTo>
                  <a:pt x="672" y="1044"/>
                  <a:pt x="672" y="1044"/>
                  <a:pt x="672" y="1044"/>
                </a:cubicBezTo>
                <a:cubicBezTo>
                  <a:pt x="661" y="1042"/>
                  <a:pt x="661" y="1042"/>
                  <a:pt x="661" y="1042"/>
                </a:cubicBezTo>
                <a:cubicBezTo>
                  <a:pt x="655" y="1040"/>
                  <a:pt x="655" y="1040"/>
                  <a:pt x="655" y="1040"/>
                </a:cubicBezTo>
                <a:cubicBezTo>
                  <a:pt x="654" y="1040"/>
                  <a:pt x="654" y="1040"/>
                  <a:pt x="654" y="1040"/>
                </a:cubicBezTo>
                <a:cubicBezTo>
                  <a:pt x="653" y="1040"/>
                  <a:pt x="653" y="1040"/>
                  <a:pt x="653" y="1040"/>
                </a:cubicBezTo>
                <a:cubicBezTo>
                  <a:pt x="653" y="1040"/>
                  <a:pt x="653" y="1040"/>
                  <a:pt x="653" y="1040"/>
                </a:cubicBezTo>
                <a:cubicBezTo>
                  <a:pt x="652" y="1039"/>
                  <a:pt x="652" y="1039"/>
                  <a:pt x="652" y="1039"/>
                </a:cubicBezTo>
                <a:cubicBezTo>
                  <a:pt x="649" y="1039"/>
                  <a:pt x="649" y="1039"/>
                  <a:pt x="649" y="1039"/>
                </a:cubicBezTo>
                <a:cubicBezTo>
                  <a:pt x="637" y="1037"/>
                  <a:pt x="637" y="1037"/>
                  <a:pt x="637" y="1037"/>
                </a:cubicBezTo>
                <a:cubicBezTo>
                  <a:pt x="633" y="1036"/>
                  <a:pt x="629" y="1036"/>
                  <a:pt x="625" y="1035"/>
                </a:cubicBezTo>
                <a:cubicBezTo>
                  <a:pt x="621" y="1035"/>
                  <a:pt x="617" y="1034"/>
                  <a:pt x="613" y="1034"/>
                </a:cubicBezTo>
                <a:cubicBezTo>
                  <a:pt x="597" y="1032"/>
                  <a:pt x="581" y="1032"/>
                  <a:pt x="565" y="1032"/>
                </a:cubicBezTo>
                <a:cubicBezTo>
                  <a:pt x="553" y="1032"/>
                  <a:pt x="553" y="1032"/>
                  <a:pt x="553" y="1032"/>
                </a:cubicBezTo>
                <a:cubicBezTo>
                  <a:pt x="541" y="1033"/>
                  <a:pt x="541" y="1033"/>
                  <a:pt x="541" y="1033"/>
                </a:cubicBezTo>
                <a:cubicBezTo>
                  <a:pt x="533" y="1033"/>
                  <a:pt x="525" y="1034"/>
                  <a:pt x="517" y="1034"/>
                </a:cubicBezTo>
                <a:cubicBezTo>
                  <a:pt x="509" y="1035"/>
                  <a:pt x="501" y="1036"/>
                  <a:pt x="493" y="1036"/>
                </a:cubicBezTo>
                <a:cubicBezTo>
                  <a:pt x="470" y="1039"/>
                  <a:pt x="470" y="1039"/>
                  <a:pt x="470" y="1039"/>
                </a:cubicBezTo>
                <a:cubicBezTo>
                  <a:pt x="423" y="1044"/>
                  <a:pt x="423" y="1044"/>
                  <a:pt x="423" y="1044"/>
                </a:cubicBezTo>
                <a:cubicBezTo>
                  <a:pt x="408" y="1046"/>
                  <a:pt x="392" y="1047"/>
                  <a:pt x="377" y="1048"/>
                </a:cubicBezTo>
                <a:cubicBezTo>
                  <a:pt x="369" y="1049"/>
                  <a:pt x="362" y="1049"/>
                  <a:pt x="354" y="1050"/>
                </a:cubicBezTo>
                <a:cubicBezTo>
                  <a:pt x="350" y="1050"/>
                  <a:pt x="346" y="1050"/>
                  <a:pt x="342" y="1050"/>
                </a:cubicBezTo>
                <a:cubicBezTo>
                  <a:pt x="336" y="1051"/>
                  <a:pt x="336" y="1051"/>
                  <a:pt x="336" y="1051"/>
                </a:cubicBezTo>
                <a:cubicBezTo>
                  <a:pt x="333" y="1051"/>
                  <a:pt x="333" y="1051"/>
                  <a:pt x="333" y="1051"/>
                </a:cubicBezTo>
                <a:cubicBezTo>
                  <a:pt x="333" y="1051"/>
                  <a:pt x="332" y="1051"/>
                  <a:pt x="331" y="1051"/>
                </a:cubicBezTo>
                <a:cubicBezTo>
                  <a:pt x="316" y="1051"/>
                  <a:pt x="300" y="1050"/>
                  <a:pt x="285" y="1048"/>
                </a:cubicBezTo>
                <a:cubicBezTo>
                  <a:pt x="274" y="1046"/>
                  <a:pt x="274" y="1046"/>
                  <a:pt x="274" y="1046"/>
                </a:cubicBezTo>
                <a:cubicBezTo>
                  <a:pt x="262" y="1045"/>
                  <a:pt x="262" y="1045"/>
                  <a:pt x="262" y="1045"/>
                </a:cubicBezTo>
                <a:cubicBezTo>
                  <a:pt x="255" y="1043"/>
                  <a:pt x="247" y="1042"/>
                  <a:pt x="240" y="1040"/>
                </a:cubicBezTo>
                <a:cubicBezTo>
                  <a:pt x="232" y="1039"/>
                  <a:pt x="225" y="1037"/>
                  <a:pt x="217" y="1035"/>
                </a:cubicBezTo>
                <a:cubicBezTo>
                  <a:pt x="210" y="1033"/>
                  <a:pt x="202" y="1031"/>
                  <a:pt x="195" y="1029"/>
                </a:cubicBezTo>
                <a:cubicBezTo>
                  <a:pt x="180" y="1025"/>
                  <a:pt x="165" y="1020"/>
                  <a:pt x="151" y="1015"/>
                </a:cubicBezTo>
                <a:cubicBezTo>
                  <a:pt x="138" y="1010"/>
                  <a:pt x="125" y="1006"/>
                  <a:pt x="113" y="1000"/>
                </a:cubicBezTo>
                <a:cubicBezTo>
                  <a:pt x="107" y="8"/>
                  <a:pt x="107" y="8"/>
                  <a:pt x="107" y="8"/>
                </a:cubicBezTo>
                <a:cubicBezTo>
                  <a:pt x="134" y="16"/>
                  <a:pt x="134" y="16"/>
                  <a:pt x="134" y="16"/>
                </a:cubicBezTo>
                <a:cubicBezTo>
                  <a:pt x="139" y="17"/>
                  <a:pt x="144" y="19"/>
                  <a:pt x="149" y="20"/>
                </a:cubicBezTo>
                <a:cubicBezTo>
                  <a:pt x="165" y="24"/>
                  <a:pt x="165" y="24"/>
                  <a:pt x="165" y="24"/>
                </a:cubicBezTo>
                <a:cubicBezTo>
                  <a:pt x="180" y="27"/>
                  <a:pt x="180" y="27"/>
                  <a:pt x="180" y="27"/>
                </a:cubicBezTo>
                <a:cubicBezTo>
                  <a:pt x="188" y="29"/>
                  <a:pt x="188" y="29"/>
                  <a:pt x="188" y="29"/>
                </a:cubicBezTo>
                <a:cubicBezTo>
                  <a:pt x="191" y="30"/>
                  <a:pt x="193" y="30"/>
                  <a:pt x="196" y="30"/>
                </a:cubicBezTo>
                <a:cubicBezTo>
                  <a:pt x="227" y="36"/>
                  <a:pt x="227" y="36"/>
                  <a:pt x="227" y="36"/>
                </a:cubicBezTo>
                <a:cubicBezTo>
                  <a:pt x="232" y="37"/>
                  <a:pt x="238" y="38"/>
                  <a:pt x="243" y="39"/>
                </a:cubicBezTo>
                <a:cubicBezTo>
                  <a:pt x="259" y="41"/>
                  <a:pt x="259" y="41"/>
                  <a:pt x="259" y="41"/>
                </a:cubicBezTo>
                <a:cubicBezTo>
                  <a:pt x="275" y="43"/>
                  <a:pt x="275" y="43"/>
                  <a:pt x="275" y="43"/>
                </a:cubicBezTo>
                <a:cubicBezTo>
                  <a:pt x="280" y="44"/>
                  <a:pt x="285" y="44"/>
                  <a:pt x="290" y="45"/>
                </a:cubicBezTo>
                <a:cubicBezTo>
                  <a:pt x="301" y="46"/>
                  <a:pt x="311" y="47"/>
                  <a:pt x="322" y="48"/>
                </a:cubicBezTo>
                <a:cubicBezTo>
                  <a:pt x="354" y="51"/>
                  <a:pt x="354" y="51"/>
                  <a:pt x="354" y="51"/>
                </a:cubicBezTo>
                <a:cubicBezTo>
                  <a:pt x="359" y="51"/>
                  <a:pt x="364" y="52"/>
                  <a:pt x="370" y="52"/>
                </a:cubicBezTo>
                <a:cubicBezTo>
                  <a:pt x="386" y="53"/>
                  <a:pt x="386" y="53"/>
                  <a:pt x="386" y="53"/>
                </a:cubicBezTo>
                <a:cubicBezTo>
                  <a:pt x="402" y="53"/>
                  <a:pt x="402" y="53"/>
                  <a:pt x="402" y="53"/>
                </a:cubicBezTo>
                <a:cubicBezTo>
                  <a:pt x="417" y="54"/>
                  <a:pt x="417" y="54"/>
                  <a:pt x="417" y="54"/>
                </a:cubicBezTo>
                <a:cubicBezTo>
                  <a:pt x="428" y="54"/>
                  <a:pt x="439" y="54"/>
                  <a:pt x="449" y="54"/>
                </a:cubicBezTo>
                <a:cubicBezTo>
                  <a:pt x="460" y="54"/>
                  <a:pt x="471" y="54"/>
                  <a:pt x="481" y="54"/>
                </a:cubicBezTo>
                <a:cubicBezTo>
                  <a:pt x="492" y="54"/>
                  <a:pt x="502" y="54"/>
                  <a:pt x="513" y="53"/>
                </a:cubicBezTo>
                <a:cubicBezTo>
                  <a:pt x="524" y="53"/>
                  <a:pt x="534" y="53"/>
                  <a:pt x="545" y="52"/>
                </a:cubicBezTo>
                <a:cubicBezTo>
                  <a:pt x="561" y="51"/>
                  <a:pt x="561" y="51"/>
                  <a:pt x="561" y="51"/>
                </a:cubicBezTo>
                <a:cubicBezTo>
                  <a:pt x="577" y="50"/>
                  <a:pt x="577" y="50"/>
                  <a:pt x="577" y="50"/>
                </a:cubicBezTo>
                <a:cubicBezTo>
                  <a:pt x="587" y="49"/>
                  <a:pt x="598" y="48"/>
                  <a:pt x="608" y="47"/>
                </a:cubicBezTo>
                <a:cubicBezTo>
                  <a:pt x="598" y="48"/>
                  <a:pt x="587" y="49"/>
                  <a:pt x="577" y="50"/>
                </a:cubicBezTo>
                <a:cubicBezTo>
                  <a:pt x="561" y="51"/>
                  <a:pt x="561" y="51"/>
                  <a:pt x="561" y="51"/>
                </a:cubicBezTo>
                <a:cubicBezTo>
                  <a:pt x="545" y="51"/>
                  <a:pt x="545" y="51"/>
                  <a:pt x="545" y="51"/>
                </a:cubicBezTo>
                <a:cubicBezTo>
                  <a:pt x="534" y="52"/>
                  <a:pt x="524" y="52"/>
                  <a:pt x="513" y="52"/>
                </a:cubicBezTo>
                <a:cubicBezTo>
                  <a:pt x="502" y="52"/>
                  <a:pt x="492" y="52"/>
                  <a:pt x="481" y="53"/>
                </a:cubicBezTo>
                <a:cubicBezTo>
                  <a:pt x="471" y="53"/>
                  <a:pt x="460" y="52"/>
                  <a:pt x="449" y="52"/>
                </a:cubicBezTo>
                <a:cubicBezTo>
                  <a:pt x="439" y="52"/>
                  <a:pt x="428" y="52"/>
                  <a:pt x="418" y="51"/>
                </a:cubicBezTo>
                <a:cubicBezTo>
                  <a:pt x="402" y="51"/>
                  <a:pt x="402" y="51"/>
                  <a:pt x="402" y="51"/>
                </a:cubicBezTo>
                <a:cubicBezTo>
                  <a:pt x="386" y="50"/>
                  <a:pt x="386" y="50"/>
                  <a:pt x="386" y="50"/>
                </a:cubicBezTo>
                <a:cubicBezTo>
                  <a:pt x="370" y="49"/>
                  <a:pt x="370" y="49"/>
                  <a:pt x="370" y="49"/>
                </a:cubicBezTo>
                <a:cubicBezTo>
                  <a:pt x="365" y="49"/>
                  <a:pt x="359" y="48"/>
                  <a:pt x="354" y="48"/>
                </a:cubicBezTo>
                <a:cubicBezTo>
                  <a:pt x="322" y="45"/>
                  <a:pt x="322" y="45"/>
                  <a:pt x="322" y="45"/>
                </a:cubicBezTo>
                <a:cubicBezTo>
                  <a:pt x="312" y="44"/>
                  <a:pt x="301" y="43"/>
                  <a:pt x="291" y="41"/>
                </a:cubicBezTo>
                <a:cubicBezTo>
                  <a:pt x="286" y="41"/>
                  <a:pt x="280" y="40"/>
                  <a:pt x="275" y="39"/>
                </a:cubicBezTo>
                <a:cubicBezTo>
                  <a:pt x="259" y="37"/>
                  <a:pt x="259" y="37"/>
                  <a:pt x="259" y="37"/>
                </a:cubicBezTo>
                <a:cubicBezTo>
                  <a:pt x="244" y="35"/>
                  <a:pt x="244" y="35"/>
                  <a:pt x="244" y="35"/>
                </a:cubicBezTo>
                <a:cubicBezTo>
                  <a:pt x="238" y="34"/>
                  <a:pt x="233" y="33"/>
                  <a:pt x="228" y="32"/>
                </a:cubicBezTo>
                <a:cubicBezTo>
                  <a:pt x="197" y="26"/>
                  <a:pt x="197" y="26"/>
                  <a:pt x="197" y="26"/>
                </a:cubicBezTo>
                <a:cubicBezTo>
                  <a:pt x="194" y="25"/>
                  <a:pt x="192" y="25"/>
                  <a:pt x="189" y="24"/>
                </a:cubicBezTo>
                <a:cubicBezTo>
                  <a:pt x="181" y="22"/>
                  <a:pt x="181" y="22"/>
                  <a:pt x="181" y="22"/>
                </a:cubicBezTo>
                <a:cubicBezTo>
                  <a:pt x="166" y="19"/>
                  <a:pt x="166" y="19"/>
                  <a:pt x="166" y="19"/>
                </a:cubicBezTo>
                <a:cubicBezTo>
                  <a:pt x="150" y="15"/>
                  <a:pt x="150" y="15"/>
                  <a:pt x="150" y="15"/>
                </a:cubicBezTo>
                <a:cubicBezTo>
                  <a:pt x="145" y="14"/>
                  <a:pt x="140" y="12"/>
                  <a:pt x="135" y="10"/>
                </a:cubicBezTo>
                <a:cubicBezTo>
                  <a:pt x="105" y="1"/>
                  <a:pt x="105" y="1"/>
                  <a:pt x="105" y="1"/>
                </a:cubicBezTo>
                <a:cubicBezTo>
                  <a:pt x="101" y="0"/>
                  <a:pt x="101" y="0"/>
                  <a:pt x="101" y="0"/>
                </a:cubicBezTo>
                <a:cubicBezTo>
                  <a:pt x="101" y="4"/>
                  <a:pt x="101" y="4"/>
                  <a:pt x="101" y="4"/>
                </a:cubicBezTo>
                <a:cubicBezTo>
                  <a:pt x="95" y="1006"/>
                  <a:pt x="95" y="1006"/>
                  <a:pt x="95" y="1006"/>
                </a:cubicBezTo>
                <a:cubicBezTo>
                  <a:pt x="95" y="1012"/>
                  <a:pt x="95" y="1012"/>
                  <a:pt x="95" y="1012"/>
                </a:cubicBezTo>
                <a:cubicBezTo>
                  <a:pt x="100" y="1014"/>
                  <a:pt x="100" y="1014"/>
                  <a:pt x="100" y="1014"/>
                </a:cubicBezTo>
                <a:cubicBezTo>
                  <a:pt x="115" y="1021"/>
                  <a:pt x="130" y="1026"/>
                  <a:pt x="145" y="1032"/>
                </a:cubicBezTo>
                <a:cubicBezTo>
                  <a:pt x="159" y="1037"/>
                  <a:pt x="174" y="1042"/>
                  <a:pt x="190" y="1047"/>
                </a:cubicBezTo>
                <a:cubicBezTo>
                  <a:pt x="197" y="1049"/>
                  <a:pt x="205" y="1051"/>
                  <a:pt x="213" y="1053"/>
                </a:cubicBezTo>
                <a:cubicBezTo>
                  <a:pt x="220" y="1055"/>
                  <a:pt x="228" y="1057"/>
                  <a:pt x="236" y="1059"/>
                </a:cubicBezTo>
                <a:cubicBezTo>
                  <a:pt x="243" y="1061"/>
                  <a:pt x="251" y="1062"/>
                  <a:pt x="259" y="1064"/>
                </a:cubicBezTo>
                <a:cubicBezTo>
                  <a:pt x="271" y="1066"/>
                  <a:pt x="271" y="1066"/>
                  <a:pt x="271" y="1066"/>
                </a:cubicBezTo>
                <a:cubicBezTo>
                  <a:pt x="283" y="1067"/>
                  <a:pt x="283" y="1067"/>
                  <a:pt x="283" y="1067"/>
                </a:cubicBezTo>
                <a:cubicBezTo>
                  <a:pt x="299" y="1070"/>
                  <a:pt x="315" y="1071"/>
                  <a:pt x="331" y="1071"/>
                </a:cubicBezTo>
                <a:cubicBezTo>
                  <a:pt x="332" y="1071"/>
                  <a:pt x="333" y="1071"/>
                  <a:pt x="334" y="1071"/>
                </a:cubicBezTo>
                <a:cubicBezTo>
                  <a:pt x="337" y="1071"/>
                  <a:pt x="337" y="1071"/>
                  <a:pt x="337" y="1071"/>
                </a:cubicBezTo>
                <a:cubicBezTo>
                  <a:pt x="343" y="1071"/>
                  <a:pt x="343" y="1071"/>
                  <a:pt x="343" y="1071"/>
                </a:cubicBezTo>
                <a:cubicBezTo>
                  <a:pt x="355" y="1070"/>
                  <a:pt x="355" y="1070"/>
                  <a:pt x="355" y="1070"/>
                </a:cubicBezTo>
                <a:cubicBezTo>
                  <a:pt x="363" y="1070"/>
                  <a:pt x="371" y="1070"/>
                  <a:pt x="378" y="1069"/>
                </a:cubicBezTo>
                <a:cubicBezTo>
                  <a:pt x="394" y="1068"/>
                  <a:pt x="410" y="1067"/>
                  <a:pt x="426" y="1065"/>
                </a:cubicBezTo>
                <a:cubicBezTo>
                  <a:pt x="472" y="1061"/>
                  <a:pt x="472" y="1061"/>
                  <a:pt x="472" y="1061"/>
                </a:cubicBezTo>
                <a:cubicBezTo>
                  <a:pt x="496" y="1058"/>
                  <a:pt x="496" y="1058"/>
                  <a:pt x="496" y="1058"/>
                </a:cubicBezTo>
                <a:cubicBezTo>
                  <a:pt x="503" y="1058"/>
                  <a:pt x="511" y="1057"/>
                  <a:pt x="519" y="1057"/>
                </a:cubicBezTo>
                <a:cubicBezTo>
                  <a:pt x="526" y="1056"/>
                  <a:pt x="534" y="1056"/>
                  <a:pt x="542" y="1055"/>
                </a:cubicBezTo>
                <a:cubicBezTo>
                  <a:pt x="553" y="1055"/>
                  <a:pt x="553" y="1055"/>
                  <a:pt x="553" y="1055"/>
                </a:cubicBezTo>
                <a:cubicBezTo>
                  <a:pt x="565" y="1055"/>
                  <a:pt x="565" y="1055"/>
                  <a:pt x="565" y="1055"/>
                </a:cubicBezTo>
                <a:cubicBezTo>
                  <a:pt x="580" y="1055"/>
                  <a:pt x="595" y="1056"/>
                  <a:pt x="611" y="1057"/>
                </a:cubicBezTo>
                <a:cubicBezTo>
                  <a:pt x="614" y="1057"/>
                  <a:pt x="618" y="1058"/>
                  <a:pt x="622" y="1058"/>
                </a:cubicBezTo>
                <a:cubicBezTo>
                  <a:pt x="626" y="1059"/>
                  <a:pt x="629" y="1059"/>
                  <a:pt x="633" y="1060"/>
                </a:cubicBezTo>
                <a:cubicBezTo>
                  <a:pt x="644" y="1062"/>
                  <a:pt x="644" y="1062"/>
                  <a:pt x="644" y="1062"/>
                </a:cubicBezTo>
                <a:cubicBezTo>
                  <a:pt x="647" y="1063"/>
                  <a:pt x="647" y="1063"/>
                  <a:pt x="647" y="1063"/>
                </a:cubicBezTo>
                <a:cubicBezTo>
                  <a:pt x="648" y="1063"/>
                  <a:pt x="648" y="1063"/>
                  <a:pt x="648" y="1063"/>
                </a:cubicBezTo>
                <a:cubicBezTo>
                  <a:pt x="649" y="1063"/>
                  <a:pt x="649" y="1063"/>
                  <a:pt x="649" y="1063"/>
                </a:cubicBezTo>
                <a:cubicBezTo>
                  <a:pt x="655" y="1065"/>
                  <a:pt x="655" y="1065"/>
                  <a:pt x="655" y="1065"/>
                </a:cubicBezTo>
                <a:cubicBezTo>
                  <a:pt x="666" y="1068"/>
                  <a:pt x="666" y="1068"/>
                  <a:pt x="666" y="1068"/>
                </a:cubicBezTo>
                <a:cubicBezTo>
                  <a:pt x="677" y="1071"/>
                  <a:pt x="677" y="1071"/>
                  <a:pt x="677" y="1071"/>
                </a:cubicBezTo>
                <a:cubicBezTo>
                  <a:pt x="684" y="1073"/>
                  <a:pt x="692" y="1076"/>
                  <a:pt x="699" y="1078"/>
                </a:cubicBezTo>
                <a:cubicBezTo>
                  <a:pt x="711" y="1082"/>
                  <a:pt x="722" y="1087"/>
                  <a:pt x="734" y="1092"/>
                </a:cubicBezTo>
                <a:cubicBezTo>
                  <a:pt x="725" y="1090"/>
                  <a:pt x="716" y="1088"/>
                  <a:pt x="708" y="1087"/>
                </a:cubicBezTo>
                <a:cubicBezTo>
                  <a:pt x="703" y="1087"/>
                  <a:pt x="699" y="1086"/>
                  <a:pt x="694" y="1085"/>
                </a:cubicBezTo>
                <a:cubicBezTo>
                  <a:pt x="680" y="1084"/>
                  <a:pt x="680" y="1084"/>
                  <a:pt x="680" y="1084"/>
                </a:cubicBezTo>
                <a:cubicBezTo>
                  <a:pt x="674" y="1084"/>
                  <a:pt x="674" y="1084"/>
                  <a:pt x="674" y="1084"/>
                </a:cubicBezTo>
                <a:cubicBezTo>
                  <a:pt x="667" y="1083"/>
                  <a:pt x="667" y="1083"/>
                  <a:pt x="667" y="1083"/>
                </a:cubicBezTo>
                <a:cubicBezTo>
                  <a:pt x="653" y="1083"/>
                  <a:pt x="653" y="1083"/>
                  <a:pt x="653" y="1083"/>
                </a:cubicBezTo>
                <a:cubicBezTo>
                  <a:pt x="649" y="1083"/>
                  <a:pt x="644" y="1083"/>
                  <a:pt x="639" y="1083"/>
                </a:cubicBezTo>
                <a:cubicBezTo>
                  <a:pt x="625" y="1083"/>
                  <a:pt x="625" y="1083"/>
                  <a:pt x="625" y="1083"/>
                </a:cubicBezTo>
                <a:cubicBezTo>
                  <a:pt x="623" y="1083"/>
                  <a:pt x="621" y="1083"/>
                  <a:pt x="618" y="1083"/>
                </a:cubicBezTo>
                <a:cubicBezTo>
                  <a:pt x="612" y="1084"/>
                  <a:pt x="612" y="1084"/>
                  <a:pt x="612" y="1084"/>
                </a:cubicBezTo>
                <a:cubicBezTo>
                  <a:pt x="599" y="1085"/>
                  <a:pt x="599" y="1085"/>
                  <a:pt x="599" y="1085"/>
                </a:cubicBezTo>
                <a:cubicBezTo>
                  <a:pt x="595" y="1085"/>
                  <a:pt x="595" y="1085"/>
                  <a:pt x="595" y="1085"/>
                </a:cubicBezTo>
                <a:cubicBezTo>
                  <a:pt x="592" y="1086"/>
                  <a:pt x="592" y="1086"/>
                  <a:pt x="592" y="1086"/>
                </a:cubicBezTo>
                <a:cubicBezTo>
                  <a:pt x="585" y="1087"/>
                  <a:pt x="585" y="1087"/>
                  <a:pt x="585" y="1087"/>
                </a:cubicBezTo>
                <a:cubicBezTo>
                  <a:pt x="572" y="1088"/>
                  <a:pt x="572" y="1088"/>
                  <a:pt x="572" y="1088"/>
                </a:cubicBezTo>
                <a:cubicBezTo>
                  <a:pt x="555" y="1091"/>
                  <a:pt x="537" y="1094"/>
                  <a:pt x="520" y="1097"/>
                </a:cubicBezTo>
                <a:cubicBezTo>
                  <a:pt x="512" y="1099"/>
                  <a:pt x="503" y="1101"/>
                  <a:pt x="495" y="1103"/>
                </a:cubicBezTo>
                <a:cubicBezTo>
                  <a:pt x="470" y="1108"/>
                  <a:pt x="470" y="1108"/>
                  <a:pt x="470" y="1108"/>
                </a:cubicBezTo>
                <a:cubicBezTo>
                  <a:pt x="420" y="1118"/>
                  <a:pt x="420" y="1118"/>
                  <a:pt x="420" y="1118"/>
                </a:cubicBezTo>
                <a:cubicBezTo>
                  <a:pt x="404" y="1121"/>
                  <a:pt x="387" y="1125"/>
                  <a:pt x="371" y="1127"/>
                </a:cubicBezTo>
                <a:cubicBezTo>
                  <a:pt x="354" y="1130"/>
                  <a:pt x="338" y="1132"/>
                  <a:pt x="321" y="1135"/>
                </a:cubicBezTo>
                <a:cubicBezTo>
                  <a:pt x="296" y="1137"/>
                  <a:pt x="296" y="1137"/>
                  <a:pt x="296" y="1137"/>
                </a:cubicBezTo>
                <a:cubicBezTo>
                  <a:pt x="284" y="1139"/>
                  <a:pt x="284" y="1139"/>
                  <a:pt x="284" y="1139"/>
                </a:cubicBezTo>
                <a:cubicBezTo>
                  <a:pt x="271" y="1140"/>
                  <a:pt x="271" y="1140"/>
                  <a:pt x="271" y="1140"/>
                </a:cubicBezTo>
                <a:cubicBezTo>
                  <a:pt x="246" y="1141"/>
                  <a:pt x="246" y="1141"/>
                  <a:pt x="246" y="1141"/>
                </a:cubicBezTo>
                <a:cubicBezTo>
                  <a:pt x="238" y="1142"/>
                  <a:pt x="230" y="1142"/>
                  <a:pt x="222" y="1142"/>
                </a:cubicBezTo>
                <a:cubicBezTo>
                  <a:pt x="205" y="1143"/>
                  <a:pt x="188" y="1142"/>
                  <a:pt x="172" y="1142"/>
                </a:cubicBezTo>
                <a:cubicBezTo>
                  <a:pt x="163" y="1142"/>
                  <a:pt x="155" y="1141"/>
                  <a:pt x="147" y="1140"/>
                </a:cubicBezTo>
                <a:cubicBezTo>
                  <a:pt x="122" y="1139"/>
                  <a:pt x="122" y="1139"/>
                  <a:pt x="122" y="1139"/>
                </a:cubicBezTo>
                <a:cubicBezTo>
                  <a:pt x="105" y="1137"/>
                  <a:pt x="88" y="1135"/>
                  <a:pt x="72" y="1133"/>
                </a:cubicBezTo>
                <a:cubicBezTo>
                  <a:pt x="36" y="1127"/>
                  <a:pt x="36" y="1127"/>
                  <a:pt x="36" y="1127"/>
                </a:cubicBezTo>
                <a:cubicBezTo>
                  <a:pt x="19" y="159"/>
                  <a:pt x="19" y="159"/>
                  <a:pt x="19" y="159"/>
                </a:cubicBezTo>
                <a:cubicBezTo>
                  <a:pt x="1" y="1142"/>
                  <a:pt x="1" y="1142"/>
                  <a:pt x="1" y="1142"/>
                </a:cubicBezTo>
                <a:cubicBezTo>
                  <a:pt x="0" y="1157"/>
                  <a:pt x="0" y="1157"/>
                  <a:pt x="0" y="1157"/>
                </a:cubicBezTo>
                <a:cubicBezTo>
                  <a:pt x="15" y="1160"/>
                  <a:pt x="15" y="1160"/>
                  <a:pt x="15" y="1160"/>
                </a:cubicBezTo>
                <a:cubicBezTo>
                  <a:pt x="66" y="1170"/>
                  <a:pt x="66" y="1170"/>
                  <a:pt x="66" y="1170"/>
                </a:cubicBezTo>
                <a:cubicBezTo>
                  <a:pt x="83" y="1173"/>
                  <a:pt x="100" y="1176"/>
                  <a:pt x="117" y="1178"/>
                </a:cubicBezTo>
                <a:cubicBezTo>
                  <a:pt x="143" y="1181"/>
                  <a:pt x="143" y="1181"/>
                  <a:pt x="143" y="1181"/>
                </a:cubicBezTo>
                <a:cubicBezTo>
                  <a:pt x="152" y="1181"/>
                  <a:pt x="161" y="1183"/>
                  <a:pt x="169" y="1183"/>
                </a:cubicBezTo>
                <a:cubicBezTo>
                  <a:pt x="187" y="1184"/>
                  <a:pt x="204" y="1185"/>
                  <a:pt x="222" y="1185"/>
                </a:cubicBezTo>
                <a:cubicBezTo>
                  <a:pt x="230" y="1185"/>
                  <a:pt x="239" y="1185"/>
                  <a:pt x="248" y="1185"/>
                </a:cubicBezTo>
                <a:cubicBezTo>
                  <a:pt x="274" y="1185"/>
                  <a:pt x="274" y="1185"/>
                  <a:pt x="274" y="1185"/>
                </a:cubicBezTo>
                <a:cubicBezTo>
                  <a:pt x="287" y="1184"/>
                  <a:pt x="287" y="1184"/>
                  <a:pt x="287" y="1184"/>
                </a:cubicBezTo>
                <a:cubicBezTo>
                  <a:pt x="300" y="1183"/>
                  <a:pt x="300" y="1183"/>
                  <a:pt x="300" y="1183"/>
                </a:cubicBezTo>
                <a:cubicBezTo>
                  <a:pt x="309" y="1183"/>
                  <a:pt x="317" y="1182"/>
                  <a:pt x="326" y="1181"/>
                </a:cubicBezTo>
                <a:cubicBezTo>
                  <a:pt x="343" y="1180"/>
                  <a:pt x="361" y="1178"/>
                  <a:pt x="378" y="1176"/>
                </a:cubicBezTo>
                <a:cubicBezTo>
                  <a:pt x="395" y="1173"/>
                  <a:pt x="412" y="1171"/>
                  <a:pt x="429" y="1168"/>
                </a:cubicBezTo>
                <a:cubicBezTo>
                  <a:pt x="480" y="1159"/>
                  <a:pt x="480" y="1159"/>
                  <a:pt x="480" y="1159"/>
                </a:cubicBezTo>
                <a:cubicBezTo>
                  <a:pt x="505" y="1155"/>
                  <a:pt x="505" y="1155"/>
                  <a:pt x="505" y="1155"/>
                </a:cubicBezTo>
                <a:cubicBezTo>
                  <a:pt x="513" y="1154"/>
                  <a:pt x="522" y="1152"/>
                  <a:pt x="530" y="1151"/>
                </a:cubicBezTo>
                <a:cubicBezTo>
                  <a:pt x="547" y="1148"/>
                  <a:pt x="563" y="1146"/>
                  <a:pt x="579" y="1144"/>
                </a:cubicBezTo>
                <a:cubicBezTo>
                  <a:pt x="591" y="1143"/>
                  <a:pt x="591" y="1143"/>
                  <a:pt x="591" y="1143"/>
                </a:cubicBezTo>
                <a:cubicBezTo>
                  <a:pt x="597" y="1142"/>
                  <a:pt x="597" y="1142"/>
                  <a:pt x="597" y="1142"/>
                </a:cubicBezTo>
                <a:cubicBezTo>
                  <a:pt x="600" y="1142"/>
                  <a:pt x="600" y="1142"/>
                  <a:pt x="600" y="1142"/>
                </a:cubicBezTo>
                <a:cubicBezTo>
                  <a:pt x="601" y="1142"/>
                  <a:pt x="601" y="1142"/>
                  <a:pt x="601" y="1142"/>
                </a:cubicBezTo>
                <a:cubicBezTo>
                  <a:pt x="603" y="1142"/>
                  <a:pt x="603" y="1142"/>
                  <a:pt x="603" y="1142"/>
                </a:cubicBezTo>
                <a:cubicBezTo>
                  <a:pt x="615" y="1141"/>
                  <a:pt x="615" y="1141"/>
                  <a:pt x="615" y="1141"/>
                </a:cubicBezTo>
                <a:cubicBezTo>
                  <a:pt x="622" y="1141"/>
                  <a:pt x="622" y="1141"/>
                  <a:pt x="622" y="1141"/>
                </a:cubicBezTo>
                <a:cubicBezTo>
                  <a:pt x="624" y="1141"/>
                  <a:pt x="626" y="1141"/>
                  <a:pt x="628" y="1141"/>
                </a:cubicBezTo>
                <a:cubicBezTo>
                  <a:pt x="640" y="1141"/>
                  <a:pt x="640" y="1141"/>
                  <a:pt x="640" y="1141"/>
                </a:cubicBezTo>
                <a:cubicBezTo>
                  <a:pt x="643" y="1141"/>
                  <a:pt x="647" y="1141"/>
                  <a:pt x="651" y="1142"/>
                </a:cubicBezTo>
                <a:cubicBezTo>
                  <a:pt x="663" y="1143"/>
                  <a:pt x="663" y="1143"/>
                  <a:pt x="663" y="1143"/>
                </a:cubicBezTo>
                <a:cubicBezTo>
                  <a:pt x="669" y="1143"/>
                  <a:pt x="669" y="1143"/>
                  <a:pt x="669" y="1143"/>
                </a:cubicBezTo>
                <a:cubicBezTo>
                  <a:pt x="675" y="1144"/>
                  <a:pt x="675" y="1144"/>
                  <a:pt x="675" y="1144"/>
                </a:cubicBezTo>
                <a:cubicBezTo>
                  <a:pt x="686" y="1145"/>
                  <a:pt x="686" y="1145"/>
                  <a:pt x="686" y="1145"/>
                </a:cubicBezTo>
                <a:cubicBezTo>
                  <a:pt x="690" y="1146"/>
                  <a:pt x="694" y="1147"/>
                  <a:pt x="698" y="1147"/>
                </a:cubicBezTo>
                <a:cubicBezTo>
                  <a:pt x="706" y="1148"/>
                  <a:pt x="714" y="1150"/>
                  <a:pt x="721" y="1152"/>
                </a:cubicBezTo>
                <a:cubicBezTo>
                  <a:pt x="736" y="1156"/>
                  <a:pt x="751" y="1161"/>
                  <a:pt x="766" y="1166"/>
                </a:cubicBezTo>
                <a:cubicBezTo>
                  <a:pt x="776" y="1171"/>
                  <a:pt x="776" y="1171"/>
                  <a:pt x="776" y="1171"/>
                </a:cubicBezTo>
                <a:cubicBezTo>
                  <a:pt x="780" y="1173"/>
                  <a:pt x="783" y="1174"/>
                  <a:pt x="786" y="1176"/>
                </a:cubicBezTo>
                <a:cubicBezTo>
                  <a:pt x="790" y="1178"/>
                  <a:pt x="793" y="1179"/>
                  <a:pt x="796" y="1181"/>
                </a:cubicBezTo>
                <a:cubicBezTo>
                  <a:pt x="798" y="1182"/>
                  <a:pt x="799" y="1183"/>
                  <a:pt x="801" y="1184"/>
                </a:cubicBezTo>
                <a:cubicBezTo>
                  <a:pt x="801" y="1184"/>
                  <a:pt x="802" y="1185"/>
                  <a:pt x="803" y="1185"/>
                </a:cubicBezTo>
                <a:cubicBezTo>
                  <a:pt x="804" y="1186"/>
                  <a:pt x="804" y="1186"/>
                  <a:pt x="804" y="1186"/>
                </a:cubicBezTo>
                <a:cubicBezTo>
                  <a:pt x="804" y="1186"/>
                  <a:pt x="804" y="1186"/>
                  <a:pt x="804" y="1186"/>
                </a:cubicBezTo>
                <a:cubicBezTo>
                  <a:pt x="804" y="1186"/>
                  <a:pt x="804" y="1186"/>
                  <a:pt x="804" y="1186"/>
                </a:cubicBezTo>
                <a:cubicBezTo>
                  <a:pt x="873" y="1186"/>
                  <a:pt x="873" y="1186"/>
                  <a:pt x="873" y="1186"/>
                </a:cubicBezTo>
                <a:cubicBezTo>
                  <a:pt x="873" y="1186"/>
                  <a:pt x="873" y="1186"/>
                  <a:pt x="873" y="1186"/>
                </a:cubicBezTo>
                <a:cubicBezTo>
                  <a:pt x="873" y="1186"/>
                  <a:pt x="873" y="1186"/>
                  <a:pt x="873" y="1186"/>
                </a:cubicBezTo>
                <a:cubicBezTo>
                  <a:pt x="874" y="1185"/>
                  <a:pt x="874" y="1185"/>
                  <a:pt x="874" y="1185"/>
                </a:cubicBezTo>
                <a:cubicBezTo>
                  <a:pt x="875" y="1185"/>
                  <a:pt x="876" y="1184"/>
                  <a:pt x="876" y="1184"/>
                </a:cubicBezTo>
                <a:cubicBezTo>
                  <a:pt x="878" y="1183"/>
                  <a:pt x="879" y="1182"/>
                  <a:pt x="881" y="1181"/>
                </a:cubicBezTo>
                <a:cubicBezTo>
                  <a:pt x="884" y="1179"/>
                  <a:pt x="887" y="1178"/>
                  <a:pt x="891" y="1176"/>
                </a:cubicBezTo>
                <a:cubicBezTo>
                  <a:pt x="894" y="1174"/>
                  <a:pt x="897" y="1173"/>
                  <a:pt x="901" y="1171"/>
                </a:cubicBezTo>
                <a:cubicBezTo>
                  <a:pt x="911" y="1166"/>
                  <a:pt x="911" y="1166"/>
                  <a:pt x="911" y="1166"/>
                </a:cubicBezTo>
                <a:cubicBezTo>
                  <a:pt x="926" y="1161"/>
                  <a:pt x="941" y="1156"/>
                  <a:pt x="956" y="1152"/>
                </a:cubicBezTo>
                <a:cubicBezTo>
                  <a:pt x="963" y="1150"/>
                  <a:pt x="971" y="1148"/>
                  <a:pt x="979" y="1147"/>
                </a:cubicBezTo>
                <a:cubicBezTo>
                  <a:pt x="983" y="1147"/>
                  <a:pt x="987" y="1146"/>
                  <a:pt x="991" y="1145"/>
                </a:cubicBezTo>
                <a:cubicBezTo>
                  <a:pt x="1002" y="1144"/>
                  <a:pt x="1002" y="1144"/>
                  <a:pt x="1002" y="1144"/>
                </a:cubicBezTo>
                <a:cubicBezTo>
                  <a:pt x="1008" y="1143"/>
                  <a:pt x="1008" y="1143"/>
                  <a:pt x="1008" y="1143"/>
                </a:cubicBezTo>
                <a:cubicBezTo>
                  <a:pt x="1014" y="1143"/>
                  <a:pt x="1014" y="1143"/>
                  <a:pt x="1014" y="1143"/>
                </a:cubicBezTo>
                <a:cubicBezTo>
                  <a:pt x="1026" y="1142"/>
                  <a:pt x="1026" y="1142"/>
                  <a:pt x="1026" y="1142"/>
                </a:cubicBezTo>
                <a:cubicBezTo>
                  <a:pt x="1030" y="1141"/>
                  <a:pt x="1034" y="1141"/>
                  <a:pt x="1038" y="1141"/>
                </a:cubicBezTo>
                <a:cubicBezTo>
                  <a:pt x="1049" y="1141"/>
                  <a:pt x="1049" y="1141"/>
                  <a:pt x="1049" y="1141"/>
                </a:cubicBezTo>
                <a:cubicBezTo>
                  <a:pt x="1051" y="1141"/>
                  <a:pt x="1053" y="1141"/>
                  <a:pt x="1055" y="1141"/>
                </a:cubicBezTo>
                <a:cubicBezTo>
                  <a:pt x="1062" y="1141"/>
                  <a:pt x="1062" y="1141"/>
                  <a:pt x="1062" y="1141"/>
                </a:cubicBezTo>
                <a:cubicBezTo>
                  <a:pt x="1074" y="1142"/>
                  <a:pt x="1074" y="1142"/>
                  <a:pt x="1074" y="1142"/>
                </a:cubicBezTo>
                <a:cubicBezTo>
                  <a:pt x="1076" y="1142"/>
                  <a:pt x="1076" y="1142"/>
                  <a:pt x="1076" y="1142"/>
                </a:cubicBezTo>
                <a:cubicBezTo>
                  <a:pt x="1077" y="1142"/>
                  <a:pt x="1077" y="1142"/>
                  <a:pt x="1077" y="1142"/>
                </a:cubicBezTo>
                <a:cubicBezTo>
                  <a:pt x="1077" y="1142"/>
                  <a:pt x="1077" y="1142"/>
                  <a:pt x="1077" y="1142"/>
                </a:cubicBezTo>
                <a:cubicBezTo>
                  <a:pt x="1080" y="1142"/>
                  <a:pt x="1080" y="1142"/>
                  <a:pt x="1080" y="1142"/>
                </a:cubicBezTo>
                <a:cubicBezTo>
                  <a:pt x="1086" y="1143"/>
                  <a:pt x="1086" y="1143"/>
                  <a:pt x="1086" y="1143"/>
                </a:cubicBezTo>
                <a:cubicBezTo>
                  <a:pt x="1098" y="1144"/>
                  <a:pt x="1098" y="1144"/>
                  <a:pt x="1098" y="1144"/>
                </a:cubicBezTo>
                <a:cubicBezTo>
                  <a:pt x="1114" y="1146"/>
                  <a:pt x="1131" y="1148"/>
                  <a:pt x="1147" y="1151"/>
                </a:cubicBezTo>
                <a:cubicBezTo>
                  <a:pt x="1155" y="1152"/>
                  <a:pt x="1164" y="1154"/>
                  <a:pt x="1172" y="1155"/>
                </a:cubicBezTo>
                <a:cubicBezTo>
                  <a:pt x="1197" y="1159"/>
                  <a:pt x="1197" y="1159"/>
                  <a:pt x="1197" y="1159"/>
                </a:cubicBezTo>
                <a:cubicBezTo>
                  <a:pt x="1248" y="1168"/>
                  <a:pt x="1248" y="1168"/>
                  <a:pt x="1248" y="1168"/>
                </a:cubicBezTo>
                <a:cubicBezTo>
                  <a:pt x="1265" y="1171"/>
                  <a:pt x="1282" y="1173"/>
                  <a:pt x="1299" y="1176"/>
                </a:cubicBezTo>
                <a:cubicBezTo>
                  <a:pt x="1316" y="1178"/>
                  <a:pt x="1334" y="1180"/>
                  <a:pt x="1351" y="1181"/>
                </a:cubicBezTo>
                <a:cubicBezTo>
                  <a:pt x="1360" y="1182"/>
                  <a:pt x="1368" y="1183"/>
                  <a:pt x="1377" y="1183"/>
                </a:cubicBezTo>
                <a:cubicBezTo>
                  <a:pt x="1390" y="1184"/>
                  <a:pt x="1390" y="1184"/>
                  <a:pt x="1390" y="1184"/>
                </a:cubicBezTo>
                <a:cubicBezTo>
                  <a:pt x="1403" y="1185"/>
                  <a:pt x="1403" y="1185"/>
                  <a:pt x="1403" y="1185"/>
                </a:cubicBezTo>
                <a:cubicBezTo>
                  <a:pt x="1429" y="1185"/>
                  <a:pt x="1429" y="1185"/>
                  <a:pt x="1429" y="1185"/>
                </a:cubicBezTo>
                <a:cubicBezTo>
                  <a:pt x="1438" y="1185"/>
                  <a:pt x="1447" y="1185"/>
                  <a:pt x="1455" y="1185"/>
                </a:cubicBezTo>
                <a:cubicBezTo>
                  <a:pt x="1473" y="1185"/>
                  <a:pt x="1490" y="1184"/>
                  <a:pt x="1508" y="1183"/>
                </a:cubicBezTo>
                <a:cubicBezTo>
                  <a:pt x="1516" y="1183"/>
                  <a:pt x="1525" y="1181"/>
                  <a:pt x="1534" y="1181"/>
                </a:cubicBezTo>
                <a:cubicBezTo>
                  <a:pt x="1560" y="1178"/>
                  <a:pt x="1560" y="1178"/>
                  <a:pt x="1560" y="1178"/>
                </a:cubicBezTo>
                <a:cubicBezTo>
                  <a:pt x="1577" y="1176"/>
                  <a:pt x="1594" y="1173"/>
                  <a:pt x="1611" y="1170"/>
                </a:cubicBezTo>
                <a:cubicBezTo>
                  <a:pt x="1662" y="1160"/>
                  <a:pt x="1662" y="1160"/>
                  <a:pt x="1662" y="1160"/>
                </a:cubicBezTo>
                <a:cubicBezTo>
                  <a:pt x="1677" y="1157"/>
                  <a:pt x="1677" y="1157"/>
                  <a:pt x="1677" y="1157"/>
                </a:cubicBezTo>
                <a:lnTo>
                  <a:pt x="1676" y="1142"/>
                </a:lnTo>
                <a:close/>
              </a:path>
            </a:pathLst>
          </a:custGeom>
          <a:solidFill>
            <a:srgbClr val="7F2C8B"/>
          </a:solidFill>
          <a:ln>
            <a:noFill/>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prstClr val="black"/>
              </a:solidFill>
              <a:effectLst/>
              <a:uLnTx/>
              <a:uFillTx/>
              <a:latin typeface="等线" panose="020F0502020204030204"/>
              <a:ea typeface="等线" panose="02010600030101010101" pitchFamily="2" charset="-122"/>
              <a:cs typeface="+mn-cs"/>
            </a:endParaRPr>
          </a:p>
        </p:txBody>
      </p:sp>
      <p:sp>
        <p:nvSpPr>
          <p:cNvPr id="8" name="文本框 7">
            <a:extLst>
              <a:ext uri="{FF2B5EF4-FFF2-40B4-BE49-F238E27FC236}">
                <a16:creationId xmlns:a16="http://schemas.microsoft.com/office/drawing/2014/main" id="{89DAC6B7-B69B-4DB9-A3C4-4E15B61638B7}"/>
              </a:ext>
            </a:extLst>
          </p:cNvPr>
          <p:cNvSpPr txBox="1"/>
          <p:nvPr/>
        </p:nvSpPr>
        <p:spPr>
          <a:xfrm>
            <a:off x="5418571" y="1457009"/>
            <a:ext cx="4554134" cy="830997"/>
          </a:xfrm>
          <a:prstGeom prst="rect">
            <a:avLst/>
          </a:prstGeom>
          <a:noFill/>
        </p:spPr>
        <p:txBody>
          <a:bodyPr wrap="square" rtlCol="0">
            <a:spAutoFit/>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zh-CN" altLang="en-US" sz="2400" noProof="0" dirty="0">
                <a:solidFill>
                  <a:prstClr val="white"/>
                </a:solidFill>
                <a:latin typeface="微软雅黑 Light" panose="020B0502040204020203" pitchFamily="34" charset="-122"/>
                <a:ea typeface="微软雅黑 Light" panose="020B0502040204020203" pitchFamily="34" charset="-122"/>
              </a:rPr>
              <a:t>从马克思到皮凯蒂：资本积累经济的不平等</a:t>
            </a:r>
            <a:endParaRPr kumimoji="0" lang="zh-CN" altLang="en-US" sz="2400" b="0" i="0" u="none" strike="noStrike" kern="1200" cap="none" spc="0" normalizeH="0" baseline="0" noProof="0" dirty="0">
              <a:ln>
                <a:noFill/>
              </a:ln>
              <a:solidFill>
                <a:prstClr val="white"/>
              </a:solidFill>
              <a:effectLst/>
              <a:uLnTx/>
              <a:uFillTx/>
              <a:latin typeface="微软雅黑 Light" panose="020B0502040204020203" pitchFamily="34" charset="-122"/>
              <a:ea typeface="微软雅黑 Light" panose="020B0502040204020203" pitchFamily="34" charset="-122"/>
            </a:endParaRPr>
          </a:p>
        </p:txBody>
      </p:sp>
      <p:sp>
        <p:nvSpPr>
          <p:cNvPr id="9" name="文本框 8">
            <a:extLst>
              <a:ext uri="{FF2B5EF4-FFF2-40B4-BE49-F238E27FC236}">
                <a16:creationId xmlns:a16="http://schemas.microsoft.com/office/drawing/2014/main" id="{5FE707AD-F92F-4D17-B03D-EF5D9D9D33B7}"/>
              </a:ext>
            </a:extLst>
          </p:cNvPr>
          <p:cNvSpPr txBox="1"/>
          <p:nvPr/>
        </p:nvSpPr>
        <p:spPr>
          <a:xfrm>
            <a:off x="5488009" y="2949768"/>
            <a:ext cx="4145517" cy="461665"/>
          </a:xfrm>
          <a:prstGeom prst="rect">
            <a:avLst/>
          </a:prstGeom>
          <a:noFill/>
        </p:spPr>
        <p:txBody>
          <a:bodyPr wrap="square" rtlCol="0">
            <a:spAutoFit/>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zh-CN" altLang="en-US" sz="2400" dirty="0">
                <a:solidFill>
                  <a:prstClr val="white"/>
                </a:solidFill>
                <a:latin typeface="微软雅黑 Light" panose="020B0502040204020203" pitchFamily="34" charset="-122"/>
                <a:ea typeface="微软雅黑 Light" panose="020B0502040204020203" pitchFamily="34" charset="-122"/>
              </a:rPr>
              <a:t>中国的情况与解决方案</a:t>
            </a:r>
            <a:endParaRPr kumimoji="0" lang="zh-CN" altLang="en-US" sz="2400" b="0" i="0" u="none" strike="noStrike" kern="1200" cap="none" spc="0" normalizeH="0" baseline="0" noProof="0" dirty="0">
              <a:ln>
                <a:noFill/>
              </a:ln>
              <a:solidFill>
                <a:prstClr val="white"/>
              </a:solidFill>
              <a:effectLst/>
              <a:uLnTx/>
              <a:uFillTx/>
              <a:latin typeface="微软雅黑 Light" panose="020B0502040204020203" pitchFamily="34" charset="-122"/>
              <a:ea typeface="微软雅黑 Light" panose="020B0502040204020203" pitchFamily="34" charset="-122"/>
            </a:endParaRPr>
          </a:p>
        </p:txBody>
      </p:sp>
      <p:sp>
        <p:nvSpPr>
          <p:cNvPr id="10" name="文本框 9">
            <a:extLst>
              <a:ext uri="{FF2B5EF4-FFF2-40B4-BE49-F238E27FC236}">
                <a16:creationId xmlns:a16="http://schemas.microsoft.com/office/drawing/2014/main" id="{6D39A26B-2C1C-435B-AECB-CEE2A13E1308}"/>
              </a:ext>
            </a:extLst>
          </p:cNvPr>
          <p:cNvSpPr txBox="1"/>
          <p:nvPr/>
        </p:nvSpPr>
        <p:spPr>
          <a:xfrm>
            <a:off x="5378801" y="3987112"/>
            <a:ext cx="4385664" cy="830997"/>
          </a:xfrm>
          <a:prstGeom prst="rect">
            <a:avLst/>
          </a:prstGeom>
          <a:noFill/>
        </p:spPr>
        <p:txBody>
          <a:bodyPr wrap="square" rtlCol="0">
            <a:spAutoFit/>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zh-CN" altLang="en-US" sz="2400" b="0" i="0" u="none" strike="noStrike" kern="1200" cap="none" spc="0" normalizeH="0" baseline="0" noProof="0" dirty="0">
                <a:ln>
                  <a:noFill/>
                </a:ln>
                <a:solidFill>
                  <a:prstClr val="white"/>
                </a:solidFill>
                <a:effectLst/>
                <a:uLnTx/>
                <a:uFillTx/>
                <a:latin typeface="微软雅黑 Light" panose="020B0502040204020203" pitchFamily="34" charset="-122"/>
                <a:ea typeface="微软雅黑 Light" panose="020B0502040204020203" pitchFamily="34" charset="-122"/>
              </a:rPr>
              <a:t>从皮凯蒂回到马克思</a:t>
            </a:r>
            <a:r>
              <a:rPr lang="en-US" altLang="zh-CN" sz="2400" dirty="0">
                <a:solidFill>
                  <a:prstClr val="white"/>
                </a:solidFill>
                <a:latin typeface="微软雅黑 Light" panose="020B0502040204020203" pitchFamily="34" charset="-122"/>
                <a:ea typeface="微软雅黑 Light" panose="020B0502040204020203" pitchFamily="34" charset="-122"/>
              </a:rPr>
              <a:t>:</a:t>
            </a:r>
            <a:r>
              <a:rPr lang="zh-CN" altLang="en-US" sz="2400" dirty="0">
                <a:solidFill>
                  <a:prstClr val="white"/>
                </a:solidFill>
                <a:latin typeface="微软雅黑 Light" panose="020B0502040204020203" pitchFamily="34" charset="-122"/>
                <a:ea typeface="微软雅黑 Light" panose="020B0502040204020203" pitchFamily="34" charset="-122"/>
              </a:rPr>
              <a:t>为什么要社会主义</a:t>
            </a:r>
            <a:endParaRPr kumimoji="0" lang="zh-CN" altLang="en-US" sz="2400" b="0" i="0" u="none" strike="noStrike" kern="1200" cap="none" spc="0" normalizeH="0" baseline="0" noProof="0" dirty="0">
              <a:ln>
                <a:noFill/>
              </a:ln>
              <a:solidFill>
                <a:prstClr val="white"/>
              </a:solidFill>
              <a:effectLst/>
              <a:uLnTx/>
              <a:uFillTx/>
              <a:latin typeface="微软雅黑 Light" panose="020B0502040204020203" pitchFamily="34" charset="-122"/>
              <a:ea typeface="微软雅黑 Light" panose="020B0502040204020203" pitchFamily="34" charset="-122"/>
            </a:endParaRPr>
          </a:p>
        </p:txBody>
      </p:sp>
      <p:sp>
        <p:nvSpPr>
          <p:cNvPr id="11" name="文本框 10">
            <a:extLst>
              <a:ext uri="{FF2B5EF4-FFF2-40B4-BE49-F238E27FC236}">
                <a16:creationId xmlns:a16="http://schemas.microsoft.com/office/drawing/2014/main" id="{C5B2CB86-8628-4ED4-9EFF-B1D7D936FBED}"/>
              </a:ext>
            </a:extLst>
          </p:cNvPr>
          <p:cNvSpPr txBox="1"/>
          <p:nvPr/>
        </p:nvSpPr>
        <p:spPr>
          <a:xfrm>
            <a:off x="5529310" y="5393826"/>
            <a:ext cx="2351151" cy="461665"/>
          </a:xfrm>
          <a:prstGeom prst="rect">
            <a:avLst/>
          </a:prstGeom>
          <a:noFill/>
        </p:spPr>
        <p:txBody>
          <a:bodyPr wrap="square" rtlCol="0">
            <a:spAutoFit/>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zh-CN" altLang="en-US" sz="2400" b="0" i="0" u="none" strike="noStrike" kern="1200" cap="none" spc="0" normalizeH="0" baseline="0" noProof="0" dirty="0">
                <a:ln>
                  <a:noFill/>
                </a:ln>
                <a:solidFill>
                  <a:prstClr val="white"/>
                </a:solidFill>
                <a:effectLst/>
                <a:uLnTx/>
                <a:uFillTx/>
                <a:latin typeface="微软雅黑 Light" panose="020B0502040204020203" pitchFamily="34" charset="-122"/>
                <a:ea typeface="微软雅黑 Light" panose="020B0502040204020203" pitchFamily="34" charset="-122"/>
                <a:cs typeface="+mn-cs"/>
              </a:rPr>
              <a:t>参考文献</a:t>
            </a:r>
          </a:p>
        </p:txBody>
      </p:sp>
      <p:sp>
        <p:nvSpPr>
          <p:cNvPr id="35" name="任意多边形: 形状 34">
            <a:extLst>
              <a:ext uri="{FF2B5EF4-FFF2-40B4-BE49-F238E27FC236}">
                <a16:creationId xmlns:a16="http://schemas.microsoft.com/office/drawing/2014/main" id="{53E490DC-CD4E-4451-980A-3D2FAD3912EE}"/>
              </a:ext>
            </a:extLst>
          </p:cNvPr>
          <p:cNvSpPr/>
          <p:nvPr/>
        </p:nvSpPr>
        <p:spPr>
          <a:xfrm>
            <a:off x="1559687" y="2910967"/>
            <a:ext cx="1014781" cy="531908"/>
          </a:xfrm>
          <a:custGeom>
            <a:avLst/>
            <a:gdLst/>
            <a:ahLst/>
            <a:cxnLst/>
            <a:rect l="l" t="t" r="r" b="b"/>
            <a:pathLst>
              <a:path w="761086" h="398931">
                <a:moveTo>
                  <a:pt x="64122" y="252246"/>
                </a:moveTo>
                <a:lnTo>
                  <a:pt x="64122" y="345339"/>
                </a:lnTo>
                <a:lnTo>
                  <a:pt x="217932" y="345339"/>
                </a:lnTo>
                <a:lnTo>
                  <a:pt x="217932" y="252246"/>
                </a:lnTo>
                <a:close/>
                <a:moveTo>
                  <a:pt x="414071" y="176834"/>
                </a:moveTo>
                <a:cubicBezTo>
                  <a:pt x="446724" y="179333"/>
                  <a:pt x="469455" y="185940"/>
                  <a:pt x="482266" y="196657"/>
                </a:cubicBezTo>
                <a:cubicBezTo>
                  <a:pt x="495077" y="207373"/>
                  <a:pt x="500705" y="218525"/>
                  <a:pt x="499148" y="230113"/>
                </a:cubicBezTo>
                <a:cubicBezTo>
                  <a:pt x="497592" y="241700"/>
                  <a:pt x="491589" y="250049"/>
                  <a:pt x="481140" y="255160"/>
                </a:cubicBezTo>
                <a:cubicBezTo>
                  <a:pt x="470691" y="260271"/>
                  <a:pt x="458533" y="258471"/>
                  <a:pt x="444665" y="249758"/>
                </a:cubicBezTo>
                <a:cubicBezTo>
                  <a:pt x="442561" y="236722"/>
                  <a:pt x="438387" y="223922"/>
                  <a:pt x="432145" y="211358"/>
                </a:cubicBezTo>
                <a:cubicBezTo>
                  <a:pt x="425902" y="198794"/>
                  <a:pt x="418899" y="187984"/>
                  <a:pt x="411137" y="178930"/>
                </a:cubicBezTo>
                <a:close/>
                <a:moveTo>
                  <a:pt x="64122" y="149986"/>
                </a:moveTo>
                <a:lnTo>
                  <a:pt x="64122" y="240564"/>
                </a:lnTo>
                <a:lnTo>
                  <a:pt x="217932" y="240564"/>
                </a:lnTo>
                <a:lnTo>
                  <a:pt x="217932" y="149986"/>
                </a:lnTo>
                <a:close/>
                <a:moveTo>
                  <a:pt x="64122" y="49402"/>
                </a:moveTo>
                <a:lnTo>
                  <a:pt x="64122" y="138303"/>
                </a:lnTo>
                <a:lnTo>
                  <a:pt x="217932" y="138303"/>
                </a:lnTo>
                <a:lnTo>
                  <a:pt x="217932" y="49402"/>
                </a:lnTo>
                <a:close/>
                <a:moveTo>
                  <a:pt x="243916" y="3772"/>
                </a:moveTo>
                <a:lnTo>
                  <a:pt x="302171" y="50659"/>
                </a:lnTo>
                <a:cubicBezTo>
                  <a:pt x="300530" y="52782"/>
                  <a:pt x="298260" y="54722"/>
                  <a:pt x="295361" y="56478"/>
                </a:cubicBezTo>
                <a:cubicBezTo>
                  <a:pt x="292462" y="58234"/>
                  <a:pt x="288725" y="59649"/>
                  <a:pt x="284150" y="60724"/>
                </a:cubicBezTo>
                <a:lnTo>
                  <a:pt x="284150" y="374204"/>
                </a:lnTo>
                <a:cubicBezTo>
                  <a:pt x="283651" y="375894"/>
                  <a:pt x="280505" y="378243"/>
                  <a:pt x="274712" y="381251"/>
                </a:cubicBezTo>
                <a:cubicBezTo>
                  <a:pt x="268920" y="384260"/>
                  <a:pt x="261800" y="387013"/>
                  <a:pt x="253354" y="389509"/>
                </a:cubicBezTo>
                <a:cubicBezTo>
                  <a:pt x="244907" y="392006"/>
                  <a:pt x="236453" y="393330"/>
                  <a:pt x="227990" y="393483"/>
                </a:cubicBezTo>
                <a:lnTo>
                  <a:pt x="217932" y="393483"/>
                </a:lnTo>
                <a:lnTo>
                  <a:pt x="217932" y="357021"/>
                </a:lnTo>
                <a:lnTo>
                  <a:pt x="64122" y="357021"/>
                </a:lnTo>
                <a:lnTo>
                  <a:pt x="64122" y="375462"/>
                </a:lnTo>
                <a:cubicBezTo>
                  <a:pt x="63642" y="379923"/>
                  <a:pt x="58211" y="384830"/>
                  <a:pt x="47830" y="390183"/>
                </a:cubicBezTo>
                <a:cubicBezTo>
                  <a:pt x="37448" y="395535"/>
                  <a:pt x="24998" y="398451"/>
                  <a:pt x="10478" y="398931"/>
                </a:cubicBezTo>
                <a:lnTo>
                  <a:pt x="0" y="398931"/>
                </a:lnTo>
                <a:lnTo>
                  <a:pt x="0" y="10897"/>
                </a:lnTo>
                <a:lnTo>
                  <a:pt x="67894" y="37719"/>
                </a:lnTo>
                <a:lnTo>
                  <a:pt x="213322" y="37719"/>
                </a:lnTo>
                <a:close/>
                <a:moveTo>
                  <a:pt x="632422" y="0"/>
                </a:moveTo>
                <a:lnTo>
                  <a:pt x="691096" y="42279"/>
                </a:lnTo>
                <a:cubicBezTo>
                  <a:pt x="689542" y="44333"/>
                  <a:pt x="687621" y="45889"/>
                  <a:pt x="685333" y="46946"/>
                </a:cubicBezTo>
                <a:cubicBezTo>
                  <a:pt x="683046" y="48004"/>
                  <a:pt x="679658" y="48825"/>
                  <a:pt x="675170" y="49411"/>
                </a:cubicBezTo>
                <a:lnTo>
                  <a:pt x="670141" y="147936"/>
                </a:lnTo>
                <a:lnTo>
                  <a:pt x="699478" y="111855"/>
                </a:lnTo>
                <a:cubicBezTo>
                  <a:pt x="699804" y="112078"/>
                  <a:pt x="703390" y="114709"/>
                  <a:pt x="710235" y="119748"/>
                </a:cubicBezTo>
                <a:cubicBezTo>
                  <a:pt x="717080" y="124787"/>
                  <a:pt x="725229" y="130896"/>
                  <a:pt x="734682" y="138077"/>
                </a:cubicBezTo>
                <a:cubicBezTo>
                  <a:pt x="744135" y="145257"/>
                  <a:pt x="752936" y="152170"/>
                  <a:pt x="761086" y="158817"/>
                </a:cubicBezTo>
                <a:cubicBezTo>
                  <a:pt x="760405" y="161103"/>
                  <a:pt x="758938" y="162789"/>
                  <a:pt x="756685" y="163876"/>
                </a:cubicBezTo>
                <a:cubicBezTo>
                  <a:pt x="754432" y="164962"/>
                  <a:pt x="751708" y="165501"/>
                  <a:pt x="748513" y="165493"/>
                </a:cubicBezTo>
                <a:lnTo>
                  <a:pt x="588417" y="165493"/>
                </a:lnTo>
                <a:lnTo>
                  <a:pt x="588417" y="169266"/>
                </a:lnTo>
                <a:cubicBezTo>
                  <a:pt x="593289" y="184524"/>
                  <a:pt x="599365" y="198237"/>
                  <a:pt x="606647" y="210403"/>
                </a:cubicBezTo>
                <a:cubicBezTo>
                  <a:pt x="613929" y="222569"/>
                  <a:pt x="622102" y="233452"/>
                  <a:pt x="631165" y="243050"/>
                </a:cubicBezTo>
                <a:cubicBezTo>
                  <a:pt x="639573" y="230954"/>
                  <a:pt x="647693" y="218464"/>
                  <a:pt x="655525" y="205582"/>
                </a:cubicBezTo>
                <a:cubicBezTo>
                  <a:pt x="663357" y="192699"/>
                  <a:pt x="669486" y="181572"/>
                  <a:pt x="673913" y="172201"/>
                </a:cubicBezTo>
                <a:lnTo>
                  <a:pt x="734263" y="214124"/>
                </a:lnTo>
                <a:cubicBezTo>
                  <a:pt x="733294" y="216080"/>
                  <a:pt x="731565" y="217512"/>
                  <a:pt x="729077" y="218421"/>
                </a:cubicBezTo>
                <a:cubicBezTo>
                  <a:pt x="726589" y="219329"/>
                  <a:pt x="722869" y="219294"/>
                  <a:pt x="717918" y="218316"/>
                </a:cubicBezTo>
                <a:cubicBezTo>
                  <a:pt x="707467" y="223888"/>
                  <a:pt x="695575" y="229722"/>
                  <a:pt x="682242" y="235819"/>
                </a:cubicBezTo>
                <a:cubicBezTo>
                  <a:pt x="668910" y="241915"/>
                  <a:pt x="655237" y="247540"/>
                  <a:pt x="641223" y="252693"/>
                </a:cubicBezTo>
                <a:cubicBezTo>
                  <a:pt x="658232" y="268038"/>
                  <a:pt x="676707" y="280213"/>
                  <a:pt x="696649" y="289218"/>
                </a:cubicBezTo>
                <a:cubicBezTo>
                  <a:pt x="716591" y="298223"/>
                  <a:pt x="736533" y="305052"/>
                  <a:pt x="756476" y="309708"/>
                </a:cubicBezTo>
                <a:lnTo>
                  <a:pt x="755218" y="313900"/>
                </a:lnTo>
                <a:cubicBezTo>
                  <a:pt x="743422" y="317254"/>
                  <a:pt x="733591" y="323959"/>
                  <a:pt x="725724" y="334015"/>
                </a:cubicBezTo>
                <a:cubicBezTo>
                  <a:pt x="717857" y="344071"/>
                  <a:pt x="712322" y="356218"/>
                  <a:pt x="709117" y="370456"/>
                </a:cubicBezTo>
                <a:cubicBezTo>
                  <a:pt x="688892" y="358288"/>
                  <a:pt x="671041" y="344277"/>
                  <a:pt x="655566" y="328421"/>
                </a:cubicBezTo>
                <a:cubicBezTo>
                  <a:pt x="640090" y="312566"/>
                  <a:pt x="626803" y="293332"/>
                  <a:pt x="615705" y="270718"/>
                </a:cubicBezTo>
                <a:cubicBezTo>
                  <a:pt x="604606" y="248104"/>
                  <a:pt x="595510" y="220575"/>
                  <a:pt x="588417" y="188132"/>
                </a:cubicBezTo>
                <a:lnTo>
                  <a:pt x="588417" y="328992"/>
                </a:lnTo>
                <a:cubicBezTo>
                  <a:pt x="588701" y="342033"/>
                  <a:pt x="587061" y="353506"/>
                  <a:pt x="583496" y="363413"/>
                </a:cubicBezTo>
                <a:cubicBezTo>
                  <a:pt x="579931" y="373319"/>
                  <a:pt x="572734" y="381317"/>
                  <a:pt x="561905" y="387407"/>
                </a:cubicBezTo>
                <a:cubicBezTo>
                  <a:pt x="551075" y="393498"/>
                  <a:pt x="534906" y="397339"/>
                  <a:pt x="513398" y="398931"/>
                </a:cubicBezTo>
                <a:cubicBezTo>
                  <a:pt x="513040" y="389291"/>
                  <a:pt x="512079" y="380934"/>
                  <a:pt x="510516" y="373858"/>
                </a:cubicBezTo>
                <a:cubicBezTo>
                  <a:pt x="508953" y="366783"/>
                  <a:pt x="506421" y="361043"/>
                  <a:pt x="502920" y="356637"/>
                </a:cubicBezTo>
                <a:cubicBezTo>
                  <a:pt x="499820" y="352432"/>
                  <a:pt x="495333" y="348698"/>
                  <a:pt x="489457" y="345435"/>
                </a:cubicBezTo>
                <a:cubicBezTo>
                  <a:pt x="483580" y="342173"/>
                  <a:pt x="474797" y="339486"/>
                  <a:pt x="463106" y="337374"/>
                </a:cubicBezTo>
                <a:lnTo>
                  <a:pt x="463106" y="332346"/>
                </a:lnTo>
                <a:cubicBezTo>
                  <a:pt x="463620" y="332377"/>
                  <a:pt x="467760" y="332594"/>
                  <a:pt x="475523" y="332998"/>
                </a:cubicBezTo>
                <a:cubicBezTo>
                  <a:pt x="483287" y="333402"/>
                  <a:pt x="491586" y="333806"/>
                  <a:pt x="500421" y="334209"/>
                </a:cubicBezTo>
                <a:cubicBezTo>
                  <a:pt x="509256" y="334613"/>
                  <a:pt x="515537" y="334830"/>
                  <a:pt x="519265" y="334861"/>
                </a:cubicBezTo>
                <a:cubicBezTo>
                  <a:pt x="522365" y="334826"/>
                  <a:pt x="524547" y="334163"/>
                  <a:pt x="525813" y="332870"/>
                </a:cubicBezTo>
                <a:cubicBezTo>
                  <a:pt x="527079" y="331577"/>
                  <a:pt x="527691" y="329866"/>
                  <a:pt x="527647" y="327734"/>
                </a:cubicBezTo>
                <a:lnTo>
                  <a:pt x="527647" y="267785"/>
                </a:lnTo>
                <a:cubicBezTo>
                  <a:pt x="514498" y="279515"/>
                  <a:pt x="498991" y="292632"/>
                  <a:pt x="481127" y="307137"/>
                </a:cubicBezTo>
                <a:cubicBezTo>
                  <a:pt x="463263" y="321642"/>
                  <a:pt x="442727" y="337583"/>
                  <a:pt x="419519" y="354962"/>
                </a:cubicBezTo>
                <a:cubicBezTo>
                  <a:pt x="419083" y="357928"/>
                  <a:pt x="418070" y="360580"/>
                  <a:pt x="416481" y="362918"/>
                </a:cubicBezTo>
                <a:cubicBezTo>
                  <a:pt x="414892" y="365256"/>
                  <a:pt x="412831" y="367071"/>
                  <a:pt x="410299" y="368362"/>
                </a:cubicBezTo>
                <a:lnTo>
                  <a:pt x="366293" y="310546"/>
                </a:lnTo>
                <a:cubicBezTo>
                  <a:pt x="381372" y="305472"/>
                  <a:pt x="403288" y="297175"/>
                  <a:pt x="432040" y="285654"/>
                </a:cubicBezTo>
                <a:cubicBezTo>
                  <a:pt x="460792" y="274134"/>
                  <a:pt x="492661" y="260911"/>
                  <a:pt x="527647" y="245985"/>
                </a:cubicBezTo>
                <a:lnTo>
                  <a:pt x="527647" y="165493"/>
                </a:lnTo>
                <a:lnTo>
                  <a:pt x="368389" y="165493"/>
                </a:lnTo>
                <a:lnTo>
                  <a:pt x="365036" y="153810"/>
                </a:lnTo>
                <a:lnTo>
                  <a:pt x="606857" y="153810"/>
                </a:lnTo>
                <a:lnTo>
                  <a:pt x="609371" y="104723"/>
                </a:lnTo>
                <a:lnTo>
                  <a:pt x="424967" y="104723"/>
                </a:lnTo>
                <a:lnTo>
                  <a:pt x="421196" y="93041"/>
                </a:lnTo>
                <a:lnTo>
                  <a:pt x="609595" y="93041"/>
                </a:lnTo>
                <a:lnTo>
                  <a:pt x="612520" y="40182"/>
                </a:lnTo>
                <a:lnTo>
                  <a:pt x="411975" y="40182"/>
                </a:lnTo>
                <a:lnTo>
                  <a:pt x="408204" y="28499"/>
                </a:lnTo>
                <a:lnTo>
                  <a:pt x="608952" y="28499"/>
                </a:lnTo>
                <a:close/>
              </a:path>
            </a:pathLst>
          </a:custGeom>
          <a:solidFill>
            <a:srgbClr val="7F2C8B"/>
          </a:solidFill>
          <a:ln>
            <a:noFill/>
          </a:ln>
          <a:effectLst/>
        </p:spPr>
        <p:txBody>
          <a:bodyPr rot="0" spcFirstLastPara="0" vertOverflow="overflow" horzOverflow="overflow" vert="horz" wrap="square" lIns="121920" tIns="60960" rIns="121920" bIns="60960" numCol="1" spcCol="0" rtlCol="0" fromWordArt="0" anchor="t" anchorCtr="0" forceAA="0" compatLnSpc="1">
            <a:prstTxWarp prst="textNoShape">
              <a:avLst/>
            </a:prstTxWarp>
            <a:no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zh-CN" altLang="en-US" sz="4400" b="0" i="0" u="none" strike="noStrike" kern="1200" cap="none" spc="0" normalizeH="0" baseline="0" noProof="0" dirty="0">
              <a:ln>
                <a:noFill/>
              </a:ln>
              <a:solidFill>
                <a:srgbClr val="7F2C8B"/>
              </a:solidFill>
              <a:effectLst/>
              <a:uLnTx/>
              <a:uFillTx/>
              <a:latin typeface="思源宋体 CN Heavy" panose="02020900000000000000" pitchFamily="18" charset="-122"/>
              <a:ea typeface="思源宋体 CN Heavy" panose="02020900000000000000" pitchFamily="18" charset="-122"/>
              <a:cs typeface="+mn-cs"/>
            </a:endParaRPr>
          </a:p>
        </p:txBody>
      </p:sp>
      <p:sp>
        <p:nvSpPr>
          <p:cNvPr id="14" name="矩形 13">
            <a:extLst>
              <a:ext uri="{FF2B5EF4-FFF2-40B4-BE49-F238E27FC236}">
                <a16:creationId xmlns:a16="http://schemas.microsoft.com/office/drawing/2014/main" id="{A44609DF-3584-43CA-909B-911E34D259B0}"/>
              </a:ext>
            </a:extLst>
          </p:cNvPr>
          <p:cNvSpPr/>
          <p:nvPr/>
        </p:nvSpPr>
        <p:spPr>
          <a:xfrm>
            <a:off x="1181121" y="3495883"/>
            <a:ext cx="1514454" cy="400110"/>
          </a:xfrm>
          <a:prstGeom prst="rect">
            <a:avLst/>
          </a:prstGeom>
        </p:spPr>
        <p:txBody>
          <a:bodyPr wrap="none">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en-US" altLang="zh-CN" sz="2000" b="0" i="0" u="none" strike="noStrike" kern="1200" cap="none" spc="0" normalizeH="0" baseline="0" noProof="0" dirty="0">
                <a:ln>
                  <a:noFill/>
                </a:ln>
                <a:solidFill>
                  <a:srgbClr val="7F2C8B"/>
                </a:solidFill>
                <a:effectLst/>
                <a:uLnTx/>
                <a:uFillTx/>
                <a:latin typeface="微软雅黑 Light" panose="020B0502040204020203" pitchFamily="34" charset="-122"/>
                <a:ea typeface="微软雅黑 Light" panose="020B0502040204020203" pitchFamily="34" charset="-122"/>
                <a:cs typeface="+mn-cs"/>
              </a:rPr>
              <a:t>CONTENTS</a:t>
            </a:r>
            <a:endParaRPr kumimoji="0" lang="zh-CN" altLang="en-US" sz="2000" b="0" i="0" u="none" strike="noStrike" kern="1200" cap="none" spc="0" normalizeH="0" baseline="0" noProof="0" dirty="0">
              <a:ln>
                <a:noFill/>
              </a:ln>
              <a:solidFill>
                <a:srgbClr val="7F2C8B"/>
              </a:solidFill>
              <a:effectLst/>
              <a:uLnTx/>
              <a:uFillTx/>
              <a:latin typeface="微软雅黑 Light" panose="020B0502040204020203" pitchFamily="34" charset="-122"/>
              <a:ea typeface="微软雅黑 Light" panose="020B0502040204020203" pitchFamily="34" charset="-122"/>
              <a:cs typeface="+mn-cs"/>
            </a:endParaRPr>
          </a:p>
        </p:txBody>
      </p:sp>
    </p:spTree>
    <p:extLst>
      <p:ext uri="{BB962C8B-B14F-4D97-AF65-F5344CB8AC3E}">
        <p14:creationId xmlns:p14="http://schemas.microsoft.com/office/powerpoint/2010/main" val="2744411801"/>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bg>
      <p:bgPr>
        <a:solidFill>
          <a:srgbClr val="7F2C8B"/>
        </a:solidFill>
        <a:effectLst/>
      </p:bgPr>
    </p:bg>
    <p:spTree>
      <p:nvGrpSpPr>
        <p:cNvPr id="1" name=""/>
        <p:cNvGrpSpPr/>
        <p:nvPr/>
      </p:nvGrpSpPr>
      <p:grpSpPr>
        <a:xfrm>
          <a:off x="0" y="0"/>
          <a:ext cx="0" cy="0"/>
          <a:chOff x="0" y="0"/>
          <a:chExt cx="0" cy="0"/>
        </a:xfrm>
      </p:grpSpPr>
      <p:sp>
        <p:nvSpPr>
          <p:cNvPr id="35" name="Freeform 5">
            <a:extLst>
              <a:ext uri="{FF2B5EF4-FFF2-40B4-BE49-F238E27FC236}">
                <a16:creationId xmlns:a16="http://schemas.microsoft.com/office/drawing/2014/main" id="{CEC509F0-2091-44E3-8EC6-23BE32A153BC}"/>
              </a:ext>
            </a:extLst>
          </p:cNvPr>
          <p:cNvSpPr>
            <a:spLocks/>
          </p:cNvSpPr>
          <p:nvPr/>
        </p:nvSpPr>
        <p:spPr bwMode="auto">
          <a:xfrm rot="20305582">
            <a:off x="7413099" y="-1127481"/>
            <a:ext cx="7345429" cy="5201360"/>
          </a:xfrm>
          <a:custGeom>
            <a:avLst/>
            <a:gdLst>
              <a:gd name="T0" fmla="*/ 1505 w 1677"/>
              <a:gd name="T1" fmla="*/ 1142 h 1186"/>
              <a:gd name="T2" fmla="*/ 1306 w 1677"/>
              <a:gd name="T3" fmla="*/ 1127 h 1186"/>
              <a:gd name="T4" fmla="*/ 1085 w 1677"/>
              <a:gd name="T5" fmla="*/ 1086 h 1186"/>
              <a:gd name="T6" fmla="*/ 1024 w 1677"/>
              <a:gd name="T7" fmla="*/ 1083 h 1186"/>
              <a:gd name="T8" fmla="*/ 978 w 1677"/>
              <a:gd name="T9" fmla="*/ 1078 h 1186"/>
              <a:gd name="T10" fmla="*/ 1033 w 1677"/>
              <a:gd name="T11" fmla="*/ 1062 h 1186"/>
              <a:gd name="T12" fmla="*/ 1158 w 1677"/>
              <a:gd name="T13" fmla="*/ 1057 h 1186"/>
              <a:gd name="T14" fmla="*/ 1340 w 1677"/>
              <a:gd name="T15" fmla="*/ 1071 h 1186"/>
              <a:gd name="T16" fmla="*/ 1464 w 1677"/>
              <a:gd name="T17" fmla="*/ 1053 h 1186"/>
              <a:gd name="T18" fmla="*/ 1576 w 1677"/>
              <a:gd name="T19" fmla="*/ 0 h 1186"/>
              <a:gd name="T20" fmla="*/ 1480 w 1677"/>
              <a:gd name="T21" fmla="*/ 26 h 1186"/>
              <a:gd name="T22" fmla="*/ 1323 w 1677"/>
              <a:gd name="T23" fmla="*/ 48 h 1186"/>
              <a:gd name="T24" fmla="*/ 1164 w 1677"/>
              <a:gd name="T25" fmla="*/ 52 h 1186"/>
              <a:gd name="T26" fmla="*/ 1132 w 1677"/>
              <a:gd name="T27" fmla="*/ 52 h 1186"/>
              <a:gd name="T28" fmla="*/ 1307 w 1677"/>
              <a:gd name="T29" fmla="*/ 52 h 1186"/>
              <a:gd name="T30" fmla="*/ 1450 w 1677"/>
              <a:gd name="T31" fmla="*/ 36 h 1186"/>
              <a:gd name="T32" fmla="*/ 1570 w 1677"/>
              <a:gd name="T33" fmla="*/ 8 h 1186"/>
              <a:gd name="T34" fmla="*/ 1403 w 1677"/>
              <a:gd name="T35" fmla="*/ 1046 h 1186"/>
              <a:gd name="T36" fmla="*/ 1300 w 1677"/>
              <a:gd name="T37" fmla="*/ 1048 h 1186"/>
              <a:gd name="T38" fmla="*/ 1112 w 1677"/>
              <a:gd name="T39" fmla="*/ 1032 h 1186"/>
              <a:gd name="T40" fmla="*/ 1024 w 1677"/>
              <a:gd name="T41" fmla="*/ 1040 h 1186"/>
              <a:gd name="T42" fmla="*/ 925 w 1677"/>
              <a:gd name="T43" fmla="*/ 1072 h 1186"/>
              <a:gd name="T44" fmla="*/ 816 w 1677"/>
              <a:gd name="T45" fmla="*/ 1105 h 1186"/>
              <a:gd name="T46" fmla="*/ 661 w 1677"/>
              <a:gd name="T47" fmla="*/ 1042 h 1186"/>
              <a:gd name="T48" fmla="*/ 637 w 1677"/>
              <a:gd name="T49" fmla="*/ 1037 h 1186"/>
              <a:gd name="T50" fmla="*/ 493 w 1677"/>
              <a:gd name="T51" fmla="*/ 1036 h 1186"/>
              <a:gd name="T52" fmla="*/ 333 w 1677"/>
              <a:gd name="T53" fmla="*/ 1051 h 1186"/>
              <a:gd name="T54" fmla="*/ 195 w 1677"/>
              <a:gd name="T55" fmla="*/ 1029 h 1186"/>
              <a:gd name="T56" fmla="*/ 180 w 1677"/>
              <a:gd name="T57" fmla="*/ 27 h 1186"/>
              <a:gd name="T58" fmla="*/ 290 w 1677"/>
              <a:gd name="T59" fmla="*/ 45 h 1186"/>
              <a:gd name="T60" fmla="*/ 449 w 1677"/>
              <a:gd name="T61" fmla="*/ 54 h 1186"/>
              <a:gd name="T62" fmla="*/ 577 w 1677"/>
              <a:gd name="T63" fmla="*/ 50 h 1186"/>
              <a:gd name="T64" fmla="*/ 402 w 1677"/>
              <a:gd name="T65" fmla="*/ 51 h 1186"/>
              <a:gd name="T66" fmla="*/ 259 w 1677"/>
              <a:gd name="T67" fmla="*/ 37 h 1186"/>
              <a:gd name="T68" fmla="*/ 150 w 1677"/>
              <a:gd name="T69" fmla="*/ 15 h 1186"/>
              <a:gd name="T70" fmla="*/ 100 w 1677"/>
              <a:gd name="T71" fmla="*/ 1014 h 1186"/>
              <a:gd name="T72" fmla="*/ 283 w 1677"/>
              <a:gd name="T73" fmla="*/ 1067 h 1186"/>
              <a:gd name="T74" fmla="*/ 426 w 1677"/>
              <a:gd name="T75" fmla="*/ 1065 h 1186"/>
              <a:gd name="T76" fmla="*/ 611 w 1677"/>
              <a:gd name="T77" fmla="*/ 1057 h 1186"/>
              <a:gd name="T78" fmla="*/ 655 w 1677"/>
              <a:gd name="T79" fmla="*/ 1065 h 1186"/>
              <a:gd name="T80" fmla="*/ 680 w 1677"/>
              <a:gd name="T81" fmla="*/ 1084 h 1186"/>
              <a:gd name="T82" fmla="*/ 612 w 1677"/>
              <a:gd name="T83" fmla="*/ 1084 h 1186"/>
              <a:gd name="T84" fmla="*/ 495 w 1677"/>
              <a:gd name="T85" fmla="*/ 1103 h 1186"/>
              <a:gd name="T86" fmla="*/ 271 w 1677"/>
              <a:gd name="T87" fmla="*/ 1140 h 1186"/>
              <a:gd name="T88" fmla="*/ 36 w 1677"/>
              <a:gd name="T89" fmla="*/ 1127 h 1186"/>
              <a:gd name="T90" fmla="*/ 143 w 1677"/>
              <a:gd name="T91" fmla="*/ 1181 h 1186"/>
              <a:gd name="T92" fmla="*/ 326 w 1677"/>
              <a:gd name="T93" fmla="*/ 1181 h 1186"/>
              <a:gd name="T94" fmla="*/ 591 w 1677"/>
              <a:gd name="T95" fmla="*/ 1143 h 1186"/>
              <a:gd name="T96" fmla="*/ 628 w 1677"/>
              <a:gd name="T97" fmla="*/ 1141 h 1186"/>
              <a:gd name="T98" fmla="*/ 698 w 1677"/>
              <a:gd name="T99" fmla="*/ 1147 h 1186"/>
              <a:gd name="T100" fmla="*/ 803 w 1677"/>
              <a:gd name="T101" fmla="*/ 1185 h 1186"/>
              <a:gd name="T102" fmla="*/ 874 w 1677"/>
              <a:gd name="T103" fmla="*/ 1185 h 1186"/>
              <a:gd name="T104" fmla="*/ 979 w 1677"/>
              <a:gd name="T105" fmla="*/ 1147 h 1186"/>
              <a:gd name="T106" fmla="*/ 1049 w 1677"/>
              <a:gd name="T107" fmla="*/ 1141 h 1186"/>
              <a:gd name="T108" fmla="*/ 1080 w 1677"/>
              <a:gd name="T109" fmla="*/ 1142 h 1186"/>
              <a:gd name="T110" fmla="*/ 1299 w 1677"/>
              <a:gd name="T111" fmla="*/ 1176 h 1186"/>
              <a:gd name="T112" fmla="*/ 1508 w 1677"/>
              <a:gd name="T113" fmla="*/ 1183 h 1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77" h="1186">
                <a:moveTo>
                  <a:pt x="1676" y="1142"/>
                </a:moveTo>
                <a:cubicBezTo>
                  <a:pt x="1658" y="159"/>
                  <a:pt x="1658" y="159"/>
                  <a:pt x="1658" y="159"/>
                </a:cubicBezTo>
                <a:cubicBezTo>
                  <a:pt x="1641" y="1127"/>
                  <a:pt x="1641" y="1127"/>
                  <a:pt x="1641" y="1127"/>
                </a:cubicBezTo>
                <a:cubicBezTo>
                  <a:pt x="1605" y="1133"/>
                  <a:pt x="1605" y="1133"/>
                  <a:pt x="1605" y="1133"/>
                </a:cubicBezTo>
                <a:cubicBezTo>
                  <a:pt x="1589" y="1135"/>
                  <a:pt x="1572" y="1137"/>
                  <a:pt x="1555" y="1139"/>
                </a:cubicBezTo>
                <a:cubicBezTo>
                  <a:pt x="1530" y="1140"/>
                  <a:pt x="1530" y="1140"/>
                  <a:pt x="1530" y="1140"/>
                </a:cubicBezTo>
                <a:cubicBezTo>
                  <a:pt x="1522" y="1141"/>
                  <a:pt x="1514" y="1142"/>
                  <a:pt x="1505" y="1142"/>
                </a:cubicBezTo>
                <a:cubicBezTo>
                  <a:pt x="1489" y="1142"/>
                  <a:pt x="1472" y="1143"/>
                  <a:pt x="1455" y="1142"/>
                </a:cubicBezTo>
                <a:cubicBezTo>
                  <a:pt x="1447" y="1142"/>
                  <a:pt x="1439" y="1142"/>
                  <a:pt x="1431" y="1141"/>
                </a:cubicBezTo>
                <a:cubicBezTo>
                  <a:pt x="1406" y="1140"/>
                  <a:pt x="1406" y="1140"/>
                  <a:pt x="1406" y="1140"/>
                </a:cubicBezTo>
                <a:cubicBezTo>
                  <a:pt x="1393" y="1139"/>
                  <a:pt x="1393" y="1139"/>
                  <a:pt x="1393" y="1139"/>
                </a:cubicBezTo>
                <a:cubicBezTo>
                  <a:pt x="1381" y="1137"/>
                  <a:pt x="1381" y="1137"/>
                  <a:pt x="1381" y="1137"/>
                </a:cubicBezTo>
                <a:cubicBezTo>
                  <a:pt x="1356" y="1135"/>
                  <a:pt x="1356" y="1135"/>
                  <a:pt x="1356" y="1135"/>
                </a:cubicBezTo>
                <a:cubicBezTo>
                  <a:pt x="1339" y="1132"/>
                  <a:pt x="1323" y="1130"/>
                  <a:pt x="1306" y="1127"/>
                </a:cubicBezTo>
                <a:cubicBezTo>
                  <a:pt x="1290" y="1125"/>
                  <a:pt x="1273" y="1121"/>
                  <a:pt x="1257" y="1118"/>
                </a:cubicBezTo>
                <a:cubicBezTo>
                  <a:pt x="1207" y="1108"/>
                  <a:pt x="1207" y="1108"/>
                  <a:pt x="1207" y="1108"/>
                </a:cubicBezTo>
                <a:cubicBezTo>
                  <a:pt x="1182" y="1103"/>
                  <a:pt x="1182" y="1103"/>
                  <a:pt x="1182" y="1103"/>
                </a:cubicBezTo>
                <a:cubicBezTo>
                  <a:pt x="1174" y="1101"/>
                  <a:pt x="1165" y="1099"/>
                  <a:pt x="1157" y="1097"/>
                </a:cubicBezTo>
                <a:cubicBezTo>
                  <a:pt x="1140" y="1094"/>
                  <a:pt x="1122" y="1091"/>
                  <a:pt x="1105" y="1088"/>
                </a:cubicBezTo>
                <a:cubicBezTo>
                  <a:pt x="1092" y="1087"/>
                  <a:pt x="1092" y="1087"/>
                  <a:pt x="1092" y="1087"/>
                </a:cubicBezTo>
                <a:cubicBezTo>
                  <a:pt x="1085" y="1086"/>
                  <a:pt x="1085" y="1086"/>
                  <a:pt x="1085" y="1086"/>
                </a:cubicBezTo>
                <a:cubicBezTo>
                  <a:pt x="1082" y="1085"/>
                  <a:pt x="1082" y="1085"/>
                  <a:pt x="1082" y="1085"/>
                </a:cubicBezTo>
                <a:cubicBezTo>
                  <a:pt x="1078" y="1085"/>
                  <a:pt x="1078" y="1085"/>
                  <a:pt x="1078" y="1085"/>
                </a:cubicBezTo>
                <a:cubicBezTo>
                  <a:pt x="1065" y="1084"/>
                  <a:pt x="1065" y="1084"/>
                  <a:pt x="1065" y="1084"/>
                </a:cubicBezTo>
                <a:cubicBezTo>
                  <a:pt x="1059" y="1083"/>
                  <a:pt x="1059" y="1083"/>
                  <a:pt x="1059" y="1083"/>
                </a:cubicBezTo>
                <a:cubicBezTo>
                  <a:pt x="1056" y="1083"/>
                  <a:pt x="1054" y="1083"/>
                  <a:pt x="1052" y="1083"/>
                </a:cubicBezTo>
                <a:cubicBezTo>
                  <a:pt x="1038" y="1083"/>
                  <a:pt x="1038" y="1083"/>
                  <a:pt x="1038" y="1083"/>
                </a:cubicBezTo>
                <a:cubicBezTo>
                  <a:pt x="1033" y="1083"/>
                  <a:pt x="1028" y="1083"/>
                  <a:pt x="1024" y="1083"/>
                </a:cubicBezTo>
                <a:cubicBezTo>
                  <a:pt x="1010" y="1083"/>
                  <a:pt x="1010" y="1083"/>
                  <a:pt x="1010" y="1083"/>
                </a:cubicBezTo>
                <a:cubicBezTo>
                  <a:pt x="1003" y="1084"/>
                  <a:pt x="1003" y="1084"/>
                  <a:pt x="1003" y="1084"/>
                </a:cubicBezTo>
                <a:cubicBezTo>
                  <a:pt x="997" y="1084"/>
                  <a:pt x="997" y="1084"/>
                  <a:pt x="997" y="1084"/>
                </a:cubicBezTo>
                <a:cubicBezTo>
                  <a:pt x="983" y="1085"/>
                  <a:pt x="983" y="1085"/>
                  <a:pt x="983" y="1085"/>
                </a:cubicBezTo>
                <a:cubicBezTo>
                  <a:pt x="978" y="1086"/>
                  <a:pt x="974" y="1087"/>
                  <a:pt x="969" y="1087"/>
                </a:cubicBezTo>
                <a:cubicBezTo>
                  <a:pt x="961" y="1088"/>
                  <a:pt x="952" y="1090"/>
                  <a:pt x="943" y="1092"/>
                </a:cubicBezTo>
                <a:cubicBezTo>
                  <a:pt x="955" y="1087"/>
                  <a:pt x="966" y="1082"/>
                  <a:pt x="978" y="1078"/>
                </a:cubicBezTo>
                <a:cubicBezTo>
                  <a:pt x="985" y="1076"/>
                  <a:pt x="993" y="1073"/>
                  <a:pt x="1000" y="1071"/>
                </a:cubicBezTo>
                <a:cubicBezTo>
                  <a:pt x="1011" y="1068"/>
                  <a:pt x="1011" y="1068"/>
                  <a:pt x="1011" y="1068"/>
                </a:cubicBezTo>
                <a:cubicBezTo>
                  <a:pt x="1022" y="1065"/>
                  <a:pt x="1022" y="1065"/>
                  <a:pt x="1022" y="1065"/>
                </a:cubicBezTo>
                <a:cubicBezTo>
                  <a:pt x="1028" y="1063"/>
                  <a:pt x="1028" y="1063"/>
                  <a:pt x="1028" y="1063"/>
                </a:cubicBezTo>
                <a:cubicBezTo>
                  <a:pt x="1029" y="1063"/>
                  <a:pt x="1029" y="1063"/>
                  <a:pt x="1029" y="1063"/>
                </a:cubicBezTo>
                <a:cubicBezTo>
                  <a:pt x="1030" y="1063"/>
                  <a:pt x="1030" y="1063"/>
                  <a:pt x="1030" y="1063"/>
                </a:cubicBezTo>
                <a:cubicBezTo>
                  <a:pt x="1033" y="1062"/>
                  <a:pt x="1033" y="1062"/>
                  <a:pt x="1033" y="1062"/>
                </a:cubicBezTo>
                <a:cubicBezTo>
                  <a:pt x="1044" y="1060"/>
                  <a:pt x="1044" y="1060"/>
                  <a:pt x="1044" y="1060"/>
                </a:cubicBezTo>
                <a:cubicBezTo>
                  <a:pt x="1048" y="1059"/>
                  <a:pt x="1051" y="1059"/>
                  <a:pt x="1055" y="1058"/>
                </a:cubicBezTo>
                <a:cubicBezTo>
                  <a:pt x="1059" y="1058"/>
                  <a:pt x="1063" y="1057"/>
                  <a:pt x="1066" y="1057"/>
                </a:cubicBezTo>
                <a:cubicBezTo>
                  <a:pt x="1082" y="1056"/>
                  <a:pt x="1097" y="1055"/>
                  <a:pt x="1112" y="1055"/>
                </a:cubicBezTo>
                <a:cubicBezTo>
                  <a:pt x="1124" y="1055"/>
                  <a:pt x="1124" y="1055"/>
                  <a:pt x="1124" y="1055"/>
                </a:cubicBezTo>
                <a:cubicBezTo>
                  <a:pt x="1135" y="1055"/>
                  <a:pt x="1135" y="1055"/>
                  <a:pt x="1135" y="1055"/>
                </a:cubicBezTo>
                <a:cubicBezTo>
                  <a:pt x="1143" y="1056"/>
                  <a:pt x="1151" y="1056"/>
                  <a:pt x="1158" y="1057"/>
                </a:cubicBezTo>
                <a:cubicBezTo>
                  <a:pt x="1166" y="1057"/>
                  <a:pt x="1174" y="1058"/>
                  <a:pt x="1181" y="1058"/>
                </a:cubicBezTo>
                <a:cubicBezTo>
                  <a:pt x="1205" y="1061"/>
                  <a:pt x="1205" y="1061"/>
                  <a:pt x="1205" y="1061"/>
                </a:cubicBezTo>
                <a:cubicBezTo>
                  <a:pt x="1251" y="1065"/>
                  <a:pt x="1251" y="1065"/>
                  <a:pt x="1251" y="1065"/>
                </a:cubicBezTo>
                <a:cubicBezTo>
                  <a:pt x="1267" y="1067"/>
                  <a:pt x="1283" y="1068"/>
                  <a:pt x="1299" y="1069"/>
                </a:cubicBezTo>
                <a:cubicBezTo>
                  <a:pt x="1306" y="1070"/>
                  <a:pt x="1315" y="1070"/>
                  <a:pt x="1322" y="1070"/>
                </a:cubicBezTo>
                <a:cubicBezTo>
                  <a:pt x="1326" y="1071"/>
                  <a:pt x="1330" y="1071"/>
                  <a:pt x="1334" y="1071"/>
                </a:cubicBezTo>
                <a:cubicBezTo>
                  <a:pt x="1340" y="1071"/>
                  <a:pt x="1340" y="1071"/>
                  <a:pt x="1340" y="1071"/>
                </a:cubicBezTo>
                <a:cubicBezTo>
                  <a:pt x="1343" y="1071"/>
                  <a:pt x="1343" y="1071"/>
                  <a:pt x="1343" y="1071"/>
                </a:cubicBezTo>
                <a:cubicBezTo>
                  <a:pt x="1344" y="1071"/>
                  <a:pt x="1345" y="1071"/>
                  <a:pt x="1346" y="1071"/>
                </a:cubicBezTo>
                <a:cubicBezTo>
                  <a:pt x="1362" y="1071"/>
                  <a:pt x="1378" y="1070"/>
                  <a:pt x="1394" y="1067"/>
                </a:cubicBezTo>
                <a:cubicBezTo>
                  <a:pt x="1406" y="1066"/>
                  <a:pt x="1406" y="1066"/>
                  <a:pt x="1406" y="1066"/>
                </a:cubicBezTo>
                <a:cubicBezTo>
                  <a:pt x="1418" y="1064"/>
                  <a:pt x="1418" y="1064"/>
                  <a:pt x="1418" y="1064"/>
                </a:cubicBezTo>
                <a:cubicBezTo>
                  <a:pt x="1426" y="1062"/>
                  <a:pt x="1434" y="1061"/>
                  <a:pt x="1441" y="1059"/>
                </a:cubicBezTo>
                <a:cubicBezTo>
                  <a:pt x="1449" y="1057"/>
                  <a:pt x="1457" y="1055"/>
                  <a:pt x="1464" y="1053"/>
                </a:cubicBezTo>
                <a:cubicBezTo>
                  <a:pt x="1472" y="1051"/>
                  <a:pt x="1480" y="1049"/>
                  <a:pt x="1487" y="1047"/>
                </a:cubicBezTo>
                <a:cubicBezTo>
                  <a:pt x="1503" y="1042"/>
                  <a:pt x="1518" y="1037"/>
                  <a:pt x="1532" y="1032"/>
                </a:cubicBezTo>
                <a:cubicBezTo>
                  <a:pt x="1547" y="1026"/>
                  <a:pt x="1562" y="1021"/>
                  <a:pt x="1577" y="1014"/>
                </a:cubicBezTo>
                <a:cubicBezTo>
                  <a:pt x="1582" y="1012"/>
                  <a:pt x="1582" y="1012"/>
                  <a:pt x="1582" y="1012"/>
                </a:cubicBezTo>
                <a:cubicBezTo>
                  <a:pt x="1582" y="1006"/>
                  <a:pt x="1582" y="1006"/>
                  <a:pt x="1582" y="1006"/>
                </a:cubicBezTo>
                <a:cubicBezTo>
                  <a:pt x="1576" y="4"/>
                  <a:pt x="1576" y="4"/>
                  <a:pt x="1576" y="4"/>
                </a:cubicBezTo>
                <a:cubicBezTo>
                  <a:pt x="1576" y="0"/>
                  <a:pt x="1576" y="0"/>
                  <a:pt x="1576" y="0"/>
                </a:cubicBezTo>
                <a:cubicBezTo>
                  <a:pt x="1572" y="1"/>
                  <a:pt x="1572" y="1"/>
                  <a:pt x="1572" y="1"/>
                </a:cubicBezTo>
                <a:cubicBezTo>
                  <a:pt x="1542" y="10"/>
                  <a:pt x="1542" y="10"/>
                  <a:pt x="1542" y="10"/>
                </a:cubicBezTo>
                <a:cubicBezTo>
                  <a:pt x="1537" y="12"/>
                  <a:pt x="1532" y="14"/>
                  <a:pt x="1527" y="15"/>
                </a:cubicBezTo>
                <a:cubicBezTo>
                  <a:pt x="1511" y="19"/>
                  <a:pt x="1511" y="19"/>
                  <a:pt x="1511" y="19"/>
                </a:cubicBezTo>
                <a:cubicBezTo>
                  <a:pt x="1496" y="22"/>
                  <a:pt x="1496" y="22"/>
                  <a:pt x="1496" y="22"/>
                </a:cubicBezTo>
                <a:cubicBezTo>
                  <a:pt x="1488" y="24"/>
                  <a:pt x="1488" y="24"/>
                  <a:pt x="1488" y="24"/>
                </a:cubicBezTo>
                <a:cubicBezTo>
                  <a:pt x="1485" y="25"/>
                  <a:pt x="1483" y="25"/>
                  <a:pt x="1480" y="26"/>
                </a:cubicBezTo>
                <a:cubicBezTo>
                  <a:pt x="1449" y="32"/>
                  <a:pt x="1449" y="32"/>
                  <a:pt x="1449" y="32"/>
                </a:cubicBezTo>
                <a:cubicBezTo>
                  <a:pt x="1444" y="33"/>
                  <a:pt x="1439" y="34"/>
                  <a:pt x="1433" y="35"/>
                </a:cubicBezTo>
                <a:cubicBezTo>
                  <a:pt x="1418" y="37"/>
                  <a:pt x="1418" y="37"/>
                  <a:pt x="1418" y="37"/>
                </a:cubicBezTo>
                <a:cubicBezTo>
                  <a:pt x="1402" y="39"/>
                  <a:pt x="1402" y="39"/>
                  <a:pt x="1402" y="39"/>
                </a:cubicBezTo>
                <a:cubicBezTo>
                  <a:pt x="1397" y="40"/>
                  <a:pt x="1391" y="41"/>
                  <a:pt x="1386" y="41"/>
                </a:cubicBezTo>
                <a:cubicBezTo>
                  <a:pt x="1376" y="43"/>
                  <a:pt x="1365" y="44"/>
                  <a:pt x="1355" y="45"/>
                </a:cubicBezTo>
                <a:cubicBezTo>
                  <a:pt x="1323" y="48"/>
                  <a:pt x="1323" y="48"/>
                  <a:pt x="1323" y="48"/>
                </a:cubicBezTo>
                <a:cubicBezTo>
                  <a:pt x="1318" y="48"/>
                  <a:pt x="1312" y="49"/>
                  <a:pt x="1307" y="49"/>
                </a:cubicBezTo>
                <a:cubicBezTo>
                  <a:pt x="1291" y="50"/>
                  <a:pt x="1291" y="50"/>
                  <a:pt x="1291" y="50"/>
                </a:cubicBezTo>
                <a:cubicBezTo>
                  <a:pt x="1275" y="51"/>
                  <a:pt x="1275" y="51"/>
                  <a:pt x="1275" y="51"/>
                </a:cubicBezTo>
                <a:cubicBezTo>
                  <a:pt x="1259" y="51"/>
                  <a:pt x="1259" y="51"/>
                  <a:pt x="1259" y="51"/>
                </a:cubicBezTo>
                <a:cubicBezTo>
                  <a:pt x="1249" y="52"/>
                  <a:pt x="1238" y="52"/>
                  <a:pt x="1228" y="52"/>
                </a:cubicBezTo>
                <a:cubicBezTo>
                  <a:pt x="1217" y="52"/>
                  <a:pt x="1206" y="53"/>
                  <a:pt x="1196" y="53"/>
                </a:cubicBezTo>
                <a:cubicBezTo>
                  <a:pt x="1185" y="52"/>
                  <a:pt x="1175" y="52"/>
                  <a:pt x="1164" y="52"/>
                </a:cubicBezTo>
                <a:cubicBezTo>
                  <a:pt x="1153" y="52"/>
                  <a:pt x="1143" y="52"/>
                  <a:pt x="1132" y="51"/>
                </a:cubicBezTo>
                <a:cubicBezTo>
                  <a:pt x="1116" y="51"/>
                  <a:pt x="1116" y="51"/>
                  <a:pt x="1116" y="51"/>
                </a:cubicBezTo>
                <a:cubicBezTo>
                  <a:pt x="1100" y="50"/>
                  <a:pt x="1100" y="50"/>
                  <a:pt x="1100" y="50"/>
                </a:cubicBezTo>
                <a:cubicBezTo>
                  <a:pt x="1090" y="49"/>
                  <a:pt x="1079" y="48"/>
                  <a:pt x="1069" y="47"/>
                </a:cubicBezTo>
                <a:cubicBezTo>
                  <a:pt x="1079" y="48"/>
                  <a:pt x="1090" y="49"/>
                  <a:pt x="1100" y="50"/>
                </a:cubicBezTo>
                <a:cubicBezTo>
                  <a:pt x="1116" y="51"/>
                  <a:pt x="1116" y="51"/>
                  <a:pt x="1116" y="51"/>
                </a:cubicBezTo>
                <a:cubicBezTo>
                  <a:pt x="1132" y="52"/>
                  <a:pt x="1132" y="52"/>
                  <a:pt x="1132" y="52"/>
                </a:cubicBezTo>
                <a:cubicBezTo>
                  <a:pt x="1143" y="53"/>
                  <a:pt x="1153" y="53"/>
                  <a:pt x="1164" y="53"/>
                </a:cubicBezTo>
                <a:cubicBezTo>
                  <a:pt x="1175" y="54"/>
                  <a:pt x="1185" y="54"/>
                  <a:pt x="1196" y="54"/>
                </a:cubicBezTo>
                <a:cubicBezTo>
                  <a:pt x="1206" y="54"/>
                  <a:pt x="1217" y="54"/>
                  <a:pt x="1228" y="54"/>
                </a:cubicBezTo>
                <a:cubicBezTo>
                  <a:pt x="1238" y="54"/>
                  <a:pt x="1249" y="54"/>
                  <a:pt x="1260" y="54"/>
                </a:cubicBezTo>
                <a:cubicBezTo>
                  <a:pt x="1275" y="53"/>
                  <a:pt x="1275" y="53"/>
                  <a:pt x="1275" y="53"/>
                </a:cubicBezTo>
                <a:cubicBezTo>
                  <a:pt x="1291" y="53"/>
                  <a:pt x="1291" y="53"/>
                  <a:pt x="1291" y="53"/>
                </a:cubicBezTo>
                <a:cubicBezTo>
                  <a:pt x="1307" y="52"/>
                  <a:pt x="1307" y="52"/>
                  <a:pt x="1307" y="52"/>
                </a:cubicBezTo>
                <a:cubicBezTo>
                  <a:pt x="1313" y="52"/>
                  <a:pt x="1318" y="51"/>
                  <a:pt x="1323" y="51"/>
                </a:cubicBezTo>
                <a:cubicBezTo>
                  <a:pt x="1355" y="48"/>
                  <a:pt x="1355" y="48"/>
                  <a:pt x="1355" y="48"/>
                </a:cubicBezTo>
                <a:cubicBezTo>
                  <a:pt x="1366" y="47"/>
                  <a:pt x="1376" y="46"/>
                  <a:pt x="1387" y="45"/>
                </a:cubicBezTo>
                <a:cubicBezTo>
                  <a:pt x="1392" y="44"/>
                  <a:pt x="1397" y="44"/>
                  <a:pt x="1403" y="43"/>
                </a:cubicBezTo>
                <a:cubicBezTo>
                  <a:pt x="1418" y="41"/>
                  <a:pt x="1418" y="41"/>
                  <a:pt x="1418" y="41"/>
                </a:cubicBezTo>
                <a:cubicBezTo>
                  <a:pt x="1434" y="39"/>
                  <a:pt x="1434" y="39"/>
                  <a:pt x="1434" y="39"/>
                </a:cubicBezTo>
                <a:cubicBezTo>
                  <a:pt x="1439" y="38"/>
                  <a:pt x="1445" y="37"/>
                  <a:pt x="1450" y="36"/>
                </a:cubicBezTo>
                <a:cubicBezTo>
                  <a:pt x="1481" y="30"/>
                  <a:pt x="1481" y="30"/>
                  <a:pt x="1481" y="30"/>
                </a:cubicBezTo>
                <a:cubicBezTo>
                  <a:pt x="1484" y="30"/>
                  <a:pt x="1486" y="30"/>
                  <a:pt x="1489" y="29"/>
                </a:cubicBezTo>
                <a:cubicBezTo>
                  <a:pt x="1497" y="27"/>
                  <a:pt x="1497" y="27"/>
                  <a:pt x="1497" y="27"/>
                </a:cubicBezTo>
                <a:cubicBezTo>
                  <a:pt x="1512" y="24"/>
                  <a:pt x="1512" y="24"/>
                  <a:pt x="1512" y="24"/>
                </a:cubicBezTo>
                <a:cubicBezTo>
                  <a:pt x="1528" y="20"/>
                  <a:pt x="1528" y="20"/>
                  <a:pt x="1528" y="20"/>
                </a:cubicBezTo>
                <a:cubicBezTo>
                  <a:pt x="1533" y="19"/>
                  <a:pt x="1538" y="17"/>
                  <a:pt x="1543" y="16"/>
                </a:cubicBezTo>
                <a:cubicBezTo>
                  <a:pt x="1570" y="8"/>
                  <a:pt x="1570" y="8"/>
                  <a:pt x="1570" y="8"/>
                </a:cubicBezTo>
                <a:cubicBezTo>
                  <a:pt x="1564" y="1000"/>
                  <a:pt x="1564" y="1000"/>
                  <a:pt x="1564" y="1000"/>
                </a:cubicBezTo>
                <a:cubicBezTo>
                  <a:pt x="1552" y="1006"/>
                  <a:pt x="1539" y="1010"/>
                  <a:pt x="1526" y="1015"/>
                </a:cubicBezTo>
                <a:cubicBezTo>
                  <a:pt x="1512" y="1020"/>
                  <a:pt x="1497" y="1025"/>
                  <a:pt x="1482" y="1029"/>
                </a:cubicBezTo>
                <a:cubicBezTo>
                  <a:pt x="1475" y="1031"/>
                  <a:pt x="1467" y="1033"/>
                  <a:pt x="1460" y="1035"/>
                </a:cubicBezTo>
                <a:cubicBezTo>
                  <a:pt x="1452" y="1037"/>
                  <a:pt x="1445" y="1039"/>
                  <a:pt x="1437" y="1040"/>
                </a:cubicBezTo>
                <a:cubicBezTo>
                  <a:pt x="1430" y="1042"/>
                  <a:pt x="1422" y="1043"/>
                  <a:pt x="1415" y="1045"/>
                </a:cubicBezTo>
                <a:cubicBezTo>
                  <a:pt x="1403" y="1046"/>
                  <a:pt x="1403" y="1046"/>
                  <a:pt x="1403" y="1046"/>
                </a:cubicBezTo>
                <a:cubicBezTo>
                  <a:pt x="1392" y="1048"/>
                  <a:pt x="1392" y="1048"/>
                  <a:pt x="1392" y="1048"/>
                </a:cubicBezTo>
                <a:cubicBezTo>
                  <a:pt x="1377" y="1050"/>
                  <a:pt x="1361" y="1051"/>
                  <a:pt x="1346" y="1051"/>
                </a:cubicBezTo>
                <a:cubicBezTo>
                  <a:pt x="1345" y="1051"/>
                  <a:pt x="1344" y="1051"/>
                  <a:pt x="1344" y="1051"/>
                </a:cubicBezTo>
                <a:cubicBezTo>
                  <a:pt x="1341" y="1051"/>
                  <a:pt x="1341" y="1051"/>
                  <a:pt x="1341" y="1051"/>
                </a:cubicBezTo>
                <a:cubicBezTo>
                  <a:pt x="1335" y="1050"/>
                  <a:pt x="1335" y="1050"/>
                  <a:pt x="1335" y="1050"/>
                </a:cubicBezTo>
                <a:cubicBezTo>
                  <a:pt x="1331" y="1050"/>
                  <a:pt x="1327" y="1050"/>
                  <a:pt x="1323" y="1050"/>
                </a:cubicBezTo>
                <a:cubicBezTo>
                  <a:pt x="1315" y="1049"/>
                  <a:pt x="1308" y="1049"/>
                  <a:pt x="1300" y="1048"/>
                </a:cubicBezTo>
                <a:cubicBezTo>
                  <a:pt x="1285" y="1047"/>
                  <a:pt x="1269" y="1046"/>
                  <a:pt x="1254" y="1044"/>
                </a:cubicBezTo>
                <a:cubicBezTo>
                  <a:pt x="1207" y="1039"/>
                  <a:pt x="1207" y="1039"/>
                  <a:pt x="1207" y="1039"/>
                </a:cubicBezTo>
                <a:cubicBezTo>
                  <a:pt x="1184" y="1036"/>
                  <a:pt x="1184" y="1036"/>
                  <a:pt x="1184" y="1036"/>
                </a:cubicBezTo>
                <a:cubicBezTo>
                  <a:pt x="1176" y="1036"/>
                  <a:pt x="1168" y="1035"/>
                  <a:pt x="1160" y="1034"/>
                </a:cubicBezTo>
                <a:cubicBezTo>
                  <a:pt x="1152" y="1034"/>
                  <a:pt x="1144" y="1033"/>
                  <a:pt x="1136" y="1033"/>
                </a:cubicBezTo>
                <a:cubicBezTo>
                  <a:pt x="1124" y="1032"/>
                  <a:pt x="1124" y="1032"/>
                  <a:pt x="1124" y="1032"/>
                </a:cubicBezTo>
                <a:cubicBezTo>
                  <a:pt x="1112" y="1032"/>
                  <a:pt x="1112" y="1032"/>
                  <a:pt x="1112" y="1032"/>
                </a:cubicBezTo>
                <a:cubicBezTo>
                  <a:pt x="1096" y="1032"/>
                  <a:pt x="1080" y="1032"/>
                  <a:pt x="1064" y="1034"/>
                </a:cubicBezTo>
                <a:cubicBezTo>
                  <a:pt x="1060" y="1034"/>
                  <a:pt x="1056" y="1035"/>
                  <a:pt x="1052" y="1035"/>
                </a:cubicBezTo>
                <a:cubicBezTo>
                  <a:pt x="1048" y="1036"/>
                  <a:pt x="1044" y="1036"/>
                  <a:pt x="1040" y="1037"/>
                </a:cubicBezTo>
                <a:cubicBezTo>
                  <a:pt x="1028" y="1039"/>
                  <a:pt x="1028" y="1039"/>
                  <a:pt x="1028" y="1039"/>
                </a:cubicBezTo>
                <a:cubicBezTo>
                  <a:pt x="1025" y="1039"/>
                  <a:pt x="1025" y="1039"/>
                  <a:pt x="1025" y="1039"/>
                </a:cubicBezTo>
                <a:cubicBezTo>
                  <a:pt x="1024" y="1040"/>
                  <a:pt x="1024" y="1040"/>
                  <a:pt x="1024" y="1040"/>
                </a:cubicBezTo>
                <a:cubicBezTo>
                  <a:pt x="1024" y="1040"/>
                  <a:pt x="1024" y="1040"/>
                  <a:pt x="1024" y="1040"/>
                </a:cubicBezTo>
                <a:cubicBezTo>
                  <a:pt x="1023" y="1040"/>
                  <a:pt x="1023" y="1040"/>
                  <a:pt x="1023" y="1040"/>
                </a:cubicBezTo>
                <a:cubicBezTo>
                  <a:pt x="1022" y="1040"/>
                  <a:pt x="1022" y="1040"/>
                  <a:pt x="1022" y="1040"/>
                </a:cubicBezTo>
                <a:cubicBezTo>
                  <a:pt x="1016" y="1042"/>
                  <a:pt x="1016" y="1042"/>
                  <a:pt x="1016" y="1042"/>
                </a:cubicBezTo>
                <a:cubicBezTo>
                  <a:pt x="1005" y="1044"/>
                  <a:pt x="1005" y="1044"/>
                  <a:pt x="1005" y="1044"/>
                </a:cubicBezTo>
                <a:cubicBezTo>
                  <a:pt x="993" y="1048"/>
                  <a:pt x="993" y="1048"/>
                  <a:pt x="993" y="1048"/>
                </a:cubicBezTo>
                <a:cubicBezTo>
                  <a:pt x="985" y="1050"/>
                  <a:pt x="978" y="1052"/>
                  <a:pt x="970" y="1055"/>
                </a:cubicBezTo>
                <a:cubicBezTo>
                  <a:pt x="955" y="1060"/>
                  <a:pt x="940" y="1066"/>
                  <a:pt x="925" y="1072"/>
                </a:cubicBezTo>
                <a:cubicBezTo>
                  <a:pt x="911" y="1079"/>
                  <a:pt x="896" y="1086"/>
                  <a:pt x="882" y="1093"/>
                </a:cubicBezTo>
                <a:cubicBezTo>
                  <a:pt x="872" y="1099"/>
                  <a:pt x="872" y="1099"/>
                  <a:pt x="872" y="1099"/>
                </a:cubicBezTo>
                <a:cubicBezTo>
                  <a:pt x="861" y="1105"/>
                  <a:pt x="861" y="1105"/>
                  <a:pt x="861" y="1105"/>
                </a:cubicBezTo>
                <a:cubicBezTo>
                  <a:pt x="858" y="1107"/>
                  <a:pt x="854" y="1109"/>
                  <a:pt x="851" y="1112"/>
                </a:cubicBezTo>
                <a:cubicBezTo>
                  <a:pt x="839" y="106"/>
                  <a:pt x="839" y="106"/>
                  <a:pt x="839" y="106"/>
                </a:cubicBezTo>
                <a:cubicBezTo>
                  <a:pt x="826" y="1112"/>
                  <a:pt x="826" y="1112"/>
                  <a:pt x="826" y="1112"/>
                </a:cubicBezTo>
                <a:cubicBezTo>
                  <a:pt x="823" y="1109"/>
                  <a:pt x="819" y="1107"/>
                  <a:pt x="816" y="1105"/>
                </a:cubicBezTo>
                <a:cubicBezTo>
                  <a:pt x="805" y="1099"/>
                  <a:pt x="805" y="1099"/>
                  <a:pt x="805" y="1099"/>
                </a:cubicBezTo>
                <a:cubicBezTo>
                  <a:pt x="795" y="1093"/>
                  <a:pt x="795" y="1093"/>
                  <a:pt x="795" y="1093"/>
                </a:cubicBezTo>
                <a:cubicBezTo>
                  <a:pt x="781" y="1086"/>
                  <a:pt x="766" y="1079"/>
                  <a:pt x="752" y="1072"/>
                </a:cubicBezTo>
                <a:cubicBezTo>
                  <a:pt x="737" y="1066"/>
                  <a:pt x="722" y="1060"/>
                  <a:pt x="707" y="1055"/>
                </a:cubicBezTo>
                <a:cubicBezTo>
                  <a:pt x="699" y="1052"/>
                  <a:pt x="692" y="1050"/>
                  <a:pt x="684" y="1048"/>
                </a:cubicBezTo>
                <a:cubicBezTo>
                  <a:pt x="672" y="1044"/>
                  <a:pt x="672" y="1044"/>
                  <a:pt x="672" y="1044"/>
                </a:cubicBezTo>
                <a:cubicBezTo>
                  <a:pt x="661" y="1042"/>
                  <a:pt x="661" y="1042"/>
                  <a:pt x="661" y="1042"/>
                </a:cubicBezTo>
                <a:cubicBezTo>
                  <a:pt x="655" y="1040"/>
                  <a:pt x="655" y="1040"/>
                  <a:pt x="655" y="1040"/>
                </a:cubicBezTo>
                <a:cubicBezTo>
                  <a:pt x="654" y="1040"/>
                  <a:pt x="654" y="1040"/>
                  <a:pt x="654" y="1040"/>
                </a:cubicBezTo>
                <a:cubicBezTo>
                  <a:pt x="653" y="1040"/>
                  <a:pt x="653" y="1040"/>
                  <a:pt x="653" y="1040"/>
                </a:cubicBezTo>
                <a:cubicBezTo>
                  <a:pt x="653" y="1040"/>
                  <a:pt x="653" y="1040"/>
                  <a:pt x="653" y="1040"/>
                </a:cubicBezTo>
                <a:cubicBezTo>
                  <a:pt x="652" y="1039"/>
                  <a:pt x="652" y="1039"/>
                  <a:pt x="652" y="1039"/>
                </a:cubicBezTo>
                <a:cubicBezTo>
                  <a:pt x="649" y="1039"/>
                  <a:pt x="649" y="1039"/>
                  <a:pt x="649" y="1039"/>
                </a:cubicBezTo>
                <a:cubicBezTo>
                  <a:pt x="637" y="1037"/>
                  <a:pt x="637" y="1037"/>
                  <a:pt x="637" y="1037"/>
                </a:cubicBezTo>
                <a:cubicBezTo>
                  <a:pt x="633" y="1036"/>
                  <a:pt x="629" y="1036"/>
                  <a:pt x="625" y="1035"/>
                </a:cubicBezTo>
                <a:cubicBezTo>
                  <a:pt x="621" y="1035"/>
                  <a:pt x="617" y="1034"/>
                  <a:pt x="613" y="1034"/>
                </a:cubicBezTo>
                <a:cubicBezTo>
                  <a:pt x="597" y="1032"/>
                  <a:pt x="581" y="1032"/>
                  <a:pt x="565" y="1032"/>
                </a:cubicBezTo>
                <a:cubicBezTo>
                  <a:pt x="553" y="1032"/>
                  <a:pt x="553" y="1032"/>
                  <a:pt x="553" y="1032"/>
                </a:cubicBezTo>
                <a:cubicBezTo>
                  <a:pt x="541" y="1033"/>
                  <a:pt x="541" y="1033"/>
                  <a:pt x="541" y="1033"/>
                </a:cubicBezTo>
                <a:cubicBezTo>
                  <a:pt x="533" y="1033"/>
                  <a:pt x="525" y="1034"/>
                  <a:pt x="517" y="1034"/>
                </a:cubicBezTo>
                <a:cubicBezTo>
                  <a:pt x="509" y="1035"/>
                  <a:pt x="501" y="1036"/>
                  <a:pt x="493" y="1036"/>
                </a:cubicBezTo>
                <a:cubicBezTo>
                  <a:pt x="470" y="1039"/>
                  <a:pt x="470" y="1039"/>
                  <a:pt x="470" y="1039"/>
                </a:cubicBezTo>
                <a:cubicBezTo>
                  <a:pt x="423" y="1044"/>
                  <a:pt x="423" y="1044"/>
                  <a:pt x="423" y="1044"/>
                </a:cubicBezTo>
                <a:cubicBezTo>
                  <a:pt x="408" y="1046"/>
                  <a:pt x="392" y="1047"/>
                  <a:pt x="377" y="1048"/>
                </a:cubicBezTo>
                <a:cubicBezTo>
                  <a:pt x="369" y="1049"/>
                  <a:pt x="362" y="1049"/>
                  <a:pt x="354" y="1050"/>
                </a:cubicBezTo>
                <a:cubicBezTo>
                  <a:pt x="350" y="1050"/>
                  <a:pt x="346" y="1050"/>
                  <a:pt x="342" y="1050"/>
                </a:cubicBezTo>
                <a:cubicBezTo>
                  <a:pt x="336" y="1051"/>
                  <a:pt x="336" y="1051"/>
                  <a:pt x="336" y="1051"/>
                </a:cubicBezTo>
                <a:cubicBezTo>
                  <a:pt x="333" y="1051"/>
                  <a:pt x="333" y="1051"/>
                  <a:pt x="333" y="1051"/>
                </a:cubicBezTo>
                <a:cubicBezTo>
                  <a:pt x="333" y="1051"/>
                  <a:pt x="332" y="1051"/>
                  <a:pt x="331" y="1051"/>
                </a:cubicBezTo>
                <a:cubicBezTo>
                  <a:pt x="316" y="1051"/>
                  <a:pt x="300" y="1050"/>
                  <a:pt x="285" y="1048"/>
                </a:cubicBezTo>
                <a:cubicBezTo>
                  <a:pt x="274" y="1046"/>
                  <a:pt x="274" y="1046"/>
                  <a:pt x="274" y="1046"/>
                </a:cubicBezTo>
                <a:cubicBezTo>
                  <a:pt x="262" y="1045"/>
                  <a:pt x="262" y="1045"/>
                  <a:pt x="262" y="1045"/>
                </a:cubicBezTo>
                <a:cubicBezTo>
                  <a:pt x="255" y="1043"/>
                  <a:pt x="247" y="1042"/>
                  <a:pt x="240" y="1040"/>
                </a:cubicBezTo>
                <a:cubicBezTo>
                  <a:pt x="232" y="1039"/>
                  <a:pt x="225" y="1037"/>
                  <a:pt x="217" y="1035"/>
                </a:cubicBezTo>
                <a:cubicBezTo>
                  <a:pt x="210" y="1033"/>
                  <a:pt x="202" y="1031"/>
                  <a:pt x="195" y="1029"/>
                </a:cubicBezTo>
                <a:cubicBezTo>
                  <a:pt x="180" y="1025"/>
                  <a:pt x="165" y="1020"/>
                  <a:pt x="151" y="1015"/>
                </a:cubicBezTo>
                <a:cubicBezTo>
                  <a:pt x="138" y="1010"/>
                  <a:pt x="125" y="1006"/>
                  <a:pt x="113" y="1000"/>
                </a:cubicBezTo>
                <a:cubicBezTo>
                  <a:pt x="107" y="8"/>
                  <a:pt x="107" y="8"/>
                  <a:pt x="107" y="8"/>
                </a:cubicBezTo>
                <a:cubicBezTo>
                  <a:pt x="134" y="16"/>
                  <a:pt x="134" y="16"/>
                  <a:pt x="134" y="16"/>
                </a:cubicBezTo>
                <a:cubicBezTo>
                  <a:pt x="139" y="17"/>
                  <a:pt x="144" y="19"/>
                  <a:pt x="149" y="20"/>
                </a:cubicBezTo>
                <a:cubicBezTo>
                  <a:pt x="165" y="24"/>
                  <a:pt x="165" y="24"/>
                  <a:pt x="165" y="24"/>
                </a:cubicBezTo>
                <a:cubicBezTo>
                  <a:pt x="180" y="27"/>
                  <a:pt x="180" y="27"/>
                  <a:pt x="180" y="27"/>
                </a:cubicBezTo>
                <a:cubicBezTo>
                  <a:pt x="188" y="29"/>
                  <a:pt x="188" y="29"/>
                  <a:pt x="188" y="29"/>
                </a:cubicBezTo>
                <a:cubicBezTo>
                  <a:pt x="191" y="30"/>
                  <a:pt x="193" y="30"/>
                  <a:pt x="196" y="30"/>
                </a:cubicBezTo>
                <a:cubicBezTo>
                  <a:pt x="227" y="36"/>
                  <a:pt x="227" y="36"/>
                  <a:pt x="227" y="36"/>
                </a:cubicBezTo>
                <a:cubicBezTo>
                  <a:pt x="232" y="37"/>
                  <a:pt x="238" y="38"/>
                  <a:pt x="243" y="39"/>
                </a:cubicBezTo>
                <a:cubicBezTo>
                  <a:pt x="259" y="41"/>
                  <a:pt x="259" y="41"/>
                  <a:pt x="259" y="41"/>
                </a:cubicBezTo>
                <a:cubicBezTo>
                  <a:pt x="275" y="43"/>
                  <a:pt x="275" y="43"/>
                  <a:pt x="275" y="43"/>
                </a:cubicBezTo>
                <a:cubicBezTo>
                  <a:pt x="280" y="44"/>
                  <a:pt x="285" y="44"/>
                  <a:pt x="290" y="45"/>
                </a:cubicBezTo>
                <a:cubicBezTo>
                  <a:pt x="301" y="46"/>
                  <a:pt x="311" y="47"/>
                  <a:pt x="322" y="48"/>
                </a:cubicBezTo>
                <a:cubicBezTo>
                  <a:pt x="354" y="51"/>
                  <a:pt x="354" y="51"/>
                  <a:pt x="354" y="51"/>
                </a:cubicBezTo>
                <a:cubicBezTo>
                  <a:pt x="359" y="51"/>
                  <a:pt x="364" y="52"/>
                  <a:pt x="370" y="52"/>
                </a:cubicBezTo>
                <a:cubicBezTo>
                  <a:pt x="386" y="53"/>
                  <a:pt x="386" y="53"/>
                  <a:pt x="386" y="53"/>
                </a:cubicBezTo>
                <a:cubicBezTo>
                  <a:pt x="402" y="53"/>
                  <a:pt x="402" y="53"/>
                  <a:pt x="402" y="53"/>
                </a:cubicBezTo>
                <a:cubicBezTo>
                  <a:pt x="417" y="54"/>
                  <a:pt x="417" y="54"/>
                  <a:pt x="417" y="54"/>
                </a:cubicBezTo>
                <a:cubicBezTo>
                  <a:pt x="428" y="54"/>
                  <a:pt x="439" y="54"/>
                  <a:pt x="449" y="54"/>
                </a:cubicBezTo>
                <a:cubicBezTo>
                  <a:pt x="460" y="54"/>
                  <a:pt x="471" y="54"/>
                  <a:pt x="481" y="54"/>
                </a:cubicBezTo>
                <a:cubicBezTo>
                  <a:pt x="492" y="54"/>
                  <a:pt x="502" y="54"/>
                  <a:pt x="513" y="53"/>
                </a:cubicBezTo>
                <a:cubicBezTo>
                  <a:pt x="524" y="53"/>
                  <a:pt x="534" y="53"/>
                  <a:pt x="545" y="52"/>
                </a:cubicBezTo>
                <a:cubicBezTo>
                  <a:pt x="561" y="51"/>
                  <a:pt x="561" y="51"/>
                  <a:pt x="561" y="51"/>
                </a:cubicBezTo>
                <a:cubicBezTo>
                  <a:pt x="577" y="50"/>
                  <a:pt x="577" y="50"/>
                  <a:pt x="577" y="50"/>
                </a:cubicBezTo>
                <a:cubicBezTo>
                  <a:pt x="587" y="49"/>
                  <a:pt x="598" y="48"/>
                  <a:pt x="608" y="47"/>
                </a:cubicBezTo>
                <a:cubicBezTo>
                  <a:pt x="598" y="48"/>
                  <a:pt x="587" y="49"/>
                  <a:pt x="577" y="50"/>
                </a:cubicBezTo>
                <a:cubicBezTo>
                  <a:pt x="561" y="51"/>
                  <a:pt x="561" y="51"/>
                  <a:pt x="561" y="51"/>
                </a:cubicBezTo>
                <a:cubicBezTo>
                  <a:pt x="545" y="51"/>
                  <a:pt x="545" y="51"/>
                  <a:pt x="545" y="51"/>
                </a:cubicBezTo>
                <a:cubicBezTo>
                  <a:pt x="534" y="52"/>
                  <a:pt x="524" y="52"/>
                  <a:pt x="513" y="52"/>
                </a:cubicBezTo>
                <a:cubicBezTo>
                  <a:pt x="502" y="52"/>
                  <a:pt x="492" y="52"/>
                  <a:pt x="481" y="53"/>
                </a:cubicBezTo>
                <a:cubicBezTo>
                  <a:pt x="471" y="53"/>
                  <a:pt x="460" y="52"/>
                  <a:pt x="449" y="52"/>
                </a:cubicBezTo>
                <a:cubicBezTo>
                  <a:pt x="439" y="52"/>
                  <a:pt x="428" y="52"/>
                  <a:pt x="418" y="51"/>
                </a:cubicBezTo>
                <a:cubicBezTo>
                  <a:pt x="402" y="51"/>
                  <a:pt x="402" y="51"/>
                  <a:pt x="402" y="51"/>
                </a:cubicBezTo>
                <a:cubicBezTo>
                  <a:pt x="386" y="50"/>
                  <a:pt x="386" y="50"/>
                  <a:pt x="386" y="50"/>
                </a:cubicBezTo>
                <a:cubicBezTo>
                  <a:pt x="370" y="49"/>
                  <a:pt x="370" y="49"/>
                  <a:pt x="370" y="49"/>
                </a:cubicBezTo>
                <a:cubicBezTo>
                  <a:pt x="365" y="49"/>
                  <a:pt x="359" y="48"/>
                  <a:pt x="354" y="48"/>
                </a:cubicBezTo>
                <a:cubicBezTo>
                  <a:pt x="322" y="45"/>
                  <a:pt x="322" y="45"/>
                  <a:pt x="322" y="45"/>
                </a:cubicBezTo>
                <a:cubicBezTo>
                  <a:pt x="312" y="44"/>
                  <a:pt x="301" y="43"/>
                  <a:pt x="291" y="41"/>
                </a:cubicBezTo>
                <a:cubicBezTo>
                  <a:pt x="286" y="41"/>
                  <a:pt x="280" y="40"/>
                  <a:pt x="275" y="39"/>
                </a:cubicBezTo>
                <a:cubicBezTo>
                  <a:pt x="259" y="37"/>
                  <a:pt x="259" y="37"/>
                  <a:pt x="259" y="37"/>
                </a:cubicBezTo>
                <a:cubicBezTo>
                  <a:pt x="244" y="35"/>
                  <a:pt x="244" y="35"/>
                  <a:pt x="244" y="35"/>
                </a:cubicBezTo>
                <a:cubicBezTo>
                  <a:pt x="238" y="34"/>
                  <a:pt x="233" y="33"/>
                  <a:pt x="228" y="32"/>
                </a:cubicBezTo>
                <a:cubicBezTo>
                  <a:pt x="197" y="26"/>
                  <a:pt x="197" y="26"/>
                  <a:pt x="197" y="26"/>
                </a:cubicBezTo>
                <a:cubicBezTo>
                  <a:pt x="194" y="25"/>
                  <a:pt x="192" y="25"/>
                  <a:pt x="189" y="24"/>
                </a:cubicBezTo>
                <a:cubicBezTo>
                  <a:pt x="181" y="22"/>
                  <a:pt x="181" y="22"/>
                  <a:pt x="181" y="22"/>
                </a:cubicBezTo>
                <a:cubicBezTo>
                  <a:pt x="166" y="19"/>
                  <a:pt x="166" y="19"/>
                  <a:pt x="166" y="19"/>
                </a:cubicBezTo>
                <a:cubicBezTo>
                  <a:pt x="150" y="15"/>
                  <a:pt x="150" y="15"/>
                  <a:pt x="150" y="15"/>
                </a:cubicBezTo>
                <a:cubicBezTo>
                  <a:pt x="145" y="14"/>
                  <a:pt x="140" y="12"/>
                  <a:pt x="135" y="10"/>
                </a:cubicBezTo>
                <a:cubicBezTo>
                  <a:pt x="105" y="1"/>
                  <a:pt x="105" y="1"/>
                  <a:pt x="105" y="1"/>
                </a:cubicBezTo>
                <a:cubicBezTo>
                  <a:pt x="101" y="0"/>
                  <a:pt x="101" y="0"/>
                  <a:pt x="101" y="0"/>
                </a:cubicBezTo>
                <a:cubicBezTo>
                  <a:pt x="101" y="4"/>
                  <a:pt x="101" y="4"/>
                  <a:pt x="101" y="4"/>
                </a:cubicBezTo>
                <a:cubicBezTo>
                  <a:pt x="95" y="1006"/>
                  <a:pt x="95" y="1006"/>
                  <a:pt x="95" y="1006"/>
                </a:cubicBezTo>
                <a:cubicBezTo>
                  <a:pt x="95" y="1012"/>
                  <a:pt x="95" y="1012"/>
                  <a:pt x="95" y="1012"/>
                </a:cubicBezTo>
                <a:cubicBezTo>
                  <a:pt x="100" y="1014"/>
                  <a:pt x="100" y="1014"/>
                  <a:pt x="100" y="1014"/>
                </a:cubicBezTo>
                <a:cubicBezTo>
                  <a:pt x="115" y="1021"/>
                  <a:pt x="130" y="1026"/>
                  <a:pt x="145" y="1032"/>
                </a:cubicBezTo>
                <a:cubicBezTo>
                  <a:pt x="159" y="1037"/>
                  <a:pt x="174" y="1042"/>
                  <a:pt x="190" y="1047"/>
                </a:cubicBezTo>
                <a:cubicBezTo>
                  <a:pt x="197" y="1049"/>
                  <a:pt x="205" y="1051"/>
                  <a:pt x="213" y="1053"/>
                </a:cubicBezTo>
                <a:cubicBezTo>
                  <a:pt x="220" y="1055"/>
                  <a:pt x="228" y="1057"/>
                  <a:pt x="236" y="1059"/>
                </a:cubicBezTo>
                <a:cubicBezTo>
                  <a:pt x="243" y="1061"/>
                  <a:pt x="251" y="1062"/>
                  <a:pt x="259" y="1064"/>
                </a:cubicBezTo>
                <a:cubicBezTo>
                  <a:pt x="271" y="1066"/>
                  <a:pt x="271" y="1066"/>
                  <a:pt x="271" y="1066"/>
                </a:cubicBezTo>
                <a:cubicBezTo>
                  <a:pt x="283" y="1067"/>
                  <a:pt x="283" y="1067"/>
                  <a:pt x="283" y="1067"/>
                </a:cubicBezTo>
                <a:cubicBezTo>
                  <a:pt x="299" y="1070"/>
                  <a:pt x="315" y="1071"/>
                  <a:pt x="331" y="1071"/>
                </a:cubicBezTo>
                <a:cubicBezTo>
                  <a:pt x="332" y="1071"/>
                  <a:pt x="333" y="1071"/>
                  <a:pt x="334" y="1071"/>
                </a:cubicBezTo>
                <a:cubicBezTo>
                  <a:pt x="337" y="1071"/>
                  <a:pt x="337" y="1071"/>
                  <a:pt x="337" y="1071"/>
                </a:cubicBezTo>
                <a:cubicBezTo>
                  <a:pt x="343" y="1071"/>
                  <a:pt x="343" y="1071"/>
                  <a:pt x="343" y="1071"/>
                </a:cubicBezTo>
                <a:cubicBezTo>
                  <a:pt x="355" y="1070"/>
                  <a:pt x="355" y="1070"/>
                  <a:pt x="355" y="1070"/>
                </a:cubicBezTo>
                <a:cubicBezTo>
                  <a:pt x="363" y="1070"/>
                  <a:pt x="371" y="1070"/>
                  <a:pt x="378" y="1069"/>
                </a:cubicBezTo>
                <a:cubicBezTo>
                  <a:pt x="394" y="1068"/>
                  <a:pt x="410" y="1067"/>
                  <a:pt x="426" y="1065"/>
                </a:cubicBezTo>
                <a:cubicBezTo>
                  <a:pt x="472" y="1061"/>
                  <a:pt x="472" y="1061"/>
                  <a:pt x="472" y="1061"/>
                </a:cubicBezTo>
                <a:cubicBezTo>
                  <a:pt x="496" y="1058"/>
                  <a:pt x="496" y="1058"/>
                  <a:pt x="496" y="1058"/>
                </a:cubicBezTo>
                <a:cubicBezTo>
                  <a:pt x="503" y="1058"/>
                  <a:pt x="511" y="1057"/>
                  <a:pt x="519" y="1057"/>
                </a:cubicBezTo>
                <a:cubicBezTo>
                  <a:pt x="526" y="1056"/>
                  <a:pt x="534" y="1056"/>
                  <a:pt x="542" y="1055"/>
                </a:cubicBezTo>
                <a:cubicBezTo>
                  <a:pt x="553" y="1055"/>
                  <a:pt x="553" y="1055"/>
                  <a:pt x="553" y="1055"/>
                </a:cubicBezTo>
                <a:cubicBezTo>
                  <a:pt x="565" y="1055"/>
                  <a:pt x="565" y="1055"/>
                  <a:pt x="565" y="1055"/>
                </a:cubicBezTo>
                <a:cubicBezTo>
                  <a:pt x="580" y="1055"/>
                  <a:pt x="595" y="1056"/>
                  <a:pt x="611" y="1057"/>
                </a:cubicBezTo>
                <a:cubicBezTo>
                  <a:pt x="614" y="1057"/>
                  <a:pt x="618" y="1058"/>
                  <a:pt x="622" y="1058"/>
                </a:cubicBezTo>
                <a:cubicBezTo>
                  <a:pt x="626" y="1059"/>
                  <a:pt x="629" y="1059"/>
                  <a:pt x="633" y="1060"/>
                </a:cubicBezTo>
                <a:cubicBezTo>
                  <a:pt x="644" y="1062"/>
                  <a:pt x="644" y="1062"/>
                  <a:pt x="644" y="1062"/>
                </a:cubicBezTo>
                <a:cubicBezTo>
                  <a:pt x="647" y="1063"/>
                  <a:pt x="647" y="1063"/>
                  <a:pt x="647" y="1063"/>
                </a:cubicBezTo>
                <a:cubicBezTo>
                  <a:pt x="648" y="1063"/>
                  <a:pt x="648" y="1063"/>
                  <a:pt x="648" y="1063"/>
                </a:cubicBezTo>
                <a:cubicBezTo>
                  <a:pt x="649" y="1063"/>
                  <a:pt x="649" y="1063"/>
                  <a:pt x="649" y="1063"/>
                </a:cubicBezTo>
                <a:cubicBezTo>
                  <a:pt x="655" y="1065"/>
                  <a:pt x="655" y="1065"/>
                  <a:pt x="655" y="1065"/>
                </a:cubicBezTo>
                <a:cubicBezTo>
                  <a:pt x="666" y="1068"/>
                  <a:pt x="666" y="1068"/>
                  <a:pt x="666" y="1068"/>
                </a:cubicBezTo>
                <a:cubicBezTo>
                  <a:pt x="677" y="1071"/>
                  <a:pt x="677" y="1071"/>
                  <a:pt x="677" y="1071"/>
                </a:cubicBezTo>
                <a:cubicBezTo>
                  <a:pt x="684" y="1073"/>
                  <a:pt x="692" y="1076"/>
                  <a:pt x="699" y="1078"/>
                </a:cubicBezTo>
                <a:cubicBezTo>
                  <a:pt x="711" y="1082"/>
                  <a:pt x="722" y="1087"/>
                  <a:pt x="734" y="1092"/>
                </a:cubicBezTo>
                <a:cubicBezTo>
                  <a:pt x="725" y="1090"/>
                  <a:pt x="716" y="1088"/>
                  <a:pt x="708" y="1087"/>
                </a:cubicBezTo>
                <a:cubicBezTo>
                  <a:pt x="703" y="1087"/>
                  <a:pt x="699" y="1086"/>
                  <a:pt x="694" y="1085"/>
                </a:cubicBezTo>
                <a:cubicBezTo>
                  <a:pt x="680" y="1084"/>
                  <a:pt x="680" y="1084"/>
                  <a:pt x="680" y="1084"/>
                </a:cubicBezTo>
                <a:cubicBezTo>
                  <a:pt x="674" y="1084"/>
                  <a:pt x="674" y="1084"/>
                  <a:pt x="674" y="1084"/>
                </a:cubicBezTo>
                <a:cubicBezTo>
                  <a:pt x="667" y="1083"/>
                  <a:pt x="667" y="1083"/>
                  <a:pt x="667" y="1083"/>
                </a:cubicBezTo>
                <a:cubicBezTo>
                  <a:pt x="653" y="1083"/>
                  <a:pt x="653" y="1083"/>
                  <a:pt x="653" y="1083"/>
                </a:cubicBezTo>
                <a:cubicBezTo>
                  <a:pt x="649" y="1083"/>
                  <a:pt x="644" y="1083"/>
                  <a:pt x="639" y="1083"/>
                </a:cubicBezTo>
                <a:cubicBezTo>
                  <a:pt x="625" y="1083"/>
                  <a:pt x="625" y="1083"/>
                  <a:pt x="625" y="1083"/>
                </a:cubicBezTo>
                <a:cubicBezTo>
                  <a:pt x="623" y="1083"/>
                  <a:pt x="621" y="1083"/>
                  <a:pt x="618" y="1083"/>
                </a:cubicBezTo>
                <a:cubicBezTo>
                  <a:pt x="612" y="1084"/>
                  <a:pt x="612" y="1084"/>
                  <a:pt x="612" y="1084"/>
                </a:cubicBezTo>
                <a:cubicBezTo>
                  <a:pt x="599" y="1085"/>
                  <a:pt x="599" y="1085"/>
                  <a:pt x="599" y="1085"/>
                </a:cubicBezTo>
                <a:cubicBezTo>
                  <a:pt x="595" y="1085"/>
                  <a:pt x="595" y="1085"/>
                  <a:pt x="595" y="1085"/>
                </a:cubicBezTo>
                <a:cubicBezTo>
                  <a:pt x="592" y="1086"/>
                  <a:pt x="592" y="1086"/>
                  <a:pt x="592" y="1086"/>
                </a:cubicBezTo>
                <a:cubicBezTo>
                  <a:pt x="585" y="1087"/>
                  <a:pt x="585" y="1087"/>
                  <a:pt x="585" y="1087"/>
                </a:cubicBezTo>
                <a:cubicBezTo>
                  <a:pt x="572" y="1088"/>
                  <a:pt x="572" y="1088"/>
                  <a:pt x="572" y="1088"/>
                </a:cubicBezTo>
                <a:cubicBezTo>
                  <a:pt x="555" y="1091"/>
                  <a:pt x="537" y="1094"/>
                  <a:pt x="520" y="1097"/>
                </a:cubicBezTo>
                <a:cubicBezTo>
                  <a:pt x="512" y="1099"/>
                  <a:pt x="503" y="1101"/>
                  <a:pt x="495" y="1103"/>
                </a:cubicBezTo>
                <a:cubicBezTo>
                  <a:pt x="470" y="1108"/>
                  <a:pt x="470" y="1108"/>
                  <a:pt x="470" y="1108"/>
                </a:cubicBezTo>
                <a:cubicBezTo>
                  <a:pt x="420" y="1118"/>
                  <a:pt x="420" y="1118"/>
                  <a:pt x="420" y="1118"/>
                </a:cubicBezTo>
                <a:cubicBezTo>
                  <a:pt x="404" y="1121"/>
                  <a:pt x="387" y="1125"/>
                  <a:pt x="371" y="1127"/>
                </a:cubicBezTo>
                <a:cubicBezTo>
                  <a:pt x="354" y="1130"/>
                  <a:pt x="338" y="1132"/>
                  <a:pt x="321" y="1135"/>
                </a:cubicBezTo>
                <a:cubicBezTo>
                  <a:pt x="296" y="1137"/>
                  <a:pt x="296" y="1137"/>
                  <a:pt x="296" y="1137"/>
                </a:cubicBezTo>
                <a:cubicBezTo>
                  <a:pt x="284" y="1139"/>
                  <a:pt x="284" y="1139"/>
                  <a:pt x="284" y="1139"/>
                </a:cubicBezTo>
                <a:cubicBezTo>
                  <a:pt x="271" y="1140"/>
                  <a:pt x="271" y="1140"/>
                  <a:pt x="271" y="1140"/>
                </a:cubicBezTo>
                <a:cubicBezTo>
                  <a:pt x="246" y="1141"/>
                  <a:pt x="246" y="1141"/>
                  <a:pt x="246" y="1141"/>
                </a:cubicBezTo>
                <a:cubicBezTo>
                  <a:pt x="238" y="1142"/>
                  <a:pt x="230" y="1142"/>
                  <a:pt x="222" y="1142"/>
                </a:cubicBezTo>
                <a:cubicBezTo>
                  <a:pt x="205" y="1143"/>
                  <a:pt x="188" y="1142"/>
                  <a:pt x="172" y="1142"/>
                </a:cubicBezTo>
                <a:cubicBezTo>
                  <a:pt x="163" y="1142"/>
                  <a:pt x="155" y="1141"/>
                  <a:pt x="147" y="1140"/>
                </a:cubicBezTo>
                <a:cubicBezTo>
                  <a:pt x="122" y="1139"/>
                  <a:pt x="122" y="1139"/>
                  <a:pt x="122" y="1139"/>
                </a:cubicBezTo>
                <a:cubicBezTo>
                  <a:pt x="105" y="1137"/>
                  <a:pt x="88" y="1135"/>
                  <a:pt x="72" y="1133"/>
                </a:cubicBezTo>
                <a:cubicBezTo>
                  <a:pt x="36" y="1127"/>
                  <a:pt x="36" y="1127"/>
                  <a:pt x="36" y="1127"/>
                </a:cubicBezTo>
                <a:cubicBezTo>
                  <a:pt x="19" y="159"/>
                  <a:pt x="19" y="159"/>
                  <a:pt x="19" y="159"/>
                </a:cubicBezTo>
                <a:cubicBezTo>
                  <a:pt x="1" y="1142"/>
                  <a:pt x="1" y="1142"/>
                  <a:pt x="1" y="1142"/>
                </a:cubicBezTo>
                <a:cubicBezTo>
                  <a:pt x="0" y="1157"/>
                  <a:pt x="0" y="1157"/>
                  <a:pt x="0" y="1157"/>
                </a:cubicBezTo>
                <a:cubicBezTo>
                  <a:pt x="15" y="1160"/>
                  <a:pt x="15" y="1160"/>
                  <a:pt x="15" y="1160"/>
                </a:cubicBezTo>
                <a:cubicBezTo>
                  <a:pt x="66" y="1170"/>
                  <a:pt x="66" y="1170"/>
                  <a:pt x="66" y="1170"/>
                </a:cubicBezTo>
                <a:cubicBezTo>
                  <a:pt x="83" y="1173"/>
                  <a:pt x="100" y="1176"/>
                  <a:pt x="117" y="1178"/>
                </a:cubicBezTo>
                <a:cubicBezTo>
                  <a:pt x="143" y="1181"/>
                  <a:pt x="143" y="1181"/>
                  <a:pt x="143" y="1181"/>
                </a:cubicBezTo>
                <a:cubicBezTo>
                  <a:pt x="152" y="1181"/>
                  <a:pt x="161" y="1183"/>
                  <a:pt x="169" y="1183"/>
                </a:cubicBezTo>
                <a:cubicBezTo>
                  <a:pt x="187" y="1184"/>
                  <a:pt x="204" y="1185"/>
                  <a:pt x="222" y="1185"/>
                </a:cubicBezTo>
                <a:cubicBezTo>
                  <a:pt x="230" y="1185"/>
                  <a:pt x="239" y="1185"/>
                  <a:pt x="248" y="1185"/>
                </a:cubicBezTo>
                <a:cubicBezTo>
                  <a:pt x="274" y="1185"/>
                  <a:pt x="274" y="1185"/>
                  <a:pt x="274" y="1185"/>
                </a:cubicBezTo>
                <a:cubicBezTo>
                  <a:pt x="287" y="1184"/>
                  <a:pt x="287" y="1184"/>
                  <a:pt x="287" y="1184"/>
                </a:cubicBezTo>
                <a:cubicBezTo>
                  <a:pt x="300" y="1183"/>
                  <a:pt x="300" y="1183"/>
                  <a:pt x="300" y="1183"/>
                </a:cubicBezTo>
                <a:cubicBezTo>
                  <a:pt x="309" y="1183"/>
                  <a:pt x="317" y="1182"/>
                  <a:pt x="326" y="1181"/>
                </a:cubicBezTo>
                <a:cubicBezTo>
                  <a:pt x="343" y="1180"/>
                  <a:pt x="361" y="1178"/>
                  <a:pt x="378" y="1176"/>
                </a:cubicBezTo>
                <a:cubicBezTo>
                  <a:pt x="395" y="1173"/>
                  <a:pt x="412" y="1171"/>
                  <a:pt x="429" y="1168"/>
                </a:cubicBezTo>
                <a:cubicBezTo>
                  <a:pt x="480" y="1159"/>
                  <a:pt x="480" y="1159"/>
                  <a:pt x="480" y="1159"/>
                </a:cubicBezTo>
                <a:cubicBezTo>
                  <a:pt x="505" y="1155"/>
                  <a:pt x="505" y="1155"/>
                  <a:pt x="505" y="1155"/>
                </a:cubicBezTo>
                <a:cubicBezTo>
                  <a:pt x="513" y="1154"/>
                  <a:pt x="522" y="1152"/>
                  <a:pt x="530" y="1151"/>
                </a:cubicBezTo>
                <a:cubicBezTo>
                  <a:pt x="547" y="1148"/>
                  <a:pt x="563" y="1146"/>
                  <a:pt x="579" y="1144"/>
                </a:cubicBezTo>
                <a:cubicBezTo>
                  <a:pt x="591" y="1143"/>
                  <a:pt x="591" y="1143"/>
                  <a:pt x="591" y="1143"/>
                </a:cubicBezTo>
                <a:cubicBezTo>
                  <a:pt x="597" y="1142"/>
                  <a:pt x="597" y="1142"/>
                  <a:pt x="597" y="1142"/>
                </a:cubicBezTo>
                <a:cubicBezTo>
                  <a:pt x="600" y="1142"/>
                  <a:pt x="600" y="1142"/>
                  <a:pt x="600" y="1142"/>
                </a:cubicBezTo>
                <a:cubicBezTo>
                  <a:pt x="601" y="1142"/>
                  <a:pt x="601" y="1142"/>
                  <a:pt x="601" y="1142"/>
                </a:cubicBezTo>
                <a:cubicBezTo>
                  <a:pt x="603" y="1142"/>
                  <a:pt x="603" y="1142"/>
                  <a:pt x="603" y="1142"/>
                </a:cubicBezTo>
                <a:cubicBezTo>
                  <a:pt x="615" y="1141"/>
                  <a:pt x="615" y="1141"/>
                  <a:pt x="615" y="1141"/>
                </a:cubicBezTo>
                <a:cubicBezTo>
                  <a:pt x="622" y="1141"/>
                  <a:pt x="622" y="1141"/>
                  <a:pt x="622" y="1141"/>
                </a:cubicBezTo>
                <a:cubicBezTo>
                  <a:pt x="624" y="1141"/>
                  <a:pt x="626" y="1141"/>
                  <a:pt x="628" y="1141"/>
                </a:cubicBezTo>
                <a:cubicBezTo>
                  <a:pt x="640" y="1141"/>
                  <a:pt x="640" y="1141"/>
                  <a:pt x="640" y="1141"/>
                </a:cubicBezTo>
                <a:cubicBezTo>
                  <a:pt x="643" y="1141"/>
                  <a:pt x="647" y="1141"/>
                  <a:pt x="651" y="1142"/>
                </a:cubicBezTo>
                <a:cubicBezTo>
                  <a:pt x="663" y="1143"/>
                  <a:pt x="663" y="1143"/>
                  <a:pt x="663" y="1143"/>
                </a:cubicBezTo>
                <a:cubicBezTo>
                  <a:pt x="669" y="1143"/>
                  <a:pt x="669" y="1143"/>
                  <a:pt x="669" y="1143"/>
                </a:cubicBezTo>
                <a:cubicBezTo>
                  <a:pt x="675" y="1144"/>
                  <a:pt x="675" y="1144"/>
                  <a:pt x="675" y="1144"/>
                </a:cubicBezTo>
                <a:cubicBezTo>
                  <a:pt x="686" y="1145"/>
                  <a:pt x="686" y="1145"/>
                  <a:pt x="686" y="1145"/>
                </a:cubicBezTo>
                <a:cubicBezTo>
                  <a:pt x="690" y="1146"/>
                  <a:pt x="694" y="1147"/>
                  <a:pt x="698" y="1147"/>
                </a:cubicBezTo>
                <a:cubicBezTo>
                  <a:pt x="706" y="1148"/>
                  <a:pt x="714" y="1150"/>
                  <a:pt x="721" y="1152"/>
                </a:cubicBezTo>
                <a:cubicBezTo>
                  <a:pt x="736" y="1156"/>
                  <a:pt x="751" y="1161"/>
                  <a:pt x="766" y="1166"/>
                </a:cubicBezTo>
                <a:cubicBezTo>
                  <a:pt x="776" y="1171"/>
                  <a:pt x="776" y="1171"/>
                  <a:pt x="776" y="1171"/>
                </a:cubicBezTo>
                <a:cubicBezTo>
                  <a:pt x="780" y="1173"/>
                  <a:pt x="783" y="1174"/>
                  <a:pt x="786" y="1176"/>
                </a:cubicBezTo>
                <a:cubicBezTo>
                  <a:pt x="790" y="1178"/>
                  <a:pt x="793" y="1179"/>
                  <a:pt x="796" y="1181"/>
                </a:cubicBezTo>
                <a:cubicBezTo>
                  <a:pt x="798" y="1182"/>
                  <a:pt x="799" y="1183"/>
                  <a:pt x="801" y="1184"/>
                </a:cubicBezTo>
                <a:cubicBezTo>
                  <a:pt x="801" y="1184"/>
                  <a:pt x="802" y="1185"/>
                  <a:pt x="803" y="1185"/>
                </a:cubicBezTo>
                <a:cubicBezTo>
                  <a:pt x="804" y="1186"/>
                  <a:pt x="804" y="1186"/>
                  <a:pt x="804" y="1186"/>
                </a:cubicBezTo>
                <a:cubicBezTo>
                  <a:pt x="804" y="1186"/>
                  <a:pt x="804" y="1186"/>
                  <a:pt x="804" y="1186"/>
                </a:cubicBezTo>
                <a:cubicBezTo>
                  <a:pt x="804" y="1186"/>
                  <a:pt x="804" y="1186"/>
                  <a:pt x="804" y="1186"/>
                </a:cubicBezTo>
                <a:cubicBezTo>
                  <a:pt x="873" y="1186"/>
                  <a:pt x="873" y="1186"/>
                  <a:pt x="873" y="1186"/>
                </a:cubicBezTo>
                <a:cubicBezTo>
                  <a:pt x="873" y="1186"/>
                  <a:pt x="873" y="1186"/>
                  <a:pt x="873" y="1186"/>
                </a:cubicBezTo>
                <a:cubicBezTo>
                  <a:pt x="873" y="1186"/>
                  <a:pt x="873" y="1186"/>
                  <a:pt x="873" y="1186"/>
                </a:cubicBezTo>
                <a:cubicBezTo>
                  <a:pt x="874" y="1185"/>
                  <a:pt x="874" y="1185"/>
                  <a:pt x="874" y="1185"/>
                </a:cubicBezTo>
                <a:cubicBezTo>
                  <a:pt x="875" y="1185"/>
                  <a:pt x="876" y="1184"/>
                  <a:pt x="876" y="1184"/>
                </a:cubicBezTo>
                <a:cubicBezTo>
                  <a:pt x="878" y="1183"/>
                  <a:pt x="879" y="1182"/>
                  <a:pt x="881" y="1181"/>
                </a:cubicBezTo>
                <a:cubicBezTo>
                  <a:pt x="884" y="1179"/>
                  <a:pt x="887" y="1178"/>
                  <a:pt x="891" y="1176"/>
                </a:cubicBezTo>
                <a:cubicBezTo>
                  <a:pt x="894" y="1174"/>
                  <a:pt x="897" y="1173"/>
                  <a:pt x="901" y="1171"/>
                </a:cubicBezTo>
                <a:cubicBezTo>
                  <a:pt x="911" y="1166"/>
                  <a:pt x="911" y="1166"/>
                  <a:pt x="911" y="1166"/>
                </a:cubicBezTo>
                <a:cubicBezTo>
                  <a:pt x="926" y="1161"/>
                  <a:pt x="941" y="1156"/>
                  <a:pt x="956" y="1152"/>
                </a:cubicBezTo>
                <a:cubicBezTo>
                  <a:pt x="963" y="1150"/>
                  <a:pt x="971" y="1148"/>
                  <a:pt x="979" y="1147"/>
                </a:cubicBezTo>
                <a:cubicBezTo>
                  <a:pt x="983" y="1147"/>
                  <a:pt x="987" y="1146"/>
                  <a:pt x="991" y="1145"/>
                </a:cubicBezTo>
                <a:cubicBezTo>
                  <a:pt x="1002" y="1144"/>
                  <a:pt x="1002" y="1144"/>
                  <a:pt x="1002" y="1144"/>
                </a:cubicBezTo>
                <a:cubicBezTo>
                  <a:pt x="1008" y="1143"/>
                  <a:pt x="1008" y="1143"/>
                  <a:pt x="1008" y="1143"/>
                </a:cubicBezTo>
                <a:cubicBezTo>
                  <a:pt x="1014" y="1143"/>
                  <a:pt x="1014" y="1143"/>
                  <a:pt x="1014" y="1143"/>
                </a:cubicBezTo>
                <a:cubicBezTo>
                  <a:pt x="1026" y="1142"/>
                  <a:pt x="1026" y="1142"/>
                  <a:pt x="1026" y="1142"/>
                </a:cubicBezTo>
                <a:cubicBezTo>
                  <a:pt x="1030" y="1141"/>
                  <a:pt x="1034" y="1141"/>
                  <a:pt x="1038" y="1141"/>
                </a:cubicBezTo>
                <a:cubicBezTo>
                  <a:pt x="1049" y="1141"/>
                  <a:pt x="1049" y="1141"/>
                  <a:pt x="1049" y="1141"/>
                </a:cubicBezTo>
                <a:cubicBezTo>
                  <a:pt x="1051" y="1141"/>
                  <a:pt x="1053" y="1141"/>
                  <a:pt x="1055" y="1141"/>
                </a:cubicBezTo>
                <a:cubicBezTo>
                  <a:pt x="1062" y="1141"/>
                  <a:pt x="1062" y="1141"/>
                  <a:pt x="1062" y="1141"/>
                </a:cubicBezTo>
                <a:cubicBezTo>
                  <a:pt x="1074" y="1142"/>
                  <a:pt x="1074" y="1142"/>
                  <a:pt x="1074" y="1142"/>
                </a:cubicBezTo>
                <a:cubicBezTo>
                  <a:pt x="1076" y="1142"/>
                  <a:pt x="1076" y="1142"/>
                  <a:pt x="1076" y="1142"/>
                </a:cubicBezTo>
                <a:cubicBezTo>
                  <a:pt x="1077" y="1142"/>
                  <a:pt x="1077" y="1142"/>
                  <a:pt x="1077" y="1142"/>
                </a:cubicBezTo>
                <a:cubicBezTo>
                  <a:pt x="1077" y="1142"/>
                  <a:pt x="1077" y="1142"/>
                  <a:pt x="1077" y="1142"/>
                </a:cubicBezTo>
                <a:cubicBezTo>
                  <a:pt x="1080" y="1142"/>
                  <a:pt x="1080" y="1142"/>
                  <a:pt x="1080" y="1142"/>
                </a:cubicBezTo>
                <a:cubicBezTo>
                  <a:pt x="1086" y="1143"/>
                  <a:pt x="1086" y="1143"/>
                  <a:pt x="1086" y="1143"/>
                </a:cubicBezTo>
                <a:cubicBezTo>
                  <a:pt x="1098" y="1144"/>
                  <a:pt x="1098" y="1144"/>
                  <a:pt x="1098" y="1144"/>
                </a:cubicBezTo>
                <a:cubicBezTo>
                  <a:pt x="1114" y="1146"/>
                  <a:pt x="1131" y="1148"/>
                  <a:pt x="1147" y="1151"/>
                </a:cubicBezTo>
                <a:cubicBezTo>
                  <a:pt x="1155" y="1152"/>
                  <a:pt x="1164" y="1154"/>
                  <a:pt x="1172" y="1155"/>
                </a:cubicBezTo>
                <a:cubicBezTo>
                  <a:pt x="1197" y="1159"/>
                  <a:pt x="1197" y="1159"/>
                  <a:pt x="1197" y="1159"/>
                </a:cubicBezTo>
                <a:cubicBezTo>
                  <a:pt x="1248" y="1168"/>
                  <a:pt x="1248" y="1168"/>
                  <a:pt x="1248" y="1168"/>
                </a:cubicBezTo>
                <a:cubicBezTo>
                  <a:pt x="1265" y="1171"/>
                  <a:pt x="1282" y="1173"/>
                  <a:pt x="1299" y="1176"/>
                </a:cubicBezTo>
                <a:cubicBezTo>
                  <a:pt x="1316" y="1178"/>
                  <a:pt x="1334" y="1180"/>
                  <a:pt x="1351" y="1181"/>
                </a:cubicBezTo>
                <a:cubicBezTo>
                  <a:pt x="1360" y="1182"/>
                  <a:pt x="1368" y="1183"/>
                  <a:pt x="1377" y="1183"/>
                </a:cubicBezTo>
                <a:cubicBezTo>
                  <a:pt x="1390" y="1184"/>
                  <a:pt x="1390" y="1184"/>
                  <a:pt x="1390" y="1184"/>
                </a:cubicBezTo>
                <a:cubicBezTo>
                  <a:pt x="1403" y="1185"/>
                  <a:pt x="1403" y="1185"/>
                  <a:pt x="1403" y="1185"/>
                </a:cubicBezTo>
                <a:cubicBezTo>
                  <a:pt x="1429" y="1185"/>
                  <a:pt x="1429" y="1185"/>
                  <a:pt x="1429" y="1185"/>
                </a:cubicBezTo>
                <a:cubicBezTo>
                  <a:pt x="1438" y="1185"/>
                  <a:pt x="1447" y="1185"/>
                  <a:pt x="1455" y="1185"/>
                </a:cubicBezTo>
                <a:cubicBezTo>
                  <a:pt x="1473" y="1185"/>
                  <a:pt x="1490" y="1184"/>
                  <a:pt x="1508" y="1183"/>
                </a:cubicBezTo>
                <a:cubicBezTo>
                  <a:pt x="1516" y="1183"/>
                  <a:pt x="1525" y="1181"/>
                  <a:pt x="1534" y="1181"/>
                </a:cubicBezTo>
                <a:cubicBezTo>
                  <a:pt x="1560" y="1178"/>
                  <a:pt x="1560" y="1178"/>
                  <a:pt x="1560" y="1178"/>
                </a:cubicBezTo>
                <a:cubicBezTo>
                  <a:pt x="1577" y="1176"/>
                  <a:pt x="1594" y="1173"/>
                  <a:pt x="1611" y="1170"/>
                </a:cubicBezTo>
                <a:cubicBezTo>
                  <a:pt x="1662" y="1160"/>
                  <a:pt x="1662" y="1160"/>
                  <a:pt x="1662" y="1160"/>
                </a:cubicBezTo>
                <a:cubicBezTo>
                  <a:pt x="1677" y="1157"/>
                  <a:pt x="1677" y="1157"/>
                  <a:pt x="1677" y="1157"/>
                </a:cubicBezTo>
                <a:lnTo>
                  <a:pt x="1676" y="114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prstClr val="black"/>
              </a:solidFill>
              <a:effectLst/>
              <a:uLnTx/>
              <a:uFillTx/>
              <a:latin typeface="等线" panose="020F0502020204030204"/>
              <a:ea typeface="等线" panose="02010600030101010101" pitchFamily="2" charset="-122"/>
              <a:cs typeface="+mn-cs"/>
            </a:endParaRPr>
          </a:p>
        </p:txBody>
      </p:sp>
      <p:sp>
        <p:nvSpPr>
          <p:cNvPr id="39" name="椭圆 38">
            <a:extLst>
              <a:ext uri="{FF2B5EF4-FFF2-40B4-BE49-F238E27FC236}">
                <a16:creationId xmlns:a16="http://schemas.microsoft.com/office/drawing/2014/main" id="{81FC8C60-9C12-4E6C-BD97-DDF7F923FAAE}"/>
              </a:ext>
            </a:extLst>
          </p:cNvPr>
          <p:cNvSpPr/>
          <p:nvPr/>
        </p:nvSpPr>
        <p:spPr>
          <a:xfrm>
            <a:off x="1407097" y="3429001"/>
            <a:ext cx="878905" cy="87890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41" name="文本框 40">
            <a:extLst>
              <a:ext uri="{FF2B5EF4-FFF2-40B4-BE49-F238E27FC236}">
                <a16:creationId xmlns:a16="http://schemas.microsoft.com/office/drawing/2014/main" id="{9059FA0A-51B5-48CA-AB6C-4F6B4222BEFC}"/>
              </a:ext>
            </a:extLst>
          </p:cNvPr>
          <p:cNvSpPr txBox="1"/>
          <p:nvPr/>
        </p:nvSpPr>
        <p:spPr>
          <a:xfrm>
            <a:off x="1572196" y="3467101"/>
            <a:ext cx="510605" cy="830997"/>
          </a:xfrm>
          <a:prstGeom prst="rect">
            <a:avLst/>
          </a:prstGeom>
          <a:noFill/>
        </p:spPr>
        <p:txBody>
          <a:bodyPr wrap="square" rtlCol="0">
            <a:spAutoFit/>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altLang="zh-CN" sz="4800" dirty="0">
                <a:solidFill>
                  <a:srgbClr val="7F2C8B"/>
                </a:solidFill>
                <a:latin typeface="思源宋体 CN Heavy" panose="02020900000000000000" pitchFamily="18" charset="-122"/>
                <a:ea typeface="思源宋体 CN Heavy" panose="02020900000000000000" pitchFamily="18" charset="-122"/>
              </a:rPr>
              <a:t>1</a:t>
            </a:r>
            <a:endParaRPr kumimoji="0" lang="zh-CN" altLang="en-US" sz="4800" b="0" i="0" u="none" strike="noStrike" kern="1200" cap="none" spc="0" normalizeH="0" baseline="0" noProof="0" dirty="0">
              <a:ln>
                <a:noFill/>
              </a:ln>
              <a:solidFill>
                <a:srgbClr val="7F2C8B"/>
              </a:solidFill>
              <a:effectLst/>
              <a:uLnTx/>
              <a:uFillTx/>
              <a:latin typeface="思源宋体 CN Heavy" panose="02020900000000000000" pitchFamily="18" charset="-122"/>
              <a:ea typeface="思源宋体 CN Heavy" panose="02020900000000000000" pitchFamily="18" charset="-122"/>
              <a:cs typeface="+mn-cs"/>
            </a:endParaRPr>
          </a:p>
        </p:txBody>
      </p:sp>
      <p:sp>
        <p:nvSpPr>
          <p:cNvPr id="3" name="文本框 2"/>
          <p:cNvSpPr txBox="1"/>
          <p:nvPr/>
        </p:nvSpPr>
        <p:spPr>
          <a:xfrm>
            <a:off x="1276538" y="4454305"/>
            <a:ext cx="4773280" cy="1354217"/>
          </a:xfrm>
          <a:prstGeom prst="rect">
            <a:avLst/>
          </a:prstGeom>
          <a:noFill/>
        </p:spPr>
        <p:txBody>
          <a:bodyPr wrap="square" rtlCol="0">
            <a:spAutoFit/>
          </a:bodyPr>
          <a:lstStyle/>
          <a:p>
            <a:pPr lvl="0" defTabSz="914377">
              <a:defRPr/>
            </a:pPr>
            <a:r>
              <a:rPr lang="zh-CN" altLang="en-US" sz="3200" dirty="0">
                <a:solidFill>
                  <a:prstClr val="white"/>
                </a:solidFill>
                <a:latin typeface="微软雅黑 Light" panose="020B0502040204020203" pitchFamily="34" charset="-122"/>
                <a:ea typeface="微软雅黑 Light" panose="020B0502040204020203" pitchFamily="34" charset="-122"/>
              </a:rPr>
              <a:t>从马克思到皮凯蒂：资本积累与经济的不平等</a:t>
            </a:r>
          </a:p>
          <a:p>
            <a:endParaRPr lang="zh-CN" altLang="en-US" dirty="0"/>
          </a:p>
        </p:txBody>
      </p:sp>
      <p:sp>
        <p:nvSpPr>
          <p:cNvPr id="6" name="文本框 5"/>
          <p:cNvSpPr txBox="1"/>
          <p:nvPr/>
        </p:nvSpPr>
        <p:spPr>
          <a:xfrm rot="20443830">
            <a:off x="8163122" y="634051"/>
            <a:ext cx="2625505" cy="2246769"/>
          </a:xfrm>
          <a:prstGeom prst="rect">
            <a:avLst/>
          </a:prstGeom>
          <a:noFill/>
        </p:spPr>
        <p:txBody>
          <a:bodyPr wrap="square" rtlCol="0">
            <a:spAutoFit/>
          </a:bodyPr>
          <a:lstStyle/>
          <a:p>
            <a:r>
              <a:rPr lang="zh-CN" altLang="en-US" sz="2800" dirty="0">
                <a:solidFill>
                  <a:schemeClr val="bg1"/>
                </a:solidFill>
              </a:rPr>
              <a:t>孔子曰：丘也闻有国有家者，不患寡而患不均，不患贫而患不安。</a:t>
            </a:r>
          </a:p>
        </p:txBody>
      </p:sp>
      <p:sp>
        <p:nvSpPr>
          <p:cNvPr id="8" name="文本框 7"/>
          <p:cNvSpPr txBox="1"/>
          <p:nvPr/>
        </p:nvSpPr>
        <p:spPr>
          <a:xfrm>
            <a:off x="2720841" y="2899479"/>
            <a:ext cx="3933981" cy="276999"/>
          </a:xfrm>
          <a:prstGeom prst="rect">
            <a:avLst/>
          </a:prstGeom>
          <a:noFill/>
        </p:spPr>
        <p:txBody>
          <a:bodyPr wrap="square" rtlCol="0">
            <a:spAutoFit/>
          </a:bodyPr>
          <a:lstStyle/>
          <a:p>
            <a:r>
              <a:rPr lang="en-US" altLang="zh-CN" sz="1200" dirty="0">
                <a:solidFill>
                  <a:schemeClr val="bg1"/>
                </a:solidFill>
              </a:rPr>
              <a:t>2020</a:t>
            </a:r>
            <a:r>
              <a:rPr lang="zh-CN" altLang="en-US" sz="1200" dirty="0">
                <a:solidFill>
                  <a:schemeClr val="bg1"/>
                </a:solidFill>
              </a:rPr>
              <a:t>年世界银行基尼系数（收入不平等指数）世界地图</a:t>
            </a:r>
          </a:p>
        </p:txBody>
      </p:sp>
      <p:pic>
        <p:nvPicPr>
          <p:cNvPr id="4" name="图片 3">
            <a:extLst>
              <a:ext uri="{FF2B5EF4-FFF2-40B4-BE49-F238E27FC236}">
                <a16:creationId xmlns:a16="http://schemas.microsoft.com/office/drawing/2014/main" id="{A3F277EF-F326-40E3-BF2E-2483BCFDD17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59474" y="0"/>
            <a:ext cx="5922498" cy="3067669"/>
          </a:xfrm>
          <a:prstGeom prst="rect">
            <a:avLst/>
          </a:prstGeom>
        </p:spPr>
      </p:pic>
    </p:spTree>
    <p:extLst>
      <p:ext uri="{BB962C8B-B14F-4D97-AF65-F5344CB8AC3E}">
        <p14:creationId xmlns:p14="http://schemas.microsoft.com/office/powerpoint/2010/main" val="2861252879"/>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952E7725-3096-4969-8619-BFD45072AD94}"/>
              </a:ext>
            </a:extLst>
          </p:cNvPr>
          <p:cNvSpPr txBox="1"/>
          <p:nvPr/>
        </p:nvSpPr>
        <p:spPr>
          <a:xfrm>
            <a:off x="534497" y="304741"/>
            <a:ext cx="1749365" cy="400110"/>
          </a:xfrm>
          <a:prstGeom prst="rect">
            <a:avLst/>
          </a:prstGeom>
          <a:solidFill>
            <a:srgbClr val="7F2C8B"/>
          </a:solidFill>
        </p:spPr>
        <p:txBody>
          <a:bodyPr wrap="squar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lang="zh-CN" altLang="en-US" sz="2000" dirty="0">
                <a:solidFill>
                  <a:prstClr val="white"/>
                </a:solidFill>
                <a:latin typeface="微软雅黑 Light" panose="020B0502040204020203" pitchFamily="34" charset="-122"/>
                <a:ea typeface="微软雅黑 Light" panose="020B0502040204020203" pitchFamily="34" charset="-122"/>
              </a:rPr>
              <a:t>不平等的测度</a:t>
            </a:r>
            <a:endParaRPr kumimoji="0" lang="zh-CN" altLang="en-US" sz="2000" b="0" i="0" u="none" strike="noStrike" kern="1200" cap="none" spc="0" normalizeH="0" baseline="0" noProof="0" dirty="0">
              <a:ln>
                <a:noFill/>
              </a:ln>
              <a:solidFill>
                <a:prstClr val="white"/>
              </a:solidFill>
              <a:effectLst/>
              <a:uLnTx/>
              <a:uFillTx/>
              <a:latin typeface="微软雅黑 Light" panose="020B0502040204020203" pitchFamily="34" charset="-122"/>
              <a:ea typeface="微软雅黑 Light" panose="020B0502040204020203" pitchFamily="34" charset="-122"/>
              <a:cs typeface="+mn-cs"/>
            </a:endParaRPr>
          </a:p>
        </p:txBody>
      </p:sp>
      <p:grpSp>
        <p:nvGrpSpPr>
          <p:cNvPr id="22" name="组合 21">
            <a:extLst>
              <a:ext uri="{FF2B5EF4-FFF2-40B4-BE49-F238E27FC236}">
                <a16:creationId xmlns:a16="http://schemas.microsoft.com/office/drawing/2014/main" id="{DFC37A35-D357-4CEE-9C28-5EABD3D35C6B}"/>
              </a:ext>
            </a:extLst>
          </p:cNvPr>
          <p:cNvGrpSpPr/>
          <p:nvPr/>
        </p:nvGrpSpPr>
        <p:grpSpPr>
          <a:xfrm>
            <a:off x="10735556" y="314266"/>
            <a:ext cx="1180589" cy="400111"/>
            <a:chOff x="624303" y="901700"/>
            <a:chExt cx="10005598" cy="3390977"/>
          </a:xfrm>
          <a:solidFill>
            <a:srgbClr val="7F2C8B"/>
          </a:solidFill>
        </p:grpSpPr>
        <p:sp>
          <p:nvSpPr>
            <p:cNvPr id="23" name="Freeform 5">
              <a:extLst>
                <a:ext uri="{FF2B5EF4-FFF2-40B4-BE49-F238E27FC236}">
                  <a16:creationId xmlns:a16="http://schemas.microsoft.com/office/drawing/2014/main" id="{0ACD2635-3EA4-461E-AE91-2E7358FA9FA0}"/>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4" name="Freeform 6">
              <a:extLst>
                <a:ext uri="{FF2B5EF4-FFF2-40B4-BE49-F238E27FC236}">
                  <a16:creationId xmlns:a16="http://schemas.microsoft.com/office/drawing/2014/main" id="{70354051-F1E2-4393-ABA2-AEB53FF0D08B}"/>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5" name="Freeform 7">
              <a:extLst>
                <a:ext uri="{FF2B5EF4-FFF2-40B4-BE49-F238E27FC236}">
                  <a16:creationId xmlns:a16="http://schemas.microsoft.com/office/drawing/2014/main" id="{5FFB1BFD-2D76-4EE4-9741-31F528BE757A}"/>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6" name="Freeform 8">
              <a:extLst>
                <a:ext uri="{FF2B5EF4-FFF2-40B4-BE49-F238E27FC236}">
                  <a16:creationId xmlns:a16="http://schemas.microsoft.com/office/drawing/2014/main" id="{1EFFAA81-03B5-4C66-939C-6BBDC7932C18}"/>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7" name="Freeform 9">
              <a:extLst>
                <a:ext uri="{FF2B5EF4-FFF2-40B4-BE49-F238E27FC236}">
                  <a16:creationId xmlns:a16="http://schemas.microsoft.com/office/drawing/2014/main" id="{35B0FA74-D77A-4B32-A41D-5E20B596D219}"/>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8" name="Freeform 10">
              <a:extLst>
                <a:ext uri="{FF2B5EF4-FFF2-40B4-BE49-F238E27FC236}">
                  <a16:creationId xmlns:a16="http://schemas.microsoft.com/office/drawing/2014/main" id="{F5FC7059-5FB3-4ADB-BA26-84EF705B3174}"/>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9" name="Freeform 11">
              <a:extLst>
                <a:ext uri="{FF2B5EF4-FFF2-40B4-BE49-F238E27FC236}">
                  <a16:creationId xmlns:a16="http://schemas.microsoft.com/office/drawing/2014/main" id="{937241A3-85EE-47AC-8B4A-B01E8B1B0812}"/>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0" name="Freeform 12">
              <a:extLst>
                <a:ext uri="{FF2B5EF4-FFF2-40B4-BE49-F238E27FC236}">
                  <a16:creationId xmlns:a16="http://schemas.microsoft.com/office/drawing/2014/main" id="{99EA3DC5-4FB4-48DC-9AA6-2E2F76C34725}"/>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1" name="Freeform 13">
              <a:extLst>
                <a:ext uri="{FF2B5EF4-FFF2-40B4-BE49-F238E27FC236}">
                  <a16:creationId xmlns:a16="http://schemas.microsoft.com/office/drawing/2014/main" id="{F7187B32-A15A-480D-849D-33EF28B75687}"/>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2" name="Freeform 14">
              <a:extLst>
                <a:ext uri="{FF2B5EF4-FFF2-40B4-BE49-F238E27FC236}">
                  <a16:creationId xmlns:a16="http://schemas.microsoft.com/office/drawing/2014/main" id="{AA5721AD-3E61-4D99-A2D8-A261E897EBAC}"/>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3" name="Freeform 15">
              <a:extLst>
                <a:ext uri="{FF2B5EF4-FFF2-40B4-BE49-F238E27FC236}">
                  <a16:creationId xmlns:a16="http://schemas.microsoft.com/office/drawing/2014/main" id="{EF703E7A-053E-4111-945E-2E43B9CC9ECE}"/>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4" name="Freeform 16">
              <a:extLst>
                <a:ext uri="{FF2B5EF4-FFF2-40B4-BE49-F238E27FC236}">
                  <a16:creationId xmlns:a16="http://schemas.microsoft.com/office/drawing/2014/main" id="{01BF6BE1-5CCD-4A5F-8AFA-EF1359F1D3F2}"/>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5" name="Freeform 17">
              <a:extLst>
                <a:ext uri="{FF2B5EF4-FFF2-40B4-BE49-F238E27FC236}">
                  <a16:creationId xmlns:a16="http://schemas.microsoft.com/office/drawing/2014/main" id="{295417E9-A0A1-4465-9436-76253B18BAD3}"/>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18">
              <a:extLst>
                <a:ext uri="{FF2B5EF4-FFF2-40B4-BE49-F238E27FC236}">
                  <a16:creationId xmlns:a16="http://schemas.microsoft.com/office/drawing/2014/main" id="{009C6FB2-A1BB-4F44-87AF-D874D67D737B}"/>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19">
              <a:extLst>
                <a:ext uri="{FF2B5EF4-FFF2-40B4-BE49-F238E27FC236}">
                  <a16:creationId xmlns:a16="http://schemas.microsoft.com/office/drawing/2014/main" id="{65203D5E-987A-4E4E-B0C9-FAC54EDFF054}"/>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20">
              <a:extLst>
                <a:ext uri="{FF2B5EF4-FFF2-40B4-BE49-F238E27FC236}">
                  <a16:creationId xmlns:a16="http://schemas.microsoft.com/office/drawing/2014/main" id="{F0367FE4-2904-433D-8E0F-42933CAA638D}"/>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21">
              <a:extLst>
                <a:ext uri="{FF2B5EF4-FFF2-40B4-BE49-F238E27FC236}">
                  <a16:creationId xmlns:a16="http://schemas.microsoft.com/office/drawing/2014/main" id="{7A0A948A-A7D6-4278-97BF-F101BFD0B366}"/>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22">
              <a:extLst>
                <a:ext uri="{FF2B5EF4-FFF2-40B4-BE49-F238E27FC236}">
                  <a16:creationId xmlns:a16="http://schemas.microsoft.com/office/drawing/2014/main" id="{DC614584-067F-48D2-931A-6CE53105F005}"/>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23">
              <a:extLst>
                <a:ext uri="{FF2B5EF4-FFF2-40B4-BE49-F238E27FC236}">
                  <a16:creationId xmlns:a16="http://schemas.microsoft.com/office/drawing/2014/main" id="{244320B8-5691-4A92-B2D2-5BCE1D98EA00}"/>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24">
              <a:extLst>
                <a:ext uri="{FF2B5EF4-FFF2-40B4-BE49-F238E27FC236}">
                  <a16:creationId xmlns:a16="http://schemas.microsoft.com/office/drawing/2014/main" id="{EF78F9E3-1F79-4E42-AAC8-E4DB818FEE8B}"/>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p:sp>
        <p:nvSpPr>
          <p:cNvPr id="2" name="文本框 1"/>
          <p:cNvSpPr txBox="1"/>
          <p:nvPr/>
        </p:nvSpPr>
        <p:spPr>
          <a:xfrm>
            <a:off x="534498" y="923636"/>
            <a:ext cx="5820120" cy="5624946"/>
          </a:xfrm>
          <a:prstGeom prst="rect">
            <a:avLst/>
          </a:prstGeom>
          <a:noFill/>
        </p:spPr>
        <p:txBody>
          <a:bodyPr wrap="square" rtlCol="0">
            <a:spAutoFit/>
          </a:bodyPr>
          <a:lstStyle/>
          <a:p>
            <a:endParaRPr lang="zh-CN" altLang="en-US" dirty="0"/>
          </a:p>
        </p:txBody>
      </p:sp>
      <mc:AlternateContent xmlns:mc="http://schemas.openxmlformats.org/markup-compatibility/2006" xmlns:a14="http://schemas.microsoft.com/office/drawing/2010/main">
        <mc:Choice Requires="a14">
          <p:sp>
            <p:nvSpPr>
              <p:cNvPr id="3" name="文本框 2"/>
              <p:cNvSpPr txBox="1"/>
              <p:nvPr/>
            </p:nvSpPr>
            <p:spPr>
              <a:xfrm>
                <a:off x="534497" y="923635"/>
                <a:ext cx="8002495" cy="6026971"/>
              </a:xfrm>
              <a:prstGeom prst="rect">
                <a:avLst/>
              </a:prstGeom>
              <a:noFill/>
            </p:spPr>
            <p:txBody>
              <a:bodyPr wrap="square" rtlCol="0">
                <a:spAutoFit/>
              </a:bodyPr>
              <a:lstStyle/>
              <a:p>
                <a:r>
                  <a:rPr lang="en-US" altLang="zh-CN" dirty="0">
                    <a:solidFill>
                      <a:srgbClr val="7030A0"/>
                    </a:solidFill>
                  </a:rPr>
                  <a:t>※</a:t>
                </a:r>
                <a:r>
                  <a:rPr lang="zh-CN" altLang="en-US" dirty="0"/>
                  <a:t>马克思的观点：资本积累的规律是财富在一端积累，贫困在另一端积累。</a:t>
                </a:r>
                <a:endParaRPr lang="en-US" altLang="zh-CN" dirty="0"/>
              </a:p>
              <a:p>
                <a:endParaRPr lang="en-US" altLang="zh-CN" dirty="0"/>
              </a:p>
              <a:p>
                <a:r>
                  <a:rPr lang="en-US" altLang="zh-CN" dirty="0">
                    <a:solidFill>
                      <a:srgbClr val="7030A0"/>
                    </a:solidFill>
                  </a:rPr>
                  <a:t>※</a:t>
                </a:r>
                <a:r>
                  <a:rPr lang="zh-CN" altLang="en-US" dirty="0"/>
                  <a:t>时代的遗憾：马克思的时代没有足够的宏观统计数据。</a:t>
                </a:r>
                <a:endParaRPr lang="en-US" altLang="zh-CN" dirty="0"/>
              </a:p>
              <a:p>
                <a:endParaRPr lang="en-US" altLang="zh-CN" dirty="0"/>
              </a:p>
              <a:p>
                <a:r>
                  <a:rPr lang="en-US" altLang="zh-CN" dirty="0">
                    <a:solidFill>
                      <a:srgbClr val="7030A0"/>
                    </a:solidFill>
                  </a:rPr>
                  <a:t>※</a:t>
                </a:r>
                <a:r>
                  <a:rPr lang="zh-CN" altLang="en-US" dirty="0"/>
                  <a:t>基尼系数：基尼系数</a:t>
                </a:r>
                <a:r>
                  <a:rPr lang="en-US" altLang="zh-CN" dirty="0"/>
                  <a:t>=</a:t>
                </a:r>
                <a14:m>
                  <m:oMath xmlns:m="http://schemas.openxmlformats.org/officeDocument/2006/math">
                    <m:f>
                      <m:fPr>
                        <m:ctrlPr>
                          <a:rPr lang="en-US" altLang="zh-CN" i="1" smtClean="0">
                            <a:latin typeface="Cambria Math" panose="02040503050406030204" pitchFamily="18" charset="0"/>
                          </a:rPr>
                        </m:ctrlPr>
                      </m:fPr>
                      <m:num>
                        <m:r>
                          <a:rPr lang="en-US" altLang="zh-CN" b="0" i="1" smtClean="0">
                            <a:latin typeface="Cambria Math" panose="02040503050406030204" pitchFamily="18" charset="0"/>
                          </a:rPr>
                          <m:t>𝐴</m:t>
                        </m:r>
                      </m:num>
                      <m:den>
                        <m:r>
                          <a:rPr lang="en-US" altLang="zh-CN" b="0" i="1" smtClean="0">
                            <a:latin typeface="Cambria Math" panose="02040503050406030204" pitchFamily="18" charset="0"/>
                          </a:rPr>
                          <m:t>𝐴</m:t>
                        </m:r>
                        <m:r>
                          <a:rPr lang="en-US" altLang="zh-CN" b="0" i="1" smtClean="0">
                            <a:latin typeface="Cambria Math" panose="02040503050406030204" pitchFamily="18" charset="0"/>
                          </a:rPr>
                          <m:t>+</m:t>
                        </m:r>
                        <m:r>
                          <a:rPr lang="en-US" altLang="zh-CN" b="0" i="1" smtClean="0">
                            <a:latin typeface="Cambria Math" panose="02040503050406030204" pitchFamily="18" charset="0"/>
                          </a:rPr>
                          <m:t>𝐵</m:t>
                        </m:r>
                      </m:den>
                    </m:f>
                  </m:oMath>
                </a14:m>
                <a:endParaRPr lang="en-US" altLang="zh-CN" dirty="0"/>
              </a:p>
              <a:p>
                <a:r>
                  <a:rPr lang="zh-CN" altLang="en-US" dirty="0"/>
                  <a:t>基尼系数越小，社会越平等，基尼系数越大，社会越不平等。</a:t>
                </a:r>
                <a:endParaRPr lang="en-US" altLang="zh-CN" dirty="0"/>
              </a:p>
              <a:p>
                <a:r>
                  <a:rPr lang="en-US" altLang="zh-CN" dirty="0"/>
                  <a:t>0</a:t>
                </a:r>
                <a:r>
                  <a:rPr lang="zh-CN" altLang="en-US" dirty="0"/>
                  <a:t>：收入分配绝对平均；</a:t>
                </a:r>
                <a:r>
                  <a:rPr lang="en-US" altLang="zh-CN" dirty="0"/>
                  <a:t>1</a:t>
                </a:r>
                <a:r>
                  <a:rPr lang="zh-CN" altLang="en-US" dirty="0"/>
                  <a:t>：所有收入都集中在一个人手里。</a:t>
                </a:r>
                <a:endParaRPr lang="en-US" altLang="zh-CN" dirty="0"/>
              </a:p>
              <a:p>
                <a:endParaRPr lang="en-US" altLang="zh-CN" dirty="0"/>
              </a:p>
              <a:p>
                <a:r>
                  <a:rPr lang="en-US" altLang="zh-CN" dirty="0">
                    <a:solidFill>
                      <a:srgbClr val="7030A0"/>
                    </a:solidFill>
                  </a:rPr>
                  <a:t>※</a:t>
                </a:r>
                <a:r>
                  <a:rPr lang="zh-CN" altLang="en-US" dirty="0"/>
                  <a:t>库兹涅茨曲线：随着经济的增长，收入分配状况先趋于恶化，达到一定程度开始逐步改善，最后达到比较公平的水平，呈现出倒</a:t>
                </a:r>
                <a:r>
                  <a:rPr lang="en-US" altLang="zh-CN" dirty="0"/>
                  <a:t>U</a:t>
                </a:r>
                <a:r>
                  <a:rPr lang="zh-CN" altLang="en-US" dirty="0"/>
                  <a:t>型分布。马克思错了？</a:t>
                </a:r>
                <a:endParaRPr lang="en-US" altLang="zh-CN" dirty="0"/>
              </a:p>
              <a:p>
                <a:endParaRPr lang="en-US" altLang="zh-CN" dirty="0"/>
              </a:p>
              <a:p>
                <a:r>
                  <a:rPr lang="en-US" altLang="zh-CN" dirty="0">
                    <a:solidFill>
                      <a:srgbClr val="7030A0"/>
                    </a:solidFill>
                  </a:rPr>
                  <a:t>※</a:t>
                </a:r>
                <a:r>
                  <a:rPr lang="zh-CN" altLang="en-US" dirty="0"/>
                  <a:t>幸存者偏差：库兹涅茨（</a:t>
                </a:r>
                <a:r>
                  <a:rPr lang="en-US" altLang="zh-CN" dirty="0"/>
                  <a:t>1953</a:t>
                </a:r>
                <a:r>
                  <a:rPr lang="zh-CN" altLang="en-US" dirty="0"/>
                  <a:t>）只使用了</a:t>
                </a:r>
                <a:r>
                  <a:rPr lang="en-US" altLang="zh-CN" dirty="0"/>
                  <a:t>1913~1948 </a:t>
                </a:r>
                <a:r>
                  <a:rPr lang="zh-CN" altLang="en-US" dirty="0"/>
                  <a:t>年的</a:t>
                </a:r>
                <a:r>
                  <a:rPr lang="en-US" altLang="zh-CN" dirty="0"/>
                  <a:t>35 </a:t>
                </a:r>
                <a:r>
                  <a:rPr lang="zh-CN" altLang="en-US" dirty="0"/>
                  <a:t>年间美国的数据（两次世界大战）。</a:t>
                </a:r>
                <a:endParaRPr lang="en-US" altLang="zh-CN" dirty="0"/>
              </a:p>
              <a:p>
                <a:endParaRPr lang="en-US" altLang="zh-CN" dirty="0"/>
              </a:p>
              <a:p>
                <a:r>
                  <a:rPr lang="en-US" altLang="zh-CN" dirty="0">
                    <a:solidFill>
                      <a:srgbClr val="7030A0"/>
                    </a:solidFill>
                  </a:rPr>
                  <a:t>※</a:t>
                </a:r>
                <a:r>
                  <a:rPr lang="zh-CN" altLang="en-US" dirty="0"/>
                  <a:t>皮凯蒂的计算：美国经济不平等程度在</a:t>
                </a:r>
                <a:r>
                  <a:rPr lang="en-US" altLang="zh-CN" dirty="0"/>
                  <a:t>1980</a:t>
                </a:r>
                <a:r>
                  <a:rPr lang="zh-CN" altLang="en-US" dirty="0"/>
                  <a:t>年后大幅度上升，恢复到了二战前的水平。</a:t>
                </a:r>
                <a:endParaRPr lang="en-US" altLang="zh-CN" dirty="0"/>
              </a:p>
              <a:p>
                <a:endParaRPr lang="en-US" altLang="zh-CN" dirty="0"/>
              </a:p>
              <a:p>
                <a:r>
                  <a:rPr lang="en-US" altLang="zh-CN" dirty="0">
                    <a:solidFill>
                      <a:srgbClr val="7030A0"/>
                    </a:solidFill>
                  </a:rPr>
                  <a:t>※</a:t>
                </a:r>
                <a:r>
                  <a:rPr lang="zh-CN" altLang="en-US" dirty="0"/>
                  <a:t>皮凯蒂的研究是否证明或者证伪了马克思关于资本积累的规律？</a:t>
                </a:r>
                <a:endParaRPr lang="en-US" altLang="zh-CN" dirty="0"/>
              </a:p>
              <a:p>
                <a:endParaRPr lang="en-US" altLang="zh-CN" dirty="0"/>
              </a:p>
              <a:p>
                <a:r>
                  <a:rPr lang="en-US" altLang="zh-CN" dirty="0">
                    <a:solidFill>
                      <a:srgbClr val="7030A0"/>
                    </a:solidFill>
                  </a:rPr>
                  <a:t>※</a:t>
                </a:r>
                <a:r>
                  <a:rPr lang="zh-CN" altLang="en-US" dirty="0"/>
                  <a:t>社会学三大流派：孔德（涂尔干）、马克思和韦伯（自然科学和社会科学的区别）</a:t>
                </a:r>
                <a:endParaRPr lang="en-US" altLang="zh-CN" dirty="0"/>
              </a:p>
            </p:txBody>
          </p:sp>
        </mc:Choice>
        <mc:Fallback xmlns="">
          <p:sp>
            <p:nvSpPr>
              <p:cNvPr id="3" name="文本框 2"/>
              <p:cNvSpPr txBox="1">
                <a:spLocks noRot="1" noChangeAspect="1" noMove="1" noResize="1" noEditPoints="1" noAdjustHandles="1" noChangeArrowheads="1" noChangeShapeType="1" noTextEdit="1"/>
              </p:cNvSpPr>
              <p:nvPr/>
            </p:nvSpPr>
            <p:spPr>
              <a:xfrm>
                <a:off x="534497" y="923635"/>
                <a:ext cx="8002495" cy="6026971"/>
              </a:xfrm>
              <a:prstGeom prst="rect">
                <a:avLst/>
              </a:prstGeom>
              <a:blipFill>
                <a:blip r:embed="rId3"/>
                <a:stretch>
                  <a:fillRect l="-686" t="-607" b="-709"/>
                </a:stretch>
              </a:blipFill>
            </p:spPr>
            <p:txBody>
              <a:bodyPr/>
              <a:lstStyle/>
              <a:p>
                <a:r>
                  <a:rPr lang="zh-CN" altLang="en-US">
                    <a:noFill/>
                  </a:rPr>
                  <a:t> </a:t>
                </a:r>
              </a:p>
            </p:txBody>
          </p:sp>
        </mc:Fallback>
      </mc:AlternateContent>
      <p:pic>
        <p:nvPicPr>
          <p:cNvPr id="8" name="图片 7"/>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372942" y="3285338"/>
            <a:ext cx="2060341" cy="1268397"/>
          </a:xfrm>
          <a:prstGeom prst="rect">
            <a:avLst/>
          </a:prstGeom>
        </p:spPr>
      </p:pic>
      <p:pic>
        <p:nvPicPr>
          <p:cNvPr id="9" name="图片 8"/>
          <p:cNvPicPr>
            <a:picLocks noChangeAspect="1"/>
          </p:cNvPicPr>
          <p:nvPr/>
        </p:nvPicPr>
        <p:blipFill>
          <a:blip r:embed="rId5"/>
          <a:stretch>
            <a:fillRect/>
          </a:stretch>
        </p:blipFill>
        <p:spPr>
          <a:xfrm>
            <a:off x="8518692" y="4593863"/>
            <a:ext cx="3531097" cy="2207835"/>
          </a:xfrm>
          <a:prstGeom prst="rect">
            <a:avLst/>
          </a:prstGeom>
        </p:spPr>
      </p:pic>
      <p:pic>
        <p:nvPicPr>
          <p:cNvPr id="11" name="图片 10"/>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9089685" y="504737"/>
            <a:ext cx="2673441" cy="2673441"/>
          </a:xfrm>
          <a:prstGeom prst="rect">
            <a:avLst/>
          </a:prstGeom>
        </p:spPr>
      </p:pic>
    </p:spTree>
    <p:extLst>
      <p:ext uri="{BB962C8B-B14F-4D97-AF65-F5344CB8AC3E}">
        <p14:creationId xmlns:p14="http://schemas.microsoft.com/office/powerpoint/2010/main" val="4155210960"/>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文本框 4">
            <a:extLst>
              <a:ext uri="{FF2B5EF4-FFF2-40B4-BE49-F238E27FC236}">
                <a16:creationId xmlns:a16="http://schemas.microsoft.com/office/drawing/2014/main" id="{A6724858-E725-4C2B-A2BE-904BCC745CF9}"/>
              </a:ext>
            </a:extLst>
          </p:cNvPr>
          <p:cNvSpPr txBox="1"/>
          <p:nvPr/>
        </p:nvSpPr>
        <p:spPr>
          <a:xfrm>
            <a:off x="534498" y="329364"/>
            <a:ext cx="1221744" cy="400110"/>
          </a:xfrm>
          <a:prstGeom prst="rect">
            <a:avLst/>
          </a:prstGeom>
          <a:solidFill>
            <a:srgbClr val="7F2C8B"/>
          </a:solidFill>
        </p:spPr>
        <p:txBody>
          <a:bodyPr wrap="square" rtlCol="0">
            <a:spAutoFit/>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zh-CN" altLang="en-US" sz="2000" b="0" i="0" u="none" strike="noStrike" kern="1200" cap="none" spc="0" normalizeH="0" baseline="0" noProof="0" dirty="0">
                <a:ln>
                  <a:noFill/>
                </a:ln>
                <a:solidFill>
                  <a:schemeClr val="bg1"/>
                </a:solidFill>
                <a:effectLst/>
                <a:uLnTx/>
                <a:uFillTx/>
                <a:latin typeface="微软雅黑 Light" panose="020B0502040204020203" pitchFamily="34" charset="-122"/>
                <a:ea typeface="微软雅黑 Light" panose="020B0502040204020203" pitchFamily="34" charset="-122"/>
                <a:cs typeface="+mn-cs"/>
              </a:rPr>
              <a:t>年表比较</a:t>
            </a:r>
          </a:p>
        </p:txBody>
      </p:sp>
      <p:grpSp>
        <p:nvGrpSpPr>
          <p:cNvPr id="22" name="组合 21">
            <a:extLst>
              <a:ext uri="{FF2B5EF4-FFF2-40B4-BE49-F238E27FC236}">
                <a16:creationId xmlns:a16="http://schemas.microsoft.com/office/drawing/2014/main" id="{DFC37A35-D357-4CEE-9C28-5EABD3D35C6B}"/>
              </a:ext>
            </a:extLst>
          </p:cNvPr>
          <p:cNvGrpSpPr/>
          <p:nvPr/>
        </p:nvGrpSpPr>
        <p:grpSpPr>
          <a:xfrm>
            <a:off x="10735556" y="314266"/>
            <a:ext cx="1180589" cy="400111"/>
            <a:chOff x="624303" y="901700"/>
            <a:chExt cx="10005598" cy="3390977"/>
          </a:xfrm>
          <a:solidFill>
            <a:srgbClr val="7F2C8B"/>
          </a:solidFill>
        </p:grpSpPr>
        <p:sp>
          <p:nvSpPr>
            <p:cNvPr id="23" name="Freeform 5">
              <a:extLst>
                <a:ext uri="{FF2B5EF4-FFF2-40B4-BE49-F238E27FC236}">
                  <a16:creationId xmlns:a16="http://schemas.microsoft.com/office/drawing/2014/main" id="{0ACD2635-3EA4-461E-AE91-2E7358FA9FA0}"/>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4" name="Freeform 6">
              <a:extLst>
                <a:ext uri="{FF2B5EF4-FFF2-40B4-BE49-F238E27FC236}">
                  <a16:creationId xmlns:a16="http://schemas.microsoft.com/office/drawing/2014/main" id="{70354051-F1E2-4393-ABA2-AEB53FF0D08B}"/>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5" name="Freeform 7">
              <a:extLst>
                <a:ext uri="{FF2B5EF4-FFF2-40B4-BE49-F238E27FC236}">
                  <a16:creationId xmlns:a16="http://schemas.microsoft.com/office/drawing/2014/main" id="{5FFB1BFD-2D76-4EE4-9741-31F528BE757A}"/>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6" name="Freeform 8">
              <a:extLst>
                <a:ext uri="{FF2B5EF4-FFF2-40B4-BE49-F238E27FC236}">
                  <a16:creationId xmlns:a16="http://schemas.microsoft.com/office/drawing/2014/main" id="{1EFFAA81-03B5-4C66-939C-6BBDC7932C18}"/>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7" name="Freeform 9">
              <a:extLst>
                <a:ext uri="{FF2B5EF4-FFF2-40B4-BE49-F238E27FC236}">
                  <a16:creationId xmlns:a16="http://schemas.microsoft.com/office/drawing/2014/main" id="{35B0FA74-D77A-4B32-A41D-5E20B596D219}"/>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8" name="Freeform 10">
              <a:extLst>
                <a:ext uri="{FF2B5EF4-FFF2-40B4-BE49-F238E27FC236}">
                  <a16:creationId xmlns:a16="http://schemas.microsoft.com/office/drawing/2014/main" id="{F5FC7059-5FB3-4ADB-BA26-84EF705B3174}"/>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9" name="Freeform 11">
              <a:extLst>
                <a:ext uri="{FF2B5EF4-FFF2-40B4-BE49-F238E27FC236}">
                  <a16:creationId xmlns:a16="http://schemas.microsoft.com/office/drawing/2014/main" id="{937241A3-85EE-47AC-8B4A-B01E8B1B0812}"/>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0" name="Freeform 12">
              <a:extLst>
                <a:ext uri="{FF2B5EF4-FFF2-40B4-BE49-F238E27FC236}">
                  <a16:creationId xmlns:a16="http://schemas.microsoft.com/office/drawing/2014/main" id="{99EA3DC5-4FB4-48DC-9AA6-2E2F76C34725}"/>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1" name="Freeform 13">
              <a:extLst>
                <a:ext uri="{FF2B5EF4-FFF2-40B4-BE49-F238E27FC236}">
                  <a16:creationId xmlns:a16="http://schemas.microsoft.com/office/drawing/2014/main" id="{F7187B32-A15A-480D-849D-33EF28B75687}"/>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2" name="Freeform 14">
              <a:extLst>
                <a:ext uri="{FF2B5EF4-FFF2-40B4-BE49-F238E27FC236}">
                  <a16:creationId xmlns:a16="http://schemas.microsoft.com/office/drawing/2014/main" id="{AA5721AD-3E61-4D99-A2D8-A261E897EBAC}"/>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3" name="Freeform 15">
              <a:extLst>
                <a:ext uri="{FF2B5EF4-FFF2-40B4-BE49-F238E27FC236}">
                  <a16:creationId xmlns:a16="http://schemas.microsoft.com/office/drawing/2014/main" id="{EF703E7A-053E-4111-945E-2E43B9CC9ECE}"/>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4" name="Freeform 16">
              <a:extLst>
                <a:ext uri="{FF2B5EF4-FFF2-40B4-BE49-F238E27FC236}">
                  <a16:creationId xmlns:a16="http://schemas.microsoft.com/office/drawing/2014/main" id="{01BF6BE1-5CCD-4A5F-8AFA-EF1359F1D3F2}"/>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5" name="Freeform 17">
              <a:extLst>
                <a:ext uri="{FF2B5EF4-FFF2-40B4-BE49-F238E27FC236}">
                  <a16:creationId xmlns:a16="http://schemas.microsoft.com/office/drawing/2014/main" id="{295417E9-A0A1-4465-9436-76253B18BAD3}"/>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18">
              <a:extLst>
                <a:ext uri="{FF2B5EF4-FFF2-40B4-BE49-F238E27FC236}">
                  <a16:creationId xmlns:a16="http://schemas.microsoft.com/office/drawing/2014/main" id="{009C6FB2-A1BB-4F44-87AF-D874D67D737B}"/>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19">
              <a:extLst>
                <a:ext uri="{FF2B5EF4-FFF2-40B4-BE49-F238E27FC236}">
                  <a16:creationId xmlns:a16="http://schemas.microsoft.com/office/drawing/2014/main" id="{65203D5E-987A-4E4E-B0C9-FAC54EDFF054}"/>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20">
              <a:extLst>
                <a:ext uri="{FF2B5EF4-FFF2-40B4-BE49-F238E27FC236}">
                  <a16:creationId xmlns:a16="http://schemas.microsoft.com/office/drawing/2014/main" id="{F0367FE4-2904-433D-8E0F-42933CAA638D}"/>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21">
              <a:extLst>
                <a:ext uri="{FF2B5EF4-FFF2-40B4-BE49-F238E27FC236}">
                  <a16:creationId xmlns:a16="http://schemas.microsoft.com/office/drawing/2014/main" id="{7A0A948A-A7D6-4278-97BF-F101BFD0B366}"/>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22">
              <a:extLst>
                <a:ext uri="{FF2B5EF4-FFF2-40B4-BE49-F238E27FC236}">
                  <a16:creationId xmlns:a16="http://schemas.microsoft.com/office/drawing/2014/main" id="{DC614584-067F-48D2-931A-6CE53105F005}"/>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23">
              <a:extLst>
                <a:ext uri="{FF2B5EF4-FFF2-40B4-BE49-F238E27FC236}">
                  <a16:creationId xmlns:a16="http://schemas.microsoft.com/office/drawing/2014/main" id="{244320B8-5691-4A92-B2D2-5BCE1D98EA00}"/>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24">
              <a:extLst>
                <a:ext uri="{FF2B5EF4-FFF2-40B4-BE49-F238E27FC236}">
                  <a16:creationId xmlns:a16="http://schemas.microsoft.com/office/drawing/2014/main" id="{EF78F9E3-1F79-4E42-AAC8-E4DB818FEE8B}"/>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p:sp>
        <p:nvSpPr>
          <p:cNvPr id="2" name="文本框 1"/>
          <p:cNvSpPr txBox="1"/>
          <p:nvPr/>
        </p:nvSpPr>
        <p:spPr>
          <a:xfrm>
            <a:off x="534498" y="923636"/>
            <a:ext cx="5820120" cy="5624946"/>
          </a:xfrm>
          <a:prstGeom prst="rect">
            <a:avLst/>
          </a:prstGeom>
          <a:noFill/>
        </p:spPr>
        <p:txBody>
          <a:bodyPr wrap="square" rtlCol="0">
            <a:spAutoFit/>
          </a:bodyPr>
          <a:lstStyle/>
          <a:p>
            <a:endParaRPr lang="zh-CN" altLang="en-US" dirty="0"/>
          </a:p>
        </p:txBody>
      </p:sp>
      <p:sp>
        <p:nvSpPr>
          <p:cNvPr id="3" name="文本框 2"/>
          <p:cNvSpPr txBox="1"/>
          <p:nvPr/>
        </p:nvSpPr>
        <p:spPr>
          <a:xfrm>
            <a:off x="534498" y="923635"/>
            <a:ext cx="5709284" cy="6124754"/>
          </a:xfrm>
          <a:prstGeom prst="rect">
            <a:avLst/>
          </a:prstGeom>
          <a:noFill/>
        </p:spPr>
        <p:txBody>
          <a:bodyPr wrap="square" rtlCol="0">
            <a:spAutoFit/>
          </a:bodyPr>
          <a:lstStyle/>
          <a:p>
            <a:r>
              <a:rPr lang="en-US" altLang="zh-CN" dirty="0">
                <a:solidFill>
                  <a:srgbClr val="7030A0"/>
                </a:solidFill>
              </a:rPr>
              <a:t>※</a:t>
            </a:r>
            <a:r>
              <a:rPr lang="zh-CN" altLang="en-US" dirty="0"/>
              <a:t>卡尔</a:t>
            </a:r>
            <a:r>
              <a:rPr lang="en-US" altLang="zh-CN" dirty="0"/>
              <a:t>·</a:t>
            </a:r>
            <a:r>
              <a:rPr lang="zh-CN" altLang="en-US" dirty="0"/>
              <a:t>马克思年谱</a:t>
            </a:r>
            <a:endParaRPr lang="en-US" altLang="zh-CN" dirty="0"/>
          </a:p>
          <a:p>
            <a:endParaRPr lang="en-US" altLang="zh-CN" dirty="0"/>
          </a:p>
          <a:p>
            <a:r>
              <a:rPr lang="en-US" altLang="zh-CN" sz="1600" dirty="0"/>
              <a:t>1818</a:t>
            </a:r>
            <a:r>
              <a:rPr lang="zh-CN" altLang="en-US" sz="1600" dirty="0"/>
              <a:t>年</a:t>
            </a:r>
            <a:r>
              <a:rPr lang="en-US" altLang="zh-CN" sz="1600" dirty="0"/>
              <a:t>5</a:t>
            </a:r>
            <a:r>
              <a:rPr lang="zh-CN" altLang="en-US" sz="1600" dirty="0"/>
              <a:t>月</a:t>
            </a:r>
            <a:r>
              <a:rPr lang="en-US" altLang="zh-CN" sz="1600" dirty="0"/>
              <a:t>5</a:t>
            </a:r>
            <a:r>
              <a:rPr lang="zh-CN" altLang="en-US" sz="1600" dirty="0"/>
              <a:t>日     诞生于普鲁士莱茵省特利尔市</a:t>
            </a:r>
            <a:endParaRPr lang="en-US" altLang="zh-CN" sz="1600" dirty="0"/>
          </a:p>
          <a:p>
            <a:r>
              <a:rPr lang="en-US" altLang="zh-CN" sz="1600" dirty="0"/>
              <a:t>1835</a:t>
            </a:r>
            <a:r>
              <a:rPr lang="zh-CN" altLang="en-US" sz="1600" dirty="0"/>
              <a:t>年</a:t>
            </a:r>
            <a:r>
              <a:rPr lang="en-US" altLang="zh-CN" sz="1600" dirty="0"/>
              <a:t>10</a:t>
            </a:r>
            <a:r>
              <a:rPr lang="zh-CN" altLang="en-US" sz="1600" dirty="0"/>
              <a:t>月</a:t>
            </a:r>
            <a:r>
              <a:rPr lang="en-US" altLang="zh-CN" sz="1600" dirty="0"/>
              <a:t>15</a:t>
            </a:r>
            <a:r>
              <a:rPr lang="zh-CN" altLang="en-US" sz="1600" dirty="0"/>
              <a:t>日（</a:t>
            </a:r>
            <a:r>
              <a:rPr lang="en-US" altLang="zh-CN" sz="1600" dirty="0"/>
              <a:t>17</a:t>
            </a:r>
            <a:r>
              <a:rPr lang="zh-CN" altLang="en-US" sz="1600" dirty="0"/>
              <a:t>岁） 进入波恩大学法律系学习，次年转入柏林大学法律系</a:t>
            </a:r>
            <a:endParaRPr lang="en-US" altLang="zh-CN" sz="1600" dirty="0"/>
          </a:p>
          <a:p>
            <a:r>
              <a:rPr lang="en-US" altLang="zh-CN" sz="1600" dirty="0"/>
              <a:t>1841</a:t>
            </a:r>
            <a:r>
              <a:rPr lang="zh-CN" altLang="en-US" sz="1600" dirty="0"/>
              <a:t>年</a:t>
            </a:r>
            <a:r>
              <a:rPr lang="en-US" altLang="zh-CN" sz="1600" dirty="0"/>
              <a:t>4</a:t>
            </a:r>
            <a:r>
              <a:rPr lang="zh-CN" altLang="en-US" sz="1600" dirty="0"/>
              <a:t>月</a:t>
            </a:r>
            <a:r>
              <a:rPr lang="en-US" altLang="zh-CN" sz="1600" dirty="0"/>
              <a:t>15</a:t>
            </a:r>
            <a:r>
              <a:rPr lang="zh-CN" altLang="en-US" sz="1600" dirty="0"/>
              <a:t>日（</a:t>
            </a:r>
            <a:r>
              <a:rPr lang="en-US" altLang="zh-CN" sz="1600" dirty="0"/>
              <a:t>22</a:t>
            </a:r>
            <a:r>
              <a:rPr lang="zh-CN" altLang="en-US" sz="1600" dirty="0"/>
              <a:t>岁）获得耶拿大学哲学系博士学位</a:t>
            </a:r>
            <a:endParaRPr lang="en-US" altLang="zh-CN" sz="1600" dirty="0"/>
          </a:p>
          <a:p>
            <a:r>
              <a:rPr lang="zh-CN" altLang="en-US" sz="1600" dirty="0"/>
              <a:t>博士毕业后为</a:t>
            </a:r>
            <a:r>
              <a:rPr lang="en-US" altLang="zh-CN" sz="1600" dirty="0"/>
              <a:t>《</a:t>
            </a:r>
            <a:r>
              <a:rPr lang="zh-CN" altLang="en-US" sz="1600" dirty="0"/>
              <a:t>莱茵报</a:t>
            </a:r>
            <a:r>
              <a:rPr lang="en-US" altLang="zh-CN" sz="1600" dirty="0"/>
              <a:t>》</a:t>
            </a:r>
            <a:r>
              <a:rPr lang="zh-CN" altLang="en-US" sz="1600" dirty="0"/>
              <a:t>撰稿，稍后任主编</a:t>
            </a:r>
            <a:endParaRPr lang="en-US" altLang="zh-CN" sz="1600" dirty="0"/>
          </a:p>
          <a:p>
            <a:r>
              <a:rPr lang="en-US" altLang="zh-CN" sz="1600" dirty="0"/>
              <a:t>1842</a:t>
            </a:r>
            <a:r>
              <a:rPr lang="zh-CN" altLang="en-US" sz="1600" dirty="0"/>
              <a:t>年</a:t>
            </a:r>
            <a:r>
              <a:rPr lang="en-US" altLang="zh-CN" sz="1600" dirty="0"/>
              <a:t>11</a:t>
            </a:r>
            <a:r>
              <a:rPr lang="zh-CN" altLang="en-US" sz="1600" dirty="0"/>
              <a:t>月  与恩格斯初次见面</a:t>
            </a:r>
            <a:endParaRPr lang="en-US" altLang="zh-CN" sz="1600" dirty="0"/>
          </a:p>
          <a:p>
            <a:r>
              <a:rPr lang="en-US" altLang="zh-CN" sz="1600" dirty="0"/>
              <a:t>1844</a:t>
            </a:r>
            <a:r>
              <a:rPr lang="zh-CN" altLang="en-US" sz="1600" dirty="0"/>
              <a:t>年</a:t>
            </a:r>
            <a:r>
              <a:rPr lang="en-US" altLang="zh-CN" sz="1600" dirty="0"/>
              <a:t>4</a:t>
            </a:r>
            <a:r>
              <a:rPr lang="zh-CN" altLang="en-US" sz="1600" dirty="0"/>
              <a:t>月</a:t>
            </a:r>
            <a:r>
              <a:rPr lang="en-US" altLang="zh-CN" sz="1600" dirty="0"/>
              <a:t>-8</a:t>
            </a:r>
            <a:r>
              <a:rPr lang="zh-CN" altLang="en-US" sz="1600" dirty="0"/>
              <a:t>月     撰写</a:t>
            </a:r>
            <a:r>
              <a:rPr lang="en-US" altLang="zh-CN" sz="1600" dirty="0"/>
              <a:t>《1844</a:t>
            </a:r>
            <a:r>
              <a:rPr lang="zh-CN" altLang="en-US" sz="1600" dirty="0"/>
              <a:t>年经济学哲学手稿</a:t>
            </a:r>
            <a:r>
              <a:rPr lang="en-US" altLang="zh-CN" sz="1600" dirty="0"/>
              <a:t>》</a:t>
            </a:r>
          </a:p>
          <a:p>
            <a:r>
              <a:rPr lang="en-US" altLang="zh-CN" sz="1600" dirty="0"/>
              <a:t>1845</a:t>
            </a:r>
            <a:r>
              <a:rPr lang="zh-CN" altLang="en-US" sz="1600" dirty="0"/>
              <a:t>年</a:t>
            </a:r>
            <a:r>
              <a:rPr lang="en-US" altLang="zh-CN" sz="1600" dirty="0"/>
              <a:t>2</a:t>
            </a:r>
            <a:r>
              <a:rPr lang="zh-CN" altLang="en-US" sz="1600" dirty="0"/>
              <a:t>月</a:t>
            </a:r>
            <a:r>
              <a:rPr lang="en-US" altLang="zh-CN" sz="1600" dirty="0"/>
              <a:t>3</a:t>
            </a:r>
            <a:r>
              <a:rPr lang="zh-CN" altLang="en-US" sz="1600" dirty="0"/>
              <a:t>日   被驱逐出巴黎，迁往比利时布鲁塞尔</a:t>
            </a:r>
            <a:endParaRPr lang="en-US" altLang="zh-CN" sz="1600" dirty="0"/>
          </a:p>
          <a:p>
            <a:r>
              <a:rPr lang="en-US" altLang="zh-CN" sz="1600" dirty="0"/>
              <a:t>1848</a:t>
            </a:r>
            <a:r>
              <a:rPr lang="zh-CN" altLang="en-US" sz="1600" dirty="0"/>
              <a:t>年</a:t>
            </a:r>
            <a:r>
              <a:rPr lang="en-US" altLang="zh-CN" sz="1600" dirty="0"/>
              <a:t>2</a:t>
            </a:r>
            <a:r>
              <a:rPr lang="zh-CN" altLang="en-US" sz="1600" dirty="0"/>
              <a:t>月</a:t>
            </a:r>
            <a:r>
              <a:rPr lang="en-US" altLang="zh-CN" sz="1600" dirty="0"/>
              <a:t>22</a:t>
            </a:r>
            <a:r>
              <a:rPr lang="zh-CN" altLang="en-US" sz="1600" dirty="0"/>
              <a:t>日    法国爆发革命。 </a:t>
            </a:r>
            <a:r>
              <a:rPr lang="en-US" altLang="zh-CN" sz="1600" dirty="0"/>
              <a:t>2</a:t>
            </a:r>
            <a:r>
              <a:rPr lang="zh-CN" altLang="en-US" sz="1600" dirty="0"/>
              <a:t>月</a:t>
            </a:r>
            <a:r>
              <a:rPr lang="en-US" altLang="zh-CN" sz="1600" dirty="0"/>
              <a:t>24</a:t>
            </a:r>
            <a:r>
              <a:rPr lang="zh-CN" altLang="en-US" sz="1600" dirty="0"/>
              <a:t>日左右</a:t>
            </a:r>
            <a:r>
              <a:rPr lang="en-US" altLang="zh-CN" sz="1600" dirty="0"/>
              <a:t>《</a:t>
            </a:r>
            <a:r>
              <a:rPr lang="zh-CN" altLang="en-US" sz="1600" dirty="0"/>
              <a:t>共产党宣言</a:t>
            </a:r>
            <a:r>
              <a:rPr lang="en-US" altLang="zh-CN" sz="1600" dirty="0"/>
              <a:t>》</a:t>
            </a:r>
            <a:r>
              <a:rPr lang="zh-CN" altLang="en-US" sz="1600" dirty="0"/>
              <a:t>出版</a:t>
            </a:r>
            <a:endParaRPr lang="en-US" altLang="zh-CN" sz="1600" dirty="0"/>
          </a:p>
          <a:p>
            <a:r>
              <a:rPr lang="en-US" altLang="zh-CN" sz="1600" dirty="0"/>
              <a:t>1848</a:t>
            </a:r>
            <a:r>
              <a:rPr lang="zh-CN" altLang="en-US" sz="1600" dirty="0"/>
              <a:t>年</a:t>
            </a:r>
            <a:r>
              <a:rPr lang="en-US" altLang="zh-CN" sz="1600" dirty="0"/>
              <a:t>3</a:t>
            </a:r>
            <a:r>
              <a:rPr lang="zh-CN" altLang="en-US" sz="1600" dirty="0"/>
              <a:t>月</a:t>
            </a:r>
            <a:r>
              <a:rPr lang="en-US" altLang="zh-CN" sz="1600" dirty="0"/>
              <a:t>4</a:t>
            </a:r>
            <a:r>
              <a:rPr lang="zh-CN" altLang="en-US" sz="1600" dirty="0"/>
              <a:t>日     被比利时政府驱逐出境，到达巴黎</a:t>
            </a:r>
            <a:endParaRPr lang="en-US" altLang="zh-CN" sz="1600" dirty="0"/>
          </a:p>
          <a:p>
            <a:r>
              <a:rPr lang="en-US" altLang="zh-CN" sz="1600" dirty="0"/>
              <a:t>1848</a:t>
            </a:r>
            <a:r>
              <a:rPr lang="zh-CN" altLang="en-US" sz="1600" dirty="0"/>
              <a:t>年</a:t>
            </a:r>
            <a:r>
              <a:rPr lang="en-US" altLang="zh-CN" sz="1600" dirty="0"/>
              <a:t>4</a:t>
            </a:r>
            <a:r>
              <a:rPr lang="zh-CN" altLang="en-US" sz="1600" dirty="0"/>
              <a:t>月</a:t>
            </a:r>
            <a:r>
              <a:rPr lang="en-US" altLang="zh-CN" sz="1600" dirty="0"/>
              <a:t>6</a:t>
            </a:r>
            <a:r>
              <a:rPr lang="zh-CN" altLang="en-US" sz="1600" dirty="0"/>
              <a:t>日左右    离开巴黎，回德国参加革命</a:t>
            </a:r>
            <a:endParaRPr lang="en-US" altLang="zh-CN" sz="1600" dirty="0"/>
          </a:p>
          <a:p>
            <a:r>
              <a:rPr lang="en-US" altLang="zh-CN" sz="1600" dirty="0"/>
              <a:t>1849</a:t>
            </a:r>
            <a:r>
              <a:rPr lang="zh-CN" altLang="en-US" sz="1600" dirty="0"/>
              <a:t>年</a:t>
            </a:r>
            <a:r>
              <a:rPr lang="en-US" altLang="zh-CN" sz="1600" dirty="0"/>
              <a:t>5</a:t>
            </a:r>
            <a:r>
              <a:rPr lang="zh-CN" altLang="en-US" sz="1600" dirty="0"/>
              <a:t>月</a:t>
            </a:r>
            <a:r>
              <a:rPr lang="en-US" altLang="zh-CN" sz="1600" dirty="0"/>
              <a:t>16</a:t>
            </a:r>
            <a:r>
              <a:rPr lang="zh-CN" altLang="en-US" sz="1600" dirty="0"/>
              <a:t>日    被普鲁士当局驱逐出境</a:t>
            </a:r>
            <a:endParaRPr lang="en-US" altLang="zh-CN" sz="1600" dirty="0"/>
          </a:p>
          <a:p>
            <a:r>
              <a:rPr lang="en-US" altLang="zh-CN" sz="1600" dirty="0"/>
              <a:t>1849</a:t>
            </a:r>
            <a:r>
              <a:rPr lang="zh-CN" altLang="en-US" sz="1600" dirty="0"/>
              <a:t>年</a:t>
            </a:r>
            <a:r>
              <a:rPr lang="en-US" altLang="zh-CN" sz="1600" dirty="0"/>
              <a:t>8</a:t>
            </a:r>
            <a:r>
              <a:rPr lang="zh-CN" altLang="en-US" sz="1600" dirty="0"/>
              <a:t>月</a:t>
            </a:r>
            <a:r>
              <a:rPr lang="en-US" altLang="zh-CN" sz="1600" dirty="0"/>
              <a:t>26</a:t>
            </a:r>
            <a:r>
              <a:rPr lang="zh-CN" altLang="en-US" sz="1600" dirty="0"/>
              <a:t>日左右   被法国政府逐出巴黎来到伦敦</a:t>
            </a:r>
            <a:endParaRPr lang="en-US" altLang="zh-CN" sz="1600" dirty="0"/>
          </a:p>
          <a:p>
            <a:r>
              <a:rPr lang="en-US" altLang="zh-CN" sz="1600" dirty="0"/>
              <a:t>1867</a:t>
            </a:r>
            <a:r>
              <a:rPr lang="zh-CN" altLang="en-US" sz="1600" dirty="0"/>
              <a:t>年</a:t>
            </a:r>
            <a:r>
              <a:rPr lang="en-US" altLang="zh-CN" sz="1600" dirty="0"/>
              <a:t>9</a:t>
            </a:r>
            <a:r>
              <a:rPr lang="zh-CN" altLang="en-US" sz="1600" dirty="0"/>
              <a:t>月</a:t>
            </a:r>
            <a:r>
              <a:rPr lang="en-US" altLang="zh-CN" sz="1600" dirty="0"/>
              <a:t>14</a:t>
            </a:r>
            <a:r>
              <a:rPr lang="zh-CN" altLang="en-US" sz="1600" dirty="0"/>
              <a:t>日（</a:t>
            </a:r>
            <a:r>
              <a:rPr lang="en-US" altLang="zh-CN" sz="1600" dirty="0"/>
              <a:t>49</a:t>
            </a:r>
            <a:r>
              <a:rPr lang="zh-CN" altLang="en-US" sz="1600" dirty="0"/>
              <a:t>岁）    </a:t>
            </a:r>
            <a:r>
              <a:rPr lang="en-US" altLang="zh-CN" sz="1600" dirty="0"/>
              <a:t>《</a:t>
            </a:r>
            <a:r>
              <a:rPr lang="zh-CN" altLang="en-US" sz="1600" dirty="0"/>
              <a:t>资本论</a:t>
            </a:r>
            <a:r>
              <a:rPr lang="en-US" altLang="zh-CN" sz="1600" dirty="0"/>
              <a:t>》</a:t>
            </a:r>
            <a:r>
              <a:rPr lang="zh-CN" altLang="en-US" sz="1600" dirty="0"/>
              <a:t>第一卷在汉堡出版</a:t>
            </a:r>
            <a:endParaRPr lang="en-US" altLang="zh-CN" sz="1600" dirty="0"/>
          </a:p>
          <a:p>
            <a:r>
              <a:rPr lang="en-US" altLang="zh-CN" sz="1600" dirty="0"/>
              <a:t>1881</a:t>
            </a:r>
            <a:r>
              <a:rPr lang="zh-CN" altLang="en-US" sz="1600" dirty="0"/>
              <a:t>年</a:t>
            </a:r>
            <a:r>
              <a:rPr lang="en-US" altLang="zh-CN" sz="1600" dirty="0"/>
              <a:t>12</a:t>
            </a:r>
            <a:r>
              <a:rPr lang="zh-CN" altLang="en-US" sz="1600" dirty="0"/>
              <a:t>月</a:t>
            </a:r>
            <a:r>
              <a:rPr lang="en-US" altLang="zh-CN" sz="1600" dirty="0"/>
              <a:t>2</a:t>
            </a:r>
            <a:r>
              <a:rPr lang="zh-CN" altLang="en-US" sz="1600" dirty="0"/>
              <a:t>日    马克思夫人燕妮</a:t>
            </a:r>
            <a:r>
              <a:rPr lang="en-US" altLang="zh-CN" sz="1600" dirty="0"/>
              <a:t>·</a:t>
            </a:r>
            <a:r>
              <a:rPr lang="zh-CN" altLang="en-US" sz="1600" dirty="0"/>
              <a:t>马克思在伦敦逝世</a:t>
            </a:r>
            <a:endParaRPr lang="en-US" altLang="zh-CN" sz="1600" dirty="0"/>
          </a:p>
          <a:p>
            <a:r>
              <a:rPr lang="en-US" altLang="zh-CN" sz="1600" dirty="0"/>
              <a:t>1883</a:t>
            </a:r>
            <a:r>
              <a:rPr lang="zh-CN" altLang="en-US" sz="1600" dirty="0"/>
              <a:t>年</a:t>
            </a:r>
            <a:r>
              <a:rPr lang="en-US" altLang="zh-CN" sz="1600" dirty="0"/>
              <a:t>1</a:t>
            </a:r>
            <a:r>
              <a:rPr lang="zh-CN" altLang="en-US" sz="1600" dirty="0"/>
              <a:t>月</a:t>
            </a:r>
            <a:r>
              <a:rPr lang="en-US" altLang="zh-CN" sz="1600" dirty="0"/>
              <a:t>11</a:t>
            </a:r>
            <a:r>
              <a:rPr lang="zh-CN" altLang="en-US" sz="1600" dirty="0"/>
              <a:t>日 马克思的大女儿燕妮</a:t>
            </a:r>
            <a:r>
              <a:rPr lang="en-US" altLang="zh-CN" sz="1600" dirty="0"/>
              <a:t>·</a:t>
            </a:r>
            <a:r>
              <a:rPr lang="zh-CN" altLang="en-US" sz="1600" dirty="0"/>
              <a:t>龙格逝世</a:t>
            </a:r>
            <a:endParaRPr lang="en-US" altLang="zh-CN" sz="1600" dirty="0"/>
          </a:p>
          <a:p>
            <a:r>
              <a:rPr lang="en-US" altLang="zh-CN" sz="1600" dirty="0"/>
              <a:t>3</a:t>
            </a:r>
            <a:r>
              <a:rPr lang="zh-CN" altLang="en-US" sz="1600" dirty="0"/>
              <a:t>月</a:t>
            </a:r>
            <a:r>
              <a:rPr lang="en-US" altLang="zh-CN" sz="1600" dirty="0"/>
              <a:t>14</a:t>
            </a:r>
            <a:r>
              <a:rPr lang="zh-CN" altLang="en-US" sz="1600" dirty="0"/>
              <a:t>日 马克思在伦敦逝世。</a:t>
            </a:r>
          </a:p>
          <a:p>
            <a:r>
              <a:rPr lang="en-US" altLang="zh-CN" sz="1600" dirty="0"/>
              <a:t>3</a:t>
            </a:r>
            <a:r>
              <a:rPr lang="zh-CN" altLang="en-US" sz="1600" dirty="0"/>
              <a:t>月</a:t>
            </a:r>
            <a:r>
              <a:rPr lang="en-US" altLang="zh-CN" sz="1600" dirty="0"/>
              <a:t>17</a:t>
            </a:r>
            <a:r>
              <a:rPr lang="zh-CN" altLang="en-US" sz="1600" dirty="0"/>
              <a:t>日 马克思的葬仪在伦敦海格特公墓举行。恩格斯发表墓前讲话</a:t>
            </a:r>
          </a:p>
          <a:p>
            <a:endParaRPr lang="zh-CN" altLang="en-US" dirty="0"/>
          </a:p>
          <a:p>
            <a:endParaRPr lang="en-US" altLang="zh-CN" dirty="0"/>
          </a:p>
        </p:txBody>
      </p:sp>
      <p:sp>
        <p:nvSpPr>
          <p:cNvPr id="6" name="文本框 5"/>
          <p:cNvSpPr txBox="1"/>
          <p:nvPr/>
        </p:nvSpPr>
        <p:spPr>
          <a:xfrm>
            <a:off x="6594763" y="923635"/>
            <a:ext cx="5486400" cy="4154984"/>
          </a:xfrm>
          <a:prstGeom prst="rect">
            <a:avLst/>
          </a:prstGeom>
          <a:noFill/>
        </p:spPr>
        <p:txBody>
          <a:bodyPr wrap="square" rtlCol="0">
            <a:spAutoFit/>
          </a:bodyPr>
          <a:lstStyle/>
          <a:p>
            <a:r>
              <a:rPr lang="en-US" altLang="zh-CN" dirty="0">
                <a:solidFill>
                  <a:srgbClr val="7030A0"/>
                </a:solidFill>
              </a:rPr>
              <a:t>※</a:t>
            </a:r>
            <a:r>
              <a:rPr lang="zh-CN" altLang="en-US" dirty="0"/>
              <a:t>托马斯</a:t>
            </a:r>
            <a:r>
              <a:rPr lang="en-US" altLang="zh-CN" dirty="0"/>
              <a:t>·</a:t>
            </a:r>
            <a:r>
              <a:rPr lang="zh-CN" altLang="en-US" dirty="0"/>
              <a:t>皮凯蒂简历</a:t>
            </a:r>
            <a:endParaRPr lang="en-US" altLang="zh-CN" dirty="0"/>
          </a:p>
          <a:p>
            <a:endParaRPr lang="en-US" altLang="zh-CN" dirty="0"/>
          </a:p>
          <a:p>
            <a:r>
              <a:rPr lang="en-US" altLang="zh-CN" sz="1600" dirty="0"/>
              <a:t>1971</a:t>
            </a:r>
            <a:r>
              <a:rPr lang="zh-CN" altLang="en-US" sz="1600" dirty="0"/>
              <a:t>年</a:t>
            </a:r>
            <a:r>
              <a:rPr lang="en-US" altLang="zh-CN" sz="1600" dirty="0"/>
              <a:t>5</a:t>
            </a:r>
            <a:r>
              <a:rPr lang="zh-CN" altLang="en-US" sz="1600" dirty="0"/>
              <a:t>月</a:t>
            </a:r>
            <a:r>
              <a:rPr lang="en-US" altLang="zh-CN" sz="1600" dirty="0"/>
              <a:t>7</a:t>
            </a:r>
            <a:r>
              <a:rPr lang="zh-CN" altLang="en-US" sz="1600" dirty="0"/>
              <a:t>日 出生于法国巴黎郊区克利希</a:t>
            </a:r>
            <a:endParaRPr lang="en-US" altLang="zh-CN" sz="1600" dirty="0"/>
          </a:p>
          <a:p>
            <a:r>
              <a:rPr lang="en-US" altLang="zh-CN" sz="1600" dirty="0"/>
              <a:t>18</a:t>
            </a:r>
            <a:r>
              <a:rPr lang="zh-CN" altLang="en-US" sz="1600" dirty="0"/>
              <a:t>岁进入巴黎高师（</a:t>
            </a:r>
            <a:r>
              <a:rPr lang="en-US" altLang="zh-CN" sz="1600" dirty="0"/>
              <a:t>ENS</a:t>
            </a:r>
            <a:r>
              <a:rPr lang="zh-CN" altLang="en-US" sz="1600" dirty="0"/>
              <a:t>）学习经济和数学</a:t>
            </a:r>
            <a:endParaRPr lang="en-US" altLang="zh-CN" sz="1600" dirty="0"/>
          </a:p>
          <a:p>
            <a:r>
              <a:rPr lang="en-US" altLang="zh-CN" sz="1600" dirty="0"/>
              <a:t>22</a:t>
            </a:r>
            <a:r>
              <a:rPr lang="zh-CN" altLang="en-US" sz="1600" dirty="0"/>
              <a:t>岁获社会科学高等学院（</a:t>
            </a:r>
            <a:r>
              <a:rPr lang="en-US" altLang="zh-CN" sz="1600" dirty="0"/>
              <a:t>EHESS</a:t>
            </a:r>
            <a:r>
              <a:rPr lang="zh-CN" altLang="en-US" sz="1600" dirty="0"/>
              <a:t>）和伦敦政经（</a:t>
            </a:r>
            <a:r>
              <a:rPr lang="en-US" altLang="zh-CN" sz="1600" dirty="0"/>
              <a:t>LSE</a:t>
            </a:r>
            <a:r>
              <a:rPr lang="zh-CN" altLang="en-US" sz="1600" dirty="0"/>
              <a:t>）博士，获</a:t>
            </a:r>
            <a:r>
              <a:rPr lang="fr-FR" altLang="zh-CN" sz="1600" dirty="0"/>
              <a:t>1993</a:t>
            </a:r>
            <a:r>
              <a:rPr lang="zh-CN" altLang="en-US" sz="1600" dirty="0"/>
              <a:t>年全法最佳博士论文奖</a:t>
            </a:r>
            <a:endParaRPr lang="en-US" altLang="zh-CN" sz="1600" dirty="0"/>
          </a:p>
          <a:p>
            <a:r>
              <a:rPr lang="zh-CN" altLang="en-US" sz="1600" dirty="0"/>
              <a:t>博士毕业后直接任麻省理工（</a:t>
            </a:r>
            <a:r>
              <a:rPr lang="en-US" altLang="zh-CN" sz="1600" dirty="0"/>
              <a:t>MIT</a:t>
            </a:r>
            <a:r>
              <a:rPr lang="zh-CN" altLang="en-US" sz="1600" dirty="0"/>
              <a:t>）助理教授（</a:t>
            </a:r>
            <a:r>
              <a:rPr lang="en-US" altLang="zh-CN" sz="1600" dirty="0"/>
              <a:t>1993</a:t>
            </a:r>
            <a:r>
              <a:rPr lang="zh-CN" altLang="en-US" sz="1600" dirty="0"/>
              <a:t>年</a:t>
            </a:r>
            <a:r>
              <a:rPr lang="en-US" altLang="zh-CN" sz="1600" dirty="0"/>
              <a:t>22</a:t>
            </a:r>
            <a:r>
              <a:rPr lang="zh-CN" altLang="en-US" sz="1600" dirty="0"/>
              <a:t>岁）</a:t>
            </a:r>
            <a:endParaRPr lang="en-US" altLang="zh-CN" sz="1600" dirty="0"/>
          </a:p>
          <a:p>
            <a:r>
              <a:rPr lang="en-US" altLang="zh-CN" sz="1600" dirty="0"/>
              <a:t>1995</a:t>
            </a:r>
            <a:r>
              <a:rPr lang="zh-CN" altLang="en-US" sz="1600" dirty="0"/>
              <a:t>年回到法国国家科学中心</a:t>
            </a:r>
            <a:r>
              <a:rPr lang="en-US" altLang="zh-CN" sz="1600" dirty="0"/>
              <a:t>CNRS</a:t>
            </a:r>
            <a:r>
              <a:rPr lang="zh-CN" altLang="en-US" sz="1600" dirty="0"/>
              <a:t>，</a:t>
            </a:r>
            <a:r>
              <a:rPr lang="en-US" altLang="zh-CN" sz="1600" dirty="0"/>
              <a:t>Research Fellow </a:t>
            </a:r>
          </a:p>
          <a:p>
            <a:r>
              <a:rPr lang="en-US" altLang="zh-CN" sz="1600" dirty="0"/>
              <a:t>2000</a:t>
            </a:r>
            <a:r>
              <a:rPr lang="zh-CN" altLang="en-US" sz="1600" dirty="0"/>
              <a:t>年任</a:t>
            </a:r>
            <a:r>
              <a:rPr lang="en-US" altLang="zh-CN" sz="1600" dirty="0"/>
              <a:t>EHESS</a:t>
            </a:r>
            <a:r>
              <a:rPr lang="zh-CN" altLang="en-US" sz="1600" dirty="0"/>
              <a:t>教授（</a:t>
            </a:r>
            <a:r>
              <a:rPr lang="en-US" altLang="zh-CN" sz="1600" dirty="0"/>
              <a:t>29</a:t>
            </a:r>
            <a:r>
              <a:rPr lang="zh-CN" altLang="en-US" sz="1600" dirty="0"/>
              <a:t>岁）</a:t>
            </a:r>
            <a:endParaRPr lang="en-US" altLang="zh-CN" sz="1600" dirty="0"/>
          </a:p>
          <a:p>
            <a:r>
              <a:rPr lang="en-US" altLang="zh-CN" sz="1600" dirty="0"/>
              <a:t>2007</a:t>
            </a:r>
            <a:r>
              <a:rPr lang="zh-CN" altLang="en-US" sz="1600" dirty="0"/>
              <a:t>年创立巴黎经济学院</a:t>
            </a:r>
            <a:r>
              <a:rPr lang="en-US" altLang="zh-CN" sz="1600" dirty="0"/>
              <a:t>(Paris School of Economics),</a:t>
            </a:r>
            <a:r>
              <a:rPr lang="zh-CN" altLang="en-US" sz="1600" dirty="0"/>
              <a:t>任首任院长（</a:t>
            </a:r>
            <a:r>
              <a:rPr lang="en-US" altLang="zh-CN" sz="1600" dirty="0"/>
              <a:t>36</a:t>
            </a:r>
            <a:r>
              <a:rPr lang="zh-CN" altLang="en-US" sz="1600" dirty="0"/>
              <a:t>岁）），</a:t>
            </a:r>
            <a:r>
              <a:rPr lang="en-US" altLang="zh-CN" sz="1600" dirty="0"/>
              <a:t>PSE</a:t>
            </a:r>
            <a:r>
              <a:rPr lang="zh-CN" altLang="en-US" sz="1600" dirty="0"/>
              <a:t>由巴黎一大和巴黎高师合办，经济学学术排名全世界第</a:t>
            </a:r>
            <a:r>
              <a:rPr lang="en-US" altLang="zh-CN" sz="1600" dirty="0"/>
              <a:t>5</a:t>
            </a:r>
            <a:r>
              <a:rPr lang="zh-CN" altLang="en-US" sz="1600" dirty="0"/>
              <a:t>（</a:t>
            </a:r>
            <a:r>
              <a:rPr lang="en-US" altLang="zh-CN" sz="1600" dirty="0"/>
              <a:t> IDEAS 2020</a:t>
            </a:r>
            <a:r>
              <a:rPr lang="zh-CN" altLang="en-US" sz="1600" dirty="0"/>
              <a:t>年</a:t>
            </a:r>
            <a:r>
              <a:rPr lang="en-US" altLang="zh-CN" sz="1600" dirty="0"/>
              <a:t>9</a:t>
            </a:r>
            <a:r>
              <a:rPr lang="zh-CN" altLang="en-US" sz="1600" dirty="0"/>
              <a:t>月年排名）</a:t>
            </a:r>
            <a:endParaRPr lang="en-US" altLang="zh-CN" sz="1600" dirty="0"/>
          </a:p>
          <a:p>
            <a:r>
              <a:rPr lang="en-US" altLang="zh-CN" sz="1600" dirty="0"/>
              <a:t>2013</a:t>
            </a:r>
            <a:r>
              <a:rPr lang="zh-CN" altLang="en-US" sz="1600" dirty="0"/>
              <a:t>年（</a:t>
            </a:r>
            <a:r>
              <a:rPr lang="en-US" altLang="zh-CN" sz="1600" dirty="0"/>
              <a:t>42</a:t>
            </a:r>
            <a:r>
              <a:rPr lang="zh-CN" altLang="en-US" sz="1600" dirty="0"/>
              <a:t>岁）出版</a:t>
            </a:r>
            <a:r>
              <a:rPr lang="en-US" altLang="zh-CN" sz="1600" dirty="0"/>
              <a:t>《21</a:t>
            </a:r>
            <a:r>
              <a:rPr lang="zh-CN" altLang="en-US" sz="1600" dirty="0"/>
              <a:t>世纪资本论</a:t>
            </a:r>
            <a:r>
              <a:rPr lang="en-US" altLang="zh-CN" sz="1600" dirty="0"/>
              <a:t>》</a:t>
            </a:r>
            <a:r>
              <a:rPr lang="zh-CN" altLang="en-US" sz="1600" dirty="0"/>
              <a:t>，获欧洲经济学会</a:t>
            </a:r>
            <a:r>
              <a:rPr lang="en-US" altLang="zh-CN" sz="1600" dirty="0" err="1"/>
              <a:t>Yrjo-Jahnsson</a:t>
            </a:r>
            <a:r>
              <a:rPr lang="en-US" altLang="zh-CN" sz="1600" dirty="0"/>
              <a:t> </a:t>
            </a:r>
            <a:r>
              <a:rPr lang="zh-CN" altLang="en-US" sz="1600" dirty="0"/>
              <a:t>奖</a:t>
            </a:r>
            <a:endParaRPr lang="en-US" altLang="zh-CN" sz="1600" dirty="0"/>
          </a:p>
          <a:p>
            <a:r>
              <a:rPr lang="en-US" altLang="zh-CN" sz="1600" dirty="0"/>
              <a:t>IDEAS</a:t>
            </a:r>
            <a:r>
              <a:rPr lang="zh-CN" altLang="en-US" sz="1600" dirty="0"/>
              <a:t>全世界经济学家学术排名第</a:t>
            </a:r>
            <a:r>
              <a:rPr lang="en-US" altLang="zh-CN" sz="1600" dirty="0"/>
              <a:t>20,</a:t>
            </a:r>
            <a:r>
              <a:rPr lang="zh-CN" altLang="en-US" sz="1600" dirty="0"/>
              <a:t>（</a:t>
            </a:r>
            <a:r>
              <a:rPr lang="en-US" altLang="zh-CN" sz="1600" dirty="0"/>
              <a:t>59326 </a:t>
            </a:r>
            <a:r>
              <a:rPr lang="zh-CN" altLang="en-US" sz="1600" dirty="0"/>
              <a:t>名注册经济学家，近十年发表记录，</a:t>
            </a:r>
            <a:r>
              <a:rPr lang="en-US" altLang="zh-CN" sz="1600" dirty="0"/>
              <a:t>2020</a:t>
            </a:r>
            <a:r>
              <a:rPr lang="zh-CN" altLang="en-US" sz="1600" dirty="0"/>
              <a:t>年</a:t>
            </a:r>
            <a:r>
              <a:rPr lang="en-US" altLang="zh-CN" sz="1600" dirty="0"/>
              <a:t>9</a:t>
            </a:r>
            <a:r>
              <a:rPr lang="zh-CN" altLang="en-US" sz="1600" dirty="0"/>
              <a:t>月数据）</a:t>
            </a:r>
            <a:endParaRPr lang="en-US" altLang="zh-CN" sz="1600" dirty="0"/>
          </a:p>
        </p:txBody>
      </p:sp>
      <p:pic>
        <p:nvPicPr>
          <p:cNvPr id="4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020340" y="150702"/>
            <a:ext cx="976259" cy="12826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 name="图片 6"/>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999451" y="177159"/>
            <a:ext cx="983346" cy="1256145"/>
          </a:xfrm>
          <a:prstGeom prst="rect">
            <a:avLst/>
          </a:prstGeom>
        </p:spPr>
      </p:pic>
    </p:spTree>
    <p:extLst>
      <p:ext uri="{BB962C8B-B14F-4D97-AF65-F5344CB8AC3E}">
        <p14:creationId xmlns:p14="http://schemas.microsoft.com/office/powerpoint/2010/main" val="1308183108"/>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952E7725-3096-4969-8619-BFD45072AD94}"/>
              </a:ext>
            </a:extLst>
          </p:cNvPr>
          <p:cNvSpPr txBox="1"/>
          <p:nvPr/>
        </p:nvSpPr>
        <p:spPr>
          <a:xfrm>
            <a:off x="534498" y="304741"/>
            <a:ext cx="2624338" cy="400110"/>
          </a:xfrm>
          <a:prstGeom prst="rect">
            <a:avLst/>
          </a:prstGeom>
          <a:solidFill>
            <a:srgbClr val="7F2C8B"/>
          </a:solidFill>
        </p:spPr>
        <p:txBody>
          <a:bodyPr wrap="square" rtlCol="0">
            <a:spAutoFit/>
          </a:bodyPr>
          <a:lstStyle/>
          <a:p>
            <a:pPr lvl="0" defTabSz="914377">
              <a:defRPr/>
            </a:pPr>
            <a:r>
              <a:rPr lang="zh-CN" altLang="en-US" sz="2000" dirty="0">
                <a:solidFill>
                  <a:schemeClr val="bg1"/>
                </a:solidFill>
                <a:latin typeface="微软雅黑 Light" panose="020B0502040204020203" pitchFamily="34" charset="-122"/>
                <a:ea typeface="微软雅黑 Light" panose="020B0502040204020203" pitchFamily="34" charset="-122"/>
              </a:rPr>
              <a:t>资本的积累</a:t>
            </a:r>
            <a:r>
              <a:rPr lang="en-US" altLang="zh-CN" sz="2000" dirty="0">
                <a:solidFill>
                  <a:schemeClr val="bg1"/>
                </a:solidFill>
                <a:latin typeface="微软雅黑 Light" panose="020B0502040204020203" pitchFamily="34" charset="-122"/>
                <a:ea typeface="微软雅黑 Light" panose="020B0502040204020203" pitchFamily="34" charset="-122"/>
              </a:rPr>
              <a:t>-</a:t>
            </a:r>
            <a:r>
              <a:rPr lang="zh-CN" altLang="en-US" sz="2000" dirty="0">
                <a:solidFill>
                  <a:schemeClr val="bg1"/>
                </a:solidFill>
                <a:latin typeface="微软雅黑 Light" panose="020B0502040204020203" pitchFamily="34" charset="-122"/>
                <a:ea typeface="微软雅黑 Light" panose="020B0502040204020203" pitchFamily="34" charset="-122"/>
              </a:rPr>
              <a:t>一般概念</a:t>
            </a:r>
          </a:p>
        </p:txBody>
      </p:sp>
      <p:grpSp>
        <p:nvGrpSpPr>
          <p:cNvPr id="22" name="组合 21">
            <a:extLst>
              <a:ext uri="{FF2B5EF4-FFF2-40B4-BE49-F238E27FC236}">
                <a16:creationId xmlns:a16="http://schemas.microsoft.com/office/drawing/2014/main" id="{DFC37A35-D357-4CEE-9C28-5EABD3D35C6B}"/>
              </a:ext>
            </a:extLst>
          </p:cNvPr>
          <p:cNvGrpSpPr/>
          <p:nvPr/>
        </p:nvGrpSpPr>
        <p:grpSpPr>
          <a:xfrm>
            <a:off x="10735556" y="314266"/>
            <a:ext cx="1180589" cy="400111"/>
            <a:chOff x="624303" y="901700"/>
            <a:chExt cx="10005598" cy="3390977"/>
          </a:xfrm>
          <a:solidFill>
            <a:srgbClr val="7F2C8B"/>
          </a:solidFill>
        </p:grpSpPr>
        <p:sp>
          <p:nvSpPr>
            <p:cNvPr id="23" name="Freeform 5">
              <a:extLst>
                <a:ext uri="{FF2B5EF4-FFF2-40B4-BE49-F238E27FC236}">
                  <a16:creationId xmlns:a16="http://schemas.microsoft.com/office/drawing/2014/main" id="{0ACD2635-3EA4-461E-AE91-2E7358FA9FA0}"/>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4" name="Freeform 6">
              <a:extLst>
                <a:ext uri="{FF2B5EF4-FFF2-40B4-BE49-F238E27FC236}">
                  <a16:creationId xmlns:a16="http://schemas.microsoft.com/office/drawing/2014/main" id="{70354051-F1E2-4393-ABA2-AEB53FF0D08B}"/>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5" name="Freeform 7">
              <a:extLst>
                <a:ext uri="{FF2B5EF4-FFF2-40B4-BE49-F238E27FC236}">
                  <a16:creationId xmlns:a16="http://schemas.microsoft.com/office/drawing/2014/main" id="{5FFB1BFD-2D76-4EE4-9741-31F528BE757A}"/>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6" name="Freeform 8">
              <a:extLst>
                <a:ext uri="{FF2B5EF4-FFF2-40B4-BE49-F238E27FC236}">
                  <a16:creationId xmlns:a16="http://schemas.microsoft.com/office/drawing/2014/main" id="{1EFFAA81-03B5-4C66-939C-6BBDC7932C18}"/>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7" name="Freeform 9">
              <a:extLst>
                <a:ext uri="{FF2B5EF4-FFF2-40B4-BE49-F238E27FC236}">
                  <a16:creationId xmlns:a16="http://schemas.microsoft.com/office/drawing/2014/main" id="{35B0FA74-D77A-4B32-A41D-5E20B596D219}"/>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8" name="Freeform 10">
              <a:extLst>
                <a:ext uri="{FF2B5EF4-FFF2-40B4-BE49-F238E27FC236}">
                  <a16:creationId xmlns:a16="http://schemas.microsoft.com/office/drawing/2014/main" id="{F5FC7059-5FB3-4ADB-BA26-84EF705B3174}"/>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9" name="Freeform 11">
              <a:extLst>
                <a:ext uri="{FF2B5EF4-FFF2-40B4-BE49-F238E27FC236}">
                  <a16:creationId xmlns:a16="http://schemas.microsoft.com/office/drawing/2014/main" id="{937241A3-85EE-47AC-8B4A-B01E8B1B0812}"/>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0" name="Freeform 12">
              <a:extLst>
                <a:ext uri="{FF2B5EF4-FFF2-40B4-BE49-F238E27FC236}">
                  <a16:creationId xmlns:a16="http://schemas.microsoft.com/office/drawing/2014/main" id="{99EA3DC5-4FB4-48DC-9AA6-2E2F76C34725}"/>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1" name="Freeform 13">
              <a:extLst>
                <a:ext uri="{FF2B5EF4-FFF2-40B4-BE49-F238E27FC236}">
                  <a16:creationId xmlns:a16="http://schemas.microsoft.com/office/drawing/2014/main" id="{F7187B32-A15A-480D-849D-33EF28B75687}"/>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2" name="Freeform 14">
              <a:extLst>
                <a:ext uri="{FF2B5EF4-FFF2-40B4-BE49-F238E27FC236}">
                  <a16:creationId xmlns:a16="http://schemas.microsoft.com/office/drawing/2014/main" id="{AA5721AD-3E61-4D99-A2D8-A261E897EBAC}"/>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3" name="Freeform 15">
              <a:extLst>
                <a:ext uri="{FF2B5EF4-FFF2-40B4-BE49-F238E27FC236}">
                  <a16:creationId xmlns:a16="http://schemas.microsoft.com/office/drawing/2014/main" id="{EF703E7A-053E-4111-945E-2E43B9CC9ECE}"/>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4" name="Freeform 16">
              <a:extLst>
                <a:ext uri="{FF2B5EF4-FFF2-40B4-BE49-F238E27FC236}">
                  <a16:creationId xmlns:a16="http://schemas.microsoft.com/office/drawing/2014/main" id="{01BF6BE1-5CCD-4A5F-8AFA-EF1359F1D3F2}"/>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5" name="Freeform 17">
              <a:extLst>
                <a:ext uri="{FF2B5EF4-FFF2-40B4-BE49-F238E27FC236}">
                  <a16:creationId xmlns:a16="http://schemas.microsoft.com/office/drawing/2014/main" id="{295417E9-A0A1-4465-9436-76253B18BAD3}"/>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18">
              <a:extLst>
                <a:ext uri="{FF2B5EF4-FFF2-40B4-BE49-F238E27FC236}">
                  <a16:creationId xmlns:a16="http://schemas.microsoft.com/office/drawing/2014/main" id="{009C6FB2-A1BB-4F44-87AF-D874D67D737B}"/>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19">
              <a:extLst>
                <a:ext uri="{FF2B5EF4-FFF2-40B4-BE49-F238E27FC236}">
                  <a16:creationId xmlns:a16="http://schemas.microsoft.com/office/drawing/2014/main" id="{65203D5E-987A-4E4E-B0C9-FAC54EDFF054}"/>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20">
              <a:extLst>
                <a:ext uri="{FF2B5EF4-FFF2-40B4-BE49-F238E27FC236}">
                  <a16:creationId xmlns:a16="http://schemas.microsoft.com/office/drawing/2014/main" id="{F0367FE4-2904-433D-8E0F-42933CAA638D}"/>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21">
              <a:extLst>
                <a:ext uri="{FF2B5EF4-FFF2-40B4-BE49-F238E27FC236}">
                  <a16:creationId xmlns:a16="http://schemas.microsoft.com/office/drawing/2014/main" id="{7A0A948A-A7D6-4278-97BF-F101BFD0B366}"/>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22">
              <a:extLst>
                <a:ext uri="{FF2B5EF4-FFF2-40B4-BE49-F238E27FC236}">
                  <a16:creationId xmlns:a16="http://schemas.microsoft.com/office/drawing/2014/main" id="{DC614584-067F-48D2-931A-6CE53105F005}"/>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23">
              <a:extLst>
                <a:ext uri="{FF2B5EF4-FFF2-40B4-BE49-F238E27FC236}">
                  <a16:creationId xmlns:a16="http://schemas.microsoft.com/office/drawing/2014/main" id="{244320B8-5691-4A92-B2D2-5BCE1D98EA00}"/>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24">
              <a:extLst>
                <a:ext uri="{FF2B5EF4-FFF2-40B4-BE49-F238E27FC236}">
                  <a16:creationId xmlns:a16="http://schemas.microsoft.com/office/drawing/2014/main" id="{EF78F9E3-1F79-4E42-AAC8-E4DB818FEE8B}"/>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p:sp>
        <p:nvSpPr>
          <p:cNvPr id="2" name="文本框 1"/>
          <p:cNvSpPr txBox="1"/>
          <p:nvPr/>
        </p:nvSpPr>
        <p:spPr>
          <a:xfrm>
            <a:off x="534498" y="923636"/>
            <a:ext cx="5820120" cy="5624946"/>
          </a:xfrm>
          <a:prstGeom prst="rect">
            <a:avLst/>
          </a:prstGeom>
          <a:noFill/>
        </p:spPr>
        <p:txBody>
          <a:bodyPr wrap="square" rtlCol="0">
            <a:spAutoFit/>
          </a:bodyPr>
          <a:lstStyle/>
          <a:p>
            <a:endParaRPr lang="zh-CN" altLang="en-US" dirty="0"/>
          </a:p>
        </p:txBody>
      </p:sp>
      <mc:AlternateContent xmlns:mc="http://schemas.openxmlformats.org/markup-compatibility/2006" xmlns:a14="http://schemas.microsoft.com/office/drawing/2010/main">
        <mc:Choice Requires="a14">
          <p:sp>
            <p:nvSpPr>
              <p:cNvPr id="3" name="文本框 2"/>
              <p:cNvSpPr txBox="1"/>
              <p:nvPr/>
            </p:nvSpPr>
            <p:spPr>
              <a:xfrm>
                <a:off x="476491" y="803158"/>
                <a:ext cx="6937721" cy="5865901"/>
              </a:xfrm>
              <a:prstGeom prst="rect">
                <a:avLst/>
              </a:prstGeom>
              <a:noFill/>
            </p:spPr>
            <p:txBody>
              <a:bodyPr wrap="square" rtlCol="0">
                <a:spAutoFit/>
              </a:bodyPr>
              <a:lstStyle/>
              <a:p>
                <a:r>
                  <a:rPr lang="zh-CN" altLang="en-US" sz="2100" dirty="0">
                    <a:solidFill>
                      <a:srgbClr val="7030A0"/>
                    </a:solidFill>
                  </a:rPr>
                  <a:t>资本的概念</a:t>
                </a:r>
                <a:endParaRPr lang="en-US" altLang="zh-CN" sz="2100" dirty="0">
                  <a:solidFill>
                    <a:srgbClr val="7030A0"/>
                  </a:solidFill>
                </a:endParaRPr>
              </a:p>
              <a:p>
                <a:r>
                  <a:rPr lang="en-US" altLang="zh-CN" sz="2100" dirty="0">
                    <a:solidFill>
                      <a:srgbClr val="7030A0"/>
                    </a:solidFill>
                  </a:rPr>
                  <a:t>※</a:t>
                </a:r>
                <a:r>
                  <a:rPr lang="en-US" altLang="zh-CN" sz="2100" dirty="0"/>
                  <a:t>《21</a:t>
                </a:r>
                <a:r>
                  <a:rPr lang="zh-CN" altLang="en-US" sz="2100" dirty="0"/>
                  <a:t>世纪资本论</a:t>
                </a:r>
                <a:r>
                  <a:rPr lang="en-US" altLang="zh-CN" sz="2100" dirty="0"/>
                  <a:t>》</a:t>
                </a:r>
                <a:r>
                  <a:rPr lang="zh-CN" altLang="en-US" sz="2100" dirty="0"/>
                  <a:t>对资本的分类：农业用地、住宅、国外净资产和其他资本。</a:t>
                </a:r>
                <a:endParaRPr lang="en-US" altLang="zh-CN" sz="2100" dirty="0"/>
              </a:p>
              <a:p>
                <a:endParaRPr lang="en-US" altLang="zh-CN" sz="2100" dirty="0"/>
              </a:p>
              <a:p>
                <a:r>
                  <a:rPr lang="en-US" altLang="zh-CN" sz="2100" dirty="0">
                    <a:solidFill>
                      <a:srgbClr val="7030A0"/>
                    </a:solidFill>
                  </a:rPr>
                  <a:t>※</a:t>
                </a:r>
                <a:r>
                  <a:rPr lang="zh-CN" altLang="en-US" sz="2100" dirty="0"/>
                  <a:t>马克思对资本的定义：</a:t>
                </a:r>
                <a:r>
                  <a:rPr lang="zh-CN" altLang="en-US" sz="2100" b="1" dirty="0"/>
                  <a:t>“资本不是物，而是一定的，社会的，属于一定历史社会形态的生产关系，并赋予这个物以独特的社会性质。”</a:t>
                </a:r>
                <a:endParaRPr lang="en-US" altLang="zh-CN" sz="2100" b="1" dirty="0"/>
              </a:p>
              <a:p>
                <a:endParaRPr lang="en-US" altLang="zh-CN" sz="2100" b="1" dirty="0"/>
              </a:p>
              <a:p>
                <a:r>
                  <a:rPr lang="en-US" altLang="zh-CN" sz="2100" dirty="0">
                    <a:solidFill>
                      <a:srgbClr val="7030A0"/>
                    </a:solidFill>
                  </a:rPr>
                  <a:t>※</a:t>
                </a:r>
                <a:r>
                  <a:rPr lang="zh-CN" altLang="en-US" sz="2100" dirty="0"/>
                  <a:t>马克思主义的观点：资本是可以带来剩余价值的价值</a:t>
                </a:r>
                <a:endParaRPr lang="en-US" altLang="zh-CN" sz="2100" dirty="0"/>
              </a:p>
              <a:p>
                <a:endParaRPr lang="en-US" altLang="zh-CN" sz="2100" dirty="0"/>
              </a:p>
              <a:p>
                <a:r>
                  <a:rPr lang="en-US" altLang="zh-CN" sz="2100" dirty="0">
                    <a:solidFill>
                      <a:srgbClr val="7030A0"/>
                    </a:solidFill>
                  </a:rPr>
                  <a:t>※</a:t>
                </a:r>
                <a:r>
                  <a:rPr lang="zh-CN" altLang="en-US" sz="2100" dirty="0"/>
                  <a:t>皮凯蒂的观点：资本</a:t>
                </a:r>
                <a:r>
                  <a:rPr lang="en-US" altLang="zh-CN" sz="2100" dirty="0"/>
                  <a:t>=</a:t>
                </a:r>
                <a:r>
                  <a:rPr lang="zh-CN" altLang="en-US" sz="2100" dirty="0"/>
                  <a:t>财富</a:t>
                </a:r>
                <a:endParaRPr lang="en-US" altLang="zh-CN" sz="2100" dirty="0"/>
              </a:p>
              <a:p>
                <a:endParaRPr lang="en-US" altLang="zh-CN" sz="2100" dirty="0"/>
              </a:p>
              <a:p>
                <a:r>
                  <a:rPr lang="zh-CN" altLang="en-US" sz="2100" dirty="0">
                    <a:solidFill>
                      <a:srgbClr val="7F2C8B"/>
                    </a:solidFill>
                  </a:rPr>
                  <a:t>资本收入比的概念</a:t>
                </a:r>
                <a:endParaRPr lang="en-US" altLang="zh-CN" sz="2100" dirty="0">
                  <a:solidFill>
                    <a:srgbClr val="7F2C8B"/>
                  </a:solidFill>
                </a:endParaRPr>
              </a:p>
              <a:p>
                <a:r>
                  <a:rPr lang="zh-CN" altLang="en-US" sz="2100" dirty="0"/>
                  <a:t>资本的过度积累是一个相对概念，必须有一个参照物，最好的参照物就是国民收入。</a:t>
                </a:r>
                <a:endParaRPr lang="en-US" altLang="zh-CN" sz="2100" dirty="0"/>
              </a:p>
              <a:p>
                <a:pPr/>
                <a14:m>
                  <m:oMathPara xmlns:m="http://schemas.openxmlformats.org/officeDocument/2006/math">
                    <m:oMathParaPr>
                      <m:jc m:val="centerGroup"/>
                    </m:oMathParaPr>
                    <m:oMath xmlns:m="http://schemas.openxmlformats.org/officeDocument/2006/math">
                      <m:r>
                        <a:rPr lang="zh-CN" altLang="en-US" sz="2100" i="1" smtClean="0">
                          <a:latin typeface="Cambria Math" panose="02040503050406030204" pitchFamily="18" charset="0"/>
                        </a:rPr>
                        <m:t>𝛽</m:t>
                      </m:r>
                      <m:r>
                        <a:rPr lang="en-US" altLang="zh-CN" sz="2100" i="1">
                          <a:latin typeface="Cambria Math" panose="02040503050406030204" pitchFamily="18" charset="0"/>
                        </a:rPr>
                        <m:t>=</m:t>
                      </m:r>
                      <m:f>
                        <m:fPr>
                          <m:ctrlPr>
                            <a:rPr lang="en-US" altLang="zh-CN" sz="2100" i="1" smtClean="0">
                              <a:latin typeface="Cambria Math" panose="02040503050406030204" pitchFamily="18" charset="0"/>
                            </a:rPr>
                          </m:ctrlPr>
                        </m:fPr>
                        <m:num>
                          <m:r>
                            <a:rPr lang="en-US" altLang="zh-CN" sz="2100" b="0" i="1" smtClean="0">
                              <a:latin typeface="Cambria Math" panose="02040503050406030204" pitchFamily="18" charset="0"/>
                            </a:rPr>
                            <m:t>𝐾</m:t>
                          </m:r>
                        </m:num>
                        <m:den>
                          <m:r>
                            <a:rPr lang="en-US" altLang="zh-CN" sz="2100" b="0" i="1" smtClean="0">
                              <a:latin typeface="Cambria Math" panose="02040503050406030204" pitchFamily="18" charset="0"/>
                            </a:rPr>
                            <m:t>𝑌</m:t>
                          </m:r>
                        </m:den>
                      </m:f>
                    </m:oMath>
                  </m:oMathPara>
                </a14:m>
                <a:endParaRPr lang="en-US" altLang="zh-CN" sz="2100" dirty="0"/>
              </a:p>
              <a:p>
                <a:r>
                  <a:rPr lang="en-US" altLang="zh-CN" sz="2100" dirty="0"/>
                  <a:t>Kaldor</a:t>
                </a:r>
                <a:r>
                  <a:rPr lang="zh-CN" altLang="en-US" sz="2100" dirty="0"/>
                  <a:t>（</a:t>
                </a:r>
                <a:r>
                  <a:rPr lang="en-US" altLang="zh-CN" sz="2100" dirty="0"/>
                  <a:t>1957</a:t>
                </a:r>
                <a:r>
                  <a:rPr lang="zh-CN" altLang="en-US" sz="2100" dirty="0"/>
                  <a:t>）</a:t>
                </a:r>
                <a:r>
                  <a:rPr lang="en-US" altLang="zh-CN" sz="2100" dirty="0"/>
                  <a:t>” stylized facts”: </a:t>
                </a:r>
                <a:r>
                  <a:rPr lang="zh-CN" altLang="en-US" sz="2100" dirty="0"/>
                  <a:t>资本收入比长期不变</a:t>
                </a:r>
                <a:endParaRPr lang="en-US" altLang="zh-CN" sz="2100" dirty="0"/>
              </a:p>
            </p:txBody>
          </p:sp>
        </mc:Choice>
        <mc:Fallback xmlns="">
          <p:sp>
            <p:nvSpPr>
              <p:cNvPr id="3" name="文本框 2"/>
              <p:cNvSpPr txBox="1">
                <a:spLocks noRot="1" noChangeAspect="1" noMove="1" noResize="1" noEditPoints="1" noAdjustHandles="1" noChangeArrowheads="1" noChangeShapeType="1" noTextEdit="1"/>
              </p:cNvSpPr>
              <p:nvPr/>
            </p:nvSpPr>
            <p:spPr>
              <a:xfrm>
                <a:off x="476491" y="803158"/>
                <a:ext cx="6937721" cy="5865901"/>
              </a:xfrm>
              <a:prstGeom prst="rect">
                <a:avLst/>
              </a:prstGeom>
              <a:blipFill>
                <a:blip r:embed="rId3"/>
                <a:stretch>
                  <a:fillRect l="-1054" t="-624" r="-88" b="-1040"/>
                </a:stretch>
              </a:blipFill>
            </p:spPr>
            <p:txBody>
              <a:bodyPr/>
              <a:lstStyle/>
              <a:p>
                <a:r>
                  <a:rPr lang="zh-CN" altLang="en-US">
                    <a:noFill/>
                  </a:rPr>
                  <a:t> </a:t>
                </a:r>
              </a:p>
            </p:txBody>
          </p:sp>
        </mc:Fallback>
      </mc:AlternateContent>
      <p:pic>
        <p:nvPicPr>
          <p:cNvPr id="11" name="图片 10"/>
          <p:cNvPicPr>
            <a:picLocks noChangeAspect="1"/>
          </p:cNvPicPr>
          <p:nvPr/>
        </p:nvPicPr>
        <p:blipFill>
          <a:blip r:embed="rId4"/>
          <a:stretch>
            <a:fillRect/>
          </a:stretch>
        </p:blipFill>
        <p:spPr>
          <a:xfrm>
            <a:off x="7583054" y="828082"/>
            <a:ext cx="3999499" cy="2616025"/>
          </a:xfrm>
          <a:prstGeom prst="rect">
            <a:avLst/>
          </a:prstGeom>
        </p:spPr>
      </p:pic>
      <p:pic>
        <p:nvPicPr>
          <p:cNvPr id="13" name="图片 12"/>
          <p:cNvPicPr>
            <a:picLocks noChangeAspect="1"/>
          </p:cNvPicPr>
          <p:nvPr/>
        </p:nvPicPr>
        <p:blipFill>
          <a:blip r:embed="rId5"/>
          <a:stretch>
            <a:fillRect/>
          </a:stretch>
        </p:blipFill>
        <p:spPr>
          <a:xfrm>
            <a:off x="7587263" y="3736109"/>
            <a:ext cx="4128246" cy="2651475"/>
          </a:xfrm>
          <a:prstGeom prst="rect">
            <a:avLst/>
          </a:prstGeom>
        </p:spPr>
      </p:pic>
    </p:spTree>
    <p:extLst>
      <p:ext uri="{BB962C8B-B14F-4D97-AF65-F5344CB8AC3E}">
        <p14:creationId xmlns:p14="http://schemas.microsoft.com/office/powerpoint/2010/main" val="1088135535"/>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952E7725-3096-4969-8619-BFD45072AD94}"/>
              </a:ext>
            </a:extLst>
          </p:cNvPr>
          <p:cNvSpPr txBox="1"/>
          <p:nvPr/>
        </p:nvSpPr>
        <p:spPr>
          <a:xfrm>
            <a:off x="534498" y="304741"/>
            <a:ext cx="2892193" cy="400110"/>
          </a:xfrm>
          <a:prstGeom prst="rect">
            <a:avLst/>
          </a:prstGeom>
          <a:solidFill>
            <a:srgbClr val="7F2C8B"/>
          </a:solidFill>
        </p:spPr>
        <p:txBody>
          <a:bodyPr wrap="square" rtlCol="0">
            <a:spAutoFit/>
          </a:bodyPr>
          <a:lstStyle/>
          <a:p>
            <a:pPr lvl="0" defTabSz="914377">
              <a:defRPr/>
            </a:pPr>
            <a:r>
              <a:rPr lang="zh-CN" altLang="en-US" sz="2000" dirty="0">
                <a:solidFill>
                  <a:schemeClr val="bg1"/>
                </a:solidFill>
                <a:latin typeface="微软雅黑 Light" panose="020B0502040204020203" pitchFamily="34" charset="-122"/>
                <a:ea typeface="微软雅黑 Light" panose="020B0502040204020203" pitchFamily="34" charset="-122"/>
              </a:rPr>
              <a:t>资本积累</a:t>
            </a:r>
            <a:r>
              <a:rPr lang="en-US" altLang="zh-CN" sz="2000" dirty="0">
                <a:solidFill>
                  <a:schemeClr val="bg1"/>
                </a:solidFill>
                <a:latin typeface="微软雅黑 Light" panose="020B0502040204020203" pitchFamily="34" charset="-122"/>
                <a:ea typeface="微软雅黑 Light" panose="020B0502040204020203" pitchFamily="34" charset="-122"/>
              </a:rPr>
              <a:t>-</a:t>
            </a:r>
            <a:r>
              <a:rPr lang="zh-CN" altLang="en-US" sz="2000" dirty="0">
                <a:solidFill>
                  <a:schemeClr val="bg1"/>
                </a:solidFill>
                <a:latin typeface="微软雅黑 Light" panose="020B0502040204020203" pitchFamily="34" charset="-122"/>
                <a:ea typeface="微软雅黑 Light" panose="020B0502040204020203" pitchFamily="34" charset="-122"/>
              </a:rPr>
              <a:t>发达国家情况</a:t>
            </a:r>
          </a:p>
        </p:txBody>
      </p:sp>
      <p:grpSp>
        <p:nvGrpSpPr>
          <p:cNvPr id="22" name="组合 21">
            <a:extLst>
              <a:ext uri="{FF2B5EF4-FFF2-40B4-BE49-F238E27FC236}">
                <a16:creationId xmlns:a16="http://schemas.microsoft.com/office/drawing/2014/main" id="{DFC37A35-D357-4CEE-9C28-5EABD3D35C6B}"/>
              </a:ext>
            </a:extLst>
          </p:cNvPr>
          <p:cNvGrpSpPr/>
          <p:nvPr/>
        </p:nvGrpSpPr>
        <p:grpSpPr>
          <a:xfrm>
            <a:off x="10735556" y="314266"/>
            <a:ext cx="1180589" cy="400111"/>
            <a:chOff x="624303" y="901700"/>
            <a:chExt cx="10005598" cy="3390977"/>
          </a:xfrm>
          <a:solidFill>
            <a:srgbClr val="7F2C8B"/>
          </a:solidFill>
        </p:grpSpPr>
        <p:sp>
          <p:nvSpPr>
            <p:cNvPr id="23" name="Freeform 5">
              <a:extLst>
                <a:ext uri="{FF2B5EF4-FFF2-40B4-BE49-F238E27FC236}">
                  <a16:creationId xmlns:a16="http://schemas.microsoft.com/office/drawing/2014/main" id="{0ACD2635-3EA4-461E-AE91-2E7358FA9FA0}"/>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4" name="Freeform 6">
              <a:extLst>
                <a:ext uri="{FF2B5EF4-FFF2-40B4-BE49-F238E27FC236}">
                  <a16:creationId xmlns:a16="http://schemas.microsoft.com/office/drawing/2014/main" id="{70354051-F1E2-4393-ABA2-AEB53FF0D08B}"/>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5" name="Freeform 7">
              <a:extLst>
                <a:ext uri="{FF2B5EF4-FFF2-40B4-BE49-F238E27FC236}">
                  <a16:creationId xmlns:a16="http://schemas.microsoft.com/office/drawing/2014/main" id="{5FFB1BFD-2D76-4EE4-9741-31F528BE757A}"/>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6" name="Freeform 8">
              <a:extLst>
                <a:ext uri="{FF2B5EF4-FFF2-40B4-BE49-F238E27FC236}">
                  <a16:creationId xmlns:a16="http://schemas.microsoft.com/office/drawing/2014/main" id="{1EFFAA81-03B5-4C66-939C-6BBDC7932C18}"/>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7" name="Freeform 9">
              <a:extLst>
                <a:ext uri="{FF2B5EF4-FFF2-40B4-BE49-F238E27FC236}">
                  <a16:creationId xmlns:a16="http://schemas.microsoft.com/office/drawing/2014/main" id="{35B0FA74-D77A-4B32-A41D-5E20B596D219}"/>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8" name="Freeform 10">
              <a:extLst>
                <a:ext uri="{FF2B5EF4-FFF2-40B4-BE49-F238E27FC236}">
                  <a16:creationId xmlns:a16="http://schemas.microsoft.com/office/drawing/2014/main" id="{F5FC7059-5FB3-4ADB-BA26-84EF705B3174}"/>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9" name="Freeform 11">
              <a:extLst>
                <a:ext uri="{FF2B5EF4-FFF2-40B4-BE49-F238E27FC236}">
                  <a16:creationId xmlns:a16="http://schemas.microsoft.com/office/drawing/2014/main" id="{937241A3-85EE-47AC-8B4A-B01E8B1B0812}"/>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0" name="Freeform 12">
              <a:extLst>
                <a:ext uri="{FF2B5EF4-FFF2-40B4-BE49-F238E27FC236}">
                  <a16:creationId xmlns:a16="http://schemas.microsoft.com/office/drawing/2014/main" id="{99EA3DC5-4FB4-48DC-9AA6-2E2F76C34725}"/>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1" name="Freeform 13">
              <a:extLst>
                <a:ext uri="{FF2B5EF4-FFF2-40B4-BE49-F238E27FC236}">
                  <a16:creationId xmlns:a16="http://schemas.microsoft.com/office/drawing/2014/main" id="{F7187B32-A15A-480D-849D-33EF28B75687}"/>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2" name="Freeform 14">
              <a:extLst>
                <a:ext uri="{FF2B5EF4-FFF2-40B4-BE49-F238E27FC236}">
                  <a16:creationId xmlns:a16="http://schemas.microsoft.com/office/drawing/2014/main" id="{AA5721AD-3E61-4D99-A2D8-A261E897EBAC}"/>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3" name="Freeform 15">
              <a:extLst>
                <a:ext uri="{FF2B5EF4-FFF2-40B4-BE49-F238E27FC236}">
                  <a16:creationId xmlns:a16="http://schemas.microsoft.com/office/drawing/2014/main" id="{EF703E7A-053E-4111-945E-2E43B9CC9ECE}"/>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4" name="Freeform 16">
              <a:extLst>
                <a:ext uri="{FF2B5EF4-FFF2-40B4-BE49-F238E27FC236}">
                  <a16:creationId xmlns:a16="http://schemas.microsoft.com/office/drawing/2014/main" id="{01BF6BE1-5CCD-4A5F-8AFA-EF1359F1D3F2}"/>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5" name="Freeform 17">
              <a:extLst>
                <a:ext uri="{FF2B5EF4-FFF2-40B4-BE49-F238E27FC236}">
                  <a16:creationId xmlns:a16="http://schemas.microsoft.com/office/drawing/2014/main" id="{295417E9-A0A1-4465-9436-76253B18BAD3}"/>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18">
              <a:extLst>
                <a:ext uri="{FF2B5EF4-FFF2-40B4-BE49-F238E27FC236}">
                  <a16:creationId xmlns:a16="http://schemas.microsoft.com/office/drawing/2014/main" id="{009C6FB2-A1BB-4F44-87AF-D874D67D737B}"/>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19">
              <a:extLst>
                <a:ext uri="{FF2B5EF4-FFF2-40B4-BE49-F238E27FC236}">
                  <a16:creationId xmlns:a16="http://schemas.microsoft.com/office/drawing/2014/main" id="{65203D5E-987A-4E4E-B0C9-FAC54EDFF054}"/>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20">
              <a:extLst>
                <a:ext uri="{FF2B5EF4-FFF2-40B4-BE49-F238E27FC236}">
                  <a16:creationId xmlns:a16="http://schemas.microsoft.com/office/drawing/2014/main" id="{F0367FE4-2904-433D-8E0F-42933CAA638D}"/>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21">
              <a:extLst>
                <a:ext uri="{FF2B5EF4-FFF2-40B4-BE49-F238E27FC236}">
                  <a16:creationId xmlns:a16="http://schemas.microsoft.com/office/drawing/2014/main" id="{7A0A948A-A7D6-4278-97BF-F101BFD0B366}"/>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22">
              <a:extLst>
                <a:ext uri="{FF2B5EF4-FFF2-40B4-BE49-F238E27FC236}">
                  <a16:creationId xmlns:a16="http://schemas.microsoft.com/office/drawing/2014/main" id="{DC614584-067F-48D2-931A-6CE53105F005}"/>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23">
              <a:extLst>
                <a:ext uri="{FF2B5EF4-FFF2-40B4-BE49-F238E27FC236}">
                  <a16:creationId xmlns:a16="http://schemas.microsoft.com/office/drawing/2014/main" id="{244320B8-5691-4A92-B2D2-5BCE1D98EA00}"/>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24">
              <a:extLst>
                <a:ext uri="{FF2B5EF4-FFF2-40B4-BE49-F238E27FC236}">
                  <a16:creationId xmlns:a16="http://schemas.microsoft.com/office/drawing/2014/main" id="{EF78F9E3-1F79-4E42-AAC8-E4DB818FEE8B}"/>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p:sp>
        <p:nvSpPr>
          <p:cNvPr id="2" name="文本框 1"/>
          <p:cNvSpPr txBox="1"/>
          <p:nvPr/>
        </p:nvSpPr>
        <p:spPr>
          <a:xfrm>
            <a:off x="534498" y="923636"/>
            <a:ext cx="5820120" cy="5624946"/>
          </a:xfrm>
          <a:prstGeom prst="rect">
            <a:avLst/>
          </a:prstGeom>
          <a:noFill/>
        </p:spPr>
        <p:txBody>
          <a:bodyPr wrap="square" rtlCol="0">
            <a:spAutoFit/>
          </a:bodyPr>
          <a:lstStyle/>
          <a:p>
            <a:endParaRPr lang="zh-CN" altLang="en-US" dirty="0"/>
          </a:p>
        </p:txBody>
      </p:sp>
      <p:sp>
        <p:nvSpPr>
          <p:cNvPr id="3" name="文本框 2"/>
          <p:cNvSpPr txBox="1"/>
          <p:nvPr/>
        </p:nvSpPr>
        <p:spPr>
          <a:xfrm>
            <a:off x="645333" y="923577"/>
            <a:ext cx="3993746" cy="5262979"/>
          </a:xfrm>
          <a:prstGeom prst="rect">
            <a:avLst/>
          </a:prstGeom>
          <a:noFill/>
        </p:spPr>
        <p:txBody>
          <a:bodyPr wrap="square" rtlCol="0">
            <a:spAutoFit/>
          </a:bodyPr>
          <a:lstStyle/>
          <a:p>
            <a:r>
              <a:rPr lang="zh-CN" altLang="en-US" sz="2400" dirty="0">
                <a:solidFill>
                  <a:srgbClr val="7030A0"/>
                </a:solidFill>
              </a:rPr>
              <a:t>历史数据</a:t>
            </a:r>
            <a:endParaRPr lang="en-US" altLang="zh-CN" sz="2400" dirty="0">
              <a:solidFill>
                <a:srgbClr val="7030A0"/>
              </a:solidFill>
            </a:endParaRPr>
          </a:p>
          <a:p>
            <a:r>
              <a:rPr lang="en-US" altLang="zh-CN" sz="2400" dirty="0">
                <a:solidFill>
                  <a:srgbClr val="7030A0"/>
                </a:solidFill>
              </a:rPr>
              <a:t>※</a:t>
            </a:r>
            <a:r>
              <a:rPr lang="zh-CN" altLang="en-US" sz="2400" dirty="0"/>
              <a:t>发达国家，尤其是法国的遗产公证制度，留下了</a:t>
            </a:r>
            <a:r>
              <a:rPr lang="en-US" altLang="zh-CN" sz="2400" dirty="0"/>
              <a:t>300</a:t>
            </a:r>
            <a:r>
              <a:rPr lang="zh-CN" altLang="en-US" sz="2400" dirty="0"/>
              <a:t>多年丰富的历史数据。</a:t>
            </a:r>
            <a:endParaRPr lang="en-US" altLang="zh-CN" sz="2400" dirty="0"/>
          </a:p>
          <a:p>
            <a:endParaRPr lang="en-US" altLang="zh-CN" sz="2400" dirty="0"/>
          </a:p>
          <a:p>
            <a:r>
              <a:rPr lang="zh-CN" altLang="en-US" sz="2400" dirty="0">
                <a:solidFill>
                  <a:srgbClr val="7F2C8B"/>
                </a:solidFill>
              </a:rPr>
              <a:t>现代统计数据</a:t>
            </a:r>
            <a:endParaRPr lang="en-US" altLang="zh-CN" sz="2400" dirty="0">
              <a:solidFill>
                <a:srgbClr val="7F2C8B"/>
              </a:solidFill>
            </a:endParaRPr>
          </a:p>
          <a:p>
            <a:r>
              <a:rPr lang="en-US" altLang="zh-CN" sz="2400" dirty="0">
                <a:solidFill>
                  <a:srgbClr val="7030A0"/>
                </a:solidFill>
              </a:rPr>
              <a:t>※</a:t>
            </a:r>
            <a:r>
              <a:rPr lang="zh-CN" altLang="en-US" sz="2400" dirty="0"/>
              <a:t>发达国家较为完备</a:t>
            </a:r>
            <a:endParaRPr lang="en-US" altLang="zh-CN" sz="2400" dirty="0"/>
          </a:p>
          <a:p>
            <a:endParaRPr lang="en-US" altLang="zh-CN" sz="2400" dirty="0"/>
          </a:p>
          <a:p>
            <a:r>
              <a:rPr lang="zh-CN" altLang="en-US" sz="2400" dirty="0">
                <a:solidFill>
                  <a:srgbClr val="7F2C8B"/>
                </a:solidFill>
              </a:rPr>
              <a:t>结论：</a:t>
            </a:r>
            <a:r>
              <a:rPr lang="zh-CN" altLang="en-US" sz="2400" dirty="0"/>
              <a:t>资本的过度积累是客观存在的。</a:t>
            </a:r>
            <a:endParaRPr lang="en-US" altLang="zh-CN" sz="2400" dirty="0"/>
          </a:p>
          <a:p>
            <a:r>
              <a:rPr lang="zh-CN" altLang="en-US" sz="2400" dirty="0"/>
              <a:t>两次世界大战对物质资本的摧毁暂时性的改变了资本过度积累状况，现在几乎</a:t>
            </a:r>
            <a:endParaRPr lang="en-US" altLang="zh-CN" sz="2400" dirty="0"/>
          </a:p>
          <a:p>
            <a:r>
              <a:rPr lang="zh-CN" altLang="en-US" sz="2400" dirty="0"/>
              <a:t>回到了二战以前的水平。</a:t>
            </a:r>
            <a:endParaRPr lang="en-US" altLang="zh-CN" sz="2400" dirty="0"/>
          </a:p>
        </p:txBody>
      </p:sp>
      <p:pic>
        <p:nvPicPr>
          <p:cNvPr id="5" name="图片 4"/>
          <p:cNvPicPr>
            <a:picLocks noChangeAspect="1"/>
          </p:cNvPicPr>
          <p:nvPr/>
        </p:nvPicPr>
        <p:blipFill>
          <a:blip r:embed="rId3"/>
          <a:stretch>
            <a:fillRect/>
          </a:stretch>
        </p:blipFill>
        <p:spPr>
          <a:xfrm>
            <a:off x="8319419" y="1580389"/>
            <a:ext cx="3515744" cy="2520000"/>
          </a:xfrm>
          <a:prstGeom prst="rect">
            <a:avLst/>
          </a:prstGeom>
        </p:spPr>
      </p:pic>
      <p:pic>
        <p:nvPicPr>
          <p:cNvPr id="6" name="图片 5"/>
          <p:cNvPicPr>
            <a:picLocks noChangeAspect="1"/>
          </p:cNvPicPr>
          <p:nvPr/>
        </p:nvPicPr>
        <p:blipFill>
          <a:blip r:embed="rId4"/>
          <a:stretch>
            <a:fillRect/>
          </a:stretch>
        </p:blipFill>
        <p:spPr>
          <a:xfrm>
            <a:off x="8209907" y="4100389"/>
            <a:ext cx="3734769" cy="2520000"/>
          </a:xfrm>
          <a:prstGeom prst="rect">
            <a:avLst/>
          </a:prstGeom>
        </p:spPr>
      </p:pic>
      <p:pic>
        <p:nvPicPr>
          <p:cNvPr id="7" name="图片 6"/>
          <p:cNvPicPr>
            <a:picLocks noChangeAspect="1"/>
          </p:cNvPicPr>
          <p:nvPr/>
        </p:nvPicPr>
        <p:blipFill>
          <a:blip r:embed="rId5"/>
          <a:stretch>
            <a:fillRect/>
          </a:stretch>
        </p:blipFill>
        <p:spPr>
          <a:xfrm>
            <a:off x="4639079" y="4100389"/>
            <a:ext cx="3431077" cy="2520000"/>
          </a:xfrm>
          <a:prstGeom prst="rect">
            <a:avLst/>
          </a:prstGeom>
        </p:spPr>
      </p:pic>
      <p:pic>
        <p:nvPicPr>
          <p:cNvPr id="8" name="图片 7"/>
          <p:cNvPicPr>
            <a:picLocks noChangeAspect="1"/>
          </p:cNvPicPr>
          <p:nvPr/>
        </p:nvPicPr>
        <p:blipFill>
          <a:blip r:embed="rId6"/>
          <a:stretch>
            <a:fillRect/>
          </a:stretch>
        </p:blipFill>
        <p:spPr>
          <a:xfrm>
            <a:off x="4628131" y="1552938"/>
            <a:ext cx="3562488" cy="2520000"/>
          </a:xfrm>
          <a:prstGeom prst="rect">
            <a:avLst/>
          </a:prstGeom>
        </p:spPr>
      </p:pic>
    </p:spTree>
    <p:extLst>
      <p:ext uri="{BB962C8B-B14F-4D97-AF65-F5344CB8AC3E}">
        <p14:creationId xmlns:p14="http://schemas.microsoft.com/office/powerpoint/2010/main" val="3474317292"/>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952E7725-3096-4969-8619-BFD45072AD94}"/>
              </a:ext>
            </a:extLst>
          </p:cNvPr>
          <p:cNvSpPr txBox="1"/>
          <p:nvPr/>
        </p:nvSpPr>
        <p:spPr>
          <a:xfrm>
            <a:off x="534498" y="304741"/>
            <a:ext cx="2624338" cy="400110"/>
          </a:xfrm>
          <a:prstGeom prst="rect">
            <a:avLst/>
          </a:prstGeom>
          <a:solidFill>
            <a:srgbClr val="7F2C8B"/>
          </a:solidFill>
        </p:spPr>
        <p:txBody>
          <a:bodyPr wrap="square" rtlCol="0">
            <a:spAutoFit/>
          </a:bodyPr>
          <a:lstStyle/>
          <a:p>
            <a:pPr lvl="0" defTabSz="914377">
              <a:defRPr/>
            </a:pPr>
            <a:r>
              <a:rPr lang="zh-CN" altLang="en-US" sz="2000" dirty="0">
                <a:solidFill>
                  <a:schemeClr val="bg1"/>
                </a:solidFill>
                <a:latin typeface="微软雅黑 Light" panose="020B0502040204020203" pitchFamily="34" charset="-122"/>
                <a:ea typeface="微软雅黑 Light" panose="020B0502040204020203" pitchFamily="34" charset="-122"/>
              </a:rPr>
              <a:t>资本的积累</a:t>
            </a:r>
            <a:r>
              <a:rPr lang="en-US" altLang="zh-CN" sz="2000" dirty="0">
                <a:solidFill>
                  <a:schemeClr val="bg1"/>
                </a:solidFill>
                <a:latin typeface="微软雅黑 Light" panose="020B0502040204020203" pitchFamily="34" charset="-122"/>
                <a:ea typeface="微软雅黑 Light" panose="020B0502040204020203" pitchFamily="34" charset="-122"/>
              </a:rPr>
              <a:t>-</a:t>
            </a:r>
            <a:r>
              <a:rPr lang="zh-CN" altLang="en-US" sz="2000" dirty="0">
                <a:solidFill>
                  <a:schemeClr val="bg1"/>
                </a:solidFill>
                <a:latin typeface="微软雅黑 Light" panose="020B0502040204020203" pitchFamily="34" charset="-122"/>
                <a:ea typeface="微软雅黑 Light" panose="020B0502040204020203" pitchFamily="34" charset="-122"/>
              </a:rPr>
              <a:t>谁受益</a:t>
            </a:r>
          </a:p>
        </p:txBody>
      </p:sp>
      <p:grpSp>
        <p:nvGrpSpPr>
          <p:cNvPr id="22" name="组合 21">
            <a:extLst>
              <a:ext uri="{FF2B5EF4-FFF2-40B4-BE49-F238E27FC236}">
                <a16:creationId xmlns:a16="http://schemas.microsoft.com/office/drawing/2014/main" id="{DFC37A35-D357-4CEE-9C28-5EABD3D35C6B}"/>
              </a:ext>
            </a:extLst>
          </p:cNvPr>
          <p:cNvGrpSpPr/>
          <p:nvPr/>
        </p:nvGrpSpPr>
        <p:grpSpPr>
          <a:xfrm>
            <a:off x="10735556" y="314266"/>
            <a:ext cx="1180589" cy="400111"/>
            <a:chOff x="624303" y="901700"/>
            <a:chExt cx="10005598" cy="3390977"/>
          </a:xfrm>
          <a:solidFill>
            <a:srgbClr val="7F2C8B"/>
          </a:solidFill>
        </p:grpSpPr>
        <p:sp>
          <p:nvSpPr>
            <p:cNvPr id="23" name="Freeform 5">
              <a:extLst>
                <a:ext uri="{FF2B5EF4-FFF2-40B4-BE49-F238E27FC236}">
                  <a16:creationId xmlns:a16="http://schemas.microsoft.com/office/drawing/2014/main" id="{0ACD2635-3EA4-461E-AE91-2E7358FA9FA0}"/>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4" name="Freeform 6">
              <a:extLst>
                <a:ext uri="{FF2B5EF4-FFF2-40B4-BE49-F238E27FC236}">
                  <a16:creationId xmlns:a16="http://schemas.microsoft.com/office/drawing/2014/main" id="{70354051-F1E2-4393-ABA2-AEB53FF0D08B}"/>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5" name="Freeform 7">
              <a:extLst>
                <a:ext uri="{FF2B5EF4-FFF2-40B4-BE49-F238E27FC236}">
                  <a16:creationId xmlns:a16="http://schemas.microsoft.com/office/drawing/2014/main" id="{5FFB1BFD-2D76-4EE4-9741-31F528BE757A}"/>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6" name="Freeform 8">
              <a:extLst>
                <a:ext uri="{FF2B5EF4-FFF2-40B4-BE49-F238E27FC236}">
                  <a16:creationId xmlns:a16="http://schemas.microsoft.com/office/drawing/2014/main" id="{1EFFAA81-03B5-4C66-939C-6BBDC7932C18}"/>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7" name="Freeform 9">
              <a:extLst>
                <a:ext uri="{FF2B5EF4-FFF2-40B4-BE49-F238E27FC236}">
                  <a16:creationId xmlns:a16="http://schemas.microsoft.com/office/drawing/2014/main" id="{35B0FA74-D77A-4B32-A41D-5E20B596D219}"/>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8" name="Freeform 10">
              <a:extLst>
                <a:ext uri="{FF2B5EF4-FFF2-40B4-BE49-F238E27FC236}">
                  <a16:creationId xmlns:a16="http://schemas.microsoft.com/office/drawing/2014/main" id="{F5FC7059-5FB3-4ADB-BA26-84EF705B3174}"/>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9" name="Freeform 11">
              <a:extLst>
                <a:ext uri="{FF2B5EF4-FFF2-40B4-BE49-F238E27FC236}">
                  <a16:creationId xmlns:a16="http://schemas.microsoft.com/office/drawing/2014/main" id="{937241A3-85EE-47AC-8B4A-B01E8B1B0812}"/>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0" name="Freeform 12">
              <a:extLst>
                <a:ext uri="{FF2B5EF4-FFF2-40B4-BE49-F238E27FC236}">
                  <a16:creationId xmlns:a16="http://schemas.microsoft.com/office/drawing/2014/main" id="{99EA3DC5-4FB4-48DC-9AA6-2E2F76C34725}"/>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1" name="Freeform 13">
              <a:extLst>
                <a:ext uri="{FF2B5EF4-FFF2-40B4-BE49-F238E27FC236}">
                  <a16:creationId xmlns:a16="http://schemas.microsoft.com/office/drawing/2014/main" id="{F7187B32-A15A-480D-849D-33EF28B75687}"/>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2" name="Freeform 14">
              <a:extLst>
                <a:ext uri="{FF2B5EF4-FFF2-40B4-BE49-F238E27FC236}">
                  <a16:creationId xmlns:a16="http://schemas.microsoft.com/office/drawing/2014/main" id="{AA5721AD-3E61-4D99-A2D8-A261E897EBAC}"/>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3" name="Freeform 15">
              <a:extLst>
                <a:ext uri="{FF2B5EF4-FFF2-40B4-BE49-F238E27FC236}">
                  <a16:creationId xmlns:a16="http://schemas.microsoft.com/office/drawing/2014/main" id="{EF703E7A-053E-4111-945E-2E43B9CC9ECE}"/>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4" name="Freeform 16">
              <a:extLst>
                <a:ext uri="{FF2B5EF4-FFF2-40B4-BE49-F238E27FC236}">
                  <a16:creationId xmlns:a16="http://schemas.microsoft.com/office/drawing/2014/main" id="{01BF6BE1-5CCD-4A5F-8AFA-EF1359F1D3F2}"/>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5" name="Freeform 17">
              <a:extLst>
                <a:ext uri="{FF2B5EF4-FFF2-40B4-BE49-F238E27FC236}">
                  <a16:creationId xmlns:a16="http://schemas.microsoft.com/office/drawing/2014/main" id="{295417E9-A0A1-4465-9436-76253B18BAD3}"/>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18">
              <a:extLst>
                <a:ext uri="{FF2B5EF4-FFF2-40B4-BE49-F238E27FC236}">
                  <a16:creationId xmlns:a16="http://schemas.microsoft.com/office/drawing/2014/main" id="{009C6FB2-A1BB-4F44-87AF-D874D67D737B}"/>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19">
              <a:extLst>
                <a:ext uri="{FF2B5EF4-FFF2-40B4-BE49-F238E27FC236}">
                  <a16:creationId xmlns:a16="http://schemas.microsoft.com/office/drawing/2014/main" id="{65203D5E-987A-4E4E-B0C9-FAC54EDFF054}"/>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20">
              <a:extLst>
                <a:ext uri="{FF2B5EF4-FFF2-40B4-BE49-F238E27FC236}">
                  <a16:creationId xmlns:a16="http://schemas.microsoft.com/office/drawing/2014/main" id="{F0367FE4-2904-433D-8E0F-42933CAA638D}"/>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21">
              <a:extLst>
                <a:ext uri="{FF2B5EF4-FFF2-40B4-BE49-F238E27FC236}">
                  <a16:creationId xmlns:a16="http://schemas.microsoft.com/office/drawing/2014/main" id="{7A0A948A-A7D6-4278-97BF-F101BFD0B366}"/>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22">
              <a:extLst>
                <a:ext uri="{FF2B5EF4-FFF2-40B4-BE49-F238E27FC236}">
                  <a16:creationId xmlns:a16="http://schemas.microsoft.com/office/drawing/2014/main" id="{DC614584-067F-48D2-931A-6CE53105F005}"/>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23">
              <a:extLst>
                <a:ext uri="{FF2B5EF4-FFF2-40B4-BE49-F238E27FC236}">
                  <a16:creationId xmlns:a16="http://schemas.microsoft.com/office/drawing/2014/main" id="{244320B8-5691-4A92-B2D2-5BCE1D98EA00}"/>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24">
              <a:extLst>
                <a:ext uri="{FF2B5EF4-FFF2-40B4-BE49-F238E27FC236}">
                  <a16:creationId xmlns:a16="http://schemas.microsoft.com/office/drawing/2014/main" id="{EF78F9E3-1F79-4E42-AAC8-E4DB818FEE8B}"/>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mc:AlternateContent xmlns:mc="http://schemas.openxmlformats.org/markup-compatibility/2006" xmlns:a14="http://schemas.microsoft.com/office/drawing/2010/main">
        <mc:Choice Requires="a14">
          <p:sp>
            <p:nvSpPr>
              <p:cNvPr id="2" name="文本框 1"/>
              <p:cNvSpPr txBox="1"/>
              <p:nvPr/>
            </p:nvSpPr>
            <p:spPr>
              <a:xfrm>
                <a:off x="534497" y="923636"/>
                <a:ext cx="7122447" cy="5909310"/>
              </a:xfrm>
              <a:prstGeom prst="rect">
                <a:avLst/>
              </a:prstGeom>
              <a:noFill/>
            </p:spPr>
            <p:txBody>
              <a:bodyPr wrap="square" rtlCol="0">
                <a:spAutoFit/>
              </a:bodyPr>
              <a:lstStyle/>
              <a:p>
                <a:r>
                  <a:rPr lang="en-US" altLang="zh-CN" dirty="0">
                    <a:solidFill>
                      <a:srgbClr val="7030A0"/>
                    </a:solidFill>
                  </a:rPr>
                  <a:t>※</a:t>
                </a:r>
                <a:r>
                  <a:rPr lang="zh-CN" altLang="en-US" dirty="0"/>
                  <a:t>发达国家的资本积累几乎等同于私人资本的积累。</a:t>
                </a:r>
                <a:endParaRPr lang="en-US" altLang="zh-CN" dirty="0"/>
              </a:p>
              <a:p>
                <a:endParaRPr lang="en-US" altLang="zh-CN" dirty="0"/>
              </a:p>
              <a:p>
                <a:r>
                  <a:rPr lang="en-US" altLang="zh-CN" dirty="0">
                    <a:solidFill>
                      <a:srgbClr val="7030A0"/>
                    </a:solidFill>
                  </a:rPr>
                  <a:t>※</a:t>
                </a:r>
                <a:r>
                  <a:rPr lang="zh-CN" altLang="en-US" dirty="0"/>
                  <a:t>资本积累在不同国家、不同阶层是不均衡的。</a:t>
                </a:r>
                <a:endParaRPr lang="en-US" altLang="zh-CN" dirty="0"/>
              </a:p>
              <a:p>
                <a:endParaRPr lang="en-US" altLang="zh-CN" dirty="0"/>
              </a:p>
              <a:p>
                <a:r>
                  <a:rPr lang="en-US" altLang="zh-CN" dirty="0">
                    <a:solidFill>
                      <a:srgbClr val="7030A0"/>
                    </a:solidFill>
                  </a:rPr>
                  <a:t>※</a:t>
                </a:r>
                <a:r>
                  <a:rPr lang="zh-CN" altLang="en-US" dirty="0"/>
                  <a:t>主流宏观经济学视角下的资本积累的过程：</a:t>
                </a:r>
                <a:endParaRPr lang="en-US" altLang="zh-CN" dirty="0"/>
              </a:p>
              <a:p>
                <a14:m>
                  <m:oMath xmlns:m="http://schemas.openxmlformats.org/officeDocument/2006/math">
                    <m:sSub>
                      <m:sSubPr>
                        <m:ctrlPr>
                          <a:rPr lang="en-US" altLang="zh-CN" i="1" smtClean="0">
                            <a:latin typeface="Cambria Math" panose="02040503050406030204" pitchFamily="18" charset="0"/>
                          </a:rPr>
                        </m:ctrlPr>
                      </m:sSubPr>
                      <m:e>
                        <m:r>
                          <a:rPr lang="en-US" altLang="zh-CN" b="0" i="1" smtClean="0">
                            <a:latin typeface="Cambria Math" panose="02040503050406030204" pitchFamily="18" charset="0"/>
                          </a:rPr>
                          <m:t>𝐾</m:t>
                        </m:r>
                      </m:e>
                      <m:sub>
                        <m:r>
                          <m:rPr>
                            <m:sty m:val="p"/>
                          </m:rPr>
                          <a:rPr lang="en-US" altLang="zh-CN" i="1">
                            <a:latin typeface="Cambria Math" panose="02040503050406030204" pitchFamily="18" charset="0"/>
                          </a:rPr>
                          <m:t>t</m:t>
                        </m:r>
                      </m:sub>
                    </m:sSub>
                    <m:r>
                      <a:rPr lang="en-US" altLang="zh-CN" b="0" i="1" smtClean="0">
                        <a:latin typeface="Cambria Math" panose="02040503050406030204" pitchFamily="18" charset="0"/>
                      </a:rPr>
                      <m:t>=(1−</m:t>
                    </m:r>
                    <m:r>
                      <a:rPr lang="zh-CN" altLang="en-US" b="0" i="1" smtClean="0">
                        <a:latin typeface="Cambria Math" panose="02040503050406030204" pitchFamily="18" charset="0"/>
                      </a:rPr>
                      <m:t>𝜎</m:t>
                    </m:r>
                    <m:r>
                      <a:rPr lang="en-US" altLang="zh-CN" b="0" i="1" smtClean="0">
                        <a:latin typeface="Cambria Math" panose="02040503050406030204" pitchFamily="18" charset="0"/>
                      </a:rPr>
                      <m:t>)</m:t>
                    </m:r>
                  </m:oMath>
                </a14:m>
                <a:r>
                  <a:rPr lang="en-US" altLang="zh-CN" dirty="0"/>
                  <a:t> </a:t>
                </a:r>
                <a14:m>
                  <m:oMath xmlns:m="http://schemas.openxmlformats.org/officeDocument/2006/math">
                    <m:sSub>
                      <m:sSubPr>
                        <m:ctrlPr>
                          <a:rPr lang="en-US" altLang="zh-CN" i="1">
                            <a:latin typeface="Cambria Math" panose="02040503050406030204" pitchFamily="18" charset="0"/>
                          </a:rPr>
                        </m:ctrlPr>
                      </m:sSubPr>
                      <m:e>
                        <m:r>
                          <a:rPr lang="en-US" altLang="zh-CN" i="1">
                            <a:latin typeface="Cambria Math" panose="02040503050406030204" pitchFamily="18" charset="0"/>
                          </a:rPr>
                          <m:t>𝐾</m:t>
                        </m:r>
                      </m:e>
                      <m:sub>
                        <m:r>
                          <m:rPr>
                            <m:sty m:val="p"/>
                          </m:rPr>
                          <a:rPr lang="en-US" altLang="zh-CN" i="1">
                            <a:latin typeface="Cambria Math" panose="02040503050406030204" pitchFamily="18" charset="0"/>
                          </a:rPr>
                          <m:t>t</m:t>
                        </m:r>
                        <m:r>
                          <a:rPr lang="en-US" altLang="zh-CN" b="0" i="1" smtClean="0">
                            <a:latin typeface="Cambria Math" panose="02040503050406030204" pitchFamily="18" charset="0"/>
                          </a:rPr>
                          <m:t>−1</m:t>
                        </m:r>
                      </m:sub>
                    </m:sSub>
                    <m:r>
                      <a:rPr lang="en-US" altLang="zh-CN" b="0" i="1" smtClean="0">
                        <a:latin typeface="Cambria Math" panose="02040503050406030204" pitchFamily="18" charset="0"/>
                      </a:rPr>
                      <m:t>+</m:t>
                    </m:r>
                    <m:sSub>
                      <m:sSubPr>
                        <m:ctrlPr>
                          <a:rPr lang="en-US" altLang="zh-CN" b="0" i="1" smtClean="0">
                            <a:latin typeface="Cambria Math" panose="02040503050406030204" pitchFamily="18" charset="0"/>
                          </a:rPr>
                        </m:ctrlPr>
                      </m:sSubPr>
                      <m:e>
                        <m:r>
                          <a:rPr lang="en-US" altLang="zh-CN" b="0" i="1" smtClean="0">
                            <a:latin typeface="Cambria Math" panose="02040503050406030204" pitchFamily="18" charset="0"/>
                          </a:rPr>
                          <m:t>𝐼</m:t>
                        </m:r>
                      </m:e>
                      <m:sub>
                        <m:r>
                          <m:rPr>
                            <m:sty m:val="p"/>
                          </m:rPr>
                          <a:rPr lang="en-US" altLang="zh-CN" i="1">
                            <a:latin typeface="Cambria Math" panose="02040503050406030204" pitchFamily="18" charset="0"/>
                          </a:rPr>
                          <m:t>t</m:t>
                        </m:r>
                      </m:sub>
                    </m:sSub>
                  </m:oMath>
                </a14:m>
                <a:endParaRPr lang="en-US" altLang="zh-CN" dirty="0"/>
              </a:p>
              <a:p>
                <a14:m>
                  <m:oMath xmlns:m="http://schemas.openxmlformats.org/officeDocument/2006/math">
                    <m:sSub>
                      <m:sSubPr>
                        <m:ctrlPr>
                          <a:rPr lang="en-US" altLang="zh-CN" i="1">
                            <a:latin typeface="Cambria Math" panose="02040503050406030204" pitchFamily="18" charset="0"/>
                          </a:rPr>
                        </m:ctrlPr>
                      </m:sSubPr>
                      <m:e>
                        <m:r>
                          <a:rPr lang="en-US" altLang="zh-CN" i="1">
                            <a:latin typeface="Cambria Math" panose="02040503050406030204" pitchFamily="18" charset="0"/>
                          </a:rPr>
                          <m:t>𝐼</m:t>
                        </m:r>
                      </m:e>
                      <m:sub>
                        <m:r>
                          <m:rPr>
                            <m:sty m:val="p"/>
                          </m:rPr>
                          <a:rPr lang="en-US" altLang="zh-CN" i="1">
                            <a:latin typeface="Cambria Math" panose="02040503050406030204" pitchFamily="18" charset="0"/>
                          </a:rPr>
                          <m:t>t</m:t>
                        </m:r>
                      </m:sub>
                    </m:sSub>
                  </m:oMath>
                </a14:m>
                <a:r>
                  <a:rPr lang="en-US" altLang="zh-CN" dirty="0"/>
                  <a:t>=</a:t>
                </a:r>
                <a14:m>
                  <m:oMath xmlns:m="http://schemas.openxmlformats.org/officeDocument/2006/math">
                    <m:sSub>
                      <m:sSubPr>
                        <m:ctrlPr>
                          <a:rPr lang="en-US" altLang="zh-CN" i="1" dirty="0" smtClean="0">
                            <a:latin typeface="Cambria Math" panose="02040503050406030204" pitchFamily="18" charset="0"/>
                          </a:rPr>
                        </m:ctrlPr>
                      </m:sSubPr>
                      <m:e>
                        <m:r>
                          <a:rPr lang="en-US" altLang="zh-CN" b="0" i="1" dirty="0" smtClean="0">
                            <a:latin typeface="Cambria Math" panose="02040503050406030204" pitchFamily="18" charset="0"/>
                          </a:rPr>
                          <m:t>𝑠𝑌</m:t>
                        </m:r>
                      </m:e>
                      <m:sub>
                        <m:r>
                          <a:rPr lang="en-US" altLang="zh-CN" b="0" i="1" dirty="0" smtClean="0">
                            <a:latin typeface="Cambria Math" panose="02040503050406030204" pitchFamily="18" charset="0"/>
                          </a:rPr>
                          <m:t>𝑡</m:t>
                        </m:r>
                      </m:sub>
                    </m:sSub>
                  </m:oMath>
                </a14:m>
                <a:endParaRPr lang="en-US" altLang="zh-CN" dirty="0"/>
              </a:p>
              <a:p>
                <a14:m>
                  <m:oMath xmlns:m="http://schemas.openxmlformats.org/officeDocument/2006/math">
                    <m:sSub>
                      <m:sSubPr>
                        <m:ctrlPr>
                          <a:rPr lang="en-US" altLang="zh-CN" i="1" dirty="0" smtClean="0">
                            <a:latin typeface="Cambria Math" panose="02040503050406030204" pitchFamily="18" charset="0"/>
                          </a:rPr>
                        </m:ctrlPr>
                      </m:sSubPr>
                      <m:e>
                        <m:r>
                          <a:rPr lang="en-US" altLang="zh-CN" b="0" i="1" dirty="0" smtClean="0">
                            <a:latin typeface="Cambria Math" panose="02040503050406030204" pitchFamily="18" charset="0"/>
                          </a:rPr>
                          <m:t>𝑌</m:t>
                        </m:r>
                      </m:e>
                      <m:sub>
                        <m:r>
                          <a:rPr lang="en-US" altLang="zh-CN" b="0" i="1" dirty="0" smtClean="0">
                            <a:latin typeface="Cambria Math" panose="02040503050406030204" pitchFamily="18" charset="0"/>
                          </a:rPr>
                          <m:t>𝑡</m:t>
                        </m:r>
                      </m:sub>
                    </m:sSub>
                  </m:oMath>
                </a14:m>
                <a:r>
                  <a:rPr lang="en-US" altLang="zh-CN" dirty="0"/>
                  <a:t>=F</a:t>
                </a:r>
                <a14:m>
                  <m:oMath xmlns:m="http://schemas.openxmlformats.org/officeDocument/2006/math">
                    <m:d>
                      <m:dPr>
                        <m:ctrlPr>
                          <a:rPr lang="en-US" altLang="zh-CN" i="1" dirty="0" smtClean="0">
                            <a:latin typeface="Cambria Math" panose="02040503050406030204" pitchFamily="18" charset="0"/>
                          </a:rPr>
                        </m:ctrlPr>
                      </m:dPr>
                      <m:e>
                        <m:sSub>
                          <m:sSubPr>
                            <m:ctrlPr>
                              <a:rPr lang="en-US" altLang="zh-CN" i="1">
                                <a:latin typeface="Cambria Math" panose="02040503050406030204" pitchFamily="18" charset="0"/>
                              </a:rPr>
                            </m:ctrlPr>
                          </m:sSubPr>
                          <m:e>
                            <m:r>
                              <a:rPr lang="en-US" altLang="zh-CN" i="1">
                                <a:latin typeface="Cambria Math" panose="02040503050406030204" pitchFamily="18" charset="0"/>
                              </a:rPr>
                              <m:t>𝐾</m:t>
                            </m:r>
                          </m:e>
                          <m:sub>
                            <m:r>
                              <m:rPr>
                                <m:sty m:val="p"/>
                              </m:rPr>
                              <a:rPr lang="en-US" altLang="zh-CN" i="1">
                                <a:latin typeface="Cambria Math" panose="02040503050406030204" pitchFamily="18" charset="0"/>
                              </a:rPr>
                              <m:t>t</m:t>
                            </m:r>
                          </m:sub>
                        </m:sSub>
                        <m:r>
                          <a:rPr lang="en-US" altLang="zh-CN" b="0" i="1" smtClean="0">
                            <a:latin typeface="Cambria Math" panose="02040503050406030204" pitchFamily="18" charset="0"/>
                          </a:rPr>
                          <m:t>,</m:t>
                        </m:r>
                        <m:sSub>
                          <m:sSubPr>
                            <m:ctrlPr>
                              <a:rPr lang="en-US" altLang="zh-CN" b="0" i="1" smtClean="0">
                                <a:latin typeface="Cambria Math" panose="02040503050406030204" pitchFamily="18" charset="0"/>
                              </a:rPr>
                            </m:ctrlPr>
                          </m:sSubPr>
                          <m:e>
                            <m:r>
                              <a:rPr lang="en-US" altLang="zh-CN" b="0" i="1" smtClean="0">
                                <a:latin typeface="Cambria Math" panose="02040503050406030204" pitchFamily="18" charset="0"/>
                              </a:rPr>
                              <m:t>𝐿</m:t>
                            </m:r>
                          </m:e>
                          <m:sub>
                            <m:r>
                              <a:rPr lang="en-US" altLang="zh-CN" b="0" i="1" smtClean="0">
                                <a:latin typeface="Cambria Math" panose="02040503050406030204" pitchFamily="18" charset="0"/>
                              </a:rPr>
                              <m:t>𝑡</m:t>
                            </m:r>
                          </m:sub>
                        </m:sSub>
                      </m:e>
                    </m:d>
                  </m:oMath>
                </a14:m>
                <a:endParaRPr lang="en-US" altLang="zh-CN" dirty="0"/>
              </a:p>
              <a:p>
                <a:endParaRPr lang="en-US" altLang="zh-CN" dirty="0"/>
              </a:p>
              <a:p>
                <a:r>
                  <a:rPr lang="zh-CN" altLang="en-US" i="1" dirty="0"/>
                  <a:t>“劳动是价值的唯一源泉，但却不是社会财富</a:t>
                </a:r>
                <a:r>
                  <a:rPr lang="en-US" altLang="zh-CN" i="1" dirty="0"/>
                  <a:t>(</a:t>
                </a:r>
                <a:r>
                  <a:rPr lang="zh-CN" altLang="en-US" i="1" dirty="0"/>
                  <a:t>使用价值</a:t>
                </a:r>
                <a:r>
                  <a:rPr lang="en-US" altLang="zh-CN" i="1" dirty="0"/>
                  <a:t>)</a:t>
                </a:r>
                <a:r>
                  <a:rPr lang="zh-CN" altLang="en-US" i="1" dirty="0"/>
                  <a:t>的唯一源泉。“这是因为，劳动并不是创造社会财富的唯一要素。创造社会财富的不但有劳动这一要素，而且土地、设备、原材料等非劳动生产要素也对社会财富创造做贡献。因此，劳动和各种非劳动生产要素共同构成社会财富使用价值</a:t>
                </a:r>
                <a:r>
                  <a:rPr lang="en-US" altLang="zh-CN" i="1" dirty="0"/>
                  <a:t>)</a:t>
                </a:r>
                <a:r>
                  <a:rPr lang="zh-CN" altLang="en-US" i="1" dirty="0"/>
                  <a:t>的源泉。马克思指出：</a:t>
                </a:r>
                <a:r>
                  <a:rPr lang="en-US" altLang="zh-CN" i="1" dirty="0"/>
                  <a:t>"</a:t>
                </a:r>
                <a:r>
                  <a:rPr lang="zh-CN" altLang="en-US" i="1" dirty="0"/>
                  <a:t>劳动并不是它所生产的使用价值即物质财富的唯一源泉</a:t>
                </a:r>
                <a:r>
                  <a:rPr lang="en-US" altLang="zh-CN" i="1" dirty="0"/>
                  <a:t>"</a:t>
                </a:r>
                <a:r>
                  <a:rPr lang="zh-CN" altLang="en-US" i="1" dirty="0"/>
                  <a:t>。</a:t>
                </a:r>
                <a:endParaRPr lang="en-US" altLang="zh-CN" i="1" dirty="0"/>
              </a:p>
              <a:p>
                <a:endParaRPr lang="en-US" altLang="zh-CN" dirty="0"/>
              </a:p>
              <a:p>
                <a:r>
                  <a:rPr lang="en-US" altLang="zh-CN" dirty="0">
                    <a:solidFill>
                      <a:srgbClr val="7030A0"/>
                    </a:solidFill>
                  </a:rPr>
                  <a:t>※</a:t>
                </a:r>
                <a:r>
                  <a:rPr lang="zh-CN" altLang="en-US" dirty="0"/>
                  <a:t>高收入阶层储蓄率远大于其他阶层，因此有更多的财富可以积累下来转化为投资，实现更快速度的资本积累。</a:t>
                </a:r>
                <a:endParaRPr lang="en-US" altLang="zh-CN" dirty="0"/>
              </a:p>
              <a:p>
                <a:endParaRPr lang="en-US" altLang="zh-CN" dirty="0"/>
              </a:p>
              <a:p>
                <a:r>
                  <a:rPr lang="zh-CN" altLang="en-US" dirty="0"/>
                  <a:t>琼罗宾逊的模型：资本主义稳定的条件是</a:t>
                </a:r>
                <a14:m>
                  <m:oMath xmlns:m="http://schemas.openxmlformats.org/officeDocument/2006/math">
                    <m:sSub>
                      <m:sSubPr>
                        <m:ctrlPr>
                          <a:rPr lang="en-US" altLang="zh-CN" i="1" smtClean="0">
                            <a:latin typeface="Cambria Math" panose="02040503050406030204" pitchFamily="18" charset="0"/>
                          </a:rPr>
                        </m:ctrlPr>
                      </m:sSubPr>
                      <m:e>
                        <m:r>
                          <m:rPr>
                            <m:sty m:val="p"/>
                          </m:rPr>
                          <a:rPr lang="en-US" altLang="zh-CN" i="1">
                            <a:latin typeface="Cambria Math" panose="02040503050406030204" pitchFamily="18" charset="0"/>
                          </a:rPr>
                          <m:t>s</m:t>
                        </m:r>
                      </m:e>
                      <m:sub>
                        <m:r>
                          <a:rPr lang="en-US" altLang="zh-CN" b="0" i="1" smtClean="0">
                            <a:latin typeface="Cambria Math" panose="02040503050406030204" pitchFamily="18" charset="0"/>
                          </a:rPr>
                          <m:t>𝑐</m:t>
                        </m:r>
                      </m:sub>
                    </m:sSub>
                    <m:r>
                      <a:rPr lang="en-US" altLang="zh-CN" b="0" i="1" smtClean="0">
                        <a:latin typeface="Cambria Math" panose="02040503050406030204" pitchFamily="18" charset="0"/>
                      </a:rPr>
                      <m:t>&lt;2</m:t>
                    </m:r>
                    <m:sSub>
                      <m:sSubPr>
                        <m:ctrlPr>
                          <a:rPr lang="en-US" altLang="zh-CN" i="1">
                            <a:latin typeface="Cambria Math" panose="02040503050406030204" pitchFamily="18" charset="0"/>
                          </a:rPr>
                        </m:ctrlPr>
                      </m:sSubPr>
                      <m:e>
                        <m:r>
                          <m:rPr>
                            <m:sty m:val="p"/>
                          </m:rPr>
                          <a:rPr lang="en-US" altLang="zh-CN" i="1">
                            <a:latin typeface="Cambria Math" panose="02040503050406030204" pitchFamily="18" charset="0"/>
                          </a:rPr>
                          <m:t>s</m:t>
                        </m:r>
                      </m:e>
                      <m:sub>
                        <m:r>
                          <a:rPr lang="en-US" altLang="zh-CN" b="0" i="1" smtClean="0">
                            <a:latin typeface="Cambria Math" panose="02040503050406030204" pitchFamily="18" charset="0"/>
                          </a:rPr>
                          <m:t>𝑙</m:t>
                        </m:r>
                      </m:sub>
                    </m:sSub>
                  </m:oMath>
                </a14:m>
                <a:r>
                  <a:rPr lang="zh-CN" altLang="en-US" dirty="0"/>
                  <a:t>（参数由设定决定）</a:t>
                </a:r>
                <a:endParaRPr lang="en-US" altLang="zh-CN" dirty="0"/>
              </a:p>
              <a:p>
                <a:r>
                  <a:rPr lang="zh-CN" altLang="en-US" dirty="0"/>
                  <a:t>弗里德曼的办法：全社会只有一个储蓄率，让工人持有一部分股票</a:t>
                </a:r>
              </a:p>
            </p:txBody>
          </p:sp>
        </mc:Choice>
        <mc:Fallback xmlns="">
          <p:sp>
            <p:nvSpPr>
              <p:cNvPr id="2" name="文本框 1"/>
              <p:cNvSpPr txBox="1">
                <a:spLocks noRot="1" noChangeAspect="1" noMove="1" noResize="1" noEditPoints="1" noAdjustHandles="1" noChangeArrowheads="1" noChangeShapeType="1" noTextEdit="1"/>
              </p:cNvSpPr>
              <p:nvPr/>
            </p:nvSpPr>
            <p:spPr>
              <a:xfrm>
                <a:off x="534497" y="923636"/>
                <a:ext cx="7122447" cy="5909310"/>
              </a:xfrm>
              <a:prstGeom prst="rect">
                <a:avLst/>
              </a:prstGeom>
              <a:blipFill>
                <a:blip r:embed="rId3"/>
                <a:stretch>
                  <a:fillRect l="-771" t="-619" r="-3853" b="-722"/>
                </a:stretch>
              </a:blipFill>
            </p:spPr>
            <p:txBody>
              <a:bodyPr/>
              <a:lstStyle/>
              <a:p>
                <a:r>
                  <a:rPr lang="zh-CN" altLang="en-US">
                    <a:noFill/>
                  </a:rPr>
                  <a:t> </a:t>
                </a:r>
              </a:p>
            </p:txBody>
          </p:sp>
        </mc:Fallback>
      </mc:AlternateContent>
      <p:pic>
        <p:nvPicPr>
          <p:cNvPr id="10" name="图片 9"/>
          <p:cNvPicPr>
            <a:picLocks noChangeAspect="1"/>
          </p:cNvPicPr>
          <p:nvPr/>
        </p:nvPicPr>
        <p:blipFill>
          <a:blip r:embed="rId4"/>
          <a:stretch>
            <a:fillRect/>
          </a:stretch>
        </p:blipFill>
        <p:spPr>
          <a:xfrm>
            <a:off x="7843811" y="888794"/>
            <a:ext cx="3962870" cy="2520000"/>
          </a:xfrm>
          <a:prstGeom prst="rect">
            <a:avLst/>
          </a:prstGeom>
        </p:spPr>
      </p:pic>
      <p:pic>
        <p:nvPicPr>
          <p:cNvPr id="5" name="图片 4"/>
          <p:cNvPicPr>
            <a:picLocks noChangeAspect="1"/>
          </p:cNvPicPr>
          <p:nvPr/>
        </p:nvPicPr>
        <p:blipFill>
          <a:blip r:embed="rId5"/>
          <a:stretch>
            <a:fillRect/>
          </a:stretch>
        </p:blipFill>
        <p:spPr>
          <a:xfrm>
            <a:off x="7781689" y="3652896"/>
            <a:ext cx="4040195" cy="2520000"/>
          </a:xfrm>
          <a:prstGeom prst="rect">
            <a:avLst/>
          </a:prstGeom>
        </p:spPr>
      </p:pic>
    </p:spTree>
    <p:extLst>
      <p:ext uri="{BB962C8B-B14F-4D97-AF65-F5344CB8AC3E}">
        <p14:creationId xmlns:p14="http://schemas.microsoft.com/office/powerpoint/2010/main" val="3610436074"/>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952E7725-3096-4969-8619-BFD45072AD94}"/>
              </a:ext>
            </a:extLst>
          </p:cNvPr>
          <p:cNvSpPr txBox="1"/>
          <p:nvPr/>
        </p:nvSpPr>
        <p:spPr>
          <a:xfrm>
            <a:off x="534498" y="304741"/>
            <a:ext cx="1469793" cy="400110"/>
          </a:xfrm>
          <a:prstGeom prst="rect">
            <a:avLst/>
          </a:prstGeom>
          <a:solidFill>
            <a:srgbClr val="7F2C8B"/>
          </a:solidFill>
        </p:spPr>
        <p:txBody>
          <a:bodyPr wrap="square" rtlCol="0">
            <a:spAutoFit/>
          </a:bodyPr>
          <a:lstStyle/>
          <a:p>
            <a:pPr lvl="0" defTabSz="914377">
              <a:defRPr/>
            </a:pPr>
            <a:r>
              <a:rPr lang="zh-CN" altLang="en-US" sz="2000" dirty="0">
                <a:solidFill>
                  <a:schemeClr val="bg1"/>
                </a:solidFill>
                <a:latin typeface="微软雅黑 Light" panose="020B0502040204020203" pitchFamily="34" charset="-122"/>
                <a:ea typeface="微软雅黑 Light" panose="020B0502040204020203" pitchFamily="34" charset="-122"/>
              </a:rPr>
              <a:t>收入的分配</a:t>
            </a:r>
          </a:p>
        </p:txBody>
      </p:sp>
      <p:grpSp>
        <p:nvGrpSpPr>
          <p:cNvPr id="22" name="组合 21">
            <a:extLst>
              <a:ext uri="{FF2B5EF4-FFF2-40B4-BE49-F238E27FC236}">
                <a16:creationId xmlns:a16="http://schemas.microsoft.com/office/drawing/2014/main" id="{DFC37A35-D357-4CEE-9C28-5EABD3D35C6B}"/>
              </a:ext>
            </a:extLst>
          </p:cNvPr>
          <p:cNvGrpSpPr/>
          <p:nvPr/>
        </p:nvGrpSpPr>
        <p:grpSpPr>
          <a:xfrm>
            <a:off x="10735556" y="314266"/>
            <a:ext cx="1180589" cy="400111"/>
            <a:chOff x="624303" y="901700"/>
            <a:chExt cx="10005598" cy="3390977"/>
          </a:xfrm>
          <a:solidFill>
            <a:srgbClr val="7F2C8B"/>
          </a:solidFill>
        </p:grpSpPr>
        <p:sp>
          <p:nvSpPr>
            <p:cNvPr id="23" name="Freeform 5">
              <a:extLst>
                <a:ext uri="{FF2B5EF4-FFF2-40B4-BE49-F238E27FC236}">
                  <a16:creationId xmlns:a16="http://schemas.microsoft.com/office/drawing/2014/main" id="{0ACD2635-3EA4-461E-AE91-2E7358FA9FA0}"/>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4" name="Freeform 6">
              <a:extLst>
                <a:ext uri="{FF2B5EF4-FFF2-40B4-BE49-F238E27FC236}">
                  <a16:creationId xmlns:a16="http://schemas.microsoft.com/office/drawing/2014/main" id="{70354051-F1E2-4393-ABA2-AEB53FF0D08B}"/>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5" name="Freeform 7">
              <a:extLst>
                <a:ext uri="{FF2B5EF4-FFF2-40B4-BE49-F238E27FC236}">
                  <a16:creationId xmlns:a16="http://schemas.microsoft.com/office/drawing/2014/main" id="{5FFB1BFD-2D76-4EE4-9741-31F528BE757A}"/>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6" name="Freeform 8">
              <a:extLst>
                <a:ext uri="{FF2B5EF4-FFF2-40B4-BE49-F238E27FC236}">
                  <a16:creationId xmlns:a16="http://schemas.microsoft.com/office/drawing/2014/main" id="{1EFFAA81-03B5-4C66-939C-6BBDC7932C18}"/>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7" name="Freeform 9">
              <a:extLst>
                <a:ext uri="{FF2B5EF4-FFF2-40B4-BE49-F238E27FC236}">
                  <a16:creationId xmlns:a16="http://schemas.microsoft.com/office/drawing/2014/main" id="{35B0FA74-D77A-4B32-A41D-5E20B596D219}"/>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8" name="Freeform 10">
              <a:extLst>
                <a:ext uri="{FF2B5EF4-FFF2-40B4-BE49-F238E27FC236}">
                  <a16:creationId xmlns:a16="http://schemas.microsoft.com/office/drawing/2014/main" id="{F5FC7059-5FB3-4ADB-BA26-84EF705B3174}"/>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9" name="Freeform 11">
              <a:extLst>
                <a:ext uri="{FF2B5EF4-FFF2-40B4-BE49-F238E27FC236}">
                  <a16:creationId xmlns:a16="http://schemas.microsoft.com/office/drawing/2014/main" id="{937241A3-85EE-47AC-8B4A-B01E8B1B0812}"/>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0" name="Freeform 12">
              <a:extLst>
                <a:ext uri="{FF2B5EF4-FFF2-40B4-BE49-F238E27FC236}">
                  <a16:creationId xmlns:a16="http://schemas.microsoft.com/office/drawing/2014/main" id="{99EA3DC5-4FB4-48DC-9AA6-2E2F76C34725}"/>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1" name="Freeform 13">
              <a:extLst>
                <a:ext uri="{FF2B5EF4-FFF2-40B4-BE49-F238E27FC236}">
                  <a16:creationId xmlns:a16="http://schemas.microsoft.com/office/drawing/2014/main" id="{F7187B32-A15A-480D-849D-33EF28B75687}"/>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2" name="Freeform 14">
              <a:extLst>
                <a:ext uri="{FF2B5EF4-FFF2-40B4-BE49-F238E27FC236}">
                  <a16:creationId xmlns:a16="http://schemas.microsoft.com/office/drawing/2014/main" id="{AA5721AD-3E61-4D99-A2D8-A261E897EBAC}"/>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3" name="Freeform 15">
              <a:extLst>
                <a:ext uri="{FF2B5EF4-FFF2-40B4-BE49-F238E27FC236}">
                  <a16:creationId xmlns:a16="http://schemas.microsoft.com/office/drawing/2014/main" id="{EF703E7A-053E-4111-945E-2E43B9CC9ECE}"/>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4" name="Freeform 16">
              <a:extLst>
                <a:ext uri="{FF2B5EF4-FFF2-40B4-BE49-F238E27FC236}">
                  <a16:creationId xmlns:a16="http://schemas.microsoft.com/office/drawing/2014/main" id="{01BF6BE1-5CCD-4A5F-8AFA-EF1359F1D3F2}"/>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5" name="Freeform 17">
              <a:extLst>
                <a:ext uri="{FF2B5EF4-FFF2-40B4-BE49-F238E27FC236}">
                  <a16:creationId xmlns:a16="http://schemas.microsoft.com/office/drawing/2014/main" id="{295417E9-A0A1-4465-9436-76253B18BAD3}"/>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18">
              <a:extLst>
                <a:ext uri="{FF2B5EF4-FFF2-40B4-BE49-F238E27FC236}">
                  <a16:creationId xmlns:a16="http://schemas.microsoft.com/office/drawing/2014/main" id="{009C6FB2-A1BB-4F44-87AF-D874D67D737B}"/>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19">
              <a:extLst>
                <a:ext uri="{FF2B5EF4-FFF2-40B4-BE49-F238E27FC236}">
                  <a16:creationId xmlns:a16="http://schemas.microsoft.com/office/drawing/2014/main" id="{65203D5E-987A-4E4E-B0C9-FAC54EDFF054}"/>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20">
              <a:extLst>
                <a:ext uri="{FF2B5EF4-FFF2-40B4-BE49-F238E27FC236}">
                  <a16:creationId xmlns:a16="http://schemas.microsoft.com/office/drawing/2014/main" id="{F0367FE4-2904-433D-8E0F-42933CAA638D}"/>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21">
              <a:extLst>
                <a:ext uri="{FF2B5EF4-FFF2-40B4-BE49-F238E27FC236}">
                  <a16:creationId xmlns:a16="http://schemas.microsoft.com/office/drawing/2014/main" id="{7A0A948A-A7D6-4278-97BF-F101BFD0B366}"/>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22">
              <a:extLst>
                <a:ext uri="{FF2B5EF4-FFF2-40B4-BE49-F238E27FC236}">
                  <a16:creationId xmlns:a16="http://schemas.microsoft.com/office/drawing/2014/main" id="{DC614584-067F-48D2-931A-6CE53105F005}"/>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23">
              <a:extLst>
                <a:ext uri="{FF2B5EF4-FFF2-40B4-BE49-F238E27FC236}">
                  <a16:creationId xmlns:a16="http://schemas.microsoft.com/office/drawing/2014/main" id="{244320B8-5691-4A92-B2D2-5BCE1D98EA00}"/>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24">
              <a:extLst>
                <a:ext uri="{FF2B5EF4-FFF2-40B4-BE49-F238E27FC236}">
                  <a16:creationId xmlns:a16="http://schemas.microsoft.com/office/drawing/2014/main" id="{EF78F9E3-1F79-4E42-AAC8-E4DB818FEE8B}"/>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p:sp>
        <p:nvSpPr>
          <p:cNvPr id="2" name="文本框 1"/>
          <p:cNvSpPr txBox="1"/>
          <p:nvPr/>
        </p:nvSpPr>
        <p:spPr>
          <a:xfrm>
            <a:off x="534498" y="923636"/>
            <a:ext cx="6161866" cy="5940088"/>
          </a:xfrm>
          <a:prstGeom prst="rect">
            <a:avLst/>
          </a:prstGeom>
          <a:noFill/>
        </p:spPr>
        <p:txBody>
          <a:bodyPr wrap="square" rtlCol="0">
            <a:spAutoFit/>
          </a:bodyPr>
          <a:lstStyle/>
          <a:p>
            <a:r>
              <a:rPr lang="en-US" altLang="zh-CN" sz="2000" dirty="0">
                <a:solidFill>
                  <a:srgbClr val="7030A0"/>
                </a:solidFill>
              </a:rPr>
              <a:t>※</a:t>
            </a:r>
            <a:r>
              <a:rPr lang="zh-CN" altLang="en-US" sz="2000" dirty="0">
                <a:solidFill>
                  <a:srgbClr val="2C2C2C"/>
                </a:solidFill>
              </a:rPr>
              <a:t>国民净收入在资本和劳动之间如何分配？</a:t>
            </a:r>
            <a:endParaRPr lang="en-US" altLang="zh-CN" sz="2000" dirty="0">
              <a:solidFill>
                <a:srgbClr val="2C2C2C"/>
              </a:solidFill>
            </a:endParaRPr>
          </a:p>
          <a:p>
            <a:endParaRPr lang="en-US" altLang="zh-CN" sz="2000" dirty="0">
              <a:solidFill>
                <a:srgbClr val="2C2C2C"/>
              </a:solidFill>
            </a:endParaRPr>
          </a:p>
          <a:p>
            <a:r>
              <a:rPr lang="zh-CN" altLang="en-US" sz="2000" dirty="0">
                <a:solidFill>
                  <a:srgbClr val="2C2C2C"/>
                </a:solidFill>
              </a:rPr>
              <a:t>国民净收入</a:t>
            </a:r>
            <a:r>
              <a:rPr lang="en-US" altLang="zh-CN" sz="2000" dirty="0">
                <a:solidFill>
                  <a:srgbClr val="2C2C2C"/>
                </a:solidFill>
              </a:rPr>
              <a:t>NNI=</a:t>
            </a:r>
            <a:r>
              <a:rPr lang="zh-CN" altLang="en-US" sz="2000" dirty="0">
                <a:solidFill>
                  <a:srgbClr val="2C2C2C"/>
                </a:solidFill>
              </a:rPr>
              <a:t>国民总收入</a:t>
            </a:r>
            <a:r>
              <a:rPr lang="en-US" altLang="zh-CN" sz="2000" dirty="0">
                <a:solidFill>
                  <a:srgbClr val="2C2C2C"/>
                </a:solidFill>
              </a:rPr>
              <a:t>-</a:t>
            </a:r>
            <a:r>
              <a:rPr lang="zh-CN" altLang="en-US" sz="2000" dirty="0">
                <a:solidFill>
                  <a:srgbClr val="2C2C2C"/>
                </a:solidFill>
              </a:rPr>
              <a:t>资本折旧</a:t>
            </a:r>
            <a:endParaRPr lang="en-US" altLang="zh-CN" sz="2000" dirty="0">
              <a:solidFill>
                <a:srgbClr val="2C2C2C"/>
              </a:solidFill>
            </a:endParaRPr>
          </a:p>
          <a:p>
            <a:r>
              <a:rPr lang="zh-CN" altLang="en-US" sz="2000" dirty="0">
                <a:solidFill>
                  <a:srgbClr val="2C2C2C"/>
                </a:solidFill>
              </a:rPr>
              <a:t>国民总收入</a:t>
            </a:r>
            <a:r>
              <a:rPr lang="en-US" altLang="zh-CN" sz="2000" dirty="0">
                <a:solidFill>
                  <a:srgbClr val="2C2C2C"/>
                </a:solidFill>
              </a:rPr>
              <a:t>GNI=</a:t>
            </a:r>
            <a:r>
              <a:rPr lang="zh-CN" altLang="en-US" sz="2000" dirty="0">
                <a:solidFill>
                  <a:srgbClr val="2C2C2C"/>
                </a:solidFill>
              </a:rPr>
              <a:t>国内生产总值</a:t>
            </a:r>
            <a:r>
              <a:rPr lang="en-US" altLang="zh-CN" sz="2000" dirty="0">
                <a:solidFill>
                  <a:srgbClr val="2C2C2C"/>
                </a:solidFill>
              </a:rPr>
              <a:t>GDP+</a:t>
            </a:r>
            <a:r>
              <a:rPr lang="zh-CN" altLang="en-US" sz="2000" dirty="0">
                <a:solidFill>
                  <a:srgbClr val="2C2C2C"/>
                </a:solidFill>
              </a:rPr>
              <a:t>来自国外的净要素收入</a:t>
            </a:r>
            <a:endParaRPr lang="en-US" altLang="zh-CN" sz="2000" dirty="0">
              <a:solidFill>
                <a:srgbClr val="2C2C2C"/>
              </a:solidFill>
            </a:endParaRPr>
          </a:p>
          <a:p>
            <a:endParaRPr lang="en-US" altLang="zh-CN" sz="2000" dirty="0">
              <a:solidFill>
                <a:srgbClr val="2C2C2C"/>
              </a:solidFill>
            </a:endParaRPr>
          </a:p>
          <a:p>
            <a:r>
              <a:rPr lang="zh-CN" altLang="en-US" sz="2000" dirty="0">
                <a:solidFill>
                  <a:srgbClr val="2C2C2C"/>
                </a:solidFill>
              </a:rPr>
              <a:t>新古典主义经济学胜利后，伴随着新自由主义政策的推行，资本份额不断提升，直到</a:t>
            </a:r>
            <a:r>
              <a:rPr lang="en-US" altLang="zh-CN" sz="2000" dirty="0">
                <a:solidFill>
                  <a:srgbClr val="2C2C2C"/>
                </a:solidFill>
              </a:rPr>
              <a:t>2008</a:t>
            </a:r>
            <a:r>
              <a:rPr lang="zh-CN" altLang="en-US" sz="2000" dirty="0">
                <a:solidFill>
                  <a:srgbClr val="2C2C2C"/>
                </a:solidFill>
              </a:rPr>
              <a:t>年金融危机</a:t>
            </a:r>
            <a:endParaRPr lang="en-US" altLang="zh-CN" sz="2000" dirty="0">
              <a:solidFill>
                <a:srgbClr val="2C2C2C"/>
              </a:solidFill>
            </a:endParaRPr>
          </a:p>
          <a:p>
            <a:endParaRPr lang="en-US" altLang="zh-CN" sz="2000" dirty="0">
              <a:solidFill>
                <a:srgbClr val="2C2C2C"/>
              </a:solidFill>
            </a:endParaRPr>
          </a:p>
          <a:p>
            <a:r>
              <a:rPr lang="en-US" altLang="zh-CN" sz="2000" dirty="0">
                <a:solidFill>
                  <a:srgbClr val="7030A0"/>
                </a:solidFill>
              </a:rPr>
              <a:t>※</a:t>
            </a:r>
            <a:r>
              <a:rPr lang="zh-CN" altLang="en-US" sz="2000" dirty="0">
                <a:solidFill>
                  <a:srgbClr val="2C2C2C"/>
                </a:solidFill>
              </a:rPr>
              <a:t>不同阶层分配情况如何？</a:t>
            </a:r>
            <a:endParaRPr lang="en-US" altLang="zh-CN" sz="2000" dirty="0">
              <a:solidFill>
                <a:srgbClr val="2C2C2C"/>
              </a:solidFill>
            </a:endParaRPr>
          </a:p>
          <a:p>
            <a:endParaRPr lang="en-US" altLang="zh-CN" sz="2000" dirty="0">
              <a:solidFill>
                <a:srgbClr val="2C2C2C"/>
              </a:solidFill>
            </a:endParaRPr>
          </a:p>
          <a:p>
            <a:r>
              <a:rPr lang="zh-CN" altLang="en-US" sz="2000" dirty="0"/>
              <a:t>第一次世界大战</a:t>
            </a:r>
            <a:r>
              <a:rPr lang="en-US" altLang="zh-CN" sz="2000" dirty="0"/>
              <a:t>(1914</a:t>
            </a:r>
            <a:r>
              <a:rPr lang="zh-CN" altLang="en-US" sz="2000" dirty="0"/>
              <a:t>年</a:t>
            </a:r>
            <a:r>
              <a:rPr lang="en-US" altLang="zh-CN" sz="2000" dirty="0"/>
              <a:t>7</a:t>
            </a:r>
            <a:r>
              <a:rPr lang="zh-CN" altLang="en-US" sz="2000" dirty="0"/>
              <a:t>月</a:t>
            </a:r>
            <a:r>
              <a:rPr lang="en-US" altLang="zh-CN" sz="2000" dirty="0"/>
              <a:t>28</a:t>
            </a:r>
            <a:r>
              <a:rPr lang="zh-CN" altLang="en-US" sz="2000" dirty="0"/>
              <a:t>日</a:t>
            </a:r>
            <a:r>
              <a:rPr lang="en-US" altLang="zh-CN" sz="2000" dirty="0"/>
              <a:t>-1918</a:t>
            </a:r>
            <a:r>
              <a:rPr lang="zh-CN" altLang="en-US" sz="2000" dirty="0"/>
              <a:t>年</a:t>
            </a:r>
            <a:r>
              <a:rPr lang="en-US" altLang="zh-CN" sz="2000" dirty="0"/>
              <a:t>11</a:t>
            </a:r>
            <a:r>
              <a:rPr lang="zh-CN" altLang="en-US" sz="2000" dirty="0"/>
              <a:t>月</a:t>
            </a:r>
            <a:r>
              <a:rPr lang="en-US" altLang="zh-CN" sz="2000" dirty="0"/>
              <a:t>11</a:t>
            </a:r>
            <a:r>
              <a:rPr lang="zh-CN" altLang="en-US" sz="2000" dirty="0"/>
              <a:t>日</a:t>
            </a:r>
            <a:r>
              <a:rPr lang="en-US" altLang="zh-CN" sz="2000" dirty="0"/>
              <a:t>)</a:t>
            </a:r>
          </a:p>
          <a:p>
            <a:r>
              <a:rPr lang="zh-CN" altLang="en-US" sz="2000" dirty="0"/>
              <a:t>第二次世界大战</a:t>
            </a:r>
            <a:r>
              <a:rPr lang="en-US" altLang="zh-CN" sz="2000" dirty="0"/>
              <a:t>( </a:t>
            </a:r>
            <a:r>
              <a:rPr lang="en-US" altLang="zh-CN" sz="2000" dirty="0">
                <a:solidFill>
                  <a:srgbClr val="2C2C2C"/>
                </a:solidFill>
              </a:rPr>
              <a:t>1939</a:t>
            </a:r>
            <a:r>
              <a:rPr lang="zh-CN" altLang="en-US" sz="2000" dirty="0">
                <a:solidFill>
                  <a:srgbClr val="2C2C2C"/>
                </a:solidFill>
              </a:rPr>
              <a:t>年</a:t>
            </a:r>
            <a:r>
              <a:rPr lang="en-US" altLang="zh-CN" sz="2000" dirty="0">
                <a:solidFill>
                  <a:srgbClr val="2C2C2C"/>
                </a:solidFill>
              </a:rPr>
              <a:t>9</a:t>
            </a:r>
            <a:r>
              <a:rPr lang="zh-CN" altLang="en-US" sz="2000" dirty="0">
                <a:solidFill>
                  <a:srgbClr val="2C2C2C"/>
                </a:solidFill>
              </a:rPr>
              <a:t>月</a:t>
            </a:r>
            <a:r>
              <a:rPr lang="en-US" altLang="zh-CN" sz="2000" dirty="0">
                <a:solidFill>
                  <a:srgbClr val="2C2C2C"/>
                </a:solidFill>
              </a:rPr>
              <a:t>1</a:t>
            </a:r>
            <a:r>
              <a:rPr lang="zh-CN" altLang="en-US" sz="2000" dirty="0">
                <a:solidFill>
                  <a:srgbClr val="2C2C2C"/>
                </a:solidFill>
              </a:rPr>
              <a:t>日至</a:t>
            </a:r>
            <a:r>
              <a:rPr lang="en-US" altLang="zh-CN" sz="2000" dirty="0">
                <a:solidFill>
                  <a:srgbClr val="2C2C2C"/>
                </a:solidFill>
              </a:rPr>
              <a:t>1945</a:t>
            </a:r>
            <a:r>
              <a:rPr lang="zh-CN" altLang="en-US" sz="2000" dirty="0">
                <a:solidFill>
                  <a:srgbClr val="2C2C2C"/>
                </a:solidFill>
              </a:rPr>
              <a:t>年</a:t>
            </a:r>
            <a:r>
              <a:rPr lang="en-US" altLang="zh-CN" sz="2000" dirty="0">
                <a:solidFill>
                  <a:srgbClr val="2C2C2C"/>
                </a:solidFill>
              </a:rPr>
              <a:t>9</a:t>
            </a:r>
            <a:r>
              <a:rPr lang="zh-CN" altLang="en-US" sz="2000" dirty="0">
                <a:solidFill>
                  <a:srgbClr val="2C2C2C"/>
                </a:solidFill>
              </a:rPr>
              <a:t>月</a:t>
            </a:r>
            <a:r>
              <a:rPr lang="en-US" altLang="zh-CN" sz="2000" dirty="0">
                <a:solidFill>
                  <a:srgbClr val="2C2C2C"/>
                </a:solidFill>
              </a:rPr>
              <a:t>2</a:t>
            </a:r>
            <a:r>
              <a:rPr lang="zh-CN" altLang="en-US" sz="2000" dirty="0">
                <a:solidFill>
                  <a:srgbClr val="2C2C2C"/>
                </a:solidFill>
              </a:rPr>
              <a:t>日）</a:t>
            </a:r>
            <a:endParaRPr lang="en-US" altLang="zh-CN" sz="2000" dirty="0">
              <a:solidFill>
                <a:srgbClr val="2C2C2C"/>
              </a:solidFill>
            </a:endParaRPr>
          </a:p>
          <a:p>
            <a:r>
              <a:rPr lang="zh-CN" altLang="en-US" sz="2000" dirty="0">
                <a:solidFill>
                  <a:srgbClr val="2C2C2C"/>
                </a:solidFill>
              </a:rPr>
              <a:t>苏联解体：</a:t>
            </a:r>
            <a:r>
              <a:rPr lang="zh-CN" altLang="en-US" sz="2000" dirty="0"/>
              <a:t> </a:t>
            </a:r>
            <a:r>
              <a:rPr lang="en-US" altLang="zh-CN" sz="2000" dirty="0"/>
              <a:t>1991</a:t>
            </a:r>
            <a:r>
              <a:rPr lang="zh-CN" altLang="en-US" sz="2000" dirty="0"/>
              <a:t>年</a:t>
            </a:r>
            <a:r>
              <a:rPr lang="en-US" altLang="zh-CN" sz="2000" dirty="0"/>
              <a:t>12</a:t>
            </a:r>
            <a:r>
              <a:rPr lang="zh-CN" altLang="en-US" sz="2000" dirty="0"/>
              <a:t>月</a:t>
            </a:r>
            <a:r>
              <a:rPr lang="en-US" altLang="zh-CN" sz="2000" dirty="0"/>
              <a:t>25</a:t>
            </a:r>
            <a:r>
              <a:rPr lang="zh-CN" altLang="en-US" sz="2000" dirty="0"/>
              <a:t>日</a:t>
            </a:r>
            <a:endParaRPr lang="en-US" altLang="zh-CN" sz="2000" dirty="0"/>
          </a:p>
          <a:p>
            <a:endParaRPr lang="en-US" altLang="zh-CN" sz="2000" dirty="0">
              <a:solidFill>
                <a:srgbClr val="2C2C2C"/>
              </a:solidFill>
            </a:endParaRPr>
          </a:p>
          <a:p>
            <a:r>
              <a:rPr lang="zh-CN" altLang="en-US" sz="2000" dirty="0">
                <a:solidFill>
                  <a:srgbClr val="2C2C2C"/>
                </a:solidFill>
              </a:rPr>
              <a:t>列宁：</a:t>
            </a:r>
            <a:r>
              <a:rPr lang="en-US" altLang="zh-CN" sz="2000" dirty="0">
                <a:solidFill>
                  <a:srgbClr val="2C2C2C"/>
                </a:solidFill>
              </a:rPr>
              <a:t>《</a:t>
            </a:r>
            <a:r>
              <a:rPr lang="zh-CN" altLang="en-US" sz="2000" dirty="0">
                <a:solidFill>
                  <a:srgbClr val="2C2C2C"/>
                </a:solidFill>
              </a:rPr>
              <a:t>帝国主义是资本主义的最高阶段</a:t>
            </a:r>
            <a:r>
              <a:rPr lang="en-US" altLang="zh-CN" sz="2000" dirty="0">
                <a:solidFill>
                  <a:srgbClr val="2C2C2C"/>
                </a:solidFill>
              </a:rPr>
              <a:t>》</a:t>
            </a:r>
          </a:p>
          <a:p>
            <a:r>
              <a:rPr lang="zh-CN" altLang="en-US" sz="2000" dirty="0">
                <a:solidFill>
                  <a:srgbClr val="2C2C2C"/>
                </a:solidFill>
              </a:rPr>
              <a:t>由科技革命引起资本主义生产发展的不平衡规律，导致帝国主义列强之间的争夺以战争形式在世界范围内发生着。</a:t>
            </a:r>
          </a:p>
        </p:txBody>
      </p:sp>
      <p:pic>
        <p:nvPicPr>
          <p:cNvPr id="6" name="图片 5"/>
          <p:cNvPicPr>
            <a:picLocks noChangeAspect="1"/>
          </p:cNvPicPr>
          <p:nvPr/>
        </p:nvPicPr>
        <p:blipFill>
          <a:blip r:embed="rId3"/>
          <a:stretch>
            <a:fillRect/>
          </a:stretch>
        </p:blipFill>
        <p:spPr>
          <a:xfrm>
            <a:off x="6996981" y="801562"/>
            <a:ext cx="4620097" cy="2880000"/>
          </a:xfrm>
          <a:prstGeom prst="rect">
            <a:avLst/>
          </a:prstGeom>
        </p:spPr>
      </p:pic>
      <p:pic>
        <p:nvPicPr>
          <p:cNvPr id="7" name="图片 6"/>
          <p:cNvPicPr>
            <a:picLocks noChangeAspect="1"/>
          </p:cNvPicPr>
          <p:nvPr/>
        </p:nvPicPr>
        <p:blipFill>
          <a:blip r:embed="rId4"/>
          <a:stretch>
            <a:fillRect/>
          </a:stretch>
        </p:blipFill>
        <p:spPr>
          <a:xfrm>
            <a:off x="7282966" y="3909277"/>
            <a:ext cx="4395958" cy="2886100"/>
          </a:xfrm>
          <a:prstGeom prst="rect">
            <a:avLst/>
          </a:prstGeom>
        </p:spPr>
      </p:pic>
    </p:spTree>
    <p:extLst>
      <p:ext uri="{BB962C8B-B14F-4D97-AF65-F5344CB8AC3E}">
        <p14:creationId xmlns:p14="http://schemas.microsoft.com/office/powerpoint/2010/main" val="3272381566"/>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952E7725-3096-4969-8619-BFD45072AD94}"/>
              </a:ext>
            </a:extLst>
          </p:cNvPr>
          <p:cNvSpPr txBox="1"/>
          <p:nvPr/>
        </p:nvSpPr>
        <p:spPr>
          <a:xfrm>
            <a:off x="534497" y="304741"/>
            <a:ext cx="4176047" cy="400110"/>
          </a:xfrm>
          <a:prstGeom prst="rect">
            <a:avLst/>
          </a:prstGeom>
          <a:solidFill>
            <a:srgbClr val="7F2C8B"/>
          </a:solidFill>
        </p:spPr>
        <p:txBody>
          <a:bodyPr wrap="square" rtlCol="0">
            <a:spAutoFit/>
          </a:bodyPr>
          <a:lstStyle/>
          <a:p>
            <a:pPr lvl="0" defTabSz="914377">
              <a:defRPr/>
            </a:pPr>
            <a:r>
              <a:rPr lang="zh-CN" altLang="en-US" sz="2000" dirty="0">
                <a:solidFill>
                  <a:schemeClr val="bg1"/>
                </a:solidFill>
                <a:latin typeface="微软雅黑 Light" panose="020B0502040204020203" pitchFamily="34" charset="-122"/>
                <a:ea typeface="微软雅黑 Light" panose="020B0502040204020203" pitchFamily="34" charset="-122"/>
              </a:rPr>
              <a:t>不平等的积累</a:t>
            </a:r>
            <a:r>
              <a:rPr lang="en-US" altLang="zh-CN" sz="2000" dirty="0">
                <a:solidFill>
                  <a:schemeClr val="bg1"/>
                </a:solidFill>
                <a:latin typeface="微软雅黑 Light" panose="020B0502040204020203" pitchFamily="34" charset="-122"/>
                <a:ea typeface="微软雅黑 Light" panose="020B0502040204020203" pitchFamily="34" charset="-122"/>
              </a:rPr>
              <a:t>-</a:t>
            </a:r>
            <a:r>
              <a:rPr lang="zh-CN" altLang="en-US" sz="2000" dirty="0">
                <a:solidFill>
                  <a:schemeClr val="bg1"/>
                </a:solidFill>
                <a:latin typeface="微软雅黑 Light" panose="020B0502040204020203" pitchFamily="34" charset="-122"/>
                <a:ea typeface="微软雅黑 Light" panose="020B0502040204020203" pitchFamily="34" charset="-122"/>
              </a:rPr>
              <a:t>对马克思时代的证明</a:t>
            </a:r>
          </a:p>
        </p:txBody>
      </p:sp>
      <p:grpSp>
        <p:nvGrpSpPr>
          <p:cNvPr id="22" name="组合 21">
            <a:extLst>
              <a:ext uri="{FF2B5EF4-FFF2-40B4-BE49-F238E27FC236}">
                <a16:creationId xmlns:a16="http://schemas.microsoft.com/office/drawing/2014/main" id="{DFC37A35-D357-4CEE-9C28-5EABD3D35C6B}"/>
              </a:ext>
            </a:extLst>
          </p:cNvPr>
          <p:cNvGrpSpPr/>
          <p:nvPr/>
        </p:nvGrpSpPr>
        <p:grpSpPr>
          <a:xfrm>
            <a:off x="10735556" y="314266"/>
            <a:ext cx="1180589" cy="400111"/>
            <a:chOff x="624303" y="901700"/>
            <a:chExt cx="10005598" cy="3390977"/>
          </a:xfrm>
          <a:solidFill>
            <a:srgbClr val="7F2C8B"/>
          </a:solidFill>
        </p:grpSpPr>
        <p:sp>
          <p:nvSpPr>
            <p:cNvPr id="23" name="Freeform 5">
              <a:extLst>
                <a:ext uri="{FF2B5EF4-FFF2-40B4-BE49-F238E27FC236}">
                  <a16:creationId xmlns:a16="http://schemas.microsoft.com/office/drawing/2014/main" id="{0ACD2635-3EA4-461E-AE91-2E7358FA9FA0}"/>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4" name="Freeform 6">
              <a:extLst>
                <a:ext uri="{FF2B5EF4-FFF2-40B4-BE49-F238E27FC236}">
                  <a16:creationId xmlns:a16="http://schemas.microsoft.com/office/drawing/2014/main" id="{70354051-F1E2-4393-ABA2-AEB53FF0D08B}"/>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5" name="Freeform 7">
              <a:extLst>
                <a:ext uri="{FF2B5EF4-FFF2-40B4-BE49-F238E27FC236}">
                  <a16:creationId xmlns:a16="http://schemas.microsoft.com/office/drawing/2014/main" id="{5FFB1BFD-2D76-4EE4-9741-31F528BE757A}"/>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6" name="Freeform 8">
              <a:extLst>
                <a:ext uri="{FF2B5EF4-FFF2-40B4-BE49-F238E27FC236}">
                  <a16:creationId xmlns:a16="http://schemas.microsoft.com/office/drawing/2014/main" id="{1EFFAA81-03B5-4C66-939C-6BBDC7932C18}"/>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7" name="Freeform 9">
              <a:extLst>
                <a:ext uri="{FF2B5EF4-FFF2-40B4-BE49-F238E27FC236}">
                  <a16:creationId xmlns:a16="http://schemas.microsoft.com/office/drawing/2014/main" id="{35B0FA74-D77A-4B32-A41D-5E20B596D219}"/>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8" name="Freeform 10">
              <a:extLst>
                <a:ext uri="{FF2B5EF4-FFF2-40B4-BE49-F238E27FC236}">
                  <a16:creationId xmlns:a16="http://schemas.microsoft.com/office/drawing/2014/main" id="{F5FC7059-5FB3-4ADB-BA26-84EF705B3174}"/>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9" name="Freeform 11">
              <a:extLst>
                <a:ext uri="{FF2B5EF4-FFF2-40B4-BE49-F238E27FC236}">
                  <a16:creationId xmlns:a16="http://schemas.microsoft.com/office/drawing/2014/main" id="{937241A3-85EE-47AC-8B4A-B01E8B1B0812}"/>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0" name="Freeform 12">
              <a:extLst>
                <a:ext uri="{FF2B5EF4-FFF2-40B4-BE49-F238E27FC236}">
                  <a16:creationId xmlns:a16="http://schemas.microsoft.com/office/drawing/2014/main" id="{99EA3DC5-4FB4-48DC-9AA6-2E2F76C34725}"/>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1" name="Freeform 13">
              <a:extLst>
                <a:ext uri="{FF2B5EF4-FFF2-40B4-BE49-F238E27FC236}">
                  <a16:creationId xmlns:a16="http://schemas.microsoft.com/office/drawing/2014/main" id="{F7187B32-A15A-480D-849D-33EF28B75687}"/>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2" name="Freeform 14">
              <a:extLst>
                <a:ext uri="{FF2B5EF4-FFF2-40B4-BE49-F238E27FC236}">
                  <a16:creationId xmlns:a16="http://schemas.microsoft.com/office/drawing/2014/main" id="{AA5721AD-3E61-4D99-A2D8-A261E897EBAC}"/>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3" name="Freeform 15">
              <a:extLst>
                <a:ext uri="{FF2B5EF4-FFF2-40B4-BE49-F238E27FC236}">
                  <a16:creationId xmlns:a16="http://schemas.microsoft.com/office/drawing/2014/main" id="{EF703E7A-053E-4111-945E-2E43B9CC9ECE}"/>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4" name="Freeform 16">
              <a:extLst>
                <a:ext uri="{FF2B5EF4-FFF2-40B4-BE49-F238E27FC236}">
                  <a16:creationId xmlns:a16="http://schemas.microsoft.com/office/drawing/2014/main" id="{01BF6BE1-5CCD-4A5F-8AFA-EF1359F1D3F2}"/>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5" name="Freeform 17">
              <a:extLst>
                <a:ext uri="{FF2B5EF4-FFF2-40B4-BE49-F238E27FC236}">
                  <a16:creationId xmlns:a16="http://schemas.microsoft.com/office/drawing/2014/main" id="{295417E9-A0A1-4465-9436-76253B18BAD3}"/>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18">
              <a:extLst>
                <a:ext uri="{FF2B5EF4-FFF2-40B4-BE49-F238E27FC236}">
                  <a16:creationId xmlns:a16="http://schemas.microsoft.com/office/drawing/2014/main" id="{009C6FB2-A1BB-4F44-87AF-D874D67D737B}"/>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19">
              <a:extLst>
                <a:ext uri="{FF2B5EF4-FFF2-40B4-BE49-F238E27FC236}">
                  <a16:creationId xmlns:a16="http://schemas.microsoft.com/office/drawing/2014/main" id="{65203D5E-987A-4E4E-B0C9-FAC54EDFF054}"/>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20">
              <a:extLst>
                <a:ext uri="{FF2B5EF4-FFF2-40B4-BE49-F238E27FC236}">
                  <a16:creationId xmlns:a16="http://schemas.microsoft.com/office/drawing/2014/main" id="{F0367FE4-2904-433D-8E0F-42933CAA638D}"/>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21">
              <a:extLst>
                <a:ext uri="{FF2B5EF4-FFF2-40B4-BE49-F238E27FC236}">
                  <a16:creationId xmlns:a16="http://schemas.microsoft.com/office/drawing/2014/main" id="{7A0A948A-A7D6-4278-97BF-F101BFD0B366}"/>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22">
              <a:extLst>
                <a:ext uri="{FF2B5EF4-FFF2-40B4-BE49-F238E27FC236}">
                  <a16:creationId xmlns:a16="http://schemas.microsoft.com/office/drawing/2014/main" id="{DC614584-067F-48D2-931A-6CE53105F005}"/>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23">
              <a:extLst>
                <a:ext uri="{FF2B5EF4-FFF2-40B4-BE49-F238E27FC236}">
                  <a16:creationId xmlns:a16="http://schemas.microsoft.com/office/drawing/2014/main" id="{244320B8-5691-4A92-B2D2-5BCE1D98EA00}"/>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24">
              <a:extLst>
                <a:ext uri="{FF2B5EF4-FFF2-40B4-BE49-F238E27FC236}">
                  <a16:creationId xmlns:a16="http://schemas.microsoft.com/office/drawing/2014/main" id="{EF78F9E3-1F79-4E42-AAC8-E4DB818FEE8B}"/>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p:sp>
        <p:nvSpPr>
          <p:cNvPr id="2" name="文本框 1"/>
          <p:cNvSpPr txBox="1"/>
          <p:nvPr/>
        </p:nvSpPr>
        <p:spPr>
          <a:xfrm>
            <a:off x="534498" y="923636"/>
            <a:ext cx="5820120" cy="5624946"/>
          </a:xfrm>
          <a:prstGeom prst="rect">
            <a:avLst/>
          </a:prstGeom>
          <a:noFill/>
        </p:spPr>
        <p:txBody>
          <a:bodyPr wrap="square" rtlCol="0">
            <a:spAutoFit/>
          </a:bodyPr>
          <a:lstStyle/>
          <a:p>
            <a:endParaRPr lang="zh-CN" altLang="en-US" dirty="0"/>
          </a:p>
        </p:txBody>
      </p:sp>
      <p:sp>
        <p:nvSpPr>
          <p:cNvPr id="3" name="文本框 2"/>
          <p:cNvSpPr txBox="1"/>
          <p:nvPr/>
        </p:nvSpPr>
        <p:spPr>
          <a:xfrm>
            <a:off x="645333" y="923577"/>
            <a:ext cx="11121859" cy="2154436"/>
          </a:xfrm>
          <a:prstGeom prst="rect">
            <a:avLst/>
          </a:prstGeom>
          <a:noFill/>
        </p:spPr>
        <p:txBody>
          <a:bodyPr wrap="square" rtlCol="0">
            <a:spAutoFit/>
          </a:bodyPr>
          <a:lstStyle/>
          <a:p>
            <a:r>
              <a:rPr lang="en-US" altLang="zh-CN" sz="2000" dirty="0">
                <a:solidFill>
                  <a:srgbClr val="7030A0"/>
                </a:solidFill>
              </a:rPr>
              <a:t>※</a:t>
            </a:r>
            <a:r>
              <a:rPr lang="en-US" altLang="zh-CN" sz="2000" dirty="0"/>
              <a:t>《21</a:t>
            </a:r>
            <a:r>
              <a:rPr lang="zh-CN" altLang="en-US" sz="2000" dirty="0"/>
              <a:t>世纪资本论</a:t>
            </a:r>
            <a:r>
              <a:rPr lang="en-US" altLang="zh-CN" sz="2000" dirty="0"/>
              <a:t>》</a:t>
            </a:r>
            <a:r>
              <a:rPr lang="zh-CN" altLang="en-US" sz="2000" dirty="0"/>
              <a:t>对马克思</a:t>
            </a:r>
            <a:r>
              <a:rPr lang="en-US" altLang="zh-CN" sz="2000" dirty="0"/>
              <a:t>《</a:t>
            </a:r>
            <a:r>
              <a:rPr lang="zh-CN" altLang="en-US" sz="2000" dirty="0"/>
              <a:t>资本论</a:t>
            </a:r>
            <a:r>
              <a:rPr lang="en-US" altLang="zh-CN" sz="2000" dirty="0"/>
              <a:t>》</a:t>
            </a:r>
            <a:r>
              <a:rPr lang="zh-CN" altLang="en-US" sz="2000" dirty="0"/>
              <a:t>的注释：在整个</a:t>
            </a:r>
            <a:r>
              <a:rPr lang="en-US" altLang="zh-CN" sz="2000" dirty="0"/>
              <a:t>19</a:t>
            </a:r>
            <a:r>
              <a:rPr lang="zh-CN" altLang="en-US" sz="2000" dirty="0"/>
              <a:t>世纪，收入分配不公的趋势是逐渐拉大的。</a:t>
            </a:r>
            <a:endParaRPr lang="en-US" altLang="zh-CN" sz="2000" dirty="0"/>
          </a:p>
          <a:p>
            <a:endParaRPr lang="en-US" altLang="zh-CN" sz="2000" dirty="0"/>
          </a:p>
          <a:p>
            <a:r>
              <a:rPr lang="zh-CN" altLang="en-US" sz="2000" dirty="0"/>
              <a:t>法兰西银行：</a:t>
            </a:r>
            <a:r>
              <a:rPr lang="en-US" altLang="zh-CN" sz="2000" dirty="0"/>
              <a:t>200</a:t>
            </a:r>
            <a:r>
              <a:rPr lang="zh-CN" altLang="en-US" sz="2000" dirty="0"/>
              <a:t>家族（</a:t>
            </a:r>
            <a:r>
              <a:rPr lang="en-US" altLang="zh-CN" sz="2000" dirty="0"/>
              <a:t>1946</a:t>
            </a:r>
            <a:r>
              <a:rPr lang="zh-CN" altLang="en-US" sz="2000" dirty="0"/>
              <a:t>年才完成国有化）</a:t>
            </a:r>
            <a:endParaRPr lang="en-US" altLang="zh-CN" sz="2000" dirty="0"/>
          </a:p>
          <a:p>
            <a:endParaRPr lang="en-US" altLang="zh-CN" dirty="0"/>
          </a:p>
          <a:p>
            <a:endParaRPr lang="en-US" altLang="zh-CN" dirty="0"/>
          </a:p>
          <a:p>
            <a:endParaRPr lang="en-US" altLang="zh-CN" dirty="0"/>
          </a:p>
        </p:txBody>
      </p:sp>
      <p:pic>
        <p:nvPicPr>
          <p:cNvPr id="9" name="图片 8"/>
          <p:cNvPicPr>
            <a:picLocks noChangeAspect="1"/>
          </p:cNvPicPr>
          <p:nvPr/>
        </p:nvPicPr>
        <p:blipFill>
          <a:blip r:embed="rId3"/>
          <a:stretch>
            <a:fillRect/>
          </a:stretch>
        </p:blipFill>
        <p:spPr>
          <a:xfrm>
            <a:off x="6249770" y="2543014"/>
            <a:ext cx="5642130" cy="3650114"/>
          </a:xfrm>
          <a:prstGeom prst="rect">
            <a:avLst/>
          </a:prstGeom>
        </p:spPr>
      </p:pic>
      <p:pic>
        <p:nvPicPr>
          <p:cNvPr id="5" name="图片 4"/>
          <p:cNvPicPr>
            <a:picLocks noChangeAspect="1"/>
          </p:cNvPicPr>
          <p:nvPr/>
        </p:nvPicPr>
        <p:blipFill>
          <a:blip r:embed="rId4"/>
          <a:stretch>
            <a:fillRect/>
          </a:stretch>
        </p:blipFill>
        <p:spPr>
          <a:xfrm>
            <a:off x="606863" y="2597854"/>
            <a:ext cx="5489137" cy="3540434"/>
          </a:xfrm>
          <a:prstGeom prst="rect">
            <a:avLst/>
          </a:prstGeom>
        </p:spPr>
      </p:pic>
    </p:spTree>
    <p:extLst>
      <p:ext uri="{BB962C8B-B14F-4D97-AF65-F5344CB8AC3E}">
        <p14:creationId xmlns:p14="http://schemas.microsoft.com/office/powerpoint/2010/main" val="2463415931"/>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952E7725-3096-4969-8619-BFD45072AD94}"/>
              </a:ext>
            </a:extLst>
          </p:cNvPr>
          <p:cNvSpPr txBox="1"/>
          <p:nvPr/>
        </p:nvSpPr>
        <p:spPr>
          <a:xfrm>
            <a:off x="534498" y="304741"/>
            <a:ext cx="3113866" cy="400110"/>
          </a:xfrm>
          <a:prstGeom prst="rect">
            <a:avLst/>
          </a:prstGeom>
          <a:solidFill>
            <a:srgbClr val="7F2C8B"/>
          </a:solidFill>
        </p:spPr>
        <p:txBody>
          <a:bodyPr wrap="square" rtlCol="0">
            <a:spAutoFit/>
          </a:bodyPr>
          <a:lstStyle/>
          <a:p>
            <a:pPr lvl="0" defTabSz="914377">
              <a:defRPr/>
            </a:pPr>
            <a:r>
              <a:rPr lang="zh-CN" altLang="en-US" sz="2000" dirty="0">
                <a:solidFill>
                  <a:schemeClr val="bg1"/>
                </a:solidFill>
                <a:latin typeface="微软雅黑 Light" panose="020B0502040204020203" pitchFamily="34" charset="-122"/>
                <a:ea typeface="微软雅黑 Light" panose="020B0502040204020203" pitchFamily="34" charset="-122"/>
              </a:rPr>
              <a:t>不平等的积累</a:t>
            </a:r>
            <a:r>
              <a:rPr lang="en-US" altLang="zh-CN" sz="2000" dirty="0">
                <a:solidFill>
                  <a:schemeClr val="bg1"/>
                </a:solidFill>
                <a:latin typeface="微软雅黑 Light" panose="020B0502040204020203" pitchFamily="34" charset="-122"/>
                <a:ea typeface="微软雅黑 Light" panose="020B0502040204020203" pitchFamily="34" charset="-122"/>
              </a:rPr>
              <a:t>-</a:t>
            </a:r>
            <a:r>
              <a:rPr lang="zh-CN" altLang="en-US" sz="2000" dirty="0">
                <a:solidFill>
                  <a:schemeClr val="bg1"/>
                </a:solidFill>
                <a:latin typeface="微软雅黑 Light" panose="020B0502040204020203" pitchFamily="34" charset="-122"/>
                <a:ea typeface="微软雅黑 Light" panose="020B0502040204020203" pitchFamily="34" charset="-122"/>
              </a:rPr>
              <a:t>当代的情况</a:t>
            </a:r>
          </a:p>
        </p:txBody>
      </p:sp>
      <p:grpSp>
        <p:nvGrpSpPr>
          <p:cNvPr id="22" name="组合 21">
            <a:extLst>
              <a:ext uri="{FF2B5EF4-FFF2-40B4-BE49-F238E27FC236}">
                <a16:creationId xmlns:a16="http://schemas.microsoft.com/office/drawing/2014/main" id="{DFC37A35-D357-4CEE-9C28-5EABD3D35C6B}"/>
              </a:ext>
            </a:extLst>
          </p:cNvPr>
          <p:cNvGrpSpPr/>
          <p:nvPr/>
        </p:nvGrpSpPr>
        <p:grpSpPr>
          <a:xfrm>
            <a:off x="10735556" y="314266"/>
            <a:ext cx="1180589" cy="400111"/>
            <a:chOff x="624303" y="901700"/>
            <a:chExt cx="10005598" cy="3390977"/>
          </a:xfrm>
          <a:solidFill>
            <a:srgbClr val="7F2C8B"/>
          </a:solidFill>
        </p:grpSpPr>
        <p:sp>
          <p:nvSpPr>
            <p:cNvPr id="23" name="Freeform 5">
              <a:extLst>
                <a:ext uri="{FF2B5EF4-FFF2-40B4-BE49-F238E27FC236}">
                  <a16:creationId xmlns:a16="http://schemas.microsoft.com/office/drawing/2014/main" id="{0ACD2635-3EA4-461E-AE91-2E7358FA9FA0}"/>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4" name="Freeform 6">
              <a:extLst>
                <a:ext uri="{FF2B5EF4-FFF2-40B4-BE49-F238E27FC236}">
                  <a16:creationId xmlns:a16="http://schemas.microsoft.com/office/drawing/2014/main" id="{70354051-F1E2-4393-ABA2-AEB53FF0D08B}"/>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5" name="Freeform 7">
              <a:extLst>
                <a:ext uri="{FF2B5EF4-FFF2-40B4-BE49-F238E27FC236}">
                  <a16:creationId xmlns:a16="http://schemas.microsoft.com/office/drawing/2014/main" id="{5FFB1BFD-2D76-4EE4-9741-31F528BE757A}"/>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6" name="Freeform 8">
              <a:extLst>
                <a:ext uri="{FF2B5EF4-FFF2-40B4-BE49-F238E27FC236}">
                  <a16:creationId xmlns:a16="http://schemas.microsoft.com/office/drawing/2014/main" id="{1EFFAA81-03B5-4C66-939C-6BBDC7932C18}"/>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7" name="Freeform 9">
              <a:extLst>
                <a:ext uri="{FF2B5EF4-FFF2-40B4-BE49-F238E27FC236}">
                  <a16:creationId xmlns:a16="http://schemas.microsoft.com/office/drawing/2014/main" id="{35B0FA74-D77A-4B32-A41D-5E20B596D219}"/>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8" name="Freeform 10">
              <a:extLst>
                <a:ext uri="{FF2B5EF4-FFF2-40B4-BE49-F238E27FC236}">
                  <a16:creationId xmlns:a16="http://schemas.microsoft.com/office/drawing/2014/main" id="{F5FC7059-5FB3-4ADB-BA26-84EF705B3174}"/>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9" name="Freeform 11">
              <a:extLst>
                <a:ext uri="{FF2B5EF4-FFF2-40B4-BE49-F238E27FC236}">
                  <a16:creationId xmlns:a16="http://schemas.microsoft.com/office/drawing/2014/main" id="{937241A3-85EE-47AC-8B4A-B01E8B1B0812}"/>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0" name="Freeform 12">
              <a:extLst>
                <a:ext uri="{FF2B5EF4-FFF2-40B4-BE49-F238E27FC236}">
                  <a16:creationId xmlns:a16="http://schemas.microsoft.com/office/drawing/2014/main" id="{99EA3DC5-4FB4-48DC-9AA6-2E2F76C34725}"/>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1" name="Freeform 13">
              <a:extLst>
                <a:ext uri="{FF2B5EF4-FFF2-40B4-BE49-F238E27FC236}">
                  <a16:creationId xmlns:a16="http://schemas.microsoft.com/office/drawing/2014/main" id="{F7187B32-A15A-480D-849D-33EF28B75687}"/>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2" name="Freeform 14">
              <a:extLst>
                <a:ext uri="{FF2B5EF4-FFF2-40B4-BE49-F238E27FC236}">
                  <a16:creationId xmlns:a16="http://schemas.microsoft.com/office/drawing/2014/main" id="{AA5721AD-3E61-4D99-A2D8-A261E897EBAC}"/>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3" name="Freeform 15">
              <a:extLst>
                <a:ext uri="{FF2B5EF4-FFF2-40B4-BE49-F238E27FC236}">
                  <a16:creationId xmlns:a16="http://schemas.microsoft.com/office/drawing/2014/main" id="{EF703E7A-053E-4111-945E-2E43B9CC9ECE}"/>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4" name="Freeform 16">
              <a:extLst>
                <a:ext uri="{FF2B5EF4-FFF2-40B4-BE49-F238E27FC236}">
                  <a16:creationId xmlns:a16="http://schemas.microsoft.com/office/drawing/2014/main" id="{01BF6BE1-5CCD-4A5F-8AFA-EF1359F1D3F2}"/>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5" name="Freeform 17">
              <a:extLst>
                <a:ext uri="{FF2B5EF4-FFF2-40B4-BE49-F238E27FC236}">
                  <a16:creationId xmlns:a16="http://schemas.microsoft.com/office/drawing/2014/main" id="{295417E9-A0A1-4465-9436-76253B18BAD3}"/>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18">
              <a:extLst>
                <a:ext uri="{FF2B5EF4-FFF2-40B4-BE49-F238E27FC236}">
                  <a16:creationId xmlns:a16="http://schemas.microsoft.com/office/drawing/2014/main" id="{009C6FB2-A1BB-4F44-87AF-D874D67D737B}"/>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19">
              <a:extLst>
                <a:ext uri="{FF2B5EF4-FFF2-40B4-BE49-F238E27FC236}">
                  <a16:creationId xmlns:a16="http://schemas.microsoft.com/office/drawing/2014/main" id="{65203D5E-987A-4E4E-B0C9-FAC54EDFF054}"/>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20">
              <a:extLst>
                <a:ext uri="{FF2B5EF4-FFF2-40B4-BE49-F238E27FC236}">
                  <a16:creationId xmlns:a16="http://schemas.microsoft.com/office/drawing/2014/main" id="{F0367FE4-2904-433D-8E0F-42933CAA638D}"/>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21">
              <a:extLst>
                <a:ext uri="{FF2B5EF4-FFF2-40B4-BE49-F238E27FC236}">
                  <a16:creationId xmlns:a16="http://schemas.microsoft.com/office/drawing/2014/main" id="{7A0A948A-A7D6-4278-97BF-F101BFD0B366}"/>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22">
              <a:extLst>
                <a:ext uri="{FF2B5EF4-FFF2-40B4-BE49-F238E27FC236}">
                  <a16:creationId xmlns:a16="http://schemas.microsoft.com/office/drawing/2014/main" id="{DC614584-067F-48D2-931A-6CE53105F005}"/>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23">
              <a:extLst>
                <a:ext uri="{FF2B5EF4-FFF2-40B4-BE49-F238E27FC236}">
                  <a16:creationId xmlns:a16="http://schemas.microsoft.com/office/drawing/2014/main" id="{244320B8-5691-4A92-B2D2-5BCE1D98EA00}"/>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24">
              <a:extLst>
                <a:ext uri="{FF2B5EF4-FFF2-40B4-BE49-F238E27FC236}">
                  <a16:creationId xmlns:a16="http://schemas.microsoft.com/office/drawing/2014/main" id="{EF78F9E3-1F79-4E42-AAC8-E4DB818FEE8B}"/>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p:sp>
        <p:nvSpPr>
          <p:cNvPr id="2" name="文本框 1"/>
          <p:cNvSpPr txBox="1"/>
          <p:nvPr/>
        </p:nvSpPr>
        <p:spPr>
          <a:xfrm>
            <a:off x="534498" y="923636"/>
            <a:ext cx="5820120" cy="5624946"/>
          </a:xfrm>
          <a:prstGeom prst="rect">
            <a:avLst/>
          </a:prstGeom>
          <a:noFill/>
        </p:spPr>
        <p:txBody>
          <a:bodyPr wrap="square" rtlCol="0">
            <a:spAutoFit/>
          </a:bodyPr>
          <a:lstStyle/>
          <a:p>
            <a:endParaRPr lang="zh-CN" altLang="en-US" dirty="0"/>
          </a:p>
        </p:txBody>
      </p:sp>
      <p:sp>
        <p:nvSpPr>
          <p:cNvPr id="3" name="文本框 2"/>
          <p:cNvSpPr txBox="1"/>
          <p:nvPr/>
        </p:nvSpPr>
        <p:spPr>
          <a:xfrm>
            <a:off x="645333" y="923577"/>
            <a:ext cx="6749473" cy="5632311"/>
          </a:xfrm>
          <a:prstGeom prst="rect">
            <a:avLst/>
          </a:prstGeom>
          <a:noFill/>
        </p:spPr>
        <p:txBody>
          <a:bodyPr wrap="square" rtlCol="0">
            <a:spAutoFit/>
          </a:bodyPr>
          <a:lstStyle/>
          <a:p>
            <a:r>
              <a:rPr lang="en-US" altLang="zh-CN" sz="2000" dirty="0">
                <a:solidFill>
                  <a:srgbClr val="7030A0"/>
                </a:solidFill>
              </a:rPr>
              <a:t>※</a:t>
            </a:r>
            <a:r>
              <a:rPr lang="zh-CN" altLang="en-US" sz="2000" dirty="0"/>
              <a:t>相对于马克思所处的时代，当代的资本主义不平等有所改善，但是自从新自由主义泛滥以来，不平等再次加剧</a:t>
            </a:r>
            <a:endParaRPr lang="en-US" altLang="zh-CN" sz="2000" dirty="0"/>
          </a:p>
          <a:p>
            <a:endParaRPr lang="en-US" altLang="zh-CN" sz="2000" dirty="0"/>
          </a:p>
          <a:p>
            <a:r>
              <a:rPr lang="en-US" altLang="zh-CN" sz="2000" dirty="0">
                <a:solidFill>
                  <a:srgbClr val="7030A0"/>
                </a:solidFill>
              </a:rPr>
              <a:t>※</a:t>
            </a:r>
            <a:r>
              <a:rPr lang="zh-CN" altLang="en-US" sz="2000" dirty="0"/>
              <a:t>事物否定之否定规律</a:t>
            </a:r>
            <a:endParaRPr lang="en-US" altLang="zh-CN" sz="2000" dirty="0"/>
          </a:p>
          <a:p>
            <a:endParaRPr lang="en-US" altLang="zh-CN" sz="2000" dirty="0"/>
          </a:p>
          <a:p>
            <a:r>
              <a:rPr lang="en-US" altLang="zh-CN" sz="2000" dirty="0">
                <a:solidFill>
                  <a:srgbClr val="7030A0"/>
                </a:solidFill>
              </a:rPr>
              <a:t>※</a:t>
            </a:r>
            <a:r>
              <a:rPr lang="zh-CN" altLang="en-US" sz="2000" dirty="0"/>
              <a:t>但是自从新自由主义泛滥以来，不平等再次加剧，占领华尔街运动、黄背心运动</a:t>
            </a:r>
            <a:endParaRPr lang="en-US" altLang="zh-CN" sz="2000" dirty="0"/>
          </a:p>
          <a:p>
            <a:endParaRPr lang="en-US" altLang="zh-CN" sz="2000" dirty="0"/>
          </a:p>
          <a:p>
            <a:r>
              <a:rPr lang="en-US" altLang="zh-CN" sz="2000" dirty="0">
                <a:solidFill>
                  <a:srgbClr val="7030A0"/>
                </a:solidFill>
              </a:rPr>
              <a:t>※</a:t>
            </a:r>
            <a:r>
              <a:rPr lang="zh-CN" altLang="en-US" sz="2000" dirty="0"/>
              <a:t>是否存在这样一种改善的可能？即收入的增长超过资本的积累速度，降低工薪阶层（劳动者）和食利阶层（资本家）的财富差距。</a:t>
            </a:r>
            <a:endParaRPr lang="en-US" altLang="zh-CN" sz="2000" dirty="0"/>
          </a:p>
          <a:p>
            <a:endParaRPr lang="en-US" altLang="zh-CN" sz="2000" dirty="0"/>
          </a:p>
          <a:p>
            <a:r>
              <a:rPr lang="en-US" altLang="zh-CN" sz="2000" dirty="0">
                <a:solidFill>
                  <a:srgbClr val="7030A0"/>
                </a:solidFill>
              </a:rPr>
              <a:t>※</a:t>
            </a:r>
            <a:r>
              <a:rPr lang="zh-CN" altLang="en-US" sz="2000" dirty="0"/>
              <a:t>资本第一定律：</a:t>
            </a:r>
            <a:r>
              <a:rPr lang="en-US" altLang="zh-CN" sz="2000" dirty="0"/>
              <a:t>r&gt;g (</a:t>
            </a:r>
            <a:r>
              <a:rPr lang="fr-FR" altLang="zh-CN" sz="2000" dirty="0"/>
              <a:t>Le Taux de rémunération du capital r est historiquement stable et supérieur à la croissance g.</a:t>
            </a:r>
            <a:r>
              <a:rPr lang="zh-CN" altLang="fr-FR" sz="2000" dirty="0"/>
              <a:t>）</a:t>
            </a:r>
            <a:endParaRPr lang="en-US" altLang="zh-CN" sz="2000" dirty="0"/>
          </a:p>
          <a:p>
            <a:r>
              <a:rPr lang="zh-CN" altLang="en-US" sz="2000" dirty="0"/>
              <a:t>资本回报高于收入增长才是历史常态，二十世纪只是一个例外</a:t>
            </a:r>
            <a:endParaRPr lang="en-US" altLang="zh-CN" sz="2000" dirty="0"/>
          </a:p>
          <a:p>
            <a:endParaRPr lang="en-US" altLang="zh-CN" sz="2000" dirty="0"/>
          </a:p>
          <a:p>
            <a:r>
              <a:rPr lang="en-US" altLang="zh-CN" sz="2000" dirty="0">
                <a:solidFill>
                  <a:srgbClr val="7030A0"/>
                </a:solidFill>
              </a:rPr>
              <a:t>※</a:t>
            </a:r>
            <a:r>
              <a:rPr lang="zh-CN" altLang="en-US" sz="2000" dirty="0">
                <a:solidFill>
                  <a:srgbClr val="7030A0"/>
                </a:solidFill>
              </a:rPr>
              <a:t>结论：</a:t>
            </a:r>
            <a:r>
              <a:rPr lang="zh-CN" altLang="en-US" sz="2000" dirty="0">
                <a:solidFill>
                  <a:srgbClr val="353535"/>
                </a:solidFill>
              </a:rPr>
              <a:t>必须对不加节制的资本积累作出限制</a:t>
            </a:r>
            <a:endParaRPr lang="en-US" altLang="zh-CN" sz="2000" dirty="0">
              <a:solidFill>
                <a:srgbClr val="353535"/>
              </a:solidFill>
            </a:endParaRPr>
          </a:p>
        </p:txBody>
      </p:sp>
      <p:pic>
        <p:nvPicPr>
          <p:cNvPr id="6" name="图片 5"/>
          <p:cNvPicPr>
            <a:picLocks noChangeAspect="1"/>
          </p:cNvPicPr>
          <p:nvPr/>
        </p:nvPicPr>
        <p:blipFill>
          <a:blip r:embed="rId3"/>
          <a:stretch>
            <a:fillRect/>
          </a:stretch>
        </p:blipFill>
        <p:spPr>
          <a:xfrm>
            <a:off x="7394807" y="923577"/>
            <a:ext cx="3909523" cy="2880000"/>
          </a:xfrm>
          <a:prstGeom prst="rect">
            <a:avLst/>
          </a:prstGeom>
        </p:spPr>
      </p:pic>
      <p:pic>
        <p:nvPicPr>
          <p:cNvPr id="10" name="图片 9"/>
          <p:cNvPicPr>
            <a:picLocks noChangeAspect="1"/>
          </p:cNvPicPr>
          <p:nvPr/>
        </p:nvPicPr>
        <p:blipFill>
          <a:blip r:embed="rId4"/>
          <a:stretch>
            <a:fillRect/>
          </a:stretch>
        </p:blipFill>
        <p:spPr>
          <a:xfrm>
            <a:off x="7533567" y="3873584"/>
            <a:ext cx="3989726" cy="2880000"/>
          </a:xfrm>
          <a:prstGeom prst="rect">
            <a:avLst/>
          </a:prstGeom>
        </p:spPr>
      </p:pic>
    </p:spTree>
    <p:extLst>
      <p:ext uri="{BB962C8B-B14F-4D97-AF65-F5344CB8AC3E}">
        <p14:creationId xmlns:p14="http://schemas.microsoft.com/office/powerpoint/2010/main" val="2636710288"/>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952E7725-3096-4969-8619-BFD45072AD94}"/>
              </a:ext>
            </a:extLst>
          </p:cNvPr>
          <p:cNvSpPr txBox="1"/>
          <p:nvPr/>
        </p:nvSpPr>
        <p:spPr>
          <a:xfrm>
            <a:off x="534498" y="304741"/>
            <a:ext cx="3113866" cy="400110"/>
          </a:xfrm>
          <a:prstGeom prst="rect">
            <a:avLst/>
          </a:prstGeom>
          <a:solidFill>
            <a:srgbClr val="7F2C8B"/>
          </a:solidFill>
        </p:spPr>
        <p:txBody>
          <a:bodyPr wrap="square" rtlCol="0">
            <a:spAutoFit/>
          </a:bodyPr>
          <a:lstStyle/>
          <a:p>
            <a:pPr lvl="0" defTabSz="914377">
              <a:defRPr/>
            </a:pPr>
            <a:r>
              <a:rPr lang="zh-CN" altLang="en-US" sz="2000" dirty="0">
                <a:solidFill>
                  <a:schemeClr val="bg1"/>
                </a:solidFill>
                <a:latin typeface="微软雅黑 Light" panose="020B0502040204020203" pitchFamily="34" charset="-122"/>
                <a:ea typeface="微软雅黑 Light" panose="020B0502040204020203" pitchFamily="34" charset="-122"/>
              </a:rPr>
              <a:t>不平等的积累</a:t>
            </a:r>
            <a:r>
              <a:rPr lang="en-US" altLang="zh-CN" sz="2000" dirty="0">
                <a:solidFill>
                  <a:schemeClr val="bg1"/>
                </a:solidFill>
                <a:latin typeface="微软雅黑 Light" panose="020B0502040204020203" pitchFamily="34" charset="-122"/>
                <a:ea typeface="微软雅黑 Light" panose="020B0502040204020203" pitchFamily="34" charset="-122"/>
              </a:rPr>
              <a:t>-</a:t>
            </a:r>
            <a:r>
              <a:rPr lang="zh-CN" altLang="en-US" sz="2000" dirty="0">
                <a:solidFill>
                  <a:schemeClr val="bg1"/>
                </a:solidFill>
                <a:latin typeface="微软雅黑 Light" panose="020B0502040204020203" pitchFamily="34" charset="-122"/>
                <a:ea typeface="微软雅黑 Light" panose="020B0502040204020203" pitchFamily="34" charset="-122"/>
              </a:rPr>
              <a:t>改善的曙光</a:t>
            </a:r>
          </a:p>
        </p:txBody>
      </p:sp>
      <p:grpSp>
        <p:nvGrpSpPr>
          <p:cNvPr id="22" name="组合 21">
            <a:extLst>
              <a:ext uri="{FF2B5EF4-FFF2-40B4-BE49-F238E27FC236}">
                <a16:creationId xmlns:a16="http://schemas.microsoft.com/office/drawing/2014/main" id="{DFC37A35-D357-4CEE-9C28-5EABD3D35C6B}"/>
              </a:ext>
            </a:extLst>
          </p:cNvPr>
          <p:cNvGrpSpPr/>
          <p:nvPr/>
        </p:nvGrpSpPr>
        <p:grpSpPr>
          <a:xfrm>
            <a:off x="10735556" y="314266"/>
            <a:ext cx="1180589" cy="400111"/>
            <a:chOff x="624303" y="901700"/>
            <a:chExt cx="10005598" cy="3390977"/>
          </a:xfrm>
          <a:solidFill>
            <a:srgbClr val="7F2C8B"/>
          </a:solidFill>
        </p:grpSpPr>
        <p:sp>
          <p:nvSpPr>
            <p:cNvPr id="23" name="Freeform 5">
              <a:extLst>
                <a:ext uri="{FF2B5EF4-FFF2-40B4-BE49-F238E27FC236}">
                  <a16:creationId xmlns:a16="http://schemas.microsoft.com/office/drawing/2014/main" id="{0ACD2635-3EA4-461E-AE91-2E7358FA9FA0}"/>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4" name="Freeform 6">
              <a:extLst>
                <a:ext uri="{FF2B5EF4-FFF2-40B4-BE49-F238E27FC236}">
                  <a16:creationId xmlns:a16="http://schemas.microsoft.com/office/drawing/2014/main" id="{70354051-F1E2-4393-ABA2-AEB53FF0D08B}"/>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5" name="Freeform 7">
              <a:extLst>
                <a:ext uri="{FF2B5EF4-FFF2-40B4-BE49-F238E27FC236}">
                  <a16:creationId xmlns:a16="http://schemas.microsoft.com/office/drawing/2014/main" id="{5FFB1BFD-2D76-4EE4-9741-31F528BE757A}"/>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6" name="Freeform 8">
              <a:extLst>
                <a:ext uri="{FF2B5EF4-FFF2-40B4-BE49-F238E27FC236}">
                  <a16:creationId xmlns:a16="http://schemas.microsoft.com/office/drawing/2014/main" id="{1EFFAA81-03B5-4C66-939C-6BBDC7932C18}"/>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7" name="Freeform 9">
              <a:extLst>
                <a:ext uri="{FF2B5EF4-FFF2-40B4-BE49-F238E27FC236}">
                  <a16:creationId xmlns:a16="http://schemas.microsoft.com/office/drawing/2014/main" id="{35B0FA74-D77A-4B32-A41D-5E20B596D219}"/>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8" name="Freeform 10">
              <a:extLst>
                <a:ext uri="{FF2B5EF4-FFF2-40B4-BE49-F238E27FC236}">
                  <a16:creationId xmlns:a16="http://schemas.microsoft.com/office/drawing/2014/main" id="{F5FC7059-5FB3-4ADB-BA26-84EF705B3174}"/>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9" name="Freeform 11">
              <a:extLst>
                <a:ext uri="{FF2B5EF4-FFF2-40B4-BE49-F238E27FC236}">
                  <a16:creationId xmlns:a16="http://schemas.microsoft.com/office/drawing/2014/main" id="{937241A3-85EE-47AC-8B4A-B01E8B1B0812}"/>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0" name="Freeform 12">
              <a:extLst>
                <a:ext uri="{FF2B5EF4-FFF2-40B4-BE49-F238E27FC236}">
                  <a16:creationId xmlns:a16="http://schemas.microsoft.com/office/drawing/2014/main" id="{99EA3DC5-4FB4-48DC-9AA6-2E2F76C34725}"/>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1" name="Freeform 13">
              <a:extLst>
                <a:ext uri="{FF2B5EF4-FFF2-40B4-BE49-F238E27FC236}">
                  <a16:creationId xmlns:a16="http://schemas.microsoft.com/office/drawing/2014/main" id="{F7187B32-A15A-480D-849D-33EF28B75687}"/>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2" name="Freeform 14">
              <a:extLst>
                <a:ext uri="{FF2B5EF4-FFF2-40B4-BE49-F238E27FC236}">
                  <a16:creationId xmlns:a16="http://schemas.microsoft.com/office/drawing/2014/main" id="{AA5721AD-3E61-4D99-A2D8-A261E897EBAC}"/>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3" name="Freeform 15">
              <a:extLst>
                <a:ext uri="{FF2B5EF4-FFF2-40B4-BE49-F238E27FC236}">
                  <a16:creationId xmlns:a16="http://schemas.microsoft.com/office/drawing/2014/main" id="{EF703E7A-053E-4111-945E-2E43B9CC9ECE}"/>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4" name="Freeform 16">
              <a:extLst>
                <a:ext uri="{FF2B5EF4-FFF2-40B4-BE49-F238E27FC236}">
                  <a16:creationId xmlns:a16="http://schemas.microsoft.com/office/drawing/2014/main" id="{01BF6BE1-5CCD-4A5F-8AFA-EF1359F1D3F2}"/>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5" name="Freeform 17">
              <a:extLst>
                <a:ext uri="{FF2B5EF4-FFF2-40B4-BE49-F238E27FC236}">
                  <a16:creationId xmlns:a16="http://schemas.microsoft.com/office/drawing/2014/main" id="{295417E9-A0A1-4465-9436-76253B18BAD3}"/>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18">
              <a:extLst>
                <a:ext uri="{FF2B5EF4-FFF2-40B4-BE49-F238E27FC236}">
                  <a16:creationId xmlns:a16="http://schemas.microsoft.com/office/drawing/2014/main" id="{009C6FB2-A1BB-4F44-87AF-D874D67D737B}"/>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19">
              <a:extLst>
                <a:ext uri="{FF2B5EF4-FFF2-40B4-BE49-F238E27FC236}">
                  <a16:creationId xmlns:a16="http://schemas.microsoft.com/office/drawing/2014/main" id="{65203D5E-987A-4E4E-B0C9-FAC54EDFF054}"/>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20">
              <a:extLst>
                <a:ext uri="{FF2B5EF4-FFF2-40B4-BE49-F238E27FC236}">
                  <a16:creationId xmlns:a16="http://schemas.microsoft.com/office/drawing/2014/main" id="{F0367FE4-2904-433D-8E0F-42933CAA638D}"/>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21">
              <a:extLst>
                <a:ext uri="{FF2B5EF4-FFF2-40B4-BE49-F238E27FC236}">
                  <a16:creationId xmlns:a16="http://schemas.microsoft.com/office/drawing/2014/main" id="{7A0A948A-A7D6-4278-97BF-F101BFD0B366}"/>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22">
              <a:extLst>
                <a:ext uri="{FF2B5EF4-FFF2-40B4-BE49-F238E27FC236}">
                  <a16:creationId xmlns:a16="http://schemas.microsoft.com/office/drawing/2014/main" id="{DC614584-067F-48D2-931A-6CE53105F005}"/>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23">
              <a:extLst>
                <a:ext uri="{FF2B5EF4-FFF2-40B4-BE49-F238E27FC236}">
                  <a16:creationId xmlns:a16="http://schemas.microsoft.com/office/drawing/2014/main" id="{244320B8-5691-4A92-B2D2-5BCE1D98EA00}"/>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24">
              <a:extLst>
                <a:ext uri="{FF2B5EF4-FFF2-40B4-BE49-F238E27FC236}">
                  <a16:creationId xmlns:a16="http://schemas.microsoft.com/office/drawing/2014/main" id="{EF78F9E3-1F79-4E42-AAC8-E4DB818FEE8B}"/>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p:sp>
        <p:nvSpPr>
          <p:cNvPr id="2" name="文本框 1"/>
          <p:cNvSpPr txBox="1"/>
          <p:nvPr/>
        </p:nvSpPr>
        <p:spPr>
          <a:xfrm>
            <a:off x="534498" y="923636"/>
            <a:ext cx="5820120" cy="5624946"/>
          </a:xfrm>
          <a:prstGeom prst="rect">
            <a:avLst/>
          </a:prstGeom>
          <a:noFill/>
        </p:spPr>
        <p:txBody>
          <a:bodyPr wrap="square" rtlCol="0">
            <a:spAutoFit/>
          </a:bodyPr>
          <a:lstStyle/>
          <a:p>
            <a:endParaRPr lang="zh-CN" altLang="en-US" dirty="0"/>
          </a:p>
        </p:txBody>
      </p:sp>
      <p:sp>
        <p:nvSpPr>
          <p:cNvPr id="3" name="文本框 2"/>
          <p:cNvSpPr txBox="1"/>
          <p:nvPr/>
        </p:nvSpPr>
        <p:spPr>
          <a:xfrm>
            <a:off x="645333" y="923577"/>
            <a:ext cx="6261903" cy="5940088"/>
          </a:xfrm>
          <a:prstGeom prst="rect">
            <a:avLst/>
          </a:prstGeom>
          <a:noFill/>
        </p:spPr>
        <p:txBody>
          <a:bodyPr wrap="square" rtlCol="0">
            <a:spAutoFit/>
          </a:bodyPr>
          <a:lstStyle/>
          <a:p>
            <a:r>
              <a:rPr lang="en-US" altLang="zh-CN" sz="2000" dirty="0">
                <a:solidFill>
                  <a:srgbClr val="7030A0"/>
                </a:solidFill>
              </a:rPr>
              <a:t>※</a:t>
            </a:r>
            <a:r>
              <a:rPr lang="zh-CN" altLang="en-US" sz="2000" dirty="0">
                <a:solidFill>
                  <a:srgbClr val="353535"/>
                </a:solidFill>
              </a:rPr>
              <a:t>南北不平等似乎稍稍有所改善</a:t>
            </a:r>
            <a:endParaRPr lang="en-US" altLang="zh-CN" sz="2000" dirty="0">
              <a:solidFill>
                <a:srgbClr val="353535"/>
              </a:solidFill>
            </a:endParaRPr>
          </a:p>
          <a:p>
            <a:endParaRPr lang="en-US" altLang="zh-CN" sz="2000" dirty="0">
              <a:solidFill>
                <a:srgbClr val="353535"/>
              </a:solidFill>
            </a:endParaRPr>
          </a:p>
          <a:p>
            <a:r>
              <a:rPr lang="en-US" altLang="zh-CN" sz="2000" dirty="0">
                <a:solidFill>
                  <a:srgbClr val="7030A0"/>
                </a:solidFill>
              </a:rPr>
              <a:t>※</a:t>
            </a:r>
            <a:r>
              <a:rPr lang="zh-CN" altLang="en-US" sz="2000" dirty="0">
                <a:solidFill>
                  <a:srgbClr val="353535"/>
                </a:solidFill>
              </a:rPr>
              <a:t>根本原因：中国摆脱了绝对贫困</a:t>
            </a:r>
            <a:endParaRPr lang="en-US" altLang="zh-CN" sz="2000" dirty="0">
              <a:solidFill>
                <a:srgbClr val="353535"/>
              </a:solidFill>
            </a:endParaRPr>
          </a:p>
          <a:p>
            <a:endParaRPr lang="en-US" altLang="zh-CN" sz="2000" dirty="0">
              <a:solidFill>
                <a:srgbClr val="353535"/>
              </a:solidFill>
            </a:endParaRPr>
          </a:p>
          <a:p>
            <a:r>
              <a:rPr lang="en-US" altLang="zh-CN" sz="2000" dirty="0">
                <a:solidFill>
                  <a:srgbClr val="7030A0"/>
                </a:solidFill>
              </a:rPr>
              <a:t>※</a:t>
            </a:r>
            <a:r>
              <a:rPr lang="zh-CN" altLang="en-US" sz="2000" dirty="0">
                <a:solidFill>
                  <a:srgbClr val="353535"/>
                </a:solidFill>
              </a:rPr>
              <a:t>李稻葵的批评：“</a:t>
            </a:r>
            <a:r>
              <a:rPr lang="zh-CN" altLang="en-US" sz="2000" dirty="0"/>
              <a:t>事实上，如果把全球百姓的收入分配和财富分配统一起来计算的话，那么，过去</a:t>
            </a:r>
            <a:r>
              <a:rPr lang="en-US" altLang="zh-CN" sz="2000" dirty="0"/>
              <a:t>30</a:t>
            </a:r>
            <a:r>
              <a:rPr lang="zh-CN" altLang="en-US" sz="2000" dirty="0"/>
              <a:t>多年，全球收入最高的</a:t>
            </a:r>
            <a:r>
              <a:rPr lang="en-US" altLang="zh-CN" sz="2000" dirty="0"/>
              <a:t>10%</a:t>
            </a:r>
            <a:r>
              <a:rPr lang="zh-CN" altLang="en-US" sz="2000" dirty="0"/>
              <a:t>人群占全球总收入的比例，以及全球财富最高的</a:t>
            </a:r>
            <a:r>
              <a:rPr lang="en-US" altLang="zh-CN" sz="2000" dirty="0"/>
              <a:t>10%</a:t>
            </a:r>
            <a:r>
              <a:rPr lang="zh-CN" altLang="en-US" sz="2000" dirty="0"/>
              <a:t>人群占总财富的比例一定是缩小的，即全球整体的收入差距是在缩小的。为什么？因为</a:t>
            </a:r>
            <a:r>
              <a:rPr lang="en-US" altLang="zh-CN" sz="2000" dirty="0"/>
              <a:t>30</a:t>
            </a:r>
            <a:r>
              <a:rPr lang="zh-CN" altLang="en-US" sz="2000" dirty="0"/>
              <a:t>年前极为贫困的中国等经济体的收入水平，今天已经得到了大幅度提高，财富水平也提高显著。因此，把眼光放到全球来看的话，皮克提的两个发现恐怕就要反过来了。</a:t>
            </a:r>
            <a:r>
              <a:rPr lang="zh-CN" altLang="en-US" sz="2000" dirty="0">
                <a:solidFill>
                  <a:srgbClr val="353535"/>
                </a:solidFill>
              </a:rPr>
              <a:t>”</a:t>
            </a:r>
            <a:endParaRPr lang="en-US" altLang="zh-CN" sz="2000" dirty="0">
              <a:solidFill>
                <a:srgbClr val="353535"/>
              </a:solidFill>
            </a:endParaRPr>
          </a:p>
          <a:p>
            <a:endParaRPr lang="en-US" altLang="zh-CN" sz="2000" dirty="0">
              <a:solidFill>
                <a:srgbClr val="353535"/>
              </a:solidFill>
            </a:endParaRPr>
          </a:p>
          <a:p>
            <a:r>
              <a:rPr lang="en-US" altLang="zh-CN" sz="2000" dirty="0">
                <a:solidFill>
                  <a:srgbClr val="7030A0"/>
                </a:solidFill>
              </a:rPr>
              <a:t>※</a:t>
            </a:r>
            <a:r>
              <a:rPr lang="zh-CN" altLang="en-US" sz="2000" dirty="0">
                <a:solidFill>
                  <a:srgbClr val="353535"/>
                </a:solidFill>
              </a:rPr>
              <a:t>中国的情况究竟如何？皮凯蒂的“资本三定律”在中国是否成立？</a:t>
            </a:r>
            <a:endParaRPr lang="en-US" altLang="zh-CN" sz="2000" dirty="0">
              <a:solidFill>
                <a:srgbClr val="353535"/>
              </a:solidFill>
            </a:endParaRPr>
          </a:p>
          <a:p>
            <a:r>
              <a:rPr lang="en-US" altLang="zh-CN" sz="2000" dirty="0"/>
              <a:t>Long, </a:t>
            </a:r>
            <a:r>
              <a:rPr lang="en-US" altLang="zh-CN" sz="2000" dirty="0" err="1"/>
              <a:t>Zhiming</a:t>
            </a:r>
            <a:r>
              <a:rPr lang="en-US" altLang="zh-CN" sz="2000" dirty="0"/>
              <a:t>, and Rémy Herrera. "Capital in the twenty-first century in China: Do Piketty's Laws work in the Chinese case?." </a:t>
            </a:r>
            <a:r>
              <a:rPr lang="en-US" altLang="zh-CN" sz="2000" i="1" dirty="0"/>
              <a:t>China Economic Review</a:t>
            </a:r>
            <a:r>
              <a:rPr lang="en-US" altLang="zh-CN" sz="2000" dirty="0"/>
              <a:t> (2018).</a:t>
            </a:r>
            <a:endParaRPr lang="en-US" altLang="zh-CN" sz="2000" dirty="0">
              <a:solidFill>
                <a:srgbClr val="353535"/>
              </a:solidFill>
            </a:endParaRPr>
          </a:p>
        </p:txBody>
      </p:sp>
      <p:pic>
        <p:nvPicPr>
          <p:cNvPr id="5" name="图片 4"/>
          <p:cNvPicPr>
            <a:picLocks noChangeAspect="1"/>
          </p:cNvPicPr>
          <p:nvPr/>
        </p:nvPicPr>
        <p:blipFill>
          <a:blip r:embed="rId3"/>
          <a:stretch>
            <a:fillRect/>
          </a:stretch>
        </p:blipFill>
        <p:spPr>
          <a:xfrm>
            <a:off x="6802396" y="923577"/>
            <a:ext cx="5389604" cy="3666115"/>
          </a:xfrm>
          <a:prstGeom prst="rect">
            <a:avLst/>
          </a:prstGeom>
        </p:spPr>
      </p:pic>
    </p:spTree>
    <p:extLst>
      <p:ext uri="{BB962C8B-B14F-4D97-AF65-F5344CB8AC3E}">
        <p14:creationId xmlns:p14="http://schemas.microsoft.com/office/powerpoint/2010/main" val="959560216"/>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bg>
      <p:bgPr>
        <a:solidFill>
          <a:srgbClr val="7F2C8B"/>
        </a:solidFill>
        <a:effectLst/>
      </p:bgPr>
    </p:bg>
    <p:spTree>
      <p:nvGrpSpPr>
        <p:cNvPr id="1" name=""/>
        <p:cNvGrpSpPr/>
        <p:nvPr/>
      </p:nvGrpSpPr>
      <p:grpSpPr>
        <a:xfrm>
          <a:off x="0" y="0"/>
          <a:ext cx="0" cy="0"/>
          <a:chOff x="0" y="0"/>
          <a:chExt cx="0" cy="0"/>
        </a:xfrm>
      </p:grpSpPr>
      <p:sp>
        <p:nvSpPr>
          <p:cNvPr id="35" name="Freeform 5">
            <a:extLst>
              <a:ext uri="{FF2B5EF4-FFF2-40B4-BE49-F238E27FC236}">
                <a16:creationId xmlns:a16="http://schemas.microsoft.com/office/drawing/2014/main" id="{CEC509F0-2091-44E3-8EC6-23BE32A153BC}"/>
              </a:ext>
            </a:extLst>
          </p:cNvPr>
          <p:cNvSpPr>
            <a:spLocks/>
          </p:cNvSpPr>
          <p:nvPr/>
        </p:nvSpPr>
        <p:spPr bwMode="auto">
          <a:xfrm rot="20305582">
            <a:off x="7413099" y="-1127481"/>
            <a:ext cx="7345429" cy="5201360"/>
          </a:xfrm>
          <a:custGeom>
            <a:avLst/>
            <a:gdLst>
              <a:gd name="T0" fmla="*/ 1505 w 1677"/>
              <a:gd name="T1" fmla="*/ 1142 h 1186"/>
              <a:gd name="T2" fmla="*/ 1306 w 1677"/>
              <a:gd name="T3" fmla="*/ 1127 h 1186"/>
              <a:gd name="T4" fmla="*/ 1085 w 1677"/>
              <a:gd name="T5" fmla="*/ 1086 h 1186"/>
              <a:gd name="T6" fmla="*/ 1024 w 1677"/>
              <a:gd name="T7" fmla="*/ 1083 h 1186"/>
              <a:gd name="T8" fmla="*/ 978 w 1677"/>
              <a:gd name="T9" fmla="*/ 1078 h 1186"/>
              <a:gd name="T10" fmla="*/ 1033 w 1677"/>
              <a:gd name="T11" fmla="*/ 1062 h 1186"/>
              <a:gd name="T12" fmla="*/ 1158 w 1677"/>
              <a:gd name="T13" fmla="*/ 1057 h 1186"/>
              <a:gd name="T14" fmla="*/ 1340 w 1677"/>
              <a:gd name="T15" fmla="*/ 1071 h 1186"/>
              <a:gd name="T16" fmla="*/ 1464 w 1677"/>
              <a:gd name="T17" fmla="*/ 1053 h 1186"/>
              <a:gd name="T18" fmla="*/ 1576 w 1677"/>
              <a:gd name="T19" fmla="*/ 0 h 1186"/>
              <a:gd name="T20" fmla="*/ 1480 w 1677"/>
              <a:gd name="T21" fmla="*/ 26 h 1186"/>
              <a:gd name="T22" fmla="*/ 1323 w 1677"/>
              <a:gd name="T23" fmla="*/ 48 h 1186"/>
              <a:gd name="T24" fmla="*/ 1164 w 1677"/>
              <a:gd name="T25" fmla="*/ 52 h 1186"/>
              <a:gd name="T26" fmla="*/ 1132 w 1677"/>
              <a:gd name="T27" fmla="*/ 52 h 1186"/>
              <a:gd name="T28" fmla="*/ 1307 w 1677"/>
              <a:gd name="T29" fmla="*/ 52 h 1186"/>
              <a:gd name="T30" fmla="*/ 1450 w 1677"/>
              <a:gd name="T31" fmla="*/ 36 h 1186"/>
              <a:gd name="T32" fmla="*/ 1570 w 1677"/>
              <a:gd name="T33" fmla="*/ 8 h 1186"/>
              <a:gd name="T34" fmla="*/ 1403 w 1677"/>
              <a:gd name="T35" fmla="*/ 1046 h 1186"/>
              <a:gd name="T36" fmla="*/ 1300 w 1677"/>
              <a:gd name="T37" fmla="*/ 1048 h 1186"/>
              <a:gd name="T38" fmla="*/ 1112 w 1677"/>
              <a:gd name="T39" fmla="*/ 1032 h 1186"/>
              <a:gd name="T40" fmla="*/ 1024 w 1677"/>
              <a:gd name="T41" fmla="*/ 1040 h 1186"/>
              <a:gd name="T42" fmla="*/ 925 w 1677"/>
              <a:gd name="T43" fmla="*/ 1072 h 1186"/>
              <a:gd name="T44" fmla="*/ 816 w 1677"/>
              <a:gd name="T45" fmla="*/ 1105 h 1186"/>
              <a:gd name="T46" fmla="*/ 661 w 1677"/>
              <a:gd name="T47" fmla="*/ 1042 h 1186"/>
              <a:gd name="T48" fmla="*/ 637 w 1677"/>
              <a:gd name="T49" fmla="*/ 1037 h 1186"/>
              <a:gd name="T50" fmla="*/ 493 w 1677"/>
              <a:gd name="T51" fmla="*/ 1036 h 1186"/>
              <a:gd name="T52" fmla="*/ 333 w 1677"/>
              <a:gd name="T53" fmla="*/ 1051 h 1186"/>
              <a:gd name="T54" fmla="*/ 195 w 1677"/>
              <a:gd name="T55" fmla="*/ 1029 h 1186"/>
              <a:gd name="T56" fmla="*/ 180 w 1677"/>
              <a:gd name="T57" fmla="*/ 27 h 1186"/>
              <a:gd name="T58" fmla="*/ 290 w 1677"/>
              <a:gd name="T59" fmla="*/ 45 h 1186"/>
              <a:gd name="T60" fmla="*/ 449 w 1677"/>
              <a:gd name="T61" fmla="*/ 54 h 1186"/>
              <a:gd name="T62" fmla="*/ 577 w 1677"/>
              <a:gd name="T63" fmla="*/ 50 h 1186"/>
              <a:gd name="T64" fmla="*/ 402 w 1677"/>
              <a:gd name="T65" fmla="*/ 51 h 1186"/>
              <a:gd name="T66" fmla="*/ 259 w 1677"/>
              <a:gd name="T67" fmla="*/ 37 h 1186"/>
              <a:gd name="T68" fmla="*/ 150 w 1677"/>
              <a:gd name="T69" fmla="*/ 15 h 1186"/>
              <a:gd name="T70" fmla="*/ 100 w 1677"/>
              <a:gd name="T71" fmla="*/ 1014 h 1186"/>
              <a:gd name="T72" fmla="*/ 283 w 1677"/>
              <a:gd name="T73" fmla="*/ 1067 h 1186"/>
              <a:gd name="T74" fmla="*/ 426 w 1677"/>
              <a:gd name="T75" fmla="*/ 1065 h 1186"/>
              <a:gd name="T76" fmla="*/ 611 w 1677"/>
              <a:gd name="T77" fmla="*/ 1057 h 1186"/>
              <a:gd name="T78" fmla="*/ 655 w 1677"/>
              <a:gd name="T79" fmla="*/ 1065 h 1186"/>
              <a:gd name="T80" fmla="*/ 680 w 1677"/>
              <a:gd name="T81" fmla="*/ 1084 h 1186"/>
              <a:gd name="T82" fmla="*/ 612 w 1677"/>
              <a:gd name="T83" fmla="*/ 1084 h 1186"/>
              <a:gd name="T84" fmla="*/ 495 w 1677"/>
              <a:gd name="T85" fmla="*/ 1103 h 1186"/>
              <a:gd name="T86" fmla="*/ 271 w 1677"/>
              <a:gd name="T87" fmla="*/ 1140 h 1186"/>
              <a:gd name="T88" fmla="*/ 36 w 1677"/>
              <a:gd name="T89" fmla="*/ 1127 h 1186"/>
              <a:gd name="T90" fmla="*/ 143 w 1677"/>
              <a:gd name="T91" fmla="*/ 1181 h 1186"/>
              <a:gd name="T92" fmla="*/ 326 w 1677"/>
              <a:gd name="T93" fmla="*/ 1181 h 1186"/>
              <a:gd name="T94" fmla="*/ 591 w 1677"/>
              <a:gd name="T95" fmla="*/ 1143 h 1186"/>
              <a:gd name="T96" fmla="*/ 628 w 1677"/>
              <a:gd name="T97" fmla="*/ 1141 h 1186"/>
              <a:gd name="T98" fmla="*/ 698 w 1677"/>
              <a:gd name="T99" fmla="*/ 1147 h 1186"/>
              <a:gd name="T100" fmla="*/ 803 w 1677"/>
              <a:gd name="T101" fmla="*/ 1185 h 1186"/>
              <a:gd name="T102" fmla="*/ 874 w 1677"/>
              <a:gd name="T103" fmla="*/ 1185 h 1186"/>
              <a:gd name="T104" fmla="*/ 979 w 1677"/>
              <a:gd name="T105" fmla="*/ 1147 h 1186"/>
              <a:gd name="T106" fmla="*/ 1049 w 1677"/>
              <a:gd name="T107" fmla="*/ 1141 h 1186"/>
              <a:gd name="T108" fmla="*/ 1080 w 1677"/>
              <a:gd name="T109" fmla="*/ 1142 h 1186"/>
              <a:gd name="T110" fmla="*/ 1299 w 1677"/>
              <a:gd name="T111" fmla="*/ 1176 h 1186"/>
              <a:gd name="T112" fmla="*/ 1508 w 1677"/>
              <a:gd name="T113" fmla="*/ 1183 h 1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77" h="1186">
                <a:moveTo>
                  <a:pt x="1676" y="1142"/>
                </a:moveTo>
                <a:cubicBezTo>
                  <a:pt x="1658" y="159"/>
                  <a:pt x="1658" y="159"/>
                  <a:pt x="1658" y="159"/>
                </a:cubicBezTo>
                <a:cubicBezTo>
                  <a:pt x="1641" y="1127"/>
                  <a:pt x="1641" y="1127"/>
                  <a:pt x="1641" y="1127"/>
                </a:cubicBezTo>
                <a:cubicBezTo>
                  <a:pt x="1605" y="1133"/>
                  <a:pt x="1605" y="1133"/>
                  <a:pt x="1605" y="1133"/>
                </a:cubicBezTo>
                <a:cubicBezTo>
                  <a:pt x="1589" y="1135"/>
                  <a:pt x="1572" y="1137"/>
                  <a:pt x="1555" y="1139"/>
                </a:cubicBezTo>
                <a:cubicBezTo>
                  <a:pt x="1530" y="1140"/>
                  <a:pt x="1530" y="1140"/>
                  <a:pt x="1530" y="1140"/>
                </a:cubicBezTo>
                <a:cubicBezTo>
                  <a:pt x="1522" y="1141"/>
                  <a:pt x="1514" y="1142"/>
                  <a:pt x="1505" y="1142"/>
                </a:cubicBezTo>
                <a:cubicBezTo>
                  <a:pt x="1489" y="1142"/>
                  <a:pt x="1472" y="1143"/>
                  <a:pt x="1455" y="1142"/>
                </a:cubicBezTo>
                <a:cubicBezTo>
                  <a:pt x="1447" y="1142"/>
                  <a:pt x="1439" y="1142"/>
                  <a:pt x="1431" y="1141"/>
                </a:cubicBezTo>
                <a:cubicBezTo>
                  <a:pt x="1406" y="1140"/>
                  <a:pt x="1406" y="1140"/>
                  <a:pt x="1406" y="1140"/>
                </a:cubicBezTo>
                <a:cubicBezTo>
                  <a:pt x="1393" y="1139"/>
                  <a:pt x="1393" y="1139"/>
                  <a:pt x="1393" y="1139"/>
                </a:cubicBezTo>
                <a:cubicBezTo>
                  <a:pt x="1381" y="1137"/>
                  <a:pt x="1381" y="1137"/>
                  <a:pt x="1381" y="1137"/>
                </a:cubicBezTo>
                <a:cubicBezTo>
                  <a:pt x="1356" y="1135"/>
                  <a:pt x="1356" y="1135"/>
                  <a:pt x="1356" y="1135"/>
                </a:cubicBezTo>
                <a:cubicBezTo>
                  <a:pt x="1339" y="1132"/>
                  <a:pt x="1323" y="1130"/>
                  <a:pt x="1306" y="1127"/>
                </a:cubicBezTo>
                <a:cubicBezTo>
                  <a:pt x="1290" y="1125"/>
                  <a:pt x="1273" y="1121"/>
                  <a:pt x="1257" y="1118"/>
                </a:cubicBezTo>
                <a:cubicBezTo>
                  <a:pt x="1207" y="1108"/>
                  <a:pt x="1207" y="1108"/>
                  <a:pt x="1207" y="1108"/>
                </a:cubicBezTo>
                <a:cubicBezTo>
                  <a:pt x="1182" y="1103"/>
                  <a:pt x="1182" y="1103"/>
                  <a:pt x="1182" y="1103"/>
                </a:cubicBezTo>
                <a:cubicBezTo>
                  <a:pt x="1174" y="1101"/>
                  <a:pt x="1165" y="1099"/>
                  <a:pt x="1157" y="1097"/>
                </a:cubicBezTo>
                <a:cubicBezTo>
                  <a:pt x="1140" y="1094"/>
                  <a:pt x="1122" y="1091"/>
                  <a:pt x="1105" y="1088"/>
                </a:cubicBezTo>
                <a:cubicBezTo>
                  <a:pt x="1092" y="1087"/>
                  <a:pt x="1092" y="1087"/>
                  <a:pt x="1092" y="1087"/>
                </a:cubicBezTo>
                <a:cubicBezTo>
                  <a:pt x="1085" y="1086"/>
                  <a:pt x="1085" y="1086"/>
                  <a:pt x="1085" y="1086"/>
                </a:cubicBezTo>
                <a:cubicBezTo>
                  <a:pt x="1082" y="1085"/>
                  <a:pt x="1082" y="1085"/>
                  <a:pt x="1082" y="1085"/>
                </a:cubicBezTo>
                <a:cubicBezTo>
                  <a:pt x="1078" y="1085"/>
                  <a:pt x="1078" y="1085"/>
                  <a:pt x="1078" y="1085"/>
                </a:cubicBezTo>
                <a:cubicBezTo>
                  <a:pt x="1065" y="1084"/>
                  <a:pt x="1065" y="1084"/>
                  <a:pt x="1065" y="1084"/>
                </a:cubicBezTo>
                <a:cubicBezTo>
                  <a:pt x="1059" y="1083"/>
                  <a:pt x="1059" y="1083"/>
                  <a:pt x="1059" y="1083"/>
                </a:cubicBezTo>
                <a:cubicBezTo>
                  <a:pt x="1056" y="1083"/>
                  <a:pt x="1054" y="1083"/>
                  <a:pt x="1052" y="1083"/>
                </a:cubicBezTo>
                <a:cubicBezTo>
                  <a:pt x="1038" y="1083"/>
                  <a:pt x="1038" y="1083"/>
                  <a:pt x="1038" y="1083"/>
                </a:cubicBezTo>
                <a:cubicBezTo>
                  <a:pt x="1033" y="1083"/>
                  <a:pt x="1028" y="1083"/>
                  <a:pt x="1024" y="1083"/>
                </a:cubicBezTo>
                <a:cubicBezTo>
                  <a:pt x="1010" y="1083"/>
                  <a:pt x="1010" y="1083"/>
                  <a:pt x="1010" y="1083"/>
                </a:cubicBezTo>
                <a:cubicBezTo>
                  <a:pt x="1003" y="1084"/>
                  <a:pt x="1003" y="1084"/>
                  <a:pt x="1003" y="1084"/>
                </a:cubicBezTo>
                <a:cubicBezTo>
                  <a:pt x="997" y="1084"/>
                  <a:pt x="997" y="1084"/>
                  <a:pt x="997" y="1084"/>
                </a:cubicBezTo>
                <a:cubicBezTo>
                  <a:pt x="983" y="1085"/>
                  <a:pt x="983" y="1085"/>
                  <a:pt x="983" y="1085"/>
                </a:cubicBezTo>
                <a:cubicBezTo>
                  <a:pt x="978" y="1086"/>
                  <a:pt x="974" y="1087"/>
                  <a:pt x="969" y="1087"/>
                </a:cubicBezTo>
                <a:cubicBezTo>
                  <a:pt x="961" y="1088"/>
                  <a:pt x="952" y="1090"/>
                  <a:pt x="943" y="1092"/>
                </a:cubicBezTo>
                <a:cubicBezTo>
                  <a:pt x="955" y="1087"/>
                  <a:pt x="966" y="1082"/>
                  <a:pt x="978" y="1078"/>
                </a:cubicBezTo>
                <a:cubicBezTo>
                  <a:pt x="985" y="1076"/>
                  <a:pt x="993" y="1073"/>
                  <a:pt x="1000" y="1071"/>
                </a:cubicBezTo>
                <a:cubicBezTo>
                  <a:pt x="1011" y="1068"/>
                  <a:pt x="1011" y="1068"/>
                  <a:pt x="1011" y="1068"/>
                </a:cubicBezTo>
                <a:cubicBezTo>
                  <a:pt x="1022" y="1065"/>
                  <a:pt x="1022" y="1065"/>
                  <a:pt x="1022" y="1065"/>
                </a:cubicBezTo>
                <a:cubicBezTo>
                  <a:pt x="1028" y="1063"/>
                  <a:pt x="1028" y="1063"/>
                  <a:pt x="1028" y="1063"/>
                </a:cubicBezTo>
                <a:cubicBezTo>
                  <a:pt x="1029" y="1063"/>
                  <a:pt x="1029" y="1063"/>
                  <a:pt x="1029" y="1063"/>
                </a:cubicBezTo>
                <a:cubicBezTo>
                  <a:pt x="1030" y="1063"/>
                  <a:pt x="1030" y="1063"/>
                  <a:pt x="1030" y="1063"/>
                </a:cubicBezTo>
                <a:cubicBezTo>
                  <a:pt x="1033" y="1062"/>
                  <a:pt x="1033" y="1062"/>
                  <a:pt x="1033" y="1062"/>
                </a:cubicBezTo>
                <a:cubicBezTo>
                  <a:pt x="1044" y="1060"/>
                  <a:pt x="1044" y="1060"/>
                  <a:pt x="1044" y="1060"/>
                </a:cubicBezTo>
                <a:cubicBezTo>
                  <a:pt x="1048" y="1059"/>
                  <a:pt x="1051" y="1059"/>
                  <a:pt x="1055" y="1058"/>
                </a:cubicBezTo>
                <a:cubicBezTo>
                  <a:pt x="1059" y="1058"/>
                  <a:pt x="1063" y="1057"/>
                  <a:pt x="1066" y="1057"/>
                </a:cubicBezTo>
                <a:cubicBezTo>
                  <a:pt x="1082" y="1056"/>
                  <a:pt x="1097" y="1055"/>
                  <a:pt x="1112" y="1055"/>
                </a:cubicBezTo>
                <a:cubicBezTo>
                  <a:pt x="1124" y="1055"/>
                  <a:pt x="1124" y="1055"/>
                  <a:pt x="1124" y="1055"/>
                </a:cubicBezTo>
                <a:cubicBezTo>
                  <a:pt x="1135" y="1055"/>
                  <a:pt x="1135" y="1055"/>
                  <a:pt x="1135" y="1055"/>
                </a:cubicBezTo>
                <a:cubicBezTo>
                  <a:pt x="1143" y="1056"/>
                  <a:pt x="1151" y="1056"/>
                  <a:pt x="1158" y="1057"/>
                </a:cubicBezTo>
                <a:cubicBezTo>
                  <a:pt x="1166" y="1057"/>
                  <a:pt x="1174" y="1058"/>
                  <a:pt x="1181" y="1058"/>
                </a:cubicBezTo>
                <a:cubicBezTo>
                  <a:pt x="1205" y="1061"/>
                  <a:pt x="1205" y="1061"/>
                  <a:pt x="1205" y="1061"/>
                </a:cubicBezTo>
                <a:cubicBezTo>
                  <a:pt x="1251" y="1065"/>
                  <a:pt x="1251" y="1065"/>
                  <a:pt x="1251" y="1065"/>
                </a:cubicBezTo>
                <a:cubicBezTo>
                  <a:pt x="1267" y="1067"/>
                  <a:pt x="1283" y="1068"/>
                  <a:pt x="1299" y="1069"/>
                </a:cubicBezTo>
                <a:cubicBezTo>
                  <a:pt x="1306" y="1070"/>
                  <a:pt x="1315" y="1070"/>
                  <a:pt x="1322" y="1070"/>
                </a:cubicBezTo>
                <a:cubicBezTo>
                  <a:pt x="1326" y="1071"/>
                  <a:pt x="1330" y="1071"/>
                  <a:pt x="1334" y="1071"/>
                </a:cubicBezTo>
                <a:cubicBezTo>
                  <a:pt x="1340" y="1071"/>
                  <a:pt x="1340" y="1071"/>
                  <a:pt x="1340" y="1071"/>
                </a:cubicBezTo>
                <a:cubicBezTo>
                  <a:pt x="1343" y="1071"/>
                  <a:pt x="1343" y="1071"/>
                  <a:pt x="1343" y="1071"/>
                </a:cubicBezTo>
                <a:cubicBezTo>
                  <a:pt x="1344" y="1071"/>
                  <a:pt x="1345" y="1071"/>
                  <a:pt x="1346" y="1071"/>
                </a:cubicBezTo>
                <a:cubicBezTo>
                  <a:pt x="1362" y="1071"/>
                  <a:pt x="1378" y="1070"/>
                  <a:pt x="1394" y="1067"/>
                </a:cubicBezTo>
                <a:cubicBezTo>
                  <a:pt x="1406" y="1066"/>
                  <a:pt x="1406" y="1066"/>
                  <a:pt x="1406" y="1066"/>
                </a:cubicBezTo>
                <a:cubicBezTo>
                  <a:pt x="1418" y="1064"/>
                  <a:pt x="1418" y="1064"/>
                  <a:pt x="1418" y="1064"/>
                </a:cubicBezTo>
                <a:cubicBezTo>
                  <a:pt x="1426" y="1062"/>
                  <a:pt x="1434" y="1061"/>
                  <a:pt x="1441" y="1059"/>
                </a:cubicBezTo>
                <a:cubicBezTo>
                  <a:pt x="1449" y="1057"/>
                  <a:pt x="1457" y="1055"/>
                  <a:pt x="1464" y="1053"/>
                </a:cubicBezTo>
                <a:cubicBezTo>
                  <a:pt x="1472" y="1051"/>
                  <a:pt x="1480" y="1049"/>
                  <a:pt x="1487" y="1047"/>
                </a:cubicBezTo>
                <a:cubicBezTo>
                  <a:pt x="1503" y="1042"/>
                  <a:pt x="1518" y="1037"/>
                  <a:pt x="1532" y="1032"/>
                </a:cubicBezTo>
                <a:cubicBezTo>
                  <a:pt x="1547" y="1026"/>
                  <a:pt x="1562" y="1021"/>
                  <a:pt x="1577" y="1014"/>
                </a:cubicBezTo>
                <a:cubicBezTo>
                  <a:pt x="1582" y="1012"/>
                  <a:pt x="1582" y="1012"/>
                  <a:pt x="1582" y="1012"/>
                </a:cubicBezTo>
                <a:cubicBezTo>
                  <a:pt x="1582" y="1006"/>
                  <a:pt x="1582" y="1006"/>
                  <a:pt x="1582" y="1006"/>
                </a:cubicBezTo>
                <a:cubicBezTo>
                  <a:pt x="1576" y="4"/>
                  <a:pt x="1576" y="4"/>
                  <a:pt x="1576" y="4"/>
                </a:cubicBezTo>
                <a:cubicBezTo>
                  <a:pt x="1576" y="0"/>
                  <a:pt x="1576" y="0"/>
                  <a:pt x="1576" y="0"/>
                </a:cubicBezTo>
                <a:cubicBezTo>
                  <a:pt x="1572" y="1"/>
                  <a:pt x="1572" y="1"/>
                  <a:pt x="1572" y="1"/>
                </a:cubicBezTo>
                <a:cubicBezTo>
                  <a:pt x="1542" y="10"/>
                  <a:pt x="1542" y="10"/>
                  <a:pt x="1542" y="10"/>
                </a:cubicBezTo>
                <a:cubicBezTo>
                  <a:pt x="1537" y="12"/>
                  <a:pt x="1532" y="14"/>
                  <a:pt x="1527" y="15"/>
                </a:cubicBezTo>
                <a:cubicBezTo>
                  <a:pt x="1511" y="19"/>
                  <a:pt x="1511" y="19"/>
                  <a:pt x="1511" y="19"/>
                </a:cubicBezTo>
                <a:cubicBezTo>
                  <a:pt x="1496" y="22"/>
                  <a:pt x="1496" y="22"/>
                  <a:pt x="1496" y="22"/>
                </a:cubicBezTo>
                <a:cubicBezTo>
                  <a:pt x="1488" y="24"/>
                  <a:pt x="1488" y="24"/>
                  <a:pt x="1488" y="24"/>
                </a:cubicBezTo>
                <a:cubicBezTo>
                  <a:pt x="1485" y="25"/>
                  <a:pt x="1483" y="25"/>
                  <a:pt x="1480" y="26"/>
                </a:cubicBezTo>
                <a:cubicBezTo>
                  <a:pt x="1449" y="32"/>
                  <a:pt x="1449" y="32"/>
                  <a:pt x="1449" y="32"/>
                </a:cubicBezTo>
                <a:cubicBezTo>
                  <a:pt x="1444" y="33"/>
                  <a:pt x="1439" y="34"/>
                  <a:pt x="1433" y="35"/>
                </a:cubicBezTo>
                <a:cubicBezTo>
                  <a:pt x="1418" y="37"/>
                  <a:pt x="1418" y="37"/>
                  <a:pt x="1418" y="37"/>
                </a:cubicBezTo>
                <a:cubicBezTo>
                  <a:pt x="1402" y="39"/>
                  <a:pt x="1402" y="39"/>
                  <a:pt x="1402" y="39"/>
                </a:cubicBezTo>
                <a:cubicBezTo>
                  <a:pt x="1397" y="40"/>
                  <a:pt x="1391" y="41"/>
                  <a:pt x="1386" y="41"/>
                </a:cubicBezTo>
                <a:cubicBezTo>
                  <a:pt x="1376" y="43"/>
                  <a:pt x="1365" y="44"/>
                  <a:pt x="1355" y="45"/>
                </a:cubicBezTo>
                <a:cubicBezTo>
                  <a:pt x="1323" y="48"/>
                  <a:pt x="1323" y="48"/>
                  <a:pt x="1323" y="48"/>
                </a:cubicBezTo>
                <a:cubicBezTo>
                  <a:pt x="1318" y="48"/>
                  <a:pt x="1312" y="49"/>
                  <a:pt x="1307" y="49"/>
                </a:cubicBezTo>
                <a:cubicBezTo>
                  <a:pt x="1291" y="50"/>
                  <a:pt x="1291" y="50"/>
                  <a:pt x="1291" y="50"/>
                </a:cubicBezTo>
                <a:cubicBezTo>
                  <a:pt x="1275" y="51"/>
                  <a:pt x="1275" y="51"/>
                  <a:pt x="1275" y="51"/>
                </a:cubicBezTo>
                <a:cubicBezTo>
                  <a:pt x="1259" y="51"/>
                  <a:pt x="1259" y="51"/>
                  <a:pt x="1259" y="51"/>
                </a:cubicBezTo>
                <a:cubicBezTo>
                  <a:pt x="1249" y="52"/>
                  <a:pt x="1238" y="52"/>
                  <a:pt x="1228" y="52"/>
                </a:cubicBezTo>
                <a:cubicBezTo>
                  <a:pt x="1217" y="52"/>
                  <a:pt x="1206" y="53"/>
                  <a:pt x="1196" y="53"/>
                </a:cubicBezTo>
                <a:cubicBezTo>
                  <a:pt x="1185" y="52"/>
                  <a:pt x="1175" y="52"/>
                  <a:pt x="1164" y="52"/>
                </a:cubicBezTo>
                <a:cubicBezTo>
                  <a:pt x="1153" y="52"/>
                  <a:pt x="1143" y="52"/>
                  <a:pt x="1132" y="51"/>
                </a:cubicBezTo>
                <a:cubicBezTo>
                  <a:pt x="1116" y="51"/>
                  <a:pt x="1116" y="51"/>
                  <a:pt x="1116" y="51"/>
                </a:cubicBezTo>
                <a:cubicBezTo>
                  <a:pt x="1100" y="50"/>
                  <a:pt x="1100" y="50"/>
                  <a:pt x="1100" y="50"/>
                </a:cubicBezTo>
                <a:cubicBezTo>
                  <a:pt x="1090" y="49"/>
                  <a:pt x="1079" y="48"/>
                  <a:pt x="1069" y="47"/>
                </a:cubicBezTo>
                <a:cubicBezTo>
                  <a:pt x="1079" y="48"/>
                  <a:pt x="1090" y="49"/>
                  <a:pt x="1100" y="50"/>
                </a:cubicBezTo>
                <a:cubicBezTo>
                  <a:pt x="1116" y="51"/>
                  <a:pt x="1116" y="51"/>
                  <a:pt x="1116" y="51"/>
                </a:cubicBezTo>
                <a:cubicBezTo>
                  <a:pt x="1132" y="52"/>
                  <a:pt x="1132" y="52"/>
                  <a:pt x="1132" y="52"/>
                </a:cubicBezTo>
                <a:cubicBezTo>
                  <a:pt x="1143" y="53"/>
                  <a:pt x="1153" y="53"/>
                  <a:pt x="1164" y="53"/>
                </a:cubicBezTo>
                <a:cubicBezTo>
                  <a:pt x="1175" y="54"/>
                  <a:pt x="1185" y="54"/>
                  <a:pt x="1196" y="54"/>
                </a:cubicBezTo>
                <a:cubicBezTo>
                  <a:pt x="1206" y="54"/>
                  <a:pt x="1217" y="54"/>
                  <a:pt x="1228" y="54"/>
                </a:cubicBezTo>
                <a:cubicBezTo>
                  <a:pt x="1238" y="54"/>
                  <a:pt x="1249" y="54"/>
                  <a:pt x="1260" y="54"/>
                </a:cubicBezTo>
                <a:cubicBezTo>
                  <a:pt x="1275" y="53"/>
                  <a:pt x="1275" y="53"/>
                  <a:pt x="1275" y="53"/>
                </a:cubicBezTo>
                <a:cubicBezTo>
                  <a:pt x="1291" y="53"/>
                  <a:pt x="1291" y="53"/>
                  <a:pt x="1291" y="53"/>
                </a:cubicBezTo>
                <a:cubicBezTo>
                  <a:pt x="1307" y="52"/>
                  <a:pt x="1307" y="52"/>
                  <a:pt x="1307" y="52"/>
                </a:cubicBezTo>
                <a:cubicBezTo>
                  <a:pt x="1313" y="52"/>
                  <a:pt x="1318" y="51"/>
                  <a:pt x="1323" y="51"/>
                </a:cubicBezTo>
                <a:cubicBezTo>
                  <a:pt x="1355" y="48"/>
                  <a:pt x="1355" y="48"/>
                  <a:pt x="1355" y="48"/>
                </a:cubicBezTo>
                <a:cubicBezTo>
                  <a:pt x="1366" y="47"/>
                  <a:pt x="1376" y="46"/>
                  <a:pt x="1387" y="45"/>
                </a:cubicBezTo>
                <a:cubicBezTo>
                  <a:pt x="1392" y="44"/>
                  <a:pt x="1397" y="44"/>
                  <a:pt x="1403" y="43"/>
                </a:cubicBezTo>
                <a:cubicBezTo>
                  <a:pt x="1418" y="41"/>
                  <a:pt x="1418" y="41"/>
                  <a:pt x="1418" y="41"/>
                </a:cubicBezTo>
                <a:cubicBezTo>
                  <a:pt x="1434" y="39"/>
                  <a:pt x="1434" y="39"/>
                  <a:pt x="1434" y="39"/>
                </a:cubicBezTo>
                <a:cubicBezTo>
                  <a:pt x="1439" y="38"/>
                  <a:pt x="1445" y="37"/>
                  <a:pt x="1450" y="36"/>
                </a:cubicBezTo>
                <a:cubicBezTo>
                  <a:pt x="1481" y="30"/>
                  <a:pt x="1481" y="30"/>
                  <a:pt x="1481" y="30"/>
                </a:cubicBezTo>
                <a:cubicBezTo>
                  <a:pt x="1484" y="30"/>
                  <a:pt x="1486" y="30"/>
                  <a:pt x="1489" y="29"/>
                </a:cubicBezTo>
                <a:cubicBezTo>
                  <a:pt x="1497" y="27"/>
                  <a:pt x="1497" y="27"/>
                  <a:pt x="1497" y="27"/>
                </a:cubicBezTo>
                <a:cubicBezTo>
                  <a:pt x="1512" y="24"/>
                  <a:pt x="1512" y="24"/>
                  <a:pt x="1512" y="24"/>
                </a:cubicBezTo>
                <a:cubicBezTo>
                  <a:pt x="1528" y="20"/>
                  <a:pt x="1528" y="20"/>
                  <a:pt x="1528" y="20"/>
                </a:cubicBezTo>
                <a:cubicBezTo>
                  <a:pt x="1533" y="19"/>
                  <a:pt x="1538" y="17"/>
                  <a:pt x="1543" y="16"/>
                </a:cubicBezTo>
                <a:cubicBezTo>
                  <a:pt x="1570" y="8"/>
                  <a:pt x="1570" y="8"/>
                  <a:pt x="1570" y="8"/>
                </a:cubicBezTo>
                <a:cubicBezTo>
                  <a:pt x="1564" y="1000"/>
                  <a:pt x="1564" y="1000"/>
                  <a:pt x="1564" y="1000"/>
                </a:cubicBezTo>
                <a:cubicBezTo>
                  <a:pt x="1552" y="1006"/>
                  <a:pt x="1539" y="1010"/>
                  <a:pt x="1526" y="1015"/>
                </a:cubicBezTo>
                <a:cubicBezTo>
                  <a:pt x="1512" y="1020"/>
                  <a:pt x="1497" y="1025"/>
                  <a:pt x="1482" y="1029"/>
                </a:cubicBezTo>
                <a:cubicBezTo>
                  <a:pt x="1475" y="1031"/>
                  <a:pt x="1467" y="1033"/>
                  <a:pt x="1460" y="1035"/>
                </a:cubicBezTo>
                <a:cubicBezTo>
                  <a:pt x="1452" y="1037"/>
                  <a:pt x="1445" y="1039"/>
                  <a:pt x="1437" y="1040"/>
                </a:cubicBezTo>
                <a:cubicBezTo>
                  <a:pt x="1430" y="1042"/>
                  <a:pt x="1422" y="1043"/>
                  <a:pt x="1415" y="1045"/>
                </a:cubicBezTo>
                <a:cubicBezTo>
                  <a:pt x="1403" y="1046"/>
                  <a:pt x="1403" y="1046"/>
                  <a:pt x="1403" y="1046"/>
                </a:cubicBezTo>
                <a:cubicBezTo>
                  <a:pt x="1392" y="1048"/>
                  <a:pt x="1392" y="1048"/>
                  <a:pt x="1392" y="1048"/>
                </a:cubicBezTo>
                <a:cubicBezTo>
                  <a:pt x="1377" y="1050"/>
                  <a:pt x="1361" y="1051"/>
                  <a:pt x="1346" y="1051"/>
                </a:cubicBezTo>
                <a:cubicBezTo>
                  <a:pt x="1345" y="1051"/>
                  <a:pt x="1344" y="1051"/>
                  <a:pt x="1344" y="1051"/>
                </a:cubicBezTo>
                <a:cubicBezTo>
                  <a:pt x="1341" y="1051"/>
                  <a:pt x="1341" y="1051"/>
                  <a:pt x="1341" y="1051"/>
                </a:cubicBezTo>
                <a:cubicBezTo>
                  <a:pt x="1335" y="1050"/>
                  <a:pt x="1335" y="1050"/>
                  <a:pt x="1335" y="1050"/>
                </a:cubicBezTo>
                <a:cubicBezTo>
                  <a:pt x="1331" y="1050"/>
                  <a:pt x="1327" y="1050"/>
                  <a:pt x="1323" y="1050"/>
                </a:cubicBezTo>
                <a:cubicBezTo>
                  <a:pt x="1315" y="1049"/>
                  <a:pt x="1308" y="1049"/>
                  <a:pt x="1300" y="1048"/>
                </a:cubicBezTo>
                <a:cubicBezTo>
                  <a:pt x="1285" y="1047"/>
                  <a:pt x="1269" y="1046"/>
                  <a:pt x="1254" y="1044"/>
                </a:cubicBezTo>
                <a:cubicBezTo>
                  <a:pt x="1207" y="1039"/>
                  <a:pt x="1207" y="1039"/>
                  <a:pt x="1207" y="1039"/>
                </a:cubicBezTo>
                <a:cubicBezTo>
                  <a:pt x="1184" y="1036"/>
                  <a:pt x="1184" y="1036"/>
                  <a:pt x="1184" y="1036"/>
                </a:cubicBezTo>
                <a:cubicBezTo>
                  <a:pt x="1176" y="1036"/>
                  <a:pt x="1168" y="1035"/>
                  <a:pt x="1160" y="1034"/>
                </a:cubicBezTo>
                <a:cubicBezTo>
                  <a:pt x="1152" y="1034"/>
                  <a:pt x="1144" y="1033"/>
                  <a:pt x="1136" y="1033"/>
                </a:cubicBezTo>
                <a:cubicBezTo>
                  <a:pt x="1124" y="1032"/>
                  <a:pt x="1124" y="1032"/>
                  <a:pt x="1124" y="1032"/>
                </a:cubicBezTo>
                <a:cubicBezTo>
                  <a:pt x="1112" y="1032"/>
                  <a:pt x="1112" y="1032"/>
                  <a:pt x="1112" y="1032"/>
                </a:cubicBezTo>
                <a:cubicBezTo>
                  <a:pt x="1096" y="1032"/>
                  <a:pt x="1080" y="1032"/>
                  <a:pt x="1064" y="1034"/>
                </a:cubicBezTo>
                <a:cubicBezTo>
                  <a:pt x="1060" y="1034"/>
                  <a:pt x="1056" y="1035"/>
                  <a:pt x="1052" y="1035"/>
                </a:cubicBezTo>
                <a:cubicBezTo>
                  <a:pt x="1048" y="1036"/>
                  <a:pt x="1044" y="1036"/>
                  <a:pt x="1040" y="1037"/>
                </a:cubicBezTo>
                <a:cubicBezTo>
                  <a:pt x="1028" y="1039"/>
                  <a:pt x="1028" y="1039"/>
                  <a:pt x="1028" y="1039"/>
                </a:cubicBezTo>
                <a:cubicBezTo>
                  <a:pt x="1025" y="1039"/>
                  <a:pt x="1025" y="1039"/>
                  <a:pt x="1025" y="1039"/>
                </a:cubicBezTo>
                <a:cubicBezTo>
                  <a:pt x="1024" y="1040"/>
                  <a:pt x="1024" y="1040"/>
                  <a:pt x="1024" y="1040"/>
                </a:cubicBezTo>
                <a:cubicBezTo>
                  <a:pt x="1024" y="1040"/>
                  <a:pt x="1024" y="1040"/>
                  <a:pt x="1024" y="1040"/>
                </a:cubicBezTo>
                <a:cubicBezTo>
                  <a:pt x="1023" y="1040"/>
                  <a:pt x="1023" y="1040"/>
                  <a:pt x="1023" y="1040"/>
                </a:cubicBezTo>
                <a:cubicBezTo>
                  <a:pt x="1022" y="1040"/>
                  <a:pt x="1022" y="1040"/>
                  <a:pt x="1022" y="1040"/>
                </a:cubicBezTo>
                <a:cubicBezTo>
                  <a:pt x="1016" y="1042"/>
                  <a:pt x="1016" y="1042"/>
                  <a:pt x="1016" y="1042"/>
                </a:cubicBezTo>
                <a:cubicBezTo>
                  <a:pt x="1005" y="1044"/>
                  <a:pt x="1005" y="1044"/>
                  <a:pt x="1005" y="1044"/>
                </a:cubicBezTo>
                <a:cubicBezTo>
                  <a:pt x="993" y="1048"/>
                  <a:pt x="993" y="1048"/>
                  <a:pt x="993" y="1048"/>
                </a:cubicBezTo>
                <a:cubicBezTo>
                  <a:pt x="985" y="1050"/>
                  <a:pt x="978" y="1052"/>
                  <a:pt x="970" y="1055"/>
                </a:cubicBezTo>
                <a:cubicBezTo>
                  <a:pt x="955" y="1060"/>
                  <a:pt x="940" y="1066"/>
                  <a:pt x="925" y="1072"/>
                </a:cubicBezTo>
                <a:cubicBezTo>
                  <a:pt x="911" y="1079"/>
                  <a:pt x="896" y="1086"/>
                  <a:pt x="882" y="1093"/>
                </a:cubicBezTo>
                <a:cubicBezTo>
                  <a:pt x="872" y="1099"/>
                  <a:pt x="872" y="1099"/>
                  <a:pt x="872" y="1099"/>
                </a:cubicBezTo>
                <a:cubicBezTo>
                  <a:pt x="861" y="1105"/>
                  <a:pt x="861" y="1105"/>
                  <a:pt x="861" y="1105"/>
                </a:cubicBezTo>
                <a:cubicBezTo>
                  <a:pt x="858" y="1107"/>
                  <a:pt x="854" y="1109"/>
                  <a:pt x="851" y="1112"/>
                </a:cubicBezTo>
                <a:cubicBezTo>
                  <a:pt x="839" y="106"/>
                  <a:pt x="839" y="106"/>
                  <a:pt x="839" y="106"/>
                </a:cubicBezTo>
                <a:cubicBezTo>
                  <a:pt x="826" y="1112"/>
                  <a:pt x="826" y="1112"/>
                  <a:pt x="826" y="1112"/>
                </a:cubicBezTo>
                <a:cubicBezTo>
                  <a:pt x="823" y="1109"/>
                  <a:pt x="819" y="1107"/>
                  <a:pt x="816" y="1105"/>
                </a:cubicBezTo>
                <a:cubicBezTo>
                  <a:pt x="805" y="1099"/>
                  <a:pt x="805" y="1099"/>
                  <a:pt x="805" y="1099"/>
                </a:cubicBezTo>
                <a:cubicBezTo>
                  <a:pt x="795" y="1093"/>
                  <a:pt x="795" y="1093"/>
                  <a:pt x="795" y="1093"/>
                </a:cubicBezTo>
                <a:cubicBezTo>
                  <a:pt x="781" y="1086"/>
                  <a:pt x="766" y="1079"/>
                  <a:pt x="752" y="1072"/>
                </a:cubicBezTo>
                <a:cubicBezTo>
                  <a:pt x="737" y="1066"/>
                  <a:pt x="722" y="1060"/>
                  <a:pt x="707" y="1055"/>
                </a:cubicBezTo>
                <a:cubicBezTo>
                  <a:pt x="699" y="1052"/>
                  <a:pt x="692" y="1050"/>
                  <a:pt x="684" y="1048"/>
                </a:cubicBezTo>
                <a:cubicBezTo>
                  <a:pt x="672" y="1044"/>
                  <a:pt x="672" y="1044"/>
                  <a:pt x="672" y="1044"/>
                </a:cubicBezTo>
                <a:cubicBezTo>
                  <a:pt x="661" y="1042"/>
                  <a:pt x="661" y="1042"/>
                  <a:pt x="661" y="1042"/>
                </a:cubicBezTo>
                <a:cubicBezTo>
                  <a:pt x="655" y="1040"/>
                  <a:pt x="655" y="1040"/>
                  <a:pt x="655" y="1040"/>
                </a:cubicBezTo>
                <a:cubicBezTo>
                  <a:pt x="654" y="1040"/>
                  <a:pt x="654" y="1040"/>
                  <a:pt x="654" y="1040"/>
                </a:cubicBezTo>
                <a:cubicBezTo>
                  <a:pt x="653" y="1040"/>
                  <a:pt x="653" y="1040"/>
                  <a:pt x="653" y="1040"/>
                </a:cubicBezTo>
                <a:cubicBezTo>
                  <a:pt x="653" y="1040"/>
                  <a:pt x="653" y="1040"/>
                  <a:pt x="653" y="1040"/>
                </a:cubicBezTo>
                <a:cubicBezTo>
                  <a:pt x="652" y="1039"/>
                  <a:pt x="652" y="1039"/>
                  <a:pt x="652" y="1039"/>
                </a:cubicBezTo>
                <a:cubicBezTo>
                  <a:pt x="649" y="1039"/>
                  <a:pt x="649" y="1039"/>
                  <a:pt x="649" y="1039"/>
                </a:cubicBezTo>
                <a:cubicBezTo>
                  <a:pt x="637" y="1037"/>
                  <a:pt x="637" y="1037"/>
                  <a:pt x="637" y="1037"/>
                </a:cubicBezTo>
                <a:cubicBezTo>
                  <a:pt x="633" y="1036"/>
                  <a:pt x="629" y="1036"/>
                  <a:pt x="625" y="1035"/>
                </a:cubicBezTo>
                <a:cubicBezTo>
                  <a:pt x="621" y="1035"/>
                  <a:pt x="617" y="1034"/>
                  <a:pt x="613" y="1034"/>
                </a:cubicBezTo>
                <a:cubicBezTo>
                  <a:pt x="597" y="1032"/>
                  <a:pt x="581" y="1032"/>
                  <a:pt x="565" y="1032"/>
                </a:cubicBezTo>
                <a:cubicBezTo>
                  <a:pt x="553" y="1032"/>
                  <a:pt x="553" y="1032"/>
                  <a:pt x="553" y="1032"/>
                </a:cubicBezTo>
                <a:cubicBezTo>
                  <a:pt x="541" y="1033"/>
                  <a:pt x="541" y="1033"/>
                  <a:pt x="541" y="1033"/>
                </a:cubicBezTo>
                <a:cubicBezTo>
                  <a:pt x="533" y="1033"/>
                  <a:pt x="525" y="1034"/>
                  <a:pt x="517" y="1034"/>
                </a:cubicBezTo>
                <a:cubicBezTo>
                  <a:pt x="509" y="1035"/>
                  <a:pt x="501" y="1036"/>
                  <a:pt x="493" y="1036"/>
                </a:cubicBezTo>
                <a:cubicBezTo>
                  <a:pt x="470" y="1039"/>
                  <a:pt x="470" y="1039"/>
                  <a:pt x="470" y="1039"/>
                </a:cubicBezTo>
                <a:cubicBezTo>
                  <a:pt x="423" y="1044"/>
                  <a:pt x="423" y="1044"/>
                  <a:pt x="423" y="1044"/>
                </a:cubicBezTo>
                <a:cubicBezTo>
                  <a:pt x="408" y="1046"/>
                  <a:pt x="392" y="1047"/>
                  <a:pt x="377" y="1048"/>
                </a:cubicBezTo>
                <a:cubicBezTo>
                  <a:pt x="369" y="1049"/>
                  <a:pt x="362" y="1049"/>
                  <a:pt x="354" y="1050"/>
                </a:cubicBezTo>
                <a:cubicBezTo>
                  <a:pt x="350" y="1050"/>
                  <a:pt x="346" y="1050"/>
                  <a:pt x="342" y="1050"/>
                </a:cubicBezTo>
                <a:cubicBezTo>
                  <a:pt x="336" y="1051"/>
                  <a:pt x="336" y="1051"/>
                  <a:pt x="336" y="1051"/>
                </a:cubicBezTo>
                <a:cubicBezTo>
                  <a:pt x="333" y="1051"/>
                  <a:pt x="333" y="1051"/>
                  <a:pt x="333" y="1051"/>
                </a:cubicBezTo>
                <a:cubicBezTo>
                  <a:pt x="333" y="1051"/>
                  <a:pt x="332" y="1051"/>
                  <a:pt x="331" y="1051"/>
                </a:cubicBezTo>
                <a:cubicBezTo>
                  <a:pt x="316" y="1051"/>
                  <a:pt x="300" y="1050"/>
                  <a:pt x="285" y="1048"/>
                </a:cubicBezTo>
                <a:cubicBezTo>
                  <a:pt x="274" y="1046"/>
                  <a:pt x="274" y="1046"/>
                  <a:pt x="274" y="1046"/>
                </a:cubicBezTo>
                <a:cubicBezTo>
                  <a:pt x="262" y="1045"/>
                  <a:pt x="262" y="1045"/>
                  <a:pt x="262" y="1045"/>
                </a:cubicBezTo>
                <a:cubicBezTo>
                  <a:pt x="255" y="1043"/>
                  <a:pt x="247" y="1042"/>
                  <a:pt x="240" y="1040"/>
                </a:cubicBezTo>
                <a:cubicBezTo>
                  <a:pt x="232" y="1039"/>
                  <a:pt x="225" y="1037"/>
                  <a:pt x="217" y="1035"/>
                </a:cubicBezTo>
                <a:cubicBezTo>
                  <a:pt x="210" y="1033"/>
                  <a:pt x="202" y="1031"/>
                  <a:pt x="195" y="1029"/>
                </a:cubicBezTo>
                <a:cubicBezTo>
                  <a:pt x="180" y="1025"/>
                  <a:pt x="165" y="1020"/>
                  <a:pt x="151" y="1015"/>
                </a:cubicBezTo>
                <a:cubicBezTo>
                  <a:pt x="138" y="1010"/>
                  <a:pt x="125" y="1006"/>
                  <a:pt x="113" y="1000"/>
                </a:cubicBezTo>
                <a:cubicBezTo>
                  <a:pt x="107" y="8"/>
                  <a:pt x="107" y="8"/>
                  <a:pt x="107" y="8"/>
                </a:cubicBezTo>
                <a:cubicBezTo>
                  <a:pt x="134" y="16"/>
                  <a:pt x="134" y="16"/>
                  <a:pt x="134" y="16"/>
                </a:cubicBezTo>
                <a:cubicBezTo>
                  <a:pt x="139" y="17"/>
                  <a:pt x="144" y="19"/>
                  <a:pt x="149" y="20"/>
                </a:cubicBezTo>
                <a:cubicBezTo>
                  <a:pt x="165" y="24"/>
                  <a:pt x="165" y="24"/>
                  <a:pt x="165" y="24"/>
                </a:cubicBezTo>
                <a:cubicBezTo>
                  <a:pt x="180" y="27"/>
                  <a:pt x="180" y="27"/>
                  <a:pt x="180" y="27"/>
                </a:cubicBezTo>
                <a:cubicBezTo>
                  <a:pt x="188" y="29"/>
                  <a:pt x="188" y="29"/>
                  <a:pt x="188" y="29"/>
                </a:cubicBezTo>
                <a:cubicBezTo>
                  <a:pt x="191" y="30"/>
                  <a:pt x="193" y="30"/>
                  <a:pt x="196" y="30"/>
                </a:cubicBezTo>
                <a:cubicBezTo>
                  <a:pt x="227" y="36"/>
                  <a:pt x="227" y="36"/>
                  <a:pt x="227" y="36"/>
                </a:cubicBezTo>
                <a:cubicBezTo>
                  <a:pt x="232" y="37"/>
                  <a:pt x="238" y="38"/>
                  <a:pt x="243" y="39"/>
                </a:cubicBezTo>
                <a:cubicBezTo>
                  <a:pt x="259" y="41"/>
                  <a:pt x="259" y="41"/>
                  <a:pt x="259" y="41"/>
                </a:cubicBezTo>
                <a:cubicBezTo>
                  <a:pt x="275" y="43"/>
                  <a:pt x="275" y="43"/>
                  <a:pt x="275" y="43"/>
                </a:cubicBezTo>
                <a:cubicBezTo>
                  <a:pt x="280" y="44"/>
                  <a:pt x="285" y="44"/>
                  <a:pt x="290" y="45"/>
                </a:cubicBezTo>
                <a:cubicBezTo>
                  <a:pt x="301" y="46"/>
                  <a:pt x="311" y="47"/>
                  <a:pt x="322" y="48"/>
                </a:cubicBezTo>
                <a:cubicBezTo>
                  <a:pt x="354" y="51"/>
                  <a:pt x="354" y="51"/>
                  <a:pt x="354" y="51"/>
                </a:cubicBezTo>
                <a:cubicBezTo>
                  <a:pt x="359" y="51"/>
                  <a:pt x="364" y="52"/>
                  <a:pt x="370" y="52"/>
                </a:cubicBezTo>
                <a:cubicBezTo>
                  <a:pt x="386" y="53"/>
                  <a:pt x="386" y="53"/>
                  <a:pt x="386" y="53"/>
                </a:cubicBezTo>
                <a:cubicBezTo>
                  <a:pt x="402" y="53"/>
                  <a:pt x="402" y="53"/>
                  <a:pt x="402" y="53"/>
                </a:cubicBezTo>
                <a:cubicBezTo>
                  <a:pt x="417" y="54"/>
                  <a:pt x="417" y="54"/>
                  <a:pt x="417" y="54"/>
                </a:cubicBezTo>
                <a:cubicBezTo>
                  <a:pt x="428" y="54"/>
                  <a:pt x="439" y="54"/>
                  <a:pt x="449" y="54"/>
                </a:cubicBezTo>
                <a:cubicBezTo>
                  <a:pt x="460" y="54"/>
                  <a:pt x="471" y="54"/>
                  <a:pt x="481" y="54"/>
                </a:cubicBezTo>
                <a:cubicBezTo>
                  <a:pt x="492" y="54"/>
                  <a:pt x="502" y="54"/>
                  <a:pt x="513" y="53"/>
                </a:cubicBezTo>
                <a:cubicBezTo>
                  <a:pt x="524" y="53"/>
                  <a:pt x="534" y="53"/>
                  <a:pt x="545" y="52"/>
                </a:cubicBezTo>
                <a:cubicBezTo>
                  <a:pt x="561" y="51"/>
                  <a:pt x="561" y="51"/>
                  <a:pt x="561" y="51"/>
                </a:cubicBezTo>
                <a:cubicBezTo>
                  <a:pt x="577" y="50"/>
                  <a:pt x="577" y="50"/>
                  <a:pt x="577" y="50"/>
                </a:cubicBezTo>
                <a:cubicBezTo>
                  <a:pt x="587" y="49"/>
                  <a:pt x="598" y="48"/>
                  <a:pt x="608" y="47"/>
                </a:cubicBezTo>
                <a:cubicBezTo>
                  <a:pt x="598" y="48"/>
                  <a:pt x="587" y="49"/>
                  <a:pt x="577" y="50"/>
                </a:cubicBezTo>
                <a:cubicBezTo>
                  <a:pt x="561" y="51"/>
                  <a:pt x="561" y="51"/>
                  <a:pt x="561" y="51"/>
                </a:cubicBezTo>
                <a:cubicBezTo>
                  <a:pt x="545" y="51"/>
                  <a:pt x="545" y="51"/>
                  <a:pt x="545" y="51"/>
                </a:cubicBezTo>
                <a:cubicBezTo>
                  <a:pt x="534" y="52"/>
                  <a:pt x="524" y="52"/>
                  <a:pt x="513" y="52"/>
                </a:cubicBezTo>
                <a:cubicBezTo>
                  <a:pt x="502" y="52"/>
                  <a:pt x="492" y="52"/>
                  <a:pt x="481" y="53"/>
                </a:cubicBezTo>
                <a:cubicBezTo>
                  <a:pt x="471" y="53"/>
                  <a:pt x="460" y="52"/>
                  <a:pt x="449" y="52"/>
                </a:cubicBezTo>
                <a:cubicBezTo>
                  <a:pt x="439" y="52"/>
                  <a:pt x="428" y="52"/>
                  <a:pt x="418" y="51"/>
                </a:cubicBezTo>
                <a:cubicBezTo>
                  <a:pt x="402" y="51"/>
                  <a:pt x="402" y="51"/>
                  <a:pt x="402" y="51"/>
                </a:cubicBezTo>
                <a:cubicBezTo>
                  <a:pt x="386" y="50"/>
                  <a:pt x="386" y="50"/>
                  <a:pt x="386" y="50"/>
                </a:cubicBezTo>
                <a:cubicBezTo>
                  <a:pt x="370" y="49"/>
                  <a:pt x="370" y="49"/>
                  <a:pt x="370" y="49"/>
                </a:cubicBezTo>
                <a:cubicBezTo>
                  <a:pt x="365" y="49"/>
                  <a:pt x="359" y="48"/>
                  <a:pt x="354" y="48"/>
                </a:cubicBezTo>
                <a:cubicBezTo>
                  <a:pt x="322" y="45"/>
                  <a:pt x="322" y="45"/>
                  <a:pt x="322" y="45"/>
                </a:cubicBezTo>
                <a:cubicBezTo>
                  <a:pt x="312" y="44"/>
                  <a:pt x="301" y="43"/>
                  <a:pt x="291" y="41"/>
                </a:cubicBezTo>
                <a:cubicBezTo>
                  <a:pt x="286" y="41"/>
                  <a:pt x="280" y="40"/>
                  <a:pt x="275" y="39"/>
                </a:cubicBezTo>
                <a:cubicBezTo>
                  <a:pt x="259" y="37"/>
                  <a:pt x="259" y="37"/>
                  <a:pt x="259" y="37"/>
                </a:cubicBezTo>
                <a:cubicBezTo>
                  <a:pt x="244" y="35"/>
                  <a:pt x="244" y="35"/>
                  <a:pt x="244" y="35"/>
                </a:cubicBezTo>
                <a:cubicBezTo>
                  <a:pt x="238" y="34"/>
                  <a:pt x="233" y="33"/>
                  <a:pt x="228" y="32"/>
                </a:cubicBezTo>
                <a:cubicBezTo>
                  <a:pt x="197" y="26"/>
                  <a:pt x="197" y="26"/>
                  <a:pt x="197" y="26"/>
                </a:cubicBezTo>
                <a:cubicBezTo>
                  <a:pt x="194" y="25"/>
                  <a:pt x="192" y="25"/>
                  <a:pt x="189" y="24"/>
                </a:cubicBezTo>
                <a:cubicBezTo>
                  <a:pt x="181" y="22"/>
                  <a:pt x="181" y="22"/>
                  <a:pt x="181" y="22"/>
                </a:cubicBezTo>
                <a:cubicBezTo>
                  <a:pt x="166" y="19"/>
                  <a:pt x="166" y="19"/>
                  <a:pt x="166" y="19"/>
                </a:cubicBezTo>
                <a:cubicBezTo>
                  <a:pt x="150" y="15"/>
                  <a:pt x="150" y="15"/>
                  <a:pt x="150" y="15"/>
                </a:cubicBezTo>
                <a:cubicBezTo>
                  <a:pt x="145" y="14"/>
                  <a:pt x="140" y="12"/>
                  <a:pt x="135" y="10"/>
                </a:cubicBezTo>
                <a:cubicBezTo>
                  <a:pt x="105" y="1"/>
                  <a:pt x="105" y="1"/>
                  <a:pt x="105" y="1"/>
                </a:cubicBezTo>
                <a:cubicBezTo>
                  <a:pt x="101" y="0"/>
                  <a:pt x="101" y="0"/>
                  <a:pt x="101" y="0"/>
                </a:cubicBezTo>
                <a:cubicBezTo>
                  <a:pt x="101" y="4"/>
                  <a:pt x="101" y="4"/>
                  <a:pt x="101" y="4"/>
                </a:cubicBezTo>
                <a:cubicBezTo>
                  <a:pt x="95" y="1006"/>
                  <a:pt x="95" y="1006"/>
                  <a:pt x="95" y="1006"/>
                </a:cubicBezTo>
                <a:cubicBezTo>
                  <a:pt x="95" y="1012"/>
                  <a:pt x="95" y="1012"/>
                  <a:pt x="95" y="1012"/>
                </a:cubicBezTo>
                <a:cubicBezTo>
                  <a:pt x="100" y="1014"/>
                  <a:pt x="100" y="1014"/>
                  <a:pt x="100" y="1014"/>
                </a:cubicBezTo>
                <a:cubicBezTo>
                  <a:pt x="115" y="1021"/>
                  <a:pt x="130" y="1026"/>
                  <a:pt x="145" y="1032"/>
                </a:cubicBezTo>
                <a:cubicBezTo>
                  <a:pt x="159" y="1037"/>
                  <a:pt x="174" y="1042"/>
                  <a:pt x="190" y="1047"/>
                </a:cubicBezTo>
                <a:cubicBezTo>
                  <a:pt x="197" y="1049"/>
                  <a:pt x="205" y="1051"/>
                  <a:pt x="213" y="1053"/>
                </a:cubicBezTo>
                <a:cubicBezTo>
                  <a:pt x="220" y="1055"/>
                  <a:pt x="228" y="1057"/>
                  <a:pt x="236" y="1059"/>
                </a:cubicBezTo>
                <a:cubicBezTo>
                  <a:pt x="243" y="1061"/>
                  <a:pt x="251" y="1062"/>
                  <a:pt x="259" y="1064"/>
                </a:cubicBezTo>
                <a:cubicBezTo>
                  <a:pt x="271" y="1066"/>
                  <a:pt x="271" y="1066"/>
                  <a:pt x="271" y="1066"/>
                </a:cubicBezTo>
                <a:cubicBezTo>
                  <a:pt x="283" y="1067"/>
                  <a:pt x="283" y="1067"/>
                  <a:pt x="283" y="1067"/>
                </a:cubicBezTo>
                <a:cubicBezTo>
                  <a:pt x="299" y="1070"/>
                  <a:pt x="315" y="1071"/>
                  <a:pt x="331" y="1071"/>
                </a:cubicBezTo>
                <a:cubicBezTo>
                  <a:pt x="332" y="1071"/>
                  <a:pt x="333" y="1071"/>
                  <a:pt x="334" y="1071"/>
                </a:cubicBezTo>
                <a:cubicBezTo>
                  <a:pt x="337" y="1071"/>
                  <a:pt x="337" y="1071"/>
                  <a:pt x="337" y="1071"/>
                </a:cubicBezTo>
                <a:cubicBezTo>
                  <a:pt x="343" y="1071"/>
                  <a:pt x="343" y="1071"/>
                  <a:pt x="343" y="1071"/>
                </a:cubicBezTo>
                <a:cubicBezTo>
                  <a:pt x="355" y="1070"/>
                  <a:pt x="355" y="1070"/>
                  <a:pt x="355" y="1070"/>
                </a:cubicBezTo>
                <a:cubicBezTo>
                  <a:pt x="363" y="1070"/>
                  <a:pt x="371" y="1070"/>
                  <a:pt x="378" y="1069"/>
                </a:cubicBezTo>
                <a:cubicBezTo>
                  <a:pt x="394" y="1068"/>
                  <a:pt x="410" y="1067"/>
                  <a:pt x="426" y="1065"/>
                </a:cubicBezTo>
                <a:cubicBezTo>
                  <a:pt x="472" y="1061"/>
                  <a:pt x="472" y="1061"/>
                  <a:pt x="472" y="1061"/>
                </a:cubicBezTo>
                <a:cubicBezTo>
                  <a:pt x="496" y="1058"/>
                  <a:pt x="496" y="1058"/>
                  <a:pt x="496" y="1058"/>
                </a:cubicBezTo>
                <a:cubicBezTo>
                  <a:pt x="503" y="1058"/>
                  <a:pt x="511" y="1057"/>
                  <a:pt x="519" y="1057"/>
                </a:cubicBezTo>
                <a:cubicBezTo>
                  <a:pt x="526" y="1056"/>
                  <a:pt x="534" y="1056"/>
                  <a:pt x="542" y="1055"/>
                </a:cubicBezTo>
                <a:cubicBezTo>
                  <a:pt x="553" y="1055"/>
                  <a:pt x="553" y="1055"/>
                  <a:pt x="553" y="1055"/>
                </a:cubicBezTo>
                <a:cubicBezTo>
                  <a:pt x="565" y="1055"/>
                  <a:pt x="565" y="1055"/>
                  <a:pt x="565" y="1055"/>
                </a:cubicBezTo>
                <a:cubicBezTo>
                  <a:pt x="580" y="1055"/>
                  <a:pt x="595" y="1056"/>
                  <a:pt x="611" y="1057"/>
                </a:cubicBezTo>
                <a:cubicBezTo>
                  <a:pt x="614" y="1057"/>
                  <a:pt x="618" y="1058"/>
                  <a:pt x="622" y="1058"/>
                </a:cubicBezTo>
                <a:cubicBezTo>
                  <a:pt x="626" y="1059"/>
                  <a:pt x="629" y="1059"/>
                  <a:pt x="633" y="1060"/>
                </a:cubicBezTo>
                <a:cubicBezTo>
                  <a:pt x="644" y="1062"/>
                  <a:pt x="644" y="1062"/>
                  <a:pt x="644" y="1062"/>
                </a:cubicBezTo>
                <a:cubicBezTo>
                  <a:pt x="647" y="1063"/>
                  <a:pt x="647" y="1063"/>
                  <a:pt x="647" y="1063"/>
                </a:cubicBezTo>
                <a:cubicBezTo>
                  <a:pt x="648" y="1063"/>
                  <a:pt x="648" y="1063"/>
                  <a:pt x="648" y="1063"/>
                </a:cubicBezTo>
                <a:cubicBezTo>
                  <a:pt x="649" y="1063"/>
                  <a:pt x="649" y="1063"/>
                  <a:pt x="649" y="1063"/>
                </a:cubicBezTo>
                <a:cubicBezTo>
                  <a:pt x="655" y="1065"/>
                  <a:pt x="655" y="1065"/>
                  <a:pt x="655" y="1065"/>
                </a:cubicBezTo>
                <a:cubicBezTo>
                  <a:pt x="666" y="1068"/>
                  <a:pt x="666" y="1068"/>
                  <a:pt x="666" y="1068"/>
                </a:cubicBezTo>
                <a:cubicBezTo>
                  <a:pt x="677" y="1071"/>
                  <a:pt x="677" y="1071"/>
                  <a:pt x="677" y="1071"/>
                </a:cubicBezTo>
                <a:cubicBezTo>
                  <a:pt x="684" y="1073"/>
                  <a:pt x="692" y="1076"/>
                  <a:pt x="699" y="1078"/>
                </a:cubicBezTo>
                <a:cubicBezTo>
                  <a:pt x="711" y="1082"/>
                  <a:pt x="722" y="1087"/>
                  <a:pt x="734" y="1092"/>
                </a:cubicBezTo>
                <a:cubicBezTo>
                  <a:pt x="725" y="1090"/>
                  <a:pt x="716" y="1088"/>
                  <a:pt x="708" y="1087"/>
                </a:cubicBezTo>
                <a:cubicBezTo>
                  <a:pt x="703" y="1087"/>
                  <a:pt x="699" y="1086"/>
                  <a:pt x="694" y="1085"/>
                </a:cubicBezTo>
                <a:cubicBezTo>
                  <a:pt x="680" y="1084"/>
                  <a:pt x="680" y="1084"/>
                  <a:pt x="680" y="1084"/>
                </a:cubicBezTo>
                <a:cubicBezTo>
                  <a:pt x="674" y="1084"/>
                  <a:pt x="674" y="1084"/>
                  <a:pt x="674" y="1084"/>
                </a:cubicBezTo>
                <a:cubicBezTo>
                  <a:pt x="667" y="1083"/>
                  <a:pt x="667" y="1083"/>
                  <a:pt x="667" y="1083"/>
                </a:cubicBezTo>
                <a:cubicBezTo>
                  <a:pt x="653" y="1083"/>
                  <a:pt x="653" y="1083"/>
                  <a:pt x="653" y="1083"/>
                </a:cubicBezTo>
                <a:cubicBezTo>
                  <a:pt x="649" y="1083"/>
                  <a:pt x="644" y="1083"/>
                  <a:pt x="639" y="1083"/>
                </a:cubicBezTo>
                <a:cubicBezTo>
                  <a:pt x="625" y="1083"/>
                  <a:pt x="625" y="1083"/>
                  <a:pt x="625" y="1083"/>
                </a:cubicBezTo>
                <a:cubicBezTo>
                  <a:pt x="623" y="1083"/>
                  <a:pt x="621" y="1083"/>
                  <a:pt x="618" y="1083"/>
                </a:cubicBezTo>
                <a:cubicBezTo>
                  <a:pt x="612" y="1084"/>
                  <a:pt x="612" y="1084"/>
                  <a:pt x="612" y="1084"/>
                </a:cubicBezTo>
                <a:cubicBezTo>
                  <a:pt x="599" y="1085"/>
                  <a:pt x="599" y="1085"/>
                  <a:pt x="599" y="1085"/>
                </a:cubicBezTo>
                <a:cubicBezTo>
                  <a:pt x="595" y="1085"/>
                  <a:pt x="595" y="1085"/>
                  <a:pt x="595" y="1085"/>
                </a:cubicBezTo>
                <a:cubicBezTo>
                  <a:pt x="592" y="1086"/>
                  <a:pt x="592" y="1086"/>
                  <a:pt x="592" y="1086"/>
                </a:cubicBezTo>
                <a:cubicBezTo>
                  <a:pt x="585" y="1087"/>
                  <a:pt x="585" y="1087"/>
                  <a:pt x="585" y="1087"/>
                </a:cubicBezTo>
                <a:cubicBezTo>
                  <a:pt x="572" y="1088"/>
                  <a:pt x="572" y="1088"/>
                  <a:pt x="572" y="1088"/>
                </a:cubicBezTo>
                <a:cubicBezTo>
                  <a:pt x="555" y="1091"/>
                  <a:pt x="537" y="1094"/>
                  <a:pt x="520" y="1097"/>
                </a:cubicBezTo>
                <a:cubicBezTo>
                  <a:pt x="512" y="1099"/>
                  <a:pt x="503" y="1101"/>
                  <a:pt x="495" y="1103"/>
                </a:cubicBezTo>
                <a:cubicBezTo>
                  <a:pt x="470" y="1108"/>
                  <a:pt x="470" y="1108"/>
                  <a:pt x="470" y="1108"/>
                </a:cubicBezTo>
                <a:cubicBezTo>
                  <a:pt x="420" y="1118"/>
                  <a:pt x="420" y="1118"/>
                  <a:pt x="420" y="1118"/>
                </a:cubicBezTo>
                <a:cubicBezTo>
                  <a:pt x="404" y="1121"/>
                  <a:pt x="387" y="1125"/>
                  <a:pt x="371" y="1127"/>
                </a:cubicBezTo>
                <a:cubicBezTo>
                  <a:pt x="354" y="1130"/>
                  <a:pt x="338" y="1132"/>
                  <a:pt x="321" y="1135"/>
                </a:cubicBezTo>
                <a:cubicBezTo>
                  <a:pt x="296" y="1137"/>
                  <a:pt x="296" y="1137"/>
                  <a:pt x="296" y="1137"/>
                </a:cubicBezTo>
                <a:cubicBezTo>
                  <a:pt x="284" y="1139"/>
                  <a:pt x="284" y="1139"/>
                  <a:pt x="284" y="1139"/>
                </a:cubicBezTo>
                <a:cubicBezTo>
                  <a:pt x="271" y="1140"/>
                  <a:pt x="271" y="1140"/>
                  <a:pt x="271" y="1140"/>
                </a:cubicBezTo>
                <a:cubicBezTo>
                  <a:pt x="246" y="1141"/>
                  <a:pt x="246" y="1141"/>
                  <a:pt x="246" y="1141"/>
                </a:cubicBezTo>
                <a:cubicBezTo>
                  <a:pt x="238" y="1142"/>
                  <a:pt x="230" y="1142"/>
                  <a:pt x="222" y="1142"/>
                </a:cubicBezTo>
                <a:cubicBezTo>
                  <a:pt x="205" y="1143"/>
                  <a:pt x="188" y="1142"/>
                  <a:pt x="172" y="1142"/>
                </a:cubicBezTo>
                <a:cubicBezTo>
                  <a:pt x="163" y="1142"/>
                  <a:pt x="155" y="1141"/>
                  <a:pt x="147" y="1140"/>
                </a:cubicBezTo>
                <a:cubicBezTo>
                  <a:pt x="122" y="1139"/>
                  <a:pt x="122" y="1139"/>
                  <a:pt x="122" y="1139"/>
                </a:cubicBezTo>
                <a:cubicBezTo>
                  <a:pt x="105" y="1137"/>
                  <a:pt x="88" y="1135"/>
                  <a:pt x="72" y="1133"/>
                </a:cubicBezTo>
                <a:cubicBezTo>
                  <a:pt x="36" y="1127"/>
                  <a:pt x="36" y="1127"/>
                  <a:pt x="36" y="1127"/>
                </a:cubicBezTo>
                <a:cubicBezTo>
                  <a:pt x="19" y="159"/>
                  <a:pt x="19" y="159"/>
                  <a:pt x="19" y="159"/>
                </a:cubicBezTo>
                <a:cubicBezTo>
                  <a:pt x="1" y="1142"/>
                  <a:pt x="1" y="1142"/>
                  <a:pt x="1" y="1142"/>
                </a:cubicBezTo>
                <a:cubicBezTo>
                  <a:pt x="0" y="1157"/>
                  <a:pt x="0" y="1157"/>
                  <a:pt x="0" y="1157"/>
                </a:cubicBezTo>
                <a:cubicBezTo>
                  <a:pt x="15" y="1160"/>
                  <a:pt x="15" y="1160"/>
                  <a:pt x="15" y="1160"/>
                </a:cubicBezTo>
                <a:cubicBezTo>
                  <a:pt x="66" y="1170"/>
                  <a:pt x="66" y="1170"/>
                  <a:pt x="66" y="1170"/>
                </a:cubicBezTo>
                <a:cubicBezTo>
                  <a:pt x="83" y="1173"/>
                  <a:pt x="100" y="1176"/>
                  <a:pt x="117" y="1178"/>
                </a:cubicBezTo>
                <a:cubicBezTo>
                  <a:pt x="143" y="1181"/>
                  <a:pt x="143" y="1181"/>
                  <a:pt x="143" y="1181"/>
                </a:cubicBezTo>
                <a:cubicBezTo>
                  <a:pt x="152" y="1181"/>
                  <a:pt x="161" y="1183"/>
                  <a:pt x="169" y="1183"/>
                </a:cubicBezTo>
                <a:cubicBezTo>
                  <a:pt x="187" y="1184"/>
                  <a:pt x="204" y="1185"/>
                  <a:pt x="222" y="1185"/>
                </a:cubicBezTo>
                <a:cubicBezTo>
                  <a:pt x="230" y="1185"/>
                  <a:pt x="239" y="1185"/>
                  <a:pt x="248" y="1185"/>
                </a:cubicBezTo>
                <a:cubicBezTo>
                  <a:pt x="274" y="1185"/>
                  <a:pt x="274" y="1185"/>
                  <a:pt x="274" y="1185"/>
                </a:cubicBezTo>
                <a:cubicBezTo>
                  <a:pt x="287" y="1184"/>
                  <a:pt x="287" y="1184"/>
                  <a:pt x="287" y="1184"/>
                </a:cubicBezTo>
                <a:cubicBezTo>
                  <a:pt x="300" y="1183"/>
                  <a:pt x="300" y="1183"/>
                  <a:pt x="300" y="1183"/>
                </a:cubicBezTo>
                <a:cubicBezTo>
                  <a:pt x="309" y="1183"/>
                  <a:pt x="317" y="1182"/>
                  <a:pt x="326" y="1181"/>
                </a:cubicBezTo>
                <a:cubicBezTo>
                  <a:pt x="343" y="1180"/>
                  <a:pt x="361" y="1178"/>
                  <a:pt x="378" y="1176"/>
                </a:cubicBezTo>
                <a:cubicBezTo>
                  <a:pt x="395" y="1173"/>
                  <a:pt x="412" y="1171"/>
                  <a:pt x="429" y="1168"/>
                </a:cubicBezTo>
                <a:cubicBezTo>
                  <a:pt x="480" y="1159"/>
                  <a:pt x="480" y="1159"/>
                  <a:pt x="480" y="1159"/>
                </a:cubicBezTo>
                <a:cubicBezTo>
                  <a:pt x="505" y="1155"/>
                  <a:pt x="505" y="1155"/>
                  <a:pt x="505" y="1155"/>
                </a:cubicBezTo>
                <a:cubicBezTo>
                  <a:pt x="513" y="1154"/>
                  <a:pt x="522" y="1152"/>
                  <a:pt x="530" y="1151"/>
                </a:cubicBezTo>
                <a:cubicBezTo>
                  <a:pt x="547" y="1148"/>
                  <a:pt x="563" y="1146"/>
                  <a:pt x="579" y="1144"/>
                </a:cubicBezTo>
                <a:cubicBezTo>
                  <a:pt x="591" y="1143"/>
                  <a:pt x="591" y="1143"/>
                  <a:pt x="591" y="1143"/>
                </a:cubicBezTo>
                <a:cubicBezTo>
                  <a:pt x="597" y="1142"/>
                  <a:pt x="597" y="1142"/>
                  <a:pt x="597" y="1142"/>
                </a:cubicBezTo>
                <a:cubicBezTo>
                  <a:pt x="600" y="1142"/>
                  <a:pt x="600" y="1142"/>
                  <a:pt x="600" y="1142"/>
                </a:cubicBezTo>
                <a:cubicBezTo>
                  <a:pt x="601" y="1142"/>
                  <a:pt x="601" y="1142"/>
                  <a:pt x="601" y="1142"/>
                </a:cubicBezTo>
                <a:cubicBezTo>
                  <a:pt x="603" y="1142"/>
                  <a:pt x="603" y="1142"/>
                  <a:pt x="603" y="1142"/>
                </a:cubicBezTo>
                <a:cubicBezTo>
                  <a:pt x="615" y="1141"/>
                  <a:pt x="615" y="1141"/>
                  <a:pt x="615" y="1141"/>
                </a:cubicBezTo>
                <a:cubicBezTo>
                  <a:pt x="622" y="1141"/>
                  <a:pt x="622" y="1141"/>
                  <a:pt x="622" y="1141"/>
                </a:cubicBezTo>
                <a:cubicBezTo>
                  <a:pt x="624" y="1141"/>
                  <a:pt x="626" y="1141"/>
                  <a:pt x="628" y="1141"/>
                </a:cubicBezTo>
                <a:cubicBezTo>
                  <a:pt x="640" y="1141"/>
                  <a:pt x="640" y="1141"/>
                  <a:pt x="640" y="1141"/>
                </a:cubicBezTo>
                <a:cubicBezTo>
                  <a:pt x="643" y="1141"/>
                  <a:pt x="647" y="1141"/>
                  <a:pt x="651" y="1142"/>
                </a:cubicBezTo>
                <a:cubicBezTo>
                  <a:pt x="663" y="1143"/>
                  <a:pt x="663" y="1143"/>
                  <a:pt x="663" y="1143"/>
                </a:cubicBezTo>
                <a:cubicBezTo>
                  <a:pt x="669" y="1143"/>
                  <a:pt x="669" y="1143"/>
                  <a:pt x="669" y="1143"/>
                </a:cubicBezTo>
                <a:cubicBezTo>
                  <a:pt x="675" y="1144"/>
                  <a:pt x="675" y="1144"/>
                  <a:pt x="675" y="1144"/>
                </a:cubicBezTo>
                <a:cubicBezTo>
                  <a:pt x="686" y="1145"/>
                  <a:pt x="686" y="1145"/>
                  <a:pt x="686" y="1145"/>
                </a:cubicBezTo>
                <a:cubicBezTo>
                  <a:pt x="690" y="1146"/>
                  <a:pt x="694" y="1147"/>
                  <a:pt x="698" y="1147"/>
                </a:cubicBezTo>
                <a:cubicBezTo>
                  <a:pt x="706" y="1148"/>
                  <a:pt x="714" y="1150"/>
                  <a:pt x="721" y="1152"/>
                </a:cubicBezTo>
                <a:cubicBezTo>
                  <a:pt x="736" y="1156"/>
                  <a:pt x="751" y="1161"/>
                  <a:pt x="766" y="1166"/>
                </a:cubicBezTo>
                <a:cubicBezTo>
                  <a:pt x="776" y="1171"/>
                  <a:pt x="776" y="1171"/>
                  <a:pt x="776" y="1171"/>
                </a:cubicBezTo>
                <a:cubicBezTo>
                  <a:pt x="780" y="1173"/>
                  <a:pt x="783" y="1174"/>
                  <a:pt x="786" y="1176"/>
                </a:cubicBezTo>
                <a:cubicBezTo>
                  <a:pt x="790" y="1178"/>
                  <a:pt x="793" y="1179"/>
                  <a:pt x="796" y="1181"/>
                </a:cubicBezTo>
                <a:cubicBezTo>
                  <a:pt x="798" y="1182"/>
                  <a:pt x="799" y="1183"/>
                  <a:pt x="801" y="1184"/>
                </a:cubicBezTo>
                <a:cubicBezTo>
                  <a:pt x="801" y="1184"/>
                  <a:pt x="802" y="1185"/>
                  <a:pt x="803" y="1185"/>
                </a:cubicBezTo>
                <a:cubicBezTo>
                  <a:pt x="804" y="1186"/>
                  <a:pt x="804" y="1186"/>
                  <a:pt x="804" y="1186"/>
                </a:cubicBezTo>
                <a:cubicBezTo>
                  <a:pt x="804" y="1186"/>
                  <a:pt x="804" y="1186"/>
                  <a:pt x="804" y="1186"/>
                </a:cubicBezTo>
                <a:cubicBezTo>
                  <a:pt x="804" y="1186"/>
                  <a:pt x="804" y="1186"/>
                  <a:pt x="804" y="1186"/>
                </a:cubicBezTo>
                <a:cubicBezTo>
                  <a:pt x="873" y="1186"/>
                  <a:pt x="873" y="1186"/>
                  <a:pt x="873" y="1186"/>
                </a:cubicBezTo>
                <a:cubicBezTo>
                  <a:pt x="873" y="1186"/>
                  <a:pt x="873" y="1186"/>
                  <a:pt x="873" y="1186"/>
                </a:cubicBezTo>
                <a:cubicBezTo>
                  <a:pt x="873" y="1186"/>
                  <a:pt x="873" y="1186"/>
                  <a:pt x="873" y="1186"/>
                </a:cubicBezTo>
                <a:cubicBezTo>
                  <a:pt x="874" y="1185"/>
                  <a:pt x="874" y="1185"/>
                  <a:pt x="874" y="1185"/>
                </a:cubicBezTo>
                <a:cubicBezTo>
                  <a:pt x="875" y="1185"/>
                  <a:pt x="876" y="1184"/>
                  <a:pt x="876" y="1184"/>
                </a:cubicBezTo>
                <a:cubicBezTo>
                  <a:pt x="878" y="1183"/>
                  <a:pt x="879" y="1182"/>
                  <a:pt x="881" y="1181"/>
                </a:cubicBezTo>
                <a:cubicBezTo>
                  <a:pt x="884" y="1179"/>
                  <a:pt x="887" y="1178"/>
                  <a:pt x="891" y="1176"/>
                </a:cubicBezTo>
                <a:cubicBezTo>
                  <a:pt x="894" y="1174"/>
                  <a:pt x="897" y="1173"/>
                  <a:pt x="901" y="1171"/>
                </a:cubicBezTo>
                <a:cubicBezTo>
                  <a:pt x="911" y="1166"/>
                  <a:pt x="911" y="1166"/>
                  <a:pt x="911" y="1166"/>
                </a:cubicBezTo>
                <a:cubicBezTo>
                  <a:pt x="926" y="1161"/>
                  <a:pt x="941" y="1156"/>
                  <a:pt x="956" y="1152"/>
                </a:cubicBezTo>
                <a:cubicBezTo>
                  <a:pt x="963" y="1150"/>
                  <a:pt x="971" y="1148"/>
                  <a:pt x="979" y="1147"/>
                </a:cubicBezTo>
                <a:cubicBezTo>
                  <a:pt x="983" y="1147"/>
                  <a:pt x="987" y="1146"/>
                  <a:pt x="991" y="1145"/>
                </a:cubicBezTo>
                <a:cubicBezTo>
                  <a:pt x="1002" y="1144"/>
                  <a:pt x="1002" y="1144"/>
                  <a:pt x="1002" y="1144"/>
                </a:cubicBezTo>
                <a:cubicBezTo>
                  <a:pt x="1008" y="1143"/>
                  <a:pt x="1008" y="1143"/>
                  <a:pt x="1008" y="1143"/>
                </a:cubicBezTo>
                <a:cubicBezTo>
                  <a:pt x="1014" y="1143"/>
                  <a:pt x="1014" y="1143"/>
                  <a:pt x="1014" y="1143"/>
                </a:cubicBezTo>
                <a:cubicBezTo>
                  <a:pt x="1026" y="1142"/>
                  <a:pt x="1026" y="1142"/>
                  <a:pt x="1026" y="1142"/>
                </a:cubicBezTo>
                <a:cubicBezTo>
                  <a:pt x="1030" y="1141"/>
                  <a:pt x="1034" y="1141"/>
                  <a:pt x="1038" y="1141"/>
                </a:cubicBezTo>
                <a:cubicBezTo>
                  <a:pt x="1049" y="1141"/>
                  <a:pt x="1049" y="1141"/>
                  <a:pt x="1049" y="1141"/>
                </a:cubicBezTo>
                <a:cubicBezTo>
                  <a:pt x="1051" y="1141"/>
                  <a:pt x="1053" y="1141"/>
                  <a:pt x="1055" y="1141"/>
                </a:cubicBezTo>
                <a:cubicBezTo>
                  <a:pt x="1062" y="1141"/>
                  <a:pt x="1062" y="1141"/>
                  <a:pt x="1062" y="1141"/>
                </a:cubicBezTo>
                <a:cubicBezTo>
                  <a:pt x="1074" y="1142"/>
                  <a:pt x="1074" y="1142"/>
                  <a:pt x="1074" y="1142"/>
                </a:cubicBezTo>
                <a:cubicBezTo>
                  <a:pt x="1076" y="1142"/>
                  <a:pt x="1076" y="1142"/>
                  <a:pt x="1076" y="1142"/>
                </a:cubicBezTo>
                <a:cubicBezTo>
                  <a:pt x="1077" y="1142"/>
                  <a:pt x="1077" y="1142"/>
                  <a:pt x="1077" y="1142"/>
                </a:cubicBezTo>
                <a:cubicBezTo>
                  <a:pt x="1077" y="1142"/>
                  <a:pt x="1077" y="1142"/>
                  <a:pt x="1077" y="1142"/>
                </a:cubicBezTo>
                <a:cubicBezTo>
                  <a:pt x="1080" y="1142"/>
                  <a:pt x="1080" y="1142"/>
                  <a:pt x="1080" y="1142"/>
                </a:cubicBezTo>
                <a:cubicBezTo>
                  <a:pt x="1086" y="1143"/>
                  <a:pt x="1086" y="1143"/>
                  <a:pt x="1086" y="1143"/>
                </a:cubicBezTo>
                <a:cubicBezTo>
                  <a:pt x="1098" y="1144"/>
                  <a:pt x="1098" y="1144"/>
                  <a:pt x="1098" y="1144"/>
                </a:cubicBezTo>
                <a:cubicBezTo>
                  <a:pt x="1114" y="1146"/>
                  <a:pt x="1131" y="1148"/>
                  <a:pt x="1147" y="1151"/>
                </a:cubicBezTo>
                <a:cubicBezTo>
                  <a:pt x="1155" y="1152"/>
                  <a:pt x="1164" y="1154"/>
                  <a:pt x="1172" y="1155"/>
                </a:cubicBezTo>
                <a:cubicBezTo>
                  <a:pt x="1197" y="1159"/>
                  <a:pt x="1197" y="1159"/>
                  <a:pt x="1197" y="1159"/>
                </a:cubicBezTo>
                <a:cubicBezTo>
                  <a:pt x="1248" y="1168"/>
                  <a:pt x="1248" y="1168"/>
                  <a:pt x="1248" y="1168"/>
                </a:cubicBezTo>
                <a:cubicBezTo>
                  <a:pt x="1265" y="1171"/>
                  <a:pt x="1282" y="1173"/>
                  <a:pt x="1299" y="1176"/>
                </a:cubicBezTo>
                <a:cubicBezTo>
                  <a:pt x="1316" y="1178"/>
                  <a:pt x="1334" y="1180"/>
                  <a:pt x="1351" y="1181"/>
                </a:cubicBezTo>
                <a:cubicBezTo>
                  <a:pt x="1360" y="1182"/>
                  <a:pt x="1368" y="1183"/>
                  <a:pt x="1377" y="1183"/>
                </a:cubicBezTo>
                <a:cubicBezTo>
                  <a:pt x="1390" y="1184"/>
                  <a:pt x="1390" y="1184"/>
                  <a:pt x="1390" y="1184"/>
                </a:cubicBezTo>
                <a:cubicBezTo>
                  <a:pt x="1403" y="1185"/>
                  <a:pt x="1403" y="1185"/>
                  <a:pt x="1403" y="1185"/>
                </a:cubicBezTo>
                <a:cubicBezTo>
                  <a:pt x="1429" y="1185"/>
                  <a:pt x="1429" y="1185"/>
                  <a:pt x="1429" y="1185"/>
                </a:cubicBezTo>
                <a:cubicBezTo>
                  <a:pt x="1438" y="1185"/>
                  <a:pt x="1447" y="1185"/>
                  <a:pt x="1455" y="1185"/>
                </a:cubicBezTo>
                <a:cubicBezTo>
                  <a:pt x="1473" y="1185"/>
                  <a:pt x="1490" y="1184"/>
                  <a:pt x="1508" y="1183"/>
                </a:cubicBezTo>
                <a:cubicBezTo>
                  <a:pt x="1516" y="1183"/>
                  <a:pt x="1525" y="1181"/>
                  <a:pt x="1534" y="1181"/>
                </a:cubicBezTo>
                <a:cubicBezTo>
                  <a:pt x="1560" y="1178"/>
                  <a:pt x="1560" y="1178"/>
                  <a:pt x="1560" y="1178"/>
                </a:cubicBezTo>
                <a:cubicBezTo>
                  <a:pt x="1577" y="1176"/>
                  <a:pt x="1594" y="1173"/>
                  <a:pt x="1611" y="1170"/>
                </a:cubicBezTo>
                <a:cubicBezTo>
                  <a:pt x="1662" y="1160"/>
                  <a:pt x="1662" y="1160"/>
                  <a:pt x="1662" y="1160"/>
                </a:cubicBezTo>
                <a:cubicBezTo>
                  <a:pt x="1677" y="1157"/>
                  <a:pt x="1677" y="1157"/>
                  <a:pt x="1677" y="1157"/>
                </a:cubicBezTo>
                <a:lnTo>
                  <a:pt x="1676" y="114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prstClr val="black"/>
              </a:solidFill>
              <a:effectLst/>
              <a:uLnTx/>
              <a:uFillTx/>
              <a:latin typeface="等线" panose="020F0502020204030204"/>
              <a:ea typeface="等线" panose="02010600030101010101" pitchFamily="2" charset="-122"/>
              <a:cs typeface="+mn-cs"/>
            </a:endParaRPr>
          </a:p>
        </p:txBody>
      </p:sp>
      <p:sp>
        <p:nvSpPr>
          <p:cNvPr id="39" name="椭圆 38">
            <a:extLst>
              <a:ext uri="{FF2B5EF4-FFF2-40B4-BE49-F238E27FC236}">
                <a16:creationId xmlns:a16="http://schemas.microsoft.com/office/drawing/2014/main" id="{81FC8C60-9C12-4E6C-BD97-DDF7F923FAAE}"/>
              </a:ext>
            </a:extLst>
          </p:cNvPr>
          <p:cNvSpPr/>
          <p:nvPr/>
        </p:nvSpPr>
        <p:spPr>
          <a:xfrm>
            <a:off x="1407097" y="3429001"/>
            <a:ext cx="878905" cy="87890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41" name="文本框 40">
            <a:extLst>
              <a:ext uri="{FF2B5EF4-FFF2-40B4-BE49-F238E27FC236}">
                <a16:creationId xmlns:a16="http://schemas.microsoft.com/office/drawing/2014/main" id="{9059FA0A-51B5-48CA-AB6C-4F6B4222BEFC}"/>
              </a:ext>
            </a:extLst>
          </p:cNvPr>
          <p:cNvSpPr txBox="1"/>
          <p:nvPr/>
        </p:nvSpPr>
        <p:spPr>
          <a:xfrm>
            <a:off x="1572196" y="3467101"/>
            <a:ext cx="510605" cy="830997"/>
          </a:xfrm>
          <a:prstGeom prst="rect">
            <a:avLst/>
          </a:prstGeom>
          <a:noFill/>
        </p:spPr>
        <p:txBody>
          <a:bodyPr wrap="square" rtlCol="0">
            <a:spAutoFit/>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altLang="zh-CN" sz="4800" noProof="0" dirty="0">
                <a:solidFill>
                  <a:srgbClr val="7F2C8B"/>
                </a:solidFill>
                <a:latin typeface="思源宋体 CN Heavy" panose="02020900000000000000" pitchFamily="18" charset="-122"/>
                <a:ea typeface="思源宋体 CN Heavy" panose="02020900000000000000" pitchFamily="18" charset="-122"/>
              </a:rPr>
              <a:t>2</a:t>
            </a:r>
            <a:endParaRPr kumimoji="0" lang="zh-CN" altLang="en-US" sz="4800" b="0" i="0" u="none" strike="noStrike" kern="1200" cap="none" spc="0" normalizeH="0" baseline="0" noProof="0" dirty="0">
              <a:ln>
                <a:noFill/>
              </a:ln>
              <a:solidFill>
                <a:srgbClr val="7F2C8B"/>
              </a:solidFill>
              <a:effectLst/>
              <a:uLnTx/>
              <a:uFillTx/>
              <a:latin typeface="思源宋体 CN Heavy" panose="02020900000000000000" pitchFamily="18" charset="-122"/>
              <a:ea typeface="思源宋体 CN Heavy" panose="02020900000000000000" pitchFamily="18" charset="-122"/>
              <a:cs typeface="+mn-cs"/>
            </a:endParaRPr>
          </a:p>
        </p:txBody>
      </p:sp>
      <p:sp>
        <p:nvSpPr>
          <p:cNvPr id="3" name="文本框 2"/>
          <p:cNvSpPr txBox="1"/>
          <p:nvPr/>
        </p:nvSpPr>
        <p:spPr>
          <a:xfrm>
            <a:off x="1231271" y="4454305"/>
            <a:ext cx="4508626" cy="584775"/>
          </a:xfrm>
          <a:prstGeom prst="rect">
            <a:avLst/>
          </a:prstGeom>
          <a:noFill/>
        </p:spPr>
        <p:txBody>
          <a:bodyPr wrap="square" rtlCol="0">
            <a:spAutoFit/>
          </a:bodyPr>
          <a:lstStyle/>
          <a:p>
            <a:pPr lvl="0" defTabSz="914377">
              <a:defRPr/>
            </a:pPr>
            <a:r>
              <a:rPr lang="zh-CN" altLang="en-US" sz="3200" dirty="0">
                <a:solidFill>
                  <a:prstClr val="white"/>
                </a:solidFill>
                <a:latin typeface="微软雅黑 Light" panose="020B0502040204020203" pitchFamily="34" charset="-122"/>
                <a:ea typeface="微软雅黑 Light" panose="020B0502040204020203" pitchFamily="34" charset="-122"/>
              </a:rPr>
              <a:t>中国的情况与解决方案</a:t>
            </a:r>
          </a:p>
        </p:txBody>
      </p:sp>
      <p:sp>
        <p:nvSpPr>
          <p:cNvPr id="2" name="文本框 1"/>
          <p:cNvSpPr txBox="1"/>
          <p:nvPr/>
        </p:nvSpPr>
        <p:spPr>
          <a:xfrm rot="20327400">
            <a:off x="8110021" y="510326"/>
            <a:ext cx="3037532" cy="3139321"/>
          </a:xfrm>
          <a:prstGeom prst="rect">
            <a:avLst/>
          </a:prstGeom>
          <a:noFill/>
        </p:spPr>
        <p:txBody>
          <a:bodyPr wrap="square" rtlCol="0">
            <a:spAutoFit/>
          </a:bodyPr>
          <a:lstStyle/>
          <a:p>
            <a:r>
              <a:rPr lang="zh-CN" altLang="en-US" dirty="0">
                <a:solidFill>
                  <a:schemeClr val="bg1"/>
                </a:solidFill>
              </a:rPr>
              <a:t>我在理论阐述上主要用英国作为例证。但是，如果德国读者看到英国工农业工人所处的境况而伪善地耸耸肩膀，或者以德国的情况远不是那样坏而乐观地自我安慰，那我就要大声地对他说：这正是说的阁下的事情！ </a:t>
            </a:r>
            <a:endParaRPr lang="en-US" altLang="zh-CN" dirty="0">
              <a:solidFill>
                <a:schemeClr val="bg1"/>
              </a:solidFill>
            </a:endParaRPr>
          </a:p>
          <a:p>
            <a:endParaRPr lang="en-US" altLang="zh-CN" dirty="0">
              <a:solidFill>
                <a:schemeClr val="bg1"/>
              </a:solidFill>
            </a:endParaRPr>
          </a:p>
          <a:p>
            <a:r>
              <a:rPr lang="en-US" altLang="zh-CN" dirty="0">
                <a:solidFill>
                  <a:schemeClr val="bg1"/>
                </a:solidFill>
              </a:rPr>
              <a:t>——</a:t>
            </a:r>
            <a:r>
              <a:rPr lang="zh-CN" altLang="en-US" dirty="0">
                <a:solidFill>
                  <a:schemeClr val="bg1"/>
                </a:solidFill>
              </a:rPr>
              <a:t>马克思</a:t>
            </a:r>
            <a:r>
              <a:rPr lang="en-US" altLang="zh-CN" dirty="0">
                <a:solidFill>
                  <a:schemeClr val="bg1"/>
                </a:solidFill>
              </a:rPr>
              <a:t>《</a:t>
            </a:r>
            <a:r>
              <a:rPr lang="zh-CN" altLang="en-US" dirty="0">
                <a:solidFill>
                  <a:schemeClr val="bg1"/>
                </a:solidFill>
              </a:rPr>
              <a:t>资本论</a:t>
            </a:r>
            <a:r>
              <a:rPr lang="en-US" altLang="zh-CN" dirty="0">
                <a:solidFill>
                  <a:schemeClr val="bg1"/>
                </a:solidFill>
              </a:rPr>
              <a:t>》</a:t>
            </a:r>
            <a:r>
              <a:rPr lang="zh-CN" altLang="en-US" dirty="0">
                <a:solidFill>
                  <a:schemeClr val="bg1"/>
                </a:solidFill>
              </a:rPr>
              <a:t>第一版序言</a:t>
            </a:r>
          </a:p>
        </p:txBody>
      </p:sp>
    </p:spTree>
    <p:extLst>
      <p:ext uri="{BB962C8B-B14F-4D97-AF65-F5344CB8AC3E}">
        <p14:creationId xmlns:p14="http://schemas.microsoft.com/office/powerpoint/2010/main" val="3236732248"/>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952E7725-3096-4969-8619-BFD45072AD94}"/>
              </a:ext>
            </a:extLst>
          </p:cNvPr>
          <p:cNvSpPr txBox="1"/>
          <p:nvPr/>
        </p:nvSpPr>
        <p:spPr>
          <a:xfrm>
            <a:off x="534498" y="304741"/>
            <a:ext cx="2624338" cy="400110"/>
          </a:xfrm>
          <a:prstGeom prst="rect">
            <a:avLst/>
          </a:prstGeom>
          <a:solidFill>
            <a:srgbClr val="7F2C8B"/>
          </a:solidFill>
        </p:spPr>
        <p:txBody>
          <a:bodyPr wrap="square" rtlCol="0">
            <a:spAutoFit/>
          </a:bodyPr>
          <a:lstStyle/>
          <a:p>
            <a:pPr lvl="0" defTabSz="914377">
              <a:defRPr/>
            </a:pPr>
            <a:r>
              <a:rPr lang="zh-CN" altLang="en-US" sz="2000" dirty="0">
                <a:solidFill>
                  <a:schemeClr val="bg1"/>
                </a:solidFill>
                <a:latin typeface="微软雅黑 Light" panose="020B0502040204020203" pitchFamily="34" charset="-122"/>
                <a:ea typeface="微软雅黑 Light" panose="020B0502040204020203" pitchFamily="34" charset="-122"/>
              </a:rPr>
              <a:t>中国的资本积累</a:t>
            </a:r>
            <a:r>
              <a:rPr lang="en-US" altLang="zh-CN" sz="2000" dirty="0">
                <a:solidFill>
                  <a:schemeClr val="bg1"/>
                </a:solidFill>
                <a:latin typeface="微软雅黑 Light" panose="020B0502040204020203" pitchFamily="34" charset="-122"/>
                <a:ea typeface="微软雅黑 Light" panose="020B0502040204020203" pitchFamily="34" charset="-122"/>
              </a:rPr>
              <a:t>-</a:t>
            </a:r>
            <a:r>
              <a:rPr lang="zh-CN" altLang="en-US" sz="2000" dirty="0">
                <a:solidFill>
                  <a:schemeClr val="bg1"/>
                </a:solidFill>
                <a:latin typeface="微软雅黑 Light" panose="020B0502040204020203" pitchFamily="34" charset="-122"/>
                <a:ea typeface="微软雅黑 Light" panose="020B0502040204020203" pitchFamily="34" charset="-122"/>
              </a:rPr>
              <a:t>问题</a:t>
            </a:r>
          </a:p>
        </p:txBody>
      </p:sp>
      <p:grpSp>
        <p:nvGrpSpPr>
          <p:cNvPr id="22" name="组合 21">
            <a:extLst>
              <a:ext uri="{FF2B5EF4-FFF2-40B4-BE49-F238E27FC236}">
                <a16:creationId xmlns:a16="http://schemas.microsoft.com/office/drawing/2014/main" id="{DFC37A35-D357-4CEE-9C28-5EABD3D35C6B}"/>
              </a:ext>
            </a:extLst>
          </p:cNvPr>
          <p:cNvGrpSpPr/>
          <p:nvPr/>
        </p:nvGrpSpPr>
        <p:grpSpPr>
          <a:xfrm>
            <a:off x="10735556" y="314266"/>
            <a:ext cx="1180589" cy="400111"/>
            <a:chOff x="624303" y="901700"/>
            <a:chExt cx="10005598" cy="3390977"/>
          </a:xfrm>
          <a:solidFill>
            <a:srgbClr val="7F2C8B"/>
          </a:solidFill>
        </p:grpSpPr>
        <p:sp>
          <p:nvSpPr>
            <p:cNvPr id="23" name="Freeform 5">
              <a:extLst>
                <a:ext uri="{FF2B5EF4-FFF2-40B4-BE49-F238E27FC236}">
                  <a16:creationId xmlns:a16="http://schemas.microsoft.com/office/drawing/2014/main" id="{0ACD2635-3EA4-461E-AE91-2E7358FA9FA0}"/>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4" name="Freeform 6">
              <a:extLst>
                <a:ext uri="{FF2B5EF4-FFF2-40B4-BE49-F238E27FC236}">
                  <a16:creationId xmlns:a16="http://schemas.microsoft.com/office/drawing/2014/main" id="{70354051-F1E2-4393-ABA2-AEB53FF0D08B}"/>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5" name="Freeform 7">
              <a:extLst>
                <a:ext uri="{FF2B5EF4-FFF2-40B4-BE49-F238E27FC236}">
                  <a16:creationId xmlns:a16="http://schemas.microsoft.com/office/drawing/2014/main" id="{5FFB1BFD-2D76-4EE4-9741-31F528BE757A}"/>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6" name="Freeform 8">
              <a:extLst>
                <a:ext uri="{FF2B5EF4-FFF2-40B4-BE49-F238E27FC236}">
                  <a16:creationId xmlns:a16="http://schemas.microsoft.com/office/drawing/2014/main" id="{1EFFAA81-03B5-4C66-939C-6BBDC7932C18}"/>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7" name="Freeform 9">
              <a:extLst>
                <a:ext uri="{FF2B5EF4-FFF2-40B4-BE49-F238E27FC236}">
                  <a16:creationId xmlns:a16="http://schemas.microsoft.com/office/drawing/2014/main" id="{35B0FA74-D77A-4B32-A41D-5E20B596D219}"/>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8" name="Freeform 10">
              <a:extLst>
                <a:ext uri="{FF2B5EF4-FFF2-40B4-BE49-F238E27FC236}">
                  <a16:creationId xmlns:a16="http://schemas.microsoft.com/office/drawing/2014/main" id="{F5FC7059-5FB3-4ADB-BA26-84EF705B3174}"/>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9" name="Freeform 11">
              <a:extLst>
                <a:ext uri="{FF2B5EF4-FFF2-40B4-BE49-F238E27FC236}">
                  <a16:creationId xmlns:a16="http://schemas.microsoft.com/office/drawing/2014/main" id="{937241A3-85EE-47AC-8B4A-B01E8B1B0812}"/>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0" name="Freeform 12">
              <a:extLst>
                <a:ext uri="{FF2B5EF4-FFF2-40B4-BE49-F238E27FC236}">
                  <a16:creationId xmlns:a16="http://schemas.microsoft.com/office/drawing/2014/main" id="{99EA3DC5-4FB4-48DC-9AA6-2E2F76C34725}"/>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1" name="Freeform 13">
              <a:extLst>
                <a:ext uri="{FF2B5EF4-FFF2-40B4-BE49-F238E27FC236}">
                  <a16:creationId xmlns:a16="http://schemas.microsoft.com/office/drawing/2014/main" id="{F7187B32-A15A-480D-849D-33EF28B75687}"/>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2" name="Freeform 14">
              <a:extLst>
                <a:ext uri="{FF2B5EF4-FFF2-40B4-BE49-F238E27FC236}">
                  <a16:creationId xmlns:a16="http://schemas.microsoft.com/office/drawing/2014/main" id="{AA5721AD-3E61-4D99-A2D8-A261E897EBAC}"/>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3" name="Freeform 15">
              <a:extLst>
                <a:ext uri="{FF2B5EF4-FFF2-40B4-BE49-F238E27FC236}">
                  <a16:creationId xmlns:a16="http://schemas.microsoft.com/office/drawing/2014/main" id="{EF703E7A-053E-4111-945E-2E43B9CC9ECE}"/>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4" name="Freeform 16">
              <a:extLst>
                <a:ext uri="{FF2B5EF4-FFF2-40B4-BE49-F238E27FC236}">
                  <a16:creationId xmlns:a16="http://schemas.microsoft.com/office/drawing/2014/main" id="{01BF6BE1-5CCD-4A5F-8AFA-EF1359F1D3F2}"/>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5" name="Freeform 17">
              <a:extLst>
                <a:ext uri="{FF2B5EF4-FFF2-40B4-BE49-F238E27FC236}">
                  <a16:creationId xmlns:a16="http://schemas.microsoft.com/office/drawing/2014/main" id="{295417E9-A0A1-4465-9436-76253B18BAD3}"/>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18">
              <a:extLst>
                <a:ext uri="{FF2B5EF4-FFF2-40B4-BE49-F238E27FC236}">
                  <a16:creationId xmlns:a16="http://schemas.microsoft.com/office/drawing/2014/main" id="{009C6FB2-A1BB-4F44-87AF-D874D67D737B}"/>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19">
              <a:extLst>
                <a:ext uri="{FF2B5EF4-FFF2-40B4-BE49-F238E27FC236}">
                  <a16:creationId xmlns:a16="http://schemas.microsoft.com/office/drawing/2014/main" id="{65203D5E-987A-4E4E-B0C9-FAC54EDFF054}"/>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20">
              <a:extLst>
                <a:ext uri="{FF2B5EF4-FFF2-40B4-BE49-F238E27FC236}">
                  <a16:creationId xmlns:a16="http://schemas.microsoft.com/office/drawing/2014/main" id="{F0367FE4-2904-433D-8E0F-42933CAA638D}"/>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21">
              <a:extLst>
                <a:ext uri="{FF2B5EF4-FFF2-40B4-BE49-F238E27FC236}">
                  <a16:creationId xmlns:a16="http://schemas.microsoft.com/office/drawing/2014/main" id="{7A0A948A-A7D6-4278-97BF-F101BFD0B366}"/>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22">
              <a:extLst>
                <a:ext uri="{FF2B5EF4-FFF2-40B4-BE49-F238E27FC236}">
                  <a16:creationId xmlns:a16="http://schemas.microsoft.com/office/drawing/2014/main" id="{DC614584-067F-48D2-931A-6CE53105F005}"/>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23">
              <a:extLst>
                <a:ext uri="{FF2B5EF4-FFF2-40B4-BE49-F238E27FC236}">
                  <a16:creationId xmlns:a16="http://schemas.microsoft.com/office/drawing/2014/main" id="{244320B8-5691-4A92-B2D2-5BCE1D98EA00}"/>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24">
              <a:extLst>
                <a:ext uri="{FF2B5EF4-FFF2-40B4-BE49-F238E27FC236}">
                  <a16:creationId xmlns:a16="http://schemas.microsoft.com/office/drawing/2014/main" id="{EF78F9E3-1F79-4E42-AAC8-E4DB818FEE8B}"/>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p:sp>
        <p:nvSpPr>
          <p:cNvPr id="2" name="文本框 1"/>
          <p:cNvSpPr txBox="1"/>
          <p:nvPr/>
        </p:nvSpPr>
        <p:spPr>
          <a:xfrm>
            <a:off x="534498" y="923636"/>
            <a:ext cx="5820120" cy="5624946"/>
          </a:xfrm>
          <a:prstGeom prst="rect">
            <a:avLst/>
          </a:prstGeom>
          <a:noFill/>
        </p:spPr>
        <p:txBody>
          <a:bodyPr wrap="square" rtlCol="0">
            <a:spAutoFit/>
          </a:bodyPr>
          <a:lstStyle/>
          <a:p>
            <a:endParaRPr lang="zh-CN" altLang="en-US" dirty="0"/>
          </a:p>
        </p:txBody>
      </p:sp>
      <mc:AlternateContent xmlns:mc="http://schemas.openxmlformats.org/markup-compatibility/2006" xmlns:a14="http://schemas.microsoft.com/office/drawing/2010/main">
        <mc:Choice Requires="a14">
          <p:sp>
            <p:nvSpPr>
              <p:cNvPr id="3" name="文本框 2"/>
              <p:cNvSpPr txBox="1"/>
              <p:nvPr/>
            </p:nvSpPr>
            <p:spPr>
              <a:xfrm>
                <a:off x="645334" y="923577"/>
                <a:ext cx="5810884" cy="6340197"/>
              </a:xfrm>
              <a:prstGeom prst="rect">
                <a:avLst/>
              </a:prstGeom>
              <a:noFill/>
            </p:spPr>
            <p:txBody>
              <a:bodyPr wrap="square" rtlCol="0">
                <a:spAutoFit/>
              </a:bodyPr>
              <a:lstStyle/>
              <a:p>
                <a:r>
                  <a:rPr lang="en-US" altLang="zh-CN" dirty="0">
                    <a:solidFill>
                      <a:srgbClr val="7030A0"/>
                    </a:solidFill>
                  </a:rPr>
                  <a:t>※</a:t>
                </a:r>
                <a:r>
                  <a:rPr lang="zh-CN" altLang="en-US" dirty="0">
                    <a:solidFill>
                      <a:srgbClr val="353535"/>
                    </a:solidFill>
                  </a:rPr>
                  <a:t>研究中国经济不平等的困境</a:t>
                </a:r>
                <a:r>
                  <a:rPr lang="zh-CN" altLang="en-US" dirty="0">
                    <a:solidFill>
                      <a:srgbClr val="7030A0"/>
                    </a:solidFill>
                  </a:rPr>
                  <a:t>：</a:t>
                </a:r>
                <a:endParaRPr lang="en-US" altLang="zh-CN" dirty="0">
                  <a:solidFill>
                    <a:srgbClr val="7030A0"/>
                  </a:solidFill>
                </a:endParaRPr>
              </a:p>
              <a:p>
                <a:r>
                  <a:rPr lang="en-US" altLang="zh-CN" dirty="0">
                    <a:solidFill>
                      <a:srgbClr val="353535"/>
                    </a:solidFill>
                  </a:rPr>
                  <a:t>1</a:t>
                </a:r>
                <a:r>
                  <a:rPr lang="zh-CN" altLang="en-US" dirty="0">
                    <a:solidFill>
                      <a:srgbClr val="353535"/>
                    </a:solidFill>
                  </a:rPr>
                  <a:t>）习近平（</a:t>
                </a:r>
                <a:r>
                  <a:rPr lang="en-US" altLang="zh-CN" dirty="0">
                    <a:solidFill>
                      <a:srgbClr val="353535"/>
                    </a:solidFill>
                  </a:rPr>
                  <a:t>2001</a:t>
                </a:r>
                <a:r>
                  <a:rPr lang="zh-CN" altLang="en-US" dirty="0">
                    <a:solidFill>
                      <a:srgbClr val="353535"/>
                    </a:solidFill>
                  </a:rPr>
                  <a:t>）指出的</a:t>
                </a:r>
                <a:r>
                  <a:rPr lang="en-US" altLang="zh-CN" dirty="0">
                    <a:solidFill>
                      <a:srgbClr val="353535"/>
                    </a:solidFill>
                  </a:rPr>
                  <a:t>”</a:t>
                </a:r>
                <a:r>
                  <a:rPr lang="zh-CN" altLang="en-US" dirty="0">
                    <a:solidFill>
                      <a:srgbClr val="353535"/>
                    </a:solidFill>
                  </a:rPr>
                  <a:t>两难境地</a:t>
                </a:r>
                <a:r>
                  <a:rPr lang="en-US" altLang="zh-CN" dirty="0">
                    <a:solidFill>
                      <a:srgbClr val="353535"/>
                    </a:solidFill>
                  </a:rPr>
                  <a:t>”</a:t>
                </a:r>
              </a:p>
              <a:p>
                <a:r>
                  <a:rPr lang="zh-CN" altLang="en-US" dirty="0">
                    <a:solidFill>
                      <a:srgbClr val="353535"/>
                    </a:solidFill>
                  </a:rPr>
                  <a:t>马克思：</a:t>
                </a:r>
                <a:r>
                  <a:rPr lang="zh-CN" altLang="en-US" i="1" dirty="0">
                    <a:solidFill>
                      <a:srgbClr val="353535"/>
                    </a:solidFill>
                  </a:rPr>
                  <a:t>“现在问题不再是这个或那个原理是否正确，而是它对资本有利还是有害，方便还是不方便，违背警章还是不违背警章。不偏不倚的研究让位于豢养的文丐的争斗，公正无私的科学探讨让位于辩护士的坏心恶意。“</a:t>
                </a:r>
                <a:endParaRPr lang="en-US" altLang="zh-CN" i="1" dirty="0">
                  <a:solidFill>
                    <a:srgbClr val="353535"/>
                  </a:solidFill>
                </a:endParaRPr>
              </a:p>
              <a:p>
                <a:endParaRPr lang="en-US" altLang="zh-CN" dirty="0">
                  <a:solidFill>
                    <a:srgbClr val="353535"/>
                  </a:solidFill>
                </a:endParaRPr>
              </a:p>
              <a:p>
                <a:r>
                  <a:rPr lang="en-US" altLang="zh-CN" dirty="0">
                    <a:solidFill>
                      <a:srgbClr val="353535"/>
                    </a:solidFill>
                  </a:rPr>
                  <a:t>2</a:t>
                </a:r>
                <a:r>
                  <a:rPr lang="zh-CN" altLang="en-US" dirty="0">
                    <a:solidFill>
                      <a:srgbClr val="353535"/>
                    </a:solidFill>
                  </a:rPr>
                  <a:t>）数据的匮乏</a:t>
                </a:r>
                <a:endParaRPr lang="en-US" altLang="zh-CN" dirty="0">
                  <a:solidFill>
                    <a:srgbClr val="353535"/>
                  </a:solidFill>
                </a:endParaRPr>
              </a:p>
              <a:p>
                <a:r>
                  <a:rPr lang="zh-CN" altLang="en-US" dirty="0">
                    <a:solidFill>
                      <a:srgbClr val="353535"/>
                    </a:solidFill>
                  </a:rPr>
                  <a:t>国家统计局缺乏数据</a:t>
                </a:r>
                <a:endParaRPr lang="en-US" altLang="zh-CN" dirty="0">
                  <a:solidFill>
                    <a:srgbClr val="353535"/>
                  </a:solidFill>
                </a:endParaRPr>
              </a:p>
              <a:p>
                <a:r>
                  <a:rPr lang="zh-CN" altLang="en-US" dirty="0">
                    <a:solidFill>
                      <a:srgbClr val="353535"/>
                    </a:solidFill>
                  </a:rPr>
                  <a:t>国家统计局不公布数据</a:t>
                </a:r>
                <a:endParaRPr lang="en-US" altLang="zh-CN" dirty="0">
                  <a:solidFill>
                    <a:srgbClr val="353535"/>
                  </a:solidFill>
                </a:endParaRPr>
              </a:p>
              <a:p>
                <a:endParaRPr lang="en-US" altLang="zh-CN" dirty="0">
                  <a:solidFill>
                    <a:srgbClr val="353535"/>
                  </a:solidFill>
                </a:endParaRPr>
              </a:p>
              <a:p>
                <a:r>
                  <a:rPr lang="en-US" altLang="zh-CN" dirty="0">
                    <a:solidFill>
                      <a:srgbClr val="7030A0"/>
                    </a:solidFill>
                  </a:rPr>
                  <a:t>※</a:t>
                </a:r>
                <a:r>
                  <a:rPr lang="zh-CN" altLang="en-US" dirty="0">
                    <a:solidFill>
                      <a:srgbClr val="353535"/>
                    </a:solidFill>
                  </a:rPr>
                  <a:t>估算资本存量</a:t>
                </a:r>
                <a:endParaRPr lang="en-US" altLang="zh-CN" dirty="0">
                  <a:solidFill>
                    <a:srgbClr val="353535"/>
                  </a:solidFill>
                </a:endParaRPr>
              </a:p>
              <a:p>
                <a:r>
                  <a:rPr lang="en-US" altLang="zh-CN" sz="1600" i="1" dirty="0"/>
                  <a:t>Long, </a:t>
                </a:r>
                <a:r>
                  <a:rPr lang="en-US" altLang="zh-CN" sz="1600" i="1" dirty="0" err="1"/>
                  <a:t>Zhiming</a:t>
                </a:r>
                <a:r>
                  <a:rPr lang="en-US" altLang="zh-CN" sz="1600" i="1" dirty="0"/>
                  <a:t>, and </a:t>
                </a:r>
                <a:r>
                  <a:rPr lang="en-US" altLang="zh-CN" sz="1600" i="1" dirty="0" err="1"/>
                  <a:t>Rémy</a:t>
                </a:r>
                <a:r>
                  <a:rPr lang="en-US" altLang="zh-CN" sz="1600" i="1" dirty="0"/>
                  <a:t> Herrera. "Building original series of physical capital stocks for China's economy methodological problems, proposals for solutions and a new database." China Economic Review 40 (2016): 33-53.</a:t>
                </a:r>
                <a:endParaRPr lang="en-US" altLang="zh-CN" sz="1600" i="1" dirty="0">
                  <a:solidFill>
                    <a:srgbClr val="353535"/>
                  </a:solidFill>
                </a:endParaRPr>
              </a:p>
              <a:p>
                <a:endParaRPr lang="en-US" altLang="zh-CN" dirty="0">
                  <a:solidFill>
                    <a:srgbClr val="353535"/>
                  </a:solidFill>
                </a:endParaRPr>
              </a:p>
              <a:p>
                <a:r>
                  <a:rPr lang="zh-CN" altLang="en-US" dirty="0">
                    <a:solidFill>
                      <a:srgbClr val="353535"/>
                    </a:solidFill>
                  </a:rPr>
                  <a:t>永续盘存法：</a:t>
                </a:r>
                <a14:m>
                  <m:oMath xmlns:m="http://schemas.openxmlformats.org/officeDocument/2006/math">
                    <m:sSub>
                      <m:sSubPr>
                        <m:ctrlPr>
                          <a:rPr lang="en-US" altLang="zh-CN" i="1">
                            <a:latin typeface="Cambria Math" panose="02040503050406030204" pitchFamily="18" charset="0"/>
                          </a:rPr>
                        </m:ctrlPr>
                      </m:sSubPr>
                      <m:e>
                        <m:r>
                          <a:rPr lang="en-US" altLang="zh-CN" i="1">
                            <a:latin typeface="Cambria Math" panose="02040503050406030204" pitchFamily="18" charset="0"/>
                          </a:rPr>
                          <m:t>𝐾</m:t>
                        </m:r>
                      </m:e>
                      <m:sub>
                        <m:r>
                          <m:rPr>
                            <m:sty m:val="p"/>
                          </m:rPr>
                          <a:rPr lang="en-US" altLang="zh-CN" i="1">
                            <a:latin typeface="Cambria Math" panose="02040503050406030204" pitchFamily="18" charset="0"/>
                          </a:rPr>
                          <m:t>t</m:t>
                        </m:r>
                      </m:sub>
                    </m:sSub>
                    <m:r>
                      <a:rPr lang="en-US" altLang="zh-CN" i="1">
                        <a:latin typeface="Cambria Math" panose="02040503050406030204" pitchFamily="18" charset="0"/>
                      </a:rPr>
                      <m:t>=(1−</m:t>
                    </m:r>
                    <m:r>
                      <a:rPr lang="zh-CN" altLang="en-US" i="1">
                        <a:latin typeface="Cambria Math" panose="02040503050406030204" pitchFamily="18" charset="0"/>
                      </a:rPr>
                      <m:t>𝜎</m:t>
                    </m:r>
                    <m:r>
                      <a:rPr lang="en-US" altLang="zh-CN" i="1">
                        <a:latin typeface="Cambria Math" panose="02040503050406030204" pitchFamily="18" charset="0"/>
                      </a:rPr>
                      <m:t>)</m:t>
                    </m:r>
                  </m:oMath>
                </a14:m>
                <a:r>
                  <a:rPr lang="en-US" altLang="zh-CN" dirty="0"/>
                  <a:t> </a:t>
                </a:r>
                <a14:m>
                  <m:oMath xmlns:m="http://schemas.openxmlformats.org/officeDocument/2006/math">
                    <m:sSub>
                      <m:sSubPr>
                        <m:ctrlPr>
                          <a:rPr lang="en-US" altLang="zh-CN" i="1">
                            <a:latin typeface="Cambria Math" panose="02040503050406030204" pitchFamily="18" charset="0"/>
                          </a:rPr>
                        </m:ctrlPr>
                      </m:sSubPr>
                      <m:e>
                        <m:r>
                          <a:rPr lang="en-US" altLang="zh-CN" i="1">
                            <a:latin typeface="Cambria Math" panose="02040503050406030204" pitchFamily="18" charset="0"/>
                          </a:rPr>
                          <m:t>𝐾</m:t>
                        </m:r>
                      </m:e>
                      <m:sub>
                        <m:r>
                          <m:rPr>
                            <m:sty m:val="p"/>
                          </m:rPr>
                          <a:rPr lang="en-US" altLang="zh-CN" i="1">
                            <a:latin typeface="Cambria Math" panose="02040503050406030204" pitchFamily="18" charset="0"/>
                          </a:rPr>
                          <m:t>t</m:t>
                        </m:r>
                        <m:r>
                          <a:rPr lang="en-US" altLang="zh-CN" i="1">
                            <a:latin typeface="Cambria Math" panose="02040503050406030204" pitchFamily="18" charset="0"/>
                          </a:rPr>
                          <m:t>−1</m:t>
                        </m:r>
                      </m:sub>
                    </m:sSub>
                    <m:r>
                      <a:rPr lang="en-US" altLang="zh-CN" i="1">
                        <a:latin typeface="Cambria Math" panose="02040503050406030204" pitchFamily="18" charset="0"/>
                      </a:rPr>
                      <m:t>+</m:t>
                    </m:r>
                    <m:sSub>
                      <m:sSubPr>
                        <m:ctrlPr>
                          <a:rPr lang="en-US" altLang="zh-CN" i="1">
                            <a:latin typeface="Cambria Math" panose="02040503050406030204" pitchFamily="18" charset="0"/>
                          </a:rPr>
                        </m:ctrlPr>
                      </m:sSubPr>
                      <m:e>
                        <m:r>
                          <a:rPr lang="en-US" altLang="zh-CN" i="1">
                            <a:latin typeface="Cambria Math" panose="02040503050406030204" pitchFamily="18" charset="0"/>
                          </a:rPr>
                          <m:t>𝐼</m:t>
                        </m:r>
                      </m:e>
                      <m:sub>
                        <m:r>
                          <m:rPr>
                            <m:sty m:val="p"/>
                          </m:rPr>
                          <a:rPr lang="en-US" altLang="zh-CN" i="1">
                            <a:latin typeface="Cambria Math" panose="02040503050406030204" pitchFamily="18" charset="0"/>
                          </a:rPr>
                          <m:t>t</m:t>
                        </m:r>
                      </m:sub>
                    </m:sSub>
                  </m:oMath>
                </a14:m>
                <a:r>
                  <a:rPr lang="en-US" altLang="zh-CN" dirty="0">
                    <a:solidFill>
                      <a:srgbClr val="353535"/>
                    </a:solidFill>
                  </a:rPr>
                  <a:t>/</a:t>
                </a:r>
                <a14:m>
                  <m:oMath xmlns:m="http://schemas.openxmlformats.org/officeDocument/2006/math">
                    <m:sSub>
                      <m:sSubPr>
                        <m:ctrlPr>
                          <a:rPr lang="en-US" altLang="zh-CN" i="1" dirty="0" smtClean="0">
                            <a:solidFill>
                              <a:srgbClr val="353535"/>
                            </a:solidFill>
                            <a:latin typeface="Cambria Math" panose="02040503050406030204" pitchFamily="18" charset="0"/>
                          </a:rPr>
                        </m:ctrlPr>
                      </m:sSubPr>
                      <m:e>
                        <m:r>
                          <a:rPr lang="en-US" altLang="zh-CN" b="0" i="1" dirty="0" smtClean="0">
                            <a:solidFill>
                              <a:srgbClr val="353535"/>
                            </a:solidFill>
                            <a:latin typeface="Cambria Math" panose="02040503050406030204" pitchFamily="18" charset="0"/>
                          </a:rPr>
                          <m:t>𝑃</m:t>
                        </m:r>
                      </m:e>
                      <m:sub>
                        <m:r>
                          <m:rPr>
                            <m:sty m:val="p"/>
                          </m:rPr>
                          <a:rPr lang="en-US" altLang="zh-CN" i="1" dirty="0">
                            <a:solidFill>
                              <a:srgbClr val="353535"/>
                            </a:solidFill>
                            <a:latin typeface="Cambria Math" panose="02040503050406030204" pitchFamily="18" charset="0"/>
                          </a:rPr>
                          <m:t>t</m:t>
                        </m:r>
                      </m:sub>
                    </m:sSub>
                  </m:oMath>
                </a14:m>
                <a:endParaRPr lang="en-US" altLang="zh-CN" dirty="0">
                  <a:solidFill>
                    <a:srgbClr val="353535"/>
                  </a:solidFill>
                </a:endParaRPr>
              </a:p>
              <a:p>
                <a:r>
                  <a:rPr lang="zh-CN" altLang="en-US" dirty="0">
                    <a:solidFill>
                      <a:srgbClr val="353535"/>
                    </a:solidFill>
                  </a:rPr>
                  <a:t>以</a:t>
                </a:r>
                <a:r>
                  <a:rPr lang="en-US" altLang="zh-CN" dirty="0">
                    <a:solidFill>
                      <a:srgbClr val="353535"/>
                    </a:solidFill>
                  </a:rPr>
                  <a:t>1952</a:t>
                </a:r>
                <a:r>
                  <a:rPr lang="zh-CN" altLang="en-US" dirty="0">
                    <a:solidFill>
                      <a:srgbClr val="353535"/>
                    </a:solidFill>
                  </a:rPr>
                  <a:t>年不变价格计算</a:t>
                </a:r>
                <a:endParaRPr lang="en-US" altLang="zh-CN" dirty="0">
                  <a:solidFill>
                    <a:srgbClr val="353535"/>
                  </a:solidFill>
                </a:endParaRPr>
              </a:p>
              <a:p>
                <a:r>
                  <a:rPr lang="zh-CN" altLang="en-US" dirty="0">
                    <a:solidFill>
                      <a:srgbClr val="353535"/>
                    </a:solidFill>
                  </a:rPr>
                  <a:t>市场经济</a:t>
                </a:r>
                <a:r>
                  <a:rPr lang="en-US" altLang="zh-CN" dirty="0">
                    <a:solidFill>
                      <a:srgbClr val="353535"/>
                    </a:solidFill>
                  </a:rPr>
                  <a:t>-</a:t>
                </a:r>
                <a:r>
                  <a:rPr lang="zh-CN" altLang="en-US" dirty="0">
                    <a:solidFill>
                      <a:srgbClr val="353535"/>
                    </a:solidFill>
                  </a:rPr>
                  <a:t>边际定价，永续盘存法</a:t>
                </a:r>
                <a:r>
                  <a:rPr lang="en-US" altLang="zh-CN" dirty="0">
                    <a:solidFill>
                      <a:srgbClr val="353535"/>
                    </a:solidFill>
                  </a:rPr>
                  <a:t>-</a:t>
                </a:r>
                <a:r>
                  <a:rPr lang="zh-CN" altLang="en-US" dirty="0">
                    <a:solidFill>
                      <a:srgbClr val="353535"/>
                    </a:solidFill>
                  </a:rPr>
                  <a:t>历史价格或生产价格。后者更加接近于马克思的价值量。</a:t>
                </a:r>
              </a:p>
              <a:p>
                <a:endParaRPr lang="en-US" altLang="zh-CN" dirty="0">
                  <a:solidFill>
                    <a:srgbClr val="353535"/>
                  </a:solidFill>
                </a:endParaRPr>
              </a:p>
              <a:p>
                <a:endParaRPr lang="en-US" altLang="zh-CN" dirty="0">
                  <a:solidFill>
                    <a:srgbClr val="353535"/>
                  </a:solidFill>
                </a:endParaRPr>
              </a:p>
            </p:txBody>
          </p:sp>
        </mc:Choice>
        <mc:Fallback xmlns="">
          <p:sp>
            <p:nvSpPr>
              <p:cNvPr id="3" name="文本框 2"/>
              <p:cNvSpPr txBox="1">
                <a:spLocks noRot="1" noChangeAspect="1" noMove="1" noResize="1" noEditPoints="1" noAdjustHandles="1" noChangeArrowheads="1" noChangeShapeType="1" noTextEdit="1"/>
              </p:cNvSpPr>
              <p:nvPr/>
            </p:nvSpPr>
            <p:spPr>
              <a:xfrm>
                <a:off x="645334" y="923577"/>
                <a:ext cx="5810884" cy="6340197"/>
              </a:xfrm>
              <a:prstGeom prst="rect">
                <a:avLst/>
              </a:prstGeom>
              <a:blipFill>
                <a:blip r:embed="rId3"/>
                <a:stretch>
                  <a:fillRect l="-944" t="-577" r="-2308"/>
                </a:stretch>
              </a:blipFill>
            </p:spPr>
            <p:txBody>
              <a:bodyPr/>
              <a:lstStyle/>
              <a:p>
                <a:r>
                  <a:rPr lang="zh-CN" altLang="en-US">
                    <a:noFill/>
                  </a:rPr>
                  <a:t> </a:t>
                </a:r>
              </a:p>
            </p:txBody>
          </p:sp>
        </mc:Fallback>
      </mc:AlternateContent>
      <p:pic>
        <p:nvPicPr>
          <p:cNvPr id="9" name="图片 8"/>
          <p:cNvPicPr>
            <a:picLocks noChangeAspect="1"/>
          </p:cNvPicPr>
          <p:nvPr/>
        </p:nvPicPr>
        <p:blipFill>
          <a:blip r:embed="rId4"/>
          <a:stretch>
            <a:fillRect/>
          </a:stretch>
        </p:blipFill>
        <p:spPr>
          <a:xfrm>
            <a:off x="6819322" y="858922"/>
            <a:ext cx="5234160" cy="3498129"/>
          </a:xfrm>
          <a:prstGeom prst="rect">
            <a:avLst/>
          </a:prstGeom>
        </p:spPr>
      </p:pic>
      <p:sp>
        <p:nvSpPr>
          <p:cNvPr id="11" name="文本框 10"/>
          <p:cNvSpPr txBox="1"/>
          <p:nvPr/>
        </p:nvSpPr>
        <p:spPr>
          <a:xfrm>
            <a:off x="8649785" y="4340449"/>
            <a:ext cx="3542215" cy="307777"/>
          </a:xfrm>
          <a:prstGeom prst="rect">
            <a:avLst/>
          </a:prstGeom>
          <a:noFill/>
        </p:spPr>
        <p:txBody>
          <a:bodyPr wrap="square" rtlCol="0">
            <a:spAutoFit/>
          </a:bodyPr>
          <a:lstStyle/>
          <a:p>
            <a:r>
              <a:rPr lang="en-US" altLang="zh-CN" sz="1400" dirty="0"/>
              <a:t>Piketty, Yang, and </a:t>
            </a:r>
            <a:r>
              <a:rPr lang="en-US" altLang="zh-CN" sz="1400" dirty="0" err="1"/>
              <a:t>Zucman</a:t>
            </a:r>
            <a:r>
              <a:rPr lang="en-US" altLang="zh-CN" sz="1400" dirty="0"/>
              <a:t> (2019).</a:t>
            </a:r>
            <a:endParaRPr lang="zh-CN" altLang="en-US" sz="1400" dirty="0"/>
          </a:p>
        </p:txBody>
      </p:sp>
      <p:pic>
        <p:nvPicPr>
          <p:cNvPr id="12" name="图片 11"/>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6354618" y="5295929"/>
            <a:ext cx="5801989" cy="1157161"/>
          </a:xfrm>
          <a:prstGeom prst="rect">
            <a:avLst/>
          </a:prstGeom>
        </p:spPr>
      </p:pic>
      <p:sp>
        <p:nvSpPr>
          <p:cNvPr id="13" name="文本框 12"/>
          <p:cNvSpPr txBox="1"/>
          <p:nvPr/>
        </p:nvSpPr>
        <p:spPr>
          <a:xfrm>
            <a:off x="6559343" y="5004754"/>
            <a:ext cx="5597264" cy="276999"/>
          </a:xfrm>
          <a:prstGeom prst="rect">
            <a:avLst/>
          </a:prstGeom>
          <a:noFill/>
        </p:spPr>
        <p:txBody>
          <a:bodyPr wrap="square" rtlCol="0">
            <a:spAutoFit/>
          </a:bodyPr>
          <a:lstStyle/>
          <a:p>
            <a:r>
              <a:rPr lang="en-US" altLang="zh-CN" sz="1200" dirty="0"/>
              <a:t>Table 1. Consistency of the classification of capital: Piketty's studies and ours.</a:t>
            </a:r>
            <a:endParaRPr lang="zh-CN" altLang="en-US" sz="1200" dirty="0"/>
          </a:p>
        </p:txBody>
      </p:sp>
    </p:spTree>
    <p:extLst>
      <p:ext uri="{BB962C8B-B14F-4D97-AF65-F5344CB8AC3E}">
        <p14:creationId xmlns:p14="http://schemas.microsoft.com/office/powerpoint/2010/main" val="3457954823"/>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952E7725-3096-4969-8619-BFD45072AD94}"/>
              </a:ext>
            </a:extLst>
          </p:cNvPr>
          <p:cNvSpPr txBox="1"/>
          <p:nvPr/>
        </p:nvSpPr>
        <p:spPr>
          <a:xfrm>
            <a:off x="534498" y="304741"/>
            <a:ext cx="3483320" cy="400110"/>
          </a:xfrm>
          <a:prstGeom prst="rect">
            <a:avLst/>
          </a:prstGeom>
          <a:solidFill>
            <a:srgbClr val="7F2C8B"/>
          </a:solidFill>
        </p:spPr>
        <p:txBody>
          <a:bodyPr wrap="square" rtlCol="0">
            <a:spAutoFit/>
          </a:bodyPr>
          <a:lstStyle/>
          <a:p>
            <a:pPr lvl="0" defTabSz="914377">
              <a:defRPr/>
            </a:pPr>
            <a:r>
              <a:rPr lang="zh-CN" altLang="en-US" sz="2000" dirty="0">
                <a:solidFill>
                  <a:schemeClr val="bg1"/>
                </a:solidFill>
                <a:latin typeface="微软雅黑 Light" panose="020B0502040204020203" pitchFamily="34" charset="-122"/>
                <a:ea typeface="微软雅黑 Light" panose="020B0502040204020203" pitchFamily="34" charset="-122"/>
              </a:rPr>
              <a:t>中国的资本积累</a:t>
            </a:r>
            <a:r>
              <a:rPr lang="en-US" altLang="zh-CN" sz="2000" dirty="0">
                <a:solidFill>
                  <a:schemeClr val="bg1"/>
                </a:solidFill>
                <a:latin typeface="微软雅黑 Light" panose="020B0502040204020203" pitchFamily="34" charset="-122"/>
                <a:ea typeface="微软雅黑 Light" panose="020B0502040204020203" pitchFamily="34" charset="-122"/>
              </a:rPr>
              <a:t>-</a:t>
            </a:r>
            <a:r>
              <a:rPr lang="zh-CN" altLang="en-US" sz="2000" dirty="0">
                <a:solidFill>
                  <a:schemeClr val="bg1"/>
                </a:solidFill>
                <a:latin typeface="微软雅黑 Light" panose="020B0502040204020203" pitchFamily="34" charset="-122"/>
                <a:ea typeface="微软雅黑 Light" panose="020B0502040204020203" pitchFamily="34" charset="-122"/>
              </a:rPr>
              <a:t>资本</a:t>
            </a:r>
            <a:r>
              <a:rPr lang="en-US" altLang="zh-CN" sz="2000" dirty="0">
                <a:solidFill>
                  <a:schemeClr val="bg1"/>
                </a:solidFill>
                <a:latin typeface="微软雅黑 Light" panose="020B0502040204020203" pitchFamily="34" charset="-122"/>
                <a:ea typeface="微软雅黑 Light" panose="020B0502040204020203" pitchFamily="34" charset="-122"/>
              </a:rPr>
              <a:t>/</a:t>
            </a:r>
            <a:r>
              <a:rPr lang="zh-CN" altLang="en-US" sz="2000" dirty="0">
                <a:solidFill>
                  <a:schemeClr val="bg1"/>
                </a:solidFill>
                <a:latin typeface="微软雅黑 Light" panose="020B0502040204020203" pitchFamily="34" charset="-122"/>
                <a:ea typeface="微软雅黑 Light" panose="020B0502040204020203" pitchFamily="34" charset="-122"/>
              </a:rPr>
              <a:t>收入比</a:t>
            </a:r>
          </a:p>
        </p:txBody>
      </p:sp>
      <p:grpSp>
        <p:nvGrpSpPr>
          <p:cNvPr id="22" name="组合 21">
            <a:extLst>
              <a:ext uri="{FF2B5EF4-FFF2-40B4-BE49-F238E27FC236}">
                <a16:creationId xmlns:a16="http://schemas.microsoft.com/office/drawing/2014/main" id="{DFC37A35-D357-4CEE-9C28-5EABD3D35C6B}"/>
              </a:ext>
            </a:extLst>
          </p:cNvPr>
          <p:cNvGrpSpPr/>
          <p:nvPr/>
        </p:nvGrpSpPr>
        <p:grpSpPr>
          <a:xfrm>
            <a:off x="10735556" y="314266"/>
            <a:ext cx="1180589" cy="400111"/>
            <a:chOff x="624303" y="901700"/>
            <a:chExt cx="10005598" cy="3390977"/>
          </a:xfrm>
          <a:solidFill>
            <a:srgbClr val="7F2C8B"/>
          </a:solidFill>
        </p:grpSpPr>
        <p:sp>
          <p:nvSpPr>
            <p:cNvPr id="23" name="Freeform 5">
              <a:extLst>
                <a:ext uri="{FF2B5EF4-FFF2-40B4-BE49-F238E27FC236}">
                  <a16:creationId xmlns:a16="http://schemas.microsoft.com/office/drawing/2014/main" id="{0ACD2635-3EA4-461E-AE91-2E7358FA9FA0}"/>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4" name="Freeform 6">
              <a:extLst>
                <a:ext uri="{FF2B5EF4-FFF2-40B4-BE49-F238E27FC236}">
                  <a16:creationId xmlns:a16="http://schemas.microsoft.com/office/drawing/2014/main" id="{70354051-F1E2-4393-ABA2-AEB53FF0D08B}"/>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5" name="Freeform 7">
              <a:extLst>
                <a:ext uri="{FF2B5EF4-FFF2-40B4-BE49-F238E27FC236}">
                  <a16:creationId xmlns:a16="http://schemas.microsoft.com/office/drawing/2014/main" id="{5FFB1BFD-2D76-4EE4-9741-31F528BE757A}"/>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6" name="Freeform 8">
              <a:extLst>
                <a:ext uri="{FF2B5EF4-FFF2-40B4-BE49-F238E27FC236}">
                  <a16:creationId xmlns:a16="http://schemas.microsoft.com/office/drawing/2014/main" id="{1EFFAA81-03B5-4C66-939C-6BBDC7932C18}"/>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7" name="Freeform 9">
              <a:extLst>
                <a:ext uri="{FF2B5EF4-FFF2-40B4-BE49-F238E27FC236}">
                  <a16:creationId xmlns:a16="http://schemas.microsoft.com/office/drawing/2014/main" id="{35B0FA74-D77A-4B32-A41D-5E20B596D219}"/>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8" name="Freeform 10">
              <a:extLst>
                <a:ext uri="{FF2B5EF4-FFF2-40B4-BE49-F238E27FC236}">
                  <a16:creationId xmlns:a16="http://schemas.microsoft.com/office/drawing/2014/main" id="{F5FC7059-5FB3-4ADB-BA26-84EF705B3174}"/>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9" name="Freeform 11">
              <a:extLst>
                <a:ext uri="{FF2B5EF4-FFF2-40B4-BE49-F238E27FC236}">
                  <a16:creationId xmlns:a16="http://schemas.microsoft.com/office/drawing/2014/main" id="{937241A3-85EE-47AC-8B4A-B01E8B1B0812}"/>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0" name="Freeform 12">
              <a:extLst>
                <a:ext uri="{FF2B5EF4-FFF2-40B4-BE49-F238E27FC236}">
                  <a16:creationId xmlns:a16="http://schemas.microsoft.com/office/drawing/2014/main" id="{99EA3DC5-4FB4-48DC-9AA6-2E2F76C34725}"/>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1" name="Freeform 13">
              <a:extLst>
                <a:ext uri="{FF2B5EF4-FFF2-40B4-BE49-F238E27FC236}">
                  <a16:creationId xmlns:a16="http://schemas.microsoft.com/office/drawing/2014/main" id="{F7187B32-A15A-480D-849D-33EF28B75687}"/>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2" name="Freeform 14">
              <a:extLst>
                <a:ext uri="{FF2B5EF4-FFF2-40B4-BE49-F238E27FC236}">
                  <a16:creationId xmlns:a16="http://schemas.microsoft.com/office/drawing/2014/main" id="{AA5721AD-3E61-4D99-A2D8-A261E897EBAC}"/>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3" name="Freeform 15">
              <a:extLst>
                <a:ext uri="{FF2B5EF4-FFF2-40B4-BE49-F238E27FC236}">
                  <a16:creationId xmlns:a16="http://schemas.microsoft.com/office/drawing/2014/main" id="{EF703E7A-053E-4111-945E-2E43B9CC9ECE}"/>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4" name="Freeform 16">
              <a:extLst>
                <a:ext uri="{FF2B5EF4-FFF2-40B4-BE49-F238E27FC236}">
                  <a16:creationId xmlns:a16="http://schemas.microsoft.com/office/drawing/2014/main" id="{01BF6BE1-5CCD-4A5F-8AFA-EF1359F1D3F2}"/>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5" name="Freeform 17">
              <a:extLst>
                <a:ext uri="{FF2B5EF4-FFF2-40B4-BE49-F238E27FC236}">
                  <a16:creationId xmlns:a16="http://schemas.microsoft.com/office/drawing/2014/main" id="{295417E9-A0A1-4465-9436-76253B18BAD3}"/>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18">
              <a:extLst>
                <a:ext uri="{FF2B5EF4-FFF2-40B4-BE49-F238E27FC236}">
                  <a16:creationId xmlns:a16="http://schemas.microsoft.com/office/drawing/2014/main" id="{009C6FB2-A1BB-4F44-87AF-D874D67D737B}"/>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19">
              <a:extLst>
                <a:ext uri="{FF2B5EF4-FFF2-40B4-BE49-F238E27FC236}">
                  <a16:creationId xmlns:a16="http://schemas.microsoft.com/office/drawing/2014/main" id="{65203D5E-987A-4E4E-B0C9-FAC54EDFF054}"/>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20">
              <a:extLst>
                <a:ext uri="{FF2B5EF4-FFF2-40B4-BE49-F238E27FC236}">
                  <a16:creationId xmlns:a16="http://schemas.microsoft.com/office/drawing/2014/main" id="{F0367FE4-2904-433D-8E0F-42933CAA638D}"/>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21">
              <a:extLst>
                <a:ext uri="{FF2B5EF4-FFF2-40B4-BE49-F238E27FC236}">
                  <a16:creationId xmlns:a16="http://schemas.microsoft.com/office/drawing/2014/main" id="{7A0A948A-A7D6-4278-97BF-F101BFD0B366}"/>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22">
              <a:extLst>
                <a:ext uri="{FF2B5EF4-FFF2-40B4-BE49-F238E27FC236}">
                  <a16:creationId xmlns:a16="http://schemas.microsoft.com/office/drawing/2014/main" id="{DC614584-067F-48D2-931A-6CE53105F005}"/>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23">
              <a:extLst>
                <a:ext uri="{FF2B5EF4-FFF2-40B4-BE49-F238E27FC236}">
                  <a16:creationId xmlns:a16="http://schemas.microsoft.com/office/drawing/2014/main" id="{244320B8-5691-4A92-B2D2-5BCE1D98EA00}"/>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24">
              <a:extLst>
                <a:ext uri="{FF2B5EF4-FFF2-40B4-BE49-F238E27FC236}">
                  <a16:creationId xmlns:a16="http://schemas.microsoft.com/office/drawing/2014/main" id="{EF78F9E3-1F79-4E42-AAC8-E4DB818FEE8B}"/>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p:sp>
        <p:nvSpPr>
          <p:cNvPr id="2" name="文本框 1"/>
          <p:cNvSpPr txBox="1"/>
          <p:nvPr/>
        </p:nvSpPr>
        <p:spPr>
          <a:xfrm>
            <a:off x="645334" y="3019941"/>
            <a:ext cx="5820120" cy="646331"/>
          </a:xfrm>
          <a:prstGeom prst="rect">
            <a:avLst/>
          </a:prstGeom>
          <a:noFill/>
        </p:spPr>
        <p:txBody>
          <a:bodyPr wrap="square" rtlCol="0">
            <a:spAutoFit/>
          </a:bodyPr>
          <a:lstStyle/>
          <a:p>
            <a:r>
              <a:rPr lang="en-US" altLang="zh-CN" dirty="0"/>
              <a:t>Fig. 2. Ratio general capital-gross national income: China, 1952–2015 </a:t>
            </a:r>
            <a:r>
              <a:rPr lang="en-US" altLang="zh-CN" i="1" dirty="0"/>
              <a:t>(coefficient of capital).</a:t>
            </a:r>
            <a:endParaRPr lang="zh-CN" altLang="en-US" dirty="0"/>
          </a:p>
        </p:txBody>
      </p:sp>
      <p:sp>
        <p:nvSpPr>
          <p:cNvPr id="3" name="文本框 2"/>
          <p:cNvSpPr txBox="1"/>
          <p:nvPr/>
        </p:nvSpPr>
        <p:spPr>
          <a:xfrm>
            <a:off x="645334" y="805479"/>
            <a:ext cx="7141550" cy="2246769"/>
          </a:xfrm>
          <a:prstGeom prst="rect">
            <a:avLst/>
          </a:prstGeom>
          <a:noFill/>
        </p:spPr>
        <p:txBody>
          <a:bodyPr wrap="square" rtlCol="0">
            <a:spAutoFit/>
          </a:bodyPr>
          <a:lstStyle/>
          <a:p>
            <a:r>
              <a:rPr lang="en-US" altLang="zh-CN" sz="2000" dirty="0">
                <a:solidFill>
                  <a:srgbClr val="7030A0"/>
                </a:solidFill>
              </a:rPr>
              <a:t>※</a:t>
            </a:r>
            <a:r>
              <a:rPr lang="zh-CN" altLang="en-US" sz="2000" dirty="0">
                <a:solidFill>
                  <a:srgbClr val="353535"/>
                </a:solidFill>
              </a:rPr>
              <a:t>中国的资本积累速度非常快</a:t>
            </a:r>
            <a:endParaRPr lang="en-US" altLang="zh-CN" sz="2000" dirty="0">
              <a:solidFill>
                <a:srgbClr val="353535"/>
              </a:solidFill>
            </a:endParaRPr>
          </a:p>
          <a:p>
            <a:endParaRPr lang="en-US" altLang="zh-CN" sz="2000" dirty="0">
              <a:solidFill>
                <a:srgbClr val="353535"/>
              </a:solidFill>
            </a:endParaRPr>
          </a:p>
          <a:p>
            <a:r>
              <a:rPr lang="en-US" altLang="zh-CN" sz="2000" dirty="0">
                <a:solidFill>
                  <a:srgbClr val="7030A0"/>
                </a:solidFill>
              </a:rPr>
              <a:t>※</a:t>
            </a:r>
            <a:r>
              <a:rPr lang="zh-CN" altLang="en-US" sz="2000" dirty="0">
                <a:solidFill>
                  <a:srgbClr val="353535"/>
                </a:solidFill>
              </a:rPr>
              <a:t>资本</a:t>
            </a:r>
            <a:r>
              <a:rPr lang="en-US" altLang="zh-CN" sz="2000" dirty="0">
                <a:solidFill>
                  <a:srgbClr val="353535"/>
                </a:solidFill>
              </a:rPr>
              <a:t>/</a:t>
            </a:r>
            <a:r>
              <a:rPr lang="zh-CN" altLang="en-US" sz="2000" dirty="0">
                <a:solidFill>
                  <a:srgbClr val="353535"/>
                </a:solidFill>
              </a:rPr>
              <a:t>收入比有长期上升的趋势</a:t>
            </a:r>
            <a:endParaRPr lang="en-US" altLang="zh-CN" sz="2000" dirty="0">
              <a:solidFill>
                <a:srgbClr val="353535"/>
              </a:solidFill>
            </a:endParaRPr>
          </a:p>
          <a:p>
            <a:r>
              <a:rPr lang="zh-CN" altLang="en-US" sz="2000" dirty="0">
                <a:solidFill>
                  <a:srgbClr val="353535"/>
                </a:solidFill>
              </a:rPr>
              <a:t>极个别年份的下降：</a:t>
            </a:r>
            <a:r>
              <a:rPr lang="en-US" altLang="zh-CN" sz="2000" dirty="0">
                <a:solidFill>
                  <a:srgbClr val="353535"/>
                </a:solidFill>
              </a:rPr>
              <a:t>1984</a:t>
            </a:r>
            <a:r>
              <a:rPr lang="zh-CN" altLang="en-US" sz="2000" dirty="0">
                <a:solidFill>
                  <a:srgbClr val="353535"/>
                </a:solidFill>
              </a:rPr>
              <a:t>利改税、</a:t>
            </a:r>
            <a:r>
              <a:rPr lang="en-US" altLang="zh-CN" sz="2000" dirty="0">
                <a:solidFill>
                  <a:srgbClr val="353535"/>
                </a:solidFill>
              </a:rPr>
              <a:t>1993</a:t>
            </a:r>
            <a:r>
              <a:rPr lang="zh-CN" altLang="en-US" sz="2000" dirty="0">
                <a:solidFill>
                  <a:srgbClr val="353535"/>
                </a:solidFill>
              </a:rPr>
              <a:t>分税制改革</a:t>
            </a:r>
            <a:endParaRPr lang="en-US" altLang="zh-CN" sz="2000" dirty="0">
              <a:solidFill>
                <a:srgbClr val="353535"/>
              </a:solidFill>
            </a:endParaRPr>
          </a:p>
          <a:p>
            <a:r>
              <a:rPr lang="en-US" altLang="zh-CN" sz="2000" dirty="0">
                <a:solidFill>
                  <a:srgbClr val="353535"/>
                </a:solidFill>
              </a:rPr>
              <a:t>08</a:t>
            </a:r>
            <a:r>
              <a:rPr lang="zh-CN" altLang="en-US" sz="2000" dirty="0">
                <a:solidFill>
                  <a:srgbClr val="353535"/>
                </a:solidFill>
              </a:rPr>
              <a:t>年以后快速上升（加速积累）</a:t>
            </a:r>
            <a:endParaRPr lang="en-US" altLang="zh-CN" sz="2000" dirty="0">
              <a:solidFill>
                <a:srgbClr val="353535"/>
              </a:solidFill>
            </a:endParaRPr>
          </a:p>
          <a:p>
            <a:endParaRPr lang="en-US" altLang="zh-CN" sz="2000" dirty="0">
              <a:solidFill>
                <a:srgbClr val="353535"/>
              </a:solidFill>
            </a:endParaRPr>
          </a:p>
          <a:p>
            <a:r>
              <a:rPr lang="en-US" altLang="zh-CN" sz="2000" dirty="0">
                <a:solidFill>
                  <a:srgbClr val="7030A0"/>
                </a:solidFill>
              </a:rPr>
              <a:t>※</a:t>
            </a:r>
            <a:r>
              <a:rPr lang="zh-CN" altLang="en-US" sz="2000" dirty="0">
                <a:solidFill>
                  <a:srgbClr val="353535"/>
                </a:solidFill>
              </a:rPr>
              <a:t>用市场价格计算的资本积累速度更快</a:t>
            </a:r>
            <a:endParaRPr lang="en-US" altLang="zh-CN" sz="2000" dirty="0">
              <a:solidFill>
                <a:srgbClr val="353535"/>
              </a:solidFill>
            </a:endParaRPr>
          </a:p>
        </p:txBody>
      </p:sp>
      <p:pic>
        <p:nvPicPr>
          <p:cNvPr id="5" name="图片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07705" y="3685479"/>
            <a:ext cx="5073706" cy="3010237"/>
          </a:xfrm>
          <a:prstGeom prst="rect">
            <a:avLst/>
          </a:prstGeom>
        </p:spPr>
      </p:pic>
      <p:pic>
        <p:nvPicPr>
          <p:cNvPr id="43" name="图片 42"/>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998307" y="805479"/>
            <a:ext cx="3893593" cy="2880000"/>
          </a:xfrm>
          <a:prstGeom prst="rect">
            <a:avLst/>
          </a:prstGeom>
        </p:spPr>
      </p:pic>
      <p:pic>
        <p:nvPicPr>
          <p:cNvPr id="44" name="图片 43"/>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786884" y="3923210"/>
            <a:ext cx="4123454" cy="2672471"/>
          </a:xfrm>
          <a:prstGeom prst="rect">
            <a:avLst/>
          </a:prstGeom>
        </p:spPr>
      </p:pic>
    </p:spTree>
    <p:extLst>
      <p:ext uri="{BB962C8B-B14F-4D97-AF65-F5344CB8AC3E}">
        <p14:creationId xmlns:p14="http://schemas.microsoft.com/office/powerpoint/2010/main" val="202296240"/>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952E7725-3096-4969-8619-BFD45072AD94}"/>
              </a:ext>
            </a:extLst>
          </p:cNvPr>
          <p:cNvSpPr txBox="1"/>
          <p:nvPr/>
        </p:nvSpPr>
        <p:spPr>
          <a:xfrm>
            <a:off x="534497" y="304741"/>
            <a:ext cx="4924193" cy="400110"/>
          </a:xfrm>
          <a:prstGeom prst="rect">
            <a:avLst/>
          </a:prstGeom>
          <a:solidFill>
            <a:srgbClr val="7F2C8B"/>
          </a:solidFill>
        </p:spPr>
        <p:txBody>
          <a:bodyPr wrap="square" rtlCol="0">
            <a:spAutoFit/>
          </a:bodyPr>
          <a:lstStyle/>
          <a:p>
            <a:pPr lvl="0" defTabSz="914377">
              <a:defRPr/>
            </a:pPr>
            <a:r>
              <a:rPr lang="zh-CN" altLang="en-US" sz="2000" dirty="0">
                <a:solidFill>
                  <a:schemeClr val="bg1"/>
                </a:solidFill>
                <a:latin typeface="微软雅黑 Light" panose="020B0502040204020203" pitchFamily="34" charset="-122"/>
                <a:ea typeface="微软雅黑 Light" panose="020B0502040204020203" pitchFamily="34" charset="-122"/>
              </a:rPr>
              <a:t>中国的资本积累</a:t>
            </a:r>
            <a:r>
              <a:rPr lang="en-US" altLang="zh-CN" sz="2000" dirty="0">
                <a:solidFill>
                  <a:schemeClr val="bg1"/>
                </a:solidFill>
                <a:latin typeface="微软雅黑 Light" panose="020B0502040204020203" pitchFamily="34" charset="-122"/>
                <a:ea typeface="微软雅黑 Light" panose="020B0502040204020203" pitchFamily="34" charset="-122"/>
              </a:rPr>
              <a:t>-</a:t>
            </a:r>
            <a:r>
              <a:rPr lang="zh-CN" altLang="en-US" sz="2000" dirty="0">
                <a:solidFill>
                  <a:schemeClr val="bg1"/>
                </a:solidFill>
                <a:latin typeface="微软雅黑 Light" panose="020B0502040204020203" pitchFamily="34" charset="-122"/>
                <a:ea typeface="微软雅黑 Light" panose="020B0502040204020203" pitchFamily="34" charset="-122"/>
              </a:rPr>
              <a:t>收入分配与资本第一定律</a:t>
            </a:r>
          </a:p>
        </p:txBody>
      </p:sp>
      <p:grpSp>
        <p:nvGrpSpPr>
          <p:cNvPr id="22" name="组合 21">
            <a:extLst>
              <a:ext uri="{FF2B5EF4-FFF2-40B4-BE49-F238E27FC236}">
                <a16:creationId xmlns:a16="http://schemas.microsoft.com/office/drawing/2014/main" id="{DFC37A35-D357-4CEE-9C28-5EABD3D35C6B}"/>
              </a:ext>
            </a:extLst>
          </p:cNvPr>
          <p:cNvGrpSpPr/>
          <p:nvPr/>
        </p:nvGrpSpPr>
        <p:grpSpPr>
          <a:xfrm>
            <a:off x="10735556" y="314266"/>
            <a:ext cx="1180589" cy="400111"/>
            <a:chOff x="624303" y="901700"/>
            <a:chExt cx="10005598" cy="3390977"/>
          </a:xfrm>
          <a:solidFill>
            <a:srgbClr val="7F2C8B"/>
          </a:solidFill>
        </p:grpSpPr>
        <p:sp>
          <p:nvSpPr>
            <p:cNvPr id="23" name="Freeform 5">
              <a:extLst>
                <a:ext uri="{FF2B5EF4-FFF2-40B4-BE49-F238E27FC236}">
                  <a16:creationId xmlns:a16="http://schemas.microsoft.com/office/drawing/2014/main" id="{0ACD2635-3EA4-461E-AE91-2E7358FA9FA0}"/>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4" name="Freeform 6">
              <a:extLst>
                <a:ext uri="{FF2B5EF4-FFF2-40B4-BE49-F238E27FC236}">
                  <a16:creationId xmlns:a16="http://schemas.microsoft.com/office/drawing/2014/main" id="{70354051-F1E2-4393-ABA2-AEB53FF0D08B}"/>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5" name="Freeform 7">
              <a:extLst>
                <a:ext uri="{FF2B5EF4-FFF2-40B4-BE49-F238E27FC236}">
                  <a16:creationId xmlns:a16="http://schemas.microsoft.com/office/drawing/2014/main" id="{5FFB1BFD-2D76-4EE4-9741-31F528BE757A}"/>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6" name="Freeform 8">
              <a:extLst>
                <a:ext uri="{FF2B5EF4-FFF2-40B4-BE49-F238E27FC236}">
                  <a16:creationId xmlns:a16="http://schemas.microsoft.com/office/drawing/2014/main" id="{1EFFAA81-03B5-4C66-939C-6BBDC7932C18}"/>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7" name="Freeform 9">
              <a:extLst>
                <a:ext uri="{FF2B5EF4-FFF2-40B4-BE49-F238E27FC236}">
                  <a16:creationId xmlns:a16="http://schemas.microsoft.com/office/drawing/2014/main" id="{35B0FA74-D77A-4B32-A41D-5E20B596D219}"/>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8" name="Freeform 10">
              <a:extLst>
                <a:ext uri="{FF2B5EF4-FFF2-40B4-BE49-F238E27FC236}">
                  <a16:creationId xmlns:a16="http://schemas.microsoft.com/office/drawing/2014/main" id="{F5FC7059-5FB3-4ADB-BA26-84EF705B3174}"/>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9" name="Freeform 11">
              <a:extLst>
                <a:ext uri="{FF2B5EF4-FFF2-40B4-BE49-F238E27FC236}">
                  <a16:creationId xmlns:a16="http://schemas.microsoft.com/office/drawing/2014/main" id="{937241A3-85EE-47AC-8B4A-B01E8B1B0812}"/>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0" name="Freeform 12">
              <a:extLst>
                <a:ext uri="{FF2B5EF4-FFF2-40B4-BE49-F238E27FC236}">
                  <a16:creationId xmlns:a16="http://schemas.microsoft.com/office/drawing/2014/main" id="{99EA3DC5-4FB4-48DC-9AA6-2E2F76C34725}"/>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1" name="Freeform 13">
              <a:extLst>
                <a:ext uri="{FF2B5EF4-FFF2-40B4-BE49-F238E27FC236}">
                  <a16:creationId xmlns:a16="http://schemas.microsoft.com/office/drawing/2014/main" id="{F7187B32-A15A-480D-849D-33EF28B75687}"/>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2" name="Freeform 14">
              <a:extLst>
                <a:ext uri="{FF2B5EF4-FFF2-40B4-BE49-F238E27FC236}">
                  <a16:creationId xmlns:a16="http://schemas.microsoft.com/office/drawing/2014/main" id="{AA5721AD-3E61-4D99-A2D8-A261E897EBAC}"/>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3" name="Freeform 15">
              <a:extLst>
                <a:ext uri="{FF2B5EF4-FFF2-40B4-BE49-F238E27FC236}">
                  <a16:creationId xmlns:a16="http://schemas.microsoft.com/office/drawing/2014/main" id="{EF703E7A-053E-4111-945E-2E43B9CC9ECE}"/>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4" name="Freeform 16">
              <a:extLst>
                <a:ext uri="{FF2B5EF4-FFF2-40B4-BE49-F238E27FC236}">
                  <a16:creationId xmlns:a16="http://schemas.microsoft.com/office/drawing/2014/main" id="{01BF6BE1-5CCD-4A5F-8AFA-EF1359F1D3F2}"/>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5" name="Freeform 17">
              <a:extLst>
                <a:ext uri="{FF2B5EF4-FFF2-40B4-BE49-F238E27FC236}">
                  <a16:creationId xmlns:a16="http://schemas.microsoft.com/office/drawing/2014/main" id="{295417E9-A0A1-4465-9436-76253B18BAD3}"/>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18">
              <a:extLst>
                <a:ext uri="{FF2B5EF4-FFF2-40B4-BE49-F238E27FC236}">
                  <a16:creationId xmlns:a16="http://schemas.microsoft.com/office/drawing/2014/main" id="{009C6FB2-A1BB-4F44-87AF-D874D67D737B}"/>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19">
              <a:extLst>
                <a:ext uri="{FF2B5EF4-FFF2-40B4-BE49-F238E27FC236}">
                  <a16:creationId xmlns:a16="http://schemas.microsoft.com/office/drawing/2014/main" id="{65203D5E-987A-4E4E-B0C9-FAC54EDFF054}"/>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20">
              <a:extLst>
                <a:ext uri="{FF2B5EF4-FFF2-40B4-BE49-F238E27FC236}">
                  <a16:creationId xmlns:a16="http://schemas.microsoft.com/office/drawing/2014/main" id="{F0367FE4-2904-433D-8E0F-42933CAA638D}"/>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21">
              <a:extLst>
                <a:ext uri="{FF2B5EF4-FFF2-40B4-BE49-F238E27FC236}">
                  <a16:creationId xmlns:a16="http://schemas.microsoft.com/office/drawing/2014/main" id="{7A0A948A-A7D6-4278-97BF-F101BFD0B366}"/>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22">
              <a:extLst>
                <a:ext uri="{FF2B5EF4-FFF2-40B4-BE49-F238E27FC236}">
                  <a16:creationId xmlns:a16="http://schemas.microsoft.com/office/drawing/2014/main" id="{DC614584-067F-48D2-931A-6CE53105F005}"/>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23">
              <a:extLst>
                <a:ext uri="{FF2B5EF4-FFF2-40B4-BE49-F238E27FC236}">
                  <a16:creationId xmlns:a16="http://schemas.microsoft.com/office/drawing/2014/main" id="{244320B8-5691-4A92-B2D2-5BCE1D98EA00}"/>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24">
              <a:extLst>
                <a:ext uri="{FF2B5EF4-FFF2-40B4-BE49-F238E27FC236}">
                  <a16:creationId xmlns:a16="http://schemas.microsoft.com/office/drawing/2014/main" id="{EF78F9E3-1F79-4E42-AAC8-E4DB818FEE8B}"/>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mc:AlternateContent xmlns:mc="http://schemas.openxmlformats.org/markup-compatibility/2006" xmlns:a14="http://schemas.microsoft.com/office/drawing/2010/main">
        <mc:Choice Requires="a14">
          <p:sp>
            <p:nvSpPr>
              <p:cNvPr id="3" name="文本框 2"/>
              <p:cNvSpPr txBox="1"/>
              <p:nvPr/>
            </p:nvSpPr>
            <p:spPr>
              <a:xfrm>
                <a:off x="645333" y="923577"/>
                <a:ext cx="6540557" cy="5632311"/>
              </a:xfrm>
              <a:prstGeom prst="rect">
                <a:avLst/>
              </a:prstGeom>
              <a:noFill/>
            </p:spPr>
            <p:txBody>
              <a:bodyPr wrap="square" rtlCol="0">
                <a:spAutoFit/>
              </a:bodyPr>
              <a:lstStyle/>
              <a:p>
                <a:r>
                  <a:rPr lang="en-US" altLang="zh-CN" sz="2000" dirty="0">
                    <a:solidFill>
                      <a:srgbClr val="7030A0"/>
                    </a:solidFill>
                  </a:rPr>
                  <a:t>※</a:t>
                </a:r>
                <a:r>
                  <a:rPr lang="zh-CN" altLang="en-US" sz="2000" dirty="0">
                    <a:solidFill>
                      <a:srgbClr val="353535"/>
                    </a:solidFill>
                  </a:rPr>
                  <a:t>两种办法计算资本收入份额</a:t>
                </a:r>
                <a14:m>
                  <m:oMath xmlns:m="http://schemas.openxmlformats.org/officeDocument/2006/math">
                    <m:r>
                      <a:rPr lang="zh-CN" altLang="en-US" sz="2000" i="1" smtClean="0">
                        <a:solidFill>
                          <a:srgbClr val="353535"/>
                        </a:solidFill>
                        <a:latin typeface="Cambria Math" panose="02040503050406030204" pitchFamily="18" charset="0"/>
                      </a:rPr>
                      <m:t>𝛼</m:t>
                    </m:r>
                  </m:oMath>
                </a14:m>
                <a:r>
                  <a:rPr lang="zh-CN" altLang="en-US" sz="2000" dirty="0">
                    <a:solidFill>
                      <a:srgbClr val="353535"/>
                    </a:solidFill>
                  </a:rPr>
                  <a:t>：</a:t>
                </a:r>
                <a:endParaRPr lang="en-US" altLang="zh-CN" sz="2000" dirty="0">
                  <a:solidFill>
                    <a:srgbClr val="353535"/>
                  </a:solidFill>
                </a:endParaRPr>
              </a:p>
              <a:p>
                <a:endParaRPr lang="en-US" altLang="zh-CN" sz="2000" dirty="0">
                  <a:solidFill>
                    <a:srgbClr val="7030A0"/>
                  </a:solidFill>
                </a:endParaRPr>
              </a:p>
              <a:p>
                <a:r>
                  <a:rPr lang="en-US" altLang="zh-CN" sz="2000" dirty="0">
                    <a:solidFill>
                      <a:srgbClr val="353535"/>
                    </a:solidFill>
                  </a:rPr>
                  <a:t>1</a:t>
                </a:r>
                <a:r>
                  <a:rPr lang="zh-CN" altLang="en-US" sz="2000" dirty="0">
                    <a:solidFill>
                      <a:srgbClr val="353535"/>
                    </a:solidFill>
                  </a:rPr>
                  <a:t>）在国民经济核算体系中直接计算</a:t>
                </a:r>
                <a:endParaRPr lang="en-US" altLang="zh-CN" sz="2000" dirty="0">
                  <a:solidFill>
                    <a:srgbClr val="353535"/>
                  </a:solidFill>
                </a:endParaRPr>
              </a:p>
              <a:p>
                <a:r>
                  <a:rPr lang="zh-CN" altLang="en-US" sz="2000" dirty="0">
                    <a:solidFill>
                      <a:srgbClr val="353535"/>
                    </a:solidFill>
                  </a:rPr>
                  <a:t>生产法计算</a:t>
                </a:r>
                <a:r>
                  <a:rPr lang="en-US" altLang="zh-CN" sz="2000" dirty="0">
                    <a:solidFill>
                      <a:srgbClr val="353535"/>
                    </a:solidFill>
                  </a:rPr>
                  <a:t>GDP</a:t>
                </a:r>
              </a:p>
              <a:p>
                <a:r>
                  <a:rPr lang="zh-CN" altLang="en-US" sz="2000" dirty="0">
                    <a:solidFill>
                      <a:srgbClr val="353535"/>
                    </a:solidFill>
                  </a:rPr>
                  <a:t> </a:t>
                </a:r>
                <a:r>
                  <a:rPr lang="en-US" altLang="zh-CN" sz="2000" dirty="0">
                    <a:solidFill>
                      <a:srgbClr val="353535"/>
                    </a:solidFill>
                  </a:rPr>
                  <a:t>GDP=</a:t>
                </a:r>
                <a:r>
                  <a:rPr lang="zh-CN" altLang="en-US" sz="2000" dirty="0">
                    <a:solidFill>
                      <a:srgbClr val="353535"/>
                    </a:solidFill>
                  </a:rPr>
                  <a:t>劳动者报酬</a:t>
                </a:r>
                <a:r>
                  <a:rPr lang="en-US" altLang="zh-CN" sz="2000" dirty="0">
                    <a:solidFill>
                      <a:srgbClr val="353535"/>
                    </a:solidFill>
                  </a:rPr>
                  <a:t>+</a:t>
                </a:r>
                <a:r>
                  <a:rPr lang="zh-CN" altLang="en-US" sz="2000" dirty="0">
                    <a:solidFill>
                      <a:srgbClr val="353535"/>
                    </a:solidFill>
                  </a:rPr>
                  <a:t>生产税净额</a:t>
                </a:r>
                <a:r>
                  <a:rPr lang="en-US" altLang="zh-CN" sz="2000" dirty="0">
                    <a:solidFill>
                      <a:srgbClr val="353535"/>
                    </a:solidFill>
                  </a:rPr>
                  <a:t>+</a:t>
                </a:r>
                <a:r>
                  <a:rPr lang="zh-CN" altLang="en-US" sz="2000" dirty="0">
                    <a:solidFill>
                      <a:srgbClr val="353535"/>
                    </a:solidFill>
                  </a:rPr>
                  <a:t>固定资产折旧</a:t>
                </a:r>
                <a:r>
                  <a:rPr lang="en-US" altLang="zh-CN" sz="2000" dirty="0">
                    <a:solidFill>
                      <a:srgbClr val="353535"/>
                    </a:solidFill>
                  </a:rPr>
                  <a:t>+</a:t>
                </a:r>
                <a:r>
                  <a:rPr lang="zh-CN" altLang="en-US" sz="2000" dirty="0">
                    <a:solidFill>
                      <a:srgbClr val="353535"/>
                    </a:solidFill>
                  </a:rPr>
                  <a:t>营业盈余</a:t>
                </a:r>
                <a:endParaRPr lang="en-US" altLang="zh-CN" sz="2000" dirty="0">
                  <a:solidFill>
                    <a:srgbClr val="353535"/>
                  </a:solidFill>
                </a:endParaRPr>
              </a:p>
              <a:p>
                <a:endParaRPr lang="en-US" altLang="zh-CN" sz="2000" dirty="0">
                  <a:solidFill>
                    <a:srgbClr val="353535"/>
                  </a:solidFill>
                </a:endParaRPr>
              </a:p>
              <a:p>
                <a:r>
                  <a:rPr lang="en-US" altLang="zh-CN" sz="2000" dirty="0">
                    <a:solidFill>
                      <a:srgbClr val="353535"/>
                    </a:solidFill>
                  </a:rPr>
                  <a:t>2</a:t>
                </a:r>
                <a:r>
                  <a:rPr lang="zh-CN" altLang="en-US" sz="2000" dirty="0">
                    <a:solidFill>
                      <a:srgbClr val="353535"/>
                    </a:solidFill>
                  </a:rPr>
                  <a:t>）用计量经济学的方法在生产函数中间接估算</a:t>
                </a:r>
                <a:endParaRPr lang="en-US" altLang="zh-CN" sz="2000" dirty="0">
                  <a:solidFill>
                    <a:srgbClr val="353535"/>
                  </a:solidFill>
                </a:endParaRPr>
              </a:p>
              <a:p>
                <a:r>
                  <a:rPr lang="en-US" altLang="zh-CN" sz="2000" dirty="0">
                    <a:solidFill>
                      <a:srgbClr val="353535"/>
                    </a:solidFill>
                  </a:rPr>
                  <a:t>Cobb-Douglas </a:t>
                </a:r>
                <a:r>
                  <a:rPr lang="zh-CN" altLang="en-US" sz="2000" dirty="0">
                    <a:solidFill>
                      <a:srgbClr val="353535"/>
                    </a:solidFill>
                  </a:rPr>
                  <a:t>生产函数中，</a:t>
                </a:r>
                <a:endParaRPr lang="en-US" altLang="zh-CN" sz="2000" dirty="0">
                  <a:solidFill>
                    <a:srgbClr val="353535"/>
                  </a:solidFill>
                </a:endParaRPr>
              </a:p>
              <a:p>
                <a:r>
                  <a:rPr lang="zh-CN" altLang="en-US" sz="2000" dirty="0">
                    <a:solidFill>
                      <a:srgbClr val="353535"/>
                    </a:solidFill>
                  </a:rPr>
                  <a:t>资本收入份额</a:t>
                </a:r>
                <a:r>
                  <a:rPr lang="en-US" altLang="zh-CN" sz="2000" dirty="0">
                    <a:solidFill>
                      <a:srgbClr val="353535"/>
                    </a:solidFill>
                  </a:rPr>
                  <a:t>=</a:t>
                </a:r>
                <a:r>
                  <a:rPr lang="zh-CN" altLang="en-US" sz="2000" dirty="0">
                    <a:solidFill>
                      <a:srgbClr val="353535"/>
                    </a:solidFill>
                  </a:rPr>
                  <a:t>收入对资本的弹性</a:t>
                </a:r>
                <a:r>
                  <a:rPr lang="en-US" altLang="zh-CN" sz="2000" dirty="0">
                    <a:solidFill>
                      <a:srgbClr val="353535"/>
                    </a:solidFill>
                  </a:rPr>
                  <a:t>=</a:t>
                </a:r>
                <a:r>
                  <a:rPr lang="zh-CN" altLang="en-US" sz="2000" dirty="0">
                    <a:solidFill>
                      <a:srgbClr val="353535"/>
                    </a:solidFill>
                  </a:rPr>
                  <a:t>无偏差的</a:t>
                </a:r>
                <a:r>
                  <a:rPr lang="en-US" altLang="zh-CN" sz="2000" dirty="0">
                    <a:solidFill>
                      <a:srgbClr val="353535"/>
                    </a:solidFill>
                  </a:rPr>
                  <a:t>OLS</a:t>
                </a:r>
                <a:r>
                  <a:rPr lang="zh-CN" altLang="en-US" sz="2000" dirty="0">
                    <a:solidFill>
                      <a:srgbClr val="353535"/>
                    </a:solidFill>
                  </a:rPr>
                  <a:t>估计量</a:t>
                </a:r>
                <a:endParaRPr lang="en-US" altLang="zh-CN" sz="2000" dirty="0">
                  <a:solidFill>
                    <a:srgbClr val="353535"/>
                  </a:solidFill>
                </a:endParaRPr>
              </a:p>
              <a:p>
                <a:endParaRPr lang="en-US" altLang="zh-CN" sz="2000" dirty="0">
                  <a:solidFill>
                    <a:srgbClr val="353535"/>
                  </a:solidFill>
                </a:endParaRPr>
              </a:p>
              <a:p>
                <a:r>
                  <a:rPr lang="en-US" altLang="zh-CN" sz="2000" dirty="0">
                    <a:solidFill>
                      <a:srgbClr val="7030A0"/>
                    </a:solidFill>
                  </a:rPr>
                  <a:t>※</a:t>
                </a:r>
                <a:r>
                  <a:rPr lang="zh-CN" altLang="en-US" sz="2000" dirty="0">
                    <a:solidFill>
                      <a:srgbClr val="353535"/>
                    </a:solidFill>
                  </a:rPr>
                  <a:t>计算资本回报率</a:t>
                </a:r>
                <a:r>
                  <a:rPr lang="en-US" altLang="zh-CN" sz="2000" dirty="0">
                    <a:solidFill>
                      <a:srgbClr val="353535"/>
                    </a:solidFill>
                  </a:rPr>
                  <a:t>r</a:t>
                </a:r>
              </a:p>
              <a:p>
                <a14:m>
                  <m:oMath xmlns:m="http://schemas.openxmlformats.org/officeDocument/2006/math">
                    <m:r>
                      <a:rPr lang="zh-CN" altLang="en-US" sz="2000" i="1" smtClean="0">
                        <a:solidFill>
                          <a:srgbClr val="353535"/>
                        </a:solidFill>
                        <a:latin typeface="Cambria Math" panose="02040503050406030204" pitchFamily="18" charset="0"/>
                      </a:rPr>
                      <m:t>𝛼</m:t>
                    </m:r>
                    <m:r>
                      <a:rPr lang="en-US" altLang="zh-CN" sz="2000" i="1">
                        <a:solidFill>
                          <a:srgbClr val="353535"/>
                        </a:solidFill>
                        <a:latin typeface="Cambria Math" panose="02040503050406030204" pitchFamily="18" charset="0"/>
                      </a:rPr>
                      <m:t>=</m:t>
                    </m:r>
                    <m:r>
                      <m:rPr>
                        <m:sty m:val="p"/>
                      </m:rPr>
                      <a:rPr lang="en-US" altLang="zh-CN" sz="2000" b="0" i="0" smtClean="0">
                        <a:solidFill>
                          <a:srgbClr val="353535"/>
                        </a:solidFill>
                        <a:latin typeface="Cambria Math" panose="02040503050406030204" pitchFamily="18" charset="0"/>
                      </a:rPr>
                      <m:t>r</m:t>
                    </m:r>
                    <m:r>
                      <a:rPr lang="en-US" altLang="zh-CN" sz="2000" b="0" i="0" smtClean="0">
                        <a:solidFill>
                          <a:srgbClr val="353535"/>
                        </a:solidFill>
                        <a:latin typeface="Cambria Math" panose="02040503050406030204" pitchFamily="18" charset="0"/>
                      </a:rPr>
                      <m:t>∗</m:t>
                    </m:r>
                    <m:r>
                      <m:rPr>
                        <m:sty m:val="p"/>
                      </m:rPr>
                      <a:rPr lang="en-US" altLang="zh-CN" sz="2000" dirty="0">
                        <a:solidFill>
                          <a:srgbClr val="353535"/>
                        </a:solidFill>
                        <a:latin typeface="Cambria Math" panose="02040503050406030204" pitchFamily="18" charset="0"/>
                        <a:ea typeface="Cambria Math" panose="02040503050406030204" pitchFamily="18" charset="0"/>
                      </a:rPr>
                      <m:t>β</m:t>
                    </m:r>
                  </m:oMath>
                </a14:m>
                <a:r>
                  <a:rPr lang="en-US" altLang="zh-CN" sz="2000" dirty="0">
                    <a:solidFill>
                      <a:srgbClr val="353535"/>
                    </a:solidFill>
                  </a:rPr>
                  <a:t>  (</a:t>
                </a:r>
                <a:r>
                  <a:rPr lang="zh-CN" altLang="en-US" sz="2000" dirty="0">
                    <a:solidFill>
                      <a:srgbClr val="353535"/>
                    </a:solidFill>
                  </a:rPr>
                  <a:t>稍后介绍其含义及批判</a:t>
                </a:r>
                <a:r>
                  <a:rPr lang="en-US" altLang="zh-CN" sz="2000" dirty="0">
                    <a:solidFill>
                      <a:srgbClr val="353535"/>
                    </a:solidFill>
                  </a:rPr>
                  <a:t>)</a:t>
                </a:r>
              </a:p>
              <a:p>
                <a:endParaRPr lang="en-US" altLang="zh-CN" sz="2000" dirty="0">
                  <a:solidFill>
                    <a:srgbClr val="353535"/>
                  </a:solidFill>
                </a:endParaRPr>
              </a:p>
              <a:p>
                <a:r>
                  <a:rPr lang="en-US" altLang="zh-CN" sz="2000" dirty="0">
                    <a:solidFill>
                      <a:srgbClr val="353535"/>
                    </a:solidFill>
                  </a:rPr>
                  <a:t>AK</a:t>
                </a:r>
                <a:r>
                  <a:rPr lang="zh-CN" altLang="en-US" sz="2000" dirty="0">
                    <a:solidFill>
                      <a:srgbClr val="353535"/>
                    </a:solidFill>
                  </a:rPr>
                  <a:t>模型： </a:t>
                </a:r>
                <a:r>
                  <a:rPr lang="el-GR" altLang="zh-CN" sz="2000" dirty="0">
                    <a:solidFill>
                      <a:srgbClr val="353535"/>
                    </a:solidFill>
                  </a:rPr>
                  <a:t>α= 0.670</a:t>
                </a:r>
              </a:p>
              <a:p>
                <a:r>
                  <a:rPr lang="en-US" altLang="zh-CN" sz="2000" dirty="0">
                    <a:solidFill>
                      <a:srgbClr val="353535"/>
                    </a:solidFill>
                  </a:rPr>
                  <a:t>Solow</a:t>
                </a:r>
                <a:r>
                  <a:rPr lang="zh-CN" altLang="en-US" sz="2000" dirty="0">
                    <a:solidFill>
                      <a:srgbClr val="353535"/>
                    </a:solidFill>
                  </a:rPr>
                  <a:t>模型： </a:t>
                </a:r>
                <a:r>
                  <a:rPr lang="el-GR" altLang="zh-CN" sz="2000" dirty="0">
                    <a:solidFill>
                      <a:srgbClr val="353535"/>
                    </a:solidFill>
                  </a:rPr>
                  <a:t>α= 0.562</a:t>
                </a:r>
              </a:p>
              <a:p>
                <a:r>
                  <a:rPr lang="zh-CN" altLang="en-US" sz="2000" dirty="0">
                    <a:solidFill>
                      <a:srgbClr val="353535"/>
                    </a:solidFill>
                  </a:rPr>
                  <a:t>内生性增长模型： </a:t>
                </a:r>
                <a:r>
                  <a:rPr lang="el-GR" altLang="zh-CN" sz="2000" dirty="0">
                    <a:solidFill>
                      <a:srgbClr val="353535"/>
                    </a:solidFill>
                  </a:rPr>
                  <a:t>α= 0.450</a:t>
                </a:r>
              </a:p>
              <a:p>
                <a:endParaRPr lang="en-US" altLang="zh-CN" sz="2000" dirty="0">
                  <a:solidFill>
                    <a:srgbClr val="353535"/>
                  </a:solidFill>
                </a:endParaRPr>
              </a:p>
              <a:p>
                <a:r>
                  <a:rPr lang="en-US" altLang="zh-CN" sz="2000" dirty="0">
                    <a:solidFill>
                      <a:srgbClr val="7030A0"/>
                    </a:solidFill>
                  </a:rPr>
                  <a:t>※</a:t>
                </a:r>
                <a:r>
                  <a:rPr lang="zh-CN" altLang="en-US" sz="2000" dirty="0">
                    <a:solidFill>
                      <a:srgbClr val="7030A0"/>
                    </a:solidFill>
                  </a:rPr>
                  <a:t>结论：</a:t>
                </a:r>
                <a:r>
                  <a:rPr lang="en-US" altLang="zh-CN" sz="2000" dirty="0">
                    <a:solidFill>
                      <a:srgbClr val="353535"/>
                    </a:solidFill>
                  </a:rPr>
                  <a:t>r&gt;g</a:t>
                </a:r>
                <a:r>
                  <a:rPr lang="zh-CN" altLang="en-US" sz="2000" dirty="0">
                    <a:solidFill>
                      <a:srgbClr val="353535"/>
                    </a:solidFill>
                  </a:rPr>
                  <a:t>在中国是历史成立的（近些年有所改善）</a:t>
                </a:r>
                <a:endParaRPr lang="en-US" altLang="zh-CN" sz="2000" dirty="0">
                  <a:solidFill>
                    <a:srgbClr val="7030A0"/>
                  </a:solidFill>
                </a:endParaRPr>
              </a:p>
            </p:txBody>
          </p:sp>
        </mc:Choice>
        <mc:Fallback xmlns="">
          <p:sp>
            <p:nvSpPr>
              <p:cNvPr id="3" name="文本框 2"/>
              <p:cNvSpPr txBox="1">
                <a:spLocks noRot="1" noChangeAspect="1" noMove="1" noResize="1" noEditPoints="1" noAdjustHandles="1" noChangeArrowheads="1" noChangeShapeType="1" noTextEdit="1"/>
              </p:cNvSpPr>
              <p:nvPr/>
            </p:nvSpPr>
            <p:spPr>
              <a:xfrm>
                <a:off x="645333" y="923577"/>
                <a:ext cx="6540557" cy="5632311"/>
              </a:xfrm>
              <a:prstGeom prst="rect">
                <a:avLst/>
              </a:prstGeom>
              <a:blipFill>
                <a:blip r:embed="rId3"/>
                <a:stretch>
                  <a:fillRect l="-1025" t="-650" r="-559" b="-1083"/>
                </a:stretch>
              </a:blipFill>
            </p:spPr>
            <p:txBody>
              <a:bodyPr/>
              <a:lstStyle/>
              <a:p>
                <a:r>
                  <a:rPr lang="zh-CN" altLang="en-US">
                    <a:noFill/>
                  </a:rPr>
                  <a:t> </a:t>
                </a:r>
              </a:p>
            </p:txBody>
          </p:sp>
        </mc:Fallback>
      </mc:AlternateContent>
      <p:pic>
        <p:nvPicPr>
          <p:cNvPr id="6" name="图片 5"/>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271368" y="1306818"/>
            <a:ext cx="4161915" cy="2155915"/>
          </a:xfrm>
          <a:prstGeom prst="rect">
            <a:avLst/>
          </a:prstGeom>
        </p:spPr>
      </p:pic>
      <p:sp>
        <p:nvSpPr>
          <p:cNvPr id="7" name="矩形 6"/>
          <p:cNvSpPr/>
          <p:nvPr/>
        </p:nvSpPr>
        <p:spPr>
          <a:xfrm>
            <a:off x="7250545" y="827827"/>
            <a:ext cx="4941455" cy="523220"/>
          </a:xfrm>
          <a:prstGeom prst="rect">
            <a:avLst/>
          </a:prstGeom>
        </p:spPr>
        <p:txBody>
          <a:bodyPr wrap="square">
            <a:spAutoFit/>
          </a:bodyPr>
          <a:lstStyle/>
          <a:p>
            <a:r>
              <a:rPr lang="en-US" altLang="zh-CN" sz="1400" dirty="0">
                <a:solidFill>
                  <a:srgbClr val="737373"/>
                </a:solidFill>
                <a:latin typeface="Arial" panose="020B0604020202020204" pitchFamily="34" charset="0"/>
              </a:rPr>
              <a:t>Fig. 5. Capital share estimated using GDP calculated by income approach: China, 1978–2015.</a:t>
            </a:r>
            <a:endParaRPr lang="zh-CN" altLang="en-US" sz="1400" dirty="0"/>
          </a:p>
        </p:txBody>
      </p:sp>
      <p:pic>
        <p:nvPicPr>
          <p:cNvPr id="8" name="图片 7"/>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304977" y="4033737"/>
            <a:ext cx="4112046" cy="2538057"/>
          </a:xfrm>
          <a:prstGeom prst="rect">
            <a:avLst/>
          </a:prstGeom>
        </p:spPr>
      </p:pic>
      <p:sp>
        <p:nvSpPr>
          <p:cNvPr id="9" name="矩形 8"/>
          <p:cNvSpPr/>
          <p:nvPr/>
        </p:nvSpPr>
        <p:spPr>
          <a:xfrm>
            <a:off x="7185890" y="3510517"/>
            <a:ext cx="4904509" cy="523220"/>
          </a:xfrm>
          <a:prstGeom prst="rect">
            <a:avLst/>
          </a:prstGeom>
        </p:spPr>
        <p:txBody>
          <a:bodyPr wrap="square">
            <a:spAutoFit/>
          </a:bodyPr>
          <a:lstStyle/>
          <a:p>
            <a:r>
              <a:rPr lang="en-US" altLang="zh-CN" sz="1400" dirty="0">
                <a:solidFill>
                  <a:srgbClr val="737373"/>
                </a:solidFill>
                <a:latin typeface="Arial" panose="020B0604020202020204" pitchFamily="34" charset="0"/>
              </a:rPr>
              <a:t>Fig. 3. The “fundamental inequality” between income growth rate and rate of return on general capital: China, 1953–2015.</a:t>
            </a:r>
            <a:endParaRPr lang="zh-CN" altLang="en-US" sz="1400" dirty="0"/>
          </a:p>
        </p:txBody>
      </p:sp>
    </p:spTree>
    <p:extLst>
      <p:ext uri="{BB962C8B-B14F-4D97-AF65-F5344CB8AC3E}">
        <p14:creationId xmlns:p14="http://schemas.microsoft.com/office/powerpoint/2010/main" val="1137367868"/>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952E7725-3096-4969-8619-BFD45072AD94}"/>
              </a:ext>
            </a:extLst>
          </p:cNvPr>
          <p:cNvSpPr txBox="1"/>
          <p:nvPr/>
        </p:nvSpPr>
        <p:spPr>
          <a:xfrm>
            <a:off x="534498" y="304741"/>
            <a:ext cx="3668047" cy="400110"/>
          </a:xfrm>
          <a:prstGeom prst="rect">
            <a:avLst/>
          </a:prstGeom>
          <a:solidFill>
            <a:srgbClr val="7F2C8B"/>
          </a:solidFill>
        </p:spPr>
        <p:txBody>
          <a:bodyPr wrap="square" rtlCol="0">
            <a:spAutoFit/>
          </a:bodyPr>
          <a:lstStyle/>
          <a:p>
            <a:pPr lvl="0" defTabSz="914377">
              <a:defRPr/>
            </a:pPr>
            <a:r>
              <a:rPr lang="zh-CN" altLang="en-US" sz="2000" dirty="0">
                <a:solidFill>
                  <a:schemeClr val="bg1"/>
                </a:solidFill>
                <a:latin typeface="微软雅黑 Light" panose="020B0502040204020203" pitchFamily="34" charset="-122"/>
                <a:ea typeface="微软雅黑 Light" panose="020B0502040204020203" pitchFamily="34" charset="-122"/>
              </a:rPr>
              <a:t>中国的资本积累</a:t>
            </a:r>
            <a:r>
              <a:rPr lang="en-US" altLang="zh-CN" sz="2000" dirty="0">
                <a:solidFill>
                  <a:schemeClr val="bg1"/>
                </a:solidFill>
                <a:latin typeface="微软雅黑 Light" panose="020B0502040204020203" pitchFamily="34" charset="-122"/>
                <a:ea typeface="微软雅黑 Light" panose="020B0502040204020203" pitchFamily="34" charset="-122"/>
              </a:rPr>
              <a:t>-</a:t>
            </a:r>
            <a:r>
              <a:rPr lang="zh-CN" altLang="en-US" sz="2000" dirty="0">
                <a:solidFill>
                  <a:schemeClr val="bg1"/>
                </a:solidFill>
                <a:latin typeface="微软雅黑 Light" panose="020B0502040204020203" pitchFamily="34" charset="-122"/>
                <a:ea typeface="微软雅黑 Light" panose="020B0502040204020203" pitchFamily="34" charset="-122"/>
              </a:rPr>
              <a:t>资本第二定律</a:t>
            </a:r>
          </a:p>
        </p:txBody>
      </p:sp>
      <p:grpSp>
        <p:nvGrpSpPr>
          <p:cNvPr id="22" name="组合 21">
            <a:extLst>
              <a:ext uri="{FF2B5EF4-FFF2-40B4-BE49-F238E27FC236}">
                <a16:creationId xmlns:a16="http://schemas.microsoft.com/office/drawing/2014/main" id="{DFC37A35-D357-4CEE-9C28-5EABD3D35C6B}"/>
              </a:ext>
            </a:extLst>
          </p:cNvPr>
          <p:cNvGrpSpPr/>
          <p:nvPr/>
        </p:nvGrpSpPr>
        <p:grpSpPr>
          <a:xfrm>
            <a:off x="10735556" y="314266"/>
            <a:ext cx="1180589" cy="400111"/>
            <a:chOff x="624303" y="901700"/>
            <a:chExt cx="10005598" cy="3390977"/>
          </a:xfrm>
          <a:solidFill>
            <a:srgbClr val="7F2C8B"/>
          </a:solidFill>
        </p:grpSpPr>
        <p:sp>
          <p:nvSpPr>
            <p:cNvPr id="23" name="Freeform 5">
              <a:extLst>
                <a:ext uri="{FF2B5EF4-FFF2-40B4-BE49-F238E27FC236}">
                  <a16:creationId xmlns:a16="http://schemas.microsoft.com/office/drawing/2014/main" id="{0ACD2635-3EA4-461E-AE91-2E7358FA9FA0}"/>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4" name="Freeform 6">
              <a:extLst>
                <a:ext uri="{FF2B5EF4-FFF2-40B4-BE49-F238E27FC236}">
                  <a16:creationId xmlns:a16="http://schemas.microsoft.com/office/drawing/2014/main" id="{70354051-F1E2-4393-ABA2-AEB53FF0D08B}"/>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5" name="Freeform 7">
              <a:extLst>
                <a:ext uri="{FF2B5EF4-FFF2-40B4-BE49-F238E27FC236}">
                  <a16:creationId xmlns:a16="http://schemas.microsoft.com/office/drawing/2014/main" id="{5FFB1BFD-2D76-4EE4-9741-31F528BE757A}"/>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6" name="Freeform 8">
              <a:extLst>
                <a:ext uri="{FF2B5EF4-FFF2-40B4-BE49-F238E27FC236}">
                  <a16:creationId xmlns:a16="http://schemas.microsoft.com/office/drawing/2014/main" id="{1EFFAA81-03B5-4C66-939C-6BBDC7932C18}"/>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7" name="Freeform 9">
              <a:extLst>
                <a:ext uri="{FF2B5EF4-FFF2-40B4-BE49-F238E27FC236}">
                  <a16:creationId xmlns:a16="http://schemas.microsoft.com/office/drawing/2014/main" id="{35B0FA74-D77A-4B32-A41D-5E20B596D219}"/>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8" name="Freeform 10">
              <a:extLst>
                <a:ext uri="{FF2B5EF4-FFF2-40B4-BE49-F238E27FC236}">
                  <a16:creationId xmlns:a16="http://schemas.microsoft.com/office/drawing/2014/main" id="{F5FC7059-5FB3-4ADB-BA26-84EF705B3174}"/>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9" name="Freeform 11">
              <a:extLst>
                <a:ext uri="{FF2B5EF4-FFF2-40B4-BE49-F238E27FC236}">
                  <a16:creationId xmlns:a16="http://schemas.microsoft.com/office/drawing/2014/main" id="{937241A3-85EE-47AC-8B4A-B01E8B1B0812}"/>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0" name="Freeform 12">
              <a:extLst>
                <a:ext uri="{FF2B5EF4-FFF2-40B4-BE49-F238E27FC236}">
                  <a16:creationId xmlns:a16="http://schemas.microsoft.com/office/drawing/2014/main" id="{99EA3DC5-4FB4-48DC-9AA6-2E2F76C34725}"/>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1" name="Freeform 13">
              <a:extLst>
                <a:ext uri="{FF2B5EF4-FFF2-40B4-BE49-F238E27FC236}">
                  <a16:creationId xmlns:a16="http://schemas.microsoft.com/office/drawing/2014/main" id="{F7187B32-A15A-480D-849D-33EF28B75687}"/>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2" name="Freeform 14">
              <a:extLst>
                <a:ext uri="{FF2B5EF4-FFF2-40B4-BE49-F238E27FC236}">
                  <a16:creationId xmlns:a16="http://schemas.microsoft.com/office/drawing/2014/main" id="{AA5721AD-3E61-4D99-A2D8-A261E897EBAC}"/>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3" name="Freeform 15">
              <a:extLst>
                <a:ext uri="{FF2B5EF4-FFF2-40B4-BE49-F238E27FC236}">
                  <a16:creationId xmlns:a16="http://schemas.microsoft.com/office/drawing/2014/main" id="{EF703E7A-053E-4111-945E-2E43B9CC9ECE}"/>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4" name="Freeform 16">
              <a:extLst>
                <a:ext uri="{FF2B5EF4-FFF2-40B4-BE49-F238E27FC236}">
                  <a16:creationId xmlns:a16="http://schemas.microsoft.com/office/drawing/2014/main" id="{01BF6BE1-5CCD-4A5F-8AFA-EF1359F1D3F2}"/>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5" name="Freeform 17">
              <a:extLst>
                <a:ext uri="{FF2B5EF4-FFF2-40B4-BE49-F238E27FC236}">
                  <a16:creationId xmlns:a16="http://schemas.microsoft.com/office/drawing/2014/main" id="{295417E9-A0A1-4465-9436-76253B18BAD3}"/>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18">
              <a:extLst>
                <a:ext uri="{FF2B5EF4-FFF2-40B4-BE49-F238E27FC236}">
                  <a16:creationId xmlns:a16="http://schemas.microsoft.com/office/drawing/2014/main" id="{009C6FB2-A1BB-4F44-87AF-D874D67D737B}"/>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19">
              <a:extLst>
                <a:ext uri="{FF2B5EF4-FFF2-40B4-BE49-F238E27FC236}">
                  <a16:creationId xmlns:a16="http://schemas.microsoft.com/office/drawing/2014/main" id="{65203D5E-987A-4E4E-B0C9-FAC54EDFF054}"/>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20">
              <a:extLst>
                <a:ext uri="{FF2B5EF4-FFF2-40B4-BE49-F238E27FC236}">
                  <a16:creationId xmlns:a16="http://schemas.microsoft.com/office/drawing/2014/main" id="{F0367FE4-2904-433D-8E0F-42933CAA638D}"/>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21">
              <a:extLst>
                <a:ext uri="{FF2B5EF4-FFF2-40B4-BE49-F238E27FC236}">
                  <a16:creationId xmlns:a16="http://schemas.microsoft.com/office/drawing/2014/main" id="{7A0A948A-A7D6-4278-97BF-F101BFD0B366}"/>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22">
              <a:extLst>
                <a:ext uri="{FF2B5EF4-FFF2-40B4-BE49-F238E27FC236}">
                  <a16:creationId xmlns:a16="http://schemas.microsoft.com/office/drawing/2014/main" id="{DC614584-067F-48D2-931A-6CE53105F005}"/>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23">
              <a:extLst>
                <a:ext uri="{FF2B5EF4-FFF2-40B4-BE49-F238E27FC236}">
                  <a16:creationId xmlns:a16="http://schemas.microsoft.com/office/drawing/2014/main" id="{244320B8-5691-4A92-B2D2-5BCE1D98EA00}"/>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24">
              <a:extLst>
                <a:ext uri="{FF2B5EF4-FFF2-40B4-BE49-F238E27FC236}">
                  <a16:creationId xmlns:a16="http://schemas.microsoft.com/office/drawing/2014/main" id="{EF78F9E3-1F79-4E42-AAC8-E4DB818FEE8B}"/>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p:sp>
        <p:nvSpPr>
          <p:cNvPr id="3" name="文本框 2"/>
          <p:cNvSpPr txBox="1"/>
          <p:nvPr/>
        </p:nvSpPr>
        <p:spPr>
          <a:xfrm>
            <a:off x="534498" y="812740"/>
            <a:ext cx="6581819" cy="5909310"/>
          </a:xfrm>
          <a:prstGeom prst="rect">
            <a:avLst/>
          </a:prstGeom>
          <a:noFill/>
        </p:spPr>
        <p:txBody>
          <a:bodyPr wrap="square" rtlCol="0">
            <a:spAutoFit/>
          </a:bodyPr>
          <a:lstStyle/>
          <a:p>
            <a:r>
              <a:rPr lang="en-US" altLang="zh-CN" dirty="0">
                <a:solidFill>
                  <a:srgbClr val="7030A0"/>
                </a:solidFill>
              </a:rPr>
              <a:t>※</a:t>
            </a:r>
            <a:r>
              <a:rPr lang="zh-CN" altLang="en-US" dirty="0">
                <a:solidFill>
                  <a:srgbClr val="353535"/>
                </a:solidFill>
              </a:rPr>
              <a:t>皮凯蒂的</a:t>
            </a:r>
            <a:r>
              <a:rPr lang="zh-CN" altLang="en-US" dirty="0">
                <a:solidFill>
                  <a:srgbClr val="7030A0"/>
                </a:solidFill>
              </a:rPr>
              <a:t>“</a:t>
            </a:r>
            <a:r>
              <a:rPr lang="zh-CN" altLang="en-US" dirty="0">
                <a:solidFill>
                  <a:srgbClr val="353535"/>
                </a:solidFill>
              </a:rPr>
              <a:t>资本第二定律“</a:t>
            </a:r>
            <a:endParaRPr lang="en-US" altLang="zh-CN" dirty="0">
              <a:solidFill>
                <a:srgbClr val="353535"/>
              </a:solidFill>
            </a:endParaRPr>
          </a:p>
          <a:p>
            <a:r>
              <a:rPr lang="zh-CN" altLang="en-US" dirty="0"/>
              <a:t>从长期来看，资本</a:t>
            </a:r>
            <a:r>
              <a:rPr lang="en-US" altLang="zh-CN" dirty="0"/>
              <a:t>/</a:t>
            </a:r>
            <a:r>
              <a:rPr lang="zh-CN" altLang="en-US" dirty="0"/>
              <a:t>收入</a:t>
            </a:r>
            <a:r>
              <a:rPr lang="el-GR" altLang="zh-CN" dirty="0"/>
              <a:t>β</a:t>
            </a:r>
            <a:r>
              <a:rPr lang="zh-CN" altLang="en-US" dirty="0"/>
              <a:t>与储蓄率</a:t>
            </a:r>
            <a:r>
              <a:rPr lang="en-US" altLang="zh-CN" dirty="0"/>
              <a:t>s </a:t>
            </a:r>
            <a:r>
              <a:rPr lang="zh-CN" altLang="en-US" dirty="0"/>
              <a:t>及增长率</a:t>
            </a:r>
            <a:r>
              <a:rPr lang="en-US" altLang="zh-CN" dirty="0"/>
              <a:t>g</a:t>
            </a:r>
            <a:r>
              <a:rPr lang="zh-CN" altLang="en-US" dirty="0"/>
              <a:t>有着如下公式所描述的简单明了的关系</a:t>
            </a:r>
            <a:r>
              <a:rPr lang="en-US" altLang="zh-CN" dirty="0"/>
              <a:t>:</a:t>
            </a:r>
            <a:endParaRPr lang="en-US" altLang="zh-CN" dirty="0">
              <a:solidFill>
                <a:srgbClr val="353535"/>
              </a:solidFill>
            </a:endParaRPr>
          </a:p>
          <a:p>
            <a:pPr algn="ctr"/>
            <a:r>
              <a:rPr lang="el-GR" altLang="zh-CN" dirty="0"/>
              <a:t>β = </a:t>
            </a:r>
            <a:r>
              <a:rPr lang="en-US" altLang="zh-CN" i="1" dirty="0"/>
              <a:t>s</a:t>
            </a:r>
            <a:r>
              <a:rPr lang="en-US" altLang="zh-CN" dirty="0"/>
              <a:t>/</a:t>
            </a:r>
            <a:r>
              <a:rPr lang="en-US" altLang="zh-CN" i="1" dirty="0" err="1"/>
              <a:t>g</a:t>
            </a:r>
            <a:r>
              <a:rPr lang="en-US" altLang="zh-CN" baseline="-25000" dirty="0" err="1"/>
              <a:t>R</a:t>
            </a:r>
            <a:endParaRPr lang="en-US" altLang="zh-CN" dirty="0"/>
          </a:p>
          <a:p>
            <a:r>
              <a:rPr lang="zh-CN" altLang="en-US" dirty="0">
                <a:solidFill>
                  <a:srgbClr val="353535"/>
                </a:solidFill>
              </a:rPr>
              <a:t>表面涵义：储蓄较多而增长缓慢的国家将在长期中积累起更大数量的资本</a:t>
            </a:r>
            <a:r>
              <a:rPr lang="en-US" altLang="zh-CN" dirty="0">
                <a:solidFill>
                  <a:srgbClr val="353535"/>
                </a:solidFill>
              </a:rPr>
              <a:t>(</a:t>
            </a:r>
            <a:r>
              <a:rPr lang="zh-CN" altLang="en-US" dirty="0">
                <a:solidFill>
                  <a:srgbClr val="353535"/>
                </a:solidFill>
              </a:rPr>
              <a:t>相对于收人而言</a:t>
            </a:r>
            <a:r>
              <a:rPr lang="en-US" altLang="zh-CN" dirty="0">
                <a:solidFill>
                  <a:srgbClr val="353535"/>
                </a:solidFill>
              </a:rPr>
              <a:t>) </a:t>
            </a:r>
            <a:r>
              <a:rPr lang="zh-CN" altLang="en-US" dirty="0">
                <a:solidFill>
                  <a:srgbClr val="353535"/>
                </a:solidFill>
              </a:rPr>
              <a:t>，而巨额资本反过来会对社会结构和财富分配产生重大影响。</a:t>
            </a:r>
            <a:endParaRPr lang="en-US" altLang="zh-CN" dirty="0">
              <a:solidFill>
                <a:srgbClr val="353535"/>
              </a:solidFill>
            </a:endParaRPr>
          </a:p>
          <a:p>
            <a:r>
              <a:rPr lang="zh-CN" altLang="en-US" dirty="0">
                <a:solidFill>
                  <a:srgbClr val="353535"/>
                </a:solidFill>
              </a:rPr>
              <a:t>在增长接近停滞的社会里，过去积累的财富将不可避免</a:t>
            </a:r>
          </a:p>
          <a:p>
            <a:r>
              <a:rPr lang="zh-CN" altLang="en-US" dirty="0">
                <a:solidFill>
                  <a:srgbClr val="353535"/>
                </a:solidFill>
              </a:rPr>
              <a:t>地获得超出与其实际重要性相匹配的地位。</a:t>
            </a:r>
            <a:endParaRPr lang="en-US" altLang="zh-CN" dirty="0">
              <a:solidFill>
                <a:srgbClr val="353535"/>
              </a:solidFill>
            </a:endParaRPr>
          </a:p>
          <a:p>
            <a:endParaRPr lang="en-US" altLang="zh-CN" dirty="0">
              <a:solidFill>
                <a:srgbClr val="353535"/>
              </a:solidFill>
            </a:endParaRPr>
          </a:p>
          <a:p>
            <a:r>
              <a:rPr lang="zh-CN" altLang="en-US" dirty="0">
                <a:solidFill>
                  <a:srgbClr val="353535"/>
                </a:solidFill>
              </a:rPr>
              <a:t>真实涵义：资本主义在长期是稳定的（精彩之处在此！）</a:t>
            </a:r>
            <a:endParaRPr lang="en-US" altLang="zh-CN" dirty="0">
              <a:solidFill>
                <a:srgbClr val="353535"/>
              </a:solidFill>
            </a:endParaRPr>
          </a:p>
          <a:p>
            <a:endParaRPr lang="en-US" altLang="zh-CN" dirty="0">
              <a:solidFill>
                <a:srgbClr val="353535"/>
              </a:solidFill>
            </a:endParaRPr>
          </a:p>
          <a:p>
            <a:r>
              <a:rPr lang="en-US" altLang="zh-CN" dirty="0">
                <a:solidFill>
                  <a:srgbClr val="7030A0"/>
                </a:solidFill>
              </a:rPr>
              <a:t>※</a:t>
            </a:r>
            <a:r>
              <a:rPr lang="zh-CN" altLang="en-US" dirty="0">
                <a:solidFill>
                  <a:srgbClr val="353535"/>
                </a:solidFill>
              </a:rPr>
              <a:t>第二定律的检验</a:t>
            </a:r>
            <a:endParaRPr lang="en-US" altLang="zh-CN" dirty="0">
              <a:solidFill>
                <a:srgbClr val="353535"/>
              </a:solidFill>
            </a:endParaRPr>
          </a:p>
          <a:p>
            <a:r>
              <a:rPr lang="zh-CN" altLang="en-US" dirty="0">
                <a:solidFill>
                  <a:srgbClr val="353535"/>
                </a:solidFill>
              </a:rPr>
              <a:t>皮凯蒂强调：</a:t>
            </a:r>
            <a:r>
              <a:rPr lang="zh-CN" altLang="en-US" dirty="0"/>
              <a:t>渐进式定律</a:t>
            </a:r>
            <a:endParaRPr lang="en-US" altLang="zh-CN" dirty="0">
              <a:solidFill>
                <a:srgbClr val="353535"/>
              </a:solidFill>
            </a:endParaRPr>
          </a:p>
          <a:p>
            <a:r>
              <a:rPr lang="zh-CN" altLang="en-US" dirty="0">
                <a:solidFill>
                  <a:srgbClr val="353535"/>
                </a:solidFill>
              </a:rPr>
              <a:t>渐进式定律就用渐进统计检验</a:t>
            </a:r>
            <a:r>
              <a:rPr lang="en-US" altLang="zh-CN" dirty="0">
                <a:solidFill>
                  <a:srgbClr val="353535"/>
                </a:solidFill>
              </a:rPr>
              <a:t>,</a:t>
            </a:r>
            <a:r>
              <a:rPr lang="zh-CN" altLang="en-US" dirty="0">
                <a:solidFill>
                  <a:srgbClr val="353535"/>
                </a:solidFill>
              </a:rPr>
              <a:t>统计学上证明两个时间序列是渐近收敛的，使用“协整”这一概念（</a:t>
            </a:r>
            <a:r>
              <a:rPr lang="en-US" altLang="zh-CN" dirty="0" err="1">
                <a:solidFill>
                  <a:srgbClr val="353535"/>
                </a:solidFill>
              </a:rPr>
              <a:t>cointegration</a:t>
            </a:r>
            <a:r>
              <a:rPr lang="zh-CN" altLang="en-US" dirty="0">
                <a:solidFill>
                  <a:srgbClr val="353535"/>
                </a:solidFill>
              </a:rPr>
              <a:t>）</a:t>
            </a:r>
            <a:endParaRPr lang="en-US" altLang="zh-CN" dirty="0">
              <a:solidFill>
                <a:srgbClr val="353535"/>
              </a:solidFill>
            </a:endParaRPr>
          </a:p>
          <a:p>
            <a:endParaRPr lang="en-US" altLang="zh-CN" dirty="0"/>
          </a:p>
          <a:p>
            <a:r>
              <a:rPr lang="en-US" altLang="zh-CN" dirty="0"/>
              <a:t>Engle-Granger (1987) univariate approach</a:t>
            </a:r>
          </a:p>
          <a:p>
            <a:r>
              <a:rPr lang="en-US" altLang="zh-CN" dirty="0"/>
              <a:t>Johansen (1988) multivariate approach</a:t>
            </a:r>
          </a:p>
          <a:p>
            <a:r>
              <a:rPr lang="zh-CN" altLang="en-US" dirty="0"/>
              <a:t>结论：资本第二定律不成立（越长的移动平均，越倾向于拒绝第二定律）</a:t>
            </a:r>
            <a:endParaRPr lang="en-US" altLang="zh-CN" dirty="0"/>
          </a:p>
        </p:txBody>
      </p:sp>
      <p:pic>
        <p:nvPicPr>
          <p:cNvPr id="2" name="图片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116317" y="1672987"/>
            <a:ext cx="4717657" cy="2662280"/>
          </a:xfrm>
          <a:prstGeom prst="rect">
            <a:avLst/>
          </a:prstGeom>
        </p:spPr>
      </p:pic>
      <p:sp>
        <p:nvSpPr>
          <p:cNvPr id="5" name="矩形 4"/>
          <p:cNvSpPr/>
          <p:nvPr/>
        </p:nvSpPr>
        <p:spPr>
          <a:xfrm>
            <a:off x="7116317" y="797201"/>
            <a:ext cx="5118342" cy="646331"/>
          </a:xfrm>
          <a:prstGeom prst="rect">
            <a:avLst/>
          </a:prstGeom>
        </p:spPr>
        <p:txBody>
          <a:bodyPr wrap="square">
            <a:spAutoFit/>
          </a:bodyPr>
          <a:lstStyle/>
          <a:p>
            <a:r>
              <a:rPr lang="en-US" altLang="zh-CN" dirty="0">
                <a:solidFill>
                  <a:srgbClr val="737373"/>
                </a:solidFill>
                <a:latin typeface="Arial" panose="020B0604020202020204" pitchFamily="34" charset="0"/>
              </a:rPr>
              <a:t>Fig. 4. Coefficient of capital and ratio savings rate to income growth: China, 1953–2015.</a:t>
            </a:r>
            <a:endParaRPr lang="zh-CN" altLang="en-US" dirty="0"/>
          </a:p>
        </p:txBody>
      </p:sp>
    </p:spTree>
    <p:extLst>
      <p:ext uri="{BB962C8B-B14F-4D97-AF65-F5344CB8AC3E}">
        <p14:creationId xmlns:p14="http://schemas.microsoft.com/office/powerpoint/2010/main" val="2514989353"/>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952E7725-3096-4969-8619-BFD45072AD94}"/>
              </a:ext>
            </a:extLst>
          </p:cNvPr>
          <p:cNvSpPr txBox="1"/>
          <p:nvPr/>
        </p:nvSpPr>
        <p:spPr>
          <a:xfrm>
            <a:off x="534498" y="304741"/>
            <a:ext cx="4684047" cy="400110"/>
          </a:xfrm>
          <a:prstGeom prst="rect">
            <a:avLst/>
          </a:prstGeom>
          <a:solidFill>
            <a:srgbClr val="7F2C8B"/>
          </a:solidFill>
        </p:spPr>
        <p:txBody>
          <a:bodyPr wrap="square" rtlCol="0">
            <a:spAutoFit/>
          </a:bodyPr>
          <a:lstStyle/>
          <a:p>
            <a:pPr lvl="0" defTabSz="914377">
              <a:defRPr/>
            </a:pPr>
            <a:r>
              <a:rPr lang="zh-CN" altLang="en-US" sz="2000" dirty="0">
                <a:solidFill>
                  <a:schemeClr val="bg1"/>
                </a:solidFill>
                <a:latin typeface="微软雅黑 Light" panose="020B0502040204020203" pitchFamily="34" charset="-122"/>
                <a:ea typeface="微软雅黑 Light" panose="020B0502040204020203" pitchFamily="34" charset="-122"/>
              </a:rPr>
              <a:t>中国收入分配</a:t>
            </a:r>
            <a:r>
              <a:rPr lang="en-US" altLang="zh-CN" sz="2000" dirty="0">
                <a:solidFill>
                  <a:schemeClr val="bg1"/>
                </a:solidFill>
                <a:latin typeface="微软雅黑 Light" panose="020B0502040204020203" pitchFamily="34" charset="-122"/>
                <a:ea typeface="微软雅黑 Light" panose="020B0502040204020203" pitchFamily="34" charset="-122"/>
              </a:rPr>
              <a:t>-</a:t>
            </a:r>
            <a:r>
              <a:rPr lang="zh-CN" altLang="en-US" sz="2000" dirty="0">
                <a:solidFill>
                  <a:schemeClr val="bg1"/>
                </a:solidFill>
                <a:latin typeface="微软雅黑 Light" panose="020B0502040204020203" pitchFamily="34" charset="-122"/>
                <a:ea typeface="微软雅黑 Light" panose="020B0502040204020203" pitchFamily="34" charset="-122"/>
              </a:rPr>
              <a:t>不平等状况和继承问题</a:t>
            </a:r>
          </a:p>
        </p:txBody>
      </p:sp>
      <p:grpSp>
        <p:nvGrpSpPr>
          <p:cNvPr id="22" name="组合 21">
            <a:extLst>
              <a:ext uri="{FF2B5EF4-FFF2-40B4-BE49-F238E27FC236}">
                <a16:creationId xmlns:a16="http://schemas.microsoft.com/office/drawing/2014/main" id="{DFC37A35-D357-4CEE-9C28-5EABD3D35C6B}"/>
              </a:ext>
            </a:extLst>
          </p:cNvPr>
          <p:cNvGrpSpPr/>
          <p:nvPr/>
        </p:nvGrpSpPr>
        <p:grpSpPr>
          <a:xfrm>
            <a:off x="10735556" y="314266"/>
            <a:ext cx="1180589" cy="400111"/>
            <a:chOff x="624303" y="901700"/>
            <a:chExt cx="10005598" cy="3390977"/>
          </a:xfrm>
          <a:solidFill>
            <a:srgbClr val="7F2C8B"/>
          </a:solidFill>
        </p:grpSpPr>
        <p:sp>
          <p:nvSpPr>
            <p:cNvPr id="23" name="Freeform 5">
              <a:extLst>
                <a:ext uri="{FF2B5EF4-FFF2-40B4-BE49-F238E27FC236}">
                  <a16:creationId xmlns:a16="http://schemas.microsoft.com/office/drawing/2014/main" id="{0ACD2635-3EA4-461E-AE91-2E7358FA9FA0}"/>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4" name="Freeform 6">
              <a:extLst>
                <a:ext uri="{FF2B5EF4-FFF2-40B4-BE49-F238E27FC236}">
                  <a16:creationId xmlns:a16="http://schemas.microsoft.com/office/drawing/2014/main" id="{70354051-F1E2-4393-ABA2-AEB53FF0D08B}"/>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5" name="Freeform 7">
              <a:extLst>
                <a:ext uri="{FF2B5EF4-FFF2-40B4-BE49-F238E27FC236}">
                  <a16:creationId xmlns:a16="http://schemas.microsoft.com/office/drawing/2014/main" id="{5FFB1BFD-2D76-4EE4-9741-31F528BE757A}"/>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6" name="Freeform 8">
              <a:extLst>
                <a:ext uri="{FF2B5EF4-FFF2-40B4-BE49-F238E27FC236}">
                  <a16:creationId xmlns:a16="http://schemas.microsoft.com/office/drawing/2014/main" id="{1EFFAA81-03B5-4C66-939C-6BBDC7932C18}"/>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7" name="Freeform 9">
              <a:extLst>
                <a:ext uri="{FF2B5EF4-FFF2-40B4-BE49-F238E27FC236}">
                  <a16:creationId xmlns:a16="http://schemas.microsoft.com/office/drawing/2014/main" id="{35B0FA74-D77A-4B32-A41D-5E20B596D219}"/>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8" name="Freeform 10">
              <a:extLst>
                <a:ext uri="{FF2B5EF4-FFF2-40B4-BE49-F238E27FC236}">
                  <a16:creationId xmlns:a16="http://schemas.microsoft.com/office/drawing/2014/main" id="{F5FC7059-5FB3-4ADB-BA26-84EF705B3174}"/>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9" name="Freeform 11">
              <a:extLst>
                <a:ext uri="{FF2B5EF4-FFF2-40B4-BE49-F238E27FC236}">
                  <a16:creationId xmlns:a16="http://schemas.microsoft.com/office/drawing/2014/main" id="{937241A3-85EE-47AC-8B4A-B01E8B1B0812}"/>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0" name="Freeform 12">
              <a:extLst>
                <a:ext uri="{FF2B5EF4-FFF2-40B4-BE49-F238E27FC236}">
                  <a16:creationId xmlns:a16="http://schemas.microsoft.com/office/drawing/2014/main" id="{99EA3DC5-4FB4-48DC-9AA6-2E2F76C34725}"/>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1" name="Freeform 13">
              <a:extLst>
                <a:ext uri="{FF2B5EF4-FFF2-40B4-BE49-F238E27FC236}">
                  <a16:creationId xmlns:a16="http://schemas.microsoft.com/office/drawing/2014/main" id="{F7187B32-A15A-480D-849D-33EF28B75687}"/>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2" name="Freeform 14">
              <a:extLst>
                <a:ext uri="{FF2B5EF4-FFF2-40B4-BE49-F238E27FC236}">
                  <a16:creationId xmlns:a16="http://schemas.microsoft.com/office/drawing/2014/main" id="{AA5721AD-3E61-4D99-A2D8-A261E897EBAC}"/>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3" name="Freeform 15">
              <a:extLst>
                <a:ext uri="{FF2B5EF4-FFF2-40B4-BE49-F238E27FC236}">
                  <a16:creationId xmlns:a16="http://schemas.microsoft.com/office/drawing/2014/main" id="{EF703E7A-053E-4111-945E-2E43B9CC9ECE}"/>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4" name="Freeform 16">
              <a:extLst>
                <a:ext uri="{FF2B5EF4-FFF2-40B4-BE49-F238E27FC236}">
                  <a16:creationId xmlns:a16="http://schemas.microsoft.com/office/drawing/2014/main" id="{01BF6BE1-5CCD-4A5F-8AFA-EF1359F1D3F2}"/>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5" name="Freeform 17">
              <a:extLst>
                <a:ext uri="{FF2B5EF4-FFF2-40B4-BE49-F238E27FC236}">
                  <a16:creationId xmlns:a16="http://schemas.microsoft.com/office/drawing/2014/main" id="{295417E9-A0A1-4465-9436-76253B18BAD3}"/>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18">
              <a:extLst>
                <a:ext uri="{FF2B5EF4-FFF2-40B4-BE49-F238E27FC236}">
                  <a16:creationId xmlns:a16="http://schemas.microsoft.com/office/drawing/2014/main" id="{009C6FB2-A1BB-4F44-87AF-D874D67D737B}"/>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19">
              <a:extLst>
                <a:ext uri="{FF2B5EF4-FFF2-40B4-BE49-F238E27FC236}">
                  <a16:creationId xmlns:a16="http://schemas.microsoft.com/office/drawing/2014/main" id="{65203D5E-987A-4E4E-B0C9-FAC54EDFF054}"/>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20">
              <a:extLst>
                <a:ext uri="{FF2B5EF4-FFF2-40B4-BE49-F238E27FC236}">
                  <a16:creationId xmlns:a16="http://schemas.microsoft.com/office/drawing/2014/main" id="{F0367FE4-2904-433D-8E0F-42933CAA638D}"/>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21">
              <a:extLst>
                <a:ext uri="{FF2B5EF4-FFF2-40B4-BE49-F238E27FC236}">
                  <a16:creationId xmlns:a16="http://schemas.microsoft.com/office/drawing/2014/main" id="{7A0A948A-A7D6-4278-97BF-F101BFD0B366}"/>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22">
              <a:extLst>
                <a:ext uri="{FF2B5EF4-FFF2-40B4-BE49-F238E27FC236}">
                  <a16:creationId xmlns:a16="http://schemas.microsoft.com/office/drawing/2014/main" id="{DC614584-067F-48D2-931A-6CE53105F005}"/>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23">
              <a:extLst>
                <a:ext uri="{FF2B5EF4-FFF2-40B4-BE49-F238E27FC236}">
                  <a16:creationId xmlns:a16="http://schemas.microsoft.com/office/drawing/2014/main" id="{244320B8-5691-4A92-B2D2-5BCE1D98EA00}"/>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24">
              <a:extLst>
                <a:ext uri="{FF2B5EF4-FFF2-40B4-BE49-F238E27FC236}">
                  <a16:creationId xmlns:a16="http://schemas.microsoft.com/office/drawing/2014/main" id="{EF78F9E3-1F79-4E42-AAC8-E4DB818FEE8B}"/>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p:sp>
        <p:nvSpPr>
          <p:cNvPr id="3" name="文本框 2"/>
          <p:cNvSpPr txBox="1"/>
          <p:nvPr/>
        </p:nvSpPr>
        <p:spPr>
          <a:xfrm>
            <a:off x="534498" y="714377"/>
            <a:ext cx="6706811" cy="6186309"/>
          </a:xfrm>
          <a:prstGeom prst="rect">
            <a:avLst/>
          </a:prstGeom>
          <a:noFill/>
        </p:spPr>
        <p:txBody>
          <a:bodyPr wrap="square" rtlCol="0">
            <a:spAutoFit/>
          </a:bodyPr>
          <a:lstStyle/>
          <a:p>
            <a:r>
              <a:rPr lang="en-US" altLang="zh-CN" dirty="0">
                <a:solidFill>
                  <a:srgbClr val="7030A0"/>
                </a:solidFill>
              </a:rPr>
              <a:t>※</a:t>
            </a:r>
            <a:r>
              <a:rPr lang="en-US" altLang="zh-CN" dirty="0">
                <a:solidFill>
                  <a:srgbClr val="353535"/>
                </a:solidFill>
              </a:rPr>
              <a:t>2003</a:t>
            </a:r>
            <a:r>
              <a:rPr lang="zh-CN" altLang="en-US" dirty="0">
                <a:solidFill>
                  <a:srgbClr val="353535"/>
                </a:solidFill>
              </a:rPr>
              <a:t>年起，中国基尼系数超过警戒线</a:t>
            </a:r>
            <a:r>
              <a:rPr lang="en-US" altLang="zh-CN" dirty="0">
                <a:solidFill>
                  <a:srgbClr val="353535"/>
                </a:solidFill>
              </a:rPr>
              <a:t>0.4</a:t>
            </a:r>
            <a:r>
              <a:rPr lang="zh-CN" altLang="en-US" dirty="0">
                <a:solidFill>
                  <a:srgbClr val="353535"/>
                </a:solidFill>
              </a:rPr>
              <a:t>，国家统计局不再发布基尼系数</a:t>
            </a:r>
            <a:endParaRPr lang="en-US" altLang="zh-CN" dirty="0">
              <a:solidFill>
                <a:srgbClr val="353535"/>
              </a:solidFill>
            </a:endParaRPr>
          </a:p>
          <a:p>
            <a:endParaRPr lang="en-US" altLang="zh-CN" dirty="0">
              <a:solidFill>
                <a:srgbClr val="7030A0"/>
              </a:solidFill>
            </a:endParaRPr>
          </a:p>
          <a:p>
            <a:r>
              <a:rPr lang="en-US" altLang="zh-CN" dirty="0">
                <a:solidFill>
                  <a:srgbClr val="7030A0"/>
                </a:solidFill>
              </a:rPr>
              <a:t>※ </a:t>
            </a:r>
            <a:r>
              <a:rPr lang="en-US" altLang="zh-CN" dirty="0">
                <a:solidFill>
                  <a:srgbClr val="353535"/>
                </a:solidFill>
              </a:rPr>
              <a:t>2013</a:t>
            </a:r>
            <a:r>
              <a:rPr lang="zh-CN" altLang="en-US" dirty="0">
                <a:solidFill>
                  <a:srgbClr val="353535"/>
                </a:solidFill>
              </a:rPr>
              <a:t>年，国家统计局重新发布基尼系数</a:t>
            </a:r>
            <a:endParaRPr lang="en-US" altLang="zh-CN" dirty="0">
              <a:solidFill>
                <a:srgbClr val="353535"/>
              </a:solidFill>
            </a:endParaRPr>
          </a:p>
          <a:p>
            <a:r>
              <a:rPr lang="en-US" altLang="zh-CN" dirty="0"/>
              <a:t>2008</a:t>
            </a:r>
            <a:r>
              <a:rPr lang="zh-CN" altLang="en-US" dirty="0"/>
              <a:t>年基尼系数达到最高的</a:t>
            </a:r>
            <a:r>
              <a:rPr lang="en-US" altLang="zh-CN" dirty="0"/>
              <a:t>0.491</a:t>
            </a:r>
            <a:r>
              <a:rPr lang="zh-CN" altLang="en-US" dirty="0"/>
              <a:t>后，开始逐步回落</a:t>
            </a:r>
            <a:endParaRPr lang="en-US" altLang="zh-CN" dirty="0"/>
          </a:p>
          <a:p>
            <a:r>
              <a:rPr lang="en-US" altLang="zh-CN" dirty="0"/>
              <a:t>2022</a:t>
            </a:r>
            <a:r>
              <a:rPr lang="zh-CN" altLang="en-US" dirty="0"/>
              <a:t>年（居民人均可支配收入基尼系数）：</a:t>
            </a:r>
            <a:r>
              <a:rPr lang="en-US" altLang="zh-CN" dirty="0"/>
              <a:t>0.474</a:t>
            </a:r>
          </a:p>
          <a:p>
            <a:endParaRPr lang="en-US" altLang="zh-CN" dirty="0">
              <a:solidFill>
                <a:srgbClr val="353535"/>
              </a:solidFill>
            </a:endParaRPr>
          </a:p>
          <a:p>
            <a:r>
              <a:rPr lang="zh-CN" altLang="en-US" dirty="0">
                <a:solidFill>
                  <a:srgbClr val="353535"/>
                </a:solidFill>
              </a:rPr>
              <a:t>国家统计局不公布</a:t>
            </a:r>
            <a:r>
              <a:rPr lang="en-US" altLang="zh-CN" dirty="0">
                <a:solidFill>
                  <a:srgbClr val="353535"/>
                </a:solidFill>
              </a:rPr>
              <a:t>1978</a:t>
            </a:r>
            <a:r>
              <a:rPr lang="zh-CN" altLang="en-US" dirty="0">
                <a:solidFill>
                  <a:srgbClr val="353535"/>
                </a:solidFill>
              </a:rPr>
              <a:t>年以前的基尼系数，不公布</a:t>
            </a:r>
            <a:r>
              <a:rPr lang="en-US" altLang="zh-CN" dirty="0">
                <a:solidFill>
                  <a:srgbClr val="353535"/>
                </a:solidFill>
              </a:rPr>
              <a:t>2000</a:t>
            </a:r>
            <a:r>
              <a:rPr lang="zh-CN" altLang="en-US" dirty="0">
                <a:solidFill>
                  <a:srgbClr val="353535"/>
                </a:solidFill>
              </a:rPr>
              <a:t>年以前的全国基尼系数，而是分城乡的基尼系数</a:t>
            </a:r>
            <a:endParaRPr lang="en-US" altLang="zh-CN" dirty="0">
              <a:solidFill>
                <a:srgbClr val="353535"/>
              </a:solidFill>
            </a:endParaRPr>
          </a:p>
          <a:p>
            <a:endParaRPr lang="en-US" altLang="zh-CN" dirty="0">
              <a:solidFill>
                <a:srgbClr val="353535"/>
              </a:solidFill>
            </a:endParaRPr>
          </a:p>
          <a:p>
            <a:r>
              <a:rPr lang="en-US" altLang="zh-CN" dirty="0">
                <a:solidFill>
                  <a:srgbClr val="7030A0"/>
                </a:solidFill>
              </a:rPr>
              <a:t>※</a:t>
            </a:r>
            <a:r>
              <a:rPr lang="zh-CN" altLang="en-US" dirty="0">
                <a:solidFill>
                  <a:srgbClr val="353535"/>
                </a:solidFill>
              </a:rPr>
              <a:t>厉以宁（</a:t>
            </a:r>
            <a:r>
              <a:rPr lang="en-US" altLang="zh-CN" dirty="0">
                <a:solidFill>
                  <a:srgbClr val="353535"/>
                </a:solidFill>
              </a:rPr>
              <a:t>2002</a:t>
            </a:r>
            <a:r>
              <a:rPr lang="zh-CN" altLang="en-US" dirty="0">
                <a:solidFill>
                  <a:srgbClr val="353535"/>
                </a:solidFill>
              </a:rPr>
              <a:t>）的建议和张维为的观点</a:t>
            </a:r>
            <a:r>
              <a:rPr lang="zh-CN" altLang="en-US" dirty="0"/>
              <a:t>。</a:t>
            </a:r>
            <a:endParaRPr lang="en-US" altLang="zh-CN" dirty="0">
              <a:solidFill>
                <a:srgbClr val="353535"/>
              </a:solidFill>
            </a:endParaRPr>
          </a:p>
          <a:p>
            <a:endParaRPr lang="en-US" altLang="zh-CN" dirty="0">
              <a:solidFill>
                <a:srgbClr val="353535"/>
              </a:solidFill>
            </a:endParaRPr>
          </a:p>
          <a:p>
            <a:r>
              <a:rPr lang="zh-CN" altLang="en-US" dirty="0">
                <a:solidFill>
                  <a:srgbClr val="353535"/>
                </a:solidFill>
              </a:rPr>
              <a:t>布吉尼翁（</a:t>
            </a:r>
            <a:r>
              <a:rPr lang="en-US" altLang="zh-CN" dirty="0">
                <a:solidFill>
                  <a:srgbClr val="353535"/>
                </a:solidFill>
              </a:rPr>
              <a:t>1979</a:t>
            </a:r>
            <a:r>
              <a:rPr lang="zh-CN" altLang="en-US" dirty="0">
                <a:solidFill>
                  <a:srgbClr val="353535"/>
                </a:solidFill>
              </a:rPr>
              <a:t>）：基尼系数不具备加权平均的数学性质</a:t>
            </a:r>
            <a:endParaRPr lang="en-US" altLang="zh-CN" dirty="0">
              <a:solidFill>
                <a:srgbClr val="353535"/>
              </a:solidFill>
            </a:endParaRPr>
          </a:p>
          <a:p>
            <a:endParaRPr lang="en-US" altLang="zh-CN" dirty="0">
              <a:solidFill>
                <a:srgbClr val="7030A0"/>
              </a:solidFill>
            </a:endParaRPr>
          </a:p>
          <a:p>
            <a:r>
              <a:rPr lang="en-US" altLang="zh-CN" dirty="0">
                <a:solidFill>
                  <a:srgbClr val="7030A0"/>
                </a:solidFill>
              </a:rPr>
              <a:t>※</a:t>
            </a:r>
            <a:r>
              <a:rPr lang="zh-CN" altLang="en-US" dirty="0">
                <a:solidFill>
                  <a:srgbClr val="353535"/>
                </a:solidFill>
              </a:rPr>
              <a:t>国家统计局从</a:t>
            </a:r>
            <a:r>
              <a:rPr lang="en-US" altLang="zh-CN" dirty="0">
                <a:solidFill>
                  <a:srgbClr val="353535"/>
                </a:solidFill>
              </a:rPr>
              <a:t>1957</a:t>
            </a:r>
            <a:r>
              <a:rPr lang="zh-CN" altLang="en-US" dirty="0">
                <a:solidFill>
                  <a:srgbClr val="353535"/>
                </a:solidFill>
              </a:rPr>
              <a:t>年起就有农村和城市的住户调查，其实有充分的数据计算中国的不平等状况。</a:t>
            </a:r>
            <a:endParaRPr lang="en-US" altLang="zh-CN" dirty="0">
              <a:solidFill>
                <a:srgbClr val="353535"/>
              </a:solidFill>
            </a:endParaRPr>
          </a:p>
          <a:p>
            <a:endParaRPr lang="en-US" altLang="zh-CN" dirty="0">
              <a:solidFill>
                <a:srgbClr val="7030A0"/>
              </a:solidFill>
            </a:endParaRPr>
          </a:p>
          <a:p>
            <a:r>
              <a:rPr lang="en-US" altLang="zh-CN" dirty="0">
                <a:solidFill>
                  <a:srgbClr val="7030A0"/>
                </a:solidFill>
              </a:rPr>
              <a:t>※</a:t>
            </a:r>
            <a:r>
              <a:rPr lang="zh-CN" altLang="en-US" dirty="0">
                <a:solidFill>
                  <a:srgbClr val="353535"/>
                </a:solidFill>
              </a:rPr>
              <a:t>皮凯蒂的</a:t>
            </a:r>
            <a:r>
              <a:rPr lang="zh-CN" altLang="en-US" dirty="0">
                <a:solidFill>
                  <a:srgbClr val="7030A0"/>
                </a:solidFill>
              </a:rPr>
              <a:t>“</a:t>
            </a:r>
            <a:r>
              <a:rPr lang="zh-CN" altLang="en-US" dirty="0">
                <a:solidFill>
                  <a:srgbClr val="353535"/>
                </a:solidFill>
              </a:rPr>
              <a:t>资本第三定律“：</a:t>
            </a:r>
            <a:r>
              <a:rPr lang="en-US" altLang="zh-CN" dirty="0"/>
              <a:t>by=</a:t>
            </a:r>
            <a:r>
              <a:rPr lang="el-GR" altLang="zh-CN" dirty="0"/>
              <a:t>μ</a:t>
            </a:r>
            <a:r>
              <a:rPr lang="en-US" altLang="zh-CN" dirty="0" err="1"/>
              <a:t>XmXß</a:t>
            </a:r>
            <a:endParaRPr lang="en-US" altLang="zh-CN" dirty="0">
              <a:solidFill>
                <a:srgbClr val="353535"/>
              </a:solidFill>
            </a:endParaRPr>
          </a:p>
          <a:p>
            <a:r>
              <a:rPr lang="zh-CN" altLang="en-US" dirty="0"/>
              <a:t>年度遗产和馈赠额</a:t>
            </a:r>
            <a:r>
              <a:rPr lang="en-US" altLang="zh-CN" dirty="0"/>
              <a:t>(</a:t>
            </a:r>
            <a:r>
              <a:rPr lang="zh-CN" altLang="en-US" dirty="0"/>
              <a:t>占国民收入的比重</a:t>
            </a:r>
            <a:r>
              <a:rPr lang="en-US" altLang="zh-CN" dirty="0"/>
              <a:t>by</a:t>
            </a:r>
            <a:r>
              <a:rPr lang="zh-CN" altLang="en-US" dirty="0"/>
              <a:t>）</a:t>
            </a:r>
            <a:r>
              <a:rPr lang="en-US" altLang="zh-CN" dirty="0"/>
              <a:t>m </a:t>
            </a:r>
            <a:r>
              <a:rPr lang="zh-CN" altLang="en-US" dirty="0"/>
              <a:t>代表死亡率，而</a:t>
            </a:r>
            <a:r>
              <a:rPr lang="el-GR" altLang="zh-CN" dirty="0"/>
              <a:t>μ</a:t>
            </a:r>
          </a:p>
          <a:p>
            <a:r>
              <a:rPr lang="zh-CN" altLang="en-US" dirty="0"/>
              <a:t>则是逝者死亡时的平均财富与在世者平均财富的比率。</a:t>
            </a:r>
            <a:endParaRPr lang="en-US" altLang="zh-CN" dirty="0"/>
          </a:p>
          <a:p>
            <a:endParaRPr lang="en-US" altLang="zh-CN" dirty="0">
              <a:solidFill>
                <a:srgbClr val="353535"/>
              </a:solidFill>
            </a:endParaRPr>
          </a:p>
          <a:p>
            <a:r>
              <a:rPr lang="en-US" altLang="zh-CN" dirty="0">
                <a:solidFill>
                  <a:srgbClr val="7030A0"/>
                </a:solidFill>
              </a:rPr>
              <a:t>※</a:t>
            </a:r>
            <a:r>
              <a:rPr lang="zh-CN" altLang="en-US" dirty="0">
                <a:solidFill>
                  <a:srgbClr val="353535"/>
                </a:solidFill>
              </a:rPr>
              <a:t>独生子女政策的历史影响</a:t>
            </a:r>
            <a:endParaRPr lang="en-US" altLang="zh-CN" dirty="0">
              <a:solidFill>
                <a:srgbClr val="353535"/>
              </a:solidFill>
            </a:endParaRPr>
          </a:p>
        </p:txBody>
      </p:sp>
      <p:graphicFrame>
        <p:nvGraphicFramePr>
          <p:cNvPr id="43" name="内容占位符 3"/>
          <p:cNvGraphicFramePr>
            <a:graphicFrameLocks/>
          </p:cNvGraphicFramePr>
          <p:nvPr>
            <p:extLst>
              <p:ext uri="{D42A27DB-BD31-4B8C-83A1-F6EECF244321}">
                <p14:modId xmlns:p14="http://schemas.microsoft.com/office/powerpoint/2010/main" val="1222438938"/>
              </p:ext>
            </p:extLst>
          </p:nvPr>
        </p:nvGraphicFramePr>
        <p:xfrm>
          <a:off x="7452182" y="895929"/>
          <a:ext cx="4334464" cy="2142836"/>
        </p:xfrm>
        <a:graphic>
          <a:graphicData uri="http://schemas.openxmlformats.org/drawingml/2006/chart">
            <c:chart xmlns:c="http://schemas.openxmlformats.org/drawingml/2006/chart" xmlns:r="http://schemas.openxmlformats.org/officeDocument/2006/relationships" r:id="rId3"/>
          </a:graphicData>
        </a:graphic>
      </p:graphicFrame>
      <p:pic>
        <p:nvPicPr>
          <p:cNvPr id="7" name="图片 6"/>
          <p:cNvPicPr>
            <a:picLocks noChangeAspect="1"/>
          </p:cNvPicPr>
          <p:nvPr/>
        </p:nvPicPr>
        <p:blipFill>
          <a:blip r:embed="rId4"/>
          <a:stretch>
            <a:fillRect/>
          </a:stretch>
        </p:blipFill>
        <p:spPr>
          <a:xfrm>
            <a:off x="7167323" y="3366947"/>
            <a:ext cx="4639358" cy="3333746"/>
          </a:xfrm>
          <a:prstGeom prst="rect">
            <a:avLst/>
          </a:prstGeom>
        </p:spPr>
      </p:pic>
      <p:sp>
        <p:nvSpPr>
          <p:cNvPr id="2" name="文本框 1"/>
          <p:cNvSpPr txBox="1"/>
          <p:nvPr/>
        </p:nvSpPr>
        <p:spPr>
          <a:xfrm>
            <a:off x="8717872" y="3045365"/>
            <a:ext cx="3296069" cy="276999"/>
          </a:xfrm>
          <a:prstGeom prst="rect">
            <a:avLst/>
          </a:prstGeom>
          <a:noFill/>
        </p:spPr>
        <p:txBody>
          <a:bodyPr wrap="square" rtlCol="0">
            <a:spAutoFit/>
          </a:bodyPr>
          <a:lstStyle/>
          <a:p>
            <a:r>
              <a:rPr lang="zh-CN" altLang="en-US" sz="1200" dirty="0"/>
              <a:t>中国的总体</a:t>
            </a:r>
            <a:r>
              <a:rPr lang="en-US" altLang="zh-CN" sz="1200" dirty="0"/>
              <a:t>GINI</a:t>
            </a:r>
            <a:r>
              <a:rPr lang="zh-CN" altLang="en-US" sz="1200" dirty="0"/>
              <a:t>系数</a:t>
            </a:r>
          </a:p>
        </p:txBody>
      </p:sp>
    </p:spTree>
    <p:extLst>
      <p:ext uri="{BB962C8B-B14F-4D97-AF65-F5344CB8AC3E}">
        <p14:creationId xmlns:p14="http://schemas.microsoft.com/office/powerpoint/2010/main" val="1632472929"/>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bg>
      <p:bgPr>
        <a:solidFill>
          <a:srgbClr val="7F2C8B"/>
        </a:solidFill>
        <a:effectLst/>
      </p:bgPr>
    </p:bg>
    <p:spTree>
      <p:nvGrpSpPr>
        <p:cNvPr id="1" name=""/>
        <p:cNvGrpSpPr/>
        <p:nvPr/>
      </p:nvGrpSpPr>
      <p:grpSpPr>
        <a:xfrm>
          <a:off x="0" y="0"/>
          <a:ext cx="0" cy="0"/>
          <a:chOff x="0" y="0"/>
          <a:chExt cx="0" cy="0"/>
        </a:xfrm>
      </p:grpSpPr>
      <p:sp>
        <p:nvSpPr>
          <p:cNvPr id="35" name="Freeform 5">
            <a:extLst>
              <a:ext uri="{FF2B5EF4-FFF2-40B4-BE49-F238E27FC236}">
                <a16:creationId xmlns:a16="http://schemas.microsoft.com/office/drawing/2014/main" id="{CEC509F0-2091-44E3-8EC6-23BE32A153BC}"/>
              </a:ext>
            </a:extLst>
          </p:cNvPr>
          <p:cNvSpPr>
            <a:spLocks/>
          </p:cNvSpPr>
          <p:nvPr/>
        </p:nvSpPr>
        <p:spPr bwMode="auto">
          <a:xfrm rot="20305582">
            <a:off x="7413099" y="-1127481"/>
            <a:ext cx="7345429" cy="5201360"/>
          </a:xfrm>
          <a:custGeom>
            <a:avLst/>
            <a:gdLst>
              <a:gd name="T0" fmla="*/ 1505 w 1677"/>
              <a:gd name="T1" fmla="*/ 1142 h 1186"/>
              <a:gd name="T2" fmla="*/ 1306 w 1677"/>
              <a:gd name="T3" fmla="*/ 1127 h 1186"/>
              <a:gd name="T4" fmla="*/ 1085 w 1677"/>
              <a:gd name="T5" fmla="*/ 1086 h 1186"/>
              <a:gd name="T6" fmla="*/ 1024 w 1677"/>
              <a:gd name="T7" fmla="*/ 1083 h 1186"/>
              <a:gd name="T8" fmla="*/ 978 w 1677"/>
              <a:gd name="T9" fmla="*/ 1078 h 1186"/>
              <a:gd name="T10" fmla="*/ 1033 w 1677"/>
              <a:gd name="T11" fmla="*/ 1062 h 1186"/>
              <a:gd name="T12" fmla="*/ 1158 w 1677"/>
              <a:gd name="T13" fmla="*/ 1057 h 1186"/>
              <a:gd name="T14" fmla="*/ 1340 w 1677"/>
              <a:gd name="T15" fmla="*/ 1071 h 1186"/>
              <a:gd name="T16" fmla="*/ 1464 w 1677"/>
              <a:gd name="T17" fmla="*/ 1053 h 1186"/>
              <a:gd name="T18" fmla="*/ 1576 w 1677"/>
              <a:gd name="T19" fmla="*/ 0 h 1186"/>
              <a:gd name="T20" fmla="*/ 1480 w 1677"/>
              <a:gd name="T21" fmla="*/ 26 h 1186"/>
              <a:gd name="T22" fmla="*/ 1323 w 1677"/>
              <a:gd name="T23" fmla="*/ 48 h 1186"/>
              <a:gd name="T24" fmla="*/ 1164 w 1677"/>
              <a:gd name="T25" fmla="*/ 52 h 1186"/>
              <a:gd name="T26" fmla="*/ 1132 w 1677"/>
              <a:gd name="T27" fmla="*/ 52 h 1186"/>
              <a:gd name="T28" fmla="*/ 1307 w 1677"/>
              <a:gd name="T29" fmla="*/ 52 h 1186"/>
              <a:gd name="T30" fmla="*/ 1450 w 1677"/>
              <a:gd name="T31" fmla="*/ 36 h 1186"/>
              <a:gd name="T32" fmla="*/ 1570 w 1677"/>
              <a:gd name="T33" fmla="*/ 8 h 1186"/>
              <a:gd name="T34" fmla="*/ 1403 w 1677"/>
              <a:gd name="T35" fmla="*/ 1046 h 1186"/>
              <a:gd name="T36" fmla="*/ 1300 w 1677"/>
              <a:gd name="T37" fmla="*/ 1048 h 1186"/>
              <a:gd name="T38" fmla="*/ 1112 w 1677"/>
              <a:gd name="T39" fmla="*/ 1032 h 1186"/>
              <a:gd name="T40" fmla="*/ 1024 w 1677"/>
              <a:gd name="T41" fmla="*/ 1040 h 1186"/>
              <a:gd name="T42" fmla="*/ 925 w 1677"/>
              <a:gd name="T43" fmla="*/ 1072 h 1186"/>
              <a:gd name="T44" fmla="*/ 816 w 1677"/>
              <a:gd name="T45" fmla="*/ 1105 h 1186"/>
              <a:gd name="T46" fmla="*/ 661 w 1677"/>
              <a:gd name="T47" fmla="*/ 1042 h 1186"/>
              <a:gd name="T48" fmla="*/ 637 w 1677"/>
              <a:gd name="T49" fmla="*/ 1037 h 1186"/>
              <a:gd name="T50" fmla="*/ 493 w 1677"/>
              <a:gd name="T51" fmla="*/ 1036 h 1186"/>
              <a:gd name="T52" fmla="*/ 333 w 1677"/>
              <a:gd name="T53" fmla="*/ 1051 h 1186"/>
              <a:gd name="T54" fmla="*/ 195 w 1677"/>
              <a:gd name="T55" fmla="*/ 1029 h 1186"/>
              <a:gd name="T56" fmla="*/ 180 w 1677"/>
              <a:gd name="T57" fmla="*/ 27 h 1186"/>
              <a:gd name="T58" fmla="*/ 290 w 1677"/>
              <a:gd name="T59" fmla="*/ 45 h 1186"/>
              <a:gd name="T60" fmla="*/ 449 w 1677"/>
              <a:gd name="T61" fmla="*/ 54 h 1186"/>
              <a:gd name="T62" fmla="*/ 577 w 1677"/>
              <a:gd name="T63" fmla="*/ 50 h 1186"/>
              <a:gd name="T64" fmla="*/ 402 w 1677"/>
              <a:gd name="T65" fmla="*/ 51 h 1186"/>
              <a:gd name="T66" fmla="*/ 259 w 1677"/>
              <a:gd name="T67" fmla="*/ 37 h 1186"/>
              <a:gd name="T68" fmla="*/ 150 w 1677"/>
              <a:gd name="T69" fmla="*/ 15 h 1186"/>
              <a:gd name="T70" fmla="*/ 100 w 1677"/>
              <a:gd name="T71" fmla="*/ 1014 h 1186"/>
              <a:gd name="T72" fmla="*/ 283 w 1677"/>
              <a:gd name="T73" fmla="*/ 1067 h 1186"/>
              <a:gd name="T74" fmla="*/ 426 w 1677"/>
              <a:gd name="T75" fmla="*/ 1065 h 1186"/>
              <a:gd name="T76" fmla="*/ 611 w 1677"/>
              <a:gd name="T77" fmla="*/ 1057 h 1186"/>
              <a:gd name="T78" fmla="*/ 655 w 1677"/>
              <a:gd name="T79" fmla="*/ 1065 h 1186"/>
              <a:gd name="T80" fmla="*/ 680 w 1677"/>
              <a:gd name="T81" fmla="*/ 1084 h 1186"/>
              <a:gd name="T82" fmla="*/ 612 w 1677"/>
              <a:gd name="T83" fmla="*/ 1084 h 1186"/>
              <a:gd name="T84" fmla="*/ 495 w 1677"/>
              <a:gd name="T85" fmla="*/ 1103 h 1186"/>
              <a:gd name="T86" fmla="*/ 271 w 1677"/>
              <a:gd name="T87" fmla="*/ 1140 h 1186"/>
              <a:gd name="T88" fmla="*/ 36 w 1677"/>
              <a:gd name="T89" fmla="*/ 1127 h 1186"/>
              <a:gd name="T90" fmla="*/ 143 w 1677"/>
              <a:gd name="T91" fmla="*/ 1181 h 1186"/>
              <a:gd name="T92" fmla="*/ 326 w 1677"/>
              <a:gd name="T93" fmla="*/ 1181 h 1186"/>
              <a:gd name="T94" fmla="*/ 591 w 1677"/>
              <a:gd name="T95" fmla="*/ 1143 h 1186"/>
              <a:gd name="T96" fmla="*/ 628 w 1677"/>
              <a:gd name="T97" fmla="*/ 1141 h 1186"/>
              <a:gd name="T98" fmla="*/ 698 w 1677"/>
              <a:gd name="T99" fmla="*/ 1147 h 1186"/>
              <a:gd name="T100" fmla="*/ 803 w 1677"/>
              <a:gd name="T101" fmla="*/ 1185 h 1186"/>
              <a:gd name="T102" fmla="*/ 874 w 1677"/>
              <a:gd name="T103" fmla="*/ 1185 h 1186"/>
              <a:gd name="T104" fmla="*/ 979 w 1677"/>
              <a:gd name="T105" fmla="*/ 1147 h 1186"/>
              <a:gd name="T106" fmla="*/ 1049 w 1677"/>
              <a:gd name="T107" fmla="*/ 1141 h 1186"/>
              <a:gd name="T108" fmla="*/ 1080 w 1677"/>
              <a:gd name="T109" fmla="*/ 1142 h 1186"/>
              <a:gd name="T110" fmla="*/ 1299 w 1677"/>
              <a:gd name="T111" fmla="*/ 1176 h 1186"/>
              <a:gd name="T112" fmla="*/ 1508 w 1677"/>
              <a:gd name="T113" fmla="*/ 1183 h 1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77" h="1186">
                <a:moveTo>
                  <a:pt x="1676" y="1142"/>
                </a:moveTo>
                <a:cubicBezTo>
                  <a:pt x="1658" y="159"/>
                  <a:pt x="1658" y="159"/>
                  <a:pt x="1658" y="159"/>
                </a:cubicBezTo>
                <a:cubicBezTo>
                  <a:pt x="1641" y="1127"/>
                  <a:pt x="1641" y="1127"/>
                  <a:pt x="1641" y="1127"/>
                </a:cubicBezTo>
                <a:cubicBezTo>
                  <a:pt x="1605" y="1133"/>
                  <a:pt x="1605" y="1133"/>
                  <a:pt x="1605" y="1133"/>
                </a:cubicBezTo>
                <a:cubicBezTo>
                  <a:pt x="1589" y="1135"/>
                  <a:pt x="1572" y="1137"/>
                  <a:pt x="1555" y="1139"/>
                </a:cubicBezTo>
                <a:cubicBezTo>
                  <a:pt x="1530" y="1140"/>
                  <a:pt x="1530" y="1140"/>
                  <a:pt x="1530" y="1140"/>
                </a:cubicBezTo>
                <a:cubicBezTo>
                  <a:pt x="1522" y="1141"/>
                  <a:pt x="1514" y="1142"/>
                  <a:pt x="1505" y="1142"/>
                </a:cubicBezTo>
                <a:cubicBezTo>
                  <a:pt x="1489" y="1142"/>
                  <a:pt x="1472" y="1143"/>
                  <a:pt x="1455" y="1142"/>
                </a:cubicBezTo>
                <a:cubicBezTo>
                  <a:pt x="1447" y="1142"/>
                  <a:pt x="1439" y="1142"/>
                  <a:pt x="1431" y="1141"/>
                </a:cubicBezTo>
                <a:cubicBezTo>
                  <a:pt x="1406" y="1140"/>
                  <a:pt x="1406" y="1140"/>
                  <a:pt x="1406" y="1140"/>
                </a:cubicBezTo>
                <a:cubicBezTo>
                  <a:pt x="1393" y="1139"/>
                  <a:pt x="1393" y="1139"/>
                  <a:pt x="1393" y="1139"/>
                </a:cubicBezTo>
                <a:cubicBezTo>
                  <a:pt x="1381" y="1137"/>
                  <a:pt x="1381" y="1137"/>
                  <a:pt x="1381" y="1137"/>
                </a:cubicBezTo>
                <a:cubicBezTo>
                  <a:pt x="1356" y="1135"/>
                  <a:pt x="1356" y="1135"/>
                  <a:pt x="1356" y="1135"/>
                </a:cubicBezTo>
                <a:cubicBezTo>
                  <a:pt x="1339" y="1132"/>
                  <a:pt x="1323" y="1130"/>
                  <a:pt x="1306" y="1127"/>
                </a:cubicBezTo>
                <a:cubicBezTo>
                  <a:pt x="1290" y="1125"/>
                  <a:pt x="1273" y="1121"/>
                  <a:pt x="1257" y="1118"/>
                </a:cubicBezTo>
                <a:cubicBezTo>
                  <a:pt x="1207" y="1108"/>
                  <a:pt x="1207" y="1108"/>
                  <a:pt x="1207" y="1108"/>
                </a:cubicBezTo>
                <a:cubicBezTo>
                  <a:pt x="1182" y="1103"/>
                  <a:pt x="1182" y="1103"/>
                  <a:pt x="1182" y="1103"/>
                </a:cubicBezTo>
                <a:cubicBezTo>
                  <a:pt x="1174" y="1101"/>
                  <a:pt x="1165" y="1099"/>
                  <a:pt x="1157" y="1097"/>
                </a:cubicBezTo>
                <a:cubicBezTo>
                  <a:pt x="1140" y="1094"/>
                  <a:pt x="1122" y="1091"/>
                  <a:pt x="1105" y="1088"/>
                </a:cubicBezTo>
                <a:cubicBezTo>
                  <a:pt x="1092" y="1087"/>
                  <a:pt x="1092" y="1087"/>
                  <a:pt x="1092" y="1087"/>
                </a:cubicBezTo>
                <a:cubicBezTo>
                  <a:pt x="1085" y="1086"/>
                  <a:pt x="1085" y="1086"/>
                  <a:pt x="1085" y="1086"/>
                </a:cubicBezTo>
                <a:cubicBezTo>
                  <a:pt x="1082" y="1085"/>
                  <a:pt x="1082" y="1085"/>
                  <a:pt x="1082" y="1085"/>
                </a:cubicBezTo>
                <a:cubicBezTo>
                  <a:pt x="1078" y="1085"/>
                  <a:pt x="1078" y="1085"/>
                  <a:pt x="1078" y="1085"/>
                </a:cubicBezTo>
                <a:cubicBezTo>
                  <a:pt x="1065" y="1084"/>
                  <a:pt x="1065" y="1084"/>
                  <a:pt x="1065" y="1084"/>
                </a:cubicBezTo>
                <a:cubicBezTo>
                  <a:pt x="1059" y="1083"/>
                  <a:pt x="1059" y="1083"/>
                  <a:pt x="1059" y="1083"/>
                </a:cubicBezTo>
                <a:cubicBezTo>
                  <a:pt x="1056" y="1083"/>
                  <a:pt x="1054" y="1083"/>
                  <a:pt x="1052" y="1083"/>
                </a:cubicBezTo>
                <a:cubicBezTo>
                  <a:pt x="1038" y="1083"/>
                  <a:pt x="1038" y="1083"/>
                  <a:pt x="1038" y="1083"/>
                </a:cubicBezTo>
                <a:cubicBezTo>
                  <a:pt x="1033" y="1083"/>
                  <a:pt x="1028" y="1083"/>
                  <a:pt x="1024" y="1083"/>
                </a:cubicBezTo>
                <a:cubicBezTo>
                  <a:pt x="1010" y="1083"/>
                  <a:pt x="1010" y="1083"/>
                  <a:pt x="1010" y="1083"/>
                </a:cubicBezTo>
                <a:cubicBezTo>
                  <a:pt x="1003" y="1084"/>
                  <a:pt x="1003" y="1084"/>
                  <a:pt x="1003" y="1084"/>
                </a:cubicBezTo>
                <a:cubicBezTo>
                  <a:pt x="997" y="1084"/>
                  <a:pt x="997" y="1084"/>
                  <a:pt x="997" y="1084"/>
                </a:cubicBezTo>
                <a:cubicBezTo>
                  <a:pt x="983" y="1085"/>
                  <a:pt x="983" y="1085"/>
                  <a:pt x="983" y="1085"/>
                </a:cubicBezTo>
                <a:cubicBezTo>
                  <a:pt x="978" y="1086"/>
                  <a:pt x="974" y="1087"/>
                  <a:pt x="969" y="1087"/>
                </a:cubicBezTo>
                <a:cubicBezTo>
                  <a:pt x="961" y="1088"/>
                  <a:pt x="952" y="1090"/>
                  <a:pt x="943" y="1092"/>
                </a:cubicBezTo>
                <a:cubicBezTo>
                  <a:pt x="955" y="1087"/>
                  <a:pt x="966" y="1082"/>
                  <a:pt x="978" y="1078"/>
                </a:cubicBezTo>
                <a:cubicBezTo>
                  <a:pt x="985" y="1076"/>
                  <a:pt x="993" y="1073"/>
                  <a:pt x="1000" y="1071"/>
                </a:cubicBezTo>
                <a:cubicBezTo>
                  <a:pt x="1011" y="1068"/>
                  <a:pt x="1011" y="1068"/>
                  <a:pt x="1011" y="1068"/>
                </a:cubicBezTo>
                <a:cubicBezTo>
                  <a:pt x="1022" y="1065"/>
                  <a:pt x="1022" y="1065"/>
                  <a:pt x="1022" y="1065"/>
                </a:cubicBezTo>
                <a:cubicBezTo>
                  <a:pt x="1028" y="1063"/>
                  <a:pt x="1028" y="1063"/>
                  <a:pt x="1028" y="1063"/>
                </a:cubicBezTo>
                <a:cubicBezTo>
                  <a:pt x="1029" y="1063"/>
                  <a:pt x="1029" y="1063"/>
                  <a:pt x="1029" y="1063"/>
                </a:cubicBezTo>
                <a:cubicBezTo>
                  <a:pt x="1030" y="1063"/>
                  <a:pt x="1030" y="1063"/>
                  <a:pt x="1030" y="1063"/>
                </a:cubicBezTo>
                <a:cubicBezTo>
                  <a:pt x="1033" y="1062"/>
                  <a:pt x="1033" y="1062"/>
                  <a:pt x="1033" y="1062"/>
                </a:cubicBezTo>
                <a:cubicBezTo>
                  <a:pt x="1044" y="1060"/>
                  <a:pt x="1044" y="1060"/>
                  <a:pt x="1044" y="1060"/>
                </a:cubicBezTo>
                <a:cubicBezTo>
                  <a:pt x="1048" y="1059"/>
                  <a:pt x="1051" y="1059"/>
                  <a:pt x="1055" y="1058"/>
                </a:cubicBezTo>
                <a:cubicBezTo>
                  <a:pt x="1059" y="1058"/>
                  <a:pt x="1063" y="1057"/>
                  <a:pt x="1066" y="1057"/>
                </a:cubicBezTo>
                <a:cubicBezTo>
                  <a:pt x="1082" y="1056"/>
                  <a:pt x="1097" y="1055"/>
                  <a:pt x="1112" y="1055"/>
                </a:cubicBezTo>
                <a:cubicBezTo>
                  <a:pt x="1124" y="1055"/>
                  <a:pt x="1124" y="1055"/>
                  <a:pt x="1124" y="1055"/>
                </a:cubicBezTo>
                <a:cubicBezTo>
                  <a:pt x="1135" y="1055"/>
                  <a:pt x="1135" y="1055"/>
                  <a:pt x="1135" y="1055"/>
                </a:cubicBezTo>
                <a:cubicBezTo>
                  <a:pt x="1143" y="1056"/>
                  <a:pt x="1151" y="1056"/>
                  <a:pt x="1158" y="1057"/>
                </a:cubicBezTo>
                <a:cubicBezTo>
                  <a:pt x="1166" y="1057"/>
                  <a:pt x="1174" y="1058"/>
                  <a:pt x="1181" y="1058"/>
                </a:cubicBezTo>
                <a:cubicBezTo>
                  <a:pt x="1205" y="1061"/>
                  <a:pt x="1205" y="1061"/>
                  <a:pt x="1205" y="1061"/>
                </a:cubicBezTo>
                <a:cubicBezTo>
                  <a:pt x="1251" y="1065"/>
                  <a:pt x="1251" y="1065"/>
                  <a:pt x="1251" y="1065"/>
                </a:cubicBezTo>
                <a:cubicBezTo>
                  <a:pt x="1267" y="1067"/>
                  <a:pt x="1283" y="1068"/>
                  <a:pt x="1299" y="1069"/>
                </a:cubicBezTo>
                <a:cubicBezTo>
                  <a:pt x="1306" y="1070"/>
                  <a:pt x="1315" y="1070"/>
                  <a:pt x="1322" y="1070"/>
                </a:cubicBezTo>
                <a:cubicBezTo>
                  <a:pt x="1326" y="1071"/>
                  <a:pt x="1330" y="1071"/>
                  <a:pt x="1334" y="1071"/>
                </a:cubicBezTo>
                <a:cubicBezTo>
                  <a:pt x="1340" y="1071"/>
                  <a:pt x="1340" y="1071"/>
                  <a:pt x="1340" y="1071"/>
                </a:cubicBezTo>
                <a:cubicBezTo>
                  <a:pt x="1343" y="1071"/>
                  <a:pt x="1343" y="1071"/>
                  <a:pt x="1343" y="1071"/>
                </a:cubicBezTo>
                <a:cubicBezTo>
                  <a:pt x="1344" y="1071"/>
                  <a:pt x="1345" y="1071"/>
                  <a:pt x="1346" y="1071"/>
                </a:cubicBezTo>
                <a:cubicBezTo>
                  <a:pt x="1362" y="1071"/>
                  <a:pt x="1378" y="1070"/>
                  <a:pt x="1394" y="1067"/>
                </a:cubicBezTo>
                <a:cubicBezTo>
                  <a:pt x="1406" y="1066"/>
                  <a:pt x="1406" y="1066"/>
                  <a:pt x="1406" y="1066"/>
                </a:cubicBezTo>
                <a:cubicBezTo>
                  <a:pt x="1418" y="1064"/>
                  <a:pt x="1418" y="1064"/>
                  <a:pt x="1418" y="1064"/>
                </a:cubicBezTo>
                <a:cubicBezTo>
                  <a:pt x="1426" y="1062"/>
                  <a:pt x="1434" y="1061"/>
                  <a:pt x="1441" y="1059"/>
                </a:cubicBezTo>
                <a:cubicBezTo>
                  <a:pt x="1449" y="1057"/>
                  <a:pt x="1457" y="1055"/>
                  <a:pt x="1464" y="1053"/>
                </a:cubicBezTo>
                <a:cubicBezTo>
                  <a:pt x="1472" y="1051"/>
                  <a:pt x="1480" y="1049"/>
                  <a:pt x="1487" y="1047"/>
                </a:cubicBezTo>
                <a:cubicBezTo>
                  <a:pt x="1503" y="1042"/>
                  <a:pt x="1518" y="1037"/>
                  <a:pt x="1532" y="1032"/>
                </a:cubicBezTo>
                <a:cubicBezTo>
                  <a:pt x="1547" y="1026"/>
                  <a:pt x="1562" y="1021"/>
                  <a:pt x="1577" y="1014"/>
                </a:cubicBezTo>
                <a:cubicBezTo>
                  <a:pt x="1582" y="1012"/>
                  <a:pt x="1582" y="1012"/>
                  <a:pt x="1582" y="1012"/>
                </a:cubicBezTo>
                <a:cubicBezTo>
                  <a:pt x="1582" y="1006"/>
                  <a:pt x="1582" y="1006"/>
                  <a:pt x="1582" y="1006"/>
                </a:cubicBezTo>
                <a:cubicBezTo>
                  <a:pt x="1576" y="4"/>
                  <a:pt x="1576" y="4"/>
                  <a:pt x="1576" y="4"/>
                </a:cubicBezTo>
                <a:cubicBezTo>
                  <a:pt x="1576" y="0"/>
                  <a:pt x="1576" y="0"/>
                  <a:pt x="1576" y="0"/>
                </a:cubicBezTo>
                <a:cubicBezTo>
                  <a:pt x="1572" y="1"/>
                  <a:pt x="1572" y="1"/>
                  <a:pt x="1572" y="1"/>
                </a:cubicBezTo>
                <a:cubicBezTo>
                  <a:pt x="1542" y="10"/>
                  <a:pt x="1542" y="10"/>
                  <a:pt x="1542" y="10"/>
                </a:cubicBezTo>
                <a:cubicBezTo>
                  <a:pt x="1537" y="12"/>
                  <a:pt x="1532" y="14"/>
                  <a:pt x="1527" y="15"/>
                </a:cubicBezTo>
                <a:cubicBezTo>
                  <a:pt x="1511" y="19"/>
                  <a:pt x="1511" y="19"/>
                  <a:pt x="1511" y="19"/>
                </a:cubicBezTo>
                <a:cubicBezTo>
                  <a:pt x="1496" y="22"/>
                  <a:pt x="1496" y="22"/>
                  <a:pt x="1496" y="22"/>
                </a:cubicBezTo>
                <a:cubicBezTo>
                  <a:pt x="1488" y="24"/>
                  <a:pt x="1488" y="24"/>
                  <a:pt x="1488" y="24"/>
                </a:cubicBezTo>
                <a:cubicBezTo>
                  <a:pt x="1485" y="25"/>
                  <a:pt x="1483" y="25"/>
                  <a:pt x="1480" y="26"/>
                </a:cubicBezTo>
                <a:cubicBezTo>
                  <a:pt x="1449" y="32"/>
                  <a:pt x="1449" y="32"/>
                  <a:pt x="1449" y="32"/>
                </a:cubicBezTo>
                <a:cubicBezTo>
                  <a:pt x="1444" y="33"/>
                  <a:pt x="1439" y="34"/>
                  <a:pt x="1433" y="35"/>
                </a:cubicBezTo>
                <a:cubicBezTo>
                  <a:pt x="1418" y="37"/>
                  <a:pt x="1418" y="37"/>
                  <a:pt x="1418" y="37"/>
                </a:cubicBezTo>
                <a:cubicBezTo>
                  <a:pt x="1402" y="39"/>
                  <a:pt x="1402" y="39"/>
                  <a:pt x="1402" y="39"/>
                </a:cubicBezTo>
                <a:cubicBezTo>
                  <a:pt x="1397" y="40"/>
                  <a:pt x="1391" y="41"/>
                  <a:pt x="1386" y="41"/>
                </a:cubicBezTo>
                <a:cubicBezTo>
                  <a:pt x="1376" y="43"/>
                  <a:pt x="1365" y="44"/>
                  <a:pt x="1355" y="45"/>
                </a:cubicBezTo>
                <a:cubicBezTo>
                  <a:pt x="1323" y="48"/>
                  <a:pt x="1323" y="48"/>
                  <a:pt x="1323" y="48"/>
                </a:cubicBezTo>
                <a:cubicBezTo>
                  <a:pt x="1318" y="48"/>
                  <a:pt x="1312" y="49"/>
                  <a:pt x="1307" y="49"/>
                </a:cubicBezTo>
                <a:cubicBezTo>
                  <a:pt x="1291" y="50"/>
                  <a:pt x="1291" y="50"/>
                  <a:pt x="1291" y="50"/>
                </a:cubicBezTo>
                <a:cubicBezTo>
                  <a:pt x="1275" y="51"/>
                  <a:pt x="1275" y="51"/>
                  <a:pt x="1275" y="51"/>
                </a:cubicBezTo>
                <a:cubicBezTo>
                  <a:pt x="1259" y="51"/>
                  <a:pt x="1259" y="51"/>
                  <a:pt x="1259" y="51"/>
                </a:cubicBezTo>
                <a:cubicBezTo>
                  <a:pt x="1249" y="52"/>
                  <a:pt x="1238" y="52"/>
                  <a:pt x="1228" y="52"/>
                </a:cubicBezTo>
                <a:cubicBezTo>
                  <a:pt x="1217" y="52"/>
                  <a:pt x="1206" y="53"/>
                  <a:pt x="1196" y="53"/>
                </a:cubicBezTo>
                <a:cubicBezTo>
                  <a:pt x="1185" y="52"/>
                  <a:pt x="1175" y="52"/>
                  <a:pt x="1164" y="52"/>
                </a:cubicBezTo>
                <a:cubicBezTo>
                  <a:pt x="1153" y="52"/>
                  <a:pt x="1143" y="52"/>
                  <a:pt x="1132" y="51"/>
                </a:cubicBezTo>
                <a:cubicBezTo>
                  <a:pt x="1116" y="51"/>
                  <a:pt x="1116" y="51"/>
                  <a:pt x="1116" y="51"/>
                </a:cubicBezTo>
                <a:cubicBezTo>
                  <a:pt x="1100" y="50"/>
                  <a:pt x="1100" y="50"/>
                  <a:pt x="1100" y="50"/>
                </a:cubicBezTo>
                <a:cubicBezTo>
                  <a:pt x="1090" y="49"/>
                  <a:pt x="1079" y="48"/>
                  <a:pt x="1069" y="47"/>
                </a:cubicBezTo>
                <a:cubicBezTo>
                  <a:pt x="1079" y="48"/>
                  <a:pt x="1090" y="49"/>
                  <a:pt x="1100" y="50"/>
                </a:cubicBezTo>
                <a:cubicBezTo>
                  <a:pt x="1116" y="51"/>
                  <a:pt x="1116" y="51"/>
                  <a:pt x="1116" y="51"/>
                </a:cubicBezTo>
                <a:cubicBezTo>
                  <a:pt x="1132" y="52"/>
                  <a:pt x="1132" y="52"/>
                  <a:pt x="1132" y="52"/>
                </a:cubicBezTo>
                <a:cubicBezTo>
                  <a:pt x="1143" y="53"/>
                  <a:pt x="1153" y="53"/>
                  <a:pt x="1164" y="53"/>
                </a:cubicBezTo>
                <a:cubicBezTo>
                  <a:pt x="1175" y="54"/>
                  <a:pt x="1185" y="54"/>
                  <a:pt x="1196" y="54"/>
                </a:cubicBezTo>
                <a:cubicBezTo>
                  <a:pt x="1206" y="54"/>
                  <a:pt x="1217" y="54"/>
                  <a:pt x="1228" y="54"/>
                </a:cubicBezTo>
                <a:cubicBezTo>
                  <a:pt x="1238" y="54"/>
                  <a:pt x="1249" y="54"/>
                  <a:pt x="1260" y="54"/>
                </a:cubicBezTo>
                <a:cubicBezTo>
                  <a:pt x="1275" y="53"/>
                  <a:pt x="1275" y="53"/>
                  <a:pt x="1275" y="53"/>
                </a:cubicBezTo>
                <a:cubicBezTo>
                  <a:pt x="1291" y="53"/>
                  <a:pt x="1291" y="53"/>
                  <a:pt x="1291" y="53"/>
                </a:cubicBezTo>
                <a:cubicBezTo>
                  <a:pt x="1307" y="52"/>
                  <a:pt x="1307" y="52"/>
                  <a:pt x="1307" y="52"/>
                </a:cubicBezTo>
                <a:cubicBezTo>
                  <a:pt x="1313" y="52"/>
                  <a:pt x="1318" y="51"/>
                  <a:pt x="1323" y="51"/>
                </a:cubicBezTo>
                <a:cubicBezTo>
                  <a:pt x="1355" y="48"/>
                  <a:pt x="1355" y="48"/>
                  <a:pt x="1355" y="48"/>
                </a:cubicBezTo>
                <a:cubicBezTo>
                  <a:pt x="1366" y="47"/>
                  <a:pt x="1376" y="46"/>
                  <a:pt x="1387" y="45"/>
                </a:cubicBezTo>
                <a:cubicBezTo>
                  <a:pt x="1392" y="44"/>
                  <a:pt x="1397" y="44"/>
                  <a:pt x="1403" y="43"/>
                </a:cubicBezTo>
                <a:cubicBezTo>
                  <a:pt x="1418" y="41"/>
                  <a:pt x="1418" y="41"/>
                  <a:pt x="1418" y="41"/>
                </a:cubicBezTo>
                <a:cubicBezTo>
                  <a:pt x="1434" y="39"/>
                  <a:pt x="1434" y="39"/>
                  <a:pt x="1434" y="39"/>
                </a:cubicBezTo>
                <a:cubicBezTo>
                  <a:pt x="1439" y="38"/>
                  <a:pt x="1445" y="37"/>
                  <a:pt x="1450" y="36"/>
                </a:cubicBezTo>
                <a:cubicBezTo>
                  <a:pt x="1481" y="30"/>
                  <a:pt x="1481" y="30"/>
                  <a:pt x="1481" y="30"/>
                </a:cubicBezTo>
                <a:cubicBezTo>
                  <a:pt x="1484" y="30"/>
                  <a:pt x="1486" y="30"/>
                  <a:pt x="1489" y="29"/>
                </a:cubicBezTo>
                <a:cubicBezTo>
                  <a:pt x="1497" y="27"/>
                  <a:pt x="1497" y="27"/>
                  <a:pt x="1497" y="27"/>
                </a:cubicBezTo>
                <a:cubicBezTo>
                  <a:pt x="1512" y="24"/>
                  <a:pt x="1512" y="24"/>
                  <a:pt x="1512" y="24"/>
                </a:cubicBezTo>
                <a:cubicBezTo>
                  <a:pt x="1528" y="20"/>
                  <a:pt x="1528" y="20"/>
                  <a:pt x="1528" y="20"/>
                </a:cubicBezTo>
                <a:cubicBezTo>
                  <a:pt x="1533" y="19"/>
                  <a:pt x="1538" y="17"/>
                  <a:pt x="1543" y="16"/>
                </a:cubicBezTo>
                <a:cubicBezTo>
                  <a:pt x="1570" y="8"/>
                  <a:pt x="1570" y="8"/>
                  <a:pt x="1570" y="8"/>
                </a:cubicBezTo>
                <a:cubicBezTo>
                  <a:pt x="1564" y="1000"/>
                  <a:pt x="1564" y="1000"/>
                  <a:pt x="1564" y="1000"/>
                </a:cubicBezTo>
                <a:cubicBezTo>
                  <a:pt x="1552" y="1006"/>
                  <a:pt x="1539" y="1010"/>
                  <a:pt x="1526" y="1015"/>
                </a:cubicBezTo>
                <a:cubicBezTo>
                  <a:pt x="1512" y="1020"/>
                  <a:pt x="1497" y="1025"/>
                  <a:pt x="1482" y="1029"/>
                </a:cubicBezTo>
                <a:cubicBezTo>
                  <a:pt x="1475" y="1031"/>
                  <a:pt x="1467" y="1033"/>
                  <a:pt x="1460" y="1035"/>
                </a:cubicBezTo>
                <a:cubicBezTo>
                  <a:pt x="1452" y="1037"/>
                  <a:pt x="1445" y="1039"/>
                  <a:pt x="1437" y="1040"/>
                </a:cubicBezTo>
                <a:cubicBezTo>
                  <a:pt x="1430" y="1042"/>
                  <a:pt x="1422" y="1043"/>
                  <a:pt x="1415" y="1045"/>
                </a:cubicBezTo>
                <a:cubicBezTo>
                  <a:pt x="1403" y="1046"/>
                  <a:pt x="1403" y="1046"/>
                  <a:pt x="1403" y="1046"/>
                </a:cubicBezTo>
                <a:cubicBezTo>
                  <a:pt x="1392" y="1048"/>
                  <a:pt x="1392" y="1048"/>
                  <a:pt x="1392" y="1048"/>
                </a:cubicBezTo>
                <a:cubicBezTo>
                  <a:pt x="1377" y="1050"/>
                  <a:pt x="1361" y="1051"/>
                  <a:pt x="1346" y="1051"/>
                </a:cubicBezTo>
                <a:cubicBezTo>
                  <a:pt x="1345" y="1051"/>
                  <a:pt x="1344" y="1051"/>
                  <a:pt x="1344" y="1051"/>
                </a:cubicBezTo>
                <a:cubicBezTo>
                  <a:pt x="1341" y="1051"/>
                  <a:pt x="1341" y="1051"/>
                  <a:pt x="1341" y="1051"/>
                </a:cubicBezTo>
                <a:cubicBezTo>
                  <a:pt x="1335" y="1050"/>
                  <a:pt x="1335" y="1050"/>
                  <a:pt x="1335" y="1050"/>
                </a:cubicBezTo>
                <a:cubicBezTo>
                  <a:pt x="1331" y="1050"/>
                  <a:pt x="1327" y="1050"/>
                  <a:pt x="1323" y="1050"/>
                </a:cubicBezTo>
                <a:cubicBezTo>
                  <a:pt x="1315" y="1049"/>
                  <a:pt x="1308" y="1049"/>
                  <a:pt x="1300" y="1048"/>
                </a:cubicBezTo>
                <a:cubicBezTo>
                  <a:pt x="1285" y="1047"/>
                  <a:pt x="1269" y="1046"/>
                  <a:pt x="1254" y="1044"/>
                </a:cubicBezTo>
                <a:cubicBezTo>
                  <a:pt x="1207" y="1039"/>
                  <a:pt x="1207" y="1039"/>
                  <a:pt x="1207" y="1039"/>
                </a:cubicBezTo>
                <a:cubicBezTo>
                  <a:pt x="1184" y="1036"/>
                  <a:pt x="1184" y="1036"/>
                  <a:pt x="1184" y="1036"/>
                </a:cubicBezTo>
                <a:cubicBezTo>
                  <a:pt x="1176" y="1036"/>
                  <a:pt x="1168" y="1035"/>
                  <a:pt x="1160" y="1034"/>
                </a:cubicBezTo>
                <a:cubicBezTo>
                  <a:pt x="1152" y="1034"/>
                  <a:pt x="1144" y="1033"/>
                  <a:pt x="1136" y="1033"/>
                </a:cubicBezTo>
                <a:cubicBezTo>
                  <a:pt x="1124" y="1032"/>
                  <a:pt x="1124" y="1032"/>
                  <a:pt x="1124" y="1032"/>
                </a:cubicBezTo>
                <a:cubicBezTo>
                  <a:pt x="1112" y="1032"/>
                  <a:pt x="1112" y="1032"/>
                  <a:pt x="1112" y="1032"/>
                </a:cubicBezTo>
                <a:cubicBezTo>
                  <a:pt x="1096" y="1032"/>
                  <a:pt x="1080" y="1032"/>
                  <a:pt x="1064" y="1034"/>
                </a:cubicBezTo>
                <a:cubicBezTo>
                  <a:pt x="1060" y="1034"/>
                  <a:pt x="1056" y="1035"/>
                  <a:pt x="1052" y="1035"/>
                </a:cubicBezTo>
                <a:cubicBezTo>
                  <a:pt x="1048" y="1036"/>
                  <a:pt x="1044" y="1036"/>
                  <a:pt x="1040" y="1037"/>
                </a:cubicBezTo>
                <a:cubicBezTo>
                  <a:pt x="1028" y="1039"/>
                  <a:pt x="1028" y="1039"/>
                  <a:pt x="1028" y="1039"/>
                </a:cubicBezTo>
                <a:cubicBezTo>
                  <a:pt x="1025" y="1039"/>
                  <a:pt x="1025" y="1039"/>
                  <a:pt x="1025" y="1039"/>
                </a:cubicBezTo>
                <a:cubicBezTo>
                  <a:pt x="1024" y="1040"/>
                  <a:pt x="1024" y="1040"/>
                  <a:pt x="1024" y="1040"/>
                </a:cubicBezTo>
                <a:cubicBezTo>
                  <a:pt x="1024" y="1040"/>
                  <a:pt x="1024" y="1040"/>
                  <a:pt x="1024" y="1040"/>
                </a:cubicBezTo>
                <a:cubicBezTo>
                  <a:pt x="1023" y="1040"/>
                  <a:pt x="1023" y="1040"/>
                  <a:pt x="1023" y="1040"/>
                </a:cubicBezTo>
                <a:cubicBezTo>
                  <a:pt x="1022" y="1040"/>
                  <a:pt x="1022" y="1040"/>
                  <a:pt x="1022" y="1040"/>
                </a:cubicBezTo>
                <a:cubicBezTo>
                  <a:pt x="1016" y="1042"/>
                  <a:pt x="1016" y="1042"/>
                  <a:pt x="1016" y="1042"/>
                </a:cubicBezTo>
                <a:cubicBezTo>
                  <a:pt x="1005" y="1044"/>
                  <a:pt x="1005" y="1044"/>
                  <a:pt x="1005" y="1044"/>
                </a:cubicBezTo>
                <a:cubicBezTo>
                  <a:pt x="993" y="1048"/>
                  <a:pt x="993" y="1048"/>
                  <a:pt x="993" y="1048"/>
                </a:cubicBezTo>
                <a:cubicBezTo>
                  <a:pt x="985" y="1050"/>
                  <a:pt x="978" y="1052"/>
                  <a:pt x="970" y="1055"/>
                </a:cubicBezTo>
                <a:cubicBezTo>
                  <a:pt x="955" y="1060"/>
                  <a:pt x="940" y="1066"/>
                  <a:pt x="925" y="1072"/>
                </a:cubicBezTo>
                <a:cubicBezTo>
                  <a:pt x="911" y="1079"/>
                  <a:pt x="896" y="1086"/>
                  <a:pt x="882" y="1093"/>
                </a:cubicBezTo>
                <a:cubicBezTo>
                  <a:pt x="872" y="1099"/>
                  <a:pt x="872" y="1099"/>
                  <a:pt x="872" y="1099"/>
                </a:cubicBezTo>
                <a:cubicBezTo>
                  <a:pt x="861" y="1105"/>
                  <a:pt x="861" y="1105"/>
                  <a:pt x="861" y="1105"/>
                </a:cubicBezTo>
                <a:cubicBezTo>
                  <a:pt x="858" y="1107"/>
                  <a:pt x="854" y="1109"/>
                  <a:pt x="851" y="1112"/>
                </a:cubicBezTo>
                <a:cubicBezTo>
                  <a:pt x="839" y="106"/>
                  <a:pt x="839" y="106"/>
                  <a:pt x="839" y="106"/>
                </a:cubicBezTo>
                <a:cubicBezTo>
                  <a:pt x="826" y="1112"/>
                  <a:pt x="826" y="1112"/>
                  <a:pt x="826" y="1112"/>
                </a:cubicBezTo>
                <a:cubicBezTo>
                  <a:pt x="823" y="1109"/>
                  <a:pt x="819" y="1107"/>
                  <a:pt x="816" y="1105"/>
                </a:cubicBezTo>
                <a:cubicBezTo>
                  <a:pt x="805" y="1099"/>
                  <a:pt x="805" y="1099"/>
                  <a:pt x="805" y="1099"/>
                </a:cubicBezTo>
                <a:cubicBezTo>
                  <a:pt x="795" y="1093"/>
                  <a:pt x="795" y="1093"/>
                  <a:pt x="795" y="1093"/>
                </a:cubicBezTo>
                <a:cubicBezTo>
                  <a:pt x="781" y="1086"/>
                  <a:pt x="766" y="1079"/>
                  <a:pt x="752" y="1072"/>
                </a:cubicBezTo>
                <a:cubicBezTo>
                  <a:pt x="737" y="1066"/>
                  <a:pt x="722" y="1060"/>
                  <a:pt x="707" y="1055"/>
                </a:cubicBezTo>
                <a:cubicBezTo>
                  <a:pt x="699" y="1052"/>
                  <a:pt x="692" y="1050"/>
                  <a:pt x="684" y="1048"/>
                </a:cubicBezTo>
                <a:cubicBezTo>
                  <a:pt x="672" y="1044"/>
                  <a:pt x="672" y="1044"/>
                  <a:pt x="672" y="1044"/>
                </a:cubicBezTo>
                <a:cubicBezTo>
                  <a:pt x="661" y="1042"/>
                  <a:pt x="661" y="1042"/>
                  <a:pt x="661" y="1042"/>
                </a:cubicBezTo>
                <a:cubicBezTo>
                  <a:pt x="655" y="1040"/>
                  <a:pt x="655" y="1040"/>
                  <a:pt x="655" y="1040"/>
                </a:cubicBezTo>
                <a:cubicBezTo>
                  <a:pt x="654" y="1040"/>
                  <a:pt x="654" y="1040"/>
                  <a:pt x="654" y="1040"/>
                </a:cubicBezTo>
                <a:cubicBezTo>
                  <a:pt x="653" y="1040"/>
                  <a:pt x="653" y="1040"/>
                  <a:pt x="653" y="1040"/>
                </a:cubicBezTo>
                <a:cubicBezTo>
                  <a:pt x="653" y="1040"/>
                  <a:pt x="653" y="1040"/>
                  <a:pt x="653" y="1040"/>
                </a:cubicBezTo>
                <a:cubicBezTo>
                  <a:pt x="652" y="1039"/>
                  <a:pt x="652" y="1039"/>
                  <a:pt x="652" y="1039"/>
                </a:cubicBezTo>
                <a:cubicBezTo>
                  <a:pt x="649" y="1039"/>
                  <a:pt x="649" y="1039"/>
                  <a:pt x="649" y="1039"/>
                </a:cubicBezTo>
                <a:cubicBezTo>
                  <a:pt x="637" y="1037"/>
                  <a:pt x="637" y="1037"/>
                  <a:pt x="637" y="1037"/>
                </a:cubicBezTo>
                <a:cubicBezTo>
                  <a:pt x="633" y="1036"/>
                  <a:pt x="629" y="1036"/>
                  <a:pt x="625" y="1035"/>
                </a:cubicBezTo>
                <a:cubicBezTo>
                  <a:pt x="621" y="1035"/>
                  <a:pt x="617" y="1034"/>
                  <a:pt x="613" y="1034"/>
                </a:cubicBezTo>
                <a:cubicBezTo>
                  <a:pt x="597" y="1032"/>
                  <a:pt x="581" y="1032"/>
                  <a:pt x="565" y="1032"/>
                </a:cubicBezTo>
                <a:cubicBezTo>
                  <a:pt x="553" y="1032"/>
                  <a:pt x="553" y="1032"/>
                  <a:pt x="553" y="1032"/>
                </a:cubicBezTo>
                <a:cubicBezTo>
                  <a:pt x="541" y="1033"/>
                  <a:pt x="541" y="1033"/>
                  <a:pt x="541" y="1033"/>
                </a:cubicBezTo>
                <a:cubicBezTo>
                  <a:pt x="533" y="1033"/>
                  <a:pt x="525" y="1034"/>
                  <a:pt x="517" y="1034"/>
                </a:cubicBezTo>
                <a:cubicBezTo>
                  <a:pt x="509" y="1035"/>
                  <a:pt x="501" y="1036"/>
                  <a:pt x="493" y="1036"/>
                </a:cubicBezTo>
                <a:cubicBezTo>
                  <a:pt x="470" y="1039"/>
                  <a:pt x="470" y="1039"/>
                  <a:pt x="470" y="1039"/>
                </a:cubicBezTo>
                <a:cubicBezTo>
                  <a:pt x="423" y="1044"/>
                  <a:pt x="423" y="1044"/>
                  <a:pt x="423" y="1044"/>
                </a:cubicBezTo>
                <a:cubicBezTo>
                  <a:pt x="408" y="1046"/>
                  <a:pt x="392" y="1047"/>
                  <a:pt x="377" y="1048"/>
                </a:cubicBezTo>
                <a:cubicBezTo>
                  <a:pt x="369" y="1049"/>
                  <a:pt x="362" y="1049"/>
                  <a:pt x="354" y="1050"/>
                </a:cubicBezTo>
                <a:cubicBezTo>
                  <a:pt x="350" y="1050"/>
                  <a:pt x="346" y="1050"/>
                  <a:pt x="342" y="1050"/>
                </a:cubicBezTo>
                <a:cubicBezTo>
                  <a:pt x="336" y="1051"/>
                  <a:pt x="336" y="1051"/>
                  <a:pt x="336" y="1051"/>
                </a:cubicBezTo>
                <a:cubicBezTo>
                  <a:pt x="333" y="1051"/>
                  <a:pt x="333" y="1051"/>
                  <a:pt x="333" y="1051"/>
                </a:cubicBezTo>
                <a:cubicBezTo>
                  <a:pt x="333" y="1051"/>
                  <a:pt x="332" y="1051"/>
                  <a:pt x="331" y="1051"/>
                </a:cubicBezTo>
                <a:cubicBezTo>
                  <a:pt x="316" y="1051"/>
                  <a:pt x="300" y="1050"/>
                  <a:pt x="285" y="1048"/>
                </a:cubicBezTo>
                <a:cubicBezTo>
                  <a:pt x="274" y="1046"/>
                  <a:pt x="274" y="1046"/>
                  <a:pt x="274" y="1046"/>
                </a:cubicBezTo>
                <a:cubicBezTo>
                  <a:pt x="262" y="1045"/>
                  <a:pt x="262" y="1045"/>
                  <a:pt x="262" y="1045"/>
                </a:cubicBezTo>
                <a:cubicBezTo>
                  <a:pt x="255" y="1043"/>
                  <a:pt x="247" y="1042"/>
                  <a:pt x="240" y="1040"/>
                </a:cubicBezTo>
                <a:cubicBezTo>
                  <a:pt x="232" y="1039"/>
                  <a:pt x="225" y="1037"/>
                  <a:pt x="217" y="1035"/>
                </a:cubicBezTo>
                <a:cubicBezTo>
                  <a:pt x="210" y="1033"/>
                  <a:pt x="202" y="1031"/>
                  <a:pt x="195" y="1029"/>
                </a:cubicBezTo>
                <a:cubicBezTo>
                  <a:pt x="180" y="1025"/>
                  <a:pt x="165" y="1020"/>
                  <a:pt x="151" y="1015"/>
                </a:cubicBezTo>
                <a:cubicBezTo>
                  <a:pt x="138" y="1010"/>
                  <a:pt x="125" y="1006"/>
                  <a:pt x="113" y="1000"/>
                </a:cubicBezTo>
                <a:cubicBezTo>
                  <a:pt x="107" y="8"/>
                  <a:pt x="107" y="8"/>
                  <a:pt x="107" y="8"/>
                </a:cubicBezTo>
                <a:cubicBezTo>
                  <a:pt x="134" y="16"/>
                  <a:pt x="134" y="16"/>
                  <a:pt x="134" y="16"/>
                </a:cubicBezTo>
                <a:cubicBezTo>
                  <a:pt x="139" y="17"/>
                  <a:pt x="144" y="19"/>
                  <a:pt x="149" y="20"/>
                </a:cubicBezTo>
                <a:cubicBezTo>
                  <a:pt x="165" y="24"/>
                  <a:pt x="165" y="24"/>
                  <a:pt x="165" y="24"/>
                </a:cubicBezTo>
                <a:cubicBezTo>
                  <a:pt x="180" y="27"/>
                  <a:pt x="180" y="27"/>
                  <a:pt x="180" y="27"/>
                </a:cubicBezTo>
                <a:cubicBezTo>
                  <a:pt x="188" y="29"/>
                  <a:pt x="188" y="29"/>
                  <a:pt x="188" y="29"/>
                </a:cubicBezTo>
                <a:cubicBezTo>
                  <a:pt x="191" y="30"/>
                  <a:pt x="193" y="30"/>
                  <a:pt x="196" y="30"/>
                </a:cubicBezTo>
                <a:cubicBezTo>
                  <a:pt x="227" y="36"/>
                  <a:pt x="227" y="36"/>
                  <a:pt x="227" y="36"/>
                </a:cubicBezTo>
                <a:cubicBezTo>
                  <a:pt x="232" y="37"/>
                  <a:pt x="238" y="38"/>
                  <a:pt x="243" y="39"/>
                </a:cubicBezTo>
                <a:cubicBezTo>
                  <a:pt x="259" y="41"/>
                  <a:pt x="259" y="41"/>
                  <a:pt x="259" y="41"/>
                </a:cubicBezTo>
                <a:cubicBezTo>
                  <a:pt x="275" y="43"/>
                  <a:pt x="275" y="43"/>
                  <a:pt x="275" y="43"/>
                </a:cubicBezTo>
                <a:cubicBezTo>
                  <a:pt x="280" y="44"/>
                  <a:pt x="285" y="44"/>
                  <a:pt x="290" y="45"/>
                </a:cubicBezTo>
                <a:cubicBezTo>
                  <a:pt x="301" y="46"/>
                  <a:pt x="311" y="47"/>
                  <a:pt x="322" y="48"/>
                </a:cubicBezTo>
                <a:cubicBezTo>
                  <a:pt x="354" y="51"/>
                  <a:pt x="354" y="51"/>
                  <a:pt x="354" y="51"/>
                </a:cubicBezTo>
                <a:cubicBezTo>
                  <a:pt x="359" y="51"/>
                  <a:pt x="364" y="52"/>
                  <a:pt x="370" y="52"/>
                </a:cubicBezTo>
                <a:cubicBezTo>
                  <a:pt x="386" y="53"/>
                  <a:pt x="386" y="53"/>
                  <a:pt x="386" y="53"/>
                </a:cubicBezTo>
                <a:cubicBezTo>
                  <a:pt x="402" y="53"/>
                  <a:pt x="402" y="53"/>
                  <a:pt x="402" y="53"/>
                </a:cubicBezTo>
                <a:cubicBezTo>
                  <a:pt x="417" y="54"/>
                  <a:pt x="417" y="54"/>
                  <a:pt x="417" y="54"/>
                </a:cubicBezTo>
                <a:cubicBezTo>
                  <a:pt x="428" y="54"/>
                  <a:pt x="439" y="54"/>
                  <a:pt x="449" y="54"/>
                </a:cubicBezTo>
                <a:cubicBezTo>
                  <a:pt x="460" y="54"/>
                  <a:pt x="471" y="54"/>
                  <a:pt x="481" y="54"/>
                </a:cubicBezTo>
                <a:cubicBezTo>
                  <a:pt x="492" y="54"/>
                  <a:pt x="502" y="54"/>
                  <a:pt x="513" y="53"/>
                </a:cubicBezTo>
                <a:cubicBezTo>
                  <a:pt x="524" y="53"/>
                  <a:pt x="534" y="53"/>
                  <a:pt x="545" y="52"/>
                </a:cubicBezTo>
                <a:cubicBezTo>
                  <a:pt x="561" y="51"/>
                  <a:pt x="561" y="51"/>
                  <a:pt x="561" y="51"/>
                </a:cubicBezTo>
                <a:cubicBezTo>
                  <a:pt x="577" y="50"/>
                  <a:pt x="577" y="50"/>
                  <a:pt x="577" y="50"/>
                </a:cubicBezTo>
                <a:cubicBezTo>
                  <a:pt x="587" y="49"/>
                  <a:pt x="598" y="48"/>
                  <a:pt x="608" y="47"/>
                </a:cubicBezTo>
                <a:cubicBezTo>
                  <a:pt x="598" y="48"/>
                  <a:pt x="587" y="49"/>
                  <a:pt x="577" y="50"/>
                </a:cubicBezTo>
                <a:cubicBezTo>
                  <a:pt x="561" y="51"/>
                  <a:pt x="561" y="51"/>
                  <a:pt x="561" y="51"/>
                </a:cubicBezTo>
                <a:cubicBezTo>
                  <a:pt x="545" y="51"/>
                  <a:pt x="545" y="51"/>
                  <a:pt x="545" y="51"/>
                </a:cubicBezTo>
                <a:cubicBezTo>
                  <a:pt x="534" y="52"/>
                  <a:pt x="524" y="52"/>
                  <a:pt x="513" y="52"/>
                </a:cubicBezTo>
                <a:cubicBezTo>
                  <a:pt x="502" y="52"/>
                  <a:pt x="492" y="52"/>
                  <a:pt x="481" y="53"/>
                </a:cubicBezTo>
                <a:cubicBezTo>
                  <a:pt x="471" y="53"/>
                  <a:pt x="460" y="52"/>
                  <a:pt x="449" y="52"/>
                </a:cubicBezTo>
                <a:cubicBezTo>
                  <a:pt x="439" y="52"/>
                  <a:pt x="428" y="52"/>
                  <a:pt x="418" y="51"/>
                </a:cubicBezTo>
                <a:cubicBezTo>
                  <a:pt x="402" y="51"/>
                  <a:pt x="402" y="51"/>
                  <a:pt x="402" y="51"/>
                </a:cubicBezTo>
                <a:cubicBezTo>
                  <a:pt x="386" y="50"/>
                  <a:pt x="386" y="50"/>
                  <a:pt x="386" y="50"/>
                </a:cubicBezTo>
                <a:cubicBezTo>
                  <a:pt x="370" y="49"/>
                  <a:pt x="370" y="49"/>
                  <a:pt x="370" y="49"/>
                </a:cubicBezTo>
                <a:cubicBezTo>
                  <a:pt x="365" y="49"/>
                  <a:pt x="359" y="48"/>
                  <a:pt x="354" y="48"/>
                </a:cubicBezTo>
                <a:cubicBezTo>
                  <a:pt x="322" y="45"/>
                  <a:pt x="322" y="45"/>
                  <a:pt x="322" y="45"/>
                </a:cubicBezTo>
                <a:cubicBezTo>
                  <a:pt x="312" y="44"/>
                  <a:pt x="301" y="43"/>
                  <a:pt x="291" y="41"/>
                </a:cubicBezTo>
                <a:cubicBezTo>
                  <a:pt x="286" y="41"/>
                  <a:pt x="280" y="40"/>
                  <a:pt x="275" y="39"/>
                </a:cubicBezTo>
                <a:cubicBezTo>
                  <a:pt x="259" y="37"/>
                  <a:pt x="259" y="37"/>
                  <a:pt x="259" y="37"/>
                </a:cubicBezTo>
                <a:cubicBezTo>
                  <a:pt x="244" y="35"/>
                  <a:pt x="244" y="35"/>
                  <a:pt x="244" y="35"/>
                </a:cubicBezTo>
                <a:cubicBezTo>
                  <a:pt x="238" y="34"/>
                  <a:pt x="233" y="33"/>
                  <a:pt x="228" y="32"/>
                </a:cubicBezTo>
                <a:cubicBezTo>
                  <a:pt x="197" y="26"/>
                  <a:pt x="197" y="26"/>
                  <a:pt x="197" y="26"/>
                </a:cubicBezTo>
                <a:cubicBezTo>
                  <a:pt x="194" y="25"/>
                  <a:pt x="192" y="25"/>
                  <a:pt x="189" y="24"/>
                </a:cubicBezTo>
                <a:cubicBezTo>
                  <a:pt x="181" y="22"/>
                  <a:pt x="181" y="22"/>
                  <a:pt x="181" y="22"/>
                </a:cubicBezTo>
                <a:cubicBezTo>
                  <a:pt x="166" y="19"/>
                  <a:pt x="166" y="19"/>
                  <a:pt x="166" y="19"/>
                </a:cubicBezTo>
                <a:cubicBezTo>
                  <a:pt x="150" y="15"/>
                  <a:pt x="150" y="15"/>
                  <a:pt x="150" y="15"/>
                </a:cubicBezTo>
                <a:cubicBezTo>
                  <a:pt x="145" y="14"/>
                  <a:pt x="140" y="12"/>
                  <a:pt x="135" y="10"/>
                </a:cubicBezTo>
                <a:cubicBezTo>
                  <a:pt x="105" y="1"/>
                  <a:pt x="105" y="1"/>
                  <a:pt x="105" y="1"/>
                </a:cubicBezTo>
                <a:cubicBezTo>
                  <a:pt x="101" y="0"/>
                  <a:pt x="101" y="0"/>
                  <a:pt x="101" y="0"/>
                </a:cubicBezTo>
                <a:cubicBezTo>
                  <a:pt x="101" y="4"/>
                  <a:pt x="101" y="4"/>
                  <a:pt x="101" y="4"/>
                </a:cubicBezTo>
                <a:cubicBezTo>
                  <a:pt x="95" y="1006"/>
                  <a:pt x="95" y="1006"/>
                  <a:pt x="95" y="1006"/>
                </a:cubicBezTo>
                <a:cubicBezTo>
                  <a:pt x="95" y="1012"/>
                  <a:pt x="95" y="1012"/>
                  <a:pt x="95" y="1012"/>
                </a:cubicBezTo>
                <a:cubicBezTo>
                  <a:pt x="100" y="1014"/>
                  <a:pt x="100" y="1014"/>
                  <a:pt x="100" y="1014"/>
                </a:cubicBezTo>
                <a:cubicBezTo>
                  <a:pt x="115" y="1021"/>
                  <a:pt x="130" y="1026"/>
                  <a:pt x="145" y="1032"/>
                </a:cubicBezTo>
                <a:cubicBezTo>
                  <a:pt x="159" y="1037"/>
                  <a:pt x="174" y="1042"/>
                  <a:pt x="190" y="1047"/>
                </a:cubicBezTo>
                <a:cubicBezTo>
                  <a:pt x="197" y="1049"/>
                  <a:pt x="205" y="1051"/>
                  <a:pt x="213" y="1053"/>
                </a:cubicBezTo>
                <a:cubicBezTo>
                  <a:pt x="220" y="1055"/>
                  <a:pt x="228" y="1057"/>
                  <a:pt x="236" y="1059"/>
                </a:cubicBezTo>
                <a:cubicBezTo>
                  <a:pt x="243" y="1061"/>
                  <a:pt x="251" y="1062"/>
                  <a:pt x="259" y="1064"/>
                </a:cubicBezTo>
                <a:cubicBezTo>
                  <a:pt x="271" y="1066"/>
                  <a:pt x="271" y="1066"/>
                  <a:pt x="271" y="1066"/>
                </a:cubicBezTo>
                <a:cubicBezTo>
                  <a:pt x="283" y="1067"/>
                  <a:pt x="283" y="1067"/>
                  <a:pt x="283" y="1067"/>
                </a:cubicBezTo>
                <a:cubicBezTo>
                  <a:pt x="299" y="1070"/>
                  <a:pt x="315" y="1071"/>
                  <a:pt x="331" y="1071"/>
                </a:cubicBezTo>
                <a:cubicBezTo>
                  <a:pt x="332" y="1071"/>
                  <a:pt x="333" y="1071"/>
                  <a:pt x="334" y="1071"/>
                </a:cubicBezTo>
                <a:cubicBezTo>
                  <a:pt x="337" y="1071"/>
                  <a:pt x="337" y="1071"/>
                  <a:pt x="337" y="1071"/>
                </a:cubicBezTo>
                <a:cubicBezTo>
                  <a:pt x="343" y="1071"/>
                  <a:pt x="343" y="1071"/>
                  <a:pt x="343" y="1071"/>
                </a:cubicBezTo>
                <a:cubicBezTo>
                  <a:pt x="355" y="1070"/>
                  <a:pt x="355" y="1070"/>
                  <a:pt x="355" y="1070"/>
                </a:cubicBezTo>
                <a:cubicBezTo>
                  <a:pt x="363" y="1070"/>
                  <a:pt x="371" y="1070"/>
                  <a:pt x="378" y="1069"/>
                </a:cubicBezTo>
                <a:cubicBezTo>
                  <a:pt x="394" y="1068"/>
                  <a:pt x="410" y="1067"/>
                  <a:pt x="426" y="1065"/>
                </a:cubicBezTo>
                <a:cubicBezTo>
                  <a:pt x="472" y="1061"/>
                  <a:pt x="472" y="1061"/>
                  <a:pt x="472" y="1061"/>
                </a:cubicBezTo>
                <a:cubicBezTo>
                  <a:pt x="496" y="1058"/>
                  <a:pt x="496" y="1058"/>
                  <a:pt x="496" y="1058"/>
                </a:cubicBezTo>
                <a:cubicBezTo>
                  <a:pt x="503" y="1058"/>
                  <a:pt x="511" y="1057"/>
                  <a:pt x="519" y="1057"/>
                </a:cubicBezTo>
                <a:cubicBezTo>
                  <a:pt x="526" y="1056"/>
                  <a:pt x="534" y="1056"/>
                  <a:pt x="542" y="1055"/>
                </a:cubicBezTo>
                <a:cubicBezTo>
                  <a:pt x="553" y="1055"/>
                  <a:pt x="553" y="1055"/>
                  <a:pt x="553" y="1055"/>
                </a:cubicBezTo>
                <a:cubicBezTo>
                  <a:pt x="565" y="1055"/>
                  <a:pt x="565" y="1055"/>
                  <a:pt x="565" y="1055"/>
                </a:cubicBezTo>
                <a:cubicBezTo>
                  <a:pt x="580" y="1055"/>
                  <a:pt x="595" y="1056"/>
                  <a:pt x="611" y="1057"/>
                </a:cubicBezTo>
                <a:cubicBezTo>
                  <a:pt x="614" y="1057"/>
                  <a:pt x="618" y="1058"/>
                  <a:pt x="622" y="1058"/>
                </a:cubicBezTo>
                <a:cubicBezTo>
                  <a:pt x="626" y="1059"/>
                  <a:pt x="629" y="1059"/>
                  <a:pt x="633" y="1060"/>
                </a:cubicBezTo>
                <a:cubicBezTo>
                  <a:pt x="644" y="1062"/>
                  <a:pt x="644" y="1062"/>
                  <a:pt x="644" y="1062"/>
                </a:cubicBezTo>
                <a:cubicBezTo>
                  <a:pt x="647" y="1063"/>
                  <a:pt x="647" y="1063"/>
                  <a:pt x="647" y="1063"/>
                </a:cubicBezTo>
                <a:cubicBezTo>
                  <a:pt x="648" y="1063"/>
                  <a:pt x="648" y="1063"/>
                  <a:pt x="648" y="1063"/>
                </a:cubicBezTo>
                <a:cubicBezTo>
                  <a:pt x="649" y="1063"/>
                  <a:pt x="649" y="1063"/>
                  <a:pt x="649" y="1063"/>
                </a:cubicBezTo>
                <a:cubicBezTo>
                  <a:pt x="655" y="1065"/>
                  <a:pt x="655" y="1065"/>
                  <a:pt x="655" y="1065"/>
                </a:cubicBezTo>
                <a:cubicBezTo>
                  <a:pt x="666" y="1068"/>
                  <a:pt x="666" y="1068"/>
                  <a:pt x="666" y="1068"/>
                </a:cubicBezTo>
                <a:cubicBezTo>
                  <a:pt x="677" y="1071"/>
                  <a:pt x="677" y="1071"/>
                  <a:pt x="677" y="1071"/>
                </a:cubicBezTo>
                <a:cubicBezTo>
                  <a:pt x="684" y="1073"/>
                  <a:pt x="692" y="1076"/>
                  <a:pt x="699" y="1078"/>
                </a:cubicBezTo>
                <a:cubicBezTo>
                  <a:pt x="711" y="1082"/>
                  <a:pt x="722" y="1087"/>
                  <a:pt x="734" y="1092"/>
                </a:cubicBezTo>
                <a:cubicBezTo>
                  <a:pt x="725" y="1090"/>
                  <a:pt x="716" y="1088"/>
                  <a:pt x="708" y="1087"/>
                </a:cubicBezTo>
                <a:cubicBezTo>
                  <a:pt x="703" y="1087"/>
                  <a:pt x="699" y="1086"/>
                  <a:pt x="694" y="1085"/>
                </a:cubicBezTo>
                <a:cubicBezTo>
                  <a:pt x="680" y="1084"/>
                  <a:pt x="680" y="1084"/>
                  <a:pt x="680" y="1084"/>
                </a:cubicBezTo>
                <a:cubicBezTo>
                  <a:pt x="674" y="1084"/>
                  <a:pt x="674" y="1084"/>
                  <a:pt x="674" y="1084"/>
                </a:cubicBezTo>
                <a:cubicBezTo>
                  <a:pt x="667" y="1083"/>
                  <a:pt x="667" y="1083"/>
                  <a:pt x="667" y="1083"/>
                </a:cubicBezTo>
                <a:cubicBezTo>
                  <a:pt x="653" y="1083"/>
                  <a:pt x="653" y="1083"/>
                  <a:pt x="653" y="1083"/>
                </a:cubicBezTo>
                <a:cubicBezTo>
                  <a:pt x="649" y="1083"/>
                  <a:pt x="644" y="1083"/>
                  <a:pt x="639" y="1083"/>
                </a:cubicBezTo>
                <a:cubicBezTo>
                  <a:pt x="625" y="1083"/>
                  <a:pt x="625" y="1083"/>
                  <a:pt x="625" y="1083"/>
                </a:cubicBezTo>
                <a:cubicBezTo>
                  <a:pt x="623" y="1083"/>
                  <a:pt x="621" y="1083"/>
                  <a:pt x="618" y="1083"/>
                </a:cubicBezTo>
                <a:cubicBezTo>
                  <a:pt x="612" y="1084"/>
                  <a:pt x="612" y="1084"/>
                  <a:pt x="612" y="1084"/>
                </a:cubicBezTo>
                <a:cubicBezTo>
                  <a:pt x="599" y="1085"/>
                  <a:pt x="599" y="1085"/>
                  <a:pt x="599" y="1085"/>
                </a:cubicBezTo>
                <a:cubicBezTo>
                  <a:pt x="595" y="1085"/>
                  <a:pt x="595" y="1085"/>
                  <a:pt x="595" y="1085"/>
                </a:cubicBezTo>
                <a:cubicBezTo>
                  <a:pt x="592" y="1086"/>
                  <a:pt x="592" y="1086"/>
                  <a:pt x="592" y="1086"/>
                </a:cubicBezTo>
                <a:cubicBezTo>
                  <a:pt x="585" y="1087"/>
                  <a:pt x="585" y="1087"/>
                  <a:pt x="585" y="1087"/>
                </a:cubicBezTo>
                <a:cubicBezTo>
                  <a:pt x="572" y="1088"/>
                  <a:pt x="572" y="1088"/>
                  <a:pt x="572" y="1088"/>
                </a:cubicBezTo>
                <a:cubicBezTo>
                  <a:pt x="555" y="1091"/>
                  <a:pt x="537" y="1094"/>
                  <a:pt x="520" y="1097"/>
                </a:cubicBezTo>
                <a:cubicBezTo>
                  <a:pt x="512" y="1099"/>
                  <a:pt x="503" y="1101"/>
                  <a:pt x="495" y="1103"/>
                </a:cubicBezTo>
                <a:cubicBezTo>
                  <a:pt x="470" y="1108"/>
                  <a:pt x="470" y="1108"/>
                  <a:pt x="470" y="1108"/>
                </a:cubicBezTo>
                <a:cubicBezTo>
                  <a:pt x="420" y="1118"/>
                  <a:pt x="420" y="1118"/>
                  <a:pt x="420" y="1118"/>
                </a:cubicBezTo>
                <a:cubicBezTo>
                  <a:pt x="404" y="1121"/>
                  <a:pt x="387" y="1125"/>
                  <a:pt x="371" y="1127"/>
                </a:cubicBezTo>
                <a:cubicBezTo>
                  <a:pt x="354" y="1130"/>
                  <a:pt x="338" y="1132"/>
                  <a:pt x="321" y="1135"/>
                </a:cubicBezTo>
                <a:cubicBezTo>
                  <a:pt x="296" y="1137"/>
                  <a:pt x="296" y="1137"/>
                  <a:pt x="296" y="1137"/>
                </a:cubicBezTo>
                <a:cubicBezTo>
                  <a:pt x="284" y="1139"/>
                  <a:pt x="284" y="1139"/>
                  <a:pt x="284" y="1139"/>
                </a:cubicBezTo>
                <a:cubicBezTo>
                  <a:pt x="271" y="1140"/>
                  <a:pt x="271" y="1140"/>
                  <a:pt x="271" y="1140"/>
                </a:cubicBezTo>
                <a:cubicBezTo>
                  <a:pt x="246" y="1141"/>
                  <a:pt x="246" y="1141"/>
                  <a:pt x="246" y="1141"/>
                </a:cubicBezTo>
                <a:cubicBezTo>
                  <a:pt x="238" y="1142"/>
                  <a:pt x="230" y="1142"/>
                  <a:pt x="222" y="1142"/>
                </a:cubicBezTo>
                <a:cubicBezTo>
                  <a:pt x="205" y="1143"/>
                  <a:pt x="188" y="1142"/>
                  <a:pt x="172" y="1142"/>
                </a:cubicBezTo>
                <a:cubicBezTo>
                  <a:pt x="163" y="1142"/>
                  <a:pt x="155" y="1141"/>
                  <a:pt x="147" y="1140"/>
                </a:cubicBezTo>
                <a:cubicBezTo>
                  <a:pt x="122" y="1139"/>
                  <a:pt x="122" y="1139"/>
                  <a:pt x="122" y="1139"/>
                </a:cubicBezTo>
                <a:cubicBezTo>
                  <a:pt x="105" y="1137"/>
                  <a:pt x="88" y="1135"/>
                  <a:pt x="72" y="1133"/>
                </a:cubicBezTo>
                <a:cubicBezTo>
                  <a:pt x="36" y="1127"/>
                  <a:pt x="36" y="1127"/>
                  <a:pt x="36" y="1127"/>
                </a:cubicBezTo>
                <a:cubicBezTo>
                  <a:pt x="19" y="159"/>
                  <a:pt x="19" y="159"/>
                  <a:pt x="19" y="159"/>
                </a:cubicBezTo>
                <a:cubicBezTo>
                  <a:pt x="1" y="1142"/>
                  <a:pt x="1" y="1142"/>
                  <a:pt x="1" y="1142"/>
                </a:cubicBezTo>
                <a:cubicBezTo>
                  <a:pt x="0" y="1157"/>
                  <a:pt x="0" y="1157"/>
                  <a:pt x="0" y="1157"/>
                </a:cubicBezTo>
                <a:cubicBezTo>
                  <a:pt x="15" y="1160"/>
                  <a:pt x="15" y="1160"/>
                  <a:pt x="15" y="1160"/>
                </a:cubicBezTo>
                <a:cubicBezTo>
                  <a:pt x="66" y="1170"/>
                  <a:pt x="66" y="1170"/>
                  <a:pt x="66" y="1170"/>
                </a:cubicBezTo>
                <a:cubicBezTo>
                  <a:pt x="83" y="1173"/>
                  <a:pt x="100" y="1176"/>
                  <a:pt x="117" y="1178"/>
                </a:cubicBezTo>
                <a:cubicBezTo>
                  <a:pt x="143" y="1181"/>
                  <a:pt x="143" y="1181"/>
                  <a:pt x="143" y="1181"/>
                </a:cubicBezTo>
                <a:cubicBezTo>
                  <a:pt x="152" y="1181"/>
                  <a:pt x="161" y="1183"/>
                  <a:pt x="169" y="1183"/>
                </a:cubicBezTo>
                <a:cubicBezTo>
                  <a:pt x="187" y="1184"/>
                  <a:pt x="204" y="1185"/>
                  <a:pt x="222" y="1185"/>
                </a:cubicBezTo>
                <a:cubicBezTo>
                  <a:pt x="230" y="1185"/>
                  <a:pt x="239" y="1185"/>
                  <a:pt x="248" y="1185"/>
                </a:cubicBezTo>
                <a:cubicBezTo>
                  <a:pt x="274" y="1185"/>
                  <a:pt x="274" y="1185"/>
                  <a:pt x="274" y="1185"/>
                </a:cubicBezTo>
                <a:cubicBezTo>
                  <a:pt x="287" y="1184"/>
                  <a:pt x="287" y="1184"/>
                  <a:pt x="287" y="1184"/>
                </a:cubicBezTo>
                <a:cubicBezTo>
                  <a:pt x="300" y="1183"/>
                  <a:pt x="300" y="1183"/>
                  <a:pt x="300" y="1183"/>
                </a:cubicBezTo>
                <a:cubicBezTo>
                  <a:pt x="309" y="1183"/>
                  <a:pt x="317" y="1182"/>
                  <a:pt x="326" y="1181"/>
                </a:cubicBezTo>
                <a:cubicBezTo>
                  <a:pt x="343" y="1180"/>
                  <a:pt x="361" y="1178"/>
                  <a:pt x="378" y="1176"/>
                </a:cubicBezTo>
                <a:cubicBezTo>
                  <a:pt x="395" y="1173"/>
                  <a:pt x="412" y="1171"/>
                  <a:pt x="429" y="1168"/>
                </a:cubicBezTo>
                <a:cubicBezTo>
                  <a:pt x="480" y="1159"/>
                  <a:pt x="480" y="1159"/>
                  <a:pt x="480" y="1159"/>
                </a:cubicBezTo>
                <a:cubicBezTo>
                  <a:pt x="505" y="1155"/>
                  <a:pt x="505" y="1155"/>
                  <a:pt x="505" y="1155"/>
                </a:cubicBezTo>
                <a:cubicBezTo>
                  <a:pt x="513" y="1154"/>
                  <a:pt x="522" y="1152"/>
                  <a:pt x="530" y="1151"/>
                </a:cubicBezTo>
                <a:cubicBezTo>
                  <a:pt x="547" y="1148"/>
                  <a:pt x="563" y="1146"/>
                  <a:pt x="579" y="1144"/>
                </a:cubicBezTo>
                <a:cubicBezTo>
                  <a:pt x="591" y="1143"/>
                  <a:pt x="591" y="1143"/>
                  <a:pt x="591" y="1143"/>
                </a:cubicBezTo>
                <a:cubicBezTo>
                  <a:pt x="597" y="1142"/>
                  <a:pt x="597" y="1142"/>
                  <a:pt x="597" y="1142"/>
                </a:cubicBezTo>
                <a:cubicBezTo>
                  <a:pt x="600" y="1142"/>
                  <a:pt x="600" y="1142"/>
                  <a:pt x="600" y="1142"/>
                </a:cubicBezTo>
                <a:cubicBezTo>
                  <a:pt x="601" y="1142"/>
                  <a:pt x="601" y="1142"/>
                  <a:pt x="601" y="1142"/>
                </a:cubicBezTo>
                <a:cubicBezTo>
                  <a:pt x="603" y="1142"/>
                  <a:pt x="603" y="1142"/>
                  <a:pt x="603" y="1142"/>
                </a:cubicBezTo>
                <a:cubicBezTo>
                  <a:pt x="615" y="1141"/>
                  <a:pt x="615" y="1141"/>
                  <a:pt x="615" y="1141"/>
                </a:cubicBezTo>
                <a:cubicBezTo>
                  <a:pt x="622" y="1141"/>
                  <a:pt x="622" y="1141"/>
                  <a:pt x="622" y="1141"/>
                </a:cubicBezTo>
                <a:cubicBezTo>
                  <a:pt x="624" y="1141"/>
                  <a:pt x="626" y="1141"/>
                  <a:pt x="628" y="1141"/>
                </a:cubicBezTo>
                <a:cubicBezTo>
                  <a:pt x="640" y="1141"/>
                  <a:pt x="640" y="1141"/>
                  <a:pt x="640" y="1141"/>
                </a:cubicBezTo>
                <a:cubicBezTo>
                  <a:pt x="643" y="1141"/>
                  <a:pt x="647" y="1141"/>
                  <a:pt x="651" y="1142"/>
                </a:cubicBezTo>
                <a:cubicBezTo>
                  <a:pt x="663" y="1143"/>
                  <a:pt x="663" y="1143"/>
                  <a:pt x="663" y="1143"/>
                </a:cubicBezTo>
                <a:cubicBezTo>
                  <a:pt x="669" y="1143"/>
                  <a:pt x="669" y="1143"/>
                  <a:pt x="669" y="1143"/>
                </a:cubicBezTo>
                <a:cubicBezTo>
                  <a:pt x="675" y="1144"/>
                  <a:pt x="675" y="1144"/>
                  <a:pt x="675" y="1144"/>
                </a:cubicBezTo>
                <a:cubicBezTo>
                  <a:pt x="686" y="1145"/>
                  <a:pt x="686" y="1145"/>
                  <a:pt x="686" y="1145"/>
                </a:cubicBezTo>
                <a:cubicBezTo>
                  <a:pt x="690" y="1146"/>
                  <a:pt x="694" y="1147"/>
                  <a:pt x="698" y="1147"/>
                </a:cubicBezTo>
                <a:cubicBezTo>
                  <a:pt x="706" y="1148"/>
                  <a:pt x="714" y="1150"/>
                  <a:pt x="721" y="1152"/>
                </a:cubicBezTo>
                <a:cubicBezTo>
                  <a:pt x="736" y="1156"/>
                  <a:pt x="751" y="1161"/>
                  <a:pt x="766" y="1166"/>
                </a:cubicBezTo>
                <a:cubicBezTo>
                  <a:pt x="776" y="1171"/>
                  <a:pt x="776" y="1171"/>
                  <a:pt x="776" y="1171"/>
                </a:cubicBezTo>
                <a:cubicBezTo>
                  <a:pt x="780" y="1173"/>
                  <a:pt x="783" y="1174"/>
                  <a:pt x="786" y="1176"/>
                </a:cubicBezTo>
                <a:cubicBezTo>
                  <a:pt x="790" y="1178"/>
                  <a:pt x="793" y="1179"/>
                  <a:pt x="796" y="1181"/>
                </a:cubicBezTo>
                <a:cubicBezTo>
                  <a:pt x="798" y="1182"/>
                  <a:pt x="799" y="1183"/>
                  <a:pt x="801" y="1184"/>
                </a:cubicBezTo>
                <a:cubicBezTo>
                  <a:pt x="801" y="1184"/>
                  <a:pt x="802" y="1185"/>
                  <a:pt x="803" y="1185"/>
                </a:cubicBezTo>
                <a:cubicBezTo>
                  <a:pt x="804" y="1186"/>
                  <a:pt x="804" y="1186"/>
                  <a:pt x="804" y="1186"/>
                </a:cubicBezTo>
                <a:cubicBezTo>
                  <a:pt x="804" y="1186"/>
                  <a:pt x="804" y="1186"/>
                  <a:pt x="804" y="1186"/>
                </a:cubicBezTo>
                <a:cubicBezTo>
                  <a:pt x="804" y="1186"/>
                  <a:pt x="804" y="1186"/>
                  <a:pt x="804" y="1186"/>
                </a:cubicBezTo>
                <a:cubicBezTo>
                  <a:pt x="873" y="1186"/>
                  <a:pt x="873" y="1186"/>
                  <a:pt x="873" y="1186"/>
                </a:cubicBezTo>
                <a:cubicBezTo>
                  <a:pt x="873" y="1186"/>
                  <a:pt x="873" y="1186"/>
                  <a:pt x="873" y="1186"/>
                </a:cubicBezTo>
                <a:cubicBezTo>
                  <a:pt x="873" y="1186"/>
                  <a:pt x="873" y="1186"/>
                  <a:pt x="873" y="1186"/>
                </a:cubicBezTo>
                <a:cubicBezTo>
                  <a:pt x="874" y="1185"/>
                  <a:pt x="874" y="1185"/>
                  <a:pt x="874" y="1185"/>
                </a:cubicBezTo>
                <a:cubicBezTo>
                  <a:pt x="875" y="1185"/>
                  <a:pt x="876" y="1184"/>
                  <a:pt x="876" y="1184"/>
                </a:cubicBezTo>
                <a:cubicBezTo>
                  <a:pt x="878" y="1183"/>
                  <a:pt x="879" y="1182"/>
                  <a:pt x="881" y="1181"/>
                </a:cubicBezTo>
                <a:cubicBezTo>
                  <a:pt x="884" y="1179"/>
                  <a:pt x="887" y="1178"/>
                  <a:pt x="891" y="1176"/>
                </a:cubicBezTo>
                <a:cubicBezTo>
                  <a:pt x="894" y="1174"/>
                  <a:pt x="897" y="1173"/>
                  <a:pt x="901" y="1171"/>
                </a:cubicBezTo>
                <a:cubicBezTo>
                  <a:pt x="911" y="1166"/>
                  <a:pt x="911" y="1166"/>
                  <a:pt x="911" y="1166"/>
                </a:cubicBezTo>
                <a:cubicBezTo>
                  <a:pt x="926" y="1161"/>
                  <a:pt x="941" y="1156"/>
                  <a:pt x="956" y="1152"/>
                </a:cubicBezTo>
                <a:cubicBezTo>
                  <a:pt x="963" y="1150"/>
                  <a:pt x="971" y="1148"/>
                  <a:pt x="979" y="1147"/>
                </a:cubicBezTo>
                <a:cubicBezTo>
                  <a:pt x="983" y="1147"/>
                  <a:pt x="987" y="1146"/>
                  <a:pt x="991" y="1145"/>
                </a:cubicBezTo>
                <a:cubicBezTo>
                  <a:pt x="1002" y="1144"/>
                  <a:pt x="1002" y="1144"/>
                  <a:pt x="1002" y="1144"/>
                </a:cubicBezTo>
                <a:cubicBezTo>
                  <a:pt x="1008" y="1143"/>
                  <a:pt x="1008" y="1143"/>
                  <a:pt x="1008" y="1143"/>
                </a:cubicBezTo>
                <a:cubicBezTo>
                  <a:pt x="1014" y="1143"/>
                  <a:pt x="1014" y="1143"/>
                  <a:pt x="1014" y="1143"/>
                </a:cubicBezTo>
                <a:cubicBezTo>
                  <a:pt x="1026" y="1142"/>
                  <a:pt x="1026" y="1142"/>
                  <a:pt x="1026" y="1142"/>
                </a:cubicBezTo>
                <a:cubicBezTo>
                  <a:pt x="1030" y="1141"/>
                  <a:pt x="1034" y="1141"/>
                  <a:pt x="1038" y="1141"/>
                </a:cubicBezTo>
                <a:cubicBezTo>
                  <a:pt x="1049" y="1141"/>
                  <a:pt x="1049" y="1141"/>
                  <a:pt x="1049" y="1141"/>
                </a:cubicBezTo>
                <a:cubicBezTo>
                  <a:pt x="1051" y="1141"/>
                  <a:pt x="1053" y="1141"/>
                  <a:pt x="1055" y="1141"/>
                </a:cubicBezTo>
                <a:cubicBezTo>
                  <a:pt x="1062" y="1141"/>
                  <a:pt x="1062" y="1141"/>
                  <a:pt x="1062" y="1141"/>
                </a:cubicBezTo>
                <a:cubicBezTo>
                  <a:pt x="1074" y="1142"/>
                  <a:pt x="1074" y="1142"/>
                  <a:pt x="1074" y="1142"/>
                </a:cubicBezTo>
                <a:cubicBezTo>
                  <a:pt x="1076" y="1142"/>
                  <a:pt x="1076" y="1142"/>
                  <a:pt x="1076" y="1142"/>
                </a:cubicBezTo>
                <a:cubicBezTo>
                  <a:pt x="1077" y="1142"/>
                  <a:pt x="1077" y="1142"/>
                  <a:pt x="1077" y="1142"/>
                </a:cubicBezTo>
                <a:cubicBezTo>
                  <a:pt x="1077" y="1142"/>
                  <a:pt x="1077" y="1142"/>
                  <a:pt x="1077" y="1142"/>
                </a:cubicBezTo>
                <a:cubicBezTo>
                  <a:pt x="1080" y="1142"/>
                  <a:pt x="1080" y="1142"/>
                  <a:pt x="1080" y="1142"/>
                </a:cubicBezTo>
                <a:cubicBezTo>
                  <a:pt x="1086" y="1143"/>
                  <a:pt x="1086" y="1143"/>
                  <a:pt x="1086" y="1143"/>
                </a:cubicBezTo>
                <a:cubicBezTo>
                  <a:pt x="1098" y="1144"/>
                  <a:pt x="1098" y="1144"/>
                  <a:pt x="1098" y="1144"/>
                </a:cubicBezTo>
                <a:cubicBezTo>
                  <a:pt x="1114" y="1146"/>
                  <a:pt x="1131" y="1148"/>
                  <a:pt x="1147" y="1151"/>
                </a:cubicBezTo>
                <a:cubicBezTo>
                  <a:pt x="1155" y="1152"/>
                  <a:pt x="1164" y="1154"/>
                  <a:pt x="1172" y="1155"/>
                </a:cubicBezTo>
                <a:cubicBezTo>
                  <a:pt x="1197" y="1159"/>
                  <a:pt x="1197" y="1159"/>
                  <a:pt x="1197" y="1159"/>
                </a:cubicBezTo>
                <a:cubicBezTo>
                  <a:pt x="1248" y="1168"/>
                  <a:pt x="1248" y="1168"/>
                  <a:pt x="1248" y="1168"/>
                </a:cubicBezTo>
                <a:cubicBezTo>
                  <a:pt x="1265" y="1171"/>
                  <a:pt x="1282" y="1173"/>
                  <a:pt x="1299" y="1176"/>
                </a:cubicBezTo>
                <a:cubicBezTo>
                  <a:pt x="1316" y="1178"/>
                  <a:pt x="1334" y="1180"/>
                  <a:pt x="1351" y="1181"/>
                </a:cubicBezTo>
                <a:cubicBezTo>
                  <a:pt x="1360" y="1182"/>
                  <a:pt x="1368" y="1183"/>
                  <a:pt x="1377" y="1183"/>
                </a:cubicBezTo>
                <a:cubicBezTo>
                  <a:pt x="1390" y="1184"/>
                  <a:pt x="1390" y="1184"/>
                  <a:pt x="1390" y="1184"/>
                </a:cubicBezTo>
                <a:cubicBezTo>
                  <a:pt x="1403" y="1185"/>
                  <a:pt x="1403" y="1185"/>
                  <a:pt x="1403" y="1185"/>
                </a:cubicBezTo>
                <a:cubicBezTo>
                  <a:pt x="1429" y="1185"/>
                  <a:pt x="1429" y="1185"/>
                  <a:pt x="1429" y="1185"/>
                </a:cubicBezTo>
                <a:cubicBezTo>
                  <a:pt x="1438" y="1185"/>
                  <a:pt x="1447" y="1185"/>
                  <a:pt x="1455" y="1185"/>
                </a:cubicBezTo>
                <a:cubicBezTo>
                  <a:pt x="1473" y="1185"/>
                  <a:pt x="1490" y="1184"/>
                  <a:pt x="1508" y="1183"/>
                </a:cubicBezTo>
                <a:cubicBezTo>
                  <a:pt x="1516" y="1183"/>
                  <a:pt x="1525" y="1181"/>
                  <a:pt x="1534" y="1181"/>
                </a:cubicBezTo>
                <a:cubicBezTo>
                  <a:pt x="1560" y="1178"/>
                  <a:pt x="1560" y="1178"/>
                  <a:pt x="1560" y="1178"/>
                </a:cubicBezTo>
                <a:cubicBezTo>
                  <a:pt x="1577" y="1176"/>
                  <a:pt x="1594" y="1173"/>
                  <a:pt x="1611" y="1170"/>
                </a:cubicBezTo>
                <a:cubicBezTo>
                  <a:pt x="1662" y="1160"/>
                  <a:pt x="1662" y="1160"/>
                  <a:pt x="1662" y="1160"/>
                </a:cubicBezTo>
                <a:cubicBezTo>
                  <a:pt x="1677" y="1157"/>
                  <a:pt x="1677" y="1157"/>
                  <a:pt x="1677" y="1157"/>
                </a:cubicBezTo>
                <a:lnTo>
                  <a:pt x="1676" y="114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prstClr val="black"/>
              </a:solidFill>
              <a:effectLst/>
              <a:uLnTx/>
              <a:uFillTx/>
              <a:latin typeface="等线" panose="020F0502020204030204"/>
              <a:ea typeface="等线" panose="02010600030101010101" pitchFamily="2" charset="-122"/>
              <a:cs typeface="+mn-cs"/>
            </a:endParaRPr>
          </a:p>
        </p:txBody>
      </p:sp>
      <p:sp>
        <p:nvSpPr>
          <p:cNvPr id="39" name="椭圆 38">
            <a:extLst>
              <a:ext uri="{FF2B5EF4-FFF2-40B4-BE49-F238E27FC236}">
                <a16:creationId xmlns:a16="http://schemas.microsoft.com/office/drawing/2014/main" id="{81FC8C60-9C12-4E6C-BD97-DDF7F923FAAE}"/>
              </a:ext>
            </a:extLst>
          </p:cNvPr>
          <p:cNvSpPr/>
          <p:nvPr/>
        </p:nvSpPr>
        <p:spPr>
          <a:xfrm>
            <a:off x="1407097" y="3429001"/>
            <a:ext cx="878905" cy="87890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41" name="文本框 40">
            <a:extLst>
              <a:ext uri="{FF2B5EF4-FFF2-40B4-BE49-F238E27FC236}">
                <a16:creationId xmlns:a16="http://schemas.microsoft.com/office/drawing/2014/main" id="{9059FA0A-51B5-48CA-AB6C-4F6B4222BEFC}"/>
              </a:ext>
            </a:extLst>
          </p:cNvPr>
          <p:cNvSpPr txBox="1"/>
          <p:nvPr/>
        </p:nvSpPr>
        <p:spPr>
          <a:xfrm>
            <a:off x="1572196" y="3467101"/>
            <a:ext cx="510605" cy="830997"/>
          </a:xfrm>
          <a:prstGeom prst="rect">
            <a:avLst/>
          </a:prstGeom>
          <a:noFill/>
        </p:spPr>
        <p:txBody>
          <a:bodyPr wrap="square" rtlCol="0">
            <a:spAutoFit/>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altLang="zh-CN" sz="4800" dirty="0">
                <a:solidFill>
                  <a:srgbClr val="7F2C8B"/>
                </a:solidFill>
                <a:latin typeface="思源宋体 CN Heavy" panose="02020900000000000000" pitchFamily="18" charset="-122"/>
                <a:ea typeface="思源宋体 CN Heavy" panose="02020900000000000000" pitchFamily="18" charset="-122"/>
              </a:rPr>
              <a:t>3</a:t>
            </a:r>
            <a:endParaRPr kumimoji="0" lang="zh-CN" altLang="en-US" sz="4800" b="0" i="0" u="none" strike="noStrike" kern="1200" cap="none" spc="0" normalizeH="0" baseline="0" noProof="0" dirty="0">
              <a:ln>
                <a:noFill/>
              </a:ln>
              <a:solidFill>
                <a:srgbClr val="7F2C8B"/>
              </a:solidFill>
              <a:effectLst/>
              <a:uLnTx/>
              <a:uFillTx/>
              <a:latin typeface="思源宋体 CN Heavy" panose="02020900000000000000" pitchFamily="18" charset="-122"/>
              <a:ea typeface="思源宋体 CN Heavy" panose="02020900000000000000" pitchFamily="18" charset="-122"/>
              <a:cs typeface="+mn-cs"/>
            </a:endParaRPr>
          </a:p>
        </p:txBody>
      </p:sp>
      <p:sp>
        <p:nvSpPr>
          <p:cNvPr id="3" name="文本框 2"/>
          <p:cNvSpPr txBox="1"/>
          <p:nvPr/>
        </p:nvSpPr>
        <p:spPr>
          <a:xfrm>
            <a:off x="1231270" y="4454304"/>
            <a:ext cx="5575929" cy="954107"/>
          </a:xfrm>
          <a:prstGeom prst="rect">
            <a:avLst/>
          </a:prstGeom>
          <a:noFill/>
        </p:spPr>
        <p:txBody>
          <a:bodyPr wrap="square" rtlCol="0">
            <a:spAutoFit/>
          </a:bodyPr>
          <a:lstStyle/>
          <a:p>
            <a:pPr lvl="0" defTabSz="914377">
              <a:defRPr/>
            </a:pPr>
            <a:r>
              <a:rPr lang="zh-CN" altLang="en-US" sz="2800" dirty="0">
                <a:solidFill>
                  <a:prstClr val="white"/>
                </a:solidFill>
                <a:latin typeface="微软雅黑 Light" panose="020B0502040204020203" pitchFamily="34" charset="-122"/>
                <a:ea typeface="微软雅黑 Light" panose="020B0502040204020203" pitchFamily="34" charset="-122"/>
              </a:rPr>
              <a:t>从皮凯蒂回到马克思</a:t>
            </a:r>
            <a:r>
              <a:rPr lang="en-US" altLang="zh-CN" sz="2800" dirty="0">
                <a:solidFill>
                  <a:prstClr val="white"/>
                </a:solidFill>
                <a:latin typeface="微软雅黑 Light" panose="020B0502040204020203" pitchFamily="34" charset="-122"/>
                <a:ea typeface="微软雅黑 Light" panose="020B0502040204020203" pitchFamily="34" charset="-122"/>
              </a:rPr>
              <a:t>:</a:t>
            </a:r>
            <a:r>
              <a:rPr lang="zh-CN" altLang="en-US" sz="2800" dirty="0">
                <a:solidFill>
                  <a:prstClr val="white"/>
                </a:solidFill>
                <a:latin typeface="微软雅黑 Light" panose="020B0502040204020203" pitchFamily="34" charset="-122"/>
                <a:ea typeface="微软雅黑 Light" panose="020B0502040204020203" pitchFamily="34" charset="-122"/>
              </a:rPr>
              <a:t>为什么要社会主义？</a:t>
            </a:r>
          </a:p>
        </p:txBody>
      </p:sp>
      <p:sp>
        <p:nvSpPr>
          <p:cNvPr id="2" name="文本框 1"/>
          <p:cNvSpPr txBox="1"/>
          <p:nvPr/>
        </p:nvSpPr>
        <p:spPr>
          <a:xfrm rot="20419320">
            <a:off x="8089838" y="240712"/>
            <a:ext cx="2811841" cy="3600986"/>
          </a:xfrm>
          <a:prstGeom prst="rect">
            <a:avLst/>
          </a:prstGeom>
          <a:noFill/>
        </p:spPr>
        <p:txBody>
          <a:bodyPr wrap="square" rtlCol="0">
            <a:spAutoFit/>
          </a:bodyPr>
          <a:lstStyle/>
          <a:p>
            <a:r>
              <a:rPr lang="zh-CN" altLang="en-US" sz="1600" dirty="0">
                <a:solidFill>
                  <a:schemeClr val="bg1"/>
                </a:solidFill>
              </a:rPr>
              <a:t>我认为，摧残人是资本主义的最大罪恶。我们的整个教育制度深受其害。它以夸张的姿态教学生去竞争，训练他们崇尚物欲的成功，而这些都当作为学生的未来生涯作准备。</a:t>
            </a:r>
            <a:endParaRPr lang="en-US" altLang="zh-CN" sz="1600" dirty="0">
              <a:solidFill>
                <a:schemeClr val="bg1"/>
              </a:solidFill>
            </a:endParaRPr>
          </a:p>
          <a:p>
            <a:r>
              <a:rPr lang="zh-CN" altLang="en-US" sz="1600" dirty="0">
                <a:solidFill>
                  <a:schemeClr val="bg1"/>
                </a:solidFill>
              </a:rPr>
              <a:t>我相信，只有一种办法可以消灭这种邪恶的灾祸，那就是建立社会主义经济，同时建立以社会为目标的教育制度。</a:t>
            </a:r>
            <a:endParaRPr lang="en-US" altLang="zh-CN" sz="1600" dirty="0">
              <a:solidFill>
                <a:schemeClr val="bg1"/>
              </a:solidFill>
            </a:endParaRPr>
          </a:p>
          <a:p>
            <a:r>
              <a:rPr lang="en-US" altLang="zh-CN" dirty="0">
                <a:solidFill>
                  <a:schemeClr val="bg1"/>
                </a:solidFill>
              </a:rPr>
              <a:t>——</a:t>
            </a:r>
            <a:r>
              <a:rPr lang="zh-CN" altLang="en-US" dirty="0">
                <a:solidFill>
                  <a:schemeClr val="bg1"/>
                </a:solidFill>
              </a:rPr>
              <a:t>爱因斯坦</a:t>
            </a:r>
            <a:r>
              <a:rPr lang="en-US" altLang="zh-CN" dirty="0">
                <a:solidFill>
                  <a:schemeClr val="bg1"/>
                </a:solidFill>
              </a:rPr>
              <a:t>《Monthly Review》1949</a:t>
            </a:r>
            <a:r>
              <a:rPr lang="zh-CN" altLang="en-US" dirty="0">
                <a:solidFill>
                  <a:schemeClr val="bg1"/>
                </a:solidFill>
              </a:rPr>
              <a:t>年</a:t>
            </a:r>
            <a:r>
              <a:rPr lang="en-US" altLang="zh-CN" dirty="0">
                <a:solidFill>
                  <a:schemeClr val="bg1"/>
                </a:solidFill>
              </a:rPr>
              <a:t>5</a:t>
            </a:r>
            <a:r>
              <a:rPr lang="zh-CN" altLang="en-US" dirty="0">
                <a:solidFill>
                  <a:schemeClr val="bg1"/>
                </a:solidFill>
              </a:rPr>
              <a:t>月</a:t>
            </a:r>
            <a:r>
              <a:rPr lang="en-US" altLang="zh-CN" dirty="0">
                <a:solidFill>
                  <a:schemeClr val="bg1"/>
                </a:solidFill>
              </a:rPr>
              <a:t>1</a:t>
            </a:r>
            <a:r>
              <a:rPr lang="zh-CN" altLang="en-US" dirty="0">
                <a:solidFill>
                  <a:schemeClr val="bg1"/>
                </a:solidFill>
              </a:rPr>
              <a:t>日</a:t>
            </a:r>
          </a:p>
        </p:txBody>
      </p:sp>
    </p:spTree>
    <p:extLst>
      <p:ext uri="{BB962C8B-B14F-4D97-AF65-F5344CB8AC3E}">
        <p14:creationId xmlns:p14="http://schemas.microsoft.com/office/powerpoint/2010/main" val="345707783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952E7725-3096-4969-8619-BFD45072AD94}"/>
              </a:ext>
            </a:extLst>
          </p:cNvPr>
          <p:cNvSpPr txBox="1"/>
          <p:nvPr/>
        </p:nvSpPr>
        <p:spPr>
          <a:xfrm>
            <a:off x="534498" y="304741"/>
            <a:ext cx="2051684" cy="400110"/>
          </a:xfrm>
          <a:prstGeom prst="rect">
            <a:avLst/>
          </a:prstGeom>
          <a:solidFill>
            <a:srgbClr val="7F2C8B"/>
          </a:solidFill>
        </p:spPr>
        <p:txBody>
          <a:bodyPr wrap="square" rtlCol="0">
            <a:spAutoFit/>
          </a:bodyPr>
          <a:lstStyle/>
          <a:p>
            <a:pPr lvl="0" defTabSz="914377">
              <a:defRPr/>
            </a:pPr>
            <a:r>
              <a:rPr lang="zh-CN" altLang="en-US" sz="2000" dirty="0">
                <a:solidFill>
                  <a:schemeClr val="bg1"/>
                </a:solidFill>
                <a:latin typeface="微软雅黑 Light" panose="020B0502040204020203" pitchFamily="34" charset="-122"/>
                <a:ea typeface="微软雅黑 Light" panose="020B0502040204020203" pitchFamily="34" charset="-122"/>
              </a:rPr>
              <a:t>皮凯蒂的局限性</a:t>
            </a:r>
          </a:p>
        </p:txBody>
      </p:sp>
      <p:grpSp>
        <p:nvGrpSpPr>
          <p:cNvPr id="22" name="组合 21">
            <a:extLst>
              <a:ext uri="{FF2B5EF4-FFF2-40B4-BE49-F238E27FC236}">
                <a16:creationId xmlns:a16="http://schemas.microsoft.com/office/drawing/2014/main" id="{DFC37A35-D357-4CEE-9C28-5EABD3D35C6B}"/>
              </a:ext>
            </a:extLst>
          </p:cNvPr>
          <p:cNvGrpSpPr/>
          <p:nvPr/>
        </p:nvGrpSpPr>
        <p:grpSpPr>
          <a:xfrm>
            <a:off x="10735556" y="314266"/>
            <a:ext cx="1180589" cy="400111"/>
            <a:chOff x="624303" y="901700"/>
            <a:chExt cx="10005598" cy="3390977"/>
          </a:xfrm>
          <a:solidFill>
            <a:srgbClr val="7F2C8B"/>
          </a:solidFill>
        </p:grpSpPr>
        <p:sp>
          <p:nvSpPr>
            <p:cNvPr id="23" name="Freeform 5">
              <a:extLst>
                <a:ext uri="{FF2B5EF4-FFF2-40B4-BE49-F238E27FC236}">
                  <a16:creationId xmlns:a16="http://schemas.microsoft.com/office/drawing/2014/main" id="{0ACD2635-3EA4-461E-AE91-2E7358FA9FA0}"/>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4" name="Freeform 6">
              <a:extLst>
                <a:ext uri="{FF2B5EF4-FFF2-40B4-BE49-F238E27FC236}">
                  <a16:creationId xmlns:a16="http://schemas.microsoft.com/office/drawing/2014/main" id="{70354051-F1E2-4393-ABA2-AEB53FF0D08B}"/>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5" name="Freeform 7">
              <a:extLst>
                <a:ext uri="{FF2B5EF4-FFF2-40B4-BE49-F238E27FC236}">
                  <a16:creationId xmlns:a16="http://schemas.microsoft.com/office/drawing/2014/main" id="{5FFB1BFD-2D76-4EE4-9741-31F528BE757A}"/>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6" name="Freeform 8">
              <a:extLst>
                <a:ext uri="{FF2B5EF4-FFF2-40B4-BE49-F238E27FC236}">
                  <a16:creationId xmlns:a16="http://schemas.microsoft.com/office/drawing/2014/main" id="{1EFFAA81-03B5-4C66-939C-6BBDC7932C18}"/>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7" name="Freeform 9">
              <a:extLst>
                <a:ext uri="{FF2B5EF4-FFF2-40B4-BE49-F238E27FC236}">
                  <a16:creationId xmlns:a16="http://schemas.microsoft.com/office/drawing/2014/main" id="{35B0FA74-D77A-4B32-A41D-5E20B596D219}"/>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8" name="Freeform 10">
              <a:extLst>
                <a:ext uri="{FF2B5EF4-FFF2-40B4-BE49-F238E27FC236}">
                  <a16:creationId xmlns:a16="http://schemas.microsoft.com/office/drawing/2014/main" id="{F5FC7059-5FB3-4ADB-BA26-84EF705B3174}"/>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9" name="Freeform 11">
              <a:extLst>
                <a:ext uri="{FF2B5EF4-FFF2-40B4-BE49-F238E27FC236}">
                  <a16:creationId xmlns:a16="http://schemas.microsoft.com/office/drawing/2014/main" id="{937241A3-85EE-47AC-8B4A-B01E8B1B0812}"/>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0" name="Freeform 12">
              <a:extLst>
                <a:ext uri="{FF2B5EF4-FFF2-40B4-BE49-F238E27FC236}">
                  <a16:creationId xmlns:a16="http://schemas.microsoft.com/office/drawing/2014/main" id="{99EA3DC5-4FB4-48DC-9AA6-2E2F76C34725}"/>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1" name="Freeform 13">
              <a:extLst>
                <a:ext uri="{FF2B5EF4-FFF2-40B4-BE49-F238E27FC236}">
                  <a16:creationId xmlns:a16="http://schemas.microsoft.com/office/drawing/2014/main" id="{F7187B32-A15A-480D-849D-33EF28B75687}"/>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2" name="Freeform 14">
              <a:extLst>
                <a:ext uri="{FF2B5EF4-FFF2-40B4-BE49-F238E27FC236}">
                  <a16:creationId xmlns:a16="http://schemas.microsoft.com/office/drawing/2014/main" id="{AA5721AD-3E61-4D99-A2D8-A261E897EBAC}"/>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3" name="Freeform 15">
              <a:extLst>
                <a:ext uri="{FF2B5EF4-FFF2-40B4-BE49-F238E27FC236}">
                  <a16:creationId xmlns:a16="http://schemas.microsoft.com/office/drawing/2014/main" id="{EF703E7A-053E-4111-945E-2E43B9CC9ECE}"/>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4" name="Freeform 16">
              <a:extLst>
                <a:ext uri="{FF2B5EF4-FFF2-40B4-BE49-F238E27FC236}">
                  <a16:creationId xmlns:a16="http://schemas.microsoft.com/office/drawing/2014/main" id="{01BF6BE1-5CCD-4A5F-8AFA-EF1359F1D3F2}"/>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5" name="Freeform 17">
              <a:extLst>
                <a:ext uri="{FF2B5EF4-FFF2-40B4-BE49-F238E27FC236}">
                  <a16:creationId xmlns:a16="http://schemas.microsoft.com/office/drawing/2014/main" id="{295417E9-A0A1-4465-9436-76253B18BAD3}"/>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18">
              <a:extLst>
                <a:ext uri="{FF2B5EF4-FFF2-40B4-BE49-F238E27FC236}">
                  <a16:creationId xmlns:a16="http://schemas.microsoft.com/office/drawing/2014/main" id="{009C6FB2-A1BB-4F44-87AF-D874D67D737B}"/>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19">
              <a:extLst>
                <a:ext uri="{FF2B5EF4-FFF2-40B4-BE49-F238E27FC236}">
                  <a16:creationId xmlns:a16="http://schemas.microsoft.com/office/drawing/2014/main" id="{65203D5E-987A-4E4E-B0C9-FAC54EDFF054}"/>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20">
              <a:extLst>
                <a:ext uri="{FF2B5EF4-FFF2-40B4-BE49-F238E27FC236}">
                  <a16:creationId xmlns:a16="http://schemas.microsoft.com/office/drawing/2014/main" id="{F0367FE4-2904-433D-8E0F-42933CAA638D}"/>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21">
              <a:extLst>
                <a:ext uri="{FF2B5EF4-FFF2-40B4-BE49-F238E27FC236}">
                  <a16:creationId xmlns:a16="http://schemas.microsoft.com/office/drawing/2014/main" id="{7A0A948A-A7D6-4278-97BF-F101BFD0B366}"/>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22">
              <a:extLst>
                <a:ext uri="{FF2B5EF4-FFF2-40B4-BE49-F238E27FC236}">
                  <a16:creationId xmlns:a16="http://schemas.microsoft.com/office/drawing/2014/main" id="{DC614584-067F-48D2-931A-6CE53105F005}"/>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23">
              <a:extLst>
                <a:ext uri="{FF2B5EF4-FFF2-40B4-BE49-F238E27FC236}">
                  <a16:creationId xmlns:a16="http://schemas.microsoft.com/office/drawing/2014/main" id="{244320B8-5691-4A92-B2D2-5BCE1D98EA00}"/>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24">
              <a:extLst>
                <a:ext uri="{FF2B5EF4-FFF2-40B4-BE49-F238E27FC236}">
                  <a16:creationId xmlns:a16="http://schemas.microsoft.com/office/drawing/2014/main" id="{EF78F9E3-1F79-4E42-AAC8-E4DB818FEE8B}"/>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p:sp>
        <p:nvSpPr>
          <p:cNvPr id="2" name="文本框 1"/>
          <p:cNvSpPr txBox="1"/>
          <p:nvPr/>
        </p:nvSpPr>
        <p:spPr>
          <a:xfrm>
            <a:off x="534498" y="923636"/>
            <a:ext cx="5820120" cy="5624946"/>
          </a:xfrm>
          <a:prstGeom prst="rect">
            <a:avLst/>
          </a:prstGeom>
          <a:noFill/>
        </p:spPr>
        <p:txBody>
          <a:bodyPr wrap="square" rtlCol="0">
            <a:spAutoFit/>
          </a:bodyPr>
          <a:lstStyle/>
          <a:p>
            <a:endParaRPr lang="zh-CN" altLang="en-US" dirty="0"/>
          </a:p>
        </p:txBody>
      </p:sp>
      <mc:AlternateContent xmlns:mc="http://schemas.openxmlformats.org/markup-compatibility/2006" xmlns:a14="http://schemas.microsoft.com/office/drawing/2010/main">
        <mc:Choice Requires="a14">
          <p:sp>
            <p:nvSpPr>
              <p:cNvPr id="3" name="文本框 2"/>
              <p:cNvSpPr txBox="1"/>
              <p:nvPr/>
            </p:nvSpPr>
            <p:spPr>
              <a:xfrm>
                <a:off x="516695" y="767803"/>
                <a:ext cx="11352702" cy="6446765"/>
              </a:xfrm>
              <a:prstGeom prst="rect">
                <a:avLst/>
              </a:prstGeom>
              <a:noFill/>
            </p:spPr>
            <p:txBody>
              <a:bodyPr wrap="square" rtlCol="0">
                <a:spAutoFit/>
              </a:bodyPr>
              <a:lstStyle/>
              <a:p>
                <a:r>
                  <a:rPr lang="en-US" altLang="zh-CN" dirty="0">
                    <a:solidFill>
                      <a:srgbClr val="7030A0"/>
                    </a:solidFill>
                  </a:rPr>
                  <a:t>※</a:t>
                </a:r>
                <a:r>
                  <a:rPr lang="zh-CN" altLang="en-US" dirty="0">
                    <a:solidFill>
                      <a:srgbClr val="353535"/>
                    </a:solidFill>
                  </a:rPr>
                  <a:t>皮凯蒂的</a:t>
                </a:r>
                <a:r>
                  <a:rPr lang="en-US" altLang="zh-CN" dirty="0">
                    <a:solidFill>
                      <a:srgbClr val="353535"/>
                    </a:solidFill>
                  </a:rPr>
                  <a:t>r&gt;g</a:t>
                </a:r>
                <a:r>
                  <a:rPr lang="zh-CN" altLang="en-US" dirty="0">
                    <a:solidFill>
                      <a:srgbClr val="353535"/>
                    </a:solidFill>
                  </a:rPr>
                  <a:t>是否说明说明马克思利润率下降的论断是错误的？</a:t>
                </a:r>
                <a:endParaRPr lang="en-US" altLang="zh-CN" dirty="0">
                  <a:solidFill>
                    <a:srgbClr val="353535"/>
                  </a:solidFill>
                </a:endParaRPr>
              </a:p>
              <a:p>
                <a:endParaRPr lang="en-US" altLang="zh-CN" dirty="0">
                  <a:solidFill>
                    <a:srgbClr val="7030A0"/>
                  </a:solidFill>
                </a:endParaRPr>
              </a:p>
              <a:p>
                <a:r>
                  <a:rPr lang="en-US" altLang="zh-CN" dirty="0">
                    <a:solidFill>
                      <a:srgbClr val="353535"/>
                    </a:solidFill>
                  </a:rPr>
                  <a:t>1</a:t>
                </a:r>
                <a:r>
                  <a:rPr lang="zh-CN" altLang="en-US" dirty="0">
                    <a:solidFill>
                      <a:srgbClr val="353535"/>
                    </a:solidFill>
                  </a:rPr>
                  <a:t>）资本的概念不一样，财富回报率与利润率是不同的概念。</a:t>
                </a:r>
                <a:endParaRPr lang="en-US" altLang="zh-CN" dirty="0">
                  <a:solidFill>
                    <a:srgbClr val="353535"/>
                  </a:solidFill>
                </a:endParaRPr>
              </a:p>
              <a:p>
                <a:r>
                  <a:rPr lang="en-US" altLang="zh-CN" dirty="0">
                    <a:solidFill>
                      <a:srgbClr val="353535"/>
                    </a:solidFill>
                  </a:rPr>
                  <a:t>2</a:t>
                </a:r>
                <a:r>
                  <a:rPr lang="zh-CN" altLang="en-US" dirty="0">
                    <a:solidFill>
                      <a:srgbClr val="353535"/>
                    </a:solidFill>
                  </a:rPr>
                  <a:t>）</a:t>
                </a:r>
                <a:r>
                  <a:rPr lang="en-US" altLang="zh-CN" dirty="0">
                    <a:solidFill>
                      <a:srgbClr val="353535"/>
                    </a:solidFill>
                  </a:rPr>
                  <a:t>r&gt;g</a:t>
                </a:r>
                <a:r>
                  <a:rPr lang="zh-CN" altLang="en-US" dirty="0">
                    <a:solidFill>
                      <a:srgbClr val="353535"/>
                    </a:solidFill>
                  </a:rPr>
                  <a:t>并不意味着</a:t>
                </a:r>
                <a:r>
                  <a:rPr lang="en-US" altLang="zh-CN" dirty="0">
                    <a:solidFill>
                      <a:srgbClr val="353535"/>
                    </a:solidFill>
                  </a:rPr>
                  <a:t>r</a:t>
                </a:r>
                <a:r>
                  <a:rPr lang="zh-CN" altLang="en-US" dirty="0">
                    <a:solidFill>
                      <a:srgbClr val="353535"/>
                    </a:solidFill>
                  </a:rPr>
                  <a:t>不可以下降，</a:t>
                </a:r>
                <a:r>
                  <a:rPr lang="en-US" altLang="zh-CN" dirty="0">
                    <a:solidFill>
                      <a:srgbClr val="353535"/>
                    </a:solidFill>
                  </a:rPr>
                  <a:t>g</a:t>
                </a:r>
                <a:r>
                  <a:rPr lang="zh-CN" altLang="en-US" dirty="0">
                    <a:solidFill>
                      <a:srgbClr val="353535"/>
                    </a:solidFill>
                  </a:rPr>
                  <a:t>可能下降的更快，二者并不矛盾</a:t>
                </a:r>
                <a:endParaRPr lang="en-US" altLang="zh-CN" dirty="0">
                  <a:solidFill>
                    <a:srgbClr val="353535"/>
                  </a:solidFill>
                </a:endParaRPr>
              </a:p>
              <a:p>
                <a:r>
                  <a:rPr lang="en-US" altLang="zh-CN" dirty="0">
                    <a:solidFill>
                      <a:srgbClr val="353535"/>
                    </a:solidFill>
                  </a:rPr>
                  <a:t>3</a:t>
                </a:r>
                <a:r>
                  <a:rPr lang="zh-CN" altLang="en-US" dirty="0">
                    <a:solidFill>
                      <a:srgbClr val="353535"/>
                    </a:solidFill>
                  </a:rPr>
                  <a:t>）在主流经济学逻辑体系内，</a:t>
                </a:r>
                <a:r>
                  <a:rPr lang="en-US" altLang="zh-CN" dirty="0">
                    <a:solidFill>
                      <a:srgbClr val="353535"/>
                    </a:solidFill>
                  </a:rPr>
                  <a:t> r&gt;g</a:t>
                </a:r>
                <a:r>
                  <a:rPr lang="zh-CN" altLang="en-US" dirty="0">
                    <a:solidFill>
                      <a:srgbClr val="353535"/>
                    </a:solidFill>
                  </a:rPr>
                  <a:t>意味着资本的过度积累，资本的积累意味着边际收益率下降，这与利润率下降的是一致的。</a:t>
                </a:r>
                <a:endParaRPr lang="en-US" altLang="zh-CN" dirty="0">
                  <a:solidFill>
                    <a:srgbClr val="353535"/>
                  </a:solidFill>
                </a:endParaRPr>
              </a:p>
              <a:p>
                <a:endParaRPr lang="en-US" altLang="zh-CN" dirty="0">
                  <a:solidFill>
                    <a:srgbClr val="353535"/>
                  </a:solidFill>
                </a:endParaRPr>
              </a:p>
              <a:p>
                <a14:m>
                  <m:oMath xmlns:m="http://schemas.openxmlformats.org/officeDocument/2006/math">
                    <m:r>
                      <m:rPr>
                        <m:nor/>
                      </m:rPr>
                      <a:rPr lang="en-US" altLang="zh-CN" dirty="0">
                        <a:solidFill>
                          <a:srgbClr val="7030A0"/>
                        </a:solidFill>
                      </a:rPr>
                      <m:t>※</m:t>
                    </m:r>
                    <m:r>
                      <a:rPr lang="zh-CN" altLang="en-US" i="1">
                        <a:solidFill>
                          <a:srgbClr val="353535"/>
                        </a:solidFill>
                        <a:latin typeface="Cambria Math" panose="02040503050406030204" pitchFamily="18" charset="0"/>
                      </a:rPr>
                      <m:t>𝛼</m:t>
                    </m:r>
                    <m:r>
                      <a:rPr lang="en-US" altLang="zh-CN" i="1">
                        <a:solidFill>
                          <a:srgbClr val="353535"/>
                        </a:solidFill>
                        <a:latin typeface="Cambria Math" panose="02040503050406030204" pitchFamily="18" charset="0"/>
                      </a:rPr>
                      <m:t>=</m:t>
                    </m:r>
                    <m:r>
                      <m:rPr>
                        <m:sty m:val="p"/>
                      </m:rPr>
                      <a:rPr lang="en-US" altLang="zh-CN">
                        <a:solidFill>
                          <a:srgbClr val="353535"/>
                        </a:solidFill>
                        <a:latin typeface="Cambria Math" panose="02040503050406030204" pitchFamily="18" charset="0"/>
                      </a:rPr>
                      <m:t>r</m:t>
                    </m:r>
                    <m:r>
                      <a:rPr lang="en-US" altLang="zh-CN">
                        <a:solidFill>
                          <a:srgbClr val="353535"/>
                        </a:solidFill>
                        <a:latin typeface="Cambria Math" panose="02040503050406030204" pitchFamily="18" charset="0"/>
                      </a:rPr>
                      <m:t>∗</m:t>
                    </m:r>
                    <m:r>
                      <m:rPr>
                        <m:sty m:val="p"/>
                      </m:rPr>
                      <a:rPr lang="en-US" altLang="zh-CN" dirty="0">
                        <a:solidFill>
                          <a:srgbClr val="353535"/>
                        </a:solidFill>
                        <a:latin typeface="Cambria Math" panose="02040503050406030204" pitchFamily="18" charset="0"/>
                        <a:ea typeface="Cambria Math" panose="02040503050406030204" pitchFamily="18" charset="0"/>
                      </a:rPr>
                      <m:t>β</m:t>
                    </m:r>
                  </m:oMath>
                </a14:m>
                <a:r>
                  <a:rPr lang="zh-CN" altLang="en-US" dirty="0">
                    <a:solidFill>
                      <a:srgbClr val="353535"/>
                    </a:solidFill>
                  </a:rPr>
                  <a:t>的含义</a:t>
                </a:r>
                <a:r>
                  <a:rPr lang="en-US" altLang="zh-CN" dirty="0">
                    <a:solidFill>
                      <a:srgbClr val="353535"/>
                    </a:solidFill>
                  </a:rPr>
                  <a:t>;</a:t>
                </a:r>
              </a:p>
              <a:p>
                <a:pPr algn="ctr"/>
                <a:r>
                  <a:rPr lang="zh-CN" altLang="en-US" dirty="0">
                    <a:solidFill>
                      <a:srgbClr val="353535"/>
                    </a:solidFill>
                  </a:rPr>
                  <a:t>收入对资本的弹性：</a:t>
                </a:r>
                <a14:m>
                  <m:oMath xmlns:m="http://schemas.openxmlformats.org/officeDocument/2006/math">
                    <m:r>
                      <a:rPr lang="zh-CN" altLang="en-US" i="1">
                        <a:solidFill>
                          <a:srgbClr val="353535"/>
                        </a:solidFill>
                        <a:latin typeface="Cambria Math" panose="02040503050406030204" pitchFamily="18" charset="0"/>
                      </a:rPr>
                      <m:t>𝛼</m:t>
                    </m:r>
                    <m:r>
                      <a:rPr lang="en-US" altLang="zh-CN" i="1" smtClean="0">
                        <a:solidFill>
                          <a:srgbClr val="353535"/>
                        </a:solidFill>
                        <a:latin typeface="Cambria Math" panose="02040503050406030204" pitchFamily="18" charset="0"/>
                      </a:rPr>
                      <m:t>=</m:t>
                    </m:r>
                    <m:f>
                      <m:fPr>
                        <m:ctrlPr>
                          <a:rPr lang="en-US" altLang="zh-CN" i="1">
                            <a:solidFill>
                              <a:srgbClr val="353535"/>
                            </a:solidFill>
                            <a:latin typeface="Cambria Math" panose="02040503050406030204" pitchFamily="18" charset="0"/>
                          </a:rPr>
                        </m:ctrlPr>
                      </m:fPr>
                      <m:num>
                        <m:r>
                          <a:rPr lang="zh-CN" altLang="en-US" i="1">
                            <a:solidFill>
                              <a:srgbClr val="353535"/>
                            </a:solidFill>
                            <a:latin typeface="Cambria Math" panose="02040503050406030204" pitchFamily="18" charset="0"/>
                          </a:rPr>
                          <m:t>𝜕</m:t>
                        </m:r>
                        <m:r>
                          <a:rPr lang="en-US" altLang="zh-CN" i="1">
                            <a:solidFill>
                              <a:srgbClr val="353535"/>
                            </a:solidFill>
                            <a:latin typeface="Cambria Math" panose="02040503050406030204" pitchFamily="18" charset="0"/>
                          </a:rPr>
                          <m:t>𝑌</m:t>
                        </m:r>
                      </m:num>
                      <m:den>
                        <m:r>
                          <a:rPr lang="zh-CN" altLang="en-US" i="1">
                            <a:solidFill>
                              <a:srgbClr val="353535"/>
                            </a:solidFill>
                            <a:latin typeface="Cambria Math" panose="02040503050406030204" pitchFamily="18" charset="0"/>
                          </a:rPr>
                          <m:t>𝜕</m:t>
                        </m:r>
                        <m:r>
                          <a:rPr lang="en-US" altLang="zh-CN" i="1">
                            <a:solidFill>
                              <a:srgbClr val="353535"/>
                            </a:solidFill>
                            <a:latin typeface="Cambria Math" panose="02040503050406030204" pitchFamily="18" charset="0"/>
                          </a:rPr>
                          <m:t>𝐾</m:t>
                        </m:r>
                      </m:den>
                    </m:f>
                    <m:f>
                      <m:fPr>
                        <m:ctrlPr>
                          <a:rPr lang="en-US" altLang="zh-CN" i="1" smtClean="0">
                            <a:solidFill>
                              <a:srgbClr val="353535"/>
                            </a:solidFill>
                            <a:latin typeface="Cambria Math" panose="02040503050406030204" pitchFamily="18" charset="0"/>
                          </a:rPr>
                        </m:ctrlPr>
                      </m:fPr>
                      <m:num>
                        <m:r>
                          <a:rPr lang="en-US" altLang="zh-CN" b="0" i="1" smtClean="0">
                            <a:solidFill>
                              <a:srgbClr val="353535"/>
                            </a:solidFill>
                            <a:latin typeface="Cambria Math" panose="02040503050406030204" pitchFamily="18" charset="0"/>
                          </a:rPr>
                          <m:t>𝐾</m:t>
                        </m:r>
                      </m:num>
                      <m:den>
                        <m:r>
                          <a:rPr lang="en-US" altLang="zh-CN" b="0" i="1" smtClean="0">
                            <a:solidFill>
                              <a:srgbClr val="353535"/>
                            </a:solidFill>
                            <a:latin typeface="Cambria Math" panose="02040503050406030204" pitchFamily="18" charset="0"/>
                          </a:rPr>
                          <m:t>𝑌</m:t>
                        </m:r>
                      </m:den>
                    </m:f>
                  </m:oMath>
                </a14:m>
                <a:endParaRPr lang="en-US" altLang="zh-CN" dirty="0">
                  <a:solidFill>
                    <a:srgbClr val="353535"/>
                  </a:solidFill>
                </a:endParaRPr>
              </a:p>
              <a:p>
                <a:pPr algn="ctr"/>
                <a:r>
                  <a:rPr lang="zh-CN" altLang="en-US" dirty="0">
                    <a:solidFill>
                      <a:srgbClr val="353535"/>
                    </a:solidFill>
                  </a:rPr>
                  <a:t>资本的边际回报：</a:t>
                </a:r>
                <a14:m>
                  <m:oMath xmlns:m="http://schemas.openxmlformats.org/officeDocument/2006/math">
                    <m:r>
                      <m:rPr>
                        <m:sty m:val="p"/>
                      </m:rPr>
                      <a:rPr lang="en-US" altLang="zh-CN">
                        <a:solidFill>
                          <a:srgbClr val="353535"/>
                        </a:solidFill>
                        <a:latin typeface="Cambria Math" panose="02040503050406030204" pitchFamily="18" charset="0"/>
                      </a:rPr>
                      <m:t>r</m:t>
                    </m:r>
                    <m:r>
                      <a:rPr lang="en-US" altLang="zh-CN" i="1">
                        <a:solidFill>
                          <a:srgbClr val="353535"/>
                        </a:solidFill>
                        <a:latin typeface="Cambria Math" panose="02040503050406030204" pitchFamily="18" charset="0"/>
                      </a:rPr>
                      <m:t>=</m:t>
                    </m:r>
                    <m:f>
                      <m:fPr>
                        <m:ctrlPr>
                          <a:rPr lang="en-US" altLang="zh-CN" i="1">
                            <a:solidFill>
                              <a:srgbClr val="353535"/>
                            </a:solidFill>
                            <a:latin typeface="Cambria Math" panose="02040503050406030204" pitchFamily="18" charset="0"/>
                          </a:rPr>
                        </m:ctrlPr>
                      </m:fPr>
                      <m:num>
                        <m:r>
                          <a:rPr lang="zh-CN" altLang="en-US" i="1">
                            <a:solidFill>
                              <a:srgbClr val="353535"/>
                            </a:solidFill>
                            <a:latin typeface="Cambria Math" panose="02040503050406030204" pitchFamily="18" charset="0"/>
                          </a:rPr>
                          <m:t>𝜕</m:t>
                        </m:r>
                        <m:r>
                          <a:rPr lang="en-US" altLang="zh-CN" i="1">
                            <a:solidFill>
                              <a:srgbClr val="353535"/>
                            </a:solidFill>
                            <a:latin typeface="Cambria Math" panose="02040503050406030204" pitchFamily="18" charset="0"/>
                          </a:rPr>
                          <m:t>𝑌</m:t>
                        </m:r>
                      </m:num>
                      <m:den>
                        <m:r>
                          <a:rPr lang="zh-CN" altLang="en-US" i="1">
                            <a:solidFill>
                              <a:srgbClr val="353535"/>
                            </a:solidFill>
                            <a:latin typeface="Cambria Math" panose="02040503050406030204" pitchFamily="18" charset="0"/>
                          </a:rPr>
                          <m:t>𝜕</m:t>
                        </m:r>
                        <m:r>
                          <a:rPr lang="en-US" altLang="zh-CN" i="1">
                            <a:solidFill>
                              <a:srgbClr val="353535"/>
                            </a:solidFill>
                            <a:latin typeface="Cambria Math" panose="02040503050406030204" pitchFamily="18" charset="0"/>
                          </a:rPr>
                          <m:t>𝐾</m:t>
                        </m:r>
                      </m:den>
                    </m:f>
                  </m:oMath>
                </a14:m>
                <a:endParaRPr lang="en-US" altLang="zh-CN" dirty="0">
                  <a:solidFill>
                    <a:srgbClr val="353535"/>
                  </a:solidFill>
                </a:endParaRPr>
              </a:p>
              <a:p>
                <a:r>
                  <a:rPr lang="zh-CN" altLang="en-US" dirty="0">
                    <a:solidFill>
                      <a:srgbClr val="353535"/>
                    </a:solidFill>
                  </a:rPr>
                  <a:t>皮凯蒂本质是新古典主义经济学的分析框架</a:t>
                </a:r>
                <a:endParaRPr lang="en-US" altLang="zh-CN" dirty="0">
                  <a:solidFill>
                    <a:srgbClr val="353535"/>
                  </a:solidFill>
                </a:endParaRPr>
              </a:p>
              <a:p>
                <a:endParaRPr lang="en-US" altLang="zh-CN" dirty="0">
                  <a:solidFill>
                    <a:srgbClr val="353535"/>
                  </a:solidFill>
                </a:endParaRPr>
              </a:p>
              <a:p>
                <a14:m>
                  <m:oMath xmlns:m="http://schemas.openxmlformats.org/officeDocument/2006/math">
                    <m:r>
                      <m:rPr>
                        <m:nor/>
                      </m:rPr>
                      <a:rPr lang="en-US" altLang="zh-CN" dirty="0">
                        <a:solidFill>
                          <a:srgbClr val="7030A0"/>
                        </a:solidFill>
                      </a:rPr>
                      <m:t>※</m:t>
                    </m:r>
                  </m:oMath>
                </a14:m>
                <a:r>
                  <a:rPr lang="zh-CN" altLang="en-US" dirty="0">
                    <a:solidFill>
                      <a:srgbClr val="353535"/>
                    </a:solidFill>
                  </a:rPr>
                  <a:t>资本第二定律的本质：</a:t>
                </a:r>
                <a:r>
                  <a:rPr lang="en-US" altLang="zh-CN" dirty="0" err="1">
                    <a:solidFill>
                      <a:srgbClr val="353535"/>
                    </a:solidFill>
                  </a:rPr>
                  <a:t>Harrod-Domar</a:t>
                </a:r>
                <a:r>
                  <a:rPr lang="en-US" altLang="zh-CN" dirty="0">
                    <a:solidFill>
                      <a:srgbClr val="353535"/>
                    </a:solidFill>
                  </a:rPr>
                  <a:t> model</a:t>
                </a:r>
              </a:p>
              <a:p>
                <a:r>
                  <a:rPr lang="zh-CN" altLang="en-US" dirty="0"/>
                  <a:t>什么是是哈罗德</a:t>
                </a:r>
                <a:r>
                  <a:rPr lang="en-US" altLang="zh-CN" dirty="0"/>
                  <a:t>-</a:t>
                </a:r>
                <a:r>
                  <a:rPr lang="zh-CN" altLang="en-US" dirty="0"/>
                  <a:t>多马模型（</a:t>
                </a:r>
                <a:r>
                  <a:rPr lang="en-US" altLang="zh-CN" dirty="0" err="1"/>
                  <a:t>Harrod-Domar</a:t>
                </a:r>
                <a:r>
                  <a:rPr lang="en-US" altLang="zh-CN" dirty="0"/>
                  <a:t> model</a:t>
                </a:r>
                <a:r>
                  <a:rPr lang="zh-CN" altLang="en-US" dirty="0"/>
                  <a:t>）？</a:t>
                </a:r>
                <a:endParaRPr lang="en-US" altLang="zh-CN" dirty="0"/>
              </a:p>
              <a:p>
                <a:r>
                  <a:rPr lang="zh-CN" altLang="en-US" dirty="0"/>
                  <a:t>“人口增长率”</a:t>
                </a:r>
                <a:r>
                  <a:rPr lang="en-US" altLang="zh-CN" dirty="0"/>
                  <a:t>g</a:t>
                </a:r>
                <a:r>
                  <a:rPr lang="zh-CN" altLang="en-US" baseline="-25000" dirty="0"/>
                  <a:t>Ｎ</a:t>
                </a:r>
                <a:r>
                  <a:rPr lang="zh-CN" altLang="en-US" dirty="0"/>
                  <a:t>、“实际经济增长率”</a:t>
                </a:r>
                <a:r>
                  <a:rPr lang="en-US" altLang="zh-CN" dirty="0"/>
                  <a:t>g</a:t>
                </a:r>
                <a:r>
                  <a:rPr lang="zh-CN" altLang="en-US" baseline="-25000" dirty="0"/>
                  <a:t>Ａ</a:t>
                </a:r>
                <a:r>
                  <a:rPr lang="zh-CN" altLang="en-US" dirty="0"/>
                  <a:t>和“有保证的经济增长率”</a:t>
                </a:r>
                <a:r>
                  <a:rPr lang="en-US" altLang="zh-CN" dirty="0" err="1"/>
                  <a:t>g</a:t>
                </a:r>
                <a:r>
                  <a:rPr lang="en-US" altLang="zh-CN" baseline="-25000" dirty="0" err="1"/>
                  <a:t>w</a:t>
                </a:r>
                <a:r>
                  <a:rPr lang="zh-CN" altLang="en-US" dirty="0"/>
                  <a:t>必须相等，经济才能达到平衡，实际中难以实现，即所谓的“刀锋上的增长”。</a:t>
                </a:r>
                <a:endParaRPr lang="en-US" altLang="zh-CN" dirty="0"/>
              </a:p>
              <a:p>
                <a:r>
                  <a:rPr lang="en-US" altLang="zh-CN" dirty="0" err="1"/>
                  <a:t>Harrod-Domar</a:t>
                </a:r>
                <a:r>
                  <a:rPr lang="en-US" altLang="zh-CN" dirty="0"/>
                  <a:t> model</a:t>
                </a:r>
                <a:r>
                  <a:rPr lang="zh-CN" altLang="en-US" dirty="0"/>
                  <a:t>的意义：资本主义制度下的经济增长是不稳定的，资本主义必然发生问题。</a:t>
                </a:r>
                <a:endParaRPr lang="en-US" altLang="zh-CN" dirty="0"/>
              </a:p>
              <a:p>
                <a:r>
                  <a:rPr lang="en-US" altLang="zh-CN" dirty="0" err="1"/>
                  <a:t>Harrod-Domar</a:t>
                </a:r>
                <a:r>
                  <a:rPr lang="en-US" altLang="zh-CN" dirty="0"/>
                  <a:t> model</a:t>
                </a:r>
                <a:r>
                  <a:rPr lang="zh-CN" altLang="en-US" dirty="0"/>
                  <a:t>不利于资本主义，因此被新古典主义的索罗模型所取代。</a:t>
                </a:r>
                <a:endParaRPr lang="en-US" altLang="zh-CN" dirty="0"/>
              </a:p>
              <a:p>
                <a:r>
                  <a:rPr lang="en-US" altLang="zh-CN" dirty="0" err="1"/>
                  <a:t>Harrod-Domar</a:t>
                </a:r>
                <a:r>
                  <a:rPr lang="en-US" altLang="zh-CN" dirty="0"/>
                  <a:t> model</a:t>
                </a:r>
                <a:r>
                  <a:rPr lang="zh-CN" altLang="en-US" dirty="0"/>
                  <a:t>的表达式：</a:t>
                </a:r>
                <a:r>
                  <a:rPr lang="en-US" altLang="zh-CN" dirty="0"/>
                  <a:t> </a:t>
                </a:r>
                <a:r>
                  <a:rPr lang="en-US" altLang="zh-CN" dirty="0" err="1"/>
                  <a:t>g</a:t>
                </a:r>
                <a:r>
                  <a:rPr lang="en-US" altLang="zh-CN" baseline="-25000" dirty="0" err="1"/>
                  <a:t>w</a:t>
                </a:r>
                <a:r>
                  <a:rPr lang="en-US" altLang="zh-CN" dirty="0"/>
                  <a:t>= s/</a:t>
                </a:r>
                <a:r>
                  <a:rPr lang="el-GR" altLang="zh-CN" dirty="0"/>
                  <a:t>β</a:t>
                </a:r>
                <a:r>
                  <a:rPr lang="zh-CN" altLang="en-US" dirty="0"/>
                  <a:t>。显然很容易得到皮克提的资本第二定律</a:t>
                </a:r>
                <a:endParaRPr lang="en-US" altLang="zh-CN" dirty="0"/>
              </a:p>
              <a:p>
                <a:r>
                  <a:rPr lang="zh-CN" altLang="en-US" dirty="0"/>
                  <a:t>皮克提说这种关系在</a:t>
                </a:r>
                <a:r>
                  <a:rPr lang="zh-CN" altLang="en-US" b="1" dirty="0"/>
                  <a:t>长期存在，</a:t>
                </a:r>
                <a:r>
                  <a:rPr lang="zh-CN" altLang="en-US" dirty="0"/>
                  <a:t>意思是增长在短期不稳定，但长期是稳定的，意图为资本主义制度（改良性的）辩护。</a:t>
                </a:r>
                <a:endParaRPr lang="en-US" altLang="zh-CN" dirty="0"/>
              </a:p>
              <a:p>
                <a:endParaRPr lang="en-US" altLang="zh-CN" dirty="0">
                  <a:solidFill>
                    <a:srgbClr val="353535"/>
                  </a:solidFill>
                </a:endParaRPr>
              </a:p>
            </p:txBody>
          </p:sp>
        </mc:Choice>
        <mc:Fallback xmlns="">
          <p:sp>
            <p:nvSpPr>
              <p:cNvPr id="3" name="文本框 2"/>
              <p:cNvSpPr txBox="1">
                <a:spLocks noRot="1" noChangeAspect="1" noMove="1" noResize="1" noEditPoints="1" noAdjustHandles="1" noChangeArrowheads="1" noChangeShapeType="1" noTextEdit="1"/>
              </p:cNvSpPr>
              <p:nvPr/>
            </p:nvSpPr>
            <p:spPr>
              <a:xfrm>
                <a:off x="516695" y="767803"/>
                <a:ext cx="11352702" cy="6446765"/>
              </a:xfrm>
              <a:prstGeom prst="rect">
                <a:avLst/>
              </a:prstGeom>
              <a:blipFill>
                <a:blip r:embed="rId3"/>
                <a:stretch>
                  <a:fillRect l="-483" t="-568" r="-698"/>
                </a:stretch>
              </a:blipFill>
            </p:spPr>
            <p:txBody>
              <a:bodyPr/>
              <a:lstStyle/>
              <a:p>
                <a:r>
                  <a:rPr lang="zh-CN" altLang="en-US">
                    <a:noFill/>
                  </a:rPr>
                  <a:t> </a:t>
                </a:r>
              </a:p>
            </p:txBody>
          </p:sp>
        </mc:Fallback>
      </mc:AlternateContent>
    </p:spTree>
    <p:extLst>
      <p:ext uri="{BB962C8B-B14F-4D97-AF65-F5344CB8AC3E}">
        <p14:creationId xmlns:p14="http://schemas.microsoft.com/office/powerpoint/2010/main" val="3662246777"/>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952E7725-3096-4969-8619-BFD45072AD94}"/>
              </a:ext>
            </a:extLst>
          </p:cNvPr>
          <p:cNvSpPr txBox="1"/>
          <p:nvPr/>
        </p:nvSpPr>
        <p:spPr>
          <a:xfrm>
            <a:off x="534498" y="304741"/>
            <a:ext cx="2297479" cy="400110"/>
          </a:xfrm>
          <a:prstGeom prst="rect">
            <a:avLst/>
          </a:prstGeom>
          <a:solidFill>
            <a:srgbClr val="7F2C8B"/>
          </a:solidFill>
        </p:spPr>
        <p:txBody>
          <a:bodyPr wrap="square" rtlCol="0">
            <a:spAutoFit/>
          </a:bodyPr>
          <a:lstStyle/>
          <a:p>
            <a:pPr lvl="0" defTabSz="914377">
              <a:defRPr/>
            </a:pPr>
            <a:r>
              <a:rPr lang="zh-CN" altLang="en-US" sz="2000" dirty="0">
                <a:solidFill>
                  <a:schemeClr val="bg1"/>
                </a:solidFill>
                <a:latin typeface="微软雅黑 Light" panose="020B0502040204020203" pitchFamily="34" charset="-122"/>
                <a:ea typeface="微软雅黑 Light" panose="020B0502040204020203" pitchFamily="34" charset="-122"/>
              </a:rPr>
              <a:t>有限的再分配正义</a:t>
            </a:r>
          </a:p>
        </p:txBody>
      </p:sp>
      <p:grpSp>
        <p:nvGrpSpPr>
          <p:cNvPr id="22" name="组合 21">
            <a:extLst>
              <a:ext uri="{FF2B5EF4-FFF2-40B4-BE49-F238E27FC236}">
                <a16:creationId xmlns:a16="http://schemas.microsoft.com/office/drawing/2014/main" id="{DFC37A35-D357-4CEE-9C28-5EABD3D35C6B}"/>
              </a:ext>
            </a:extLst>
          </p:cNvPr>
          <p:cNvGrpSpPr/>
          <p:nvPr/>
        </p:nvGrpSpPr>
        <p:grpSpPr>
          <a:xfrm>
            <a:off x="10735556" y="314266"/>
            <a:ext cx="1180589" cy="400111"/>
            <a:chOff x="624303" y="901700"/>
            <a:chExt cx="10005598" cy="3390977"/>
          </a:xfrm>
          <a:solidFill>
            <a:srgbClr val="7F2C8B"/>
          </a:solidFill>
        </p:grpSpPr>
        <p:sp>
          <p:nvSpPr>
            <p:cNvPr id="23" name="Freeform 5">
              <a:extLst>
                <a:ext uri="{FF2B5EF4-FFF2-40B4-BE49-F238E27FC236}">
                  <a16:creationId xmlns:a16="http://schemas.microsoft.com/office/drawing/2014/main" id="{0ACD2635-3EA4-461E-AE91-2E7358FA9FA0}"/>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4" name="Freeform 6">
              <a:extLst>
                <a:ext uri="{FF2B5EF4-FFF2-40B4-BE49-F238E27FC236}">
                  <a16:creationId xmlns:a16="http://schemas.microsoft.com/office/drawing/2014/main" id="{70354051-F1E2-4393-ABA2-AEB53FF0D08B}"/>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5" name="Freeform 7">
              <a:extLst>
                <a:ext uri="{FF2B5EF4-FFF2-40B4-BE49-F238E27FC236}">
                  <a16:creationId xmlns:a16="http://schemas.microsoft.com/office/drawing/2014/main" id="{5FFB1BFD-2D76-4EE4-9741-31F528BE757A}"/>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6" name="Freeform 8">
              <a:extLst>
                <a:ext uri="{FF2B5EF4-FFF2-40B4-BE49-F238E27FC236}">
                  <a16:creationId xmlns:a16="http://schemas.microsoft.com/office/drawing/2014/main" id="{1EFFAA81-03B5-4C66-939C-6BBDC7932C18}"/>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7" name="Freeform 9">
              <a:extLst>
                <a:ext uri="{FF2B5EF4-FFF2-40B4-BE49-F238E27FC236}">
                  <a16:creationId xmlns:a16="http://schemas.microsoft.com/office/drawing/2014/main" id="{35B0FA74-D77A-4B32-A41D-5E20B596D219}"/>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8" name="Freeform 10">
              <a:extLst>
                <a:ext uri="{FF2B5EF4-FFF2-40B4-BE49-F238E27FC236}">
                  <a16:creationId xmlns:a16="http://schemas.microsoft.com/office/drawing/2014/main" id="{F5FC7059-5FB3-4ADB-BA26-84EF705B3174}"/>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9" name="Freeform 11">
              <a:extLst>
                <a:ext uri="{FF2B5EF4-FFF2-40B4-BE49-F238E27FC236}">
                  <a16:creationId xmlns:a16="http://schemas.microsoft.com/office/drawing/2014/main" id="{937241A3-85EE-47AC-8B4A-B01E8B1B0812}"/>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0" name="Freeform 12">
              <a:extLst>
                <a:ext uri="{FF2B5EF4-FFF2-40B4-BE49-F238E27FC236}">
                  <a16:creationId xmlns:a16="http://schemas.microsoft.com/office/drawing/2014/main" id="{99EA3DC5-4FB4-48DC-9AA6-2E2F76C34725}"/>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1" name="Freeform 13">
              <a:extLst>
                <a:ext uri="{FF2B5EF4-FFF2-40B4-BE49-F238E27FC236}">
                  <a16:creationId xmlns:a16="http://schemas.microsoft.com/office/drawing/2014/main" id="{F7187B32-A15A-480D-849D-33EF28B75687}"/>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2" name="Freeform 14">
              <a:extLst>
                <a:ext uri="{FF2B5EF4-FFF2-40B4-BE49-F238E27FC236}">
                  <a16:creationId xmlns:a16="http://schemas.microsoft.com/office/drawing/2014/main" id="{AA5721AD-3E61-4D99-A2D8-A261E897EBAC}"/>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3" name="Freeform 15">
              <a:extLst>
                <a:ext uri="{FF2B5EF4-FFF2-40B4-BE49-F238E27FC236}">
                  <a16:creationId xmlns:a16="http://schemas.microsoft.com/office/drawing/2014/main" id="{EF703E7A-053E-4111-945E-2E43B9CC9ECE}"/>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4" name="Freeform 16">
              <a:extLst>
                <a:ext uri="{FF2B5EF4-FFF2-40B4-BE49-F238E27FC236}">
                  <a16:creationId xmlns:a16="http://schemas.microsoft.com/office/drawing/2014/main" id="{01BF6BE1-5CCD-4A5F-8AFA-EF1359F1D3F2}"/>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5" name="Freeform 17">
              <a:extLst>
                <a:ext uri="{FF2B5EF4-FFF2-40B4-BE49-F238E27FC236}">
                  <a16:creationId xmlns:a16="http://schemas.microsoft.com/office/drawing/2014/main" id="{295417E9-A0A1-4465-9436-76253B18BAD3}"/>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18">
              <a:extLst>
                <a:ext uri="{FF2B5EF4-FFF2-40B4-BE49-F238E27FC236}">
                  <a16:creationId xmlns:a16="http://schemas.microsoft.com/office/drawing/2014/main" id="{009C6FB2-A1BB-4F44-87AF-D874D67D737B}"/>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19">
              <a:extLst>
                <a:ext uri="{FF2B5EF4-FFF2-40B4-BE49-F238E27FC236}">
                  <a16:creationId xmlns:a16="http://schemas.microsoft.com/office/drawing/2014/main" id="{65203D5E-987A-4E4E-B0C9-FAC54EDFF054}"/>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20">
              <a:extLst>
                <a:ext uri="{FF2B5EF4-FFF2-40B4-BE49-F238E27FC236}">
                  <a16:creationId xmlns:a16="http://schemas.microsoft.com/office/drawing/2014/main" id="{F0367FE4-2904-433D-8E0F-42933CAA638D}"/>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21">
              <a:extLst>
                <a:ext uri="{FF2B5EF4-FFF2-40B4-BE49-F238E27FC236}">
                  <a16:creationId xmlns:a16="http://schemas.microsoft.com/office/drawing/2014/main" id="{7A0A948A-A7D6-4278-97BF-F101BFD0B366}"/>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22">
              <a:extLst>
                <a:ext uri="{FF2B5EF4-FFF2-40B4-BE49-F238E27FC236}">
                  <a16:creationId xmlns:a16="http://schemas.microsoft.com/office/drawing/2014/main" id="{DC614584-067F-48D2-931A-6CE53105F005}"/>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23">
              <a:extLst>
                <a:ext uri="{FF2B5EF4-FFF2-40B4-BE49-F238E27FC236}">
                  <a16:creationId xmlns:a16="http://schemas.microsoft.com/office/drawing/2014/main" id="{244320B8-5691-4A92-B2D2-5BCE1D98EA00}"/>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24">
              <a:extLst>
                <a:ext uri="{FF2B5EF4-FFF2-40B4-BE49-F238E27FC236}">
                  <a16:creationId xmlns:a16="http://schemas.microsoft.com/office/drawing/2014/main" id="{EF78F9E3-1F79-4E42-AAC8-E4DB818FEE8B}"/>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p:sp>
        <p:nvSpPr>
          <p:cNvPr id="2" name="文本框 1"/>
          <p:cNvSpPr txBox="1"/>
          <p:nvPr/>
        </p:nvSpPr>
        <p:spPr>
          <a:xfrm>
            <a:off x="534498" y="923636"/>
            <a:ext cx="5820120" cy="5624946"/>
          </a:xfrm>
          <a:prstGeom prst="rect">
            <a:avLst/>
          </a:prstGeom>
          <a:noFill/>
        </p:spPr>
        <p:txBody>
          <a:bodyPr wrap="square" rtlCol="0">
            <a:spAutoFit/>
          </a:bodyPr>
          <a:lstStyle/>
          <a:p>
            <a:endParaRPr lang="zh-CN" altLang="en-US" dirty="0"/>
          </a:p>
        </p:txBody>
      </p:sp>
      <p:sp>
        <p:nvSpPr>
          <p:cNvPr id="3" name="文本框 2"/>
          <p:cNvSpPr txBox="1"/>
          <p:nvPr/>
        </p:nvSpPr>
        <p:spPr>
          <a:xfrm>
            <a:off x="414490" y="767803"/>
            <a:ext cx="11352702" cy="6740307"/>
          </a:xfrm>
          <a:prstGeom prst="rect">
            <a:avLst/>
          </a:prstGeom>
          <a:noFill/>
        </p:spPr>
        <p:txBody>
          <a:bodyPr wrap="square" rtlCol="0">
            <a:spAutoFit/>
          </a:bodyPr>
          <a:lstStyle/>
          <a:p>
            <a:r>
              <a:rPr lang="en-US" altLang="zh-CN" dirty="0">
                <a:solidFill>
                  <a:srgbClr val="7030A0"/>
                </a:solidFill>
              </a:rPr>
              <a:t>※</a:t>
            </a:r>
            <a:r>
              <a:rPr lang="zh-CN" altLang="en-US" dirty="0">
                <a:solidFill>
                  <a:srgbClr val="353535"/>
                </a:solidFill>
              </a:rPr>
              <a:t>皮凯蒂满足于有限的再分配正义：提倡对年收入</a:t>
            </a:r>
            <a:r>
              <a:rPr lang="en-US" altLang="zh-CN" dirty="0">
                <a:solidFill>
                  <a:srgbClr val="353535"/>
                </a:solidFill>
              </a:rPr>
              <a:t>100</a:t>
            </a:r>
            <a:r>
              <a:rPr lang="zh-CN" altLang="en-US" dirty="0">
                <a:solidFill>
                  <a:srgbClr val="353535"/>
                </a:solidFill>
              </a:rPr>
              <a:t>万欧元以上的部分征收</a:t>
            </a:r>
            <a:r>
              <a:rPr lang="en-US" altLang="zh-CN" dirty="0">
                <a:solidFill>
                  <a:srgbClr val="353535"/>
                </a:solidFill>
              </a:rPr>
              <a:t>80%</a:t>
            </a:r>
            <a:r>
              <a:rPr lang="zh-CN" altLang="en-US" dirty="0">
                <a:solidFill>
                  <a:srgbClr val="353535"/>
                </a:solidFill>
              </a:rPr>
              <a:t>的个人所得税</a:t>
            </a:r>
            <a:endParaRPr lang="en-US" altLang="zh-CN" dirty="0">
              <a:solidFill>
                <a:srgbClr val="353535"/>
              </a:solidFill>
            </a:endParaRPr>
          </a:p>
          <a:p>
            <a:r>
              <a:rPr lang="zh-CN" altLang="en-US" dirty="0"/>
              <a:t>担任了奥朗德总统（</a:t>
            </a:r>
            <a:r>
              <a:rPr lang="en-US" altLang="zh-CN" dirty="0"/>
              <a:t>2012</a:t>
            </a:r>
            <a:r>
              <a:rPr lang="zh-CN" altLang="en-US" dirty="0"/>
              <a:t>年</a:t>
            </a:r>
            <a:r>
              <a:rPr lang="en-US" altLang="zh-CN" dirty="0"/>
              <a:t>5</a:t>
            </a:r>
            <a:r>
              <a:rPr lang="zh-CN" altLang="en-US" dirty="0"/>
              <a:t>月</a:t>
            </a:r>
            <a:r>
              <a:rPr lang="en-US" altLang="zh-CN" dirty="0"/>
              <a:t>-2017</a:t>
            </a:r>
            <a:r>
              <a:rPr lang="zh-CN" altLang="en-US" dirty="0"/>
              <a:t>年</a:t>
            </a:r>
            <a:r>
              <a:rPr lang="en-US" altLang="zh-CN" dirty="0"/>
              <a:t>5</a:t>
            </a:r>
            <a:r>
              <a:rPr lang="zh-CN" altLang="en-US" dirty="0"/>
              <a:t>月）的经济顾问：奥朗德决定对年收入</a:t>
            </a:r>
            <a:r>
              <a:rPr lang="en-US" altLang="zh-CN" dirty="0"/>
              <a:t>100</a:t>
            </a:r>
            <a:r>
              <a:rPr lang="zh-CN" altLang="en-US" dirty="0"/>
              <a:t>欧元的富人征收</a:t>
            </a:r>
            <a:r>
              <a:rPr lang="en-US" altLang="zh-CN" dirty="0"/>
              <a:t>75%</a:t>
            </a:r>
            <a:r>
              <a:rPr lang="zh-CN" altLang="en-US" dirty="0"/>
              <a:t>的</a:t>
            </a:r>
            <a:r>
              <a:rPr lang="zh-CN" altLang="en-US" dirty="0">
                <a:solidFill>
                  <a:srgbClr val="353535"/>
                </a:solidFill>
              </a:rPr>
              <a:t>个人所得税</a:t>
            </a:r>
            <a:endParaRPr lang="en-US" altLang="zh-CN" dirty="0">
              <a:solidFill>
                <a:srgbClr val="353535"/>
              </a:solidFill>
            </a:endParaRPr>
          </a:p>
          <a:p>
            <a:endParaRPr lang="en-US" altLang="zh-CN" dirty="0">
              <a:solidFill>
                <a:srgbClr val="353535"/>
              </a:solidFill>
            </a:endParaRPr>
          </a:p>
          <a:p>
            <a:r>
              <a:rPr lang="en-US" altLang="zh-CN" dirty="0">
                <a:solidFill>
                  <a:srgbClr val="7030A0"/>
                </a:solidFill>
              </a:rPr>
              <a:t>※</a:t>
            </a:r>
            <a:r>
              <a:rPr lang="zh-CN" altLang="en-US" dirty="0">
                <a:solidFill>
                  <a:srgbClr val="353535"/>
                </a:solidFill>
              </a:rPr>
              <a:t>皮凯蒂经济思想治国的结果：</a:t>
            </a:r>
            <a:endParaRPr lang="en-US" altLang="zh-CN" dirty="0">
              <a:solidFill>
                <a:srgbClr val="353535"/>
              </a:solidFill>
            </a:endParaRPr>
          </a:p>
          <a:p>
            <a:r>
              <a:rPr lang="en-US" altLang="zh-CN" dirty="0">
                <a:solidFill>
                  <a:srgbClr val="353535"/>
                </a:solidFill>
              </a:rPr>
              <a:t>1</a:t>
            </a:r>
            <a:r>
              <a:rPr lang="zh-CN" altLang="en-US" dirty="0">
                <a:solidFill>
                  <a:srgbClr val="353535"/>
                </a:solidFill>
              </a:rPr>
              <a:t>）宪法委员会裁定违宪</a:t>
            </a:r>
            <a:endParaRPr lang="en-US" altLang="zh-CN" dirty="0">
              <a:solidFill>
                <a:srgbClr val="353535"/>
              </a:solidFill>
            </a:endParaRPr>
          </a:p>
          <a:p>
            <a:r>
              <a:rPr lang="en-US" altLang="zh-CN" dirty="0">
                <a:solidFill>
                  <a:srgbClr val="353535"/>
                </a:solidFill>
              </a:rPr>
              <a:t>2</a:t>
            </a:r>
            <a:r>
              <a:rPr lang="zh-CN" altLang="en-US" dirty="0">
                <a:solidFill>
                  <a:srgbClr val="353535"/>
                </a:solidFill>
              </a:rPr>
              <a:t>）失业率居高不下（</a:t>
            </a:r>
            <a:r>
              <a:rPr lang="en-US" altLang="zh-CN" dirty="0">
                <a:solidFill>
                  <a:srgbClr val="353535"/>
                </a:solidFill>
              </a:rPr>
              <a:t>25</a:t>
            </a:r>
            <a:r>
              <a:rPr lang="zh-CN" altLang="en-US" dirty="0">
                <a:solidFill>
                  <a:srgbClr val="353535"/>
                </a:solidFill>
              </a:rPr>
              <a:t>以下年轻人失业率最高攀升至</a:t>
            </a:r>
            <a:r>
              <a:rPr lang="en-US" altLang="zh-CN" dirty="0"/>
              <a:t>27.7%</a:t>
            </a:r>
            <a:r>
              <a:rPr lang="zh-CN" altLang="en-US" dirty="0">
                <a:solidFill>
                  <a:srgbClr val="353535"/>
                </a:solidFill>
              </a:rPr>
              <a:t>）</a:t>
            </a:r>
            <a:endParaRPr lang="en-US" altLang="zh-CN" dirty="0">
              <a:solidFill>
                <a:srgbClr val="353535"/>
              </a:solidFill>
            </a:endParaRPr>
          </a:p>
          <a:p>
            <a:r>
              <a:rPr lang="en-US" altLang="zh-CN" dirty="0">
                <a:solidFill>
                  <a:srgbClr val="353535"/>
                </a:solidFill>
              </a:rPr>
              <a:t>3</a:t>
            </a:r>
            <a:r>
              <a:rPr lang="zh-CN" altLang="en-US" dirty="0">
                <a:solidFill>
                  <a:srgbClr val="353535"/>
                </a:solidFill>
              </a:rPr>
              <a:t>）恐怖袭击频发</a:t>
            </a:r>
            <a:endParaRPr lang="en-US" altLang="zh-CN" dirty="0">
              <a:solidFill>
                <a:srgbClr val="353535"/>
              </a:solidFill>
            </a:endParaRPr>
          </a:p>
          <a:p>
            <a:r>
              <a:rPr lang="en-US" altLang="zh-CN" dirty="0">
                <a:solidFill>
                  <a:srgbClr val="353535"/>
                </a:solidFill>
              </a:rPr>
              <a:t>4</a:t>
            </a:r>
            <a:r>
              <a:rPr lang="zh-CN" altLang="en-US" dirty="0">
                <a:solidFill>
                  <a:srgbClr val="353535"/>
                </a:solidFill>
              </a:rPr>
              <a:t>）支持率下滑：奥朗德</a:t>
            </a:r>
            <a:r>
              <a:rPr lang="zh-CN" altLang="en-US" dirty="0"/>
              <a:t>任期最后一年，执政满意度仅</a:t>
            </a:r>
            <a:r>
              <a:rPr lang="en-US" altLang="zh-CN" dirty="0"/>
              <a:t>4%</a:t>
            </a:r>
            <a:r>
              <a:rPr lang="zh-CN" altLang="en-US" dirty="0"/>
              <a:t>。</a:t>
            </a:r>
            <a:endParaRPr lang="en-US" altLang="zh-CN" dirty="0"/>
          </a:p>
          <a:p>
            <a:r>
              <a:rPr lang="en-US" altLang="zh-CN" dirty="0"/>
              <a:t>5</a:t>
            </a:r>
            <a:r>
              <a:rPr lang="zh-CN" altLang="en-US" dirty="0"/>
              <a:t>）第二年社会党丧失执政党地位（社会党的历史：拉法格）</a:t>
            </a:r>
            <a:endParaRPr lang="en-US" altLang="zh-CN" dirty="0"/>
          </a:p>
          <a:p>
            <a:r>
              <a:rPr lang="en-US" altLang="zh-CN" dirty="0"/>
              <a:t>6)  </a:t>
            </a:r>
            <a:r>
              <a:rPr lang="zh-CN" altLang="en-US" dirty="0"/>
              <a:t>社会共识分裂，更加激进的左翼和右翼政治派别纷纷登场</a:t>
            </a:r>
            <a:endParaRPr lang="en-US" altLang="zh-CN" dirty="0"/>
          </a:p>
          <a:p>
            <a:endParaRPr lang="en-US" altLang="zh-CN" dirty="0"/>
          </a:p>
          <a:p>
            <a:r>
              <a:rPr lang="en-US" altLang="zh-CN" dirty="0">
                <a:solidFill>
                  <a:srgbClr val="7030A0"/>
                </a:solidFill>
              </a:rPr>
              <a:t>※</a:t>
            </a:r>
            <a:r>
              <a:rPr lang="zh-CN" altLang="en-US" dirty="0"/>
              <a:t>皮凯蒂在其新书</a:t>
            </a:r>
            <a:r>
              <a:rPr lang="en-US" altLang="zh-CN" dirty="0"/>
              <a:t>《</a:t>
            </a:r>
            <a:r>
              <a:rPr lang="zh-CN" altLang="en-US" dirty="0"/>
              <a:t>资本与意识形态</a:t>
            </a:r>
            <a:r>
              <a:rPr lang="en-US" altLang="zh-CN" dirty="0"/>
              <a:t>》</a:t>
            </a:r>
            <a:r>
              <a:rPr lang="zh-CN" altLang="en-US" dirty="0"/>
              <a:t>中有所进步：</a:t>
            </a:r>
            <a:endParaRPr lang="en-US" altLang="zh-CN" dirty="0"/>
          </a:p>
          <a:p>
            <a:r>
              <a:rPr lang="zh-CN" altLang="en-US" dirty="0"/>
              <a:t>除征税以外，还提出了以下主张：</a:t>
            </a:r>
            <a:endParaRPr lang="en-US" altLang="zh-CN" dirty="0"/>
          </a:p>
          <a:p>
            <a:endParaRPr lang="en-US" altLang="zh-CN" dirty="0"/>
          </a:p>
          <a:p>
            <a:r>
              <a:rPr lang="en-US" altLang="zh-CN" dirty="0"/>
              <a:t>1</a:t>
            </a:r>
            <a:r>
              <a:rPr lang="zh-CN" altLang="en-US" dirty="0"/>
              <a:t>）主张混合所有制经济：国家净资产为零甚至为负严重限制国家履行公共投资、社会保障、教育和宏观经济管理职责的能力。</a:t>
            </a:r>
            <a:endParaRPr lang="en-US" altLang="zh-CN" dirty="0"/>
          </a:p>
          <a:p>
            <a:endParaRPr lang="en-US" altLang="zh-CN" dirty="0"/>
          </a:p>
          <a:p>
            <a:r>
              <a:rPr lang="en-US" altLang="zh-CN" dirty="0"/>
              <a:t>2</a:t>
            </a:r>
            <a:r>
              <a:rPr lang="zh-CN" altLang="en-US" dirty="0"/>
              <a:t>）“公民资本禀赋”和“公民基本收入”：每个年满</a:t>
            </a:r>
            <a:r>
              <a:rPr lang="en-US" altLang="zh-CN" dirty="0"/>
              <a:t>25</a:t>
            </a:r>
            <a:r>
              <a:rPr lang="zh-CN" altLang="en-US" dirty="0"/>
              <a:t>岁的公民可以获得一次性“公民资本禀赋”</a:t>
            </a:r>
            <a:r>
              <a:rPr lang="en-US" altLang="zh-CN" dirty="0"/>
              <a:t>12</a:t>
            </a:r>
            <a:r>
              <a:rPr lang="zh-CN" altLang="en-US" dirty="0"/>
              <a:t>万欧元。公民基本收入”的额度为平均税后收入的</a:t>
            </a:r>
            <a:r>
              <a:rPr lang="en-US" altLang="zh-CN" dirty="0"/>
              <a:t>60%</a:t>
            </a:r>
          </a:p>
          <a:p>
            <a:endParaRPr lang="en-US" altLang="zh-CN" dirty="0"/>
          </a:p>
          <a:p>
            <a:r>
              <a:rPr lang="en-US" altLang="zh-CN" dirty="0"/>
              <a:t>3</a:t>
            </a:r>
            <a:r>
              <a:rPr lang="zh-CN" altLang="en-US" dirty="0"/>
              <a:t>）公司董事会应有一半席位由雇员组成</a:t>
            </a:r>
            <a:endParaRPr lang="en-US" altLang="zh-CN" dirty="0"/>
          </a:p>
          <a:p>
            <a:endParaRPr lang="en-US" altLang="zh-CN" dirty="0"/>
          </a:p>
          <a:p>
            <a:endParaRPr lang="en-US" altLang="zh-CN" dirty="0"/>
          </a:p>
        </p:txBody>
      </p:sp>
      <p:pic>
        <p:nvPicPr>
          <p:cNvPr id="5" name="图片 4"/>
          <p:cNvPicPr>
            <a:picLocks noChangeAspect="1"/>
          </p:cNvPicPr>
          <p:nvPr/>
        </p:nvPicPr>
        <p:blipFill>
          <a:blip r:embed="rId3"/>
          <a:stretch>
            <a:fillRect/>
          </a:stretch>
        </p:blipFill>
        <p:spPr>
          <a:xfrm>
            <a:off x="6559118" y="1662456"/>
            <a:ext cx="5488175" cy="2634879"/>
          </a:xfrm>
          <a:prstGeom prst="rect">
            <a:avLst/>
          </a:prstGeom>
        </p:spPr>
      </p:pic>
    </p:spTree>
    <p:extLst>
      <p:ext uri="{BB962C8B-B14F-4D97-AF65-F5344CB8AC3E}">
        <p14:creationId xmlns:p14="http://schemas.microsoft.com/office/powerpoint/2010/main" val="793348686"/>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82939B2-0D7B-A199-80BB-E858607F6201}"/>
            </a:ext>
          </a:extLst>
        </p:cNvPr>
        <p:cNvGrpSpPr/>
        <p:nvPr/>
      </p:nvGrpSpPr>
      <p:grpSpPr>
        <a:xfrm>
          <a:off x="0" y="0"/>
          <a:ext cx="0" cy="0"/>
          <a:chOff x="0" y="0"/>
          <a:chExt cx="0" cy="0"/>
        </a:xfrm>
      </p:grpSpPr>
      <p:sp>
        <p:nvSpPr>
          <p:cNvPr id="4" name="文本框 3">
            <a:extLst>
              <a:ext uri="{FF2B5EF4-FFF2-40B4-BE49-F238E27FC236}">
                <a16:creationId xmlns:a16="http://schemas.microsoft.com/office/drawing/2014/main" id="{B5BDF32A-1CE2-167F-DE22-E564A9A842A4}"/>
              </a:ext>
            </a:extLst>
          </p:cNvPr>
          <p:cNvSpPr txBox="1"/>
          <p:nvPr/>
        </p:nvSpPr>
        <p:spPr>
          <a:xfrm>
            <a:off x="534498" y="304741"/>
            <a:ext cx="3336044" cy="400110"/>
          </a:xfrm>
          <a:prstGeom prst="rect">
            <a:avLst/>
          </a:prstGeom>
          <a:solidFill>
            <a:srgbClr val="7F2C8B"/>
          </a:solidFill>
        </p:spPr>
        <p:txBody>
          <a:bodyPr wrap="square" rtlCol="0">
            <a:spAutoFit/>
          </a:bodyPr>
          <a:lstStyle/>
          <a:p>
            <a:pPr lvl="0" defTabSz="914377">
              <a:defRPr/>
            </a:pPr>
            <a:r>
              <a:rPr lang="zh-CN" altLang="en-US" sz="2000" dirty="0">
                <a:solidFill>
                  <a:schemeClr val="bg1"/>
                </a:solidFill>
                <a:latin typeface="微软雅黑 Light" panose="020B0502040204020203" pitchFamily="34" charset="-122"/>
                <a:ea typeface="微软雅黑 Light" panose="020B0502040204020203" pitchFamily="34" charset="-122"/>
              </a:rPr>
              <a:t>再分配正义能解决不平等吗？</a:t>
            </a:r>
          </a:p>
        </p:txBody>
      </p:sp>
      <p:grpSp>
        <p:nvGrpSpPr>
          <p:cNvPr id="22" name="组合 21">
            <a:extLst>
              <a:ext uri="{FF2B5EF4-FFF2-40B4-BE49-F238E27FC236}">
                <a16:creationId xmlns:a16="http://schemas.microsoft.com/office/drawing/2014/main" id="{B1839430-C2AD-EB07-7306-4DD81BD20244}"/>
              </a:ext>
            </a:extLst>
          </p:cNvPr>
          <p:cNvGrpSpPr/>
          <p:nvPr/>
        </p:nvGrpSpPr>
        <p:grpSpPr>
          <a:xfrm>
            <a:off x="10735556" y="314266"/>
            <a:ext cx="1180589" cy="400111"/>
            <a:chOff x="624303" y="901700"/>
            <a:chExt cx="10005598" cy="3390977"/>
          </a:xfrm>
          <a:solidFill>
            <a:srgbClr val="7F2C8B"/>
          </a:solidFill>
        </p:grpSpPr>
        <p:sp>
          <p:nvSpPr>
            <p:cNvPr id="23" name="Freeform 5">
              <a:extLst>
                <a:ext uri="{FF2B5EF4-FFF2-40B4-BE49-F238E27FC236}">
                  <a16:creationId xmlns:a16="http://schemas.microsoft.com/office/drawing/2014/main" id="{4AE9732C-B47F-5FB2-B8D3-DF66A7023736}"/>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4" name="Freeform 6">
              <a:extLst>
                <a:ext uri="{FF2B5EF4-FFF2-40B4-BE49-F238E27FC236}">
                  <a16:creationId xmlns:a16="http://schemas.microsoft.com/office/drawing/2014/main" id="{096A2D37-F733-3501-D571-AAB2760DCC6A}"/>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5" name="Freeform 7">
              <a:extLst>
                <a:ext uri="{FF2B5EF4-FFF2-40B4-BE49-F238E27FC236}">
                  <a16:creationId xmlns:a16="http://schemas.microsoft.com/office/drawing/2014/main" id="{4F5E909B-CDDB-973F-C7A2-B11B5E5A817C}"/>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6" name="Freeform 8">
              <a:extLst>
                <a:ext uri="{FF2B5EF4-FFF2-40B4-BE49-F238E27FC236}">
                  <a16:creationId xmlns:a16="http://schemas.microsoft.com/office/drawing/2014/main" id="{3F161B69-62D3-69C6-AB4F-05E78190AA36}"/>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7" name="Freeform 9">
              <a:extLst>
                <a:ext uri="{FF2B5EF4-FFF2-40B4-BE49-F238E27FC236}">
                  <a16:creationId xmlns:a16="http://schemas.microsoft.com/office/drawing/2014/main" id="{06F434B1-4E42-31CE-8EBA-79FAE7810EFE}"/>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8" name="Freeform 10">
              <a:extLst>
                <a:ext uri="{FF2B5EF4-FFF2-40B4-BE49-F238E27FC236}">
                  <a16:creationId xmlns:a16="http://schemas.microsoft.com/office/drawing/2014/main" id="{37E925CC-8609-2FDF-1BB6-23940DC256B3}"/>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9" name="Freeform 11">
              <a:extLst>
                <a:ext uri="{FF2B5EF4-FFF2-40B4-BE49-F238E27FC236}">
                  <a16:creationId xmlns:a16="http://schemas.microsoft.com/office/drawing/2014/main" id="{9892D1BE-05D5-F0E7-8964-1DEDDB2D1860}"/>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0" name="Freeform 12">
              <a:extLst>
                <a:ext uri="{FF2B5EF4-FFF2-40B4-BE49-F238E27FC236}">
                  <a16:creationId xmlns:a16="http://schemas.microsoft.com/office/drawing/2014/main" id="{EF08DB86-7AD2-EB36-0376-AA7E1B02943D}"/>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1" name="Freeform 13">
              <a:extLst>
                <a:ext uri="{FF2B5EF4-FFF2-40B4-BE49-F238E27FC236}">
                  <a16:creationId xmlns:a16="http://schemas.microsoft.com/office/drawing/2014/main" id="{1102BF91-C274-7A4F-866A-216D619762F2}"/>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2" name="Freeform 14">
              <a:extLst>
                <a:ext uri="{FF2B5EF4-FFF2-40B4-BE49-F238E27FC236}">
                  <a16:creationId xmlns:a16="http://schemas.microsoft.com/office/drawing/2014/main" id="{8EC72BBC-98BB-1A40-E181-BA18A053C5DD}"/>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3" name="Freeform 15">
              <a:extLst>
                <a:ext uri="{FF2B5EF4-FFF2-40B4-BE49-F238E27FC236}">
                  <a16:creationId xmlns:a16="http://schemas.microsoft.com/office/drawing/2014/main" id="{17DBDB0C-5218-2F73-B179-ED2DB42E4858}"/>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4" name="Freeform 16">
              <a:extLst>
                <a:ext uri="{FF2B5EF4-FFF2-40B4-BE49-F238E27FC236}">
                  <a16:creationId xmlns:a16="http://schemas.microsoft.com/office/drawing/2014/main" id="{1F89D93E-B3A2-6030-E664-9DEC5739DB1C}"/>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5" name="Freeform 17">
              <a:extLst>
                <a:ext uri="{FF2B5EF4-FFF2-40B4-BE49-F238E27FC236}">
                  <a16:creationId xmlns:a16="http://schemas.microsoft.com/office/drawing/2014/main" id="{93D42B67-2E1D-77B3-70E1-6B68DAD333D9}"/>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18">
              <a:extLst>
                <a:ext uri="{FF2B5EF4-FFF2-40B4-BE49-F238E27FC236}">
                  <a16:creationId xmlns:a16="http://schemas.microsoft.com/office/drawing/2014/main" id="{7FF39052-A2AC-C10F-276C-6A7C2E32F0DF}"/>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19">
              <a:extLst>
                <a:ext uri="{FF2B5EF4-FFF2-40B4-BE49-F238E27FC236}">
                  <a16:creationId xmlns:a16="http://schemas.microsoft.com/office/drawing/2014/main" id="{C1EABE21-5F09-E745-CF19-7AA24341DCC8}"/>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20">
              <a:extLst>
                <a:ext uri="{FF2B5EF4-FFF2-40B4-BE49-F238E27FC236}">
                  <a16:creationId xmlns:a16="http://schemas.microsoft.com/office/drawing/2014/main" id="{B8D6C65C-F8F5-93C6-E19C-B3567512865A}"/>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21">
              <a:extLst>
                <a:ext uri="{FF2B5EF4-FFF2-40B4-BE49-F238E27FC236}">
                  <a16:creationId xmlns:a16="http://schemas.microsoft.com/office/drawing/2014/main" id="{6D06396A-3D14-4807-92C6-55C30AFAE41C}"/>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22">
              <a:extLst>
                <a:ext uri="{FF2B5EF4-FFF2-40B4-BE49-F238E27FC236}">
                  <a16:creationId xmlns:a16="http://schemas.microsoft.com/office/drawing/2014/main" id="{03631742-FE57-8003-D4ED-89B2C73452B7}"/>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23">
              <a:extLst>
                <a:ext uri="{FF2B5EF4-FFF2-40B4-BE49-F238E27FC236}">
                  <a16:creationId xmlns:a16="http://schemas.microsoft.com/office/drawing/2014/main" id="{1147C27C-42C2-48C6-5F3A-E7CDB77880C8}"/>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24">
              <a:extLst>
                <a:ext uri="{FF2B5EF4-FFF2-40B4-BE49-F238E27FC236}">
                  <a16:creationId xmlns:a16="http://schemas.microsoft.com/office/drawing/2014/main" id="{374FC229-A55A-5BDC-2D29-5171AB5585A3}"/>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p:sp>
        <p:nvSpPr>
          <p:cNvPr id="2" name="文本框 1">
            <a:extLst>
              <a:ext uri="{FF2B5EF4-FFF2-40B4-BE49-F238E27FC236}">
                <a16:creationId xmlns:a16="http://schemas.microsoft.com/office/drawing/2014/main" id="{C83B0BEE-96A5-9F28-4947-5D11403D6DA3}"/>
              </a:ext>
            </a:extLst>
          </p:cNvPr>
          <p:cNvSpPr txBox="1"/>
          <p:nvPr/>
        </p:nvSpPr>
        <p:spPr>
          <a:xfrm>
            <a:off x="534498" y="923636"/>
            <a:ext cx="5820120" cy="5624946"/>
          </a:xfrm>
          <a:prstGeom prst="rect">
            <a:avLst/>
          </a:prstGeom>
          <a:noFill/>
        </p:spPr>
        <p:txBody>
          <a:bodyPr wrap="square" rtlCol="0">
            <a:spAutoFit/>
          </a:bodyPr>
          <a:lstStyle/>
          <a:p>
            <a:endParaRPr lang="zh-CN" altLang="en-US" dirty="0"/>
          </a:p>
        </p:txBody>
      </p:sp>
      <p:sp>
        <p:nvSpPr>
          <p:cNvPr id="3" name="文本框 2">
            <a:extLst>
              <a:ext uri="{FF2B5EF4-FFF2-40B4-BE49-F238E27FC236}">
                <a16:creationId xmlns:a16="http://schemas.microsoft.com/office/drawing/2014/main" id="{94804454-CE86-9E38-93AE-A5F581802337}"/>
              </a:ext>
            </a:extLst>
          </p:cNvPr>
          <p:cNvSpPr txBox="1"/>
          <p:nvPr/>
        </p:nvSpPr>
        <p:spPr>
          <a:xfrm>
            <a:off x="414490" y="767803"/>
            <a:ext cx="11352702" cy="5909310"/>
          </a:xfrm>
          <a:prstGeom prst="rect">
            <a:avLst/>
          </a:prstGeom>
          <a:noFill/>
        </p:spPr>
        <p:txBody>
          <a:bodyPr wrap="square" rtlCol="0">
            <a:spAutoFit/>
          </a:bodyPr>
          <a:lstStyle/>
          <a:p>
            <a:r>
              <a:rPr lang="en-US" altLang="zh-CN" dirty="0">
                <a:solidFill>
                  <a:srgbClr val="7030A0"/>
                </a:solidFill>
              </a:rPr>
              <a:t>※</a:t>
            </a:r>
            <a:r>
              <a:rPr lang="zh-CN" altLang="en-US" dirty="0">
                <a:solidFill>
                  <a:srgbClr val="353535"/>
                </a:solidFill>
              </a:rPr>
              <a:t>改良主义的主要政策主张是征税。但是跨国大资本和超级富豪有一百种方法不交税。</a:t>
            </a:r>
            <a:endParaRPr lang="en-US" altLang="zh-CN" dirty="0">
              <a:solidFill>
                <a:srgbClr val="353535"/>
              </a:solidFill>
            </a:endParaRPr>
          </a:p>
          <a:p>
            <a:r>
              <a:rPr lang="en-US" altLang="zh-CN" dirty="0">
                <a:solidFill>
                  <a:srgbClr val="353535"/>
                </a:solidFill>
              </a:rPr>
              <a:t>2017</a:t>
            </a:r>
            <a:r>
              <a:rPr lang="zh-CN" altLang="en-US" dirty="0">
                <a:solidFill>
                  <a:srgbClr val="353535"/>
                </a:solidFill>
              </a:rPr>
              <a:t>年美国税改</a:t>
            </a:r>
            <a:r>
              <a:rPr lang="zh-CN" altLang="en-US" dirty="0"/>
              <a:t>（</a:t>
            </a:r>
            <a:r>
              <a:rPr lang="en-US" altLang="zh-CN" dirty="0"/>
              <a:t>TCJA</a:t>
            </a:r>
            <a:r>
              <a:rPr lang="zh-CN" altLang="en-US" dirty="0"/>
              <a:t>）以前</a:t>
            </a:r>
            <a:r>
              <a:rPr lang="zh-CN" altLang="en-US" dirty="0">
                <a:solidFill>
                  <a:srgbClr val="353535"/>
                </a:solidFill>
              </a:rPr>
              <a:t>耐克的真实税率为</a:t>
            </a:r>
            <a:r>
              <a:rPr lang="en-US" altLang="zh-CN" b="1" dirty="0">
                <a:solidFill>
                  <a:srgbClr val="FF0000"/>
                </a:solidFill>
              </a:rPr>
              <a:t>2%</a:t>
            </a:r>
            <a:r>
              <a:rPr lang="zh-CN" altLang="en-US" dirty="0">
                <a:solidFill>
                  <a:srgbClr val="353535"/>
                </a:solidFill>
              </a:rPr>
              <a:t>。</a:t>
            </a:r>
            <a:endParaRPr lang="en-US" altLang="zh-CN" dirty="0">
              <a:solidFill>
                <a:srgbClr val="353535"/>
              </a:solidFill>
            </a:endParaRPr>
          </a:p>
          <a:p>
            <a:r>
              <a:rPr lang="zh-CN" altLang="en-US" dirty="0">
                <a:solidFill>
                  <a:srgbClr val="353535"/>
                </a:solidFill>
              </a:rPr>
              <a:t>苹果的“爱尔兰</a:t>
            </a:r>
            <a:r>
              <a:rPr lang="en-US" altLang="zh-CN" dirty="0">
                <a:solidFill>
                  <a:srgbClr val="353535"/>
                </a:solidFill>
              </a:rPr>
              <a:t>-</a:t>
            </a:r>
            <a:r>
              <a:rPr lang="zh-CN" altLang="en-US" dirty="0">
                <a:solidFill>
                  <a:srgbClr val="353535"/>
                </a:solidFill>
              </a:rPr>
              <a:t>荷兰三明治”结构避税。</a:t>
            </a:r>
            <a:endParaRPr lang="en-US" altLang="zh-CN" dirty="0">
              <a:solidFill>
                <a:srgbClr val="353535"/>
              </a:solidFill>
            </a:endParaRPr>
          </a:p>
          <a:p>
            <a:r>
              <a:rPr lang="en-US" altLang="zh-CN" dirty="0"/>
              <a:t>2013-</a:t>
            </a:r>
            <a:r>
              <a:rPr lang="zh-CN" altLang="en-US" dirty="0"/>
              <a:t> </a:t>
            </a:r>
            <a:r>
              <a:rPr lang="en-US" altLang="zh-CN" dirty="0"/>
              <a:t>2026 </a:t>
            </a:r>
            <a:r>
              <a:rPr lang="zh-CN" altLang="en-US" dirty="0"/>
              <a:t>年中苹果累计回购约 </a:t>
            </a:r>
            <a:r>
              <a:rPr lang="en-US" altLang="zh-CN" b="1" dirty="0">
                <a:solidFill>
                  <a:srgbClr val="FF0000"/>
                </a:solidFill>
              </a:rPr>
              <a:t>8530 </a:t>
            </a:r>
            <a:r>
              <a:rPr lang="zh-CN" altLang="en-US" b="1" dirty="0">
                <a:solidFill>
                  <a:srgbClr val="FF0000"/>
                </a:solidFill>
              </a:rPr>
              <a:t>亿美元。</a:t>
            </a:r>
            <a:endParaRPr lang="en-US" altLang="zh-CN" dirty="0">
              <a:solidFill>
                <a:srgbClr val="FF0000"/>
              </a:solidFill>
            </a:endParaRPr>
          </a:p>
          <a:p>
            <a:endParaRPr lang="en-US" altLang="zh-CN" dirty="0">
              <a:solidFill>
                <a:srgbClr val="7030A0"/>
              </a:solidFill>
            </a:endParaRPr>
          </a:p>
          <a:p>
            <a:r>
              <a:rPr lang="en-US" altLang="zh-CN" dirty="0">
                <a:solidFill>
                  <a:srgbClr val="7030A0"/>
                </a:solidFill>
              </a:rPr>
              <a:t>※ </a:t>
            </a:r>
            <a:r>
              <a:rPr lang="en-US" altLang="zh-CN" dirty="0"/>
              <a:t>2021</a:t>
            </a:r>
            <a:r>
              <a:rPr lang="zh-CN" altLang="en-US" dirty="0"/>
              <a:t>年</a:t>
            </a:r>
            <a:r>
              <a:rPr lang="en-US" altLang="zh-CN" dirty="0"/>
              <a:t>136</a:t>
            </a:r>
            <a:r>
              <a:rPr lang="zh-CN" altLang="en-US" dirty="0"/>
              <a:t>个国家实施全球</a:t>
            </a:r>
            <a:r>
              <a:rPr lang="en-US" altLang="zh-CN" dirty="0"/>
              <a:t>15%</a:t>
            </a:r>
            <a:r>
              <a:rPr lang="zh-CN" altLang="en-US" dirty="0"/>
              <a:t>最低税率</a:t>
            </a:r>
            <a:endParaRPr lang="en-US" altLang="zh-CN" dirty="0"/>
          </a:p>
          <a:p>
            <a:r>
              <a:rPr lang="zh-CN" altLang="en-US" dirty="0"/>
              <a:t>大资本仍然有无数种避税的方法（因为法律是大资本自己定的）：</a:t>
            </a:r>
            <a:endParaRPr lang="en-US" altLang="zh-CN" dirty="0"/>
          </a:p>
          <a:p>
            <a:r>
              <a:rPr lang="zh-CN" altLang="en-US" dirty="0"/>
              <a:t>低税率地区创造所谓的“有实体证据”：亚马逊</a:t>
            </a:r>
            <a:endParaRPr lang="en-US" altLang="zh-CN" dirty="0"/>
          </a:p>
          <a:p>
            <a:r>
              <a:rPr lang="zh-CN" altLang="en-US" dirty="0"/>
              <a:t>跨国混合实体税收套利：</a:t>
            </a:r>
            <a:r>
              <a:rPr lang="en-US" altLang="zh-CN" dirty="0"/>
              <a:t>A</a:t>
            </a:r>
            <a:r>
              <a:rPr lang="zh-CN" altLang="en-US" dirty="0"/>
              <a:t>国被认定为企业，</a:t>
            </a:r>
            <a:r>
              <a:rPr lang="en-US" altLang="zh-CN" dirty="0"/>
              <a:t>B</a:t>
            </a:r>
            <a:r>
              <a:rPr lang="zh-CN" altLang="en-US" dirty="0"/>
              <a:t>国认定为合伙人</a:t>
            </a:r>
            <a:endParaRPr lang="en-US" altLang="zh-CN" dirty="0"/>
          </a:p>
          <a:p>
            <a:r>
              <a:rPr lang="zh-CN" altLang="en-US" dirty="0"/>
              <a:t>债务工具：利润作为内部关联贷款抵扣利润</a:t>
            </a:r>
            <a:endParaRPr lang="en-US" altLang="zh-CN" dirty="0"/>
          </a:p>
          <a:p>
            <a:r>
              <a:rPr lang="zh-CN" altLang="en-US" dirty="0"/>
              <a:t>新加坡家族办公室</a:t>
            </a:r>
            <a:endParaRPr lang="en-US" altLang="zh-CN" dirty="0"/>
          </a:p>
          <a:p>
            <a:r>
              <a:rPr lang="zh-CN" altLang="en-US" dirty="0"/>
              <a:t>阿联酋的离岸中心</a:t>
            </a:r>
            <a:endParaRPr lang="en-US" altLang="zh-CN" dirty="0"/>
          </a:p>
          <a:p>
            <a:r>
              <a:rPr lang="zh-CN" altLang="en-US" dirty="0"/>
              <a:t>泽西岛</a:t>
            </a:r>
            <a:r>
              <a:rPr lang="en-US" altLang="zh-CN" dirty="0"/>
              <a:t>-</a:t>
            </a:r>
            <a:r>
              <a:rPr lang="zh-CN" altLang="en-US" dirty="0"/>
              <a:t>内华达州离岸信托控制架构（布林、扎克伯格等在“亿万富翁税”生效前搬去内华达州）</a:t>
            </a:r>
            <a:endParaRPr lang="en-US" altLang="zh-CN" dirty="0">
              <a:solidFill>
                <a:srgbClr val="7030A0"/>
              </a:solidFill>
            </a:endParaRPr>
          </a:p>
          <a:p>
            <a:endParaRPr lang="en-US" altLang="zh-CN" dirty="0">
              <a:solidFill>
                <a:srgbClr val="7030A0"/>
              </a:solidFill>
            </a:endParaRPr>
          </a:p>
          <a:p>
            <a:r>
              <a:rPr lang="en-US" altLang="zh-CN" dirty="0">
                <a:solidFill>
                  <a:srgbClr val="7030A0"/>
                </a:solidFill>
              </a:rPr>
              <a:t>※</a:t>
            </a:r>
            <a:r>
              <a:rPr lang="zh-CN" altLang="en-US" dirty="0">
                <a:solidFill>
                  <a:srgbClr val="353535"/>
                </a:solidFill>
              </a:rPr>
              <a:t>特朗普在美国交的税没有在中国交的多</a:t>
            </a:r>
            <a:endParaRPr lang="en-US" altLang="zh-CN" dirty="0">
              <a:solidFill>
                <a:srgbClr val="353535"/>
              </a:solidFill>
            </a:endParaRPr>
          </a:p>
          <a:p>
            <a:r>
              <a:rPr lang="en-US" altLang="zh-CN" dirty="0"/>
              <a:t>2024</a:t>
            </a:r>
            <a:r>
              <a:rPr lang="zh-CN" altLang="en-US" dirty="0"/>
              <a:t>年再次当选总统：年赚</a:t>
            </a:r>
            <a:r>
              <a:rPr lang="en-US" altLang="zh-CN" dirty="0"/>
              <a:t>22</a:t>
            </a:r>
            <a:r>
              <a:rPr lang="zh-CN" altLang="en-US" dirty="0"/>
              <a:t>亿美元</a:t>
            </a:r>
            <a:endParaRPr lang="en-US" altLang="zh-CN" dirty="0"/>
          </a:p>
          <a:p>
            <a:endParaRPr lang="en-US" altLang="zh-CN" dirty="0"/>
          </a:p>
          <a:p>
            <a:r>
              <a:rPr lang="zh-CN" altLang="en-US" dirty="0"/>
              <a:t>富豪们常见的避税方法：</a:t>
            </a:r>
            <a:endParaRPr lang="en-US" altLang="zh-CN" dirty="0"/>
          </a:p>
          <a:p>
            <a:r>
              <a:rPr lang="en-US" altLang="zh-CN" dirty="0"/>
              <a:t>“</a:t>
            </a:r>
            <a:r>
              <a:rPr lang="zh-CN" altLang="en-US" dirty="0"/>
              <a:t>账面折旧</a:t>
            </a:r>
            <a:r>
              <a:rPr lang="en-US" altLang="zh-CN" dirty="0"/>
              <a:t>”</a:t>
            </a:r>
            <a:r>
              <a:rPr lang="zh-CN" altLang="en-US" dirty="0"/>
              <a:t>隐藏利润</a:t>
            </a:r>
            <a:endParaRPr lang="en-US" altLang="zh-CN" dirty="0"/>
          </a:p>
          <a:p>
            <a:r>
              <a:rPr lang="zh-CN" altLang="en-US" dirty="0"/>
              <a:t>多家公司互相对冲隐藏利润</a:t>
            </a:r>
            <a:endParaRPr lang="en-US" altLang="zh-CN" dirty="0"/>
          </a:p>
          <a:p>
            <a:r>
              <a:rPr lang="zh-CN" altLang="en-US" dirty="0"/>
              <a:t>个人开销走公司账</a:t>
            </a:r>
            <a:endParaRPr lang="en-US" altLang="zh-CN" dirty="0"/>
          </a:p>
        </p:txBody>
      </p:sp>
      <p:graphicFrame>
        <p:nvGraphicFramePr>
          <p:cNvPr id="7" name="表格 6">
            <a:extLst>
              <a:ext uri="{FF2B5EF4-FFF2-40B4-BE49-F238E27FC236}">
                <a16:creationId xmlns:a16="http://schemas.microsoft.com/office/drawing/2014/main" id="{A306EF9D-A98F-E17A-600E-49CDDE8274BA}"/>
              </a:ext>
            </a:extLst>
          </p:cNvPr>
          <p:cNvGraphicFramePr>
            <a:graphicFrameLocks noGrp="1"/>
          </p:cNvGraphicFramePr>
          <p:nvPr>
            <p:extLst>
              <p:ext uri="{D42A27DB-BD31-4B8C-83A1-F6EECF244321}">
                <p14:modId xmlns:p14="http://schemas.microsoft.com/office/powerpoint/2010/main" val="1487933861"/>
              </p:ext>
            </p:extLst>
          </p:nvPr>
        </p:nvGraphicFramePr>
        <p:xfrm>
          <a:off x="4806994" y="4911648"/>
          <a:ext cx="7033368" cy="1792767"/>
        </p:xfrm>
        <a:graphic>
          <a:graphicData uri="http://schemas.openxmlformats.org/drawingml/2006/table">
            <a:tbl>
              <a:tblPr/>
              <a:tblGrid>
                <a:gridCol w="3516684">
                  <a:extLst>
                    <a:ext uri="{9D8B030D-6E8A-4147-A177-3AD203B41FA5}">
                      <a16:colId xmlns:a16="http://schemas.microsoft.com/office/drawing/2014/main" val="3485292179"/>
                    </a:ext>
                  </a:extLst>
                </a:gridCol>
                <a:gridCol w="3516684">
                  <a:extLst>
                    <a:ext uri="{9D8B030D-6E8A-4147-A177-3AD203B41FA5}">
                      <a16:colId xmlns:a16="http://schemas.microsoft.com/office/drawing/2014/main" val="2369993606"/>
                    </a:ext>
                  </a:extLst>
                </a:gridCol>
              </a:tblGrid>
              <a:tr h="262053">
                <a:tc>
                  <a:txBody>
                    <a:bodyPr/>
                    <a:lstStyle/>
                    <a:p>
                      <a:pPr algn="l">
                        <a:buNone/>
                      </a:pPr>
                      <a:r>
                        <a:rPr lang="zh-CN" altLang="en-US" sz="1800" dirty="0">
                          <a:effectLst/>
                        </a:rPr>
                        <a:t>年份</a:t>
                      </a:r>
                    </a:p>
                  </a:txBody>
                  <a:tcPr marL="17688" marR="17688" marT="17688" marB="17688" anchor="ctr">
                    <a:lnL w="9525" cap="flat" cmpd="sng" algn="ctr">
                      <a:solidFill>
                        <a:srgbClr val="CCCCCC"/>
                      </a:solidFill>
                      <a:prstDash val="solid"/>
                      <a:round/>
                      <a:headEnd type="none" w="med" len="med"/>
                      <a:tailEnd type="none" w="med" len="med"/>
                    </a:lnL>
                    <a:lnR w="9525" cap="flat" cmpd="sng" algn="ctr">
                      <a:solidFill>
                        <a:srgbClr val="CCCCCC"/>
                      </a:solidFill>
                      <a:prstDash val="solid"/>
                      <a:round/>
                      <a:headEnd type="none" w="med" len="med"/>
                      <a:tailEnd type="none" w="med" len="med"/>
                    </a:lnR>
                    <a:lnT w="9525" cap="flat" cmpd="sng" algn="ctr">
                      <a:solidFill>
                        <a:srgbClr val="CCCCCC"/>
                      </a:solidFill>
                      <a:prstDash val="solid"/>
                      <a:round/>
                      <a:headEnd type="none" w="med" len="med"/>
                      <a:tailEnd type="none" w="med" len="med"/>
                    </a:lnT>
                    <a:lnB w="9525" cap="flat" cmpd="sng" algn="ctr">
                      <a:solidFill>
                        <a:srgbClr val="CCCCCC"/>
                      </a:solidFill>
                      <a:prstDash val="solid"/>
                      <a:round/>
                      <a:headEnd type="none" w="med" len="med"/>
                      <a:tailEnd type="none" w="med" len="med"/>
                    </a:lnB>
                    <a:noFill/>
                  </a:tcPr>
                </a:tc>
                <a:tc>
                  <a:txBody>
                    <a:bodyPr/>
                    <a:lstStyle/>
                    <a:p>
                      <a:pPr algn="l">
                        <a:buNone/>
                      </a:pPr>
                      <a:r>
                        <a:rPr lang="zh-CN" altLang="en-US" sz="1800">
                          <a:effectLst/>
                        </a:rPr>
                        <a:t>交了多少联邦所得税</a:t>
                      </a:r>
                    </a:p>
                  </a:txBody>
                  <a:tcPr marL="17688" marR="17688" marT="17688" marB="17688" anchor="ctr">
                    <a:lnL w="9525" cap="flat" cmpd="sng" algn="ctr">
                      <a:solidFill>
                        <a:srgbClr val="CCCCCC"/>
                      </a:solidFill>
                      <a:prstDash val="solid"/>
                      <a:round/>
                      <a:headEnd type="none" w="med" len="med"/>
                      <a:tailEnd type="none" w="med" len="med"/>
                    </a:lnL>
                    <a:lnR w="9525" cap="flat" cmpd="sng" algn="ctr">
                      <a:solidFill>
                        <a:srgbClr val="CCCCCC"/>
                      </a:solidFill>
                      <a:prstDash val="solid"/>
                      <a:round/>
                      <a:headEnd type="none" w="med" len="med"/>
                      <a:tailEnd type="none" w="med" len="med"/>
                    </a:lnR>
                    <a:lnT w="9525" cap="flat" cmpd="sng" algn="ctr">
                      <a:solidFill>
                        <a:srgbClr val="CCCCCC"/>
                      </a:solidFill>
                      <a:prstDash val="solid"/>
                      <a:round/>
                      <a:headEnd type="none" w="med" len="med"/>
                      <a:tailEnd type="none" w="med" len="med"/>
                    </a:lnT>
                    <a:lnB w="9525" cap="flat" cmpd="sng" algn="ctr">
                      <a:solidFill>
                        <a:srgbClr val="CCCCCC"/>
                      </a:solidFill>
                      <a:prstDash val="solid"/>
                      <a:round/>
                      <a:headEnd type="none" w="med" len="med"/>
                      <a:tailEnd type="none" w="med" len="med"/>
                    </a:lnB>
                    <a:noFill/>
                  </a:tcPr>
                </a:tc>
                <a:extLst>
                  <a:ext uri="{0D108BD9-81ED-4DB2-BD59-A6C34878D82A}">
                    <a16:rowId xmlns:a16="http://schemas.microsoft.com/office/drawing/2014/main" val="3304628010"/>
                  </a:ext>
                </a:extLst>
              </a:tr>
              <a:tr h="408431">
                <a:tc>
                  <a:txBody>
                    <a:bodyPr/>
                    <a:lstStyle/>
                    <a:p>
                      <a:pPr algn="l">
                        <a:buNone/>
                      </a:pPr>
                      <a:r>
                        <a:rPr lang="en-US" altLang="zh-CN" sz="1800" dirty="0">
                          <a:effectLst/>
                        </a:rPr>
                        <a:t>2016 </a:t>
                      </a:r>
                      <a:r>
                        <a:rPr lang="zh-CN" altLang="en-US" sz="1800" dirty="0">
                          <a:effectLst/>
                        </a:rPr>
                        <a:t>年（第一次当选总统的年份）</a:t>
                      </a:r>
                    </a:p>
                  </a:txBody>
                  <a:tcPr marL="17688" marR="17688" marT="17688" marB="17688" anchor="ctr">
                    <a:lnL w="9525" cap="flat" cmpd="sng" algn="ctr">
                      <a:solidFill>
                        <a:srgbClr val="CCCCCC"/>
                      </a:solidFill>
                      <a:prstDash val="solid"/>
                      <a:round/>
                      <a:headEnd type="none" w="med" len="med"/>
                      <a:tailEnd type="none" w="med" len="med"/>
                    </a:lnL>
                    <a:lnR w="9525" cap="flat" cmpd="sng" algn="ctr">
                      <a:solidFill>
                        <a:srgbClr val="CCCCCC"/>
                      </a:solidFill>
                      <a:prstDash val="solid"/>
                      <a:round/>
                      <a:headEnd type="none" w="med" len="med"/>
                      <a:tailEnd type="none" w="med" len="med"/>
                    </a:lnR>
                    <a:lnT w="9525" cap="flat" cmpd="sng" algn="ctr">
                      <a:solidFill>
                        <a:srgbClr val="CCCCCC"/>
                      </a:solidFill>
                      <a:prstDash val="solid"/>
                      <a:round/>
                      <a:headEnd type="none" w="med" len="med"/>
                      <a:tailEnd type="none" w="med" len="med"/>
                    </a:lnT>
                    <a:lnB w="9525" cap="flat" cmpd="sng" algn="ctr">
                      <a:solidFill>
                        <a:srgbClr val="CCCCCC"/>
                      </a:solidFill>
                      <a:prstDash val="solid"/>
                      <a:round/>
                      <a:headEnd type="none" w="med" len="med"/>
                      <a:tailEnd type="none" w="med" len="med"/>
                    </a:lnB>
                    <a:noFill/>
                  </a:tcPr>
                </a:tc>
                <a:tc>
                  <a:txBody>
                    <a:bodyPr/>
                    <a:lstStyle/>
                    <a:p>
                      <a:pPr algn="l">
                        <a:buNone/>
                      </a:pPr>
                      <a:r>
                        <a:rPr lang="en-US" altLang="zh-CN" sz="1800" b="1" dirty="0">
                          <a:effectLst/>
                        </a:rPr>
                        <a:t>750 </a:t>
                      </a:r>
                      <a:r>
                        <a:rPr lang="zh-CN" altLang="en-US" sz="1800" b="1" dirty="0">
                          <a:effectLst/>
                        </a:rPr>
                        <a:t>美元</a:t>
                      </a:r>
                      <a:endParaRPr lang="zh-CN" altLang="en-US" sz="1800" dirty="0">
                        <a:effectLst/>
                      </a:endParaRPr>
                    </a:p>
                  </a:txBody>
                  <a:tcPr marL="17688" marR="17688" marT="17688" marB="17688" anchor="ctr">
                    <a:lnL w="9525" cap="flat" cmpd="sng" algn="ctr">
                      <a:solidFill>
                        <a:srgbClr val="CCCCCC"/>
                      </a:solidFill>
                      <a:prstDash val="solid"/>
                      <a:round/>
                      <a:headEnd type="none" w="med" len="med"/>
                      <a:tailEnd type="none" w="med" len="med"/>
                    </a:lnL>
                    <a:lnR w="9525" cap="flat" cmpd="sng" algn="ctr">
                      <a:solidFill>
                        <a:srgbClr val="CCCCCC"/>
                      </a:solidFill>
                      <a:prstDash val="solid"/>
                      <a:round/>
                      <a:headEnd type="none" w="med" len="med"/>
                      <a:tailEnd type="none" w="med" len="med"/>
                    </a:lnR>
                    <a:lnT w="9525" cap="flat" cmpd="sng" algn="ctr">
                      <a:solidFill>
                        <a:srgbClr val="CCCCCC"/>
                      </a:solidFill>
                      <a:prstDash val="solid"/>
                      <a:round/>
                      <a:headEnd type="none" w="med" len="med"/>
                      <a:tailEnd type="none" w="med" len="med"/>
                    </a:lnT>
                    <a:lnB w="9525" cap="flat" cmpd="sng" algn="ctr">
                      <a:solidFill>
                        <a:srgbClr val="CCCCCC"/>
                      </a:solidFill>
                      <a:prstDash val="solid"/>
                      <a:round/>
                      <a:headEnd type="none" w="med" len="med"/>
                      <a:tailEnd type="none" w="med" len="med"/>
                    </a:lnB>
                    <a:noFill/>
                  </a:tcPr>
                </a:tc>
                <a:extLst>
                  <a:ext uri="{0D108BD9-81ED-4DB2-BD59-A6C34878D82A}">
                    <a16:rowId xmlns:a16="http://schemas.microsoft.com/office/drawing/2014/main" val="3453616306"/>
                  </a:ext>
                </a:extLst>
              </a:tr>
              <a:tr h="378300">
                <a:tc>
                  <a:txBody>
                    <a:bodyPr/>
                    <a:lstStyle/>
                    <a:p>
                      <a:pPr algn="l">
                        <a:buNone/>
                      </a:pPr>
                      <a:r>
                        <a:rPr lang="en-US" altLang="zh-CN" sz="1800">
                          <a:effectLst/>
                        </a:rPr>
                        <a:t>2017 </a:t>
                      </a:r>
                      <a:r>
                        <a:rPr lang="zh-CN" altLang="en-US" sz="1800">
                          <a:effectLst/>
                        </a:rPr>
                        <a:t>年（上任第一年）</a:t>
                      </a:r>
                    </a:p>
                  </a:txBody>
                  <a:tcPr marL="17688" marR="17688" marT="17688" marB="17688" anchor="ctr">
                    <a:lnL w="9525" cap="flat" cmpd="sng" algn="ctr">
                      <a:solidFill>
                        <a:srgbClr val="CCCCCC"/>
                      </a:solidFill>
                      <a:prstDash val="solid"/>
                      <a:round/>
                      <a:headEnd type="none" w="med" len="med"/>
                      <a:tailEnd type="none" w="med" len="med"/>
                    </a:lnL>
                    <a:lnR w="9525" cap="flat" cmpd="sng" algn="ctr">
                      <a:solidFill>
                        <a:srgbClr val="CCCCCC"/>
                      </a:solidFill>
                      <a:prstDash val="solid"/>
                      <a:round/>
                      <a:headEnd type="none" w="med" len="med"/>
                      <a:tailEnd type="none" w="med" len="med"/>
                    </a:lnR>
                    <a:lnT w="9525" cap="flat" cmpd="sng" algn="ctr">
                      <a:solidFill>
                        <a:srgbClr val="CCCCCC"/>
                      </a:solidFill>
                      <a:prstDash val="solid"/>
                      <a:round/>
                      <a:headEnd type="none" w="med" len="med"/>
                      <a:tailEnd type="none" w="med" len="med"/>
                    </a:lnT>
                    <a:lnB w="9525" cap="flat" cmpd="sng" algn="ctr">
                      <a:solidFill>
                        <a:srgbClr val="CCCCCC"/>
                      </a:solidFill>
                      <a:prstDash val="solid"/>
                      <a:round/>
                      <a:headEnd type="none" w="med" len="med"/>
                      <a:tailEnd type="none" w="med" len="med"/>
                    </a:lnB>
                    <a:noFill/>
                  </a:tcPr>
                </a:tc>
                <a:tc>
                  <a:txBody>
                    <a:bodyPr/>
                    <a:lstStyle/>
                    <a:p>
                      <a:pPr algn="l">
                        <a:buNone/>
                      </a:pPr>
                      <a:r>
                        <a:rPr lang="en-US" altLang="zh-CN" sz="1800" b="1" dirty="0">
                          <a:effectLst/>
                        </a:rPr>
                        <a:t>750 </a:t>
                      </a:r>
                      <a:r>
                        <a:rPr lang="zh-CN" altLang="en-US" sz="1800" b="1" dirty="0">
                          <a:effectLst/>
                        </a:rPr>
                        <a:t>美元</a:t>
                      </a:r>
                      <a:endParaRPr lang="zh-CN" altLang="en-US" sz="1800" dirty="0">
                        <a:effectLst/>
                      </a:endParaRPr>
                    </a:p>
                  </a:txBody>
                  <a:tcPr marL="17688" marR="17688" marT="17688" marB="17688" anchor="ctr">
                    <a:lnL w="9525" cap="flat" cmpd="sng" algn="ctr">
                      <a:solidFill>
                        <a:srgbClr val="CCCCCC"/>
                      </a:solidFill>
                      <a:prstDash val="solid"/>
                      <a:round/>
                      <a:headEnd type="none" w="med" len="med"/>
                      <a:tailEnd type="none" w="med" len="med"/>
                    </a:lnL>
                    <a:lnR w="9525" cap="flat" cmpd="sng" algn="ctr">
                      <a:solidFill>
                        <a:srgbClr val="CCCCCC"/>
                      </a:solidFill>
                      <a:prstDash val="solid"/>
                      <a:round/>
                      <a:headEnd type="none" w="med" len="med"/>
                      <a:tailEnd type="none" w="med" len="med"/>
                    </a:lnR>
                    <a:lnT w="9525" cap="flat" cmpd="sng" algn="ctr">
                      <a:solidFill>
                        <a:srgbClr val="CCCCCC"/>
                      </a:solidFill>
                      <a:prstDash val="solid"/>
                      <a:round/>
                      <a:headEnd type="none" w="med" len="med"/>
                      <a:tailEnd type="none" w="med" len="med"/>
                    </a:lnT>
                    <a:lnB w="9525" cap="flat" cmpd="sng" algn="ctr">
                      <a:solidFill>
                        <a:srgbClr val="CCCCCC"/>
                      </a:solidFill>
                      <a:prstDash val="solid"/>
                      <a:round/>
                      <a:headEnd type="none" w="med" len="med"/>
                      <a:tailEnd type="none" w="med" len="med"/>
                    </a:lnB>
                    <a:noFill/>
                  </a:tcPr>
                </a:tc>
                <a:extLst>
                  <a:ext uri="{0D108BD9-81ED-4DB2-BD59-A6C34878D82A}">
                    <a16:rowId xmlns:a16="http://schemas.microsoft.com/office/drawing/2014/main" val="3753513511"/>
                  </a:ext>
                </a:extLst>
              </a:tr>
              <a:tr h="348170">
                <a:tc>
                  <a:txBody>
                    <a:bodyPr/>
                    <a:lstStyle/>
                    <a:p>
                      <a:pPr algn="l">
                        <a:buNone/>
                      </a:pPr>
                      <a:r>
                        <a:rPr lang="en-US" altLang="zh-CN" sz="1800">
                          <a:effectLst/>
                        </a:rPr>
                        <a:t>2000 </a:t>
                      </a:r>
                      <a:r>
                        <a:rPr lang="zh-CN" altLang="en-US" sz="1800">
                          <a:effectLst/>
                        </a:rPr>
                        <a:t>年后的 </a:t>
                      </a:r>
                      <a:r>
                        <a:rPr lang="en-US" altLang="zh-CN" sz="1800">
                          <a:effectLst/>
                        </a:rPr>
                        <a:t>15 </a:t>
                      </a:r>
                      <a:r>
                        <a:rPr lang="zh-CN" altLang="en-US" sz="1800">
                          <a:effectLst/>
                        </a:rPr>
                        <a:t>年里</a:t>
                      </a:r>
                    </a:p>
                  </a:txBody>
                  <a:tcPr marL="17688" marR="17688" marT="17688" marB="17688" anchor="ctr">
                    <a:lnL w="9525" cap="flat" cmpd="sng" algn="ctr">
                      <a:solidFill>
                        <a:srgbClr val="CCCCCC"/>
                      </a:solidFill>
                      <a:prstDash val="solid"/>
                      <a:round/>
                      <a:headEnd type="none" w="med" len="med"/>
                      <a:tailEnd type="none" w="med" len="med"/>
                    </a:lnL>
                    <a:lnR w="9525" cap="flat" cmpd="sng" algn="ctr">
                      <a:solidFill>
                        <a:srgbClr val="CCCCCC"/>
                      </a:solidFill>
                      <a:prstDash val="solid"/>
                      <a:round/>
                      <a:headEnd type="none" w="med" len="med"/>
                      <a:tailEnd type="none" w="med" len="med"/>
                    </a:lnR>
                    <a:lnT w="9525" cap="flat" cmpd="sng" algn="ctr">
                      <a:solidFill>
                        <a:srgbClr val="CCCCCC"/>
                      </a:solidFill>
                      <a:prstDash val="solid"/>
                      <a:round/>
                      <a:headEnd type="none" w="med" len="med"/>
                      <a:tailEnd type="none" w="med" len="med"/>
                    </a:lnT>
                    <a:lnB w="9525" cap="flat" cmpd="sng" algn="ctr">
                      <a:solidFill>
                        <a:srgbClr val="CCCCCC"/>
                      </a:solidFill>
                      <a:prstDash val="solid"/>
                      <a:round/>
                      <a:headEnd type="none" w="med" len="med"/>
                      <a:tailEnd type="none" w="med" len="med"/>
                    </a:lnB>
                    <a:noFill/>
                  </a:tcPr>
                </a:tc>
                <a:tc>
                  <a:txBody>
                    <a:bodyPr/>
                    <a:lstStyle/>
                    <a:p>
                      <a:pPr algn="l">
                        <a:buNone/>
                      </a:pPr>
                      <a:r>
                        <a:rPr lang="zh-CN" altLang="en-US" sz="1800" b="1">
                          <a:effectLst/>
                        </a:rPr>
                        <a:t>有 </a:t>
                      </a:r>
                      <a:r>
                        <a:rPr lang="en-US" altLang="zh-CN" sz="1800" b="1">
                          <a:effectLst/>
                        </a:rPr>
                        <a:t>10 </a:t>
                      </a:r>
                      <a:r>
                        <a:rPr lang="zh-CN" altLang="en-US" sz="1800" b="1">
                          <a:effectLst/>
                        </a:rPr>
                        <a:t>年是 </a:t>
                      </a:r>
                      <a:r>
                        <a:rPr lang="en-US" altLang="zh-CN" sz="1800" b="1">
                          <a:effectLst/>
                        </a:rPr>
                        <a:t>0</a:t>
                      </a:r>
                      <a:endParaRPr lang="zh-CN" altLang="en-US" sz="1800">
                        <a:effectLst/>
                      </a:endParaRPr>
                    </a:p>
                  </a:txBody>
                  <a:tcPr marL="17688" marR="17688" marT="17688" marB="17688" anchor="ctr">
                    <a:lnL w="9525" cap="flat" cmpd="sng" algn="ctr">
                      <a:solidFill>
                        <a:srgbClr val="CCCCCC"/>
                      </a:solidFill>
                      <a:prstDash val="solid"/>
                      <a:round/>
                      <a:headEnd type="none" w="med" len="med"/>
                      <a:tailEnd type="none" w="med" len="med"/>
                    </a:lnL>
                    <a:lnR w="9525" cap="flat" cmpd="sng" algn="ctr">
                      <a:solidFill>
                        <a:srgbClr val="CCCCCC"/>
                      </a:solidFill>
                      <a:prstDash val="solid"/>
                      <a:round/>
                      <a:headEnd type="none" w="med" len="med"/>
                      <a:tailEnd type="none" w="med" len="med"/>
                    </a:lnR>
                    <a:lnT w="9525" cap="flat" cmpd="sng" algn="ctr">
                      <a:solidFill>
                        <a:srgbClr val="CCCCCC"/>
                      </a:solidFill>
                      <a:prstDash val="solid"/>
                      <a:round/>
                      <a:headEnd type="none" w="med" len="med"/>
                      <a:tailEnd type="none" w="med" len="med"/>
                    </a:lnT>
                    <a:lnB w="9525" cap="flat" cmpd="sng" algn="ctr">
                      <a:solidFill>
                        <a:srgbClr val="CCCCCC"/>
                      </a:solidFill>
                      <a:prstDash val="solid"/>
                      <a:round/>
                      <a:headEnd type="none" w="med" len="med"/>
                      <a:tailEnd type="none" w="med" len="med"/>
                    </a:lnB>
                    <a:noFill/>
                  </a:tcPr>
                </a:tc>
                <a:extLst>
                  <a:ext uri="{0D108BD9-81ED-4DB2-BD59-A6C34878D82A}">
                    <a16:rowId xmlns:a16="http://schemas.microsoft.com/office/drawing/2014/main" val="1311962092"/>
                  </a:ext>
                </a:extLst>
              </a:tr>
              <a:tr h="348170">
                <a:tc>
                  <a:txBody>
                    <a:bodyPr/>
                    <a:lstStyle/>
                    <a:p>
                      <a:pPr algn="l">
                        <a:buNone/>
                      </a:pPr>
                      <a:r>
                        <a:rPr lang="en-US" altLang="zh-CN" sz="1800" dirty="0">
                          <a:effectLst/>
                        </a:rPr>
                        <a:t>2020 </a:t>
                      </a:r>
                      <a:r>
                        <a:rPr lang="zh-CN" altLang="en-US" sz="1800" dirty="0">
                          <a:effectLst/>
                        </a:rPr>
                        <a:t>年</a:t>
                      </a:r>
                    </a:p>
                  </a:txBody>
                  <a:tcPr marL="17688" marR="17688" marT="17688" marB="17688" anchor="ctr">
                    <a:lnL w="9525" cap="flat" cmpd="sng" algn="ctr">
                      <a:solidFill>
                        <a:srgbClr val="CCCCCC"/>
                      </a:solidFill>
                      <a:prstDash val="solid"/>
                      <a:round/>
                      <a:headEnd type="none" w="med" len="med"/>
                      <a:tailEnd type="none" w="med" len="med"/>
                    </a:lnL>
                    <a:lnR w="9525" cap="flat" cmpd="sng" algn="ctr">
                      <a:solidFill>
                        <a:srgbClr val="CCCCCC"/>
                      </a:solidFill>
                      <a:prstDash val="solid"/>
                      <a:round/>
                      <a:headEnd type="none" w="med" len="med"/>
                      <a:tailEnd type="none" w="med" len="med"/>
                    </a:lnR>
                    <a:lnT w="9525" cap="flat" cmpd="sng" algn="ctr">
                      <a:solidFill>
                        <a:srgbClr val="CCCCCC"/>
                      </a:solidFill>
                      <a:prstDash val="solid"/>
                      <a:round/>
                      <a:headEnd type="none" w="med" len="med"/>
                      <a:tailEnd type="none" w="med" len="med"/>
                    </a:lnT>
                    <a:lnB w="9525" cap="flat" cmpd="sng" algn="ctr">
                      <a:solidFill>
                        <a:srgbClr val="CCCCCC"/>
                      </a:solidFill>
                      <a:prstDash val="solid"/>
                      <a:round/>
                      <a:headEnd type="none" w="med" len="med"/>
                      <a:tailEnd type="none" w="med" len="med"/>
                    </a:lnB>
                    <a:noFill/>
                  </a:tcPr>
                </a:tc>
                <a:tc>
                  <a:txBody>
                    <a:bodyPr/>
                    <a:lstStyle/>
                    <a:p>
                      <a:pPr algn="l">
                        <a:buNone/>
                      </a:pPr>
                      <a:r>
                        <a:rPr lang="en-US" altLang="zh-CN" sz="1800" b="1" dirty="0">
                          <a:effectLst/>
                        </a:rPr>
                        <a:t>0</a:t>
                      </a:r>
                      <a:r>
                        <a:rPr lang="zh-CN" altLang="en-US" sz="1800" dirty="0">
                          <a:effectLst/>
                        </a:rPr>
                        <a:t>（报了 </a:t>
                      </a:r>
                      <a:r>
                        <a:rPr lang="en-US" altLang="zh-CN" sz="1800" dirty="0">
                          <a:effectLst/>
                        </a:rPr>
                        <a:t>480 </a:t>
                      </a:r>
                      <a:r>
                        <a:rPr lang="zh-CN" altLang="en-US" sz="1800" dirty="0">
                          <a:effectLst/>
                        </a:rPr>
                        <a:t>万亏损）</a:t>
                      </a:r>
                    </a:p>
                  </a:txBody>
                  <a:tcPr marL="17688" marR="17688" marT="17688" marB="17688" anchor="ctr">
                    <a:lnL w="9525" cap="flat" cmpd="sng" algn="ctr">
                      <a:solidFill>
                        <a:srgbClr val="CCCCCC"/>
                      </a:solidFill>
                      <a:prstDash val="solid"/>
                      <a:round/>
                      <a:headEnd type="none" w="med" len="med"/>
                      <a:tailEnd type="none" w="med" len="med"/>
                    </a:lnL>
                    <a:lnR w="9525" cap="flat" cmpd="sng" algn="ctr">
                      <a:solidFill>
                        <a:srgbClr val="CCCCCC"/>
                      </a:solidFill>
                      <a:prstDash val="solid"/>
                      <a:round/>
                      <a:headEnd type="none" w="med" len="med"/>
                      <a:tailEnd type="none" w="med" len="med"/>
                    </a:lnR>
                    <a:lnT w="9525" cap="flat" cmpd="sng" algn="ctr">
                      <a:solidFill>
                        <a:srgbClr val="CCCCCC"/>
                      </a:solidFill>
                      <a:prstDash val="solid"/>
                      <a:round/>
                      <a:headEnd type="none" w="med" len="med"/>
                      <a:tailEnd type="none" w="med" len="med"/>
                    </a:lnT>
                    <a:lnB w="9525" cap="flat" cmpd="sng" algn="ctr">
                      <a:solidFill>
                        <a:srgbClr val="CCCCCC"/>
                      </a:solidFill>
                      <a:prstDash val="solid"/>
                      <a:round/>
                      <a:headEnd type="none" w="med" len="med"/>
                      <a:tailEnd type="none" w="med" len="med"/>
                    </a:lnB>
                    <a:noFill/>
                  </a:tcPr>
                </a:tc>
                <a:extLst>
                  <a:ext uri="{0D108BD9-81ED-4DB2-BD59-A6C34878D82A}">
                    <a16:rowId xmlns:a16="http://schemas.microsoft.com/office/drawing/2014/main" val="3927051503"/>
                  </a:ext>
                </a:extLst>
              </a:tr>
            </a:tbl>
          </a:graphicData>
        </a:graphic>
      </p:graphicFrame>
      <p:pic>
        <p:nvPicPr>
          <p:cNvPr id="9" name="图片 8">
            <a:extLst>
              <a:ext uri="{FF2B5EF4-FFF2-40B4-BE49-F238E27FC236}">
                <a16:creationId xmlns:a16="http://schemas.microsoft.com/office/drawing/2014/main" id="{CF7ECF50-AD48-87C2-8419-E6C7D1B32B84}"/>
              </a:ext>
            </a:extLst>
          </p:cNvPr>
          <p:cNvPicPr>
            <a:picLocks noChangeAspect="1"/>
          </p:cNvPicPr>
          <p:nvPr/>
        </p:nvPicPr>
        <p:blipFill>
          <a:blip r:embed="rId3"/>
          <a:stretch>
            <a:fillRect/>
          </a:stretch>
        </p:blipFill>
        <p:spPr>
          <a:xfrm>
            <a:off x="6814284" y="1164954"/>
            <a:ext cx="5339431" cy="2702675"/>
          </a:xfrm>
          <a:prstGeom prst="rect">
            <a:avLst/>
          </a:prstGeom>
        </p:spPr>
      </p:pic>
    </p:spTree>
    <p:extLst>
      <p:ext uri="{BB962C8B-B14F-4D97-AF65-F5344CB8AC3E}">
        <p14:creationId xmlns:p14="http://schemas.microsoft.com/office/powerpoint/2010/main" val="277584320"/>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952E7725-3096-4969-8619-BFD45072AD94}"/>
              </a:ext>
            </a:extLst>
          </p:cNvPr>
          <p:cNvSpPr txBox="1"/>
          <p:nvPr/>
        </p:nvSpPr>
        <p:spPr>
          <a:xfrm>
            <a:off x="534498" y="304741"/>
            <a:ext cx="2013393" cy="400110"/>
          </a:xfrm>
          <a:prstGeom prst="rect">
            <a:avLst/>
          </a:prstGeom>
          <a:solidFill>
            <a:srgbClr val="7F2C8B"/>
          </a:solidFill>
        </p:spPr>
        <p:txBody>
          <a:bodyPr wrap="square" rtlCol="0">
            <a:spAutoFit/>
          </a:bodyPr>
          <a:lstStyle/>
          <a:p>
            <a:pPr lvl="0" defTabSz="914377">
              <a:defRPr/>
            </a:pPr>
            <a:r>
              <a:rPr lang="fr-FR" altLang="zh-CN" sz="2000" dirty="0">
                <a:solidFill>
                  <a:schemeClr val="bg1"/>
                </a:solidFill>
                <a:latin typeface="微软雅黑 Light" panose="020B0502040204020203" pitchFamily="34" charset="-122"/>
                <a:ea typeface="微软雅黑 Light" panose="020B0502040204020203" pitchFamily="34" charset="-122"/>
              </a:rPr>
              <a:t>r&gt;g</a:t>
            </a:r>
            <a:r>
              <a:rPr lang="zh-CN" altLang="en-US" sz="2000" dirty="0">
                <a:solidFill>
                  <a:schemeClr val="bg1"/>
                </a:solidFill>
                <a:latin typeface="微软雅黑 Light" panose="020B0502040204020203" pitchFamily="34" charset="-122"/>
                <a:ea typeface="微软雅黑 Light" panose="020B0502040204020203" pitchFamily="34" charset="-122"/>
              </a:rPr>
              <a:t>的根本原因</a:t>
            </a:r>
          </a:p>
        </p:txBody>
      </p:sp>
      <p:grpSp>
        <p:nvGrpSpPr>
          <p:cNvPr id="22" name="组合 21">
            <a:extLst>
              <a:ext uri="{FF2B5EF4-FFF2-40B4-BE49-F238E27FC236}">
                <a16:creationId xmlns:a16="http://schemas.microsoft.com/office/drawing/2014/main" id="{DFC37A35-D357-4CEE-9C28-5EABD3D35C6B}"/>
              </a:ext>
            </a:extLst>
          </p:cNvPr>
          <p:cNvGrpSpPr/>
          <p:nvPr/>
        </p:nvGrpSpPr>
        <p:grpSpPr>
          <a:xfrm>
            <a:off x="10735556" y="314266"/>
            <a:ext cx="1180589" cy="400111"/>
            <a:chOff x="624303" y="901700"/>
            <a:chExt cx="10005598" cy="3390977"/>
          </a:xfrm>
          <a:solidFill>
            <a:srgbClr val="7F2C8B"/>
          </a:solidFill>
        </p:grpSpPr>
        <p:sp>
          <p:nvSpPr>
            <p:cNvPr id="23" name="Freeform 5">
              <a:extLst>
                <a:ext uri="{FF2B5EF4-FFF2-40B4-BE49-F238E27FC236}">
                  <a16:creationId xmlns:a16="http://schemas.microsoft.com/office/drawing/2014/main" id="{0ACD2635-3EA4-461E-AE91-2E7358FA9FA0}"/>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4" name="Freeform 6">
              <a:extLst>
                <a:ext uri="{FF2B5EF4-FFF2-40B4-BE49-F238E27FC236}">
                  <a16:creationId xmlns:a16="http://schemas.microsoft.com/office/drawing/2014/main" id="{70354051-F1E2-4393-ABA2-AEB53FF0D08B}"/>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5" name="Freeform 7">
              <a:extLst>
                <a:ext uri="{FF2B5EF4-FFF2-40B4-BE49-F238E27FC236}">
                  <a16:creationId xmlns:a16="http://schemas.microsoft.com/office/drawing/2014/main" id="{5FFB1BFD-2D76-4EE4-9741-31F528BE757A}"/>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6" name="Freeform 8">
              <a:extLst>
                <a:ext uri="{FF2B5EF4-FFF2-40B4-BE49-F238E27FC236}">
                  <a16:creationId xmlns:a16="http://schemas.microsoft.com/office/drawing/2014/main" id="{1EFFAA81-03B5-4C66-939C-6BBDC7932C18}"/>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7" name="Freeform 9">
              <a:extLst>
                <a:ext uri="{FF2B5EF4-FFF2-40B4-BE49-F238E27FC236}">
                  <a16:creationId xmlns:a16="http://schemas.microsoft.com/office/drawing/2014/main" id="{35B0FA74-D77A-4B32-A41D-5E20B596D219}"/>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8" name="Freeform 10">
              <a:extLst>
                <a:ext uri="{FF2B5EF4-FFF2-40B4-BE49-F238E27FC236}">
                  <a16:creationId xmlns:a16="http://schemas.microsoft.com/office/drawing/2014/main" id="{F5FC7059-5FB3-4ADB-BA26-84EF705B3174}"/>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9" name="Freeform 11">
              <a:extLst>
                <a:ext uri="{FF2B5EF4-FFF2-40B4-BE49-F238E27FC236}">
                  <a16:creationId xmlns:a16="http://schemas.microsoft.com/office/drawing/2014/main" id="{937241A3-85EE-47AC-8B4A-B01E8B1B0812}"/>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0" name="Freeform 12">
              <a:extLst>
                <a:ext uri="{FF2B5EF4-FFF2-40B4-BE49-F238E27FC236}">
                  <a16:creationId xmlns:a16="http://schemas.microsoft.com/office/drawing/2014/main" id="{99EA3DC5-4FB4-48DC-9AA6-2E2F76C34725}"/>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1" name="Freeform 13">
              <a:extLst>
                <a:ext uri="{FF2B5EF4-FFF2-40B4-BE49-F238E27FC236}">
                  <a16:creationId xmlns:a16="http://schemas.microsoft.com/office/drawing/2014/main" id="{F7187B32-A15A-480D-849D-33EF28B75687}"/>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2" name="Freeform 14">
              <a:extLst>
                <a:ext uri="{FF2B5EF4-FFF2-40B4-BE49-F238E27FC236}">
                  <a16:creationId xmlns:a16="http://schemas.microsoft.com/office/drawing/2014/main" id="{AA5721AD-3E61-4D99-A2D8-A261E897EBAC}"/>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3" name="Freeform 15">
              <a:extLst>
                <a:ext uri="{FF2B5EF4-FFF2-40B4-BE49-F238E27FC236}">
                  <a16:creationId xmlns:a16="http://schemas.microsoft.com/office/drawing/2014/main" id="{EF703E7A-053E-4111-945E-2E43B9CC9ECE}"/>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4" name="Freeform 16">
              <a:extLst>
                <a:ext uri="{FF2B5EF4-FFF2-40B4-BE49-F238E27FC236}">
                  <a16:creationId xmlns:a16="http://schemas.microsoft.com/office/drawing/2014/main" id="{01BF6BE1-5CCD-4A5F-8AFA-EF1359F1D3F2}"/>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5" name="Freeform 17">
              <a:extLst>
                <a:ext uri="{FF2B5EF4-FFF2-40B4-BE49-F238E27FC236}">
                  <a16:creationId xmlns:a16="http://schemas.microsoft.com/office/drawing/2014/main" id="{295417E9-A0A1-4465-9436-76253B18BAD3}"/>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18">
              <a:extLst>
                <a:ext uri="{FF2B5EF4-FFF2-40B4-BE49-F238E27FC236}">
                  <a16:creationId xmlns:a16="http://schemas.microsoft.com/office/drawing/2014/main" id="{009C6FB2-A1BB-4F44-87AF-D874D67D737B}"/>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19">
              <a:extLst>
                <a:ext uri="{FF2B5EF4-FFF2-40B4-BE49-F238E27FC236}">
                  <a16:creationId xmlns:a16="http://schemas.microsoft.com/office/drawing/2014/main" id="{65203D5E-987A-4E4E-B0C9-FAC54EDFF054}"/>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20">
              <a:extLst>
                <a:ext uri="{FF2B5EF4-FFF2-40B4-BE49-F238E27FC236}">
                  <a16:creationId xmlns:a16="http://schemas.microsoft.com/office/drawing/2014/main" id="{F0367FE4-2904-433D-8E0F-42933CAA638D}"/>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21">
              <a:extLst>
                <a:ext uri="{FF2B5EF4-FFF2-40B4-BE49-F238E27FC236}">
                  <a16:creationId xmlns:a16="http://schemas.microsoft.com/office/drawing/2014/main" id="{7A0A948A-A7D6-4278-97BF-F101BFD0B366}"/>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22">
              <a:extLst>
                <a:ext uri="{FF2B5EF4-FFF2-40B4-BE49-F238E27FC236}">
                  <a16:creationId xmlns:a16="http://schemas.microsoft.com/office/drawing/2014/main" id="{DC614584-067F-48D2-931A-6CE53105F005}"/>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23">
              <a:extLst>
                <a:ext uri="{FF2B5EF4-FFF2-40B4-BE49-F238E27FC236}">
                  <a16:creationId xmlns:a16="http://schemas.microsoft.com/office/drawing/2014/main" id="{244320B8-5691-4A92-B2D2-5BCE1D98EA00}"/>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24">
              <a:extLst>
                <a:ext uri="{FF2B5EF4-FFF2-40B4-BE49-F238E27FC236}">
                  <a16:creationId xmlns:a16="http://schemas.microsoft.com/office/drawing/2014/main" id="{EF78F9E3-1F79-4E42-AAC8-E4DB818FEE8B}"/>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p:sp>
        <p:nvSpPr>
          <p:cNvPr id="2" name="文本框 1"/>
          <p:cNvSpPr txBox="1"/>
          <p:nvPr/>
        </p:nvSpPr>
        <p:spPr>
          <a:xfrm>
            <a:off x="534498" y="923636"/>
            <a:ext cx="5820120" cy="5624946"/>
          </a:xfrm>
          <a:prstGeom prst="rect">
            <a:avLst/>
          </a:prstGeom>
          <a:noFill/>
        </p:spPr>
        <p:txBody>
          <a:bodyPr wrap="square" rtlCol="0">
            <a:spAutoFit/>
          </a:bodyPr>
          <a:lstStyle/>
          <a:p>
            <a:endParaRPr lang="zh-CN" altLang="en-US" dirty="0"/>
          </a:p>
        </p:txBody>
      </p:sp>
      <p:sp>
        <p:nvSpPr>
          <p:cNvPr id="3" name="文本框 2"/>
          <p:cNvSpPr txBox="1"/>
          <p:nvPr/>
        </p:nvSpPr>
        <p:spPr>
          <a:xfrm>
            <a:off x="516695" y="767803"/>
            <a:ext cx="5511243" cy="5586145"/>
          </a:xfrm>
          <a:prstGeom prst="rect">
            <a:avLst/>
          </a:prstGeom>
          <a:noFill/>
        </p:spPr>
        <p:txBody>
          <a:bodyPr wrap="square" rtlCol="0">
            <a:spAutoFit/>
          </a:bodyPr>
          <a:lstStyle/>
          <a:p>
            <a:endParaRPr lang="en-US" altLang="zh-CN" sz="2100" dirty="0"/>
          </a:p>
          <a:p>
            <a:r>
              <a:rPr lang="en-US" altLang="zh-CN" sz="2100" dirty="0">
                <a:solidFill>
                  <a:srgbClr val="7030A0"/>
                </a:solidFill>
              </a:rPr>
              <a:t>※</a:t>
            </a:r>
            <a:r>
              <a:rPr lang="en-US" altLang="zh-CN" sz="2100" dirty="0"/>
              <a:t>r&gt;g</a:t>
            </a:r>
            <a:r>
              <a:rPr lang="zh-CN" altLang="en-US" sz="2100" dirty="0"/>
              <a:t>的根本原因是什么？</a:t>
            </a:r>
            <a:endParaRPr lang="en-US" altLang="zh-CN" sz="2100" dirty="0"/>
          </a:p>
          <a:p>
            <a:endParaRPr lang="en-US" altLang="zh-CN" sz="2100" dirty="0"/>
          </a:p>
          <a:p>
            <a:r>
              <a:rPr lang="zh-CN" altLang="en-US" sz="2100" dirty="0"/>
              <a:t>工人阶级和资产阶级的力量对比</a:t>
            </a:r>
            <a:endParaRPr lang="en-US" altLang="zh-CN" sz="2100" dirty="0"/>
          </a:p>
          <a:p>
            <a:endParaRPr lang="en-US" altLang="zh-CN" sz="2100" dirty="0"/>
          </a:p>
          <a:p>
            <a:r>
              <a:rPr lang="en-US" altLang="zh-CN" sz="2100" dirty="0"/>
              <a:t>《</a:t>
            </a:r>
            <a:r>
              <a:rPr lang="zh-CN" altLang="en-US" sz="2100" dirty="0"/>
              <a:t>资本论</a:t>
            </a:r>
            <a:r>
              <a:rPr lang="en-US" altLang="zh-CN" sz="2100" dirty="0"/>
              <a:t>》</a:t>
            </a:r>
            <a:r>
              <a:rPr lang="zh-CN" altLang="en-US" sz="2100" dirty="0"/>
              <a:t>第一卷第八章：</a:t>
            </a:r>
            <a:endParaRPr lang="en-US" altLang="zh-CN" sz="2100" dirty="0"/>
          </a:p>
          <a:p>
            <a:r>
              <a:rPr lang="zh-CN" altLang="en-US" sz="2100" dirty="0"/>
              <a:t>于是这里出现了二律背反，权利同权利相对抗，而这两种权利都同样是商品交换规律所承认的。在平等的权利之间，力量就起决定作用。所以，在资本主义生产的历史上，工作日的正常化过程表现为规定工作日界限的斗争，这是全体资本家即资本家阶级和全体工人即工人阶级之间的斗争。</a:t>
            </a:r>
            <a:endParaRPr lang="en-US" altLang="zh-CN" sz="2100" dirty="0"/>
          </a:p>
          <a:p>
            <a:endParaRPr lang="en-US" altLang="zh-CN" sz="2100" dirty="0"/>
          </a:p>
          <a:p>
            <a:r>
              <a:rPr lang="en-US" altLang="zh-CN" sz="2100" dirty="0">
                <a:solidFill>
                  <a:srgbClr val="7030A0"/>
                </a:solidFill>
              </a:rPr>
              <a:t>※</a:t>
            </a:r>
            <a:r>
              <a:rPr lang="zh-CN" altLang="en-US" sz="2100" dirty="0"/>
              <a:t>婆罗门左派（西方的教育知识精英阶层，中国互联网舆论称之为“白左”）的出现：传统的阶级阵营的划分发生了深刻的变化</a:t>
            </a:r>
            <a:endParaRPr lang="en-US" altLang="zh-CN" sz="2100" dirty="0"/>
          </a:p>
        </p:txBody>
      </p:sp>
      <p:pic>
        <p:nvPicPr>
          <p:cNvPr id="7" name="图片 6"/>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195338" y="816203"/>
            <a:ext cx="5715000" cy="4429125"/>
          </a:xfrm>
          <a:prstGeom prst="rect">
            <a:avLst/>
          </a:prstGeom>
        </p:spPr>
      </p:pic>
      <p:sp>
        <p:nvSpPr>
          <p:cNvPr id="8" name="文本框 7"/>
          <p:cNvSpPr txBox="1"/>
          <p:nvPr/>
        </p:nvSpPr>
        <p:spPr>
          <a:xfrm>
            <a:off x="6569476" y="5292118"/>
            <a:ext cx="5253756" cy="1477328"/>
          </a:xfrm>
          <a:prstGeom prst="rect">
            <a:avLst/>
          </a:prstGeom>
          <a:noFill/>
        </p:spPr>
        <p:txBody>
          <a:bodyPr wrap="square" rtlCol="0">
            <a:spAutoFit/>
          </a:bodyPr>
          <a:lstStyle/>
          <a:p>
            <a:r>
              <a:rPr lang="zh-CN" altLang="en-US" dirty="0"/>
              <a:t>收入分配的大象曲线：全球收入最高端的</a:t>
            </a:r>
            <a:r>
              <a:rPr lang="en-US" altLang="zh-CN" dirty="0"/>
              <a:t>1%</a:t>
            </a:r>
            <a:r>
              <a:rPr lang="zh-CN" altLang="en-US" dirty="0"/>
              <a:t>的人群的收入增长高于全球收入下端</a:t>
            </a:r>
            <a:r>
              <a:rPr lang="en-US" altLang="zh-CN" dirty="0"/>
              <a:t>50%</a:t>
            </a:r>
            <a:r>
              <a:rPr lang="zh-CN" altLang="en-US" dirty="0"/>
              <a:t>的人群的收入增长。</a:t>
            </a:r>
            <a:endParaRPr lang="en-US" altLang="zh-CN" dirty="0"/>
          </a:p>
          <a:p>
            <a:endParaRPr lang="en-US" altLang="zh-CN" dirty="0"/>
          </a:p>
          <a:p>
            <a:r>
              <a:rPr lang="zh-CN" altLang="en-US" dirty="0"/>
              <a:t>财产分配更加不公平，甚至不存在大象曲线</a:t>
            </a:r>
          </a:p>
        </p:txBody>
      </p:sp>
    </p:spTree>
    <p:extLst>
      <p:ext uri="{BB962C8B-B14F-4D97-AF65-F5344CB8AC3E}">
        <p14:creationId xmlns:p14="http://schemas.microsoft.com/office/powerpoint/2010/main" val="2858466681"/>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952E7725-3096-4969-8619-BFD45072AD94}"/>
              </a:ext>
            </a:extLst>
          </p:cNvPr>
          <p:cNvSpPr txBox="1"/>
          <p:nvPr/>
        </p:nvSpPr>
        <p:spPr>
          <a:xfrm>
            <a:off x="534497" y="304741"/>
            <a:ext cx="3778885" cy="400110"/>
          </a:xfrm>
          <a:prstGeom prst="rect">
            <a:avLst/>
          </a:prstGeom>
          <a:solidFill>
            <a:srgbClr val="7F2C8B"/>
          </a:solidFill>
        </p:spPr>
        <p:txBody>
          <a:bodyPr wrap="square" rtlCol="0">
            <a:spAutoFit/>
          </a:bodyPr>
          <a:lstStyle/>
          <a:p>
            <a:pPr lvl="0" defTabSz="914377">
              <a:defRPr/>
            </a:pPr>
            <a:r>
              <a:rPr lang="zh-CN" altLang="en-US" sz="2000" dirty="0">
                <a:solidFill>
                  <a:schemeClr val="bg1"/>
                </a:solidFill>
                <a:latin typeface="微软雅黑 Light" panose="020B0502040204020203" pitchFamily="34" charset="-122"/>
                <a:ea typeface="微软雅黑 Light" panose="020B0502040204020203" pitchFamily="34" charset="-122"/>
              </a:rPr>
              <a:t>从根本上解决问题：所有制问题</a:t>
            </a:r>
          </a:p>
        </p:txBody>
      </p:sp>
      <p:grpSp>
        <p:nvGrpSpPr>
          <p:cNvPr id="22" name="组合 21">
            <a:extLst>
              <a:ext uri="{FF2B5EF4-FFF2-40B4-BE49-F238E27FC236}">
                <a16:creationId xmlns:a16="http://schemas.microsoft.com/office/drawing/2014/main" id="{DFC37A35-D357-4CEE-9C28-5EABD3D35C6B}"/>
              </a:ext>
            </a:extLst>
          </p:cNvPr>
          <p:cNvGrpSpPr/>
          <p:nvPr/>
        </p:nvGrpSpPr>
        <p:grpSpPr>
          <a:xfrm>
            <a:off x="10735556" y="314266"/>
            <a:ext cx="1180589" cy="400111"/>
            <a:chOff x="624303" y="901700"/>
            <a:chExt cx="10005598" cy="3390977"/>
          </a:xfrm>
          <a:solidFill>
            <a:srgbClr val="7F2C8B"/>
          </a:solidFill>
        </p:grpSpPr>
        <p:sp>
          <p:nvSpPr>
            <p:cNvPr id="23" name="Freeform 5">
              <a:extLst>
                <a:ext uri="{FF2B5EF4-FFF2-40B4-BE49-F238E27FC236}">
                  <a16:creationId xmlns:a16="http://schemas.microsoft.com/office/drawing/2014/main" id="{0ACD2635-3EA4-461E-AE91-2E7358FA9FA0}"/>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4" name="Freeform 6">
              <a:extLst>
                <a:ext uri="{FF2B5EF4-FFF2-40B4-BE49-F238E27FC236}">
                  <a16:creationId xmlns:a16="http://schemas.microsoft.com/office/drawing/2014/main" id="{70354051-F1E2-4393-ABA2-AEB53FF0D08B}"/>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5" name="Freeform 7">
              <a:extLst>
                <a:ext uri="{FF2B5EF4-FFF2-40B4-BE49-F238E27FC236}">
                  <a16:creationId xmlns:a16="http://schemas.microsoft.com/office/drawing/2014/main" id="{5FFB1BFD-2D76-4EE4-9741-31F528BE757A}"/>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6" name="Freeform 8">
              <a:extLst>
                <a:ext uri="{FF2B5EF4-FFF2-40B4-BE49-F238E27FC236}">
                  <a16:creationId xmlns:a16="http://schemas.microsoft.com/office/drawing/2014/main" id="{1EFFAA81-03B5-4C66-939C-6BBDC7932C18}"/>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7" name="Freeform 9">
              <a:extLst>
                <a:ext uri="{FF2B5EF4-FFF2-40B4-BE49-F238E27FC236}">
                  <a16:creationId xmlns:a16="http://schemas.microsoft.com/office/drawing/2014/main" id="{35B0FA74-D77A-4B32-A41D-5E20B596D219}"/>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8" name="Freeform 10">
              <a:extLst>
                <a:ext uri="{FF2B5EF4-FFF2-40B4-BE49-F238E27FC236}">
                  <a16:creationId xmlns:a16="http://schemas.microsoft.com/office/drawing/2014/main" id="{F5FC7059-5FB3-4ADB-BA26-84EF705B3174}"/>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9" name="Freeform 11">
              <a:extLst>
                <a:ext uri="{FF2B5EF4-FFF2-40B4-BE49-F238E27FC236}">
                  <a16:creationId xmlns:a16="http://schemas.microsoft.com/office/drawing/2014/main" id="{937241A3-85EE-47AC-8B4A-B01E8B1B0812}"/>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0" name="Freeform 12">
              <a:extLst>
                <a:ext uri="{FF2B5EF4-FFF2-40B4-BE49-F238E27FC236}">
                  <a16:creationId xmlns:a16="http://schemas.microsoft.com/office/drawing/2014/main" id="{99EA3DC5-4FB4-48DC-9AA6-2E2F76C34725}"/>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1" name="Freeform 13">
              <a:extLst>
                <a:ext uri="{FF2B5EF4-FFF2-40B4-BE49-F238E27FC236}">
                  <a16:creationId xmlns:a16="http://schemas.microsoft.com/office/drawing/2014/main" id="{F7187B32-A15A-480D-849D-33EF28B75687}"/>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2" name="Freeform 14">
              <a:extLst>
                <a:ext uri="{FF2B5EF4-FFF2-40B4-BE49-F238E27FC236}">
                  <a16:creationId xmlns:a16="http://schemas.microsoft.com/office/drawing/2014/main" id="{AA5721AD-3E61-4D99-A2D8-A261E897EBAC}"/>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3" name="Freeform 15">
              <a:extLst>
                <a:ext uri="{FF2B5EF4-FFF2-40B4-BE49-F238E27FC236}">
                  <a16:creationId xmlns:a16="http://schemas.microsoft.com/office/drawing/2014/main" id="{EF703E7A-053E-4111-945E-2E43B9CC9ECE}"/>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4" name="Freeform 16">
              <a:extLst>
                <a:ext uri="{FF2B5EF4-FFF2-40B4-BE49-F238E27FC236}">
                  <a16:creationId xmlns:a16="http://schemas.microsoft.com/office/drawing/2014/main" id="{01BF6BE1-5CCD-4A5F-8AFA-EF1359F1D3F2}"/>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5" name="Freeform 17">
              <a:extLst>
                <a:ext uri="{FF2B5EF4-FFF2-40B4-BE49-F238E27FC236}">
                  <a16:creationId xmlns:a16="http://schemas.microsoft.com/office/drawing/2014/main" id="{295417E9-A0A1-4465-9436-76253B18BAD3}"/>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18">
              <a:extLst>
                <a:ext uri="{FF2B5EF4-FFF2-40B4-BE49-F238E27FC236}">
                  <a16:creationId xmlns:a16="http://schemas.microsoft.com/office/drawing/2014/main" id="{009C6FB2-A1BB-4F44-87AF-D874D67D737B}"/>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19">
              <a:extLst>
                <a:ext uri="{FF2B5EF4-FFF2-40B4-BE49-F238E27FC236}">
                  <a16:creationId xmlns:a16="http://schemas.microsoft.com/office/drawing/2014/main" id="{65203D5E-987A-4E4E-B0C9-FAC54EDFF054}"/>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20">
              <a:extLst>
                <a:ext uri="{FF2B5EF4-FFF2-40B4-BE49-F238E27FC236}">
                  <a16:creationId xmlns:a16="http://schemas.microsoft.com/office/drawing/2014/main" id="{F0367FE4-2904-433D-8E0F-42933CAA638D}"/>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21">
              <a:extLst>
                <a:ext uri="{FF2B5EF4-FFF2-40B4-BE49-F238E27FC236}">
                  <a16:creationId xmlns:a16="http://schemas.microsoft.com/office/drawing/2014/main" id="{7A0A948A-A7D6-4278-97BF-F101BFD0B366}"/>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22">
              <a:extLst>
                <a:ext uri="{FF2B5EF4-FFF2-40B4-BE49-F238E27FC236}">
                  <a16:creationId xmlns:a16="http://schemas.microsoft.com/office/drawing/2014/main" id="{DC614584-067F-48D2-931A-6CE53105F005}"/>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23">
              <a:extLst>
                <a:ext uri="{FF2B5EF4-FFF2-40B4-BE49-F238E27FC236}">
                  <a16:creationId xmlns:a16="http://schemas.microsoft.com/office/drawing/2014/main" id="{244320B8-5691-4A92-B2D2-5BCE1D98EA00}"/>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24">
              <a:extLst>
                <a:ext uri="{FF2B5EF4-FFF2-40B4-BE49-F238E27FC236}">
                  <a16:creationId xmlns:a16="http://schemas.microsoft.com/office/drawing/2014/main" id="{EF78F9E3-1F79-4E42-AAC8-E4DB818FEE8B}"/>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p:sp>
        <p:nvSpPr>
          <p:cNvPr id="2" name="文本框 1"/>
          <p:cNvSpPr txBox="1"/>
          <p:nvPr/>
        </p:nvSpPr>
        <p:spPr>
          <a:xfrm>
            <a:off x="534498" y="923636"/>
            <a:ext cx="5820120" cy="5624946"/>
          </a:xfrm>
          <a:prstGeom prst="rect">
            <a:avLst/>
          </a:prstGeom>
          <a:noFill/>
        </p:spPr>
        <p:txBody>
          <a:bodyPr wrap="square" rtlCol="0">
            <a:spAutoFit/>
          </a:bodyPr>
          <a:lstStyle/>
          <a:p>
            <a:endParaRPr lang="zh-CN" altLang="en-US" dirty="0"/>
          </a:p>
        </p:txBody>
      </p:sp>
      <p:sp>
        <p:nvSpPr>
          <p:cNvPr id="3" name="文本框 2"/>
          <p:cNvSpPr txBox="1"/>
          <p:nvPr/>
        </p:nvSpPr>
        <p:spPr>
          <a:xfrm>
            <a:off x="502188" y="852556"/>
            <a:ext cx="11265004" cy="6186309"/>
          </a:xfrm>
          <a:prstGeom prst="rect">
            <a:avLst/>
          </a:prstGeom>
          <a:noFill/>
        </p:spPr>
        <p:txBody>
          <a:bodyPr wrap="square" rtlCol="0">
            <a:spAutoFit/>
          </a:bodyPr>
          <a:lstStyle/>
          <a:p>
            <a:r>
              <a:rPr lang="en-US" altLang="zh-CN" dirty="0">
                <a:solidFill>
                  <a:srgbClr val="7030A0"/>
                </a:solidFill>
              </a:rPr>
              <a:t>※</a:t>
            </a:r>
            <a:r>
              <a:rPr lang="zh-CN" altLang="en-US" dirty="0"/>
              <a:t>马克思的公有制是要剥夺一切私人财产吗？</a:t>
            </a:r>
            <a:endParaRPr lang="en-US" altLang="zh-CN" dirty="0"/>
          </a:p>
          <a:p>
            <a:endParaRPr lang="en-US" altLang="zh-CN" dirty="0"/>
          </a:p>
          <a:p>
            <a:r>
              <a:rPr lang="zh-CN" altLang="en-US" dirty="0"/>
              <a:t>“有人责备我们共产党人，说我们要消灭个人挣得的、自己劳动得来的财产，要消灭构成个人的一切自由、活动和独立的基础的财产”</a:t>
            </a:r>
            <a:r>
              <a:rPr lang="en-US" altLang="zh-CN" dirty="0"/>
              <a:t>《</a:t>
            </a:r>
            <a:r>
              <a:rPr lang="zh-CN" altLang="en-US" dirty="0"/>
              <a:t>共产党宣言</a:t>
            </a:r>
            <a:r>
              <a:rPr lang="en-US" altLang="zh-CN" dirty="0"/>
              <a:t>》</a:t>
            </a:r>
            <a:r>
              <a:rPr lang="zh-CN" altLang="en-US" dirty="0"/>
              <a:t>。 “共产主义并不剥夺任何人占有社会产品的权利，它只剥夺利用这种占有去奴役他人劳动的权利。”</a:t>
            </a:r>
            <a:r>
              <a:rPr lang="en-US" altLang="zh-CN" dirty="0"/>
              <a:t>(《</a:t>
            </a:r>
            <a:r>
              <a:rPr lang="zh-CN" altLang="en-US" dirty="0"/>
              <a:t>马恩选集</a:t>
            </a:r>
            <a:r>
              <a:rPr lang="en-US" altLang="zh-CN" dirty="0"/>
              <a:t>》</a:t>
            </a:r>
            <a:r>
              <a:rPr lang="zh-CN" altLang="en-US" dirty="0"/>
              <a:t>第一卷第</a:t>
            </a:r>
            <a:r>
              <a:rPr lang="en-US" altLang="zh-CN" dirty="0"/>
              <a:t>288</a:t>
            </a:r>
            <a:r>
              <a:rPr lang="zh-CN" altLang="en-US" dirty="0"/>
              <a:t>页</a:t>
            </a:r>
            <a:r>
              <a:rPr lang="en-US" altLang="zh-CN" dirty="0"/>
              <a:t>) </a:t>
            </a:r>
            <a:r>
              <a:rPr lang="zh-CN" altLang="en-US" dirty="0"/>
              <a:t>正是“从这个意义上说，共产党人可以把自已的理论概括为一句话：消灭私有制。”</a:t>
            </a:r>
          </a:p>
          <a:p>
            <a:endParaRPr lang="en-US" altLang="zh-CN" dirty="0"/>
          </a:p>
          <a:p>
            <a:r>
              <a:rPr lang="en-US" altLang="zh-CN" dirty="0">
                <a:solidFill>
                  <a:srgbClr val="7030A0"/>
                </a:solidFill>
              </a:rPr>
              <a:t>※</a:t>
            </a:r>
            <a:r>
              <a:rPr lang="zh-CN" altLang="en-US" dirty="0"/>
              <a:t>马克思要建立什么样的公有制？</a:t>
            </a:r>
            <a:endParaRPr lang="en-US" altLang="zh-CN" dirty="0"/>
          </a:p>
          <a:p>
            <a:endParaRPr lang="en-US" altLang="zh-CN" dirty="0"/>
          </a:p>
          <a:p>
            <a:r>
              <a:rPr lang="zh-CN" altLang="en-US" dirty="0"/>
              <a:t>“从资本主义生产方式产生的资本主义占有方式，从而资本主义的私有制，是对个人的、以自己劳动为基础的私有制的第一个否定。但资本主义生产由于自然过程的必然性，造成了对自身的否定。这是否定的否定。这种否定不是重新建立私有制，而是在资本主义时代的成就的基础上，也就是说，在协作和对土地及靠劳动本身生产的生产资料的共同占有的基础上，重新建立个人所有制。”（</a:t>
            </a:r>
            <a:r>
              <a:rPr lang="en-US" altLang="zh-CN" dirty="0"/>
              <a:t>《</a:t>
            </a:r>
            <a:r>
              <a:rPr lang="zh-CN" altLang="en-US" dirty="0"/>
              <a:t>资本论</a:t>
            </a:r>
            <a:r>
              <a:rPr lang="en-US" altLang="zh-CN" dirty="0"/>
              <a:t>》</a:t>
            </a:r>
            <a:r>
              <a:rPr lang="zh-CN" altLang="en-US" dirty="0"/>
              <a:t>第一卷第</a:t>
            </a:r>
            <a:r>
              <a:rPr lang="en-US" altLang="zh-CN" dirty="0"/>
              <a:t>24</a:t>
            </a:r>
            <a:r>
              <a:rPr lang="zh-CN" altLang="en-US" dirty="0"/>
              <a:t>章 “资本主义积累的历史趋势” ）</a:t>
            </a:r>
            <a:endParaRPr lang="en-US" altLang="zh-CN" dirty="0"/>
          </a:p>
          <a:p>
            <a:endParaRPr lang="en-US" altLang="zh-CN" dirty="0"/>
          </a:p>
          <a:p>
            <a:r>
              <a:rPr lang="en-US" altLang="zh-CN" dirty="0">
                <a:solidFill>
                  <a:srgbClr val="7030A0"/>
                </a:solidFill>
              </a:rPr>
              <a:t>※</a:t>
            </a:r>
            <a:r>
              <a:rPr lang="zh-CN" altLang="en-US" dirty="0"/>
              <a:t>设想有一个自由人联合体，他们用公共的生产资料进行劳动，并且自觉地把他们许多个人劳动力当作一个社会劳动力来使用</a:t>
            </a:r>
            <a:r>
              <a:rPr lang="en-US" altLang="zh-CN" dirty="0"/>
              <a:t>……</a:t>
            </a:r>
            <a:r>
              <a:rPr lang="zh-CN" altLang="en-US" dirty="0"/>
              <a:t>这个联合体的总产品是社会的产品。这些产品的一部分重新用作生产资料。这一部分依旧是社会的。而另一部分则作为生活资料由联合体成员消费。。。。我们假定，每个生产者在生活资料中得到的份额是由他的劳动时间决定的。这样，劳动时间就会起双重作用。劳动时间的社会的有计划的分配，调节着各种劳动职能同各种需要的适当的比例。另一方面，劳动时间又是计量生产者个人在共同劳动中所占份额的尺度，因而也是计量生产者个人在共同产品的个人消费部分中所占份额的尺度。（</a:t>
            </a:r>
            <a:r>
              <a:rPr lang="en-US" altLang="zh-CN" dirty="0"/>
              <a:t>《</a:t>
            </a:r>
            <a:r>
              <a:rPr lang="zh-CN" altLang="en-US" dirty="0"/>
              <a:t>资本论</a:t>
            </a:r>
            <a:r>
              <a:rPr lang="en-US" altLang="zh-CN" dirty="0"/>
              <a:t>》</a:t>
            </a:r>
            <a:r>
              <a:rPr lang="zh-CN" altLang="en-US" dirty="0"/>
              <a:t>第一卷）</a:t>
            </a:r>
            <a:endParaRPr lang="en-US" altLang="zh-CN" dirty="0"/>
          </a:p>
          <a:p>
            <a:endParaRPr lang="en-US" altLang="zh-CN" dirty="0"/>
          </a:p>
        </p:txBody>
      </p:sp>
    </p:spTree>
    <p:extLst>
      <p:ext uri="{BB962C8B-B14F-4D97-AF65-F5344CB8AC3E}">
        <p14:creationId xmlns:p14="http://schemas.microsoft.com/office/powerpoint/2010/main" val="1366075537"/>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952E7725-3096-4969-8619-BFD45072AD94}"/>
              </a:ext>
            </a:extLst>
          </p:cNvPr>
          <p:cNvSpPr txBox="1"/>
          <p:nvPr/>
        </p:nvSpPr>
        <p:spPr>
          <a:xfrm>
            <a:off x="534497" y="304741"/>
            <a:ext cx="3336167" cy="400110"/>
          </a:xfrm>
          <a:prstGeom prst="rect">
            <a:avLst/>
          </a:prstGeom>
          <a:solidFill>
            <a:srgbClr val="7F2C8B"/>
          </a:solidFill>
        </p:spPr>
        <p:txBody>
          <a:bodyPr wrap="square" rtlCol="0">
            <a:spAutoFit/>
          </a:bodyPr>
          <a:lstStyle/>
          <a:p>
            <a:pPr lvl="0" defTabSz="914377">
              <a:defRPr/>
            </a:pPr>
            <a:r>
              <a:rPr lang="zh-CN" altLang="en-US" sz="2000" dirty="0">
                <a:solidFill>
                  <a:schemeClr val="bg1"/>
                </a:solidFill>
                <a:latin typeface="微软雅黑 Light" panose="020B0502040204020203" pitchFamily="34" charset="-122"/>
                <a:ea typeface="微软雅黑 Light" panose="020B0502040204020203" pitchFamily="34" charset="-122"/>
              </a:rPr>
              <a:t>中国对收入分配问题的认识</a:t>
            </a:r>
          </a:p>
        </p:txBody>
      </p:sp>
      <p:grpSp>
        <p:nvGrpSpPr>
          <p:cNvPr id="22" name="组合 21">
            <a:extLst>
              <a:ext uri="{FF2B5EF4-FFF2-40B4-BE49-F238E27FC236}">
                <a16:creationId xmlns:a16="http://schemas.microsoft.com/office/drawing/2014/main" id="{DFC37A35-D357-4CEE-9C28-5EABD3D35C6B}"/>
              </a:ext>
            </a:extLst>
          </p:cNvPr>
          <p:cNvGrpSpPr/>
          <p:nvPr/>
        </p:nvGrpSpPr>
        <p:grpSpPr>
          <a:xfrm>
            <a:off x="10735556" y="314266"/>
            <a:ext cx="1180589" cy="400111"/>
            <a:chOff x="624303" y="901700"/>
            <a:chExt cx="10005598" cy="3390977"/>
          </a:xfrm>
          <a:solidFill>
            <a:srgbClr val="7F2C8B"/>
          </a:solidFill>
        </p:grpSpPr>
        <p:sp>
          <p:nvSpPr>
            <p:cNvPr id="23" name="Freeform 5">
              <a:extLst>
                <a:ext uri="{FF2B5EF4-FFF2-40B4-BE49-F238E27FC236}">
                  <a16:creationId xmlns:a16="http://schemas.microsoft.com/office/drawing/2014/main" id="{0ACD2635-3EA4-461E-AE91-2E7358FA9FA0}"/>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4" name="Freeform 6">
              <a:extLst>
                <a:ext uri="{FF2B5EF4-FFF2-40B4-BE49-F238E27FC236}">
                  <a16:creationId xmlns:a16="http://schemas.microsoft.com/office/drawing/2014/main" id="{70354051-F1E2-4393-ABA2-AEB53FF0D08B}"/>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5" name="Freeform 7">
              <a:extLst>
                <a:ext uri="{FF2B5EF4-FFF2-40B4-BE49-F238E27FC236}">
                  <a16:creationId xmlns:a16="http://schemas.microsoft.com/office/drawing/2014/main" id="{5FFB1BFD-2D76-4EE4-9741-31F528BE757A}"/>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6" name="Freeform 8">
              <a:extLst>
                <a:ext uri="{FF2B5EF4-FFF2-40B4-BE49-F238E27FC236}">
                  <a16:creationId xmlns:a16="http://schemas.microsoft.com/office/drawing/2014/main" id="{1EFFAA81-03B5-4C66-939C-6BBDC7932C18}"/>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7" name="Freeform 9">
              <a:extLst>
                <a:ext uri="{FF2B5EF4-FFF2-40B4-BE49-F238E27FC236}">
                  <a16:creationId xmlns:a16="http://schemas.microsoft.com/office/drawing/2014/main" id="{35B0FA74-D77A-4B32-A41D-5E20B596D219}"/>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8" name="Freeform 10">
              <a:extLst>
                <a:ext uri="{FF2B5EF4-FFF2-40B4-BE49-F238E27FC236}">
                  <a16:creationId xmlns:a16="http://schemas.microsoft.com/office/drawing/2014/main" id="{F5FC7059-5FB3-4ADB-BA26-84EF705B3174}"/>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9" name="Freeform 11">
              <a:extLst>
                <a:ext uri="{FF2B5EF4-FFF2-40B4-BE49-F238E27FC236}">
                  <a16:creationId xmlns:a16="http://schemas.microsoft.com/office/drawing/2014/main" id="{937241A3-85EE-47AC-8B4A-B01E8B1B0812}"/>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0" name="Freeform 12">
              <a:extLst>
                <a:ext uri="{FF2B5EF4-FFF2-40B4-BE49-F238E27FC236}">
                  <a16:creationId xmlns:a16="http://schemas.microsoft.com/office/drawing/2014/main" id="{99EA3DC5-4FB4-48DC-9AA6-2E2F76C34725}"/>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1" name="Freeform 13">
              <a:extLst>
                <a:ext uri="{FF2B5EF4-FFF2-40B4-BE49-F238E27FC236}">
                  <a16:creationId xmlns:a16="http://schemas.microsoft.com/office/drawing/2014/main" id="{F7187B32-A15A-480D-849D-33EF28B75687}"/>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2" name="Freeform 14">
              <a:extLst>
                <a:ext uri="{FF2B5EF4-FFF2-40B4-BE49-F238E27FC236}">
                  <a16:creationId xmlns:a16="http://schemas.microsoft.com/office/drawing/2014/main" id="{AA5721AD-3E61-4D99-A2D8-A261E897EBAC}"/>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3" name="Freeform 15">
              <a:extLst>
                <a:ext uri="{FF2B5EF4-FFF2-40B4-BE49-F238E27FC236}">
                  <a16:creationId xmlns:a16="http://schemas.microsoft.com/office/drawing/2014/main" id="{EF703E7A-053E-4111-945E-2E43B9CC9ECE}"/>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4" name="Freeform 16">
              <a:extLst>
                <a:ext uri="{FF2B5EF4-FFF2-40B4-BE49-F238E27FC236}">
                  <a16:creationId xmlns:a16="http://schemas.microsoft.com/office/drawing/2014/main" id="{01BF6BE1-5CCD-4A5F-8AFA-EF1359F1D3F2}"/>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5" name="Freeform 17">
              <a:extLst>
                <a:ext uri="{FF2B5EF4-FFF2-40B4-BE49-F238E27FC236}">
                  <a16:creationId xmlns:a16="http://schemas.microsoft.com/office/drawing/2014/main" id="{295417E9-A0A1-4465-9436-76253B18BAD3}"/>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18">
              <a:extLst>
                <a:ext uri="{FF2B5EF4-FFF2-40B4-BE49-F238E27FC236}">
                  <a16:creationId xmlns:a16="http://schemas.microsoft.com/office/drawing/2014/main" id="{009C6FB2-A1BB-4F44-87AF-D874D67D737B}"/>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19">
              <a:extLst>
                <a:ext uri="{FF2B5EF4-FFF2-40B4-BE49-F238E27FC236}">
                  <a16:creationId xmlns:a16="http://schemas.microsoft.com/office/drawing/2014/main" id="{65203D5E-987A-4E4E-B0C9-FAC54EDFF054}"/>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20">
              <a:extLst>
                <a:ext uri="{FF2B5EF4-FFF2-40B4-BE49-F238E27FC236}">
                  <a16:creationId xmlns:a16="http://schemas.microsoft.com/office/drawing/2014/main" id="{F0367FE4-2904-433D-8E0F-42933CAA638D}"/>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21">
              <a:extLst>
                <a:ext uri="{FF2B5EF4-FFF2-40B4-BE49-F238E27FC236}">
                  <a16:creationId xmlns:a16="http://schemas.microsoft.com/office/drawing/2014/main" id="{7A0A948A-A7D6-4278-97BF-F101BFD0B366}"/>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22">
              <a:extLst>
                <a:ext uri="{FF2B5EF4-FFF2-40B4-BE49-F238E27FC236}">
                  <a16:creationId xmlns:a16="http://schemas.microsoft.com/office/drawing/2014/main" id="{DC614584-067F-48D2-931A-6CE53105F005}"/>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23">
              <a:extLst>
                <a:ext uri="{FF2B5EF4-FFF2-40B4-BE49-F238E27FC236}">
                  <a16:creationId xmlns:a16="http://schemas.microsoft.com/office/drawing/2014/main" id="{244320B8-5691-4A92-B2D2-5BCE1D98EA00}"/>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24">
              <a:extLst>
                <a:ext uri="{FF2B5EF4-FFF2-40B4-BE49-F238E27FC236}">
                  <a16:creationId xmlns:a16="http://schemas.microsoft.com/office/drawing/2014/main" id="{EF78F9E3-1F79-4E42-AAC8-E4DB818FEE8B}"/>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p:sp>
        <p:nvSpPr>
          <p:cNvPr id="2" name="文本框 1"/>
          <p:cNvSpPr txBox="1"/>
          <p:nvPr/>
        </p:nvSpPr>
        <p:spPr>
          <a:xfrm>
            <a:off x="534498" y="923636"/>
            <a:ext cx="5820120" cy="5624946"/>
          </a:xfrm>
          <a:prstGeom prst="rect">
            <a:avLst/>
          </a:prstGeom>
          <a:noFill/>
        </p:spPr>
        <p:txBody>
          <a:bodyPr wrap="square" rtlCol="0">
            <a:spAutoFit/>
          </a:bodyPr>
          <a:lstStyle/>
          <a:p>
            <a:endParaRPr lang="zh-CN" altLang="en-US" dirty="0"/>
          </a:p>
        </p:txBody>
      </p:sp>
      <p:sp>
        <p:nvSpPr>
          <p:cNvPr id="3" name="文本框 2"/>
          <p:cNvSpPr txBox="1"/>
          <p:nvPr/>
        </p:nvSpPr>
        <p:spPr>
          <a:xfrm>
            <a:off x="473733" y="727153"/>
            <a:ext cx="11265004" cy="6186309"/>
          </a:xfrm>
          <a:prstGeom prst="rect">
            <a:avLst/>
          </a:prstGeom>
          <a:noFill/>
        </p:spPr>
        <p:txBody>
          <a:bodyPr wrap="square" rtlCol="0">
            <a:spAutoFit/>
          </a:bodyPr>
          <a:lstStyle/>
          <a:p>
            <a:r>
              <a:rPr lang="en-US" altLang="zh-CN" dirty="0">
                <a:solidFill>
                  <a:srgbClr val="7030A0"/>
                </a:solidFill>
              </a:rPr>
              <a:t>※</a:t>
            </a:r>
            <a:r>
              <a:rPr lang="zh-CN" altLang="en-US" dirty="0"/>
              <a:t>仅仅满足于再分配的正义是极为有限的，应当进一步从源头考虑问题</a:t>
            </a:r>
            <a:endParaRPr lang="en-US" altLang="zh-CN" dirty="0"/>
          </a:p>
          <a:p>
            <a:endParaRPr lang="en-US" altLang="zh-CN" dirty="0"/>
          </a:p>
          <a:p>
            <a:r>
              <a:rPr lang="en-US" altLang="zh-CN" dirty="0">
                <a:solidFill>
                  <a:srgbClr val="7030A0"/>
                </a:solidFill>
              </a:rPr>
              <a:t>※</a:t>
            </a:r>
            <a:r>
              <a:rPr lang="zh-CN" altLang="en-US" dirty="0"/>
              <a:t>十四届三中全会中：“效率优先</a:t>
            </a:r>
            <a:r>
              <a:rPr lang="en-US" altLang="zh-CN" dirty="0"/>
              <a:t>,</a:t>
            </a:r>
            <a:r>
              <a:rPr lang="zh-CN" altLang="en-US" dirty="0"/>
              <a:t>兼顾</a:t>
            </a:r>
            <a:r>
              <a:rPr lang="zh-CN" altLang="en-US" b="1" u="sng" dirty="0"/>
              <a:t>公平</a:t>
            </a:r>
            <a:r>
              <a:rPr lang="zh-CN" altLang="en-US" dirty="0"/>
              <a:t>”</a:t>
            </a:r>
            <a:endParaRPr lang="en-US" altLang="zh-CN" dirty="0"/>
          </a:p>
          <a:p>
            <a:r>
              <a:rPr lang="en-US" altLang="zh-CN" dirty="0">
                <a:solidFill>
                  <a:srgbClr val="7030A0"/>
                </a:solidFill>
              </a:rPr>
              <a:t>※</a:t>
            </a:r>
            <a:r>
              <a:rPr lang="zh-CN" altLang="en-US" dirty="0"/>
              <a:t>十六大报告：“初次分配注重效率</a:t>
            </a:r>
            <a:r>
              <a:rPr lang="en-US" altLang="zh-CN" dirty="0"/>
              <a:t>,</a:t>
            </a:r>
            <a:r>
              <a:rPr lang="zh-CN" altLang="en-US" dirty="0"/>
              <a:t>再分配注重</a:t>
            </a:r>
            <a:r>
              <a:rPr lang="zh-CN" altLang="en-US" b="1" u="sng" dirty="0"/>
              <a:t>公平</a:t>
            </a:r>
            <a:r>
              <a:rPr lang="zh-CN" altLang="en-US" dirty="0"/>
              <a:t>”</a:t>
            </a:r>
            <a:endParaRPr lang="en-US" altLang="zh-CN" dirty="0"/>
          </a:p>
          <a:p>
            <a:r>
              <a:rPr lang="en-US" altLang="zh-CN" dirty="0">
                <a:solidFill>
                  <a:srgbClr val="7030A0"/>
                </a:solidFill>
              </a:rPr>
              <a:t>※</a:t>
            </a:r>
            <a:r>
              <a:rPr lang="zh-CN" altLang="en-US" dirty="0"/>
              <a:t>十七大报告：“更加注重社会</a:t>
            </a:r>
            <a:r>
              <a:rPr lang="zh-CN" altLang="en-US" b="1" u="sng" dirty="0"/>
              <a:t>公平</a:t>
            </a:r>
            <a:r>
              <a:rPr lang="zh-CN" altLang="en-US" dirty="0"/>
              <a:t>”</a:t>
            </a:r>
            <a:endParaRPr lang="en-US" altLang="zh-CN" dirty="0"/>
          </a:p>
          <a:p>
            <a:r>
              <a:rPr lang="en-US" altLang="zh-CN" dirty="0">
                <a:solidFill>
                  <a:srgbClr val="7030A0"/>
                </a:solidFill>
              </a:rPr>
              <a:t>※</a:t>
            </a:r>
            <a:r>
              <a:rPr lang="zh-CN" altLang="en-US" dirty="0"/>
              <a:t>十八大报告指出，“初次分配和再分配都要兼顾效率和</a:t>
            </a:r>
            <a:r>
              <a:rPr lang="zh-CN" altLang="en-US" b="1" u="sng" dirty="0"/>
              <a:t>公平</a:t>
            </a:r>
            <a:r>
              <a:rPr lang="zh-CN" altLang="en-US" dirty="0"/>
              <a:t>，再分配更加注重</a:t>
            </a:r>
            <a:r>
              <a:rPr lang="zh-CN" altLang="en-US" b="1" u="sng" dirty="0"/>
              <a:t>公平</a:t>
            </a:r>
            <a:r>
              <a:rPr lang="zh-CN" altLang="en-US" dirty="0"/>
              <a:t>。”</a:t>
            </a:r>
            <a:endParaRPr lang="en-US" altLang="zh-CN" dirty="0"/>
          </a:p>
          <a:p>
            <a:endParaRPr lang="en-US" altLang="zh-CN" dirty="0"/>
          </a:p>
          <a:p>
            <a:r>
              <a:rPr lang="en-US" altLang="zh-CN" dirty="0">
                <a:solidFill>
                  <a:srgbClr val="7030A0"/>
                </a:solidFill>
              </a:rPr>
              <a:t>※</a:t>
            </a:r>
            <a:r>
              <a:rPr lang="zh-CN" altLang="en-US" dirty="0"/>
              <a:t>十九大报告指出</a:t>
            </a:r>
            <a:endParaRPr lang="en-US" altLang="zh-CN" dirty="0"/>
          </a:p>
          <a:p>
            <a:r>
              <a:rPr lang="zh-CN" altLang="en-US" dirty="0"/>
              <a:t>“</a:t>
            </a:r>
            <a:r>
              <a:rPr lang="zh-CN" altLang="zh-CN" dirty="0"/>
              <a:t>坚持按劳分配原则，完善按要素分配的体制机制，促进收入分配更合理、更有序。鼓励勤劳守法致富，扩大中等收入群体，增加低收入者收入，调节过高收入，取缔非法收入。</a:t>
            </a:r>
            <a:r>
              <a:rPr lang="zh-CN" altLang="en-US" dirty="0"/>
              <a:t>坚持在经济增长的同时实现居民收入同步增长、在劳动生产率提高的同时实现劳动报酬同步提高。拓宽居民劳动收入和财产性收入渠道。履行好政府再分配调节职能，加快推进基本公共服务均等化，缩小收入分配差距。”</a:t>
            </a:r>
            <a:endParaRPr lang="en-US" altLang="zh-CN" dirty="0"/>
          </a:p>
          <a:p>
            <a:endParaRPr lang="en-US" altLang="zh-CN" dirty="0"/>
          </a:p>
          <a:p>
            <a:r>
              <a:rPr lang="en-US" altLang="zh-CN" dirty="0">
                <a:solidFill>
                  <a:srgbClr val="7030A0"/>
                </a:solidFill>
              </a:rPr>
              <a:t>※</a:t>
            </a:r>
            <a:r>
              <a:rPr lang="zh-CN" altLang="en-US" dirty="0"/>
              <a:t>十九届四中全会</a:t>
            </a:r>
            <a:r>
              <a:rPr lang="en-US" altLang="zh-CN" dirty="0"/>
              <a:t>《</a:t>
            </a:r>
            <a:r>
              <a:rPr lang="zh-CN" altLang="en-US" dirty="0"/>
              <a:t>决定</a:t>
            </a:r>
            <a:r>
              <a:rPr lang="en-US" altLang="zh-CN" dirty="0"/>
              <a:t>》</a:t>
            </a:r>
            <a:r>
              <a:rPr lang="zh-CN" altLang="en-US" dirty="0"/>
              <a:t>：</a:t>
            </a:r>
            <a:endParaRPr lang="en-US" altLang="zh-CN" dirty="0"/>
          </a:p>
          <a:p>
            <a:endParaRPr lang="en-US" altLang="zh-CN" dirty="0"/>
          </a:p>
          <a:p>
            <a:r>
              <a:rPr lang="en-US" altLang="zh-CN" dirty="0"/>
              <a:t>1</a:t>
            </a:r>
            <a:r>
              <a:rPr lang="zh-CN" altLang="en-US" dirty="0"/>
              <a:t>）坚持按劳分配为主体、多种分配方式并存。坚持多劳多得，着重保护劳动所得，增加劳动者特别是一线劳动者劳动报酬，提高劳动报酬在初次分配中的比重。</a:t>
            </a:r>
            <a:endParaRPr lang="en-US" altLang="zh-CN" dirty="0"/>
          </a:p>
          <a:p>
            <a:r>
              <a:rPr lang="en-US" altLang="zh-CN" dirty="0"/>
              <a:t>2</a:t>
            </a:r>
            <a:r>
              <a:rPr lang="zh-CN" altLang="en-US" dirty="0"/>
              <a:t>）健全劳动、资本、土地、知识、技术、管理、数据等生产要素由市场评价贡献、按贡献决定报酬的机制。健全以税收、社会保障、转移支付等为主要手段的再分配调节机制，强化税收调节，完善直接税制度并逐步提高其比重。完善相关制度和政策，合理调节城乡、区域、不同群体间分配关系。</a:t>
            </a:r>
            <a:endParaRPr lang="en-US" altLang="zh-CN" dirty="0"/>
          </a:p>
          <a:p>
            <a:r>
              <a:rPr lang="en-US" altLang="zh-CN" dirty="0"/>
              <a:t>3</a:t>
            </a:r>
            <a:r>
              <a:rPr lang="zh-CN" altLang="en-US" dirty="0"/>
              <a:t>）重视发挥第三次分配作用，发展慈善等社会公益事业。鼓励勤劳致富，保护合法收入，增加低收入者收入，扩大中等收入群体，调节过高收入，清理规范隐性收入，取缔非法收入。</a:t>
            </a:r>
            <a:endParaRPr lang="en-US" altLang="zh-CN" dirty="0"/>
          </a:p>
        </p:txBody>
      </p:sp>
      <p:pic>
        <p:nvPicPr>
          <p:cNvPr id="5" name="图片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003130" y="873783"/>
            <a:ext cx="2847975" cy="1609725"/>
          </a:xfrm>
          <a:prstGeom prst="rect">
            <a:avLst/>
          </a:prstGeom>
        </p:spPr>
      </p:pic>
    </p:spTree>
    <p:extLst>
      <p:ext uri="{BB962C8B-B14F-4D97-AF65-F5344CB8AC3E}">
        <p14:creationId xmlns:p14="http://schemas.microsoft.com/office/powerpoint/2010/main" val="1847112633"/>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bg>
      <p:bgPr>
        <a:solidFill>
          <a:srgbClr val="7F2C8B"/>
        </a:solidFill>
        <a:effectLst/>
      </p:bgPr>
    </p:bg>
    <p:spTree>
      <p:nvGrpSpPr>
        <p:cNvPr id="1" name=""/>
        <p:cNvGrpSpPr/>
        <p:nvPr/>
      </p:nvGrpSpPr>
      <p:grpSpPr>
        <a:xfrm>
          <a:off x="0" y="0"/>
          <a:ext cx="0" cy="0"/>
          <a:chOff x="0" y="0"/>
          <a:chExt cx="0" cy="0"/>
        </a:xfrm>
      </p:grpSpPr>
      <p:sp>
        <p:nvSpPr>
          <p:cNvPr id="35" name="Freeform 5">
            <a:extLst>
              <a:ext uri="{FF2B5EF4-FFF2-40B4-BE49-F238E27FC236}">
                <a16:creationId xmlns:a16="http://schemas.microsoft.com/office/drawing/2014/main" id="{CEC509F0-2091-44E3-8EC6-23BE32A153BC}"/>
              </a:ext>
            </a:extLst>
          </p:cNvPr>
          <p:cNvSpPr>
            <a:spLocks/>
          </p:cNvSpPr>
          <p:nvPr/>
        </p:nvSpPr>
        <p:spPr bwMode="auto">
          <a:xfrm rot="20305582">
            <a:off x="7413099" y="-1127481"/>
            <a:ext cx="7345429" cy="5201360"/>
          </a:xfrm>
          <a:custGeom>
            <a:avLst/>
            <a:gdLst>
              <a:gd name="T0" fmla="*/ 1505 w 1677"/>
              <a:gd name="T1" fmla="*/ 1142 h 1186"/>
              <a:gd name="T2" fmla="*/ 1306 w 1677"/>
              <a:gd name="T3" fmla="*/ 1127 h 1186"/>
              <a:gd name="T4" fmla="*/ 1085 w 1677"/>
              <a:gd name="T5" fmla="*/ 1086 h 1186"/>
              <a:gd name="T6" fmla="*/ 1024 w 1677"/>
              <a:gd name="T7" fmla="*/ 1083 h 1186"/>
              <a:gd name="T8" fmla="*/ 978 w 1677"/>
              <a:gd name="T9" fmla="*/ 1078 h 1186"/>
              <a:gd name="T10" fmla="*/ 1033 w 1677"/>
              <a:gd name="T11" fmla="*/ 1062 h 1186"/>
              <a:gd name="T12" fmla="*/ 1158 w 1677"/>
              <a:gd name="T13" fmla="*/ 1057 h 1186"/>
              <a:gd name="T14" fmla="*/ 1340 w 1677"/>
              <a:gd name="T15" fmla="*/ 1071 h 1186"/>
              <a:gd name="T16" fmla="*/ 1464 w 1677"/>
              <a:gd name="T17" fmla="*/ 1053 h 1186"/>
              <a:gd name="T18" fmla="*/ 1576 w 1677"/>
              <a:gd name="T19" fmla="*/ 0 h 1186"/>
              <a:gd name="T20" fmla="*/ 1480 w 1677"/>
              <a:gd name="T21" fmla="*/ 26 h 1186"/>
              <a:gd name="T22" fmla="*/ 1323 w 1677"/>
              <a:gd name="T23" fmla="*/ 48 h 1186"/>
              <a:gd name="T24" fmla="*/ 1164 w 1677"/>
              <a:gd name="T25" fmla="*/ 52 h 1186"/>
              <a:gd name="T26" fmla="*/ 1132 w 1677"/>
              <a:gd name="T27" fmla="*/ 52 h 1186"/>
              <a:gd name="T28" fmla="*/ 1307 w 1677"/>
              <a:gd name="T29" fmla="*/ 52 h 1186"/>
              <a:gd name="T30" fmla="*/ 1450 w 1677"/>
              <a:gd name="T31" fmla="*/ 36 h 1186"/>
              <a:gd name="T32" fmla="*/ 1570 w 1677"/>
              <a:gd name="T33" fmla="*/ 8 h 1186"/>
              <a:gd name="T34" fmla="*/ 1403 w 1677"/>
              <a:gd name="T35" fmla="*/ 1046 h 1186"/>
              <a:gd name="T36" fmla="*/ 1300 w 1677"/>
              <a:gd name="T37" fmla="*/ 1048 h 1186"/>
              <a:gd name="T38" fmla="*/ 1112 w 1677"/>
              <a:gd name="T39" fmla="*/ 1032 h 1186"/>
              <a:gd name="T40" fmla="*/ 1024 w 1677"/>
              <a:gd name="T41" fmla="*/ 1040 h 1186"/>
              <a:gd name="T42" fmla="*/ 925 w 1677"/>
              <a:gd name="T43" fmla="*/ 1072 h 1186"/>
              <a:gd name="T44" fmla="*/ 816 w 1677"/>
              <a:gd name="T45" fmla="*/ 1105 h 1186"/>
              <a:gd name="T46" fmla="*/ 661 w 1677"/>
              <a:gd name="T47" fmla="*/ 1042 h 1186"/>
              <a:gd name="T48" fmla="*/ 637 w 1677"/>
              <a:gd name="T49" fmla="*/ 1037 h 1186"/>
              <a:gd name="T50" fmla="*/ 493 w 1677"/>
              <a:gd name="T51" fmla="*/ 1036 h 1186"/>
              <a:gd name="T52" fmla="*/ 333 w 1677"/>
              <a:gd name="T53" fmla="*/ 1051 h 1186"/>
              <a:gd name="T54" fmla="*/ 195 w 1677"/>
              <a:gd name="T55" fmla="*/ 1029 h 1186"/>
              <a:gd name="T56" fmla="*/ 180 w 1677"/>
              <a:gd name="T57" fmla="*/ 27 h 1186"/>
              <a:gd name="T58" fmla="*/ 290 w 1677"/>
              <a:gd name="T59" fmla="*/ 45 h 1186"/>
              <a:gd name="T60" fmla="*/ 449 w 1677"/>
              <a:gd name="T61" fmla="*/ 54 h 1186"/>
              <a:gd name="T62" fmla="*/ 577 w 1677"/>
              <a:gd name="T63" fmla="*/ 50 h 1186"/>
              <a:gd name="T64" fmla="*/ 402 w 1677"/>
              <a:gd name="T65" fmla="*/ 51 h 1186"/>
              <a:gd name="T66" fmla="*/ 259 w 1677"/>
              <a:gd name="T67" fmla="*/ 37 h 1186"/>
              <a:gd name="T68" fmla="*/ 150 w 1677"/>
              <a:gd name="T69" fmla="*/ 15 h 1186"/>
              <a:gd name="T70" fmla="*/ 100 w 1677"/>
              <a:gd name="T71" fmla="*/ 1014 h 1186"/>
              <a:gd name="T72" fmla="*/ 283 w 1677"/>
              <a:gd name="T73" fmla="*/ 1067 h 1186"/>
              <a:gd name="T74" fmla="*/ 426 w 1677"/>
              <a:gd name="T75" fmla="*/ 1065 h 1186"/>
              <a:gd name="T76" fmla="*/ 611 w 1677"/>
              <a:gd name="T77" fmla="*/ 1057 h 1186"/>
              <a:gd name="T78" fmla="*/ 655 w 1677"/>
              <a:gd name="T79" fmla="*/ 1065 h 1186"/>
              <a:gd name="T80" fmla="*/ 680 w 1677"/>
              <a:gd name="T81" fmla="*/ 1084 h 1186"/>
              <a:gd name="T82" fmla="*/ 612 w 1677"/>
              <a:gd name="T83" fmla="*/ 1084 h 1186"/>
              <a:gd name="T84" fmla="*/ 495 w 1677"/>
              <a:gd name="T85" fmla="*/ 1103 h 1186"/>
              <a:gd name="T86" fmla="*/ 271 w 1677"/>
              <a:gd name="T87" fmla="*/ 1140 h 1186"/>
              <a:gd name="T88" fmla="*/ 36 w 1677"/>
              <a:gd name="T89" fmla="*/ 1127 h 1186"/>
              <a:gd name="T90" fmla="*/ 143 w 1677"/>
              <a:gd name="T91" fmla="*/ 1181 h 1186"/>
              <a:gd name="T92" fmla="*/ 326 w 1677"/>
              <a:gd name="T93" fmla="*/ 1181 h 1186"/>
              <a:gd name="T94" fmla="*/ 591 w 1677"/>
              <a:gd name="T95" fmla="*/ 1143 h 1186"/>
              <a:gd name="T96" fmla="*/ 628 w 1677"/>
              <a:gd name="T97" fmla="*/ 1141 h 1186"/>
              <a:gd name="T98" fmla="*/ 698 w 1677"/>
              <a:gd name="T99" fmla="*/ 1147 h 1186"/>
              <a:gd name="T100" fmla="*/ 803 w 1677"/>
              <a:gd name="T101" fmla="*/ 1185 h 1186"/>
              <a:gd name="T102" fmla="*/ 874 w 1677"/>
              <a:gd name="T103" fmla="*/ 1185 h 1186"/>
              <a:gd name="T104" fmla="*/ 979 w 1677"/>
              <a:gd name="T105" fmla="*/ 1147 h 1186"/>
              <a:gd name="T106" fmla="*/ 1049 w 1677"/>
              <a:gd name="T107" fmla="*/ 1141 h 1186"/>
              <a:gd name="T108" fmla="*/ 1080 w 1677"/>
              <a:gd name="T109" fmla="*/ 1142 h 1186"/>
              <a:gd name="T110" fmla="*/ 1299 w 1677"/>
              <a:gd name="T111" fmla="*/ 1176 h 1186"/>
              <a:gd name="T112" fmla="*/ 1508 w 1677"/>
              <a:gd name="T113" fmla="*/ 1183 h 1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77" h="1186">
                <a:moveTo>
                  <a:pt x="1676" y="1142"/>
                </a:moveTo>
                <a:cubicBezTo>
                  <a:pt x="1658" y="159"/>
                  <a:pt x="1658" y="159"/>
                  <a:pt x="1658" y="159"/>
                </a:cubicBezTo>
                <a:cubicBezTo>
                  <a:pt x="1641" y="1127"/>
                  <a:pt x="1641" y="1127"/>
                  <a:pt x="1641" y="1127"/>
                </a:cubicBezTo>
                <a:cubicBezTo>
                  <a:pt x="1605" y="1133"/>
                  <a:pt x="1605" y="1133"/>
                  <a:pt x="1605" y="1133"/>
                </a:cubicBezTo>
                <a:cubicBezTo>
                  <a:pt x="1589" y="1135"/>
                  <a:pt x="1572" y="1137"/>
                  <a:pt x="1555" y="1139"/>
                </a:cubicBezTo>
                <a:cubicBezTo>
                  <a:pt x="1530" y="1140"/>
                  <a:pt x="1530" y="1140"/>
                  <a:pt x="1530" y="1140"/>
                </a:cubicBezTo>
                <a:cubicBezTo>
                  <a:pt x="1522" y="1141"/>
                  <a:pt x="1514" y="1142"/>
                  <a:pt x="1505" y="1142"/>
                </a:cubicBezTo>
                <a:cubicBezTo>
                  <a:pt x="1489" y="1142"/>
                  <a:pt x="1472" y="1143"/>
                  <a:pt x="1455" y="1142"/>
                </a:cubicBezTo>
                <a:cubicBezTo>
                  <a:pt x="1447" y="1142"/>
                  <a:pt x="1439" y="1142"/>
                  <a:pt x="1431" y="1141"/>
                </a:cubicBezTo>
                <a:cubicBezTo>
                  <a:pt x="1406" y="1140"/>
                  <a:pt x="1406" y="1140"/>
                  <a:pt x="1406" y="1140"/>
                </a:cubicBezTo>
                <a:cubicBezTo>
                  <a:pt x="1393" y="1139"/>
                  <a:pt x="1393" y="1139"/>
                  <a:pt x="1393" y="1139"/>
                </a:cubicBezTo>
                <a:cubicBezTo>
                  <a:pt x="1381" y="1137"/>
                  <a:pt x="1381" y="1137"/>
                  <a:pt x="1381" y="1137"/>
                </a:cubicBezTo>
                <a:cubicBezTo>
                  <a:pt x="1356" y="1135"/>
                  <a:pt x="1356" y="1135"/>
                  <a:pt x="1356" y="1135"/>
                </a:cubicBezTo>
                <a:cubicBezTo>
                  <a:pt x="1339" y="1132"/>
                  <a:pt x="1323" y="1130"/>
                  <a:pt x="1306" y="1127"/>
                </a:cubicBezTo>
                <a:cubicBezTo>
                  <a:pt x="1290" y="1125"/>
                  <a:pt x="1273" y="1121"/>
                  <a:pt x="1257" y="1118"/>
                </a:cubicBezTo>
                <a:cubicBezTo>
                  <a:pt x="1207" y="1108"/>
                  <a:pt x="1207" y="1108"/>
                  <a:pt x="1207" y="1108"/>
                </a:cubicBezTo>
                <a:cubicBezTo>
                  <a:pt x="1182" y="1103"/>
                  <a:pt x="1182" y="1103"/>
                  <a:pt x="1182" y="1103"/>
                </a:cubicBezTo>
                <a:cubicBezTo>
                  <a:pt x="1174" y="1101"/>
                  <a:pt x="1165" y="1099"/>
                  <a:pt x="1157" y="1097"/>
                </a:cubicBezTo>
                <a:cubicBezTo>
                  <a:pt x="1140" y="1094"/>
                  <a:pt x="1122" y="1091"/>
                  <a:pt x="1105" y="1088"/>
                </a:cubicBezTo>
                <a:cubicBezTo>
                  <a:pt x="1092" y="1087"/>
                  <a:pt x="1092" y="1087"/>
                  <a:pt x="1092" y="1087"/>
                </a:cubicBezTo>
                <a:cubicBezTo>
                  <a:pt x="1085" y="1086"/>
                  <a:pt x="1085" y="1086"/>
                  <a:pt x="1085" y="1086"/>
                </a:cubicBezTo>
                <a:cubicBezTo>
                  <a:pt x="1082" y="1085"/>
                  <a:pt x="1082" y="1085"/>
                  <a:pt x="1082" y="1085"/>
                </a:cubicBezTo>
                <a:cubicBezTo>
                  <a:pt x="1078" y="1085"/>
                  <a:pt x="1078" y="1085"/>
                  <a:pt x="1078" y="1085"/>
                </a:cubicBezTo>
                <a:cubicBezTo>
                  <a:pt x="1065" y="1084"/>
                  <a:pt x="1065" y="1084"/>
                  <a:pt x="1065" y="1084"/>
                </a:cubicBezTo>
                <a:cubicBezTo>
                  <a:pt x="1059" y="1083"/>
                  <a:pt x="1059" y="1083"/>
                  <a:pt x="1059" y="1083"/>
                </a:cubicBezTo>
                <a:cubicBezTo>
                  <a:pt x="1056" y="1083"/>
                  <a:pt x="1054" y="1083"/>
                  <a:pt x="1052" y="1083"/>
                </a:cubicBezTo>
                <a:cubicBezTo>
                  <a:pt x="1038" y="1083"/>
                  <a:pt x="1038" y="1083"/>
                  <a:pt x="1038" y="1083"/>
                </a:cubicBezTo>
                <a:cubicBezTo>
                  <a:pt x="1033" y="1083"/>
                  <a:pt x="1028" y="1083"/>
                  <a:pt x="1024" y="1083"/>
                </a:cubicBezTo>
                <a:cubicBezTo>
                  <a:pt x="1010" y="1083"/>
                  <a:pt x="1010" y="1083"/>
                  <a:pt x="1010" y="1083"/>
                </a:cubicBezTo>
                <a:cubicBezTo>
                  <a:pt x="1003" y="1084"/>
                  <a:pt x="1003" y="1084"/>
                  <a:pt x="1003" y="1084"/>
                </a:cubicBezTo>
                <a:cubicBezTo>
                  <a:pt x="997" y="1084"/>
                  <a:pt x="997" y="1084"/>
                  <a:pt x="997" y="1084"/>
                </a:cubicBezTo>
                <a:cubicBezTo>
                  <a:pt x="983" y="1085"/>
                  <a:pt x="983" y="1085"/>
                  <a:pt x="983" y="1085"/>
                </a:cubicBezTo>
                <a:cubicBezTo>
                  <a:pt x="978" y="1086"/>
                  <a:pt x="974" y="1087"/>
                  <a:pt x="969" y="1087"/>
                </a:cubicBezTo>
                <a:cubicBezTo>
                  <a:pt x="961" y="1088"/>
                  <a:pt x="952" y="1090"/>
                  <a:pt x="943" y="1092"/>
                </a:cubicBezTo>
                <a:cubicBezTo>
                  <a:pt x="955" y="1087"/>
                  <a:pt x="966" y="1082"/>
                  <a:pt x="978" y="1078"/>
                </a:cubicBezTo>
                <a:cubicBezTo>
                  <a:pt x="985" y="1076"/>
                  <a:pt x="993" y="1073"/>
                  <a:pt x="1000" y="1071"/>
                </a:cubicBezTo>
                <a:cubicBezTo>
                  <a:pt x="1011" y="1068"/>
                  <a:pt x="1011" y="1068"/>
                  <a:pt x="1011" y="1068"/>
                </a:cubicBezTo>
                <a:cubicBezTo>
                  <a:pt x="1022" y="1065"/>
                  <a:pt x="1022" y="1065"/>
                  <a:pt x="1022" y="1065"/>
                </a:cubicBezTo>
                <a:cubicBezTo>
                  <a:pt x="1028" y="1063"/>
                  <a:pt x="1028" y="1063"/>
                  <a:pt x="1028" y="1063"/>
                </a:cubicBezTo>
                <a:cubicBezTo>
                  <a:pt x="1029" y="1063"/>
                  <a:pt x="1029" y="1063"/>
                  <a:pt x="1029" y="1063"/>
                </a:cubicBezTo>
                <a:cubicBezTo>
                  <a:pt x="1030" y="1063"/>
                  <a:pt x="1030" y="1063"/>
                  <a:pt x="1030" y="1063"/>
                </a:cubicBezTo>
                <a:cubicBezTo>
                  <a:pt x="1033" y="1062"/>
                  <a:pt x="1033" y="1062"/>
                  <a:pt x="1033" y="1062"/>
                </a:cubicBezTo>
                <a:cubicBezTo>
                  <a:pt x="1044" y="1060"/>
                  <a:pt x="1044" y="1060"/>
                  <a:pt x="1044" y="1060"/>
                </a:cubicBezTo>
                <a:cubicBezTo>
                  <a:pt x="1048" y="1059"/>
                  <a:pt x="1051" y="1059"/>
                  <a:pt x="1055" y="1058"/>
                </a:cubicBezTo>
                <a:cubicBezTo>
                  <a:pt x="1059" y="1058"/>
                  <a:pt x="1063" y="1057"/>
                  <a:pt x="1066" y="1057"/>
                </a:cubicBezTo>
                <a:cubicBezTo>
                  <a:pt x="1082" y="1056"/>
                  <a:pt x="1097" y="1055"/>
                  <a:pt x="1112" y="1055"/>
                </a:cubicBezTo>
                <a:cubicBezTo>
                  <a:pt x="1124" y="1055"/>
                  <a:pt x="1124" y="1055"/>
                  <a:pt x="1124" y="1055"/>
                </a:cubicBezTo>
                <a:cubicBezTo>
                  <a:pt x="1135" y="1055"/>
                  <a:pt x="1135" y="1055"/>
                  <a:pt x="1135" y="1055"/>
                </a:cubicBezTo>
                <a:cubicBezTo>
                  <a:pt x="1143" y="1056"/>
                  <a:pt x="1151" y="1056"/>
                  <a:pt x="1158" y="1057"/>
                </a:cubicBezTo>
                <a:cubicBezTo>
                  <a:pt x="1166" y="1057"/>
                  <a:pt x="1174" y="1058"/>
                  <a:pt x="1181" y="1058"/>
                </a:cubicBezTo>
                <a:cubicBezTo>
                  <a:pt x="1205" y="1061"/>
                  <a:pt x="1205" y="1061"/>
                  <a:pt x="1205" y="1061"/>
                </a:cubicBezTo>
                <a:cubicBezTo>
                  <a:pt x="1251" y="1065"/>
                  <a:pt x="1251" y="1065"/>
                  <a:pt x="1251" y="1065"/>
                </a:cubicBezTo>
                <a:cubicBezTo>
                  <a:pt x="1267" y="1067"/>
                  <a:pt x="1283" y="1068"/>
                  <a:pt x="1299" y="1069"/>
                </a:cubicBezTo>
                <a:cubicBezTo>
                  <a:pt x="1306" y="1070"/>
                  <a:pt x="1315" y="1070"/>
                  <a:pt x="1322" y="1070"/>
                </a:cubicBezTo>
                <a:cubicBezTo>
                  <a:pt x="1326" y="1071"/>
                  <a:pt x="1330" y="1071"/>
                  <a:pt x="1334" y="1071"/>
                </a:cubicBezTo>
                <a:cubicBezTo>
                  <a:pt x="1340" y="1071"/>
                  <a:pt x="1340" y="1071"/>
                  <a:pt x="1340" y="1071"/>
                </a:cubicBezTo>
                <a:cubicBezTo>
                  <a:pt x="1343" y="1071"/>
                  <a:pt x="1343" y="1071"/>
                  <a:pt x="1343" y="1071"/>
                </a:cubicBezTo>
                <a:cubicBezTo>
                  <a:pt x="1344" y="1071"/>
                  <a:pt x="1345" y="1071"/>
                  <a:pt x="1346" y="1071"/>
                </a:cubicBezTo>
                <a:cubicBezTo>
                  <a:pt x="1362" y="1071"/>
                  <a:pt x="1378" y="1070"/>
                  <a:pt x="1394" y="1067"/>
                </a:cubicBezTo>
                <a:cubicBezTo>
                  <a:pt x="1406" y="1066"/>
                  <a:pt x="1406" y="1066"/>
                  <a:pt x="1406" y="1066"/>
                </a:cubicBezTo>
                <a:cubicBezTo>
                  <a:pt x="1418" y="1064"/>
                  <a:pt x="1418" y="1064"/>
                  <a:pt x="1418" y="1064"/>
                </a:cubicBezTo>
                <a:cubicBezTo>
                  <a:pt x="1426" y="1062"/>
                  <a:pt x="1434" y="1061"/>
                  <a:pt x="1441" y="1059"/>
                </a:cubicBezTo>
                <a:cubicBezTo>
                  <a:pt x="1449" y="1057"/>
                  <a:pt x="1457" y="1055"/>
                  <a:pt x="1464" y="1053"/>
                </a:cubicBezTo>
                <a:cubicBezTo>
                  <a:pt x="1472" y="1051"/>
                  <a:pt x="1480" y="1049"/>
                  <a:pt x="1487" y="1047"/>
                </a:cubicBezTo>
                <a:cubicBezTo>
                  <a:pt x="1503" y="1042"/>
                  <a:pt x="1518" y="1037"/>
                  <a:pt x="1532" y="1032"/>
                </a:cubicBezTo>
                <a:cubicBezTo>
                  <a:pt x="1547" y="1026"/>
                  <a:pt x="1562" y="1021"/>
                  <a:pt x="1577" y="1014"/>
                </a:cubicBezTo>
                <a:cubicBezTo>
                  <a:pt x="1582" y="1012"/>
                  <a:pt x="1582" y="1012"/>
                  <a:pt x="1582" y="1012"/>
                </a:cubicBezTo>
                <a:cubicBezTo>
                  <a:pt x="1582" y="1006"/>
                  <a:pt x="1582" y="1006"/>
                  <a:pt x="1582" y="1006"/>
                </a:cubicBezTo>
                <a:cubicBezTo>
                  <a:pt x="1576" y="4"/>
                  <a:pt x="1576" y="4"/>
                  <a:pt x="1576" y="4"/>
                </a:cubicBezTo>
                <a:cubicBezTo>
                  <a:pt x="1576" y="0"/>
                  <a:pt x="1576" y="0"/>
                  <a:pt x="1576" y="0"/>
                </a:cubicBezTo>
                <a:cubicBezTo>
                  <a:pt x="1572" y="1"/>
                  <a:pt x="1572" y="1"/>
                  <a:pt x="1572" y="1"/>
                </a:cubicBezTo>
                <a:cubicBezTo>
                  <a:pt x="1542" y="10"/>
                  <a:pt x="1542" y="10"/>
                  <a:pt x="1542" y="10"/>
                </a:cubicBezTo>
                <a:cubicBezTo>
                  <a:pt x="1537" y="12"/>
                  <a:pt x="1532" y="14"/>
                  <a:pt x="1527" y="15"/>
                </a:cubicBezTo>
                <a:cubicBezTo>
                  <a:pt x="1511" y="19"/>
                  <a:pt x="1511" y="19"/>
                  <a:pt x="1511" y="19"/>
                </a:cubicBezTo>
                <a:cubicBezTo>
                  <a:pt x="1496" y="22"/>
                  <a:pt x="1496" y="22"/>
                  <a:pt x="1496" y="22"/>
                </a:cubicBezTo>
                <a:cubicBezTo>
                  <a:pt x="1488" y="24"/>
                  <a:pt x="1488" y="24"/>
                  <a:pt x="1488" y="24"/>
                </a:cubicBezTo>
                <a:cubicBezTo>
                  <a:pt x="1485" y="25"/>
                  <a:pt x="1483" y="25"/>
                  <a:pt x="1480" y="26"/>
                </a:cubicBezTo>
                <a:cubicBezTo>
                  <a:pt x="1449" y="32"/>
                  <a:pt x="1449" y="32"/>
                  <a:pt x="1449" y="32"/>
                </a:cubicBezTo>
                <a:cubicBezTo>
                  <a:pt x="1444" y="33"/>
                  <a:pt x="1439" y="34"/>
                  <a:pt x="1433" y="35"/>
                </a:cubicBezTo>
                <a:cubicBezTo>
                  <a:pt x="1418" y="37"/>
                  <a:pt x="1418" y="37"/>
                  <a:pt x="1418" y="37"/>
                </a:cubicBezTo>
                <a:cubicBezTo>
                  <a:pt x="1402" y="39"/>
                  <a:pt x="1402" y="39"/>
                  <a:pt x="1402" y="39"/>
                </a:cubicBezTo>
                <a:cubicBezTo>
                  <a:pt x="1397" y="40"/>
                  <a:pt x="1391" y="41"/>
                  <a:pt x="1386" y="41"/>
                </a:cubicBezTo>
                <a:cubicBezTo>
                  <a:pt x="1376" y="43"/>
                  <a:pt x="1365" y="44"/>
                  <a:pt x="1355" y="45"/>
                </a:cubicBezTo>
                <a:cubicBezTo>
                  <a:pt x="1323" y="48"/>
                  <a:pt x="1323" y="48"/>
                  <a:pt x="1323" y="48"/>
                </a:cubicBezTo>
                <a:cubicBezTo>
                  <a:pt x="1318" y="48"/>
                  <a:pt x="1312" y="49"/>
                  <a:pt x="1307" y="49"/>
                </a:cubicBezTo>
                <a:cubicBezTo>
                  <a:pt x="1291" y="50"/>
                  <a:pt x="1291" y="50"/>
                  <a:pt x="1291" y="50"/>
                </a:cubicBezTo>
                <a:cubicBezTo>
                  <a:pt x="1275" y="51"/>
                  <a:pt x="1275" y="51"/>
                  <a:pt x="1275" y="51"/>
                </a:cubicBezTo>
                <a:cubicBezTo>
                  <a:pt x="1259" y="51"/>
                  <a:pt x="1259" y="51"/>
                  <a:pt x="1259" y="51"/>
                </a:cubicBezTo>
                <a:cubicBezTo>
                  <a:pt x="1249" y="52"/>
                  <a:pt x="1238" y="52"/>
                  <a:pt x="1228" y="52"/>
                </a:cubicBezTo>
                <a:cubicBezTo>
                  <a:pt x="1217" y="52"/>
                  <a:pt x="1206" y="53"/>
                  <a:pt x="1196" y="53"/>
                </a:cubicBezTo>
                <a:cubicBezTo>
                  <a:pt x="1185" y="52"/>
                  <a:pt x="1175" y="52"/>
                  <a:pt x="1164" y="52"/>
                </a:cubicBezTo>
                <a:cubicBezTo>
                  <a:pt x="1153" y="52"/>
                  <a:pt x="1143" y="52"/>
                  <a:pt x="1132" y="51"/>
                </a:cubicBezTo>
                <a:cubicBezTo>
                  <a:pt x="1116" y="51"/>
                  <a:pt x="1116" y="51"/>
                  <a:pt x="1116" y="51"/>
                </a:cubicBezTo>
                <a:cubicBezTo>
                  <a:pt x="1100" y="50"/>
                  <a:pt x="1100" y="50"/>
                  <a:pt x="1100" y="50"/>
                </a:cubicBezTo>
                <a:cubicBezTo>
                  <a:pt x="1090" y="49"/>
                  <a:pt x="1079" y="48"/>
                  <a:pt x="1069" y="47"/>
                </a:cubicBezTo>
                <a:cubicBezTo>
                  <a:pt x="1079" y="48"/>
                  <a:pt x="1090" y="49"/>
                  <a:pt x="1100" y="50"/>
                </a:cubicBezTo>
                <a:cubicBezTo>
                  <a:pt x="1116" y="51"/>
                  <a:pt x="1116" y="51"/>
                  <a:pt x="1116" y="51"/>
                </a:cubicBezTo>
                <a:cubicBezTo>
                  <a:pt x="1132" y="52"/>
                  <a:pt x="1132" y="52"/>
                  <a:pt x="1132" y="52"/>
                </a:cubicBezTo>
                <a:cubicBezTo>
                  <a:pt x="1143" y="53"/>
                  <a:pt x="1153" y="53"/>
                  <a:pt x="1164" y="53"/>
                </a:cubicBezTo>
                <a:cubicBezTo>
                  <a:pt x="1175" y="54"/>
                  <a:pt x="1185" y="54"/>
                  <a:pt x="1196" y="54"/>
                </a:cubicBezTo>
                <a:cubicBezTo>
                  <a:pt x="1206" y="54"/>
                  <a:pt x="1217" y="54"/>
                  <a:pt x="1228" y="54"/>
                </a:cubicBezTo>
                <a:cubicBezTo>
                  <a:pt x="1238" y="54"/>
                  <a:pt x="1249" y="54"/>
                  <a:pt x="1260" y="54"/>
                </a:cubicBezTo>
                <a:cubicBezTo>
                  <a:pt x="1275" y="53"/>
                  <a:pt x="1275" y="53"/>
                  <a:pt x="1275" y="53"/>
                </a:cubicBezTo>
                <a:cubicBezTo>
                  <a:pt x="1291" y="53"/>
                  <a:pt x="1291" y="53"/>
                  <a:pt x="1291" y="53"/>
                </a:cubicBezTo>
                <a:cubicBezTo>
                  <a:pt x="1307" y="52"/>
                  <a:pt x="1307" y="52"/>
                  <a:pt x="1307" y="52"/>
                </a:cubicBezTo>
                <a:cubicBezTo>
                  <a:pt x="1313" y="52"/>
                  <a:pt x="1318" y="51"/>
                  <a:pt x="1323" y="51"/>
                </a:cubicBezTo>
                <a:cubicBezTo>
                  <a:pt x="1355" y="48"/>
                  <a:pt x="1355" y="48"/>
                  <a:pt x="1355" y="48"/>
                </a:cubicBezTo>
                <a:cubicBezTo>
                  <a:pt x="1366" y="47"/>
                  <a:pt x="1376" y="46"/>
                  <a:pt x="1387" y="45"/>
                </a:cubicBezTo>
                <a:cubicBezTo>
                  <a:pt x="1392" y="44"/>
                  <a:pt x="1397" y="44"/>
                  <a:pt x="1403" y="43"/>
                </a:cubicBezTo>
                <a:cubicBezTo>
                  <a:pt x="1418" y="41"/>
                  <a:pt x="1418" y="41"/>
                  <a:pt x="1418" y="41"/>
                </a:cubicBezTo>
                <a:cubicBezTo>
                  <a:pt x="1434" y="39"/>
                  <a:pt x="1434" y="39"/>
                  <a:pt x="1434" y="39"/>
                </a:cubicBezTo>
                <a:cubicBezTo>
                  <a:pt x="1439" y="38"/>
                  <a:pt x="1445" y="37"/>
                  <a:pt x="1450" y="36"/>
                </a:cubicBezTo>
                <a:cubicBezTo>
                  <a:pt x="1481" y="30"/>
                  <a:pt x="1481" y="30"/>
                  <a:pt x="1481" y="30"/>
                </a:cubicBezTo>
                <a:cubicBezTo>
                  <a:pt x="1484" y="30"/>
                  <a:pt x="1486" y="30"/>
                  <a:pt x="1489" y="29"/>
                </a:cubicBezTo>
                <a:cubicBezTo>
                  <a:pt x="1497" y="27"/>
                  <a:pt x="1497" y="27"/>
                  <a:pt x="1497" y="27"/>
                </a:cubicBezTo>
                <a:cubicBezTo>
                  <a:pt x="1512" y="24"/>
                  <a:pt x="1512" y="24"/>
                  <a:pt x="1512" y="24"/>
                </a:cubicBezTo>
                <a:cubicBezTo>
                  <a:pt x="1528" y="20"/>
                  <a:pt x="1528" y="20"/>
                  <a:pt x="1528" y="20"/>
                </a:cubicBezTo>
                <a:cubicBezTo>
                  <a:pt x="1533" y="19"/>
                  <a:pt x="1538" y="17"/>
                  <a:pt x="1543" y="16"/>
                </a:cubicBezTo>
                <a:cubicBezTo>
                  <a:pt x="1570" y="8"/>
                  <a:pt x="1570" y="8"/>
                  <a:pt x="1570" y="8"/>
                </a:cubicBezTo>
                <a:cubicBezTo>
                  <a:pt x="1564" y="1000"/>
                  <a:pt x="1564" y="1000"/>
                  <a:pt x="1564" y="1000"/>
                </a:cubicBezTo>
                <a:cubicBezTo>
                  <a:pt x="1552" y="1006"/>
                  <a:pt x="1539" y="1010"/>
                  <a:pt x="1526" y="1015"/>
                </a:cubicBezTo>
                <a:cubicBezTo>
                  <a:pt x="1512" y="1020"/>
                  <a:pt x="1497" y="1025"/>
                  <a:pt x="1482" y="1029"/>
                </a:cubicBezTo>
                <a:cubicBezTo>
                  <a:pt x="1475" y="1031"/>
                  <a:pt x="1467" y="1033"/>
                  <a:pt x="1460" y="1035"/>
                </a:cubicBezTo>
                <a:cubicBezTo>
                  <a:pt x="1452" y="1037"/>
                  <a:pt x="1445" y="1039"/>
                  <a:pt x="1437" y="1040"/>
                </a:cubicBezTo>
                <a:cubicBezTo>
                  <a:pt x="1430" y="1042"/>
                  <a:pt x="1422" y="1043"/>
                  <a:pt x="1415" y="1045"/>
                </a:cubicBezTo>
                <a:cubicBezTo>
                  <a:pt x="1403" y="1046"/>
                  <a:pt x="1403" y="1046"/>
                  <a:pt x="1403" y="1046"/>
                </a:cubicBezTo>
                <a:cubicBezTo>
                  <a:pt x="1392" y="1048"/>
                  <a:pt x="1392" y="1048"/>
                  <a:pt x="1392" y="1048"/>
                </a:cubicBezTo>
                <a:cubicBezTo>
                  <a:pt x="1377" y="1050"/>
                  <a:pt x="1361" y="1051"/>
                  <a:pt x="1346" y="1051"/>
                </a:cubicBezTo>
                <a:cubicBezTo>
                  <a:pt x="1345" y="1051"/>
                  <a:pt x="1344" y="1051"/>
                  <a:pt x="1344" y="1051"/>
                </a:cubicBezTo>
                <a:cubicBezTo>
                  <a:pt x="1341" y="1051"/>
                  <a:pt x="1341" y="1051"/>
                  <a:pt x="1341" y="1051"/>
                </a:cubicBezTo>
                <a:cubicBezTo>
                  <a:pt x="1335" y="1050"/>
                  <a:pt x="1335" y="1050"/>
                  <a:pt x="1335" y="1050"/>
                </a:cubicBezTo>
                <a:cubicBezTo>
                  <a:pt x="1331" y="1050"/>
                  <a:pt x="1327" y="1050"/>
                  <a:pt x="1323" y="1050"/>
                </a:cubicBezTo>
                <a:cubicBezTo>
                  <a:pt x="1315" y="1049"/>
                  <a:pt x="1308" y="1049"/>
                  <a:pt x="1300" y="1048"/>
                </a:cubicBezTo>
                <a:cubicBezTo>
                  <a:pt x="1285" y="1047"/>
                  <a:pt x="1269" y="1046"/>
                  <a:pt x="1254" y="1044"/>
                </a:cubicBezTo>
                <a:cubicBezTo>
                  <a:pt x="1207" y="1039"/>
                  <a:pt x="1207" y="1039"/>
                  <a:pt x="1207" y="1039"/>
                </a:cubicBezTo>
                <a:cubicBezTo>
                  <a:pt x="1184" y="1036"/>
                  <a:pt x="1184" y="1036"/>
                  <a:pt x="1184" y="1036"/>
                </a:cubicBezTo>
                <a:cubicBezTo>
                  <a:pt x="1176" y="1036"/>
                  <a:pt x="1168" y="1035"/>
                  <a:pt x="1160" y="1034"/>
                </a:cubicBezTo>
                <a:cubicBezTo>
                  <a:pt x="1152" y="1034"/>
                  <a:pt x="1144" y="1033"/>
                  <a:pt x="1136" y="1033"/>
                </a:cubicBezTo>
                <a:cubicBezTo>
                  <a:pt x="1124" y="1032"/>
                  <a:pt x="1124" y="1032"/>
                  <a:pt x="1124" y="1032"/>
                </a:cubicBezTo>
                <a:cubicBezTo>
                  <a:pt x="1112" y="1032"/>
                  <a:pt x="1112" y="1032"/>
                  <a:pt x="1112" y="1032"/>
                </a:cubicBezTo>
                <a:cubicBezTo>
                  <a:pt x="1096" y="1032"/>
                  <a:pt x="1080" y="1032"/>
                  <a:pt x="1064" y="1034"/>
                </a:cubicBezTo>
                <a:cubicBezTo>
                  <a:pt x="1060" y="1034"/>
                  <a:pt x="1056" y="1035"/>
                  <a:pt x="1052" y="1035"/>
                </a:cubicBezTo>
                <a:cubicBezTo>
                  <a:pt x="1048" y="1036"/>
                  <a:pt x="1044" y="1036"/>
                  <a:pt x="1040" y="1037"/>
                </a:cubicBezTo>
                <a:cubicBezTo>
                  <a:pt x="1028" y="1039"/>
                  <a:pt x="1028" y="1039"/>
                  <a:pt x="1028" y="1039"/>
                </a:cubicBezTo>
                <a:cubicBezTo>
                  <a:pt x="1025" y="1039"/>
                  <a:pt x="1025" y="1039"/>
                  <a:pt x="1025" y="1039"/>
                </a:cubicBezTo>
                <a:cubicBezTo>
                  <a:pt x="1024" y="1040"/>
                  <a:pt x="1024" y="1040"/>
                  <a:pt x="1024" y="1040"/>
                </a:cubicBezTo>
                <a:cubicBezTo>
                  <a:pt x="1024" y="1040"/>
                  <a:pt x="1024" y="1040"/>
                  <a:pt x="1024" y="1040"/>
                </a:cubicBezTo>
                <a:cubicBezTo>
                  <a:pt x="1023" y="1040"/>
                  <a:pt x="1023" y="1040"/>
                  <a:pt x="1023" y="1040"/>
                </a:cubicBezTo>
                <a:cubicBezTo>
                  <a:pt x="1022" y="1040"/>
                  <a:pt x="1022" y="1040"/>
                  <a:pt x="1022" y="1040"/>
                </a:cubicBezTo>
                <a:cubicBezTo>
                  <a:pt x="1016" y="1042"/>
                  <a:pt x="1016" y="1042"/>
                  <a:pt x="1016" y="1042"/>
                </a:cubicBezTo>
                <a:cubicBezTo>
                  <a:pt x="1005" y="1044"/>
                  <a:pt x="1005" y="1044"/>
                  <a:pt x="1005" y="1044"/>
                </a:cubicBezTo>
                <a:cubicBezTo>
                  <a:pt x="993" y="1048"/>
                  <a:pt x="993" y="1048"/>
                  <a:pt x="993" y="1048"/>
                </a:cubicBezTo>
                <a:cubicBezTo>
                  <a:pt x="985" y="1050"/>
                  <a:pt x="978" y="1052"/>
                  <a:pt x="970" y="1055"/>
                </a:cubicBezTo>
                <a:cubicBezTo>
                  <a:pt x="955" y="1060"/>
                  <a:pt x="940" y="1066"/>
                  <a:pt x="925" y="1072"/>
                </a:cubicBezTo>
                <a:cubicBezTo>
                  <a:pt x="911" y="1079"/>
                  <a:pt x="896" y="1086"/>
                  <a:pt x="882" y="1093"/>
                </a:cubicBezTo>
                <a:cubicBezTo>
                  <a:pt x="872" y="1099"/>
                  <a:pt x="872" y="1099"/>
                  <a:pt x="872" y="1099"/>
                </a:cubicBezTo>
                <a:cubicBezTo>
                  <a:pt x="861" y="1105"/>
                  <a:pt x="861" y="1105"/>
                  <a:pt x="861" y="1105"/>
                </a:cubicBezTo>
                <a:cubicBezTo>
                  <a:pt x="858" y="1107"/>
                  <a:pt x="854" y="1109"/>
                  <a:pt x="851" y="1112"/>
                </a:cubicBezTo>
                <a:cubicBezTo>
                  <a:pt x="839" y="106"/>
                  <a:pt x="839" y="106"/>
                  <a:pt x="839" y="106"/>
                </a:cubicBezTo>
                <a:cubicBezTo>
                  <a:pt x="826" y="1112"/>
                  <a:pt x="826" y="1112"/>
                  <a:pt x="826" y="1112"/>
                </a:cubicBezTo>
                <a:cubicBezTo>
                  <a:pt x="823" y="1109"/>
                  <a:pt x="819" y="1107"/>
                  <a:pt x="816" y="1105"/>
                </a:cubicBezTo>
                <a:cubicBezTo>
                  <a:pt x="805" y="1099"/>
                  <a:pt x="805" y="1099"/>
                  <a:pt x="805" y="1099"/>
                </a:cubicBezTo>
                <a:cubicBezTo>
                  <a:pt x="795" y="1093"/>
                  <a:pt x="795" y="1093"/>
                  <a:pt x="795" y="1093"/>
                </a:cubicBezTo>
                <a:cubicBezTo>
                  <a:pt x="781" y="1086"/>
                  <a:pt x="766" y="1079"/>
                  <a:pt x="752" y="1072"/>
                </a:cubicBezTo>
                <a:cubicBezTo>
                  <a:pt x="737" y="1066"/>
                  <a:pt x="722" y="1060"/>
                  <a:pt x="707" y="1055"/>
                </a:cubicBezTo>
                <a:cubicBezTo>
                  <a:pt x="699" y="1052"/>
                  <a:pt x="692" y="1050"/>
                  <a:pt x="684" y="1048"/>
                </a:cubicBezTo>
                <a:cubicBezTo>
                  <a:pt x="672" y="1044"/>
                  <a:pt x="672" y="1044"/>
                  <a:pt x="672" y="1044"/>
                </a:cubicBezTo>
                <a:cubicBezTo>
                  <a:pt x="661" y="1042"/>
                  <a:pt x="661" y="1042"/>
                  <a:pt x="661" y="1042"/>
                </a:cubicBezTo>
                <a:cubicBezTo>
                  <a:pt x="655" y="1040"/>
                  <a:pt x="655" y="1040"/>
                  <a:pt x="655" y="1040"/>
                </a:cubicBezTo>
                <a:cubicBezTo>
                  <a:pt x="654" y="1040"/>
                  <a:pt x="654" y="1040"/>
                  <a:pt x="654" y="1040"/>
                </a:cubicBezTo>
                <a:cubicBezTo>
                  <a:pt x="653" y="1040"/>
                  <a:pt x="653" y="1040"/>
                  <a:pt x="653" y="1040"/>
                </a:cubicBezTo>
                <a:cubicBezTo>
                  <a:pt x="653" y="1040"/>
                  <a:pt x="653" y="1040"/>
                  <a:pt x="653" y="1040"/>
                </a:cubicBezTo>
                <a:cubicBezTo>
                  <a:pt x="652" y="1039"/>
                  <a:pt x="652" y="1039"/>
                  <a:pt x="652" y="1039"/>
                </a:cubicBezTo>
                <a:cubicBezTo>
                  <a:pt x="649" y="1039"/>
                  <a:pt x="649" y="1039"/>
                  <a:pt x="649" y="1039"/>
                </a:cubicBezTo>
                <a:cubicBezTo>
                  <a:pt x="637" y="1037"/>
                  <a:pt x="637" y="1037"/>
                  <a:pt x="637" y="1037"/>
                </a:cubicBezTo>
                <a:cubicBezTo>
                  <a:pt x="633" y="1036"/>
                  <a:pt x="629" y="1036"/>
                  <a:pt x="625" y="1035"/>
                </a:cubicBezTo>
                <a:cubicBezTo>
                  <a:pt x="621" y="1035"/>
                  <a:pt x="617" y="1034"/>
                  <a:pt x="613" y="1034"/>
                </a:cubicBezTo>
                <a:cubicBezTo>
                  <a:pt x="597" y="1032"/>
                  <a:pt x="581" y="1032"/>
                  <a:pt x="565" y="1032"/>
                </a:cubicBezTo>
                <a:cubicBezTo>
                  <a:pt x="553" y="1032"/>
                  <a:pt x="553" y="1032"/>
                  <a:pt x="553" y="1032"/>
                </a:cubicBezTo>
                <a:cubicBezTo>
                  <a:pt x="541" y="1033"/>
                  <a:pt x="541" y="1033"/>
                  <a:pt x="541" y="1033"/>
                </a:cubicBezTo>
                <a:cubicBezTo>
                  <a:pt x="533" y="1033"/>
                  <a:pt x="525" y="1034"/>
                  <a:pt x="517" y="1034"/>
                </a:cubicBezTo>
                <a:cubicBezTo>
                  <a:pt x="509" y="1035"/>
                  <a:pt x="501" y="1036"/>
                  <a:pt x="493" y="1036"/>
                </a:cubicBezTo>
                <a:cubicBezTo>
                  <a:pt x="470" y="1039"/>
                  <a:pt x="470" y="1039"/>
                  <a:pt x="470" y="1039"/>
                </a:cubicBezTo>
                <a:cubicBezTo>
                  <a:pt x="423" y="1044"/>
                  <a:pt x="423" y="1044"/>
                  <a:pt x="423" y="1044"/>
                </a:cubicBezTo>
                <a:cubicBezTo>
                  <a:pt x="408" y="1046"/>
                  <a:pt x="392" y="1047"/>
                  <a:pt x="377" y="1048"/>
                </a:cubicBezTo>
                <a:cubicBezTo>
                  <a:pt x="369" y="1049"/>
                  <a:pt x="362" y="1049"/>
                  <a:pt x="354" y="1050"/>
                </a:cubicBezTo>
                <a:cubicBezTo>
                  <a:pt x="350" y="1050"/>
                  <a:pt x="346" y="1050"/>
                  <a:pt x="342" y="1050"/>
                </a:cubicBezTo>
                <a:cubicBezTo>
                  <a:pt x="336" y="1051"/>
                  <a:pt x="336" y="1051"/>
                  <a:pt x="336" y="1051"/>
                </a:cubicBezTo>
                <a:cubicBezTo>
                  <a:pt x="333" y="1051"/>
                  <a:pt x="333" y="1051"/>
                  <a:pt x="333" y="1051"/>
                </a:cubicBezTo>
                <a:cubicBezTo>
                  <a:pt x="333" y="1051"/>
                  <a:pt x="332" y="1051"/>
                  <a:pt x="331" y="1051"/>
                </a:cubicBezTo>
                <a:cubicBezTo>
                  <a:pt x="316" y="1051"/>
                  <a:pt x="300" y="1050"/>
                  <a:pt x="285" y="1048"/>
                </a:cubicBezTo>
                <a:cubicBezTo>
                  <a:pt x="274" y="1046"/>
                  <a:pt x="274" y="1046"/>
                  <a:pt x="274" y="1046"/>
                </a:cubicBezTo>
                <a:cubicBezTo>
                  <a:pt x="262" y="1045"/>
                  <a:pt x="262" y="1045"/>
                  <a:pt x="262" y="1045"/>
                </a:cubicBezTo>
                <a:cubicBezTo>
                  <a:pt x="255" y="1043"/>
                  <a:pt x="247" y="1042"/>
                  <a:pt x="240" y="1040"/>
                </a:cubicBezTo>
                <a:cubicBezTo>
                  <a:pt x="232" y="1039"/>
                  <a:pt x="225" y="1037"/>
                  <a:pt x="217" y="1035"/>
                </a:cubicBezTo>
                <a:cubicBezTo>
                  <a:pt x="210" y="1033"/>
                  <a:pt x="202" y="1031"/>
                  <a:pt x="195" y="1029"/>
                </a:cubicBezTo>
                <a:cubicBezTo>
                  <a:pt x="180" y="1025"/>
                  <a:pt x="165" y="1020"/>
                  <a:pt x="151" y="1015"/>
                </a:cubicBezTo>
                <a:cubicBezTo>
                  <a:pt x="138" y="1010"/>
                  <a:pt x="125" y="1006"/>
                  <a:pt x="113" y="1000"/>
                </a:cubicBezTo>
                <a:cubicBezTo>
                  <a:pt x="107" y="8"/>
                  <a:pt x="107" y="8"/>
                  <a:pt x="107" y="8"/>
                </a:cubicBezTo>
                <a:cubicBezTo>
                  <a:pt x="134" y="16"/>
                  <a:pt x="134" y="16"/>
                  <a:pt x="134" y="16"/>
                </a:cubicBezTo>
                <a:cubicBezTo>
                  <a:pt x="139" y="17"/>
                  <a:pt x="144" y="19"/>
                  <a:pt x="149" y="20"/>
                </a:cubicBezTo>
                <a:cubicBezTo>
                  <a:pt x="165" y="24"/>
                  <a:pt x="165" y="24"/>
                  <a:pt x="165" y="24"/>
                </a:cubicBezTo>
                <a:cubicBezTo>
                  <a:pt x="180" y="27"/>
                  <a:pt x="180" y="27"/>
                  <a:pt x="180" y="27"/>
                </a:cubicBezTo>
                <a:cubicBezTo>
                  <a:pt x="188" y="29"/>
                  <a:pt x="188" y="29"/>
                  <a:pt x="188" y="29"/>
                </a:cubicBezTo>
                <a:cubicBezTo>
                  <a:pt x="191" y="30"/>
                  <a:pt x="193" y="30"/>
                  <a:pt x="196" y="30"/>
                </a:cubicBezTo>
                <a:cubicBezTo>
                  <a:pt x="227" y="36"/>
                  <a:pt x="227" y="36"/>
                  <a:pt x="227" y="36"/>
                </a:cubicBezTo>
                <a:cubicBezTo>
                  <a:pt x="232" y="37"/>
                  <a:pt x="238" y="38"/>
                  <a:pt x="243" y="39"/>
                </a:cubicBezTo>
                <a:cubicBezTo>
                  <a:pt x="259" y="41"/>
                  <a:pt x="259" y="41"/>
                  <a:pt x="259" y="41"/>
                </a:cubicBezTo>
                <a:cubicBezTo>
                  <a:pt x="275" y="43"/>
                  <a:pt x="275" y="43"/>
                  <a:pt x="275" y="43"/>
                </a:cubicBezTo>
                <a:cubicBezTo>
                  <a:pt x="280" y="44"/>
                  <a:pt x="285" y="44"/>
                  <a:pt x="290" y="45"/>
                </a:cubicBezTo>
                <a:cubicBezTo>
                  <a:pt x="301" y="46"/>
                  <a:pt x="311" y="47"/>
                  <a:pt x="322" y="48"/>
                </a:cubicBezTo>
                <a:cubicBezTo>
                  <a:pt x="354" y="51"/>
                  <a:pt x="354" y="51"/>
                  <a:pt x="354" y="51"/>
                </a:cubicBezTo>
                <a:cubicBezTo>
                  <a:pt x="359" y="51"/>
                  <a:pt x="364" y="52"/>
                  <a:pt x="370" y="52"/>
                </a:cubicBezTo>
                <a:cubicBezTo>
                  <a:pt x="386" y="53"/>
                  <a:pt x="386" y="53"/>
                  <a:pt x="386" y="53"/>
                </a:cubicBezTo>
                <a:cubicBezTo>
                  <a:pt x="402" y="53"/>
                  <a:pt x="402" y="53"/>
                  <a:pt x="402" y="53"/>
                </a:cubicBezTo>
                <a:cubicBezTo>
                  <a:pt x="417" y="54"/>
                  <a:pt x="417" y="54"/>
                  <a:pt x="417" y="54"/>
                </a:cubicBezTo>
                <a:cubicBezTo>
                  <a:pt x="428" y="54"/>
                  <a:pt x="439" y="54"/>
                  <a:pt x="449" y="54"/>
                </a:cubicBezTo>
                <a:cubicBezTo>
                  <a:pt x="460" y="54"/>
                  <a:pt x="471" y="54"/>
                  <a:pt x="481" y="54"/>
                </a:cubicBezTo>
                <a:cubicBezTo>
                  <a:pt x="492" y="54"/>
                  <a:pt x="502" y="54"/>
                  <a:pt x="513" y="53"/>
                </a:cubicBezTo>
                <a:cubicBezTo>
                  <a:pt x="524" y="53"/>
                  <a:pt x="534" y="53"/>
                  <a:pt x="545" y="52"/>
                </a:cubicBezTo>
                <a:cubicBezTo>
                  <a:pt x="561" y="51"/>
                  <a:pt x="561" y="51"/>
                  <a:pt x="561" y="51"/>
                </a:cubicBezTo>
                <a:cubicBezTo>
                  <a:pt x="577" y="50"/>
                  <a:pt x="577" y="50"/>
                  <a:pt x="577" y="50"/>
                </a:cubicBezTo>
                <a:cubicBezTo>
                  <a:pt x="587" y="49"/>
                  <a:pt x="598" y="48"/>
                  <a:pt x="608" y="47"/>
                </a:cubicBezTo>
                <a:cubicBezTo>
                  <a:pt x="598" y="48"/>
                  <a:pt x="587" y="49"/>
                  <a:pt x="577" y="50"/>
                </a:cubicBezTo>
                <a:cubicBezTo>
                  <a:pt x="561" y="51"/>
                  <a:pt x="561" y="51"/>
                  <a:pt x="561" y="51"/>
                </a:cubicBezTo>
                <a:cubicBezTo>
                  <a:pt x="545" y="51"/>
                  <a:pt x="545" y="51"/>
                  <a:pt x="545" y="51"/>
                </a:cubicBezTo>
                <a:cubicBezTo>
                  <a:pt x="534" y="52"/>
                  <a:pt x="524" y="52"/>
                  <a:pt x="513" y="52"/>
                </a:cubicBezTo>
                <a:cubicBezTo>
                  <a:pt x="502" y="52"/>
                  <a:pt x="492" y="52"/>
                  <a:pt x="481" y="53"/>
                </a:cubicBezTo>
                <a:cubicBezTo>
                  <a:pt x="471" y="53"/>
                  <a:pt x="460" y="52"/>
                  <a:pt x="449" y="52"/>
                </a:cubicBezTo>
                <a:cubicBezTo>
                  <a:pt x="439" y="52"/>
                  <a:pt x="428" y="52"/>
                  <a:pt x="418" y="51"/>
                </a:cubicBezTo>
                <a:cubicBezTo>
                  <a:pt x="402" y="51"/>
                  <a:pt x="402" y="51"/>
                  <a:pt x="402" y="51"/>
                </a:cubicBezTo>
                <a:cubicBezTo>
                  <a:pt x="386" y="50"/>
                  <a:pt x="386" y="50"/>
                  <a:pt x="386" y="50"/>
                </a:cubicBezTo>
                <a:cubicBezTo>
                  <a:pt x="370" y="49"/>
                  <a:pt x="370" y="49"/>
                  <a:pt x="370" y="49"/>
                </a:cubicBezTo>
                <a:cubicBezTo>
                  <a:pt x="365" y="49"/>
                  <a:pt x="359" y="48"/>
                  <a:pt x="354" y="48"/>
                </a:cubicBezTo>
                <a:cubicBezTo>
                  <a:pt x="322" y="45"/>
                  <a:pt x="322" y="45"/>
                  <a:pt x="322" y="45"/>
                </a:cubicBezTo>
                <a:cubicBezTo>
                  <a:pt x="312" y="44"/>
                  <a:pt x="301" y="43"/>
                  <a:pt x="291" y="41"/>
                </a:cubicBezTo>
                <a:cubicBezTo>
                  <a:pt x="286" y="41"/>
                  <a:pt x="280" y="40"/>
                  <a:pt x="275" y="39"/>
                </a:cubicBezTo>
                <a:cubicBezTo>
                  <a:pt x="259" y="37"/>
                  <a:pt x="259" y="37"/>
                  <a:pt x="259" y="37"/>
                </a:cubicBezTo>
                <a:cubicBezTo>
                  <a:pt x="244" y="35"/>
                  <a:pt x="244" y="35"/>
                  <a:pt x="244" y="35"/>
                </a:cubicBezTo>
                <a:cubicBezTo>
                  <a:pt x="238" y="34"/>
                  <a:pt x="233" y="33"/>
                  <a:pt x="228" y="32"/>
                </a:cubicBezTo>
                <a:cubicBezTo>
                  <a:pt x="197" y="26"/>
                  <a:pt x="197" y="26"/>
                  <a:pt x="197" y="26"/>
                </a:cubicBezTo>
                <a:cubicBezTo>
                  <a:pt x="194" y="25"/>
                  <a:pt x="192" y="25"/>
                  <a:pt x="189" y="24"/>
                </a:cubicBezTo>
                <a:cubicBezTo>
                  <a:pt x="181" y="22"/>
                  <a:pt x="181" y="22"/>
                  <a:pt x="181" y="22"/>
                </a:cubicBezTo>
                <a:cubicBezTo>
                  <a:pt x="166" y="19"/>
                  <a:pt x="166" y="19"/>
                  <a:pt x="166" y="19"/>
                </a:cubicBezTo>
                <a:cubicBezTo>
                  <a:pt x="150" y="15"/>
                  <a:pt x="150" y="15"/>
                  <a:pt x="150" y="15"/>
                </a:cubicBezTo>
                <a:cubicBezTo>
                  <a:pt x="145" y="14"/>
                  <a:pt x="140" y="12"/>
                  <a:pt x="135" y="10"/>
                </a:cubicBezTo>
                <a:cubicBezTo>
                  <a:pt x="105" y="1"/>
                  <a:pt x="105" y="1"/>
                  <a:pt x="105" y="1"/>
                </a:cubicBezTo>
                <a:cubicBezTo>
                  <a:pt x="101" y="0"/>
                  <a:pt x="101" y="0"/>
                  <a:pt x="101" y="0"/>
                </a:cubicBezTo>
                <a:cubicBezTo>
                  <a:pt x="101" y="4"/>
                  <a:pt x="101" y="4"/>
                  <a:pt x="101" y="4"/>
                </a:cubicBezTo>
                <a:cubicBezTo>
                  <a:pt x="95" y="1006"/>
                  <a:pt x="95" y="1006"/>
                  <a:pt x="95" y="1006"/>
                </a:cubicBezTo>
                <a:cubicBezTo>
                  <a:pt x="95" y="1012"/>
                  <a:pt x="95" y="1012"/>
                  <a:pt x="95" y="1012"/>
                </a:cubicBezTo>
                <a:cubicBezTo>
                  <a:pt x="100" y="1014"/>
                  <a:pt x="100" y="1014"/>
                  <a:pt x="100" y="1014"/>
                </a:cubicBezTo>
                <a:cubicBezTo>
                  <a:pt x="115" y="1021"/>
                  <a:pt x="130" y="1026"/>
                  <a:pt x="145" y="1032"/>
                </a:cubicBezTo>
                <a:cubicBezTo>
                  <a:pt x="159" y="1037"/>
                  <a:pt x="174" y="1042"/>
                  <a:pt x="190" y="1047"/>
                </a:cubicBezTo>
                <a:cubicBezTo>
                  <a:pt x="197" y="1049"/>
                  <a:pt x="205" y="1051"/>
                  <a:pt x="213" y="1053"/>
                </a:cubicBezTo>
                <a:cubicBezTo>
                  <a:pt x="220" y="1055"/>
                  <a:pt x="228" y="1057"/>
                  <a:pt x="236" y="1059"/>
                </a:cubicBezTo>
                <a:cubicBezTo>
                  <a:pt x="243" y="1061"/>
                  <a:pt x="251" y="1062"/>
                  <a:pt x="259" y="1064"/>
                </a:cubicBezTo>
                <a:cubicBezTo>
                  <a:pt x="271" y="1066"/>
                  <a:pt x="271" y="1066"/>
                  <a:pt x="271" y="1066"/>
                </a:cubicBezTo>
                <a:cubicBezTo>
                  <a:pt x="283" y="1067"/>
                  <a:pt x="283" y="1067"/>
                  <a:pt x="283" y="1067"/>
                </a:cubicBezTo>
                <a:cubicBezTo>
                  <a:pt x="299" y="1070"/>
                  <a:pt x="315" y="1071"/>
                  <a:pt x="331" y="1071"/>
                </a:cubicBezTo>
                <a:cubicBezTo>
                  <a:pt x="332" y="1071"/>
                  <a:pt x="333" y="1071"/>
                  <a:pt x="334" y="1071"/>
                </a:cubicBezTo>
                <a:cubicBezTo>
                  <a:pt x="337" y="1071"/>
                  <a:pt x="337" y="1071"/>
                  <a:pt x="337" y="1071"/>
                </a:cubicBezTo>
                <a:cubicBezTo>
                  <a:pt x="343" y="1071"/>
                  <a:pt x="343" y="1071"/>
                  <a:pt x="343" y="1071"/>
                </a:cubicBezTo>
                <a:cubicBezTo>
                  <a:pt x="355" y="1070"/>
                  <a:pt x="355" y="1070"/>
                  <a:pt x="355" y="1070"/>
                </a:cubicBezTo>
                <a:cubicBezTo>
                  <a:pt x="363" y="1070"/>
                  <a:pt x="371" y="1070"/>
                  <a:pt x="378" y="1069"/>
                </a:cubicBezTo>
                <a:cubicBezTo>
                  <a:pt x="394" y="1068"/>
                  <a:pt x="410" y="1067"/>
                  <a:pt x="426" y="1065"/>
                </a:cubicBezTo>
                <a:cubicBezTo>
                  <a:pt x="472" y="1061"/>
                  <a:pt x="472" y="1061"/>
                  <a:pt x="472" y="1061"/>
                </a:cubicBezTo>
                <a:cubicBezTo>
                  <a:pt x="496" y="1058"/>
                  <a:pt x="496" y="1058"/>
                  <a:pt x="496" y="1058"/>
                </a:cubicBezTo>
                <a:cubicBezTo>
                  <a:pt x="503" y="1058"/>
                  <a:pt x="511" y="1057"/>
                  <a:pt x="519" y="1057"/>
                </a:cubicBezTo>
                <a:cubicBezTo>
                  <a:pt x="526" y="1056"/>
                  <a:pt x="534" y="1056"/>
                  <a:pt x="542" y="1055"/>
                </a:cubicBezTo>
                <a:cubicBezTo>
                  <a:pt x="553" y="1055"/>
                  <a:pt x="553" y="1055"/>
                  <a:pt x="553" y="1055"/>
                </a:cubicBezTo>
                <a:cubicBezTo>
                  <a:pt x="565" y="1055"/>
                  <a:pt x="565" y="1055"/>
                  <a:pt x="565" y="1055"/>
                </a:cubicBezTo>
                <a:cubicBezTo>
                  <a:pt x="580" y="1055"/>
                  <a:pt x="595" y="1056"/>
                  <a:pt x="611" y="1057"/>
                </a:cubicBezTo>
                <a:cubicBezTo>
                  <a:pt x="614" y="1057"/>
                  <a:pt x="618" y="1058"/>
                  <a:pt x="622" y="1058"/>
                </a:cubicBezTo>
                <a:cubicBezTo>
                  <a:pt x="626" y="1059"/>
                  <a:pt x="629" y="1059"/>
                  <a:pt x="633" y="1060"/>
                </a:cubicBezTo>
                <a:cubicBezTo>
                  <a:pt x="644" y="1062"/>
                  <a:pt x="644" y="1062"/>
                  <a:pt x="644" y="1062"/>
                </a:cubicBezTo>
                <a:cubicBezTo>
                  <a:pt x="647" y="1063"/>
                  <a:pt x="647" y="1063"/>
                  <a:pt x="647" y="1063"/>
                </a:cubicBezTo>
                <a:cubicBezTo>
                  <a:pt x="648" y="1063"/>
                  <a:pt x="648" y="1063"/>
                  <a:pt x="648" y="1063"/>
                </a:cubicBezTo>
                <a:cubicBezTo>
                  <a:pt x="649" y="1063"/>
                  <a:pt x="649" y="1063"/>
                  <a:pt x="649" y="1063"/>
                </a:cubicBezTo>
                <a:cubicBezTo>
                  <a:pt x="655" y="1065"/>
                  <a:pt x="655" y="1065"/>
                  <a:pt x="655" y="1065"/>
                </a:cubicBezTo>
                <a:cubicBezTo>
                  <a:pt x="666" y="1068"/>
                  <a:pt x="666" y="1068"/>
                  <a:pt x="666" y="1068"/>
                </a:cubicBezTo>
                <a:cubicBezTo>
                  <a:pt x="677" y="1071"/>
                  <a:pt x="677" y="1071"/>
                  <a:pt x="677" y="1071"/>
                </a:cubicBezTo>
                <a:cubicBezTo>
                  <a:pt x="684" y="1073"/>
                  <a:pt x="692" y="1076"/>
                  <a:pt x="699" y="1078"/>
                </a:cubicBezTo>
                <a:cubicBezTo>
                  <a:pt x="711" y="1082"/>
                  <a:pt x="722" y="1087"/>
                  <a:pt x="734" y="1092"/>
                </a:cubicBezTo>
                <a:cubicBezTo>
                  <a:pt x="725" y="1090"/>
                  <a:pt x="716" y="1088"/>
                  <a:pt x="708" y="1087"/>
                </a:cubicBezTo>
                <a:cubicBezTo>
                  <a:pt x="703" y="1087"/>
                  <a:pt x="699" y="1086"/>
                  <a:pt x="694" y="1085"/>
                </a:cubicBezTo>
                <a:cubicBezTo>
                  <a:pt x="680" y="1084"/>
                  <a:pt x="680" y="1084"/>
                  <a:pt x="680" y="1084"/>
                </a:cubicBezTo>
                <a:cubicBezTo>
                  <a:pt x="674" y="1084"/>
                  <a:pt x="674" y="1084"/>
                  <a:pt x="674" y="1084"/>
                </a:cubicBezTo>
                <a:cubicBezTo>
                  <a:pt x="667" y="1083"/>
                  <a:pt x="667" y="1083"/>
                  <a:pt x="667" y="1083"/>
                </a:cubicBezTo>
                <a:cubicBezTo>
                  <a:pt x="653" y="1083"/>
                  <a:pt x="653" y="1083"/>
                  <a:pt x="653" y="1083"/>
                </a:cubicBezTo>
                <a:cubicBezTo>
                  <a:pt x="649" y="1083"/>
                  <a:pt x="644" y="1083"/>
                  <a:pt x="639" y="1083"/>
                </a:cubicBezTo>
                <a:cubicBezTo>
                  <a:pt x="625" y="1083"/>
                  <a:pt x="625" y="1083"/>
                  <a:pt x="625" y="1083"/>
                </a:cubicBezTo>
                <a:cubicBezTo>
                  <a:pt x="623" y="1083"/>
                  <a:pt x="621" y="1083"/>
                  <a:pt x="618" y="1083"/>
                </a:cubicBezTo>
                <a:cubicBezTo>
                  <a:pt x="612" y="1084"/>
                  <a:pt x="612" y="1084"/>
                  <a:pt x="612" y="1084"/>
                </a:cubicBezTo>
                <a:cubicBezTo>
                  <a:pt x="599" y="1085"/>
                  <a:pt x="599" y="1085"/>
                  <a:pt x="599" y="1085"/>
                </a:cubicBezTo>
                <a:cubicBezTo>
                  <a:pt x="595" y="1085"/>
                  <a:pt x="595" y="1085"/>
                  <a:pt x="595" y="1085"/>
                </a:cubicBezTo>
                <a:cubicBezTo>
                  <a:pt x="592" y="1086"/>
                  <a:pt x="592" y="1086"/>
                  <a:pt x="592" y="1086"/>
                </a:cubicBezTo>
                <a:cubicBezTo>
                  <a:pt x="585" y="1087"/>
                  <a:pt x="585" y="1087"/>
                  <a:pt x="585" y="1087"/>
                </a:cubicBezTo>
                <a:cubicBezTo>
                  <a:pt x="572" y="1088"/>
                  <a:pt x="572" y="1088"/>
                  <a:pt x="572" y="1088"/>
                </a:cubicBezTo>
                <a:cubicBezTo>
                  <a:pt x="555" y="1091"/>
                  <a:pt x="537" y="1094"/>
                  <a:pt x="520" y="1097"/>
                </a:cubicBezTo>
                <a:cubicBezTo>
                  <a:pt x="512" y="1099"/>
                  <a:pt x="503" y="1101"/>
                  <a:pt x="495" y="1103"/>
                </a:cubicBezTo>
                <a:cubicBezTo>
                  <a:pt x="470" y="1108"/>
                  <a:pt x="470" y="1108"/>
                  <a:pt x="470" y="1108"/>
                </a:cubicBezTo>
                <a:cubicBezTo>
                  <a:pt x="420" y="1118"/>
                  <a:pt x="420" y="1118"/>
                  <a:pt x="420" y="1118"/>
                </a:cubicBezTo>
                <a:cubicBezTo>
                  <a:pt x="404" y="1121"/>
                  <a:pt x="387" y="1125"/>
                  <a:pt x="371" y="1127"/>
                </a:cubicBezTo>
                <a:cubicBezTo>
                  <a:pt x="354" y="1130"/>
                  <a:pt x="338" y="1132"/>
                  <a:pt x="321" y="1135"/>
                </a:cubicBezTo>
                <a:cubicBezTo>
                  <a:pt x="296" y="1137"/>
                  <a:pt x="296" y="1137"/>
                  <a:pt x="296" y="1137"/>
                </a:cubicBezTo>
                <a:cubicBezTo>
                  <a:pt x="284" y="1139"/>
                  <a:pt x="284" y="1139"/>
                  <a:pt x="284" y="1139"/>
                </a:cubicBezTo>
                <a:cubicBezTo>
                  <a:pt x="271" y="1140"/>
                  <a:pt x="271" y="1140"/>
                  <a:pt x="271" y="1140"/>
                </a:cubicBezTo>
                <a:cubicBezTo>
                  <a:pt x="246" y="1141"/>
                  <a:pt x="246" y="1141"/>
                  <a:pt x="246" y="1141"/>
                </a:cubicBezTo>
                <a:cubicBezTo>
                  <a:pt x="238" y="1142"/>
                  <a:pt x="230" y="1142"/>
                  <a:pt x="222" y="1142"/>
                </a:cubicBezTo>
                <a:cubicBezTo>
                  <a:pt x="205" y="1143"/>
                  <a:pt x="188" y="1142"/>
                  <a:pt x="172" y="1142"/>
                </a:cubicBezTo>
                <a:cubicBezTo>
                  <a:pt x="163" y="1142"/>
                  <a:pt x="155" y="1141"/>
                  <a:pt x="147" y="1140"/>
                </a:cubicBezTo>
                <a:cubicBezTo>
                  <a:pt x="122" y="1139"/>
                  <a:pt x="122" y="1139"/>
                  <a:pt x="122" y="1139"/>
                </a:cubicBezTo>
                <a:cubicBezTo>
                  <a:pt x="105" y="1137"/>
                  <a:pt x="88" y="1135"/>
                  <a:pt x="72" y="1133"/>
                </a:cubicBezTo>
                <a:cubicBezTo>
                  <a:pt x="36" y="1127"/>
                  <a:pt x="36" y="1127"/>
                  <a:pt x="36" y="1127"/>
                </a:cubicBezTo>
                <a:cubicBezTo>
                  <a:pt x="19" y="159"/>
                  <a:pt x="19" y="159"/>
                  <a:pt x="19" y="159"/>
                </a:cubicBezTo>
                <a:cubicBezTo>
                  <a:pt x="1" y="1142"/>
                  <a:pt x="1" y="1142"/>
                  <a:pt x="1" y="1142"/>
                </a:cubicBezTo>
                <a:cubicBezTo>
                  <a:pt x="0" y="1157"/>
                  <a:pt x="0" y="1157"/>
                  <a:pt x="0" y="1157"/>
                </a:cubicBezTo>
                <a:cubicBezTo>
                  <a:pt x="15" y="1160"/>
                  <a:pt x="15" y="1160"/>
                  <a:pt x="15" y="1160"/>
                </a:cubicBezTo>
                <a:cubicBezTo>
                  <a:pt x="66" y="1170"/>
                  <a:pt x="66" y="1170"/>
                  <a:pt x="66" y="1170"/>
                </a:cubicBezTo>
                <a:cubicBezTo>
                  <a:pt x="83" y="1173"/>
                  <a:pt x="100" y="1176"/>
                  <a:pt x="117" y="1178"/>
                </a:cubicBezTo>
                <a:cubicBezTo>
                  <a:pt x="143" y="1181"/>
                  <a:pt x="143" y="1181"/>
                  <a:pt x="143" y="1181"/>
                </a:cubicBezTo>
                <a:cubicBezTo>
                  <a:pt x="152" y="1181"/>
                  <a:pt x="161" y="1183"/>
                  <a:pt x="169" y="1183"/>
                </a:cubicBezTo>
                <a:cubicBezTo>
                  <a:pt x="187" y="1184"/>
                  <a:pt x="204" y="1185"/>
                  <a:pt x="222" y="1185"/>
                </a:cubicBezTo>
                <a:cubicBezTo>
                  <a:pt x="230" y="1185"/>
                  <a:pt x="239" y="1185"/>
                  <a:pt x="248" y="1185"/>
                </a:cubicBezTo>
                <a:cubicBezTo>
                  <a:pt x="274" y="1185"/>
                  <a:pt x="274" y="1185"/>
                  <a:pt x="274" y="1185"/>
                </a:cubicBezTo>
                <a:cubicBezTo>
                  <a:pt x="287" y="1184"/>
                  <a:pt x="287" y="1184"/>
                  <a:pt x="287" y="1184"/>
                </a:cubicBezTo>
                <a:cubicBezTo>
                  <a:pt x="300" y="1183"/>
                  <a:pt x="300" y="1183"/>
                  <a:pt x="300" y="1183"/>
                </a:cubicBezTo>
                <a:cubicBezTo>
                  <a:pt x="309" y="1183"/>
                  <a:pt x="317" y="1182"/>
                  <a:pt x="326" y="1181"/>
                </a:cubicBezTo>
                <a:cubicBezTo>
                  <a:pt x="343" y="1180"/>
                  <a:pt x="361" y="1178"/>
                  <a:pt x="378" y="1176"/>
                </a:cubicBezTo>
                <a:cubicBezTo>
                  <a:pt x="395" y="1173"/>
                  <a:pt x="412" y="1171"/>
                  <a:pt x="429" y="1168"/>
                </a:cubicBezTo>
                <a:cubicBezTo>
                  <a:pt x="480" y="1159"/>
                  <a:pt x="480" y="1159"/>
                  <a:pt x="480" y="1159"/>
                </a:cubicBezTo>
                <a:cubicBezTo>
                  <a:pt x="505" y="1155"/>
                  <a:pt x="505" y="1155"/>
                  <a:pt x="505" y="1155"/>
                </a:cubicBezTo>
                <a:cubicBezTo>
                  <a:pt x="513" y="1154"/>
                  <a:pt x="522" y="1152"/>
                  <a:pt x="530" y="1151"/>
                </a:cubicBezTo>
                <a:cubicBezTo>
                  <a:pt x="547" y="1148"/>
                  <a:pt x="563" y="1146"/>
                  <a:pt x="579" y="1144"/>
                </a:cubicBezTo>
                <a:cubicBezTo>
                  <a:pt x="591" y="1143"/>
                  <a:pt x="591" y="1143"/>
                  <a:pt x="591" y="1143"/>
                </a:cubicBezTo>
                <a:cubicBezTo>
                  <a:pt x="597" y="1142"/>
                  <a:pt x="597" y="1142"/>
                  <a:pt x="597" y="1142"/>
                </a:cubicBezTo>
                <a:cubicBezTo>
                  <a:pt x="600" y="1142"/>
                  <a:pt x="600" y="1142"/>
                  <a:pt x="600" y="1142"/>
                </a:cubicBezTo>
                <a:cubicBezTo>
                  <a:pt x="601" y="1142"/>
                  <a:pt x="601" y="1142"/>
                  <a:pt x="601" y="1142"/>
                </a:cubicBezTo>
                <a:cubicBezTo>
                  <a:pt x="603" y="1142"/>
                  <a:pt x="603" y="1142"/>
                  <a:pt x="603" y="1142"/>
                </a:cubicBezTo>
                <a:cubicBezTo>
                  <a:pt x="615" y="1141"/>
                  <a:pt x="615" y="1141"/>
                  <a:pt x="615" y="1141"/>
                </a:cubicBezTo>
                <a:cubicBezTo>
                  <a:pt x="622" y="1141"/>
                  <a:pt x="622" y="1141"/>
                  <a:pt x="622" y="1141"/>
                </a:cubicBezTo>
                <a:cubicBezTo>
                  <a:pt x="624" y="1141"/>
                  <a:pt x="626" y="1141"/>
                  <a:pt x="628" y="1141"/>
                </a:cubicBezTo>
                <a:cubicBezTo>
                  <a:pt x="640" y="1141"/>
                  <a:pt x="640" y="1141"/>
                  <a:pt x="640" y="1141"/>
                </a:cubicBezTo>
                <a:cubicBezTo>
                  <a:pt x="643" y="1141"/>
                  <a:pt x="647" y="1141"/>
                  <a:pt x="651" y="1142"/>
                </a:cubicBezTo>
                <a:cubicBezTo>
                  <a:pt x="663" y="1143"/>
                  <a:pt x="663" y="1143"/>
                  <a:pt x="663" y="1143"/>
                </a:cubicBezTo>
                <a:cubicBezTo>
                  <a:pt x="669" y="1143"/>
                  <a:pt x="669" y="1143"/>
                  <a:pt x="669" y="1143"/>
                </a:cubicBezTo>
                <a:cubicBezTo>
                  <a:pt x="675" y="1144"/>
                  <a:pt x="675" y="1144"/>
                  <a:pt x="675" y="1144"/>
                </a:cubicBezTo>
                <a:cubicBezTo>
                  <a:pt x="686" y="1145"/>
                  <a:pt x="686" y="1145"/>
                  <a:pt x="686" y="1145"/>
                </a:cubicBezTo>
                <a:cubicBezTo>
                  <a:pt x="690" y="1146"/>
                  <a:pt x="694" y="1147"/>
                  <a:pt x="698" y="1147"/>
                </a:cubicBezTo>
                <a:cubicBezTo>
                  <a:pt x="706" y="1148"/>
                  <a:pt x="714" y="1150"/>
                  <a:pt x="721" y="1152"/>
                </a:cubicBezTo>
                <a:cubicBezTo>
                  <a:pt x="736" y="1156"/>
                  <a:pt x="751" y="1161"/>
                  <a:pt x="766" y="1166"/>
                </a:cubicBezTo>
                <a:cubicBezTo>
                  <a:pt x="776" y="1171"/>
                  <a:pt x="776" y="1171"/>
                  <a:pt x="776" y="1171"/>
                </a:cubicBezTo>
                <a:cubicBezTo>
                  <a:pt x="780" y="1173"/>
                  <a:pt x="783" y="1174"/>
                  <a:pt x="786" y="1176"/>
                </a:cubicBezTo>
                <a:cubicBezTo>
                  <a:pt x="790" y="1178"/>
                  <a:pt x="793" y="1179"/>
                  <a:pt x="796" y="1181"/>
                </a:cubicBezTo>
                <a:cubicBezTo>
                  <a:pt x="798" y="1182"/>
                  <a:pt x="799" y="1183"/>
                  <a:pt x="801" y="1184"/>
                </a:cubicBezTo>
                <a:cubicBezTo>
                  <a:pt x="801" y="1184"/>
                  <a:pt x="802" y="1185"/>
                  <a:pt x="803" y="1185"/>
                </a:cubicBezTo>
                <a:cubicBezTo>
                  <a:pt x="804" y="1186"/>
                  <a:pt x="804" y="1186"/>
                  <a:pt x="804" y="1186"/>
                </a:cubicBezTo>
                <a:cubicBezTo>
                  <a:pt x="804" y="1186"/>
                  <a:pt x="804" y="1186"/>
                  <a:pt x="804" y="1186"/>
                </a:cubicBezTo>
                <a:cubicBezTo>
                  <a:pt x="804" y="1186"/>
                  <a:pt x="804" y="1186"/>
                  <a:pt x="804" y="1186"/>
                </a:cubicBezTo>
                <a:cubicBezTo>
                  <a:pt x="873" y="1186"/>
                  <a:pt x="873" y="1186"/>
                  <a:pt x="873" y="1186"/>
                </a:cubicBezTo>
                <a:cubicBezTo>
                  <a:pt x="873" y="1186"/>
                  <a:pt x="873" y="1186"/>
                  <a:pt x="873" y="1186"/>
                </a:cubicBezTo>
                <a:cubicBezTo>
                  <a:pt x="873" y="1186"/>
                  <a:pt x="873" y="1186"/>
                  <a:pt x="873" y="1186"/>
                </a:cubicBezTo>
                <a:cubicBezTo>
                  <a:pt x="874" y="1185"/>
                  <a:pt x="874" y="1185"/>
                  <a:pt x="874" y="1185"/>
                </a:cubicBezTo>
                <a:cubicBezTo>
                  <a:pt x="875" y="1185"/>
                  <a:pt x="876" y="1184"/>
                  <a:pt x="876" y="1184"/>
                </a:cubicBezTo>
                <a:cubicBezTo>
                  <a:pt x="878" y="1183"/>
                  <a:pt x="879" y="1182"/>
                  <a:pt x="881" y="1181"/>
                </a:cubicBezTo>
                <a:cubicBezTo>
                  <a:pt x="884" y="1179"/>
                  <a:pt x="887" y="1178"/>
                  <a:pt x="891" y="1176"/>
                </a:cubicBezTo>
                <a:cubicBezTo>
                  <a:pt x="894" y="1174"/>
                  <a:pt x="897" y="1173"/>
                  <a:pt x="901" y="1171"/>
                </a:cubicBezTo>
                <a:cubicBezTo>
                  <a:pt x="911" y="1166"/>
                  <a:pt x="911" y="1166"/>
                  <a:pt x="911" y="1166"/>
                </a:cubicBezTo>
                <a:cubicBezTo>
                  <a:pt x="926" y="1161"/>
                  <a:pt x="941" y="1156"/>
                  <a:pt x="956" y="1152"/>
                </a:cubicBezTo>
                <a:cubicBezTo>
                  <a:pt x="963" y="1150"/>
                  <a:pt x="971" y="1148"/>
                  <a:pt x="979" y="1147"/>
                </a:cubicBezTo>
                <a:cubicBezTo>
                  <a:pt x="983" y="1147"/>
                  <a:pt x="987" y="1146"/>
                  <a:pt x="991" y="1145"/>
                </a:cubicBezTo>
                <a:cubicBezTo>
                  <a:pt x="1002" y="1144"/>
                  <a:pt x="1002" y="1144"/>
                  <a:pt x="1002" y="1144"/>
                </a:cubicBezTo>
                <a:cubicBezTo>
                  <a:pt x="1008" y="1143"/>
                  <a:pt x="1008" y="1143"/>
                  <a:pt x="1008" y="1143"/>
                </a:cubicBezTo>
                <a:cubicBezTo>
                  <a:pt x="1014" y="1143"/>
                  <a:pt x="1014" y="1143"/>
                  <a:pt x="1014" y="1143"/>
                </a:cubicBezTo>
                <a:cubicBezTo>
                  <a:pt x="1026" y="1142"/>
                  <a:pt x="1026" y="1142"/>
                  <a:pt x="1026" y="1142"/>
                </a:cubicBezTo>
                <a:cubicBezTo>
                  <a:pt x="1030" y="1141"/>
                  <a:pt x="1034" y="1141"/>
                  <a:pt x="1038" y="1141"/>
                </a:cubicBezTo>
                <a:cubicBezTo>
                  <a:pt x="1049" y="1141"/>
                  <a:pt x="1049" y="1141"/>
                  <a:pt x="1049" y="1141"/>
                </a:cubicBezTo>
                <a:cubicBezTo>
                  <a:pt x="1051" y="1141"/>
                  <a:pt x="1053" y="1141"/>
                  <a:pt x="1055" y="1141"/>
                </a:cubicBezTo>
                <a:cubicBezTo>
                  <a:pt x="1062" y="1141"/>
                  <a:pt x="1062" y="1141"/>
                  <a:pt x="1062" y="1141"/>
                </a:cubicBezTo>
                <a:cubicBezTo>
                  <a:pt x="1074" y="1142"/>
                  <a:pt x="1074" y="1142"/>
                  <a:pt x="1074" y="1142"/>
                </a:cubicBezTo>
                <a:cubicBezTo>
                  <a:pt x="1076" y="1142"/>
                  <a:pt x="1076" y="1142"/>
                  <a:pt x="1076" y="1142"/>
                </a:cubicBezTo>
                <a:cubicBezTo>
                  <a:pt x="1077" y="1142"/>
                  <a:pt x="1077" y="1142"/>
                  <a:pt x="1077" y="1142"/>
                </a:cubicBezTo>
                <a:cubicBezTo>
                  <a:pt x="1077" y="1142"/>
                  <a:pt x="1077" y="1142"/>
                  <a:pt x="1077" y="1142"/>
                </a:cubicBezTo>
                <a:cubicBezTo>
                  <a:pt x="1080" y="1142"/>
                  <a:pt x="1080" y="1142"/>
                  <a:pt x="1080" y="1142"/>
                </a:cubicBezTo>
                <a:cubicBezTo>
                  <a:pt x="1086" y="1143"/>
                  <a:pt x="1086" y="1143"/>
                  <a:pt x="1086" y="1143"/>
                </a:cubicBezTo>
                <a:cubicBezTo>
                  <a:pt x="1098" y="1144"/>
                  <a:pt x="1098" y="1144"/>
                  <a:pt x="1098" y="1144"/>
                </a:cubicBezTo>
                <a:cubicBezTo>
                  <a:pt x="1114" y="1146"/>
                  <a:pt x="1131" y="1148"/>
                  <a:pt x="1147" y="1151"/>
                </a:cubicBezTo>
                <a:cubicBezTo>
                  <a:pt x="1155" y="1152"/>
                  <a:pt x="1164" y="1154"/>
                  <a:pt x="1172" y="1155"/>
                </a:cubicBezTo>
                <a:cubicBezTo>
                  <a:pt x="1197" y="1159"/>
                  <a:pt x="1197" y="1159"/>
                  <a:pt x="1197" y="1159"/>
                </a:cubicBezTo>
                <a:cubicBezTo>
                  <a:pt x="1248" y="1168"/>
                  <a:pt x="1248" y="1168"/>
                  <a:pt x="1248" y="1168"/>
                </a:cubicBezTo>
                <a:cubicBezTo>
                  <a:pt x="1265" y="1171"/>
                  <a:pt x="1282" y="1173"/>
                  <a:pt x="1299" y="1176"/>
                </a:cubicBezTo>
                <a:cubicBezTo>
                  <a:pt x="1316" y="1178"/>
                  <a:pt x="1334" y="1180"/>
                  <a:pt x="1351" y="1181"/>
                </a:cubicBezTo>
                <a:cubicBezTo>
                  <a:pt x="1360" y="1182"/>
                  <a:pt x="1368" y="1183"/>
                  <a:pt x="1377" y="1183"/>
                </a:cubicBezTo>
                <a:cubicBezTo>
                  <a:pt x="1390" y="1184"/>
                  <a:pt x="1390" y="1184"/>
                  <a:pt x="1390" y="1184"/>
                </a:cubicBezTo>
                <a:cubicBezTo>
                  <a:pt x="1403" y="1185"/>
                  <a:pt x="1403" y="1185"/>
                  <a:pt x="1403" y="1185"/>
                </a:cubicBezTo>
                <a:cubicBezTo>
                  <a:pt x="1429" y="1185"/>
                  <a:pt x="1429" y="1185"/>
                  <a:pt x="1429" y="1185"/>
                </a:cubicBezTo>
                <a:cubicBezTo>
                  <a:pt x="1438" y="1185"/>
                  <a:pt x="1447" y="1185"/>
                  <a:pt x="1455" y="1185"/>
                </a:cubicBezTo>
                <a:cubicBezTo>
                  <a:pt x="1473" y="1185"/>
                  <a:pt x="1490" y="1184"/>
                  <a:pt x="1508" y="1183"/>
                </a:cubicBezTo>
                <a:cubicBezTo>
                  <a:pt x="1516" y="1183"/>
                  <a:pt x="1525" y="1181"/>
                  <a:pt x="1534" y="1181"/>
                </a:cubicBezTo>
                <a:cubicBezTo>
                  <a:pt x="1560" y="1178"/>
                  <a:pt x="1560" y="1178"/>
                  <a:pt x="1560" y="1178"/>
                </a:cubicBezTo>
                <a:cubicBezTo>
                  <a:pt x="1577" y="1176"/>
                  <a:pt x="1594" y="1173"/>
                  <a:pt x="1611" y="1170"/>
                </a:cubicBezTo>
                <a:cubicBezTo>
                  <a:pt x="1662" y="1160"/>
                  <a:pt x="1662" y="1160"/>
                  <a:pt x="1662" y="1160"/>
                </a:cubicBezTo>
                <a:cubicBezTo>
                  <a:pt x="1677" y="1157"/>
                  <a:pt x="1677" y="1157"/>
                  <a:pt x="1677" y="1157"/>
                </a:cubicBezTo>
                <a:lnTo>
                  <a:pt x="1676" y="114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prstClr val="black"/>
              </a:solidFill>
              <a:effectLst/>
              <a:uLnTx/>
              <a:uFillTx/>
              <a:latin typeface="等线" panose="020F0502020204030204"/>
              <a:ea typeface="等线" panose="02010600030101010101" pitchFamily="2" charset="-122"/>
              <a:cs typeface="+mn-cs"/>
            </a:endParaRPr>
          </a:p>
        </p:txBody>
      </p:sp>
      <p:sp>
        <p:nvSpPr>
          <p:cNvPr id="39" name="椭圆 38">
            <a:extLst>
              <a:ext uri="{FF2B5EF4-FFF2-40B4-BE49-F238E27FC236}">
                <a16:creationId xmlns:a16="http://schemas.microsoft.com/office/drawing/2014/main" id="{81FC8C60-9C12-4E6C-BD97-DDF7F923FAAE}"/>
              </a:ext>
            </a:extLst>
          </p:cNvPr>
          <p:cNvSpPr/>
          <p:nvPr/>
        </p:nvSpPr>
        <p:spPr>
          <a:xfrm>
            <a:off x="1407097" y="3429001"/>
            <a:ext cx="878905" cy="87890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41" name="文本框 40">
            <a:extLst>
              <a:ext uri="{FF2B5EF4-FFF2-40B4-BE49-F238E27FC236}">
                <a16:creationId xmlns:a16="http://schemas.microsoft.com/office/drawing/2014/main" id="{9059FA0A-51B5-48CA-AB6C-4F6B4222BEFC}"/>
              </a:ext>
            </a:extLst>
          </p:cNvPr>
          <p:cNvSpPr txBox="1"/>
          <p:nvPr/>
        </p:nvSpPr>
        <p:spPr>
          <a:xfrm>
            <a:off x="1572196" y="3467101"/>
            <a:ext cx="510605" cy="830997"/>
          </a:xfrm>
          <a:prstGeom prst="rect">
            <a:avLst/>
          </a:prstGeom>
          <a:noFill/>
        </p:spPr>
        <p:txBody>
          <a:bodyPr wrap="square" rtlCol="0">
            <a:spAutoFit/>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altLang="zh-CN" sz="4800" noProof="0" dirty="0">
                <a:solidFill>
                  <a:srgbClr val="7F2C8B"/>
                </a:solidFill>
                <a:latin typeface="思源宋体 CN Heavy" panose="02020900000000000000" pitchFamily="18" charset="-122"/>
                <a:ea typeface="思源宋体 CN Heavy" panose="02020900000000000000" pitchFamily="18" charset="-122"/>
              </a:rPr>
              <a:t>4</a:t>
            </a:r>
            <a:endParaRPr kumimoji="0" lang="zh-CN" altLang="en-US" sz="4800" b="0" i="0" u="none" strike="noStrike" kern="1200" cap="none" spc="0" normalizeH="0" baseline="0" noProof="0" dirty="0">
              <a:ln>
                <a:noFill/>
              </a:ln>
              <a:solidFill>
                <a:srgbClr val="7F2C8B"/>
              </a:solidFill>
              <a:effectLst/>
              <a:uLnTx/>
              <a:uFillTx/>
              <a:latin typeface="思源宋体 CN Heavy" panose="02020900000000000000" pitchFamily="18" charset="-122"/>
              <a:ea typeface="思源宋体 CN Heavy" panose="02020900000000000000" pitchFamily="18" charset="-122"/>
              <a:cs typeface="+mn-cs"/>
            </a:endParaRPr>
          </a:p>
        </p:txBody>
      </p:sp>
      <p:sp>
        <p:nvSpPr>
          <p:cNvPr id="3" name="文本框 2"/>
          <p:cNvSpPr txBox="1"/>
          <p:nvPr/>
        </p:nvSpPr>
        <p:spPr>
          <a:xfrm>
            <a:off x="1231271" y="4454305"/>
            <a:ext cx="4508626" cy="646331"/>
          </a:xfrm>
          <a:prstGeom prst="rect">
            <a:avLst/>
          </a:prstGeom>
          <a:noFill/>
        </p:spPr>
        <p:txBody>
          <a:bodyPr wrap="square" rtlCol="0">
            <a:spAutoFit/>
          </a:bodyPr>
          <a:lstStyle/>
          <a:p>
            <a:r>
              <a:rPr lang="zh-CN" altLang="en-US" dirty="0">
                <a:solidFill>
                  <a:schemeClr val="bg1"/>
                </a:solidFill>
              </a:rPr>
              <a:t>参考文献</a:t>
            </a:r>
            <a:endParaRPr lang="en-US" altLang="zh-CN" dirty="0">
              <a:solidFill>
                <a:schemeClr val="bg1"/>
              </a:solidFill>
            </a:endParaRPr>
          </a:p>
          <a:p>
            <a:endParaRPr lang="zh-CN" altLang="en-US" dirty="0"/>
          </a:p>
        </p:txBody>
      </p:sp>
      <p:sp>
        <p:nvSpPr>
          <p:cNvPr id="2" name="文本框 1"/>
          <p:cNvSpPr txBox="1"/>
          <p:nvPr/>
        </p:nvSpPr>
        <p:spPr>
          <a:xfrm rot="20346418">
            <a:off x="7649634" y="620505"/>
            <a:ext cx="2985124" cy="369332"/>
          </a:xfrm>
          <a:prstGeom prst="rect">
            <a:avLst/>
          </a:prstGeom>
          <a:noFill/>
        </p:spPr>
        <p:txBody>
          <a:bodyPr wrap="square" rtlCol="0">
            <a:spAutoFit/>
          </a:bodyPr>
          <a:lstStyle/>
          <a:p>
            <a:r>
              <a:rPr lang="zh-CN" altLang="en-US" dirty="0">
                <a:solidFill>
                  <a:schemeClr val="bg1"/>
                </a:solidFill>
              </a:rPr>
              <a:t>站在巨人的肩膀上</a:t>
            </a:r>
          </a:p>
        </p:txBody>
      </p:sp>
      <p:sp>
        <p:nvSpPr>
          <p:cNvPr id="4" name="文本框 3"/>
          <p:cNvSpPr txBox="1"/>
          <p:nvPr/>
        </p:nvSpPr>
        <p:spPr>
          <a:xfrm rot="20326829">
            <a:off x="8070396" y="1404449"/>
            <a:ext cx="2996988" cy="1477328"/>
          </a:xfrm>
          <a:prstGeom prst="rect">
            <a:avLst/>
          </a:prstGeom>
          <a:noFill/>
        </p:spPr>
        <p:txBody>
          <a:bodyPr wrap="square" rtlCol="0">
            <a:spAutoFit/>
          </a:bodyPr>
          <a:lstStyle/>
          <a:p>
            <a:r>
              <a:rPr lang="en-US" altLang="zh-CN" dirty="0">
                <a:solidFill>
                  <a:schemeClr val="bg1"/>
                </a:solidFill>
              </a:rPr>
              <a:t>"If I have seen further it is by standing on the shoulders of Giants.“</a:t>
            </a:r>
          </a:p>
          <a:p>
            <a:endParaRPr lang="en-US" altLang="zh-CN" dirty="0">
              <a:solidFill>
                <a:schemeClr val="bg1"/>
              </a:solidFill>
            </a:endParaRPr>
          </a:p>
          <a:p>
            <a:r>
              <a:rPr lang="en-US" altLang="zh-CN" dirty="0">
                <a:solidFill>
                  <a:schemeClr val="bg1"/>
                </a:solidFill>
              </a:rPr>
              <a:t> by Isaac Newton in 1675</a:t>
            </a:r>
            <a:endParaRPr lang="zh-CN" altLang="en-US" dirty="0">
              <a:solidFill>
                <a:schemeClr val="bg1"/>
              </a:solidFill>
            </a:endParaRPr>
          </a:p>
        </p:txBody>
      </p:sp>
    </p:spTree>
    <p:extLst>
      <p:ext uri="{BB962C8B-B14F-4D97-AF65-F5344CB8AC3E}">
        <p14:creationId xmlns:p14="http://schemas.microsoft.com/office/powerpoint/2010/main" val="3318984796"/>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952E7725-3096-4969-8619-BFD45072AD94}"/>
              </a:ext>
            </a:extLst>
          </p:cNvPr>
          <p:cNvSpPr txBox="1"/>
          <p:nvPr/>
        </p:nvSpPr>
        <p:spPr>
          <a:xfrm>
            <a:off x="645334" y="350667"/>
            <a:ext cx="1378775" cy="400110"/>
          </a:xfrm>
          <a:prstGeom prst="rect">
            <a:avLst/>
          </a:prstGeom>
          <a:solidFill>
            <a:srgbClr val="7F2C8B"/>
          </a:solidFill>
        </p:spPr>
        <p:txBody>
          <a:bodyPr wrap="square" rtlCol="0">
            <a:spAutoFit/>
          </a:bodyPr>
          <a:lstStyle/>
          <a:p>
            <a:pPr lvl="0" defTabSz="914377">
              <a:defRPr/>
            </a:pPr>
            <a:r>
              <a:rPr lang="zh-CN" altLang="en-US" sz="2000" dirty="0">
                <a:solidFill>
                  <a:schemeClr val="bg1"/>
                </a:solidFill>
                <a:latin typeface="微软雅黑 Light" panose="020B0502040204020203" pitchFamily="34" charset="-122"/>
                <a:ea typeface="微软雅黑 Light" panose="020B0502040204020203" pitchFamily="34" charset="-122"/>
              </a:rPr>
              <a:t>参考文献</a:t>
            </a:r>
          </a:p>
        </p:txBody>
      </p:sp>
      <p:grpSp>
        <p:nvGrpSpPr>
          <p:cNvPr id="22" name="组合 21">
            <a:extLst>
              <a:ext uri="{FF2B5EF4-FFF2-40B4-BE49-F238E27FC236}">
                <a16:creationId xmlns:a16="http://schemas.microsoft.com/office/drawing/2014/main" id="{DFC37A35-D357-4CEE-9C28-5EABD3D35C6B}"/>
              </a:ext>
            </a:extLst>
          </p:cNvPr>
          <p:cNvGrpSpPr/>
          <p:nvPr/>
        </p:nvGrpSpPr>
        <p:grpSpPr>
          <a:xfrm>
            <a:off x="10735556" y="314266"/>
            <a:ext cx="1180589" cy="400111"/>
            <a:chOff x="624303" y="901700"/>
            <a:chExt cx="10005598" cy="3390977"/>
          </a:xfrm>
          <a:solidFill>
            <a:srgbClr val="7F2C8B"/>
          </a:solidFill>
        </p:grpSpPr>
        <p:sp>
          <p:nvSpPr>
            <p:cNvPr id="23" name="Freeform 5">
              <a:extLst>
                <a:ext uri="{FF2B5EF4-FFF2-40B4-BE49-F238E27FC236}">
                  <a16:creationId xmlns:a16="http://schemas.microsoft.com/office/drawing/2014/main" id="{0ACD2635-3EA4-461E-AE91-2E7358FA9FA0}"/>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4" name="Freeform 6">
              <a:extLst>
                <a:ext uri="{FF2B5EF4-FFF2-40B4-BE49-F238E27FC236}">
                  <a16:creationId xmlns:a16="http://schemas.microsoft.com/office/drawing/2014/main" id="{70354051-F1E2-4393-ABA2-AEB53FF0D08B}"/>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5" name="Freeform 7">
              <a:extLst>
                <a:ext uri="{FF2B5EF4-FFF2-40B4-BE49-F238E27FC236}">
                  <a16:creationId xmlns:a16="http://schemas.microsoft.com/office/drawing/2014/main" id="{5FFB1BFD-2D76-4EE4-9741-31F528BE757A}"/>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6" name="Freeform 8">
              <a:extLst>
                <a:ext uri="{FF2B5EF4-FFF2-40B4-BE49-F238E27FC236}">
                  <a16:creationId xmlns:a16="http://schemas.microsoft.com/office/drawing/2014/main" id="{1EFFAA81-03B5-4C66-939C-6BBDC7932C18}"/>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7" name="Freeform 9">
              <a:extLst>
                <a:ext uri="{FF2B5EF4-FFF2-40B4-BE49-F238E27FC236}">
                  <a16:creationId xmlns:a16="http://schemas.microsoft.com/office/drawing/2014/main" id="{35B0FA74-D77A-4B32-A41D-5E20B596D219}"/>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8" name="Freeform 10">
              <a:extLst>
                <a:ext uri="{FF2B5EF4-FFF2-40B4-BE49-F238E27FC236}">
                  <a16:creationId xmlns:a16="http://schemas.microsoft.com/office/drawing/2014/main" id="{F5FC7059-5FB3-4ADB-BA26-84EF705B3174}"/>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9" name="Freeform 11">
              <a:extLst>
                <a:ext uri="{FF2B5EF4-FFF2-40B4-BE49-F238E27FC236}">
                  <a16:creationId xmlns:a16="http://schemas.microsoft.com/office/drawing/2014/main" id="{937241A3-85EE-47AC-8B4A-B01E8B1B0812}"/>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0" name="Freeform 12">
              <a:extLst>
                <a:ext uri="{FF2B5EF4-FFF2-40B4-BE49-F238E27FC236}">
                  <a16:creationId xmlns:a16="http://schemas.microsoft.com/office/drawing/2014/main" id="{99EA3DC5-4FB4-48DC-9AA6-2E2F76C34725}"/>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1" name="Freeform 13">
              <a:extLst>
                <a:ext uri="{FF2B5EF4-FFF2-40B4-BE49-F238E27FC236}">
                  <a16:creationId xmlns:a16="http://schemas.microsoft.com/office/drawing/2014/main" id="{F7187B32-A15A-480D-849D-33EF28B75687}"/>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2" name="Freeform 14">
              <a:extLst>
                <a:ext uri="{FF2B5EF4-FFF2-40B4-BE49-F238E27FC236}">
                  <a16:creationId xmlns:a16="http://schemas.microsoft.com/office/drawing/2014/main" id="{AA5721AD-3E61-4D99-A2D8-A261E897EBAC}"/>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3" name="Freeform 15">
              <a:extLst>
                <a:ext uri="{FF2B5EF4-FFF2-40B4-BE49-F238E27FC236}">
                  <a16:creationId xmlns:a16="http://schemas.microsoft.com/office/drawing/2014/main" id="{EF703E7A-053E-4111-945E-2E43B9CC9ECE}"/>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4" name="Freeform 16">
              <a:extLst>
                <a:ext uri="{FF2B5EF4-FFF2-40B4-BE49-F238E27FC236}">
                  <a16:creationId xmlns:a16="http://schemas.microsoft.com/office/drawing/2014/main" id="{01BF6BE1-5CCD-4A5F-8AFA-EF1359F1D3F2}"/>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5" name="Freeform 17">
              <a:extLst>
                <a:ext uri="{FF2B5EF4-FFF2-40B4-BE49-F238E27FC236}">
                  <a16:creationId xmlns:a16="http://schemas.microsoft.com/office/drawing/2014/main" id="{295417E9-A0A1-4465-9436-76253B18BAD3}"/>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18">
              <a:extLst>
                <a:ext uri="{FF2B5EF4-FFF2-40B4-BE49-F238E27FC236}">
                  <a16:creationId xmlns:a16="http://schemas.microsoft.com/office/drawing/2014/main" id="{009C6FB2-A1BB-4F44-87AF-D874D67D737B}"/>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19">
              <a:extLst>
                <a:ext uri="{FF2B5EF4-FFF2-40B4-BE49-F238E27FC236}">
                  <a16:creationId xmlns:a16="http://schemas.microsoft.com/office/drawing/2014/main" id="{65203D5E-987A-4E4E-B0C9-FAC54EDFF054}"/>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20">
              <a:extLst>
                <a:ext uri="{FF2B5EF4-FFF2-40B4-BE49-F238E27FC236}">
                  <a16:creationId xmlns:a16="http://schemas.microsoft.com/office/drawing/2014/main" id="{F0367FE4-2904-433D-8E0F-42933CAA638D}"/>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21">
              <a:extLst>
                <a:ext uri="{FF2B5EF4-FFF2-40B4-BE49-F238E27FC236}">
                  <a16:creationId xmlns:a16="http://schemas.microsoft.com/office/drawing/2014/main" id="{7A0A948A-A7D6-4278-97BF-F101BFD0B366}"/>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22">
              <a:extLst>
                <a:ext uri="{FF2B5EF4-FFF2-40B4-BE49-F238E27FC236}">
                  <a16:creationId xmlns:a16="http://schemas.microsoft.com/office/drawing/2014/main" id="{DC614584-067F-48D2-931A-6CE53105F005}"/>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23">
              <a:extLst>
                <a:ext uri="{FF2B5EF4-FFF2-40B4-BE49-F238E27FC236}">
                  <a16:creationId xmlns:a16="http://schemas.microsoft.com/office/drawing/2014/main" id="{244320B8-5691-4A92-B2D2-5BCE1D98EA00}"/>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24">
              <a:extLst>
                <a:ext uri="{FF2B5EF4-FFF2-40B4-BE49-F238E27FC236}">
                  <a16:creationId xmlns:a16="http://schemas.microsoft.com/office/drawing/2014/main" id="{EF78F9E3-1F79-4E42-AAC8-E4DB818FEE8B}"/>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p:sp>
        <p:nvSpPr>
          <p:cNvPr id="2" name="文本框 1"/>
          <p:cNvSpPr txBox="1"/>
          <p:nvPr/>
        </p:nvSpPr>
        <p:spPr>
          <a:xfrm>
            <a:off x="534498" y="923636"/>
            <a:ext cx="5820120" cy="5624946"/>
          </a:xfrm>
          <a:prstGeom prst="rect">
            <a:avLst/>
          </a:prstGeom>
          <a:noFill/>
        </p:spPr>
        <p:txBody>
          <a:bodyPr wrap="square" rtlCol="0">
            <a:spAutoFit/>
          </a:bodyPr>
          <a:lstStyle/>
          <a:p>
            <a:endParaRPr lang="zh-CN" altLang="en-US" dirty="0"/>
          </a:p>
        </p:txBody>
      </p:sp>
      <p:sp>
        <p:nvSpPr>
          <p:cNvPr id="3" name="文本框 2"/>
          <p:cNvSpPr txBox="1"/>
          <p:nvPr/>
        </p:nvSpPr>
        <p:spPr>
          <a:xfrm>
            <a:off x="645334" y="923577"/>
            <a:ext cx="11265004" cy="5078313"/>
          </a:xfrm>
          <a:prstGeom prst="rect">
            <a:avLst/>
          </a:prstGeom>
          <a:noFill/>
        </p:spPr>
        <p:txBody>
          <a:bodyPr wrap="square" rtlCol="0">
            <a:spAutoFit/>
          </a:bodyPr>
          <a:lstStyle/>
          <a:p>
            <a:r>
              <a:rPr lang="en-US" altLang="zh-CN" dirty="0">
                <a:solidFill>
                  <a:srgbClr val="7030A0"/>
                </a:solidFill>
              </a:rPr>
              <a:t>※</a:t>
            </a:r>
            <a:r>
              <a:rPr lang="en-US" altLang="zh-CN" i="1" dirty="0"/>
              <a:t>Long, </a:t>
            </a:r>
            <a:r>
              <a:rPr lang="en-US" altLang="zh-CN" i="1" dirty="0" err="1"/>
              <a:t>Zhiming</a:t>
            </a:r>
            <a:r>
              <a:rPr lang="en-US" altLang="zh-CN" i="1" dirty="0"/>
              <a:t>, and </a:t>
            </a:r>
            <a:r>
              <a:rPr lang="en-US" altLang="zh-CN" i="1" dirty="0" err="1"/>
              <a:t>Rémy</a:t>
            </a:r>
            <a:r>
              <a:rPr lang="en-US" altLang="zh-CN" i="1" dirty="0"/>
              <a:t> Herrera. "Building original series of physical capital stocks for China's economy methodological problems, proposals for solutions and a new database." China Economic Review 40 (2016): 33-53.</a:t>
            </a:r>
          </a:p>
          <a:p>
            <a:endParaRPr lang="en-US" altLang="zh-CN" i="1" dirty="0">
              <a:solidFill>
                <a:srgbClr val="353535"/>
              </a:solidFill>
            </a:endParaRPr>
          </a:p>
          <a:p>
            <a:r>
              <a:rPr lang="en-US" altLang="zh-CN" dirty="0">
                <a:solidFill>
                  <a:srgbClr val="7030A0"/>
                </a:solidFill>
              </a:rPr>
              <a:t>※ </a:t>
            </a:r>
            <a:r>
              <a:rPr lang="en-US" altLang="zh-CN" dirty="0"/>
              <a:t>Long, </a:t>
            </a:r>
            <a:r>
              <a:rPr lang="en-US" altLang="zh-CN" dirty="0" err="1"/>
              <a:t>Zhiming</a:t>
            </a:r>
            <a:r>
              <a:rPr lang="en-US" altLang="zh-CN" dirty="0"/>
              <a:t>, and </a:t>
            </a:r>
            <a:r>
              <a:rPr lang="en-US" altLang="zh-CN" dirty="0" err="1"/>
              <a:t>Rémy</a:t>
            </a:r>
            <a:r>
              <a:rPr lang="en-US" altLang="zh-CN" dirty="0"/>
              <a:t> Herrera. "Capital in the twenty-first century in China: Do Piketty's Laws work in the Chinese case?." </a:t>
            </a:r>
            <a:r>
              <a:rPr lang="en-US" altLang="zh-CN" i="1" dirty="0"/>
              <a:t>China Economic Review</a:t>
            </a:r>
            <a:r>
              <a:rPr lang="en-US" altLang="zh-CN" dirty="0"/>
              <a:t> 50 (2018): 153-174.</a:t>
            </a:r>
          </a:p>
          <a:p>
            <a:endParaRPr lang="en-US" altLang="zh-CN" dirty="0"/>
          </a:p>
          <a:p>
            <a:r>
              <a:rPr lang="en-US" altLang="zh-CN" dirty="0">
                <a:solidFill>
                  <a:srgbClr val="7030A0"/>
                </a:solidFill>
              </a:rPr>
              <a:t>※</a:t>
            </a:r>
            <a:r>
              <a:rPr lang="zh-CN" altLang="en-US" dirty="0"/>
              <a:t>胡锦涛</a:t>
            </a:r>
            <a:r>
              <a:rPr lang="en-US" altLang="zh-CN" dirty="0"/>
              <a:t>. </a:t>
            </a:r>
            <a:r>
              <a:rPr lang="zh-CN" altLang="en-US" dirty="0"/>
              <a:t>十八大政治报告</a:t>
            </a:r>
            <a:r>
              <a:rPr lang="en-US" altLang="zh-CN" dirty="0"/>
              <a:t>[J]. </a:t>
            </a:r>
            <a:r>
              <a:rPr lang="zh-CN" altLang="en-US" dirty="0"/>
              <a:t>人民日报</a:t>
            </a:r>
            <a:r>
              <a:rPr lang="en-US" altLang="zh-CN" dirty="0"/>
              <a:t>, 2012: 11-O9.</a:t>
            </a:r>
          </a:p>
          <a:p>
            <a:endParaRPr lang="en-US" altLang="zh-CN" dirty="0"/>
          </a:p>
          <a:p>
            <a:r>
              <a:rPr lang="en-US" altLang="zh-CN" dirty="0">
                <a:solidFill>
                  <a:srgbClr val="7030A0"/>
                </a:solidFill>
              </a:rPr>
              <a:t>※</a:t>
            </a:r>
            <a:r>
              <a:rPr lang="zh-CN" altLang="en-US" dirty="0"/>
              <a:t>习近平</a:t>
            </a:r>
            <a:r>
              <a:rPr lang="en-US" altLang="zh-CN" dirty="0"/>
              <a:t>. </a:t>
            </a:r>
            <a:r>
              <a:rPr lang="zh-CN" altLang="en-US" dirty="0"/>
              <a:t>决胜全面建成小康社会 夺取新时代中国特色社会主义伟大胜利</a:t>
            </a:r>
            <a:r>
              <a:rPr lang="en-US" altLang="zh-CN" dirty="0"/>
              <a:t>[N]. </a:t>
            </a:r>
            <a:r>
              <a:rPr lang="zh-CN" altLang="en-US" dirty="0"/>
              <a:t>人民日报</a:t>
            </a:r>
            <a:r>
              <a:rPr lang="en-US" altLang="zh-CN" dirty="0"/>
              <a:t>,2017-10-28(001).</a:t>
            </a:r>
          </a:p>
          <a:p>
            <a:endParaRPr lang="en-US" altLang="zh-CN" i="1" dirty="0">
              <a:solidFill>
                <a:srgbClr val="353535"/>
              </a:solidFill>
            </a:endParaRPr>
          </a:p>
          <a:p>
            <a:r>
              <a:rPr lang="en-US" altLang="zh-CN" dirty="0">
                <a:solidFill>
                  <a:srgbClr val="7030A0"/>
                </a:solidFill>
              </a:rPr>
              <a:t>※ </a:t>
            </a:r>
            <a:r>
              <a:rPr lang="en-US" altLang="zh-CN" dirty="0"/>
              <a:t>《</a:t>
            </a:r>
            <a:r>
              <a:rPr lang="zh-CN" altLang="en-US" dirty="0"/>
              <a:t>共产党宣言</a:t>
            </a:r>
            <a:r>
              <a:rPr lang="en-US" altLang="zh-CN" dirty="0"/>
              <a:t>》</a:t>
            </a:r>
            <a:endParaRPr lang="en-US" altLang="zh-CN" i="1" dirty="0">
              <a:solidFill>
                <a:srgbClr val="353535"/>
              </a:solidFill>
            </a:endParaRPr>
          </a:p>
          <a:p>
            <a:endParaRPr lang="en-US" altLang="zh-CN" dirty="0"/>
          </a:p>
          <a:p>
            <a:r>
              <a:rPr lang="en-US" altLang="zh-CN" dirty="0">
                <a:solidFill>
                  <a:srgbClr val="7030A0"/>
                </a:solidFill>
              </a:rPr>
              <a:t>※ </a:t>
            </a:r>
            <a:r>
              <a:rPr lang="en-US" altLang="zh-CN" dirty="0"/>
              <a:t>《</a:t>
            </a:r>
            <a:r>
              <a:rPr lang="zh-CN" altLang="en-US" dirty="0"/>
              <a:t>哥达纲领批判</a:t>
            </a:r>
            <a:r>
              <a:rPr lang="en-US" altLang="zh-CN" dirty="0"/>
              <a:t>》</a:t>
            </a:r>
          </a:p>
          <a:p>
            <a:endParaRPr lang="en-US" altLang="zh-CN" dirty="0"/>
          </a:p>
          <a:p>
            <a:r>
              <a:rPr lang="en-US" altLang="zh-CN" dirty="0">
                <a:solidFill>
                  <a:srgbClr val="7030A0"/>
                </a:solidFill>
              </a:rPr>
              <a:t>※ </a:t>
            </a:r>
            <a:r>
              <a:rPr lang="en-US" altLang="zh-CN" dirty="0"/>
              <a:t>《</a:t>
            </a:r>
            <a:r>
              <a:rPr lang="zh-CN" altLang="en-US" dirty="0"/>
              <a:t>资本论</a:t>
            </a:r>
            <a:r>
              <a:rPr lang="en-US" altLang="zh-CN" dirty="0"/>
              <a:t>》</a:t>
            </a:r>
            <a:r>
              <a:rPr lang="zh-CN" altLang="en-US" dirty="0"/>
              <a:t>第一卷相关章节，第三卷相关章节</a:t>
            </a:r>
            <a:endParaRPr lang="en-US" altLang="zh-CN" dirty="0"/>
          </a:p>
          <a:p>
            <a:endParaRPr lang="en-US" altLang="zh-CN" dirty="0"/>
          </a:p>
          <a:p>
            <a:r>
              <a:rPr lang="en-US" altLang="zh-CN" dirty="0">
                <a:solidFill>
                  <a:srgbClr val="7030A0"/>
                </a:solidFill>
              </a:rPr>
              <a:t>※ </a:t>
            </a:r>
            <a:r>
              <a:rPr lang="en-US" altLang="zh-CN" dirty="0"/>
              <a:t>《</a:t>
            </a:r>
            <a:r>
              <a:rPr lang="zh-CN" altLang="en-US" dirty="0"/>
              <a:t>反杜林论</a:t>
            </a:r>
            <a:r>
              <a:rPr lang="en-US" altLang="zh-CN" dirty="0"/>
              <a:t>》</a:t>
            </a:r>
          </a:p>
        </p:txBody>
      </p:sp>
    </p:spTree>
    <p:extLst>
      <p:ext uri="{BB962C8B-B14F-4D97-AF65-F5344CB8AC3E}">
        <p14:creationId xmlns:p14="http://schemas.microsoft.com/office/powerpoint/2010/main" val="50256200"/>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bg>
      <p:bgPr>
        <a:solidFill>
          <a:srgbClr val="7F2C8B"/>
        </a:solidFill>
        <a:effectLst/>
      </p:bgPr>
    </p:bg>
    <p:spTree>
      <p:nvGrpSpPr>
        <p:cNvPr id="1" name=""/>
        <p:cNvGrpSpPr/>
        <p:nvPr/>
      </p:nvGrpSpPr>
      <p:grpSpPr>
        <a:xfrm>
          <a:off x="0" y="0"/>
          <a:ext cx="0" cy="0"/>
          <a:chOff x="0" y="0"/>
          <a:chExt cx="0" cy="0"/>
        </a:xfrm>
      </p:grpSpPr>
      <p:sp>
        <p:nvSpPr>
          <p:cNvPr id="6" name="五边形 5">
            <a:extLst>
              <a:ext uri="{FF2B5EF4-FFF2-40B4-BE49-F238E27FC236}">
                <a16:creationId xmlns:a16="http://schemas.microsoft.com/office/drawing/2014/main" id="{C1D47CEC-DBE9-4FEE-8BFB-0BB8C017CB01}"/>
              </a:ext>
            </a:extLst>
          </p:cNvPr>
          <p:cNvSpPr/>
          <p:nvPr/>
        </p:nvSpPr>
        <p:spPr>
          <a:xfrm>
            <a:off x="-15870" y="5314526"/>
            <a:ext cx="12212891" cy="1591957"/>
          </a:xfrm>
          <a:custGeom>
            <a:avLst/>
            <a:gdLst>
              <a:gd name="connsiteX0" fmla="*/ 4 w 3514725"/>
              <a:gd name="connsiteY0" fmla="*/ 462054 h 1209675"/>
              <a:gd name="connsiteX1" fmla="*/ 1757363 w 3514725"/>
              <a:gd name="connsiteY1" fmla="*/ 0 h 1209675"/>
              <a:gd name="connsiteX2" fmla="*/ 3514721 w 3514725"/>
              <a:gd name="connsiteY2" fmla="*/ 462054 h 1209675"/>
              <a:gd name="connsiteX3" fmla="*/ 2843470 w 3514725"/>
              <a:gd name="connsiteY3" fmla="*/ 1209672 h 1209675"/>
              <a:gd name="connsiteX4" fmla="*/ 671255 w 3514725"/>
              <a:gd name="connsiteY4" fmla="*/ 1209672 h 1209675"/>
              <a:gd name="connsiteX5" fmla="*/ 4 w 3514725"/>
              <a:gd name="connsiteY5" fmla="*/ 462054 h 1209675"/>
              <a:gd name="connsiteX0" fmla="*/ 0 w 3767134"/>
              <a:gd name="connsiteY0" fmla="*/ 328704 h 1076322"/>
              <a:gd name="connsiteX1" fmla="*/ 3767134 w 3767134"/>
              <a:gd name="connsiteY1" fmla="*/ 0 h 1076322"/>
              <a:gd name="connsiteX2" fmla="*/ 3514717 w 3767134"/>
              <a:gd name="connsiteY2" fmla="*/ 328704 h 1076322"/>
              <a:gd name="connsiteX3" fmla="*/ 2843466 w 3767134"/>
              <a:gd name="connsiteY3" fmla="*/ 1076322 h 1076322"/>
              <a:gd name="connsiteX4" fmla="*/ 671251 w 3767134"/>
              <a:gd name="connsiteY4" fmla="*/ 1076322 h 1076322"/>
              <a:gd name="connsiteX5" fmla="*/ 0 w 3767134"/>
              <a:gd name="connsiteY5" fmla="*/ 328704 h 1076322"/>
              <a:gd name="connsiteX0" fmla="*/ 0 w 9368091"/>
              <a:gd name="connsiteY0" fmla="*/ 328704 h 1504947"/>
              <a:gd name="connsiteX1" fmla="*/ 3767134 w 9368091"/>
              <a:gd name="connsiteY1" fmla="*/ 0 h 1504947"/>
              <a:gd name="connsiteX2" fmla="*/ 3514717 w 9368091"/>
              <a:gd name="connsiteY2" fmla="*/ 328704 h 1504947"/>
              <a:gd name="connsiteX3" fmla="*/ 9368091 w 9368091"/>
              <a:gd name="connsiteY3" fmla="*/ 1504947 h 1504947"/>
              <a:gd name="connsiteX4" fmla="*/ 671251 w 9368091"/>
              <a:gd name="connsiteY4" fmla="*/ 1076322 h 1504947"/>
              <a:gd name="connsiteX5" fmla="*/ 0 w 9368091"/>
              <a:gd name="connsiteY5" fmla="*/ 328704 h 1504947"/>
              <a:gd name="connsiteX0" fmla="*/ 0 w 9368091"/>
              <a:gd name="connsiteY0" fmla="*/ 657225 h 1833468"/>
              <a:gd name="connsiteX1" fmla="*/ 3767134 w 9368091"/>
              <a:gd name="connsiteY1" fmla="*/ 328521 h 1833468"/>
              <a:gd name="connsiteX2" fmla="*/ 9363067 w 9368091"/>
              <a:gd name="connsiteY2" fmla="*/ 0 h 1833468"/>
              <a:gd name="connsiteX3" fmla="*/ 9368091 w 9368091"/>
              <a:gd name="connsiteY3" fmla="*/ 1833468 h 1833468"/>
              <a:gd name="connsiteX4" fmla="*/ 671251 w 9368091"/>
              <a:gd name="connsiteY4" fmla="*/ 1404843 h 1833468"/>
              <a:gd name="connsiteX5" fmla="*/ 0 w 9368091"/>
              <a:gd name="connsiteY5" fmla="*/ 657225 h 1833468"/>
              <a:gd name="connsiteX0" fmla="*/ 0 w 11349291"/>
              <a:gd name="connsiteY0" fmla="*/ 0 h 1852518"/>
              <a:gd name="connsiteX1" fmla="*/ 5748334 w 11349291"/>
              <a:gd name="connsiteY1" fmla="*/ 347571 h 1852518"/>
              <a:gd name="connsiteX2" fmla="*/ 11344267 w 11349291"/>
              <a:gd name="connsiteY2" fmla="*/ 19050 h 1852518"/>
              <a:gd name="connsiteX3" fmla="*/ 11349291 w 11349291"/>
              <a:gd name="connsiteY3" fmla="*/ 1852518 h 1852518"/>
              <a:gd name="connsiteX4" fmla="*/ 2652451 w 11349291"/>
              <a:gd name="connsiteY4" fmla="*/ 1423893 h 1852518"/>
              <a:gd name="connsiteX5" fmla="*/ 0 w 11349291"/>
              <a:gd name="connsiteY5" fmla="*/ 0 h 1852518"/>
              <a:gd name="connsiteX0" fmla="*/ 24074 w 11373365"/>
              <a:gd name="connsiteY0" fmla="*/ 0 h 1890618"/>
              <a:gd name="connsiteX1" fmla="*/ 5772408 w 11373365"/>
              <a:gd name="connsiteY1" fmla="*/ 347571 h 1890618"/>
              <a:gd name="connsiteX2" fmla="*/ 11368341 w 11373365"/>
              <a:gd name="connsiteY2" fmla="*/ 19050 h 1890618"/>
              <a:gd name="connsiteX3" fmla="*/ 11373365 w 11373365"/>
              <a:gd name="connsiteY3" fmla="*/ 1852518 h 1890618"/>
              <a:gd name="connsiteX4" fmla="*/ 0 w 11373365"/>
              <a:gd name="connsiteY4" fmla="*/ 1890618 h 1890618"/>
              <a:gd name="connsiteX5" fmla="*/ 24074 w 11373365"/>
              <a:gd name="connsiteY5" fmla="*/ 0 h 1890618"/>
              <a:gd name="connsiteX0" fmla="*/ 24074 w 11787446"/>
              <a:gd name="connsiteY0" fmla="*/ 0 h 1890618"/>
              <a:gd name="connsiteX1" fmla="*/ 5772408 w 11787446"/>
              <a:gd name="connsiteY1" fmla="*/ 347571 h 1890618"/>
              <a:gd name="connsiteX2" fmla="*/ 11787441 w 11787446"/>
              <a:gd name="connsiteY2" fmla="*/ 47625 h 1890618"/>
              <a:gd name="connsiteX3" fmla="*/ 11373365 w 11787446"/>
              <a:gd name="connsiteY3" fmla="*/ 1852518 h 1890618"/>
              <a:gd name="connsiteX4" fmla="*/ 0 w 11787446"/>
              <a:gd name="connsiteY4" fmla="*/ 1890618 h 1890618"/>
              <a:gd name="connsiteX5" fmla="*/ 24074 w 11787446"/>
              <a:gd name="connsiteY5" fmla="*/ 0 h 1890618"/>
              <a:gd name="connsiteX0" fmla="*/ 24074 w 11859140"/>
              <a:gd name="connsiteY0" fmla="*/ 0 h 1890618"/>
              <a:gd name="connsiteX1" fmla="*/ 5772408 w 11859140"/>
              <a:gd name="connsiteY1" fmla="*/ 347571 h 1890618"/>
              <a:gd name="connsiteX2" fmla="*/ 11787441 w 11859140"/>
              <a:gd name="connsiteY2" fmla="*/ 47625 h 1890618"/>
              <a:gd name="connsiteX3" fmla="*/ 11859140 w 11859140"/>
              <a:gd name="connsiteY3" fmla="*/ 1852518 h 1890618"/>
              <a:gd name="connsiteX4" fmla="*/ 0 w 11859140"/>
              <a:gd name="connsiteY4" fmla="*/ 1890618 h 1890618"/>
              <a:gd name="connsiteX5" fmla="*/ 24074 w 11859140"/>
              <a:gd name="connsiteY5" fmla="*/ 0 h 1890618"/>
              <a:gd name="connsiteX0" fmla="*/ 24074 w 11892272"/>
              <a:gd name="connsiteY0" fmla="*/ 0 h 1890618"/>
              <a:gd name="connsiteX1" fmla="*/ 5772408 w 11892272"/>
              <a:gd name="connsiteY1" fmla="*/ 347571 h 1890618"/>
              <a:gd name="connsiteX2" fmla="*/ 11892216 w 11892272"/>
              <a:gd name="connsiteY2" fmla="*/ 47625 h 1890618"/>
              <a:gd name="connsiteX3" fmla="*/ 11859140 w 11892272"/>
              <a:gd name="connsiteY3" fmla="*/ 1852518 h 1890618"/>
              <a:gd name="connsiteX4" fmla="*/ 0 w 11892272"/>
              <a:gd name="connsiteY4" fmla="*/ 1890618 h 1890618"/>
              <a:gd name="connsiteX5" fmla="*/ 24074 w 11892272"/>
              <a:gd name="connsiteY5" fmla="*/ 0 h 1890618"/>
              <a:gd name="connsiteX0" fmla="*/ 24074 w 11897240"/>
              <a:gd name="connsiteY0" fmla="*/ 0 h 1890618"/>
              <a:gd name="connsiteX1" fmla="*/ 5772408 w 11897240"/>
              <a:gd name="connsiteY1" fmla="*/ 347571 h 1890618"/>
              <a:gd name="connsiteX2" fmla="*/ 11892216 w 11897240"/>
              <a:gd name="connsiteY2" fmla="*/ 47625 h 1890618"/>
              <a:gd name="connsiteX3" fmla="*/ 11897240 w 11897240"/>
              <a:gd name="connsiteY3" fmla="*/ 1862043 h 1890618"/>
              <a:gd name="connsiteX4" fmla="*/ 0 w 11897240"/>
              <a:gd name="connsiteY4" fmla="*/ 1890618 h 1890618"/>
              <a:gd name="connsiteX5" fmla="*/ 24074 w 11897240"/>
              <a:gd name="connsiteY5" fmla="*/ 0 h 1890618"/>
              <a:gd name="connsiteX0" fmla="*/ 0 w 12187491"/>
              <a:gd name="connsiteY0" fmla="*/ 0 h 1881093"/>
              <a:gd name="connsiteX1" fmla="*/ 6062659 w 12187491"/>
              <a:gd name="connsiteY1" fmla="*/ 338046 h 1881093"/>
              <a:gd name="connsiteX2" fmla="*/ 12182467 w 12187491"/>
              <a:gd name="connsiteY2" fmla="*/ 38100 h 1881093"/>
              <a:gd name="connsiteX3" fmla="*/ 12187491 w 12187491"/>
              <a:gd name="connsiteY3" fmla="*/ 1852518 h 1881093"/>
              <a:gd name="connsiteX4" fmla="*/ 290251 w 12187491"/>
              <a:gd name="connsiteY4" fmla="*/ 1881093 h 1881093"/>
              <a:gd name="connsiteX5" fmla="*/ 0 w 12187491"/>
              <a:gd name="connsiteY5" fmla="*/ 0 h 1881093"/>
              <a:gd name="connsiteX0" fmla="*/ 24074 w 12211565"/>
              <a:gd name="connsiteY0" fmla="*/ 0 h 1900143"/>
              <a:gd name="connsiteX1" fmla="*/ 6086733 w 12211565"/>
              <a:gd name="connsiteY1" fmla="*/ 338046 h 1900143"/>
              <a:gd name="connsiteX2" fmla="*/ 12206541 w 12211565"/>
              <a:gd name="connsiteY2" fmla="*/ 38100 h 1900143"/>
              <a:gd name="connsiteX3" fmla="*/ 12211565 w 12211565"/>
              <a:gd name="connsiteY3" fmla="*/ 1852518 h 1900143"/>
              <a:gd name="connsiteX4" fmla="*/ 0 w 12211565"/>
              <a:gd name="connsiteY4" fmla="*/ 1900143 h 1900143"/>
              <a:gd name="connsiteX5" fmla="*/ 24074 w 12211565"/>
              <a:gd name="connsiteY5" fmla="*/ 0 h 1900143"/>
              <a:gd name="connsiteX0" fmla="*/ 24074 w 12211565"/>
              <a:gd name="connsiteY0" fmla="*/ 0 h 1900143"/>
              <a:gd name="connsiteX1" fmla="*/ 6181983 w 12211565"/>
              <a:gd name="connsiteY1" fmla="*/ 1166721 h 1900143"/>
              <a:gd name="connsiteX2" fmla="*/ 12206541 w 12211565"/>
              <a:gd name="connsiteY2" fmla="*/ 38100 h 1900143"/>
              <a:gd name="connsiteX3" fmla="*/ 12211565 w 12211565"/>
              <a:gd name="connsiteY3" fmla="*/ 1852518 h 1900143"/>
              <a:gd name="connsiteX4" fmla="*/ 0 w 12211565"/>
              <a:gd name="connsiteY4" fmla="*/ 1900143 h 1900143"/>
              <a:gd name="connsiteX5" fmla="*/ 24074 w 12211565"/>
              <a:gd name="connsiteY5" fmla="*/ 0 h 1900143"/>
              <a:gd name="connsiteX0" fmla="*/ 24074 w 12211565"/>
              <a:gd name="connsiteY0" fmla="*/ 0 h 1900143"/>
              <a:gd name="connsiteX1" fmla="*/ 6134358 w 12211565"/>
              <a:gd name="connsiteY1" fmla="*/ 471396 h 1900143"/>
              <a:gd name="connsiteX2" fmla="*/ 12206541 w 12211565"/>
              <a:gd name="connsiteY2" fmla="*/ 38100 h 1900143"/>
              <a:gd name="connsiteX3" fmla="*/ 12211565 w 12211565"/>
              <a:gd name="connsiteY3" fmla="*/ 1852518 h 1900143"/>
              <a:gd name="connsiteX4" fmla="*/ 0 w 12211565"/>
              <a:gd name="connsiteY4" fmla="*/ 1900143 h 1900143"/>
              <a:gd name="connsiteX5" fmla="*/ 24074 w 12211565"/>
              <a:gd name="connsiteY5" fmla="*/ 0 h 1900143"/>
              <a:gd name="connsiteX0" fmla="*/ 24074 w 12211565"/>
              <a:gd name="connsiteY0" fmla="*/ 0 h 1900143"/>
              <a:gd name="connsiteX1" fmla="*/ 6134358 w 12211565"/>
              <a:gd name="connsiteY1" fmla="*/ 471396 h 1900143"/>
              <a:gd name="connsiteX2" fmla="*/ 12206541 w 12211565"/>
              <a:gd name="connsiteY2" fmla="*/ 38100 h 1900143"/>
              <a:gd name="connsiteX3" fmla="*/ 12211565 w 12211565"/>
              <a:gd name="connsiteY3" fmla="*/ 1852518 h 1900143"/>
              <a:gd name="connsiteX4" fmla="*/ 0 w 12211565"/>
              <a:gd name="connsiteY4" fmla="*/ 1900143 h 1900143"/>
              <a:gd name="connsiteX5" fmla="*/ 24074 w 12211565"/>
              <a:gd name="connsiteY5" fmla="*/ 0 h 1900143"/>
              <a:gd name="connsiteX0" fmla="*/ 24074 w 12211565"/>
              <a:gd name="connsiteY0" fmla="*/ 0 h 1900143"/>
              <a:gd name="connsiteX1" fmla="*/ 6134358 w 12211565"/>
              <a:gd name="connsiteY1" fmla="*/ 471396 h 1900143"/>
              <a:gd name="connsiteX2" fmla="*/ 12206541 w 12211565"/>
              <a:gd name="connsiteY2" fmla="*/ 38100 h 1900143"/>
              <a:gd name="connsiteX3" fmla="*/ 12211565 w 12211565"/>
              <a:gd name="connsiteY3" fmla="*/ 1852518 h 1900143"/>
              <a:gd name="connsiteX4" fmla="*/ 0 w 12211565"/>
              <a:gd name="connsiteY4" fmla="*/ 1900143 h 1900143"/>
              <a:gd name="connsiteX5" fmla="*/ 24074 w 12211565"/>
              <a:gd name="connsiteY5" fmla="*/ 0 h 1900143"/>
              <a:gd name="connsiteX0" fmla="*/ 0 w 12212891"/>
              <a:gd name="connsiteY0" fmla="*/ 0 h 1931715"/>
              <a:gd name="connsiteX1" fmla="*/ 6135684 w 12212891"/>
              <a:gd name="connsiteY1" fmla="*/ 502968 h 1931715"/>
              <a:gd name="connsiteX2" fmla="*/ 12207867 w 12212891"/>
              <a:gd name="connsiteY2" fmla="*/ 69672 h 1931715"/>
              <a:gd name="connsiteX3" fmla="*/ 12212891 w 12212891"/>
              <a:gd name="connsiteY3" fmla="*/ 1884090 h 1931715"/>
              <a:gd name="connsiteX4" fmla="*/ 1326 w 12212891"/>
              <a:gd name="connsiteY4" fmla="*/ 1931715 h 1931715"/>
              <a:gd name="connsiteX5" fmla="*/ 0 w 12212891"/>
              <a:gd name="connsiteY5" fmla="*/ 0 h 1931715"/>
              <a:gd name="connsiteX0" fmla="*/ 0 w 12212891"/>
              <a:gd name="connsiteY0" fmla="*/ 0 h 1978807"/>
              <a:gd name="connsiteX1" fmla="*/ 6135684 w 12212891"/>
              <a:gd name="connsiteY1" fmla="*/ 502968 h 1978807"/>
              <a:gd name="connsiteX2" fmla="*/ 12207867 w 12212891"/>
              <a:gd name="connsiteY2" fmla="*/ 69672 h 1978807"/>
              <a:gd name="connsiteX3" fmla="*/ 12212891 w 12212891"/>
              <a:gd name="connsiteY3" fmla="*/ 1978807 h 1978807"/>
              <a:gd name="connsiteX4" fmla="*/ 1326 w 12212891"/>
              <a:gd name="connsiteY4" fmla="*/ 1931715 h 1978807"/>
              <a:gd name="connsiteX5" fmla="*/ 0 w 12212891"/>
              <a:gd name="connsiteY5" fmla="*/ 0 h 1978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12891" h="1978807">
                <a:moveTo>
                  <a:pt x="0" y="0"/>
                </a:moveTo>
                <a:cubicBezTo>
                  <a:pt x="2036761" y="157132"/>
                  <a:pt x="5470523" y="-216139"/>
                  <a:pt x="6135684" y="502968"/>
                </a:cubicBezTo>
                <a:cubicBezTo>
                  <a:pt x="6578595" y="-270114"/>
                  <a:pt x="10183806" y="214104"/>
                  <a:pt x="12207867" y="69672"/>
                </a:cubicBezTo>
                <a:cubicBezTo>
                  <a:pt x="12209542" y="680828"/>
                  <a:pt x="12211216" y="1367651"/>
                  <a:pt x="12212891" y="1978807"/>
                </a:cubicBezTo>
                <a:lnTo>
                  <a:pt x="1326" y="1931715"/>
                </a:lnTo>
                <a:lnTo>
                  <a:pt x="0"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grpSp>
        <p:nvGrpSpPr>
          <p:cNvPr id="10" name="组合 9">
            <a:extLst>
              <a:ext uri="{FF2B5EF4-FFF2-40B4-BE49-F238E27FC236}">
                <a16:creationId xmlns:a16="http://schemas.microsoft.com/office/drawing/2014/main" id="{B4A7B579-EFD6-4336-81C5-A3BC1EF96974}"/>
              </a:ext>
            </a:extLst>
          </p:cNvPr>
          <p:cNvGrpSpPr/>
          <p:nvPr/>
        </p:nvGrpSpPr>
        <p:grpSpPr>
          <a:xfrm>
            <a:off x="-14544" y="5055308"/>
            <a:ext cx="12221088" cy="518435"/>
            <a:chOff x="-14544" y="4884668"/>
            <a:chExt cx="12221088" cy="586767"/>
          </a:xfrm>
          <a:solidFill>
            <a:schemeClr val="bg1"/>
          </a:solidFill>
        </p:grpSpPr>
        <p:sp>
          <p:nvSpPr>
            <p:cNvPr id="9" name="矩形 8">
              <a:extLst>
                <a:ext uri="{FF2B5EF4-FFF2-40B4-BE49-F238E27FC236}">
                  <a16:creationId xmlns:a16="http://schemas.microsoft.com/office/drawing/2014/main" id="{33BD8383-C15C-4617-842A-25BBA0B06761}"/>
                </a:ext>
              </a:extLst>
            </p:cNvPr>
            <p:cNvSpPr/>
            <p:nvPr/>
          </p:nvSpPr>
          <p:spPr>
            <a:xfrm>
              <a:off x="-14544" y="4884668"/>
              <a:ext cx="6148644" cy="586767"/>
            </a:xfrm>
            <a:custGeom>
              <a:avLst/>
              <a:gdLst>
                <a:gd name="connsiteX0" fmla="*/ 0 w 6110544"/>
                <a:gd name="connsiteY0" fmla="*/ 0 h 112035"/>
                <a:gd name="connsiteX1" fmla="*/ 6110544 w 6110544"/>
                <a:gd name="connsiteY1" fmla="*/ 0 h 112035"/>
                <a:gd name="connsiteX2" fmla="*/ 6110544 w 6110544"/>
                <a:gd name="connsiteY2" fmla="*/ 112035 h 112035"/>
                <a:gd name="connsiteX3" fmla="*/ 0 w 6110544"/>
                <a:gd name="connsiteY3" fmla="*/ 112035 h 112035"/>
                <a:gd name="connsiteX4" fmla="*/ 0 w 6110544"/>
                <a:gd name="connsiteY4" fmla="*/ 0 h 112035"/>
                <a:gd name="connsiteX0" fmla="*/ 0 w 6123244"/>
                <a:gd name="connsiteY0" fmla="*/ 0 h 594635"/>
                <a:gd name="connsiteX1" fmla="*/ 6110544 w 6123244"/>
                <a:gd name="connsiteY1" fmla="*/ 0 h 594635"/>
                <a:gd name="connsiteX2" fmla="*/ 6123244 w 6123244"/>
                <a:gd name="connsiteY2" fmla="*/ 594635 h 594635"/>
                <a:gd name="connsiteX3" fmla="*/ 0 w 6123244"/>
                <a:gd name="connsiteY3" fmla="*/ 112035 h 594635"/>
                <a:gd name="connsiteX4" fmla="*/ 0 w 6123244"/>
                <a:gd name="connsiteY4" fmla="*/ 0 h 594635"/>
                <a:gd name="connsiteX0" fmla="*/ 0 w 6148644"/>
                <a:gd name="connsiteY0" fmla="*/ 0 h 594635"/>
                <a:gd name="connsiteX1" fmla="*/ 6148644 w 6148644"/>
                <a:gd name="connsiteY1" fmla="*/ 393700 h 594635"/>
                <a:gd name="connsiteX2" fmla="*/ 6123244 w 6148644"/>
                <a:gd name="connsiteY2" fmla="*/ 594635 h 594635"/>
                <a:gd name="connsiteX3" fmla="*/ 0 w 6148644"/>
                <a:gd name="connsiteY3" fmla="*/ 112035 h 594635"/>
                <a:gd name="connsiteX4" fmla="*/ 0 w 6148644"/>
                <a:gd name="connsiteY4" fmla="*/ 0 h 594635"/>
                <a:gd name="connsiteX0" fmla="*/ 0 w 6148644"/>
                <a:gd name="connsiteY0" fmla="*/ 0 h 594635"/>
                <a:gd name="connsiteX1" fmla="*/ 6148644 w 6148644"/>
                <a:gd name="connsiteY1" fmla="*/ 393700 h 594635"/>
                <a:gd name="connsiteX2" fmla="*/ 6123244 w 6148644"/>
                <a:gd name="connsiteY2" fmla="*/ 594635 h 594635"/>
                <a:gd name="connsiteX3" fmla="*/ 0 w 6148644"/>
                <a:gd name="connsiteY3" fmla="*/ 112035 h 594635"/>
                <a:gd name="connsiteX4" fmla="*/ 0 w 6148644"/>
                <a:gd name="connsiteY4" fmla="*/ 0 h 594635"/>
                <a:gd name="connsiteX0" fmla="*/ 0 w 6148644"/>
                <a:gd name="connsiteY0" fmla="*/ 0 h 594635"/>
                <a:gd name="connsiteX1" fmla="*/ 6148644 w 6148644"/>
                <a:gd name="connsiteY1" fmla="*/ 393700 h 594635"/>
                <a:gd name="connsiteX2" fmla="*/ 6123244 w 6148644"/>
                <a:gd name="connsiteY2" fmla="*/ 594635 h 594635"/>
                <a:gd name="connsiteX3" fmla="*/ 0 w 6148644"/>
                <a:gd name="connsiteY3" fmla="*/ 112035 h 594635"/>
                <a:gd name="connsiteX4" fmla="*/ 0 w 6148644"/>
                <a:gd name="connsiteY4" fmla="*/ 0 h 594635"/>
                <a:gd name="connsiteX0" fmla="*/ 0 w 6148644"/>
                <a:gd name="connsiteY0" fmla="*/ 42932 h 637567"/>
                <a:gd name="connsiteX1" fmla="*/ 6148644 w 6148644"/>
                <a:gd name="connsiteY1" fmla="*/ 436632 h 637567"/>
                <a:gd name="connsiteX2" fmla="*/ 6123244 w 6148644"/>
                <a:gd name="connsiteY2" fmla="*/ 637567 h 637567"/>
                <a:gd name="connsiteX3" fmla="*/ 0 w 6148644"/>
                <a:gd name="connsiteY3" fmla="*/ 154967 h 637567"/>
                <a:gd name="connsiteX4" fmla="*/ 0 w 6148644"/>
                <a:gd name="connsiteY4" fmla="*/ 42932 h 637567"/>
                <a:gd name="connsiteX0" fmla="*/ 0 w 6148644"/>
                <a:gd name="connsiteY0" fmla="*/ 42932 h 637567"/>
                <a:gd name="connsiteX1" fmla="*/ 6148644 w 6148644"/>
                <a:gd name="connsiteY1" fmla="*/ 436632 h 637567"/>
                <a:gd name="connsiteX2" fmla="*/ 6123244 w 6148644"/>
                <a:gd name="connsiteY2" fmla="*/ 637567 h 637567"/>
                <a:gd name="connsiteX3" fmla="*/ 0 w 6148644"/>
                <a:gd name="connsiteY3" fmla="*/ 154967 h 637567"/>
                <a:gd name="connsiteX4" fmla="*/ 0 w 6148644"/>
                <a:gd name="connsiteY4" fmla="*/ 42932 h 637567"/>
                <a:gd name="connsiteX0" fmla="*/ 0 w 6148644"/>
                <a:gd name="connsiteY0" fmla="*/ 42932 h 586767"/>
                <a:gd name="connsiteX1" fmla="*/ 6148644 w 6148644"/>
                <a:gd name="connsiteY1" fmla="*/ 436632 h 586767"/>
                <a:gd name="connsiteX2" fmla="*/ 6123244 w 6148644"/>
                <a:gd name="connsiteY2" fmla="*/ 586767 h 586767"/>
                <a:gd name="connsiteX3" fmla="*/ 0 w 6148644"/>
                <a:gd name="connsiteY3" fmla="*/ 154967 h 586767"/>
                <a:gd name="connsiteX4" fmla="*/ 0 w 6148644"/>
                <a:gd name="connsiteY4" fmla="*/ 42932 h 586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48644" h="586767">
                  <a:moveTo>
                    <a:pt x="0" y="42932"/>
                  </a:moveTo>
                  <a:cubicBezTo>
                    <a:pt x="2049548" y="174165"/>
                    <a:pt x="4340396" y="-329601"/>
                    <a:pt x="6148644" y="436632"/>
                  </a:cubicBezTo>
                  <a:lnTo>
                    <a:pt x="6123244" y="586767"/>
                  </a:lnTo>
                  <a:cubicBezTo>
                    <a:pt x="4399663" y="-272600"/>
                    <a:pt x="2041081" y="315834"/>
                    <a:pt x="0" y="154967"/>
                  </a:cubicBezTo>
                  <a:lnTo>
                    <a:pt x="0" y="42932"/>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11" name="矩形 8">
              <a:extLst>
                <a:ext uri="{FF2B5EF4-FFF2-40B4-BE49-F238E27FC236}">
                  <a16:creationId xmlns:a16="http://schemas.microsoft.com/office/drawing/2014/main" id="{D1BC5F80-6D78-4082-99B6-0F1C9175A321}"/>
                </a:ext>
              </a:extLst>
            </p:cNvPr>
            <p:cNvSpPr/>
            <p:nvPr/>
          </p:nvSpPr>
          <p:spPr>
            <a:xfrm flipH="1">
              <a:off x="6057900" y="4884668"/>
              <a:ext cx="6148644" cy="586767"/>
            </a:xfrm>
            <a:custGeom>
              <a:avLst/>
              <a:gdLst>
                <a:gd name="connsiteX0" fmla="*/ 0 w 6110544"/>
                <a:gd name="connsiteY0" fmla="*/ 0 h 112035"/>
                <a:gd name="connsiteX1" fmla="*/ 6110544 w 6110544"/>
                <a:gd name="connsiteY1" fmla="*/ 0 h 112035"/>
                <a:gd name="connsiteX2" fmla="*/ 6110544 w 6110544"/>
                <a:gd name="connsiteY2" fmla="*/ 112035 h 112035"/>
                <a:gd name="connsiteX3" fmla="*/ 0 w 6110544"/>
                <a:gd name="connsiteY3" fmla="*/ 112035 h 112035"/>
                <a:gd name="connsiteX4" fmla="*/ 0 w 6110544"/>
                <a:gd name="connsiteY4" fmla="*/ 0 h 112035"/>
                <a:gd name="connsiteX0" fmla="*/ 0 w 6123244"/>
                <a:gd name="connsiteY0" fmla="*/ 0 h 594635"/>
                <a:gd name="connsiteX1" fmla="*/ 6110544 w 6123244"/>
                <a:gd name="connsiteY1" fmla="*/ 0 h 594635"/>
                <a:gd name="connsiteX2" fmla="*/ 6123244 w 6123244"/>
                <a:gd name="connsiteY2" fmla="*/ 594635 h 594635"/>
                <a:gd name="connsiteX3" fmla="*/ 0 w 6123244"/>
                <a:gd name="connsiteY3" fmla="*/ 112035 h 594635"/>
                <a:gd name="connsiteX4" fmla="*/ 0 w 6123244"/>
                <a:gd name="connsiteY4" fmla="*/ 0 h 594635"/>
                <a:gd name="connsiteX0" fmla="*/ 0 w 6148644"/>
                <a:gd name="connsiteY0" fmla="*/ 0 h 594635"/>
                <a:gd name="connsiteX1" fmla="*/ 6148644 w 6148644"/>
                <a:gd name="connsiteY1" fmla="*/ 393700 h 594635"/>
                <a:gd name="connsiteX2" fmla="*/ 6123244 w 6148644"/>
                <a:gd name="connsiteY2" fmla="*/ 594635 h 594635"/>
                <a:gd name="connsiteX3" fmla="*/ 0 w 6148644"/>
                <a:gd name="connsiteY3" fmla="*/ 112035 h 594635"/>
                <a:gd name="connsiteX4" fmla="*/ 0 w 6148644"/>
                <a:gd name="connsiteY4" fmla="*/ 0 h 594635"/>
                <a:gd name="connsiteX0" fmla="*/ 0 w 6148644"/>
                <a:gd name="connsiteY0" fmla="*/ 0 h 594635"/>
                <a:gd name="connsiteX1" fmla="*/ 6148644 w 6148644"/>
                <a:gd name="connsiteY1" fmla="*/ 393700 h 594635"/>
                <a:gd name="connsiteX2" fmla="*/ 6123244 w 6148644"/>
                <a:gd name="connsiteY2" fmla="*/ 594635 h 594635"/>
                <a:gd name="connsiteX3" fmla="*/ 0 w 6148644"/>
                <a:gd name="connsiteY3" fmla="*/ 112035 h 594635"/>
                <a:gd name="connsiteX4" fmla="*/ 0 w 6148644"/>
                <a:gd name="connsiteY4" fmla="*/ 0 h 594635"/>
                <a:gd name="connsiteX0" fmla="*/ 0 w 6148644"/>
                <a:gd name="connsiteY0" fmla="*/ 0 h 594635"/>
                <a:gd name="connsiteX1" fmla="*/ 6148644 w 6148644"/>
                <a:gd name="connsiteY1" fmla="*/ 393700 h 594635"/>
                <a:gd name="connsiteX2" fmla="*/ 6123244 w 6148644"/>
                <a:gd name="connsiteY2" fmla="*/ 594635 h 594635"/>
                <a:gd name="connsiteX3" fmla="*/ 0 w 6148644"/>
                <a:gd name="connsiteY3" fmla="*/ 112035 h 594635"/>
                <a:gd name="connsiteX4" fmla="*/ 0 w 6148644"/>
                <a:gd name="connsiteY4" fmla="*/ 0 h 594635"/>
                <a:gd name="connsiteX0" fmla="*/ 0 w 6148644"/>
                <a:gd name="connsiteY0" fmla="*/ 42932 h 637567"/>
                <a:gd name="connsiteX1" fmla="*/ 6148644 w 6148644"/>
                <a:gd name="connsiteY1" fmla="*/ 436632 h 637567"/>
                <a:gd name="connsiteX2" fmla="*/ 6123244 w 6148644"/>
                <a:gd name="connsiteY2" fmla="*/ 637567 h 637567"/>
                <a:gd name="connsiteX3" fmla="*/ 0 w 6148644"/>
                <a:gd name="connsiteY3" fmla="*/ 154967 h 637567"/>
                <a:gd name="connsiteX4" fmla="*/ 0 w 6148644"/>
                <a:gd name="connsiteY4" fmla="*/ 42932 h 637567"/>
                <a:gd name="connsiteX0" fmla="*/ 0 w 6148644"/>
                <a:gd name="connsiteY0" fmla="*/ 42932 h 637567"/>
                <a:gd name="connsiteX1" fmla="*/ 6148644 w 6148644"/>
                <a:gd name="connsiteY1" fmla="*/ 436632 h 637567"/>
                <a:gd name="connsiteX2" fmla="*/ 6123244 w 6148644"/>
                <a:gd name="connsiteY2" fmla="*/ 637567 h 637567"/>
                <a:gd name="connsiteX3" fmla="*/ 0 w 6148644"/>
                <a:gd name="connsiteY3" fmla="*/ 154967 h 637567"/>
                <a:gd name="connsiteX4" fmla="*/ 0 w 6148644"/>
                <a:gd name="connsiteY4" fmla="*/ 42932 h 637567"/>
                <a:gd name="connsiteX0" fmla="*/ 0 w 6148644"/>
                <a:gd name="connsiteY0" fmla="*/ 42932 h 586767"/>
                <a:gd name="connsiteX1" fmla="*/ 6148644 w 6148644"/>
                <a:gd name="connsiteY1" fmla="*/ 436632 h 586767"/>
                <a:gd name="connsiteX2" fmla="*/ 6123244 w 6148644"/>
                <a:gd name="connsiteY2" fmla="*/ 586767 h 586767"/>
                <a:gd name="connsiteX3" fmla="*/ 0 w 6148644"/>
                <a:gd name="connsiteY3" fmla="*/ 154967 h 586767"/>
                <a:gd name="connsiteX4" fmla="*/ 0 w 6148644"/>
                <a:gd name="connsiteY4" fmla="*/ 42932 h 586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48644" h="586767">
                  <a:moveTo>
                    <a:pt x="0" y="42932"/>
                  </a:moveTo>
                  <a:cubicBezTo>
                    <a:pt x="2049548" y="174165"/>
                    <a:pt x="4340396" y="-329601"/>
                    <a:pt x="6148644" y="436632"/>
                  </a:cubicBezTo>
                  <a:lnTo>
                    <a:pt x="6123244" y="586767"/>
                  </a:lnTo>
                  <a:cubicBezTo>
                    <a:pt x="4399663" y="-272600"/>
                    <a:pt x="2041081" y="315834"/>
                    <a:pt x="0" y="154967"/>
                  </a:cubicBezTo>
                  <a:lnTo>
                    <a:pt x="0" y="42932"/>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prstClr val="white"/>
                </a:solidFill>
                <a:effectLst/>
                <a:uLnTx/>
                <a:uFillTx/>
                <a:latin typeface="等线" panose="020F0502020204030204"/>
                <a:ea typeface="等线" panose="02010600030101010101" pitchFamily="2" charset="-122"/>
                <a:cs typeface="+mn-cs"/>
              </a:endParaRPr>
            </a:p>
          </p:txBody>
        </p:sp>
      </p:grpSp>
      <p:grpSp>
        <p:nvGrpSpPr>
          <p:cNvPr id="12" name="组合 11">
            <a:extLst>
              <a:ext uri="{FF2B5EF4-FFF2-40B4-BE49-F238E27FC236}">
                <a16:creationId xmlns:a16="http://schemas.microsoft.com/office/drawing/2014/main" id="{76556DD8-C38E-4628-8165-E7FCA252E261}"/>
              </a:ext>
            </a:extLst>
          </p:cNvPr>
          <p:cNvGrpSpPr/>
          <p:nvPr/>
        </p:nvGrpSpPr>
        <p:grpSpPr>
          <a:xfrm>
            <a:off x="5112792" y="5970261"/>
            <a:ext cx="1812253" cy="614187"/>
            <a:chOff x="624303" y="901700"/>
            <a:chExt cx="10005598" cy="3390977"/>
          </a:xfrm>
          <a:solidFill>
            <a:srgbClr val="7F2C8B"/>
          </a:solidFill>
        </p:grpSpPr>
        <p:sp>
          <p:nvSpPr>
            <p:cNvPr id="35" name="Freeform 5">
              <a:extLst>
                <a:ext uri="{FF2B5EF4-FFF2-40B4-BE49-F238E27FC236}">
                  <a16:creationId xmlns:a16="http://schemas.microsoft.com/office/drawing/2014/main" id="{079C18FB-9569-454F-9DB6-91579112C437}"/>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6">
              <a:extLst>
                <a:ext uri="{FF2B5EF4-FFF2-40B4-BE49-F238E27FC236}">
                  <a16:creationId xmlns:a16="http://schemas.microsoft.com/office/drawing/2014/main" id="{C369E933-ABF5-40F4-BB55-C68B20201670}"/>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7">
              <a:extLst>
                <a:ext uri="{FF2B5EF4-FFF2-40B4-BE49-F238E27FC236}">
                  <a16:creationId xmlns:a16="http://schemas.microsoft.com/office/drawing/2014/main" id="{A2A7263D-9BAA-437F-8177-34C5C4C86273}"/>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8">
              <a:extLst>
                <a:ext uri="{FF2B5EF4-FFF2-40B4-BE49-F238E27FC236}">
                  <a16:creationId xmlns:a16="http://schemas.microsoft.com/office/drawing/2014/main" id="{F16F1558-8352-4703-B766-2808092D7323}"/>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9">
              <a:extLst>
                <a:ext uri="{FF2B5EF4-FFF2-40B4-BE49-F238E27FC236}">
                  <a16:creationId xmlns:a16="http://schemas.microsoft.com/office/drawing/2014/main" id="{9664B159-AC3D-467C-8773-5F333695ABD9}"/>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10">
              <a:extLst>
                <a:ext uri="{FF2B5EF4-FFF2-40B4-BE49-F238E27FC236}">
                  <a16:creationId xmlns:a16="http://schemas.microsoft.com/office/drawing/2014/main" id="{65713ACB-AA4D-4E0D-8F49-F09A92DD86B7}"/>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11">
              <a:extLst>
                <a:ext uri="{FF2B5EF4-FFF2-40B4-BE49-F238E27FC236}">
                  <a16:creationId xmlns:a16="http://schemas.microsoft.com/office/drawing/2014/main" id="{0FC58FB7-C9B3-425F-AF6E-943F00BC885C}"/>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12">
              <a:extLst>
                <a:ext uri="{FF2B5EF4-FFF2-40B4-BE49-F238E27FC236}">
                  <a16:creationId xmlns:a16="http://schemas.microsoft.com/office/drawing/2014/main" id="{A7CC7EB0-D7C9-4606-A2A4-36609486BE92}"/>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3" name="Freeform 13">
              <a:extLst>
                <a:ext uri="{FF2B5EF4-FFF2-40B4-BE49-F238E27FC236}">
                  <a16:creationId xmlns:a16="http://schemas.microsoft.com/office/drawing/2014/main" id="{48CA9210-C63C-44E1-9FDD-AC4888F3825C}"/>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4" name="Freeform 14">
              <a:extLst>
                <a:ext uri="{FF2B5EF4-FFF2-40B4-BE49-F238E27FC236}">
                  <a16:creationId xmlns:a16="http://schemas.microsoft.com/office/drawing/2014/main" id="{8FF09E83-5C66-4F36-A611-B938C9404533}"/>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5" name="Freeform 15">
              <a:extLst>
                <a:ext uri="{FF2B5EF4-FFF2-40B4-BE49-F238E27FC236}">
                  <a16:creationId xmlns:a16="http://schemas.microsoft.com/office/drawing/2014/main" id="{FE383459-04C8-42D8-964B-DCE52CF4F661}"/>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6" name="Freeform 16">
              <a:extLst>
                <a:ext uri="{FF2B5EF4-FFF2-40B4-BE49-F238E27FC236}">
                  <a16:creationId xmlns:a16="http://schemas.microsoft.com/office/drawing/2014/main" id="{D21E6ED8-D853-46CB-BAE8-941E01C50001}"/>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7" name="Freeform 17">
              <a:extLst>
                <a:ext uri="{FF2B5EF4-FFF2-40B4-BE49-F238E27FC236}">
                  <a16:creationId xmlns:a16="http://schemas.microsoft.com/office/drawing/2014/main" id="{4C6BEA4B-FF1A-4A94-8166-D1F3C8042CA3}"/>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8" name="Freeform 18">
              <a:extLst>
                <a:ext uri="{FF2B5EF4-FFF2-40B4-BE49-F238E27FC236}">
                  <a16:creationId xmlns:a16="http://schemas.microsoft.com/office/drawing/2014/main" id="{544DA956-99AA-4FD5-9D04-02C4F1CE00E2}"/>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9" name="Freeform 19">
              <a:extLst>
                <a:ext uri="{FF2B5EF4-FFF2-40B4-BE49-F238E27FC236}">
                  <a16:creationId xmlns:a16="http://schemas.microsoft.com/office/drawing/2014/main" id="{5E3281E6-72FC-47AC-8B71-86894852BA63}"/>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50" name="Freeform 20">
              <a:extLst>
                <a:ext uri="{FF2B5EF4-FFF2-40B4-BE49-F238E27FC236}">
                  <a16:creationId xmlns:a16="http://schemas.microsoft.com/office/drawing/2014/main" id="{A934B249-B9ED-48D9-8B28-665D03467969}"/>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51" name="Freeform 21">
              <a:extLst>
                <a:ext uri="{FF2B5EF4-FFF2-40B4-BE49-F238E27FC236}">
                  <a16:creationId xmlns:a16="http://schemas.microsoft.com/office/drawing/2014/main" id="{21852B90-3397-44AF-9A3E-BA608BF7CE7C}"/>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52" name="Freeform 22">
              <a:extLst>
                <a:ext uri="{FF2B5EF4-FFF2-40B4-BE49-F238E27FC236}">
                  <a16:creationId xmlns:a16="http://schemas.microsoft.com/office/drawing/2014/main" id="{1C94B3DB-FF5E-445F-8E98-39808394C7E6}"/>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53" name="Freeform 23">
              <a:extLst>
                <a:ext uri="{FF2B5EF4-FFF2-40B4-BE49-F238E27FC236}">
                  <a16:creationId xmlns:a16="http://schemas.microsoft.com/office/drawing/2014/main" id="{59855DC0-CD64-475B-9A7F-FC4B1CCD5A01}"/>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54" name="Freeform 24">
              <a:extLst>
                <a:ext uri="{FF2B5EF4-FFF2-40B4-BE49-F238E27FC236}">
                  <a16:creationId xmlns:a16="http://schemas.microsoft.com/office/drawing/2014/main" id="{2E550FDA-CAF8-478B-A2D8-2A0D49781979}"/>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p:sp>
        <p:nvSpPr>
          <p:cNvPr id="56" name="矩形 55">
            <a:extLst>
              <a:ext uri="{FF2B5EF4-FFF2-40B4-BE49-F238E27FC236}">
                <a16:creationId xmlns:a16="http://schemas.microsoft.com/office/drawing/2014/main" id="{2A19A531-450E-4F27-85E5-D346CB0A0B74}"/>
              </a:ext>
            </a:extLst>
          </p:cNvPr>
          <p:cNvSpPr/>
          <p:nvPr/>
        </p:nvSpPr>
        <p:spPr>
          <a:xfrm>
            <a:off x="3767612" y="1561738"/>
            <a:ext cx="4698723" cy="1446550"/>
          </a:xfrm>
          <a:prstGeom prst="rect">
            <a:avLst/>
          </a:prstGeom>
        </p:spPr>
        <p:txBody>
          <a:bodyPr wrap="none">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lang="zh-CN" altLang="en-US" sz="8800" b="1" dirty="0">
                <a:solidFill>
                  <a:prstClr val="white"/>
                </a:solidFill>
                <a:latin typeface="微软雅黑" panose="020B0503020204020204" pitchFamily="34" charset="-122"/>
                <a:ea typeface="微软雅黑" panose="020B0503020204020204" pitchFamily="34" charset="-122"/>
              </a:rPr>
              <a:t>下节课见</a:t>
            </a:r>
            <a:endParaRPr kumimoji="0" lang="zh-CN" altLang="en-US" sz="88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endParaRPr>
          </a:p>
        </p:txBody>
      </p:sp>
      <p:sp>
        <p:nvSpPr>
          <p:cNvPr id="58" name="矩形 57">
            <a:extLst>
              <a:ext uri="{FF2B5EF4-FFF2-40B4-BE49-F238E27FC236}">
                <a16:creationId xmlns:a16="http://schemas.microsoft.com/office/drawing/2014/main" id="{C2C73BF2-EA60-4993-A997-EEFBE89CC14A}"/>
              </a:ext>
            </a:extLst>
          </p:cNvPr>
          <p:cNvSpPr/>
          <p:nvPr/>
        </p:nvSpPr>
        <p:spPr>
          <a:xfrm>
            <a:off x="5189762" y="3754133"/>
            <a:ext cx="1800493" cy="369332"/>
          </a:xfrm>
          <a:prstGeom prst="rect">
            <a:avLst/>
          </a:prstGeom>
        </p:spPr>
        <p:txBody>
          <a:bodyPr wrap="none">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zh-CN" altLang="en-US" sz="1800" b="0" i="0" u="none" strike="noStrike" kern="1200" cap="none" spc="0" normalizeH="0" baseline="0" noProof="0" dirty="0">
                <a:ln>
                  <a:noFill/>
                </a:ln>
                <a:solidFill>
                  <a:prstClr val="white"/>
                </a:solidFill>
                <a:effectLst/>
                <a:uLnTx/>
                <a:uFillTx/>
                <a:latin typeface="微软雅黑 Light" panose="020B0502040204020203" pitchFamily="34" charset="-122"/>
                <a:ea typeface="微软雅黑 Light" panose="020B0502040204020203" pitchFamily="34" charset="-122"/>
                <a:cs typeface="+mn-cs"/>
              </a:rPr>
              <a:t>马克思主义学院</a:t>
            </a:r>
          </a:p>
        </p:txBody>
      </p:sp>
      <p:sp>
        <p:nvSpPr>
          <p:cNvPr id="59" name="矩形 58">
            <a:extLst>
              <a:ext uri="{FF2B5EF4-FFF2-40B4-BE49-F238E27FC236}">
                <a16:creationId xmlns:a16="http://schemas.microsoft.com/office/drawing/2014/main" id="{DE950398-5199-487C-8121-BFD875B0E38D}"/>
              </a:ext>
            </a:extLst>
          </p:cNvPr>
          <p:cNvSpPr/>
          <p:nvPr/>
        </p:nvSpPr>
        <p:spPr>
          <a:xfrm>
            <a:off x="5601044" y="4117145"/>
            <a:ext cx="877164" cy="369332"/>
          </a:xfrm>
          <a:prstGeom prst="rect">
            <a:avLst/>
          </a:prstGeom>
        </p:spPr>
        <p:txBody>
          <a:bodyPr wrap="none">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lang="zh-CN" altLang="en-US" dirty="0">
                <a:solidFill>
                  <a:prstClr val="white"/>
                </a:solidFill>
                <a:latin typeface="微软雅黑 Light" panose="020B0502040204020203" pitchFamily="34" charset="-122"/>
                <a:ea typeface="微软雅黑 Light" panose="020B0502040204020203" pitchFamily="34" charset="-122"/>
              </a:rPr>
              <a:t>龙治铭</a:t>
            </a:r>
            <a:endParaRPr kumimoji="0" lang="zh-CN" altLang="en-US" sz="1800" b="0" i="0" u="none" strike="noStrike" kern="1200" cap="none" spc="0" normalizeH="0" baseline="0" noProof="0" dirty="0">
              <a:ln>
                <a:noFill/>
              </a:ln>
              <a:solidFill>
                <a:prstClr val="white"/>
              </a:solidFill>
              <a:effectLst/>
              <a:uLnTx/>
              <a:uFillTx/>
              <a:latin typeface="微软雅黑 Light" panose="020B0502040204020203" pitchFamily="34" charset="-122"/>
              <a:ea typeface="微软雅黑 Light" panose="020B0502040204020203" pitchFamily="34" charset="-122"/>
              <a:cs typeface="+mn-cs"/>
            </a:endParaRPr>
          </a:p>
        </p:txBody>
      </p:sp>
    </p:spTree>
    <p:extLst>
      <p:ext uri="{BB962C8B-B14F-4D97-AF65-F5344CB8AC3E}">
        <p14:creationId xmlns:p14="http://schemas.microsoft.com/office/powerpoint/2010/main" val="2534278550"/>
      </p:ext>
    </p:extLst>
  </p:cSld>
  <p:clrMapOvr>
    <a:masterClrMapping/>
  </p:clrMapOvr>
</p:sld>
</file>

<file path=ppt/theme/theme1.xml><?xml version="1.0" encoding="utf-8"?>
<a:theme xmlns:a="http://schemas.openxmlformats.org/drawingml/2006/main" name="1_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等线"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等线"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19137</TotalTime>
  <Words>4723</Words>
  <Application>Microsoft Office PowerPoint</Application>
  <PresentationFormat>宽屏</PresentationFormat>
  <Paragraphs>411</Paragraphs>
  <Slides>28</Slides>
  <Notes>28</Notes>
  <HiddenSlides>0</HiddenSlides>
  <MMClips>0</MMClips>
  <ScaleCrop>false</ScaleCrop>
  <HeadingPairs>
    <vt:vector size="6" baseType="variant">
      <vt:variant>
        <vt:lpstr>已用的字体</vt:lpstr>
      </vt:variant>
      <vt:variant>
        <vt:i4>7</vt:i4>
      </vt:variant>
      <vt:variant>
        <vt:lpstr>主题</vt:lpstr>
      </vt:variant>
      <vt:variant>
        <vt:i4>1</vt:i4>
      </vt:variant>
      <vt:variant>
        <vt:lpstr>幻灯片标题</vt:lpstr>
      </vt:variant>
      <vt:variant>
        <vt:i4>28</vt:i4>
      </vt:variant>
    </vt:vector>
  </HeadingPairs>
  <TitlesOfParts>
    <vt:vector size="36" baseType="lpstr">
      <vt:lpstr>等线</vt:lpstr>
      <vt:lpstr>等线 Light</vt:lpstr>
      <vt:lpstr>思源宋体 CN Heavy</vt:lpstr>
      <vt:lpstr>微软雅黑</vt:lpstr>
      <vt:lpstr>微软雅黑 Light</vt:lpstr>
      <vt:lpstr>Arial</vt:lpstr>
      <vt:lpstr>Cambria Math</vt:lpstr>
      <vt:lpstr>1_Office 主题​​</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FZL;向天歌演示</dc:creator>
  <cp:keywords>www.51pptmoban.com</cp:keywords>
  <cp:lastModifiedBy>zhiming long</cp:lastModifiedBy>
  <cp:revision>332</cp:revision>
  <cp:lastPrinted>2018-09-20T00:40:58Z</cp:lastPrinted>
  <dcterms:created xsi:type="dcterms:W3CDTF">2017-12-27T12:58:51Z</dcterms:created>
  <dcterms:modified xsi:type="dcterms:W3CDTF">2026-09-27T03:09:12Z</dcterms:modified>
</cp:coreProperties>
</file>