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8" r:id="rId3"/>
    <p:sldId id="259" r:id="rId4"/>
    <p:sldId id="1722" r:id="rId5"/>
    <p:sldId id="1723" r:id="rId6"/>
    <p:sldId id="1734" r:id="rId7"/>
    <p:sldId id="1724" r:id="rId8"/>
    <p:sldId id="1725" r:id="rId9"/>
    <p:sldId id="1735" r:id="rId10"/>
    <p:sldId id="1739" r:id="rId11"/>
    <p:sldId id="1737" r:id="rId12"/>
    <p:sldId id="1738" r:id="rId13"/>
    <p:sldId id="1726" r:id="rId14"/>
    <p:sldId id="1744" r:id="rId15"/>
    <p:sldId id="1761" r:id="rId16"/>
    <p:sldId id="1745" r:id="rId17"/>
    <p:sldId id="1760" r:id="rId18"/>
    <p:sldId id="1746" r:id="rId19"/>
    <p:sldId id="1762" r:id="rId20"/>
    <p:sldId id="1764" r:id="rId21"/>
    <p:sldId id="1765" r:id="rId22"/>
    <p:sldId id="1740" r:id="rId23"/>
    <p:sldId id="1763" r:id="rId24"/>
    <p:sldId id="1752" r:id="rId25"/>
    <p:sldId id="1766" r:id="rId26"/>
    <p:sldId id="1767" r:id="rId27"/>
    <p:sldId id="1758" r:id="rId28"/>
    <p:sldId id="1753" r:id="rId29"/>
    <p:sldId id="1768" r:id="rId30"/>
    <p:sldId id="1769" r:id="rId31"/>
    <p:sldId id="1754" r:id="rId32"/>
    <p:sldId id="1743" r:id="rId33"/>
    <p:sldId id="283" r:id="rId34"/>
    <p:sldId id="284" r:id="rId35"/>
    <p:sldId id="1741" r:id="rId36"/>
    <p:sldId id="1755" r:id="rId37"/>
    <p:sldId id="1757" r:id="rId38"/>
    <p:sldId id="1756" r:id="rId39"/>
    <p:sldId id="286" r:id="rId40"/>
    <p:sldId id="1759"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2C4E8C"/>
    <a:srgbClr val="FF9900"/>
    <a:srgbClr val="ED7D31"/>
    <a:srgbClr val="CCE2F0"/>
    <a:srgbClr val="C4E0EC"/>
    <a:srgbClr val="0066CC"/>
    <a:srgbClr val="7899D4"/>
    <a:srgbClr val="698ED0"/>
    <a:srgbClr val="69B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4" autoAdjust="0"/>
    <p:restoredTop sz="73612" autoAdjust="0"/>
  </p:normalViewPr>
  <p:slideViewPr>
    <p:cSldViewPr snapToGrid="0">
      <p:cViewPr varScale="1">
        <p:scale>
          <a:sx n="89" d="100"/>
          <a:sy n="89" d="100"/>
        </p:scale>
        <p:origin x="114" y="43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0FEE74-63A0-4EE9-A9CD-4AB2D6AFD447}" type="datetimeFigureOut">
              <a:rPr lang="zh-CN" altLang="en-US" smtClean="0"/>
              <a:t>2024/3/14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94D95-BFD2-4A23-BB73-F89C02674967}" type="slidenum">
              <a:rPr lang="zh-CN" altLang="en-US" smtClean="0"/>
              <a:t>‹#›</a:t>
            </a:fld>
            <a:endParaRPr lang="zh-CN" altLang="en-US"/>
          </a:p>
        </p:txBody>
      </p:sp>
    </p:spTree>
    <p:extLst>
      <p:ext uri="{BB962C8B-B14F-4D97-AF65-F5344CB8AC3E}">
        <p14:creationId xmlns:p14="http://schemas.microsoft.com/office/powerpoint/2010/main" val="1322103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a:t>
            </a:fld>
            <a:endParaRPr lang="zh-CN" altLang="en-US"/>
          </a:p>
        </p:txBody>
      </p:sp>
    </p:spTree>
    <p:extLst>
      <p:ext uri="{BB962C8B-B14F-4D97-AF65-F5344CB8AC3E}">
        <p14:creationId xmlns:p14="http://schemas.microsoft.com/office/powerpoint/2010/main" val="941324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a:t>
            </a:fld>
            <a:endParaRPr lang="zh-CN" altLang="en-US"/>
          </a:p>
        </p:txBody>
      </p:sp>
    </p:spTree>
    <p:extLst>
      <p:ext uri="{BB962C8B-B14F-4D97-AF65-F5344CB8AC3E}">
        <p14:creationId xmlns:p14="http://schemas.microsoft.com/office/powerpoint/2010/main" val="3888036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4</a:t>
            </a:fld>
            <a:endParaRPr lang="zh-CN" altLang="en-US"/>
          </a:p>
        </p:txBody>
      </p:sp>
    </p:spTree>
    <p:extLst>
      <p:ext uri="{BB962C8B-B14F-4D97-AF65-F5344CB8AC3E}">
        <p14:creationId xmlns:p14="http://schemas.microsoft.com/office/powerpoint/2010/main" val="2224064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7</a:t>
            </a:fld>
            <a:endParaRPr lang="zh-CN" altLang="en-US"/>
          </a:p>
        </p:txBody>
      </p:sp>
    </p:spTree>
    <p:extLst>
      <p:ext uri="{BB962C8B-B14F-4D97-AF65-F5344CB8AC3E}">
        <p14:creationId xmlns:p14="http://schemas.microsoft.com/office/powerpoint/2010/main" val="1390429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5000"/>
              </a:lnSpc>
            </a:pPr>
            <a:endParaRPr lang="en-US" altLang="zh-CN" sz="1200" dirty="0">
              <a:latin typeface="+mn-ea"/>
            </a:endParaRPr>
          </a:p>
        </p:txBody>
      </p:sp>
      <p:sp>
        <p:nvSpPr>
          <p:cNvPr id="4" name="灯片编号占位符 3"/>
          <p:cNvSpPr>
            <a:spLocks noGrp="1"/>
          </p:cNvSpPr>
          <p:nvPr>
            <p:ph type="sldNum" sz="quarter" idx="5"/>
          </p:nvPr>
        </p:nvSpPr>
        <p:spPr/>
        <p:txBody>
          <a:bodyPr/>
          <a:lstStyle/>
          <a:p>
            <a:fld id="{AB494D95-BFD2-4A23-BB73-F89C02674967}" type="slidenum">
              <a:rPr lang="zh-CN" altLang="en-US" smtClean="0"/>
              <a:t>9</a:t>
            </a:fld>
            <a:endParaRPr lang="zh-CN" altLang="en-US"/>
          </a:p>
        </p:txBody>
      </p:sp>
    </p:spTree>
    <p:extLst>
      <p:ext uri="{BB962C8B-B14F-4D97-AF65-F5344CB8AC3E}">
        <p14:creationId xmlns:p14="http://schemas.microsoft.com/office/powerpoint/2010/main" val="1235591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5000"/>
              </a:lnSpc>
            </a:pPr>
            <a:endParaRPr lang="en-US" altLang="zh-CN"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10</a:t>
            </a:fld>
            <a:endParaRPr lang="zh-CN" altLang="en-US"/>
          </a:p>
        </p:txBody>
      </p:sp>
    </p:spTree>
    <p:extLst>
      <p:ext uri="{BB962C8B-B14F-4D97-AF65-F5344CB8AC3E}">
        <p14:creationId xmlns:p14="http://schemas.microsoft.com/office/powerpoint/2010/main" val="3388228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5000"/>
              </a:lnSpc>
            </a:pPr>
            <a:endParaRPr lang="en-US" altLang="zh-CN" sz="1200" dirty="0">
              <a:latin typeface="+mn-ea"/>
            </a:endParaRPr>
          </a:p>
        </p:txBody>
      </p:sp>
      <p:sp>
        <p:nvSpPr>
          <p:cNvPr id="4" name="灯片编号占位符 3"/>
          <p:cNvSpPr>
            <a:spLocks noGrp="1"/>
          </p:cNvSpPr>
          <p:nvPr>
            <p:ph type="sldNum" sz="quarter" idx="5"/>
          </p:nvPr>
        </p:nvSpPr>
        <p:spPr/>
        <p:txBody>
          <a:bodyPr/>
          <a:lstStyle/>
          <a:p>
            <a:fld id="{AB494D95-BFD2-4A23-BB73-F89C02674967}" type="slidenum">
              <a:rPr lang="zh-CN" altLang="en-US" smtClean="0"/>
              <a:t>11</a:t>
            </a:fld>
            <a:endParaRPr lang="zh-CN" altLang="en-US"/>
          </a:p>
        </p:txBody>
      </p:sp>
    </p:spTree>
    <p:extLst>
      <p:ext uri="{BB962C8B-B14F-4D97-AF65-F5344CB8AC3E}">
        <p14:creationId xmlns:p14="http://schemas.microsoft.com/office/powerpoint/2010/main" val="4197215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13</a:t>
            </a:fld>
            <a:endParaRPr lang="zh-CN" altLang="en-US"/>
          </a:p>
        </p:txBody>
      </p:sp>
    </p:spTree>
    <p:extLst>
      <p:ext uri="{BB962C8B-B14F-4D97-AF65-F5344CB8AC3E}">
        <p14:creationId xmlns:p14="http://schemas.microsoft.com/office/powerpoint/2010/main" val="763489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14</a:t>
            </a:fld>
            <a:endParaRPr lang="zh-CN" altLang="en-US"/>
          </a:p>
        </p:txBody>
      </p:sp>
    </p:spTree>
    <p:extLst>
      <p:ext uri="{BB962C8B-B14F-4D97-AF65-F5344CB8AC3E}">
        <p14:creationId xmlns:p14="http://schemas.microsoft.com/office/powerpoint/2010/main" val="3300032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15</a:t>
            </a:fld>
            <a:endParaRPr lang="zh-CN" altLang="en-US"/>
          </a:p>
        </p:txBody>
      </p:sp>
    </p:spTree>
    <p:extLst>
      <p:ext uri="{BB962C8B-B14F-4D97-AF65-F5344CB8AC3E}">
        <p14:creationId xmlns:p14="http://schemas.microsoft.com/office/powerpoint/2010/main" val="215660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16</a:t>
            </a:fld>
            <a:endParaRPr lang="zh-CN" altLang="en-US"/>
          </a:p>
        </p:txBody>
      </p:sp>
    </p:spTree>
    <p:extLst>
      <p:ext uri="{BB962C8B-B14F-4D97-AF65-F5344CB8AC3E}">
        <p14:creationId xmlns:p14="http://schemas.microsoft.com/office/powerpoint/2010/main" val="3040262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17</a:t>
            </a:fld>
            <a:endParaRPr lang="zh-CN" altLang="en-US"/>
          </a:p>
        </p:txBody>
      </p:sp>
    </p:spTree>
    <p:extLst>
      <p:ext uri="{BB962C8B-B14F-4D97-AF65-F5344CB8AC3E}">
        <p14:creationId xmlns:p14="http://schemas.microsoft.com/office/powerpoint/2010/main" val="1047169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18</a:t>
            </a:fld>
            <a:endParaRPr lang="zh-CN" altLang="en-US"/>
          </a:p>
        </p:txBody>
      </p:sp>
    </p:spTree>
    <p:extLst>
      <p:ext uri="{BB962C8B-B14F-4D97-AF65-F5344CB8AC3E}">
        <p14:creationId xmlns:p14="http://schemas.microsoft.com/office/powerpoint/2010/main" val="3233704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19</a:t>
            </a:fld>
            <a:endParaRPr lang="zh-CN" altLang="en-US"/>
          </a:p>
        </p:txBody>
      </p:sp>
    </p:spTree>
    <p:extLst>
      <p:ext uri="{BB962C8B-B14F-4D97-AF65-F5344CB8AC3E}">
        <p14:creationId xmlns:p14="http://schemas.microsoft.com/office/powerpoint/2010/main" val="3682270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20</a:t>
            </a:fld>
            <a:endParaRPr lang="zh-CN" altLang="en-US"/>
          </a:p>
        </p:txBody>
      </p:sp>
    </p:spTree>
    <p:extLst>
      <p:ext uri="{BB962C8B-B14F-4D97-AF65-F5344CB8AC3E}">
        <p14:creationId xmlns:p14="http://schemas.microsoft.com/office/powerpoint/2010/main" val="1822363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21</a:t>
            </a:fld>
            <a:endParaRPr lang="zh-CN" altLang="en-US"/>
          </a:p>
        </p:txBody>
      </p:sp>
    </p:spTree>
    <p:extLst>
      <p:ext uri="{BB962C8B-B14F-4D97-AF65-F5344CB8AC3E}">
        <p14:creationId xmlns:p14="http://schemas.microsoft.com/office/powerpoint/2010/main" val="18392140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22</a:t>
            </a:fld>
            <a:endParaRPr lang="zh-CN" altLang="en-US"/>
          </a:p>
        </p:txBody>
      </p:sp>
    </p:spTree>
    <p:extLst>
      <p:ext uri="{BB962C8B-B14F-4D97-AF65-F5344CB8AC3E}">
        <p14:creationId xmlns:p14="http://schemas.microsoft.com/office/powerpoint/2010/main" val="3642735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23</a:t>
            </a:fld>
            <a:endParaRPr lang="zh-CN" altLang="en-US"/>
          </a:p>
        </p:txBody>
      </p:sp>
    </p:spTree>
    <p:extLst>
      <p:ext uri="{BB962C8B-B14F-4D97-AF65-F5344CB8AC3E}">
        <p14:creationId xmlns:p14="http://schemas.microsoft.com/office/powerpoint/2010/main" val="3767424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a:lnSpc>
                <a:spcPct val="150000"/>
              </a:lnSpc>
            </a:pPr>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24</a:t>
            </a:fld>
            <a:endParaRPr lang="zh-CN" altLang="en-US"/>
          </a:p>
        </p:txBody>
      </p:sp>
    </p:spTree>
    <p:extLst>
      <p:ext uri="{BB962C8B-B14F-4D97-AF65-F5344CB8AC3E}">
        <p14:creationId xmlns:p14="http://schemas.microsoft.com/office/powerpoint/2010/main" val="2059000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a:lnSpc>
                <a:spcPct val="150000"/>
              </a:lnSpc>
            </a:pPr>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25</a:t>
            </a:fld>
            <a:endParaRPr lang="zh-CN" altLang="en-US"/>
          </a:p>
        </p:txBody>
      </p:sp>
    </p:spTree>
    <p:extLst>
      <p:ext uri="{BB962C8B-B14F-4D97-AF65-F5344CB8AC3E}">
        <p14:creationId xmlns:p14="http://schemas.microsoft.com/office/powerpoint/2010/main" val="36200176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a:lnSpc>
                <a:spcPct val="150000"/>
              </a:lnSpc>
            </a:pPr>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26</a:t>
            </a:fld>
            <a:endParaRPr lang="zh-CN" altLang="en-US"/>
          </a:p>
        </p:txBody>
      </p:sp>
    </p:spTree>
    <p:extLst>
      <p:ext uri="{BB962C8B-B14F-4D97-AF65-F5344CB8AC3E}">
        <p14:creationId xmlns:p14="http://schemas.microsoft.com/office/powerpoint/2010/main" val="2775897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27</a:t>
            </a:fld>
            <a:endParaRPr lang="zh-CN" altLang="en-US"/>
          </a:p>
        </p:txBody>
      </p:sp>
    </p:spTree>
    <p:extLst>
      <p:ext uri="{BB962C8B-B14F-4D97-AF65-F5344CB8AC3E}">
        <p14:creationId xmlns:p14="http://schemas.microsoft.com/office/powerpoint/2010/main" val="257109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28</a:t>
            </a:fld>
            <a:endParaRPr lang="zh-CN" altLang="en-US"/>
          </a:p>
        </p:txBody>
      </p:sp>
    </p:spTree>
    <p:extLst>
      <p:ext uri="{BB962C8B-B14F-4D97-AF65-F5344CB8AC3E}">
        <p14:creationId xmlns:p14="http://schemas.microsoft.com/office/powerpoint/2010/main" val="2417071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29</a:t>
            </a:fld>
            <a:endParaRPr lang="zh-CN" altLang="en-US"/>
          </a:p>
        </p:txBody>
      </p:sp>
    </p:spTree>
    <p:extLst>
      <p:ext uri="{BB962C8B-B14F-4D97-AF65-F5344CB8AC3E}">
        <p14:creationId xmlns:p14="http://schemas.microsoft.com/office/powerpoint/2010/main" val="3932387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30</a:t>
            </a:fld>
            <a:endParaRPr lang="zh-CN" altLang="en-US"/>
          </a:p>
        </p:txBody>
      </p:sp>
    </p:spTree>
    <p:extLst>
      <p:ext uri="{BB962C8B-B14F-4D97-AF65-F5344CB8AC3E}">
        <p14:creationId xmlns:p14="http://schemas.microsoft.com/office/powerpoint/2010/main" val="2236133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31</a:t>
            </a:fld>
            <a:endParaRPr lang="zh-CN" altLang="en-US"/>
          </a:p>
        </p:txBody>
      </p:sp>
    </p:spTree>
    <p:extLst>
      <p:ext uri="{BB962C8B-B14F-4D97-AF65-F5344CB8AC3E}">
        <p14:creationId xmlns:p14="http://schemas.microsoft.com/office/powerpoint/2010/main" val="11860422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33</a:t>
            </a:fld>
            <a:endParaRPr lang="zh-CN" altLang="en-US"/>
          </a:p>
        </p:txBody>
      </p:sp>
    </p:spTree>
    <p:extLst>
      <p:ext uri="{BB962C8B-B14F-4D97-AF65-F5344CB8AC3E}">
        <p14:creationId xmlns:p14="http://schemas.microsoft.com/office/powerpoint/2010/main" val="2596697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36</a:t>
            </a:fld>
            <a:endParaRPr lang="zh-CN" altLang="en-US"/>
          </a:p>
        </p:txBody>
      </p:sp>
    </p:spTree>
    <p:extLst>
      <p:ext uri="{BB962C8B-B14F-4D97-AF65-F5344CB8AC3E}">
        <p14:creationId xmlns:p14="http://schemas.microsoft.com/office/powerpoint/2010/main" val="4901377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37</a:t>
            </a:fld>
            <a:endParaRPr lang="zh-CN" altLang="en-US"/>
          </a:p>
        </p:txBody>
      </p:sp>
    </p:spTree>
    <p:extLst>
      <p:ext uri="{BB962C8B-B14F-4D97-AF65-F5344CB8AC3E}">
        <p14:creationId xmlns:p14="http://schemas.microsoft.com/office/powerpoint/2010/main" val="10632678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94D95-BFD2-4A23-BB73-F89C02674967}" type="slidenum">
              <a:rPr lang="zh-CN" altLang="en-US" smtClean="0"/>
              <a:t>38</a:t>
            </a:fld>
            <a:endParaRPr lang="zh-CN" altLang="en-US"/>
          </a:p>
        </p:txBody>
      </p:sp>
    </p:spTree>
    <p:extLst>
      <p:ext uri="{BB962C8B-B14F-4D97-AF65-F5344CB8AC3E}">
        <p14:creationId xmlns:p14="http://schemas.microsoft.com/office/powerpoint/2010/main" val="17194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FE6EBC-934E-4426-AC98-103EBAE3C53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2F07C21-36E9-4204-9904-5C10EBCCE4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3701CCD-168A-4E10-8AE2-83B49AA54D8A}"/>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5" name="页脚占位符 4">
            <a:extLst>
              <a:ext uri="{FF2B5EF4-FFF2-40B4-BE49-F238E27FC236}">
                <a16:creationId xmlns:a16="http://schemas.microsoft.com/office/drawing/2014/main" id="{D18073B0-691A-458D-A08F-90C53E18A97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FB37D7-2AF0-4D3F-A292-E73C2ACDB2CD}"/>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3819435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E070D6-53AE-4772-B01D-A67AB540B9E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E595041-FE8E-493B-B1CE-1ED2CB4C4612}"/>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735490F-AFBC-4E70-A4CF-17AE5BD7197E}"/>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5" name="页脚占位符 4">
            <a:extLst>
              <a:ext uri="{FF2B5EF4-FFF2-40B4-BE49-F238E27FC236}">
                <a16:creationId xmlns:a16="http://schemas.microsoft.com/office/drawing/2014/main" id="{B1461C1F-FA86-43B6-835E-FFC8B57856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68DCB7-30ED-4E2D-9611-C4C55468C596}"/>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2992938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3A2BF6-1E29-4EA1-9D36-43FECF1E07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260DE11-9123-4E35-9CCF-80A3A3B08C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1A2A80E-71D7-4585-BFAC-AA7C9778738E}"/>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5" name="页脚占位符 4">
            <a:extLst>
              <a:ext uri="{FF2B5EF4-FFF2-40B4-BE49-F238E27FC236}">
                <a16:creationId xmlns:a16="http://schemas.microsoft.com/office/drawing/2014/main" id="{1C7ED479-4092-4343-92FA-969D2973CC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F911E8-07A6-4586-9696-29DA4DA615E1}"/>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253515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E44A6-497D-48C3-9514-CF9879A8294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EF8828-4FDF-4EDB-9E89-9EEAC3B29336}"/>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FC7F5896-73F5-45E0-8CFB-B915403BC5C4}"/>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2CFDED6-6F19-43FE-9CD1-660E672A857A}"/>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6" name="页脚占位符 5">
            <a:extLst>
              <a:ext uri="{FF2B5EF4-FFF2-40B4-BE49-F238E27FC236}">
                <a16:creationId xmlns:a16="http://schemas.microsoft.com/office/drawing/2014/main" id="{B49A829E-1DEC-4FFA-9759-8DA1ED1761C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6444BAE-90F9-4B37-A86F-BA839AF7D0A9}"/>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484819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FAC831-5233-41B8-9220-1FD687A6E0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201F2D0-664C-41BA-B30C-F99789641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C7EB3AB1-2BFD-4778-A19A-FD7C17A73CD5}"/>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6C441457-B277-4862-9083-B37AF715E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320B54-1819-4610-9B05-94573919D74A}"/>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CCEFB376-3200-4D22-A230-25B587A043F1}"/>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8" name="页脚占位符 7">
            <a:extLst>
              <a:ext uri="{FF2B5EF4-FFF2-40B4-BE49-F238E27FC236}">
                <a16:creationId xmlns:a16="http://schemas.microsoft.com/office/drawing/2014/main" id="{7F0B41EE-F0DB-4359-8CBA-ED9A5B10C5B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4F33485-D91F-4941-AFD4-1E2AB32272A1}"/>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3857771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BB8B00-1224-42D3-B567-C7AB06C3C41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E531B60-1653-4B38-9CD1-3FA86E14BFB7}"/>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4" name="页脚占位符 3">
            <a:extLst>
              <a:ext uri="{FF2B5EF4-FFF2-40B4-BE49-F238E27FC236}">
                <a16:creationId xmlns:a16="http://schemas.microsoft.com/office/drawing/2014/main" id="{9C0BF7F1-13DC-4201-9D1B-A567ACFCC94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2711BAA-B8C9-4D50-9F81-934F57DDCB93}"/>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2369322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ED77E6-2103-4C24-B67D-C9830AF8786A}"/>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3" name="页脚占位符 2">
            <a:extLst>
              <a:ext uri="{FF2B5EF4-FFF2-40B4-BE49-F238E27FC236}">
                <a16:creationId xmlns:a16="http://schemas.microsoft.com/office/drawing/2014/main" id="{C6E3DE78-271F-4DD6-8E1B-D23B7E3503A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CE78156-6866-4FEE-9E3E-483089FCF84C}"/>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331582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E49388-8978-4E92-BCA0-B72F8FBBE5A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0A86F66-BD68-4E99-82C0-5406EBDFE9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C64E2DC9-E542-42F6-A845-AB99E243C2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CD4E6E5-63C4-46FE-A9B4-7386088F48EB}"/>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6" name="页脚占位符 5">
            <a:extLst>
              <a:ext uri="{FF2B5EF4-FFF2-40B4-BE49-F238E27FC236}">
                <a16:creationId xmlns:a16="http://schemas.microsoft.com/office/drawing/2014/main" id="{864AD2B1-28E3-4DBE-A599-DEDDB18232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119B0A7-9A50-4DF7-A78B-E5A568F3DAE7}"/>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2265956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E1A187-D5E0-43D6-974E-5346B091D53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282BB49-944E-4F9A-A444-CE02144493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D4E3AE4-93E5-4B36-806E-80273E786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87B6348-9F99-493F-89AF-59E98BAD542C}"/>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6" name="页脚占位符 5">
            <a:extLst>
              <a:ext uri="{FF2B5EF4-FFF2-40B4-BE49-F238E27FC236}">
                <a16:creationId xmlns:a16="http://schemas.microsoft.com/office/drawing/2014/main" id="{5D47A719-57E0-40E7-A0ED-D3866AF433A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51F93E-45B8-4C61-A06F-40B279A1BB9F}"/>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1412407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523ED-05BA-419A-9847-4D949732415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09E562D-2085-4429-973C-2BD09B32153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DDE441A-23F9-4FE4-BA2A-FEF51D30757C}"/>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5" name="页脚占位符 4">
            <a:extLst>
              <a:ext uri="{FF2B5EF4-FFF2-40B4-BE49-F238E27FC236}">
                <a16:creationId xmlns:a16="http://schemas.microsoft.com/office/drawing/2014/main" id="{AD7AC6EC-E227-4BA4-862A-95FC2364C6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7A2B1F-FDE6-41EB-8A96-AC0D19EFAE69}"/>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361945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1C52DDC-A440-41C8-A70C-3C88EE0D59A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B34C2B3-1F1C-47C7-A7B5-268CCAADA1F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BCE264C-34ED-4555-B765-270521F5410F}"/>
              </a:ext>
            </a:extLst>
          </p:cNvPr>
          <p:cNvSpPr>
            <a:spLocks noGrp="1"/>
          </p:cNvSpPr>
          <p:nvPr>
            <p:ph type="dt" sz="half" idx="10"/>
          </p:nvPr>
        </p:nvSpPr>
        <p:spPr/>
        <p:txBody>
          <a:bodyPr/>
          <a:lstStyle/>
          <a:p>
            <a:fld id="{184A7AE2-CB2E-41CB-8712-992BE68173BA}" type="datetimeFigureOut">
              <a:rPr lang="zh-CN" altLang="en-US" smtClean="0"/>
              <a:t>2024/3/14</a:t>
            </a:fld>
            <a:endParaRPr lang="zh-CN" altLang="en-US"/>
          </a:p>
        </p:txBody>
      </p:sp>
      <p:sp>
        <p:nvSpPr>
          <p:cNvPr id="5" name="页脚占位符 4">
            <a:extLst>
              <a:ext uri="{FF2B5EF4-FFF2-40B4-BE49-F238E27FC236}">
                <a16:creationId xmlns:a16="http://schemas.microsoft.com/office/drawing/2014/main" id="{7613D259-5319-48E2-98A0-9630920D70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AE182D-9601-4D56-9EEE-635F8A61D309}"/>
              </a:ext>
            </a:extLst>
          </p:cNvPr>
          <p:cNvSpPr>
            <a:spLocks noGrp="1"/>
          </p:cNvSpPr>
          <p:nvPr>
            <p:ph type="sldNum" sz="quarter" idx="12"/>
          </p:nvPr>
        </p:nvSpPr>
        <p:spPr/>
        <p:txBody>
          <a:body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3067738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DC5C3E8-6B29-406F-BE82-B79B71D375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5808E3F-0EA9-49B1-9934-2E7FEB3807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2D1BD77-FF38-4E0F-8A65-03C9C8159B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4A7AE2-CB2E-41CB-8712-992BE68173BA}" type="datetimeFigureOut">
              <a:rPr lang="zh-CN" altLang="en-US" smtClean="0"/>
              <a:t>2024/3/14</a:t>
            </a:fld>
            <a:endParaRPr lang="zh-CN" altLang="en-US"/>
          </a:p>
        </p:txBody>
      </p:sp>
      <p:sp>
        <p:nvSpPr>
          <p:cNvPr id="5" name="页脚占位符 4">
            <a:extLst>
              <a:ext uri="{FF2B5EF4-FFF2-40B4-BE49-F238E27FC236}">
                <a16:creationId xmlns:a16="http://schemas.microsoft.com/office/drawing/2014/main" id="{1B06FC66-0271-4044-9CFA-FF7A6AF901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6CC97DC-BD16-48BB-B14B-8EB4AE334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107626-D7F2-4474-855E-2A907277F847}" type="slidenum">
              <a:rPr lang="zh-CN" altLang="en-US" smtClean="0"/>
              <a:t>‹#›</a:t>
            </a:fld>
            <a:endParaRPr lang="zh-CN" altLang="en-US"/>
          </a:p>
        </p:txBody>
      </p:sp>
    </p:spTree>
    <p:extLst>
      <p:ext uri="{BB962C8B-B14F-4D97-AF65-F5344CB8AC3E}">
        <p14:creationId xmlns:p14="http://schemas.microsoft.com/office/powerpoint/2010/main" val="1084824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image.baidu.com/i?ct=503316480&amp;z=0&amp;tn=baiduimagedetail&amp;word=%CC%D5%DD%E1%BF%AC&amp;in=4&amp;cl=2&amp;cm=1&amp;sc=0&amp;lm=-1&amp;pn=3&amp;rn=1"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E55F09D-7A78-4FAB-A042-4232D6462717}"/>
              </a:ext>
            </a:extLst>
          </p:cNvPr>
          <p:cNvSpPr>
            <a:spLocks noChangeArrowheads="1"/>
          </p:cNvSpPr>
          <p:nvPr/>
        </p:nvSpPr>
        <p:spPr bwMode="auto">
          <a:xfrm>
            <a:off x="150608" y="350810"/>
            <a:ext cx="5507914" cy="519112"/>
          </a:xfrm>
          <a:prstGeom prst="rect">
            <a:avLst/>
          </a:prstGeom>
          <a:noFill/>
          <a:ln w="9525">
            <a:noFill/>
            <a:miter lim="800000"/>
            <a:headEnd/>
            <a:tailEnd/>
          </a:ln>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ts val="2400"/>
              </a:spcBef>
              <a:spcAft>
                <a:spcPts val="2400"/>
              </a:spcAft>
              <a:buFontTx/>
              <a:buNone/>
            </a:pPr>
            <a:r>
              <a:rPr lang="en-US" altLang="zh-CN" sz="2800" b="1" dirty="0">
                <a:solidFill>
                  <a:srgbClr val="2C4E8C"/>
                </a:solidFill>
                <a:latin typeface="+mn-ea"/>
                <a:ea typeface="+mn-ea"/>
                <a:cs typeface="Times New Roman" panose="02020603050405020304" pitchFamily="18" charset="0"/>
              </a:rPr>
              <a:t>“</a:t>
            </a:r>
            <a:r>
              <a:rPr lang="zh-CN" altLang="en-US" sz="2800" b="1" dirty="0">
                <a:solidFill>
                  <a:srgbClr val="2C4E8C"/>
                </a:solidFill>
                <a:latin typeface="+mn-ea"/>
                <a:ea typeface="+mn-ea"/>
                <a:cs typeface="Times New Roman" panose="02020603050405020304" pitchFamily="18" charset="0"/>
              </a:rPr>
              <a:t>实验室科研探究” </a:t>
            </a:r>
            <a:r>
              <a:rPr lang="zh-CN" altLang="en-US" sz="2800" b="1" dirty="0">
                <a:solidFill>
                  <a:srgbClr val="2C4E8C"/>
                </a:solidFill>
                <a:latin typeface="Times New Roman" panose="02020603050405020304" pitchFamily="18" charset="0"/>
                <a:ea typeface="+mn-ea"/>
                <a:cs typeface="Times New Roman" panose="02020603050405020304" pitchFamily="18" charset="0"/>
              </a:rPr>
              <a:t>第</a:t>
            </a:r>
            <a:r>
              <a:rPr lang="en-US" altLang="zh-CN" sz="2800" b="1" dirty="0">
                <a:solidFill>
                  <a:srgbClr val="2C4E8C"/>
                </a:solidFill>
                <a:latin typeface="Times New Roman" panose="02020603050405020304" pitchFamily="18" charset="0"/>
                <a:ea typeface="+mn-ea"/>
                <a:cs typeface="Times New Roman" panose="02020603050405020304" pitchFamily="18" charset="0"/>
              </a:rPr>
              <a:t>72</a:t>
            </a:r>
            <a:r>
              <a:rPr lang="zh-CN" altLang="en-US" sz="2800" b="1" dirty="0">
                <a:solidFill>
                  <a:srgbClr val="2C4E8C"/>
                </a:solidFill>
                <a:latin typeface="Times New Roman" panose="02020603050405020304" pitchFamily="18" charset="0"/>
                <a:ea typeface="+mn-ea"/>
                <a:cs typeface="Times New Roman" panose="02020603050405020304" pitchFamily="18" charset="0"/>
              </a:rPr>
              <a:t>教学单元</a:t>
            </a:r>
          </a:p>
        </p:txBody>
      </p:sp>
      <p:sp>
        <p:nvSpPr>
          <p:cNvPr id="3" name="副标题 2">
            <a:extLst>
              <a:ext uri="{FF2B5EF4-FFF2-40B4-BE49-F238E27FC236}">
                <a16:creationId xmlns:a16="http://schemas.microsoft.com/office/drawing/2014/main" id="{CFC2ACBD-9B60-415C-9FF1-7FAE2E14E285}"/>
              </a:ext>
            </a:extLst>
          </p:cNvPr>
          <p:cNvSpPr>
            <a:spLocks noGrp="1"/>
          </p:cNvSpPr>
          <p:nvPr>
            <p:ph type="subTitle" idx="1"/>
          </p:nvPr>
        </p:nvSpPr>
        <p:spPr>
          <a:xfrm>
            <a:off x="0" y="4489934"/>
            <a:ext cx="12192000" cy="1655762"/>
          </a:xfrm>
        </p:spPr>
        <p:txBody>
          <a:bodyPr anchor="ctr">
            <a:normAutofit/>
          </a:bodyPr>
          <a:lstStyle/>
          <a:p>
            <a:r>
              <a:rPr lang="zh-CN" altLang="en-US" sz="3600" b="1" dirty="0">
                <a:solidFill>
                  <a:srgbClr val="2C4E8C"/>
                </a:solidFill>
                <a:latin typeface="+mn-ea"/>
                <a:cs typeface="Times New Roman" panose="02020603050405020304" pitchFamily="18" charset="0"/>
              </a:rPr>
              <a:t>清华大学环境学院</a:t>
            </a:r>
            <a:endParaRPr lang="zh-CN" altLang="en-US" sz="3600" b="1" dirty="0">
              <a:solidFill>
                <a:srgbClr val="2C4E8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Rectangle 7">
            <a:extLst>
              <a:ext uri="{FF2B5EF4-FFF2-40B4-BE49-F238E27FC236}">
                <a16:creationId xmlns:a16="http://schemas.microsoft.com/office/drawing/2014/main" id="{50CB96F5-5360-41EE-98CA-06CB59CA4395}"/>
              </a:ext>
            </a:extLst>
          </p:cNvPr>
          <p:cNvSpPr txBox="1">
            <a:spLocks/>
          </p:cNvSpPr>
          <p:nvPr/>
        </p:nvSpPr>
        <p:spPr>
          <a:xfrm>
            <a:off x="0" y="2524285"/>
            <a:ext cx="12192000" cy="12382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5400" b="1" dirty="0">
                <a:solidFill>
                  <a:srgbClr val="2C4E8C"/>
                </a:solidFill>
                <a:latin typeface="等线" panose="02010600030101010101" pitchFamily="2" charset="-122"/>
                <a:ea typeface="等线" panose="02010600030101010101" pitchFamily="2" charset="-122"/>
              </a:rPr>
              <a:t>环境科学与工程基础理论与技术概论</a:t>
            </a:r>
          </a:p>
        </p:txBody>
      </p:sp>
      <p:pic>
        <p:nvPicPr>
          <p:cNvPr id="6" name="图片 5">
            <a:extLst>
              <a:ext uri="{FF2B5EF4-FFF2-40B4-BE49-F238E27FC236}">
                <a16:creationId xmlns:a16="http://schemas.microsoft.com/office/drawing/2014/main" id="{98EDF57E-7D63-4750-AAC3-9D879A32BCFA}"/>
              </a:ext>
            </a:extLst>
          </p:cNvPr>
          <p:cNvPicPr>
            <a:picLocks noChangeAspect="1"/>
          </p:cNvPicPr>
          <p:nvPr/>
        </p:nvPicPr>
        <p:blipFill rotWithShape="1">
          <a:blip r:embed="rId4">
            <a:clrChange>
              <a:clrFrom>
                <a:srgbClr val="FFFFFF"/>
              </a:clrFrom>
              <a:clrTo>
                <a:srgbClr val="FFFFFF">
                  <a:alpha val="0"/>
                </a:srgbClr>
              </a:clrTo>
            </a:clrChange>
          </a:blip>
          <a:srcRect l="7590" t="10051" r="12450"/>
          <a:stretch/>
        </p:blipFill>
        <p:spPr>
          <a:xfrm>
            <a:off x="10151477" y="76240"/>
            <a:ext cx="2040523" cy="1068252"/>
          </a:xfrm>
          <a:prstGeom prst="rect">
            <a:avLst/>
          </a:prstGeom>
        </p:spPr>
      </p:pic>
    </p:spTree>
    <p:extLst>
      <p:ext uri="{BB962C8B-B14F-4D97-AF65-F5344CB8AC3E}">
        <p14:creationId xmlns:p14="http://schemas.microsoft.com/office/powerpoint/2010/main" val="2622749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2181249" cy="6858000"/>
          </a:xfrm>
          <a:prstGeom prst="rect">
            <a:avLst/>
          </a:prstGeom>
          <a:solidFill>
            <a:srgbClr val="2C4E8C"/>
          </a:solidFill>
          <a:ln>
            <a:solidFill>
              <a:srgbClr val="2C4E8C"/>
            </a:solidFill>
          </a:ln>
        </p:spPr>
        <p:txBody>
          <a:bodyPr/>
          <a:lstStyle/>
          <a:p>
            <a:endParaRPr lang="zh-CN" altLang="en-US" dirty="0"/>
          </a:p>
        </p:txBody>
      </p:sp>
      <p:sp>
        <p:nvSpPr>
          <p:cNvPr id="3" name="TextBox 3"/>
          <p:cNvSpPr txBox="1"/>
          <p:nvPr/>
        </p:nvSpPr>
        <p:spPr>
          <a:xfrm rot="5400000">
            <a:off x="-1845886" y="1794923"/>
            <a:ext cx="6957731" cy="3265959"/>
          </a:xfrm>
          <a:prstGeom prst="rect">
            <a:avLst/>
          </a:prstGeom>
        </p:spPr>
        <p:txBody>
          <a:bodyPr vert="horz" wrap="square" lIns="123825" tIns="123825" rIns="57150" bIns="123825" rtlCol="0" anchor="t" anchorCtr="0">
            <a:spAutoFit/>
          </a:bodyPr>
          <a:lstStyle/>
          <a:p>
            <a:pPr algn="ctr">
              <a:lnSpc>
                <a:spcPct val="186000"/>
              </a:lnSpc>
            </a:pPr>
            <a:r>
              <a:rPr lang="en-US" sz="12300" dirty="0">
                <a:solidFill>
                  <a:srgbClr val="DCEBF4"/>
                </a:solidFill>
                <a:latin typeface="Microsoft Yahei"/>
                <a:ea typeface="Microsoft Yahei"/>
                <a:cs typeface="Microsoft Yahei"/>
              </a:rPr>
              <a:t>contents</a:t>
            </a:r>
          </a:p>
        </p:txBody>
      </p:sp>
      <p:sp>
        <p:nvSpPr>
          <p:cNvPr id="4" name="TextBox 4"/>
          <p:cNvSpPr txBox="1"/>
          <p:nvPr/>
        </p:nvSpPr>
        <p:spPr>
          <a:xfrm>
            <a:off x="2372086" y="2367538"/>
            <a:ext cx="3626990" cy="1886927"/>
          </a:xfrm>
          <a:prstGeom prst="rect">
            <a:avLst/>
          </a:prstGeom>
        </p:spPr>
        <p:txBody>
          <a:bodyPr vert="horz" wrap="square" lIns="123825" tIns="123825" rIns="57150" bIns="123825" rtlCol="0" anchor="t" anchorCtr="0">
            <a:spAutoFit/>
          </a:bodyPr>
          <a:lstStyle/>
          <a:p>
            <a:pPr algn="ctr">
              <a:lnSpc>
                <a:spcPct val="125000"/>
              </a:lnSpc>
            </a:pPr>
            <a:r>
              <a:rPr lang="zh-CN" altLang="en-US" sz="9000" b="1" dirty="0">
                <a:solidFill>
                  <a:srgbClr val="2C4E8C"/>
                </a:solidFill>
                <a:latin typeface="Microsoft Yahei" panose="020B0503020204020204" pitchFamily="34" charset="-122"/>
                <a:ea typeface="Microsoft Yahei" panose="020B0503020204020204" pitchFamily="34" charset="-122"/>
                <a:cs typeface="Microsoft Yahei"/>
              </a:rPr>
              <a:t>内容</a:t>
            </a:r>
            <a:endParaRPr lang="en-US" sz="9000" b="1" dirty="0">
              <a:solidFill>
                <a:srgbClr val="2C4E8C"/>
              </a:solidFill>
              <a:latin typeface="Microsoft Yahei" panose="020B0503020204020204" pitchFamily="34" charset="-122"/>
              <a:ea typeface="Microsoft Yahei" panose="020B0503020204020204" pitchFamily="34" charset="-122"/>
              <a:cs typeface="Microsoft Yahei"/>
            </a:endParaRPr>
          </a:p>
        </p:txBody>
      </p:sp>
      <p:sp>
        <p:nvSpPr>
          <p:cNvPr id="5" name="TextBox 5"/>
          <p:cNvSpPr txBox="1"/>
          <p:nvPr/>
        </p:nvSpPr>
        <p:spPr>
          <a:xfrm>
            <a:off x="6194556" y="1294841"/>
            <a:ext cx="5462974" cy="4593565"/>
          </a:xfrm>
          <a:prstGeom prst="rect">
            <a:avLst/>
          </a:prstGeom>
        </p:spPr>
        <p:txBody>
          <a:bodyPr vert="horz" wrap="square" lIns="123825" tIns="123825" rIns="57150" bIns="123825" rtlCol="0" anchor="t" anchorCtr="0">
            <a:spAutoFit/>
          </a:bodyPr>
          <a:lstStyle/>
          <a:p>
            <a:pPr marL="663575" lvl="0" indent="-571500">
              <a:lnSpc>
                <a:spcPct val="150000"/>
              </a:lnSpc>
              <a:buFont typeface="Wingdings" panose="05000000000000000000" pitchFamily="2" charset="2"/>
              <a:buChar char="p"/>
            </a:pPr>
            <a:r>
              <a:rPr lang="zh-CN" altLang="en-US" sz="3200" b="1" dirty="0">
                <a:solidFill>
                  <a:srgbClr val="2C4E8C"/>
                </a:solidFill>
                <a:latin typeface="Times New Roman" panose="02020603050405020304" pitchFamily="18" charset="0"/>
                <a:cs typeface="Times New Roman" panose="02020603050405020304" pitchFamily="18" charset="0"/>
              </a:rPr>
              <a:t>实验教学中心简介</a:t>
            </a:r>
            <a:endParaRPr lang="en-US" altLang="zh-CN" sz="3200" b="1" dirty="0">
              <a:solidFill>
                <a:srgbClr val="2C4E8C"/>
              </a:solidFill>
              <a:latin typeface="Times New Roman" panose="02020603050405020304" pitchFamily="18" charset="0"/>
              <a:cs typeface="Times New Roman" panose="02020603050405020304" pitchFamily="18" charset="0"/>
            </a:endParaRPr>
          </a:p>
          <a:p>
            <a:pPr marL="663575" lvl="0" indent="-571500">
              <a:lnSpc>
                <a:spcPct val="150000"/>
              </a:lnSpc>
              <a:buFont typeface="Wingdings" panose="05000000000000000000" pitchFamily="2" charset="2"/>
              <a:buChar char="p"/>
            </a:pPr>
            <a:r>
              <a:rPr lang="zh-CN" altLang="en-US" sz="3200" b="1" dirty="0">
                <a:solidFill>
                  <a:srgbClr val="2C4E8C"/>
                </a:solidFill>
                <a:latin typeface="Times New Roman" panose="02020603050405020304" pitchFamily="18" charset="0"/>
                <a:cs typeface="Times New Roman" panose="02020603050405020304" pitchFamily="18" charset="0"/>
              </a:rPr>
              <a:t>环境科学与工程概述</a:t>
            </a:r>
          </a:p>
          <a:p>
            <a:pPr marL="663575" indent="-571500">
              <a:lnSpc>
                <a:spcPct val="150000"/>
              </a:lnSpc>
              <a:buFont typeface="Wingdings" panose="05000000000000000000" pitchFamily="2" charset="2"/>
              <a:buChar char="p"/>
            </a:pPr>
            <a:r>
              <a:rPr lang="zh-CN" altLang="en-US" sz="3200" b="1" dirty="0">
                <a:solidFill>
                  <a:srgbClr val="2C4E8C"/>
                </a:solidFill>
                <a:latin typeface="Times New Roman" panose="02020603050405020304" pitchFamily="18" charset="0"/>
                <a:cs typeface="Times New Roman" panose="02020603050405020304" pitchFamily="18" charset="0"/>
              </a:rPr>
              <a:t>技术方法与应用领域</a:t>
            </a:r>
            <a:endParaRPr lang="en-US" altLang="zh-CN" sz="3200" b="1" dirty="0">
              <a:solidFill>
                <a:srgbClr val="2C4E8C"/>
              </a:solidFill>
              <a:latin typeface="Times New Roman" panose="02020603050405020304" pitchFamily="18" charset="0"/>
              <a:cs typeface="Times New Roman" panose="02020603050405020304" pitchFamily="18" charset="0"/>
            </a:endParaRPr>
          </a:p>
          <a:p>
            <a:pPr marL="663575" indent="-571500">
              <a:lnSpc>
                <a:spcPct val="150000"/>
              </a:lnSpc>
              <a:buFont typeface="Wingdings" panose="05000000000000000000" pitchFamily="2" charset="2"/>
              <a:buChar char="p"/>
            </a:pPr>
            <a:r>
              <a:rPr lang="zh-CN" altLang="en-US" sz="3200" b="1" dirty="0">
                <a:solidFill>
                  <a:srgbClr val="2C4E8C"/>
                </a:solidFill>
                <a:latin typeface="Times New Roman" panose="02020603050405020304" pitchFamily="18" charset="0"/>
                <a:cs typeface="Times New Roman" panose="02020603050405020304" pitchFamily="18" charset="0"/>
              </a:rPr>
              <a:t>案例分析与实践经验分享</a:t>
            </a:r>
            <a:endParaRPr lang="en-US" altLang="zh-CN" sz="3200" b="1" dirty="0">
              <a:solidFill>
                <a:srgbClr val="2C4E8C"/>
              </a:solidFill>
              <a:latin typeface="Times New Roman" panose="02020603050405020304" pitchFamily="18" charset="0"/>
              <a:cs typeface="Times New Roman" panose="02020603050405020304" pitchFamily="18" charset="0"/>
            </a:endParaRPr>
          </a:p>
          <a:p>
            <a:pPr marL="663575" indent="-571500">
              <a:lnSpc>
                <a:spcPct val="150000"/>
              </a:lnSpc>
              <a:buFont typeface="Wingdings" panose="05000000000000000000" pitchFamily="2" charset="2"/>
              <a:buChar char="p"/>
            </a:pPr>
            <a:r>
              <a:rPr lang="zh-CN" altLang="en-US" sz="3200" b="1" dirty="0">
                <a:solidFill>
                  <a:srgbClr val="2C4E8C"/>
                </a:solidFill>
                <a:latin typeface="Times New Roman" panose="02020603050405020304" pitchFamily="18" charset="0"/>
                <a:cs typeface="Times New Roman" panose="02020603050405020304" pitchFamily="18" charset="0"/>
              </a:rPr>
              <a:t>科技创新与产业发展趋势</a:t>
            </a:r>
            <a:endParaRPr lang="en-US" altLang="zh-CN" sz="3200" b="1" dirty="0">
              <a:solidFill>
                <a:srgbClr val="2C4E8C"/>
              </a:solidFill>
              <a:latin typeface="Times New Roman" panose="02020603050405020304" pitchFamily="18" charset="0"/>
              <a:cs typeface="Times New Roman" panose="02020603050405020304" pitchFamily="18" charset="0"/>
            </a:endParaRPr>
          </a:p>
          <a:p>
            <a:pPr marL="663575" indent="-571500">
              <a:lnSpc>
                <a:spcPct val="150000"/>
              </a:lnSpc>
              <a:buFont typeface="Wingdings" panose="05000000000000000000" pitchFamily="2" charset="2"/>
              <a:buChar char="p"/>
            </a:pPr>
            <a:endParaRPr lang="zh-CN" altLang="en-US" sz="3200" b="1" dirty="0">
              <a:solidFill>
                <a:srgbClr val="2C4E8C"/>
              </a:solidFill>
              <a:latin typeface="Times New Roman" panose="02020603050405020304" pitchFamily="18" charset="0"/>
              <a:cs typeface="Times New Roman" panose="02020603050405020304" pitchFamily="18" charset="0"/>
            </a:endParaRPr>
          </a:p>
        </p:txBody>
      </p:sp>
      <p:cxnSp>
        <p:nvCxnSpPr>
          <p:cNvPr id="6" name="Connector 6"/>
          <p:cNvCxnSpPr>
            <a:cxnSpLocks/>
          </p:cNvCxnSpPr>
          <p:nvPr/>
        </p:nvCxnSpPr>
        <p:spPr>
          <a:xfrm>
            <a:off x="5887741" y="1217740"/>
            <a:ext cx="0" cy="4182599"/>
          </a:xfrm>
          <a:prstGeom prst="line">
            <a:avLst/>
          </a:prstGeom>
          <a:ln w="9525">
            <a:solidFill>
              <a:srgbClr val="214D65"/>
            </a:solidFill>
            <a:prstDash val="solid"/>
            <a:headEnd type="oval"/>
            <a:tailEnd type="oval"/>
          </a:ln>
        </p:spPr>
        <p:style>
          <a:lnRef idx="0">
            <a:schemeClr val="accent1"/>
          </a:lnRef>
          <a:fillRef idx="1">
            <a:schemeClr val="accent1"/>
          </a:fillRef>
          <a:effectRef idx="0">
            <a:schemeClr val="accent1"/>
          </a:effectRef>
          <a:fontRef idx="minor">
            <a:schemeClr val="lt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839253" y="2758656"/>
            <a:ext cx="6135014" cy="1048300"/>
          </a:xfrm>
          <a:prstGeom prst="rect">
            <a:avLst/>
          </a:prstGeom>
        </p:spPr>
        <p:txBody>
          <a:bodyPr vert="horz" wrap="square" lIns="114300" tIns="57150" rIns="114300" bIns="57150" rtlCol="0" anchor="t" anchorCtr="0">
            <a:spAutoFit/>
          </a:bodyPr>
          <a:lstStyle/>
          <a:p>
            <a:pPr>
              <a:lnSpc>
                <a:spcPct val="120000"/>
              </a:lnSpc>
            </a:pPr>
            <a:r>
              <a:rPr lang="zh-CN" altLang="en-US" sz="5400" b="1" dirty="0">
                <a:solidFill>
                  <a:srgbClr val="2C4E8C"/>
                </a:solidFill>
                <a:latin typeface="+mn-ea"/>
                <a:cs typeface="Arial" panose="020B0604020202020204" pitchFamily="34" charset="0"/>
              </a:rPr>
              <a:t>实验教学中心简介</a:t>
            </a:r>
          </a:p>
        </p:txBody>
      </p:sp>
      <p:sp>
        <p:nvSpPr>
          <p:cNvPr id="3" name="TextBox 3"/>
          <p:cNvSpPr txBox="1"/>
          <p:nvPr/>
        </p:nvSpPr>
        <p:spPr>
          <a:xfrm>
            <a:off x="1217733" y="3030076"/>
            <a:ext cx="2148230" cy="755271"/>
          </a:xfrm>
          <a:prstGeom prst="rect">
            <a:avLst/>
          </a:prstGeom>
        </p:spPr>
        <p:txBody>
          <a:bodyPr vert="horz" wrap="square" lIns="114300" tIns="57150" rIns="114300" bIns="57150" rtlCol="0" anchor="ctr" anchorCtr="0">
            <a:spAutoFit/>
          </a:bodyPr>
          <a:lstStyle/>
          <a:p>
            <a:pPr algn="ctr">
              <a:lnSpc>
                <a:spcPct val="77000"/>
              </a:lnSpc>
            </a:pPr>
            <a:r>
              <a:rPr lang="en-US" sz="5400" b="1" dirty="0">
                <a:solidFill>
                  <a:srgbClr val="2C4E8C"/>
                </a:solidFill>
                <a:latin typeface="Arial"/>
                <a:ea typeface="Arial"/>
                <a:cs typeface="Arial"/>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环境科学与工程实验实践教学中心</a:t>
                </a:r>
                <a:r>
                  <a:rPr lang="en-US" altLang="zh-CN" sz="3600" b="1" dirty="0">
                    <a:solidFill>
                      <a:srgbClr val="2C4E8C"/>
                    </a:solidFill>
                    <a:latin typeface="+mn-ea"/>
                  </a:rPr>
                  <a:t>—</a:t>
                </a:r>
                <a:r>
                  <a:rPr lang="zh-CN" altLang="en-US" sz="3600" b="1" dirty="0">
                    <a:solidFill>
                      <a:srgbClr val="C00000"/>
                    </a:solidFill>
                    <a:latin typeface="+mn-ea"/>
                  </a:rPr>
                  <a:t>历史沿革</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28" name="组合 27">
            <a:extLst>
              <a:ext uri="{FF2B5EF4-FFF2-40B4-BE49-F238E27FC236}">
                <a16:creationId xmlns:a16="http://schemas.microsoft.com/office/drawing/2014/main" id="{89DAF5AB-3B57-4141-A770-D13B50BF91AA}"/>
              </a:ext>
            </a:extLst>
          </p:cNvPr>
          <p:cNvGrpSpPr/>
          <p:nvPr/>
        </p:nvGrpSpPr>
        <p:grpSpPr>
          <a:xfrm>
            <a:off x="542526" y="872706"/>
            <a:ext cx="11357178" cy="6037263"/>
            <a:chOff x="658814" y="765175"/>
            <a:chExt cx="11357178" cy="6037263"/>
          </a:xfrm>
        </p:grpSpPr>
        <p:sp>
          <p:nvSpPr>
            <p:cNvPr id="29" name="Oval 40">
              <a:extLst>
                <a:ext uri="{FF2B5EF4-FFF2-40B4-BE49-F238E27FC236}">
                  <a16:creationId xmlns:a16="http://schemas.microsoft.com/office/drawing/2014/main" id="{F7D1771C-C60D-459A-BE6B-D06C0588BAA8}"/>
                </a:ext>
              </a:extLst>
            </p:cNvPr>
            <p:cNvSpPr>
              <a:spLocks noChangeArrowheads="1"/>
            </p:cNvSpPr>
            <p:nvPr/>
          </p:nvSpPr>
          <p:spPr bwMode="auto">
            <a:xfrm>
              <a:off x="6454775" y="4305300"/>
              <a:ext cx="2089150" cy="935038"/>
            </a:xfrm>
            <a:prstGeom prst="ellipse">
              <a:avLst/>
            </a:prstGeom>
            <a:solidFill>
              <a:srgbClr val="99CC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30" name="Oval 41">
              <a:extLst>
                <a:ext uri="{FF2B5EF4-FFF2-40B4-BE49-F238E27FC236}">
                  <a16:creationId xmlns:a16="http://schemas.microsoft.com/office/drawing/2014/main" id="{2B99EF0B-B43B-4DD9-AAD7-B095C619A8F6}"/>
                </a:ext>
              </a:extLst>
            </p:cNvPr>
            <p:cNvSpPr>
              <a:spLocks noChangeArrowheads="1"/>
            </p:cNvSpPr>
            <p:nvPr/>
          </p:nvSpPr>
          <p:spPr bwMode="auto">
            <a:xfrm>
              <a:off x="8255000" y="2278063"/>
              <a:ext cx="2305050" cy="1223962"/>
            </a:xfrm>
            <a:prstGeom prst="ellipse">
              <a:avLst/>
            </a:prstGeom>
            <a:solidFill>
              <a:srgbClr val="99CC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31" name="Oval 39">
              <a:extLst>
                <a:ext uri="{FF2B5EF4-FFF2-40B4-BE49-F238E27FC236}">
                  <a16:creationId xmlns:a16="http://schemas.microsoft.com/office/drawing/2014/main" id="{0822A491-A6E1-43F1-BB4F-0B46A1988AC7}"/>
                </a:ext>
              </a:extLst>
            </p:cNvPr>
            <p:cNvSpPr>
              <a:spLocks noChangeArrowheads="1"/>
            </p:cNvSpPr>
            <p:nvPr/>
          </p:nvSpPr>
          <p:spPr bwMode="auto">
            <a:xfrm>
              <a:off x="5735639" y="5230813"/>
              <a:ext cx="1584325" cy="863600"/>
            </a:xfrm>
            <a:prstGeom prst="ellipse">
              <a:avLst/>
            </a:prstGeom>
            <a:solidFill>
              <a:srgbClr val="99CC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32" name="Oval 38">
              <a:extLst>
                <a:ext uri="{FF2B5EF4-FFF2-40B4-BE49-F238E27FC236}">
                  <a16:creationId xmlns:a16="http://schemas.microsoft.com/office/drawing/2014/main" id="{B05B388B-AA26-44F3-8D7F-662CF55887C1}"/>
                </a:ext>
              </a:extLst>
            </p:cNvPr>
            <p:cNvSpPr>
              <a:spLocks noChangeArrowheads="1"/>
            </p:cNvSpPr>
            <p:nvPr/>
          </p:nvSpPr>
          <p:spPr bwMode="auto">
            <a:xfrm>
              <a:off x="4910138" y="6010276"/>
              <a:ext cx="1296988" cy="792162"/>
            </a:xfrm>
            <a:prstGeom prst="ellipse">
              <a:avLst/>
            </a:prstGeom>
            <a:solidFill>
              <a:srgbClr val="99CC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33" name="Line 30">
              <a:extLst>
                <a:ext uri="{FF2B5EF4-FFF2-40B4-BE49-F238E27FC236}">
                  <a16:creationId xmlns:a16="http://schemas.microsoft.com/office/drawing/2014/main" id="{65EC6ED8-176E-4B9F-98C8-C5F4C556FFC9}"/>
                </a:ext>
              </a:extLst>
            </p:cNvPr>
            <p:cNvSpPr>
              <a:spLocks noChangeShapeType="1"/>
            </p:cNvSpPr>
            <p:nvPr/>
          </p:nvSpPr>
          <p:spPr bwMode="auto">
            <a:xfrm flipV="1">
              <a:off x="4400550" y="765175"/>
              <a:ext cx="5367338" cy="5951538"/>
            </a:xfrm>
            <a:prstGeom prst="line">
              <a:avLst/>
            </a:prstGeom>
            <a:noFill/>
            <a:ln w="57150">
              <a:solidFill>
                <a:schemeClr val="accent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nvGrpSpPr>
            <p:cNvPr id="34" name="Group 46">
              <a:extLst>
                <a:ext uri="{FF2B5EF4-FFF2-40B4-BE49-F238E27FC236}">
                  <a16:creationId xmlns:a16="http://schemas.microsoft.com/office/drawing/2014/main" id="{B8E64CC7-BDFA-430D-8CB5-D5446DF10D53}"/>
                </a:ext>
              </a:extLst>
            </p:cNvPr>
            <p:cNvGrpSpPr>
              <a:grpSpLocks/>
            </p:cNvGrpSpPr>
            <p:nvPr/>
          </p:nvGrpSpPr>
          <p:grpSpPr bwMode="auto">
            <a:xfrm>
              <a:off x="2090738" y="5661025"/>
              <a:ext cx="3198812" cy="431800"/>
              <a:chOff x="249" y="3530"/>
              <a:chExt cx="2015" cy="272"/>
            </a:xfrm>
          </p:grpSpPr>
          <p:sp>
            <p:nvSpPr>
              <p:cNvPr id="74" name="Text Box 12">
                <a:extLst>
                  <a:ext uri="{FF2B5EF4-FFF2-40B4-BE49-F238E27FC236}">
                    <a16:creationId xmlns:a16="http://schemas.microsoft.com/office/drawing/2014/main" id="{E1EA18E0-DDEE-4002-A83C-C6D0A5027750}"/>
                  </a:ext>
                </a:extLst>
              </p:cNvPr>
              <p:cNvSpPr txBox="1">
                <a:spLocks noChangeArrowheads="1"/>
              </p:cNvSpPr>
              <p:nvPr/>
            </p:nvSpPr>
            <p:spPr bwMode="auto">
              <a:xfrm>
                <a:off x="1538" y="3533"/>
                <a:ext cx="7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a:solidFill>
                      <a:srgbClr val="FF0000"/>
                    </a:solidFill>
                    <a:latin typeface="Times New Roman" panose="02020603050405020304" pitchFamily="18" charset="0"/>
                  </a:rPr>
                  <a:t>1952</a:t>
                </a:r>
                <a:r>
                  <a:rPr lang="zh-CN" altLang="en-US" sz="2200" b="1">
                    <a:solidFill>
                      <a:srgbClr val="FF0000"/>
                    </a:solidFill>
                    <a:latin typeface="Times New Roman" panose="02020603050405020304" pitchFamily="18" charset="0"/>
                  </a:rPr>
                  <a:t>年</a:t>
                </a:r>
              </a:p>
            </p:txBody>
          </p:sp>
          <p:sp>
            <p:nvSpPr>
              <p:cNvPr id="75" name="Text Box 17">
                <a:extLst>
                  <a:ext uri="{FF2B5EF4-FFF2-40B4-BE49-F238E27FC236}">
                    <a16:creationId xmlns:a16="http://schemas.microsoft.com/office/drawing/2014/main" id="{1886C68E-CA99-4691-8610-F19D68A0EB9C}"/>
                  </a:ext>
                </a:extLst>
              </p:cNvPr>
              <p:cNvSpPr txBox="1">
                <a:spLocks noChangeArrowheads="1"/>
              </p:cNvSpPr>
              <p:nvPr/>
            </p:nvSpPr>
            <p:spPr bwMode="auto">
              <a:xfrm>
                <a:off x="249" y="3530"/>
                <a:ext cx="1252" cy="256"/>
              </a:xfrm>
              <a:prstGeom prst="rect">
                <a:avLst/>
              </a:prstGeom>
              <a:solidFill>
                <a:schemeClr val="accent1">
                  <a:lumMod val="20000"/>
                  <a:lumOff val="80000"/>
                </a:schemeClr>
              </a:solidFill>
              <a:ln w="9525" algn="ctr">
                <a:solidFill>
                  <a:schemeClr val="accent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000" dirty="0">
                    <a:solidFill>
                      <a:srgbClr val="00008C"/>
                    </a:solidFill>
                    <a:latin typeface="Times New Roman" panose="02020603050405020304" pitchFamily="18" charset="0"/>
                    <a:ea typeface="SimHei" panose="02010609060101010101" pitchFamily="49" charset="-122"/>
                  </a:rPr>
                  <a:t>给水排水实验室</a:t>
                </a:r>
              </a:p>
            </p:txBody>
          </p:sp>
        </p:grpSp>
        <p:grpSp>
          <p:nvGrpSpPr>
            <p:cNvPr id="35" name="Group 44">
              <a:extLst>
                <a:ext uri="{FF2B5EF4-FFF2-40B4-BE49-F238E27FC236}">
                  <a16:creationId xmlns:a16="http://schemas.microsoft.com/office/drawing/2014/main" id="{D53C048C-D769-409F-9BAB-D801AB867E64}"/>
                </a:ext>
              </a:extLst>
            </p:cNvPr>
            <p:cNvGrpSpPr>
              <a:grpSpLocks/>
            </p:cNvGrpSpPr>
            <p:nvPr/>
          </p:nvGrpSpPr>
          <p:grpSpPr bwMode="auto">
            <a:xfrm>
              <a:off x="2998788" y="4365625"/>
              <a:ext cx="3382962" cy="433388"/>
              <a:chOff x="749" y="2840"/>
              <a:chExt cx="2131" cy="273"/>
            </a:xfrm>
          </p:grpSpPr>
          <p:sp>
            <p:nvSpPr>
              <p:cNvPr id="72" name="Text Box 13">
                <a:extLst>
                  <a:ext uri="{FF2B5EF4-FFF2-40B4-BE49-F238E27FC236}">
                    <a16:creationId xmlns:a16="http://schemas.microsoft.com/office/drawing/2014/main" id="{4D5DE11C-E973-46D6-8C49-8CAFB87FB10A}"/>
                  </a:ext>
                </a:extLst>
              </p:cNvPr>
              <p:cNvSpPr txBox="1">
                <a:spLocks noChangeArrowheads="1"/>
              </p:cNvSpPr>
              <p:nvPr/>
            </p:nvSpPr>
            <p:spPr bwMode="auto">
              <a:xfrm>
                <a:off x="2154" y="2844"/>
                <a:ext cx="7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a:solidFill>
                      <a:srgbClr val="FF0000"/>
                    </a:solidFill>
                    <a:latin typeface="Times New Roman" panose="02020603050405020304" pitchFamily="18" charset="0"/>
                  </a:rPr>
                  <a:t>1984</a:t>
                </a:r>
                <a:r>
                  <a:rPr lang="zh-CN" altLang="en-US" sz="2200" b="1">
                    <a:solidFill>
                      <a:srgbClr val="FF0000"/>
                    </a:solidFill>
                    <a:latin typeface="Times New Roman" panose="02020603050405020304" pitchFamily="18" charset="0"/>
                  </a:rPr>
                  <a:t>年</a:t>
                </a:r>
              </a:p>
            </p:txBody>
          </p:sp>
          <p:sp>
            <p:nvSpPr>
              <p:cNvPr id="73" name="Text Box 18">
                <a:extLst>
                  <a:ext uri="{FF2B5EF4-FFF2-40B4-BE49-F238E27FC236}">
                    <a16:creationId xmlns:a16="http://schemas.microsoft.com/office/drawing/2014/main" id="{BBBF4DAC-5088-4C7F-904D-9905523FBEC8}"/>
                  </a:ext>
                </a:extLst>
              </p:cNvPr>
              <p:cNvSpPr txBox="1">
                <a:spLocks noChangeArrowheads="1"/>
              </p:cNvSpPr>
              <p:nvPr/>
            </p:nvSpPr>
            <p:spPr bwMode="auto">
              <a:xfrm>
                <a:off x="749" y="2840"/>
                <a:ext cx="1451" cy="256"/>
              </a:xfrm>
              <a:prstGeom prst="rect">
                <a:avLst/>
              </a:prstGeom>
              <a:solidFill>
                <a:schemeClr val="accent1">
                  <a:lumMod val="20000"/>
                  <a:lumOff val="80000"/>
                </a:schemeClr>
              </a:solidFill>
              <a:ln w="9525" algn="ctr">
                <a:solidFill>
                  <a:schemeClr val="accent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000" dirty="0">
                    <a:solidFill>
                      <a:srgbClr val="00008C"/>
                    </a:solidFill>
                    <a:latin typeface="Times New Roman" panose="02020603050405020304" pitchFamily="18" charset="0"/>
                    <a:ea typeface="SimHei" panose="02010609060101010101" pitchFamily="49" charset="-122"/>
                  </a:rPr>
                  <a:t>成立“环境工程系”</a:t>
                </a:r>
                <a:endParaRPr lang="en-US" altLang="zh-CN" sz="2000" dirty="0">
                  <a:solidFill>
                    <a:srgbClr val="00008C"/>
                  </a:solidFill>
                  <a:latin typeface="Times New Roman" panose="02020603050405020304" pitchFamily="18" charset="0"/>
                  <a:ea typeface="SimHei" panose="02010609060101010101" pitchFamily="49" charset="-122"/>
                </a:endParaRPr>
              </a:p>
            </p:txBody>
          </p:sp>
        </p:grpSp>
        <p:grpSp>
          <p:nvGrpSpPr>
            <p:cNvPr id="36" name="Group 43">
              <a:extLst>
                <a:ext uri="{FF2B5EF4-FFF2-40B4-BE49-F238E27FC236}">
                  <a16:creationId xmlns:a16="http://schemas.microsoft.com/office/drawing/2014/main" id="{602104A8-7FC4-4474-9BA5-049B9D055263}"/>
                </a:ext>
              </a:extLst>
            </p:cNvPr>
            <p:cNvGrpSpPr>
              <a:grpSpLocks/>
            </p:cNvGrpSpPr>
            <p:nvPr/>
          </p:nvGrpSpPr>
          <p:grpSpPr bwMode="auto">
            <a:xfrm>
              <a:off x="4511675" y="2357438"/>
              <a:ext cx="3598863" cy="711200"/>
              <a:chOff x="1474" y="1757"/>
              <a:chExt cx="2267" cy="448"/>
            </a:xfrm>
          </p:grpSpPr>
          <p:sp>
            <p:nvSpPr>
              <p:cNvPr id="70" name="Text Box 15">
                <a:extLst>
                  <a:ext uri="{FF2B5EF4-FFF2-40B4-BE49-F238E27FC236}">
                    <a16:creationId xmlns:a16="http://schemas.microsoft.com/office/drawing/2014/main" id="{8D1E394A-D423-4627-B735-DAE3B82F5908}"/>
                  </a:ext>
                </a:extLst>
              </p:cNvPr>
              <p:cNvSpPr txBox="1">
                <a:spLocks noChangeArrowheads="1"/>
              </p:cNvSpPr>
              <p:nvPr/>
            </p:nvSpPr>
            <p:spPr bwMode="auto">
              <a:xfrm>
                <a:off x="3015" y="1823"/>
                <a:ext cx="7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dirty="0">
                    <a:solidFill>
                      <a:srgbClr val="FF0000"/>
                    </a:solidFill>
                    <a:latin typeface="Times New Roman" panose="02020603050405020304" pitchFamily="18" charset="0"/>
                  </a:rPr>
                  <a:t>2004</a:t>
                </a:r>
                <a:r>
                  <a:rPr lang="zh-CN" altLang="en-US" sz="2200" b="1" dirty="0">
                    <a:solidFill>
                      <a:srgbClr val="FF0000"/>
                    </a:solidFill>
                    <a:latin typeface="Times New Roman" panose="02020603050405020304" pitchFamily="18" charset="0"/>
                  </a:rPr>
                  <a:t>年</a:t>
                </a:r>
              </a:p>
            </p:txBody>
          </p:sp>
          <p:sp>
            <p:nvSpPr>
              <p:cNvPr id="71" name="Text Box 20">
                <a:extLst>
                  <a:ext uri="{FF2B5EF4-FFF2-40B4-BE49-F238E27FC236}">
                    <a16:creationId xmlns:a16="http://schemas.microsoft.com/office/drawing/2014/main" id="{A34C3D6D-64C2-4532-A5C4-819B79C710C6}"/>
                  </a:ext>
                </a:extLst>
              </p:cNvPr>
              <p:cNvSpPr txBox="1">
                <a:spLocks noChangeArrowheads="1"/>
              </p:cNvSpPr>
              <p:nvPr/>
            </p:nvSpPr>
            <p:spPr bwMode="auto">
              <a:xfrm>
                <a:off x="1474" y="1757"/>
                <a:ext cx="1587" cy="448"/>
              </a:xfrm>
              <a:prstGeom prst="rect">
                <a:avLst/>
              </a:prstGeom>
              <a:solidFill>
                <a:schemeClr val="accent1">
                  <a:lumMod val="20000"/>
                  <a:lumOff val="80000"/>
                </a:schemeClr>
              </a:solidFill>
              <a:ln w="9525" algn="ctr">
                <a:solidFill>
                  <a:schemeClr val="accent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000" dirty="0">
                    <a:solidFill>
                      <a:srgbClr val="00008C"/>
                    </a:solidFill>
                    <a:latin typeface="Times New Roman" panose="02020603050405020304" pitchFamily="18" charset="0"/>
                    <a:ea typeface="SimHei" panose="02010609060101010101" pitchFamily="49" charset="-122"/>
                  </a:rPr>
                  <a:t>成立“环境科学与工程实验实践教学中心”</a:t>
                </a:r>
                <a:endParaRPr lang="en-US" altLang="zh-CN" sz="2000" dirty="0">
                  <a:solidFill>
                    <a:srgbClr val="00008C"/>
                  </a:solidFill>
                  <a:latin typeface="Times New Roman" panose="02020603050405020304" pitchFamily="18" charset="0"/>
                  <a:ea typeface="SimHei" panose="02010609060101010101" pitchFamily="49" charset="-122"/>
                </a:endParaRPr>
              </a:p>
            </p:txBody>
          </p:sp>
        </p:grpSp>
        <p:sp>
          <p:nvSpPr>
            <p:cNvPr id="37" name="Oval 27">
              <a:extLst>
                <a:ext uri="{FF2B5EF4-FFF2-40B4-BE49-F238E27FC236}">
                  <a16:creationId xmlns:a16="http://schemas.microsoft.com/office/drawing/2014/main" id="{53E37F07-4D2F-4E6F-9C6F-FF4B9D12502B}"/>
                </a:ext>
              </a:extLst>
            </p:cNvPr>
            <p:cNvSpPr>
              <a:spLocks noChangeArrowheads="1"/>
            </p:cNvSpPr>
            <p:nvPr/>
          </p:nvSpPr>
          <p:spPr bwMode="auto">
            <a:xfrm>
              <a:off x="6257926" y="4513263"/>
              <a:ext cx="144462" cy="144462"/>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38" name="Oval 28">
              <a:extLst>
                <a:ext uri="{FF2B5EF4-FFF2-40B4-BE49-F238E27FC236}">
                  <a16:creationId xmlns:a16="http://schemas.microsoft.com/office/drawing/2014/main" id="{0F5D18A2-98BC-46B2-8C6E-9C63BD5A9552}"/>
                </a:ext>
              </a:extLst>
            </p:cNvPr>
            <p:cNvSpPr>
              <a:spLocks noChangeArrowheads="1"/>
            </p:cNvSpPr>
            <p:nvPr/>
          </p:nvSpPr>
          <p:spPr bwMode="auto">
            <a:xfrm>
              <a:off x="5106194" y="5815807"/>
              <a:ext cx="144463" cy="144462"/>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grpSp>
          <p:nvGrpSpPr>
            <p:cNvPr id="39" name="Group 42">
              <a:extLst>
                <a:ext uri="{FF2B5EF4-FFF2-40B4-BE49-F238E27FC236}">
                  <a16:creationId xmlns:a16="http://schemas.microsoft.com/office/drawing/2014/main" id="{816484F9-8FE4-4F67-9272-4DE4ECDF3BD1}"/>
                </a:ext>
              </a:extLst>
            </p:cNvPr>
            <p:cNvGrpSpPr>
              <a:grpSpLocks/>
            </p:cNvGrpSpPr>
            <p:nvPr/>
          </p:nvGrpSpPr>
          <p:grpSpPr bwMode="auto">
            <a:xfrm>
              <a:off x="4151314" y="3357563"/>
              <a:ext cx="3095625" cy="711200"/>
              <a:chOff x="1248" y="2399"/>
              <a:chExt cx="1950" cy="448"/>
            </a:xfrm>
          </p:grpSpPr>
          <p:sp>
            <p:nvSpPr>
              <p:cNvPr id="67" name="Text Box 14">
                <a:extLst>
                  <a:ext uri="{FF2B5EF4-FFF2-40B4-BE49-F238E27FC236}">
                    <a16:creationId xmlns:a16="http://schemas.microsoft.com/office/drawing/2014/main" id="{FB5AB58A-4B39-4FCE-AA45-E1ED9ECD5CBF}"/>
                  </a:ext>
                </a:extLst>
              </p:cNvPr>
              <p:cNvSpPr txBox="1">
                <a:spLocks noChangeArrowheads="1"/>
              </p:cNvSpPr>
              <p:nvPr/>
            </p:nvSpPr>
            <p:spPr bwMode="auto">
              <a:xfrm>
                <a:off x="2472" y="2506"/>
                <a:ext cx="7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a:solidFill>
                      <a:srgbClr val="FF0000"/>
                    </a:solidFill>
                    <a:latin typeface="Times New Roman" panose="02020603050405020304" pitchFamily="18" charset="0"/>
                  </a:rPr>
                  <a:t>1997</a:t>
                </a:r>
                <a:r>
                  <a:rPr lang="zh-CN" altLang="en-US" sz="2200" b="1">
                    <a:solidFill>
                      <a:srgbClr val="FF0000"/>
                    </a:solidFill>
                    <a:latin typeface="Times New Roman" panose="02020603050405020304" pitchFamily="18" charset="0"/>
                  </a:rPr>
                  <a:t>年</a:t>
                </a:r>
              </a:p>
            </p:txBody>
          </p:sp>
          <p:sp>
            <p:nvSpPr>
              <p:cNvPr id="68" name="Text Box 19">
                <a:extLst>
                  <a:ext uri="{FF2B5EF4-FFF2-40B4-BE49-F238E27FC236}">
                    <a16:creationId xmlns:a16="http://schemas.microsoft.com/office/drawing/2014/main" id="{622063EF-F86D-457A-9707-DDAF80327484}"/>
                  </a:ext>
                </a:extLst>
              </p:cNvPr>
              <p:cNvSpPr txBox="1">
                <a:spLocks noChangeArrowheads="1"/>
              </p:cNvSpPr>
              <p:nvPr/>
            </p:nvSpPr>
            <p:spPr bwMode="auto">
              <a:xfrm>
                <a:off x="1248" y="2399"/>
                <a:ext cx="1224" cy="448"/>
              </a:xfrm>
              <a:prstGeom prst="rect">
                <a:avLst/>
              </a:prstGeom>
              <a:solidFill>
                <a:schemeClr val="accent1">
                  <a:lumMod val="20000"/>
                  <a:lumOff val="80000"/>
                </a:schemeClr>
              </a:solidFill>
              <a:ln w="9525" algn="ctr">
                <a:solidFill>
                  <a:schemeClr val="accent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000" dirty="0">
                    <a:solidFill>
                      <a:srgbClr val="00008C"/>
                    </a:solidFill>
                    <a:latin typeface="Times New Roman" panose="02020603050405020304" pitchFamily="18" charset="0"/>
                    <a:ea typeface="SimHei" panose="02010609060101010101" pitchFamily="49" charset="-122"/>
                  </a:rPr>
                  <a:t>更名为“环境科学与工程系”</a:t>
                </a:r>
              </a:p>
            </p:txBody>
          </p:sp>
          <p:sp>
            <p:nvSpPr>
              <p:cNvPr id="69" name="Oval 31">
                <a:extLst>
                  <a:ext uri="{FF2B5EF4-FFF2-40B4-BE49-F238E27FC236}">
                    <a16:creationId xmlns:a16="http://schemas.microsoft.com/office/drawing/2014/main" id="{EEAC77CB-D1F9-4E59-AFF9-EA70300CA04E}"/>
                  </a:ext>
                </a:extLst>
              </p:cNvPr>
              <p:cNvSpPr>
                <a:spLocks noChangeArrowheads="1"/>
              </p:cNvSpPr>
              <p:nvPr/>
            </p:nvSpPr>
            <p:spPr bwMode="auto">
              <a:xfrm>
                <a:off x="3069" y="2600"/>
                <a:ext cx="91" cy="91"/>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grpSp>
        <p:sp>
          <p:nvSpPr>
            <p:cNvPr id="40" name="Oval 32">
              <a:extLst>
                <a:ext uri="{FF2B5EF4-FFF2-40B4-BE49-F238E27FC236}">
                  <a16:creationId xmlns:a16="http://schemas.microsoft.com/office/drawing/2014/main" id="{50A0549C-0DC1-4E67-8371-FE50ABE54283}"/>
                </a:ext>
              </a:extLst>
            </p:cNvPr>
            <p:cNvSpPr>
              <a:spLocks noChangeArrowheads="1"/>
            </p:cNvSpPr>
            <p:nvPr/>
          </p:nvSpPr>
          <p:spPr bwMode="auto">
            <a:xfrm>
              <a:off x="7842406" y="2777352"/>
              <a:ext cx="144463" cy="146050"/>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41" name="Text Box 34">
              <a:extLst>
                <a:ext uri="{FF2B5EF4-FFF2-40B4-BE49-F238E27FC236}">
                  <a16:creationId xmlns:a16="http://schemas.microsoft.com/office/drawing/2014/main" id="{68061EAD-7CAF-431B-9D23-4AF1DA197AF2}"/>
                </a:ext>
              </a:extLst>
            </p:cNvPr>
            <p:cNvSpPr txBox="1">
              <a:spLocks noChangeArrowheads="1"/>
            </p:cNvSpPr>
            <p:nvPr/>
          </p:nvSpPr>
          <p:spPr bwMode="auto">
            <a:xfrm>
              <a:off x="5016503" y="6040438"/>
              <a:ext cx="11890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Clr>
                  <a:srgbClr val="800080"/>
                </a:buClr>
                <a:buFont typeface="Wingdings" panose="05000000000000000000" pitchFamily="2" charset="2"/>
                <a:buNone/>
              </a:pPr>
              <a:r>
                <a:rPr lang="zh-CN" altLang="en-US" sz="2200" dirty="0">
                  <a:latin typeface="Times New Roman" panose="02020603050405020304" pitchFamily="18" charset="0"/>
                  <a:ea typeface="SimHei" panose="02010609060101010101" pitchFamily="49" charset="-122"/>
                </a:rPr>
                <a:t>水处理实验</a:t>
              </a:r>
            </a:p>
          </p:txBody>
        </p:sp>
        <p:sp>
          <p:nvSpPr>
            <p:cNvPr id="42" name="Text Box 35">
              <a:extLst>
                <a:ext uri="{FF2B5EF4-FFF2-40B4-BE49-F238E27FC236}">
                  <a16:creationId xmlns:a16="http://schemas.microsoft.com/office/drawing/2014/main" id="{9D135D04-6FEA-471E-AA70-260B003C8F06}"/>
                </a:ext>
              </a:extLst>
            </p:cNvPr>
            <p:cNvSpPr txBox="1">
              <a:spLocks noChangeArrowheads="1"/>
            </p:cNvSpPr>
            <p:nvPr/>
          </p:nvSpPr>
          <p:spPr bwMode="auto">
            <a:xfrm>
              <a:off x="5735638" y="5259388"/>
              <a:ext cx="1655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200">
                  <a:latin typeface="Times New Roman" panose="02020603050405020304" pitchFamily="18" charset="0"/>
                  <a:ea typeface="SimHei" panose="02010609060101010101" pitchFamily="49" charset="-122"/>
                </a:rPr>
                <a:t>新增大气污染控制实验</a:t>
              </a:r>
            </a:p>
          </p:txBody>
        </p:sp>
        <p:sp>
          <p:nvSpPr>
            <p:cNvPr id="43" name="Text Box 36">
              <a:extLst>
                <a:ext uri="{FF2B5EF4-FFF2-40B4-BE49-F238E27FC236}">
                  <a16:creationId xmlns:a16="http://schemas.microsoft.com/office/drawing/2014/main" id="{9C4AC159-02AD-4926-A089-E17355232723}"/>
                </a:ext>
              </a:extLst>
            </p:cNvPr>
            <p:cNvSpPr txBox="1">
              <a:spLocks noChangeArrowheads="1"/>
            </p:cNvSpPr>
            <p:nvPr/>
          </p:nvSpPr>
          <p:spPr bwMode="auto">
            <a:xfrm>
              <a:off x="6599239" y="4333875"/>
              <a:ext cx="19446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200">
                  <a:latin typeface="Times New Roman" panose="02020603050405020304" pitchFamily="18" charset="0"/>
                  <a:ea typeface="SimHei" panose="02010609060101010101" pitchFamily="49" charset="-122"/>
                </a:rPr>
                <a:t>环境监测、环境微生物实验</a:t>
              </a:r>
              <a:endParaRPr lang="en-US" altLang="zh-CN" sz="2200">
                <a:latin typeface="Times New Roman" panose="02020603050405020304" pitchFamily="18" charset="0"/>
                <a:ea typeface="SimHei" panose="02010609060101010101" pitchFamily="49" charset="-122"/>
              </a:endParaRPr>
            </a:p>
          </p:txBody>
        </p:sp>
        <p:sp>
          <p:nvSpPr>
            <p:cNvPr id="44" name="Text Box 37">
              <a:extLst>
                <a:ext uri="{FF2B5EF4-FFF2-40B4-BE49-F238E27FC236}">
                  <a16:creationId xmlns:a16="http://schemas.microsoft.com/office/drawing/2014/main" id="{D8D84689-3EF5-4714-8564-3BD3E669A9CD}"/>
                </a:ext>
              </a:extLst>
            </p:cNvPr>
            <p:cNvSpPr txBox="1">
              <a:spLocks noChangeArrowheads="1"/>
            </p:cNvSpPr>
            <p:nvPr/>
          </p:nvSpPr>
          <p:spPr bwMode="auto">
            <a:xfrm>
              <a:off x="8326438" y="2524125"/>
              <a:ext cx="2159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Clr>
                  <a:srgbClr val="800080"/>
                </a:buClr>
                <a:buFont typeface="Wingdings" panose="05000000000000000000" pitchFamily="2" charset="2"/>
                <a:buNone/>
              </a:pPr>
              <a:r>
                <a:rPr lang="zh-CN" altLang="en-US" sz="2200">
                  <a:latin typeface="Times New Roman" panose="02020603050405020304" pitchFamily="18" charset="0"/>
                  <a:ea typeface="SimHei" panose="02010609060101010101" pitchFamily="49" charset="-122"/>
                </a:rPr>
                <a:t>环境信息与工艺控制技术实验</a:t>
              </a:r>
            </a:p>
          </p:txBody>
        </p:sp>
        <p:sp>
          <p:nvSpPr>
            <p:cNvPr id="45" name="Oval 43">
              <a:extLst>
                <a:ext uri="{FF2B5EF4-FFF2-40B4-BE49-F238E27FC236}">
                  <a16:creationId xmlns:a16="http://schemas.microsoft.com/office/drawing/2014/main" id="{BBA6799E-C3AE-4B91-A823-AF0B61A3FA59}"/>
                </a:ext>
              </a:extLst>
            </p:cNvPr>
            <p:cNvSpPr>
              <a:spLocks noChangeArrowheads="1"/>
            </p:cNvSpPr>
            <p:nvPr/>
          </p:nvSpPr>
          <p:spPr bwMode="auto">
            <a:xfrm>
              <a:off x="7318375" y="3429001"/>
              <a:ext cx="2305050" cy="936625"/>
            </a:xfrm>
            <a:prstGeom prst="ellipse">
              <a:avLst/>
            </a:prstGeom>
            <a:solidFill>
              <a:srgbClr val="99CC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46" name="Rectangle 44">
              <a:extLst>
                <a:ext uri="{FF2B5EF4-FFF2-40B4-BE49-F238E27FC236}">
                  <a16:creationId xmlns:a16="http://schemas.microsoft.com/office/drawing/2014/main" id="{ED60C19D-9FB3-4852-AE6A-E0DE2DD27497}"/>
                </a:ext>
              </a:extLst>
            </p:cNvPr>
            <p:cNvSpPr>
              <a:spLocks noChangeArrowheads="1"/>
            </p:cNvSpPr>
            <p:nvPr/>
          </p:nvSpPr>
          <p:spPr bwMode="auto">
            <a:xfrm>
              <a:off x="7462839" y="3502025"/>
              <a:ext cx="21605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200">
                  <a:latin typeface="Times New Roman" panose="02020603050405020304" pitchFamily="18" charset="0"/>
                  <a:ea typeface="SimHei" panose="02010609060101010101" pitchFamily="49" charset="-122"/>
                </a:rPr>
                <a:t>固体废物、环境工程原理实验</a:t>
              </a:r>
              <a:endParaRPr lang="en-US" altLang="zh-CN" sz="2200">
                <a:latin typeface="Times New Roman" panose="02020603050405020304" pitchFamily="18" charset="0"/>
                <a:ea typeface="SimHei" panose="02010609060101010101" pitchFamily="49" charset="-122"/>
              </a:endParaRPr>
            </a:p>
          </p:txBody>
        </p:sp>
        <p:sp>
          <p:nvSpPr>
            <p:cNvPr id="47" name="Oval 52">
              <a:extLst>
                <a:ext uri="{FF2B5EF4-FFF2-40B4-BE49-F238E27FC236}">
                  <a16:creationId xmlns:a16="http://schemas.microsoft.com/office/drawing/2014/main" id="{AFC2FD25-AD48-4944-BA85-3122BAEFC881}"/>
                </a:ext>
              </a:extLst>
            </p:cNvPr>
            <p:cNvSpPr>
              <a:spLocks noChangeArrowheads="1"/>
            </p:cNvSpPr>
            <p:nvPr/>
          </p:nvSpPr>
          <p:spPr bwMode="auto">
            <a:xfrm>
              <a:off x="4583113" y="6402388"/>
              <a:ext cx="144462" cy="144462"/>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grpSp>
          <p:nvGrpSpPr>
            <p:cNvPr id="48" name="Group 47">
              <a:extLst>
                <a:ext uri="{FF2B5EF4-FFF2-40B4-BE49-F238E27FC236}">
                  <a16:creationId xmlns:a16="http://schemas.microsoft.com/office/drawing/2014/main" id="{A041025E-A91B-448C-AFF9-C4ED93DDD628}"/>
                </a:ext>
              </a:extLst>
            </p:cNvPr>
            <p:cNvGrpSpPr>
              <a:grpSpLocks/>
            </p:cNvGrpSpPr>
            <p:nvPr/>
          </p:nvGrpSpPr>
          <p:grpSpPr bwMode="auto">
            <a:xfrm>
              <a:off x="1631951" y="6237288"/>
              <a:ext cx="3095625" cy="431800"/>
              <a:chOff x="23" y="3838"/>
              <a:chExt cx="1950" cy="272"/>
            </a:xfrm>
          </p:grpSpPr>
          <p:sp>
            <p:nvSpPr>
              <p:cNvPr id="65" name="Text Box 51">
                <a:extLst>
                  <a:ext uri="{FF2B5EF4-FFF2-40B4-BE49-F238E27FC236}">
                    <a16:creationId xmlns:a16="http://schemas.microsoft.com/office/drawing/2014/main" id="{13E96978-C209-434C-B0AC-C93F7D0D5D5A}"/>
                  </a:ext>
                </a:extLst>
              </p:cNvPr>
              <p:cNvSpPr txBox="1">
                <a:spLocks noChangeArrowheads="1"/>
              </p:cNvSpPr>
              <p:nvPr/>
            </p:nvSpPr>
            <p:spPr bwMode="auto">
              <a:xfrm>
                <a:off x="1247" y="3838"/>
                <a:ext cx="7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a:solidFill>
                      <a:srgbClr val="FF0000"/>
                    </a:solidFill>
                    <a:latin typeface="Times New Roman" panose="02020603050405020304" pitchFamily="18" charset="0"/>
                  </a:rPr>
                  <a:t>1934</a:t>
                </a:r>
                <a:r>
                  <a:rPr lang="zh-CN" altLang="en-US" sz="2200" b="1">
                    <a:solidFill>
                      <a:srgbClr val="FF0000"/>
                    </a:solidFill>
                    <a:latin typeface="Times New Roman" panose="02020603050405020304" pitchFamily="18" charset="0"/>
                  </a:rPr>
                  <a:t>年</a:t>
                </a:r>
              </a:p>
            </p:txBody>
          </p:sp>
          <p:sp>
            <p:nvSpPr>
              <p:cNvPr id="66" name="Text Box 53">
                <a:extLst>
                  <a:ext uri="{FF2B5EF4-FFF2-40B4-BE49-F238E27FC236}">
                    <a16:creationId xmlns:a16="http://schemas.microsoft.com/office/drawing/2014/main" id="{2C76B9EB-6478-4D33-8FEF-9A99822A3F27}"/>
                  </a:ext>
                </a:extLst>
              </p:cNvPr>
              <p:cNvSpPr txBox="1">
                <a:spLocks noChangeArrowheads="1"/>
              </p:cNvSpPr>
              <p:nvPr/>
            </p:nvSpPr>
            <p:spPr bwMode="auto">
              <a:xfrm>
                <a:off x="23" y="3854"/>
                <a:ext cx="1269" cy="256"/>
              </a:xfrm>
              <a:prstGeom prst="rect">
                <a:avLst/>
              </a:prstGeom>
              <a:solidFill>
                <a:schemeClr val="accent1">
                  <a:lumMod val="20000"/>
                  <a:lumOff val="80000"/>
                </a:schemeClr>
              </a:solidFill>
              <a:ln w="9525" algn="ctr">
                <a:solidFill>
                  <a:schemeClr val="accent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000" dirty="0">
                    <a:solidFill>
                      <a:srgbClr val="00008C"/>
                    </a:solidFill>
                    <a:latin typeface="Times New Roman" panose="02020603050405020304" pitchFamily="18" charset="0"/>
                    <a:ea typeface="SimHei" panose="02010609060101010101" pitchFamily="49" charset="-122"/>
                  </a:rPr>
                  <a:t>卫生工程实验室</a:t>
                </a:r>
              </a:p>
            </p:txBody>
          </p:sp>
        </p:grpSp>
        <p:pic>
          <p:nvPicPr>
            <p:cNvPr id="49" name="Picture 54" descr="u=554175506,2693383764&amp;gp=0">
              <a:hlinkClick r:id="rId3"/>
              <a:extLst>
                <a:ext uri="{FF2B5EF4-FFF2-40B4-BE49-F238E27FC236}">
                  <a16:creationId xmlns:a16="http://schemas.microsoft.com/office/drawing/2014/main" id="{09CC24EB-E172-4CEA-8A27-1936DD30419E}"/>
                </a:ext>
              </a:extLst>
            </p:cNvPr>
            <p:cNvPicPr>
              <a:picLocks noChangeAspect="1" noChangeArrowheads="1"/>
            </p:cNvPicPr>
            <p:nvPr/>
          </p:nvPicPr>
          <p:blipFill>
            <a:blip r:embed="rId4" cstate="print"/>
            <a:srcRect/>
            <a:stretch>
              <a:fillRect/>
            </a:stretch>
          </p:blipFill>
          <p:spPr bwMode="auto">
            <a:xfrm>
              <a:off x="950628" y="1152525"/>
              <a:ext cx="1435100" cy="2057400"/>
            </a:xfrm>
            <a:prstGeom prst="ellipse">
              <a:avLst/>
            </a:prstGeom>
            <a:ln>
              <a:noFill/>
            </a:ln>
            <a:effectLst>
              <a:softEdge rad="112500"/>
            </a:effectLst>
          </p:spPr>
        </p:pic>
        <p:sp>
          <p:nvSpPr>
            <p:cNvPr id="50" name="Text Box 55">
              <a:extLst>
                <a:ext uri="{FF2B5EF4-FFF2-40B4-BE49-F238E27FC236}">
                  <a16:creationId xmlns:a16="http://schemas.microsoft.com/office/drawing/2014/main" id="{732796FC-3D5E-40F5-B88F-BEA9CEF8DA98}"/>
                </a:ext>
              </a:extLst>
            </p:cNvPr>
            <p:cNvSpPr txBox="1">
              <a:spLocks noChangeArrowheads="1"/>
            </p:cNvSpPr>
            <p:nvPr/>
          </p:nvSpPr>
          <p:spPr bwMode="auto">
            <a:xfrm>
              <a:off x="658814" y="3499560"/>
              <a:ext cx="201612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FontTx/>
                <a:buNone/>
              </a:pPr>
              <a:r>
                <a:rPr lang="zh-CN" altLang="en-US" sz="1800" dirty="0">
                  <a:solidFill>
                    <a:srgbClr val="00008C"/>
                  </a:solidFill>
                  <a:latin typeface="Times New Roman" panose="02020603050405020304" pitchFamily="18" charset="0"/>
                  <a:ea typeface="SimHei" panose="02010609060101010101" pitchFamily="49" charset="-122"/>
                </a:rPr>
                <a:t>我国环境工程专业奠基人陶葆楷先生</a:t>
              </a:r>
            </a:p>
            <a:p>
              <a:pPr eaLnBrk="1" hangingPunct="1">
                <a:lnSpc>
                  <a:spcPct val="120000"/>
                </a:lnSpc>
                <a:spcBef>
                  <a:spcPct val="0"/>
                </a:spcBef>
                <a:buFontTx/>
                <a:buNone/>
              </a:pPr>
              <a:r>
                <a:rPr lang="zh-CN" altLang="en-US" sz="1800" dirty="0">
                  <a:solidFill>
                    <a:srgbClr val="00008C"/>
                  </a:solidFill>
                  <a:latin typeface="Times New Roman" panose="02020603050405020304" pitchFamily="18" charset="0"/>
                  <a:ea typeface="SimHei" panose="02010609060101010101" pitchFamily="49" charset="-122"/>
                </a:rPr>
                <a:t>（</a:t>
              </a:r>
              <a:r>
                <a:rPr lang="en-US" altLang="zh-CN" sz="1800" dirty="0">
                  <a:solidFill>
                    <a:srgbClr val="00008C"/>
                  </a:solidFill>
                  <a:latin typeface="Times New Roman" panose="02020603050405020304" pitchFamily="18" charset="0"/>
                  <a:ea typeface="SimHei" panose="02010609060101010101" pitchFamily="49" charset="-122"/>
                </a:rPr>
                <a:t>1906</a:t>
              </a:r>
              <a:r>
                <a:rPr lang="zh-CN" altLang="en-US" sz="1800" dirty="0">
                  <a:solidFill>
                    <a:srgbClr val="00008C"/>
                  </a:solidFill>
                  <a:latin typeface="Times New Roman" panose="02020603050405020304" pitchFamily="18" charset="0"/>
                  <a:ea typeface="SimHei" panose="02010609060101010101" pitchFamily="49" charset="-122"/>
                </a:rPr>
                <a:t>－</a:t>
              </a:r>
              <a:r>
                <a:rPr lang="en-US" altLang="zh-CN" sz="1800" dirty="0">
                  <a:solidFill>
                    <a:srgbClr val="00008C"/>
                  </a:solidFill>
                  <a:latin typeface="Times New Roman" panose="02020603050405020304" pitchFamily="18" charset="0"/>
                  <a:ea typeface="SimHei" panose="02010609060101010101" pitchFamily="49" charset="-122"/>
                </a:rPr>
                <a:t>1992</a:t>
              </a:r>
              <a:r>
                <a:rPr lang="zh-CN" altLang="en-US" sz="1800" dirty="0">
                  <a:solidFill>
                    <a:srgbClr val="00008C"/>
                  </a:solidFill>
                  <a:latin typeface="Times New Roman" panose="02020603050405020304" pitchFamily="18" charset="0"/>
                  <a:ea typeface="SimHei" panose="02010609060101010101" pitchFamily="49" charset="-122"/>
                </a:rPr>
                <a:t>）</a:t>
              </a:r>
            </a:p>
          </p:txBody>
        </p:sp>
        <p:grpSp>
          <p:nvGrpSpPr>
            <p:cNvPr id="51" name="Group 45">
              <a:extLst>
                <a:ext uri="{FF2B5EF4-FFF2-40B4-BE49-F238E27FC236}">
                  <a16:creationId xmlns:a16="http://schemas.microsoft.com/office/drawing/2014/main" id="{C798BB9F-E492-4DF5-92EE-35BBCEDF4629}"/>
                </a:ext>
              </a:extLst>
            </p:cNvPr>
            <p:cNvGrpSpPr>
              <a:grpSpLocks/>
            </p:cNvGrpSpPr>
            <p:nvPr/>
          </p:nvGrpSpPr>
          <p:grpSpPr bwMode="auto">
            <a:xfrm>
              <a:off x="2422526" y="5086350"/>
              <a:ext cx="3382963" cy="431800"/>
              <a:chOff x="431" y="3203"/>
              <a:chExt cx="2131" cy="272"/>
            </a:xfrm>
          </p:grpSpPr>
          <p:sp>
            <p:nvSpPr>
              <p:cNvPr id="63" name="Text Box 12">
                <a:extLst>
                  <a:ext uri="{FF2B5EF4-FFF2-40B4-BE49-F238E27FC236}">
                    <a16:creationId xmlns:a16="http://schemas.microsoft.com/office/drawing/2014/main" id="{216EFE08-93C3-4B03-81FE-B7E87EDED8F3}"/>
                  </a:ext>
                </a:extLst>
              </p:cNvPr>
              <p:cNvSpPr txBox="1">
                <a:spLocks noChangeArrowheads="1"/>
              </p:cNvSpPr>
              <p:nvPr/>
            </p:nvSpPr>
            <p:spPr bwMode="auto">
              <a:xfrm>
                <a:off x="1836" y="3206"/>
                <a:ext cx="7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a:solidFill>
                      <a:srgbClr val="FF0000"/>
                    </a:solidFill>
                    <a:latin typeface="Times New Roman" panose="02020603050405020304" pitchFamily="18" charset="0"/>
                  </a:rPr>
                  <a:t>1977</a:t>
                </a:r>
                <a:r>
                  <a:rPr lang="zh-CN" altLang="en-US" sz="2200" b="1">
                    <a:solidFill>
                      <a:srgbClr val="FF0000"/>
                    </a:solidFill>
                    <a:latin typeface="Times New Roman" panose="02020603050405020304" pitchFamily="18" charset="0"/>
                  </a:rPr>
                  <a:t>年</a:t>
                </a:r>
              </a:p>
            </p:txBody>
          </p:sp>
          <p:sp>
            <p:nvSpPr>
              <p:cNvPr id="64" name="Text Box 17">
                <a:extLst>
                  <a:ext uri="{FF2B5EF4-FFF2-40B4-BE49-F238E27FC236}">
                    <a16:creationId xmlns:a16="http://schemas.microsoft.com/office/drawing/2014/main" id="{077014D1-9AE4-499A-B681-D8918C95E821}"/>
                  </a:ext>
                </a:extLst>
              </p:cNvPr>
              <p:cNvSpPr txBox="1">
                <a:spLocks noChangeArrowheads="1"/>
              </p:cNvSpPr>
              <p:nvPr/>
            </p:nvSpPr>
            <p:spPr bwMode="auto">
              <a:xfrm>
                <a:off x="431" y="3203"/>
                <a:ext cx="1414" cy="250"/>
              </a:xfrm>
              <a:prstGeom prst="rect">
                <a:avLst/>
              </a:prstGeom>
              <a:solidFill>
                <a:srgbClr val="FF3300">
                  <a:alpha val="59999"/>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r" eaLnBrk="1" hangingPunct="1">
                  <a:spcBef>
                    <a:spcPct val="50000"/>
                  </a:spcBef>
                  <a:buClr>
                    <a:srgbClr val="800080"/>
                  </a:buClr>
                  <a:buFont typeface="Wingdings" panose="05000000000000000000" pitchFamily="2" charset="2"/>
                  <a:buNone/>
                </a:pPr>
                <a:r>
                  <a:rPr lang="zh-CN" altLang="en-US" sz="2000">
                    <a:solidFill>
                      <a:schemeClr val="bg1"/>
                    </a:solidFill>
                    <a:latin typeface="Times New Roman" panose="02020603050405020304" pitchFamily="18" charset="0"/>
                    <a:ea typeface="SimHei" panose="02010609060101010101" pitchFamily="49" charset="-122"/>
                  </a:rPr>
                  <a:t>创设环境工程专业</a:t>
                </a:r>
              </a:p>
            </p:txBody>
          </p:sp>
        </p:grpSp>
        <p:sp>
          <p:nvSpPr>
            <p:cNvPr id="52" name="Oval 28">
              <a:extLst>
                <a:ext uri="{FF2B5EF4-FFF2-40B4-BE49-F238E27FC236}">
                  <a16:creationId xmlns:a16="http://schemas.microsoft.com/office/drawing/2014/main" id="{9E76D7D5-C721-4447-8DF4-E1FA9D77FA1F}"/>
                </a:ext>
              </a:extLst>
            </p:cNvPr>
            <p:cNvSpPr>
              <a:spLocks noChangeArrowheads="1"/>
            </p:cNvSpPr>
            <p:nvPr/>
          </p:nvSpPr>
          <p:spPr bwMode="auto">
            <a:xfrm>
              <a:off x="5561222" y="5284787"/>
              <a:ext cx="144462" cy="144462"/>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53" name="Text Box 55">
              <a:extLst>
                <a:ext uri="{FF2B5EF4-FFF2-40B4-BE49-F238E27FC236}">
                  <a16:creationId xmlns:a16="http://schemas.microsoft.com/office/drawing/2014/main" id="{6CF0795F-AE87-4A39-AD44-E7A6B8BE848A}"/>
                </a:ext>
              </a:extLst>
            </p:cNvPr>
            <p:cNvSpPr txBox="1">
              <a:spLocks noChangeArrowheads="1"/>
            </p:cNvSpPr>
            <p:nvPr/>
          </p:nvSpPr>
          <p:spPr bwMode="auto">
            <a:xfrm>
              <a:off x="7462839" y="5774486"/>
              <a:ext cx="4553153" cy="749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FontTx/>
                <a:buNone/>
              </a:pPr>
              <a:r>
                <a:rPr lang="zh-CN" altLang="en-US" sz="2000" dirty="0">
                  <a:solidFill>
                    <a:srgbClr val="00008C"/>
                  </a:solidFill>
                  <a:latin typeface="Times New Roman" panose="02020603050405020304" pitchFamily="18" charset="0"/>
                  <a:ea typeface="SimHei" panose="02010609060101010101" pitchFamily="49" charset="-122"/>
                </a:rPr>
                <a:t>教学中心的发展见证了我国环境学科的萌芽、发展与壮大过程。</a:t>
              </a:r>
              <a:endParaRPr lang="en-US" altLang="zh-CN" sz="2000" dirty="0">
                <a:solidFill>
                  <a:srgbClr val="00008C"/>
                </a:solidFill>
                <a:latin typeface="Times New Roman" panose="02020603050405020304" pitchFamily="18" charset="0"/>
                <a:ea typeface="SimHei" panose="02010609060101010101" pitchFamily="49" charset="-122"/>
              </a:endParaRPr>
            </a:p>
          </p:txBody>
        </p:sp>
        <p:sp>
          <p:nvSpPr>
            <p:cNvPr id="54" name="Text Box 49">
              <a:extLst>
                <a:ext uri="{FF2B5EF4-FFF2-40B4-BE49-F238E27FC236}">
                  <a16:creationId xmlns:a16="http://schemas.microsoft.com/office/drawing/2014/main" id="{21C52024-2416-4814-9560-666B7D69973B}"/>
                </a:ext>
              </a:extLst>
            </p:cNvPr>
            <p:cNvSpPr txBox="1">
              <a:spLocks noChangeArrowheads="1"/>
            </p:cNvSpPr>
            <p:nvPr/>
          </p:nvSpPr>
          <p:spPr bwMode="auto">
            <a:xfrm>
              <a:off x="3973514" y="908050"/>
              <a:ext cx="46434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600" b="1">
                  <a:solidFill>
                    <a:srgbClr val="FF0000"/>
                  </a:solidFill>
                  <a:latin typeface="SimHei" panose="02010609060101010101" pitchFamily="49" charset="-122"/>
                  <a:ea typeface="SimHei" panose="02010609060101010101" pitchFamily="49" charset="-122"/>
                </a:rPr>
                <a:t>国家级实验教学示范中心</a:t>
              </a:r>
            </a:p>
          </p:txBody>
        </p:sp>
        <p:sp>
          <p:nvSpPr>
            <p:cNvPr id="55" name="Oval 32">
              <a:extLst>
                <a:ext uri="{FF2B5EF4-FFF2-40B4-BE49-F238E27FC236}">
                  <a16:creationId xmlns:a16="http://schemas.microsoft.com/office/drawing/2014/main" id="{2BC6E1B7-B14E-47DB-8126-07E2BC05F385}"/>
                </a:ext>
              </a:extLst>
            </p:cNvPr>
            <p:cNvSpPr>
              <a:spLocks noChangeArrowheads="1"/>
            </p:cNvSpPr>
            <p:nvPr/>
          </p:nvSpPr>
          <p:spPr bwMode="auto">
            <a:xfrm>
              <a:off x="8543926" y="1989138"/>
              <a:ext cx="144463" cy="144462"/>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56" name="Text Box 15">
              <a:extLst>
                <a:ext uri="{FF2B5EF4-FFF2-40B4-BE49-F238E27FC236}">
                  <a16:creationId xmlns:a16="http://schemas.microsoft.com/office/drawing/2014/main" id="{3620544F-0B18-41AC-83DF-34B265688EEC}"/>
                </a:ext>
              </a:extLst>
            </p:cNvPr>
            <p:cNvSpPr txBox="1">
              <a:spLocks noChangeArrowheads="1"/>
            </p:cNvSpPr>
            <p:nvPr/>
          </p:nvSpPr>
          <p:spPr bwMode="auto">
            <a:xfrm>
              <a:off x="7535864" y="1844675"/>
              <a:ext cx="11525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a:solidFill>
                    <a:srgbClr val="FF0000"/>
                  </a:solidFill>
                  <a:latin typeface="Times New Roman" panose="02020603050405020304" pitchFamily="18" charset="0"/>
                </a:rPr>
                <a:t>2009</a:t>
              </a:r>
              <a:r>
                <a:rPr lang="zh-CN" altLang="en-US" sz="2200" b="1">
                  <a:solidFill>
                    <a:srgbClr val="FF0000"/>
                  </a:solidFill>
                  <a:latin typeface="Times New Roman" panose="02020603050405020304" pitchFamily="18" charset="0"/>
                </a:rPr>
                <a:t>年</a:t>
              </a:r>
            </a:p>
          </p:txBody>
        </p:sp>
        <p:sp>
          <p:nvSpPr>
            <p:cNvPr id="57" name="Oval 32">
              <a:extLst>
                <a:ext uri="{FF2B5EF4-FFF2-40B4-BE49-F238E27FC236}">
                  <a16:creationId xmlns:a16="http://schemas.microsoft.com/office/drawing/2014/main" id="{61C01260-67C4-4C56-BC69-A98527D7E84F}"/>
                </a:ext>
              </a:extLst>
            </p:cNvPr>
            <p:cNvSpPr>
              <a:spLocks noChangeArrowheads="1"/>
            </p:cNvSpPr>
            <p:nvPr/>
          </p:nvSpPr>
          <p:spPr bwMode="auto">
            <a:xfrm>
              <a:off x="9261475" y="1188661"/>
              <a:ext cx="144463" cy="144463"/>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58" name="Text Box 15">
              <a:extLst>
                <a:ext uri="{FF2B5EF4-FFF2-40B4-BE49-F238E27FC236}">
                  <a16:creationId xmlns:a16="http://schemas.microsoft.com/office/drawing/2014/main" id="{DF263FB1-673C-47FB-9644-4242974E45E5}"/>
                </a:ext>
              </a:extLst>
            </p:cNvPr>
            <p:cNvSpPr txBox="1">
              <a:spLocks noChangeArrowheads="1"/>
            </p:cNvSpPr>
            <p:nvPr/>
          </p:nvSpPr>
          <p:spPr bwMode="auto">
            <a:xfrm>
              <a:off x="8215635" y="969962"/>
              <a:ext cx="116343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dirty="0">
                  <a:solidFill>
                    <a:srgbClr val="FF0000"/>
                  </a:solidFill>
                  <a:latin typeface="Times New Roman" panose="02020603050405020304" pitchFamily="18" charset="0"/>
                </a:rPr>
                <a:t>2012</a:t>
              </a:r>
              <a:r>
                <a:rPr lang="zh-CN" altLang="en-US" sz="2200" b="1" dirty="0">
                  <a:solidFill>
                    <a:srgbClr val="FF0000"/>
                  </a:solidFill>
                  <a:latin typeface="Times New Roman" panose="02020603050405020304" pitchFamily="18" charset="0"/>
                </a:rPr>
                <a:t>年</a:t>
              </a:r>
            </a:p>
          </p:txBody>
        </p:sp>
        <p:sp>
          <p:nvSpPr>
            <p:cNvPr id="59" name="Text Box 49">
              <a:extLst>
                <a:ext uri="{FF2B5EF4-FFF2-40B4-BE49-F238E27FC236}">
                  <a16:creationId xmlns:a16="http://schemas.microsoft.com/office/drawing/2014/main" id="{6031491F-9A14-4467-9553-83888B24E6FE}"/>
                </a:ext>
              </a:extLst>
            </p:cNvPr>
            <p:cNvSpPr txBox="1">
              <a:spLocks noChangeArrowheads="1"/>
            </p:cNvSpPr>
            <p:nvPr/>
          </p:nvSpPr>
          <p:spPr bwMode="auto">
            <a:xfrm>
              <a:off x="3278189" y="1744663"/>
              <a:ext cx="46434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600" b="1">
                  <a:solidFill>
                    <a:srgbClr val="FF0000"/>
                  </a:solidFill>
                  <a:latin typeface="SimHei" panose="02010609060101010101" pitchFamily="49" charset="-122"/>
                  <a:ea typeface="SimHei" panose="02010609060101010101" pitchFamily="49" charset="-122"/>
                </a:rPr>
                <a:t>北京市实验教学示范中心</a:t>
              </a:r>
            </a:p>
          </p:txBody>
        </p:sp>
        <p:sp>
          <p:nvSpPr>
            <p:cNvPr id="60" name="Oval 32">
              <a:extLst>
                <a:ext uri="{FF2B5EF4-FFF2-40B4-BE49-F238E27FC236}">
                  <a16:creationId xmlns:a16="http://schemas.microsoft.com/office/drawing/2014/main" id="{EA6D0BD3-4184-4D1A-8A7D-A7489F2F5F40}"/>
                </a:ext>
              </a:extLst>
            </p:cNvPr>
            <p:cNvSpPr>
              <a:spLocks noChangeArrowheads="1"/>
            </p:cNvSpPr>
            <p:nvPr/>
          </p:nvSpPr>
          <p:spPr bwMode="auto">
            <a:xfrm>
              <a:off x="8975726" y="1494296"/>
              <a:ext cx="144463" cy="144462"/>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25000"/>
                </a:spcBef>
                <a:buClr>
                  <a:srgbClr val="800080"/>
                </a:buClr>
                <a:buFont typeface="Wingdings" panose="05000000000000000000" pitchFamily="2" charset="2"/>
                <a:buNone/>
              </a:pPr>
              <a:endParaRPr lang="zh-CN" altLang="en-US" sz="4200">
                <a:solidFill>
                  <a:srgbClr val="00008C"/>
                </a:solidFill>
                <a:latin typeface="Times New Roman" panose="02020603050405020304" pitchFamily="18" charset="0"/>
              </a:endParaRPr>
            </a:p>
          </p:txBody>
        </p:sp>
        <p:sp>
          <p:nvSpPr>
            <p:cNvPr id="61" name="Text Box 15">
              <a:extLst>
                <a:ext uri="{FF2B5EF4-FFF2-40B4-BE49-F238E27FC236}">
                  <a16:creationId xmlns:a16="http://schemas.microsoft.com/office/drawing/2014/main" id="{7FDC5EA3-6C7D-49C9-BA13-A50F76EADF68}"/>
                </a:ext>
              </a:extLst>
            </p:cNvPr>
            <p:cNvSpPr txBox="1">
              <a:spLocks noChangeArrowheads="1"/>
            </p:cNvSpPr>
            <p:nvPr/>
          </p:nvSpPr>
          <p:spPr bwMode="auto">
            <a:xfrm>
              <a:off x="7824789" y="1341439"/>
              <a:ext cx="11525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en-US" altLang="zh-CN" sz="2200" b="1">
                  <a:solidFill>
                    <a:srgbClr val="FF0000"/>
                  </a:solidFill>
                  <a:latin typeface="Times New Roman" panose="02020603050405020304" pitchFamily="18" charset="0"/>
                </a:rPr>
                <a:t>2011</a:t>
              </a:r>
              <a:r>
                <a:rPr lang="zh-CN" altLang="en-US" sz="2200" b="1">
                  <a:solidFill>
                    <a:srgbClr val="FF0000"/>
                  </a:solidFill>
                  <a:latin typeface="Times New Roman" panose="02020603050405020304" pitchFamily="18" charset="0"/>
                </a:rPr>
                <a:t>年</a:t>
              </a:r>
            </a:p>
          </p:txBody>
        </p:sp>
        <p:sp>
          <p:nvSpPr>
            <p:cNvPr id="62" name="Text Box 19">
              <a:extLst>
                <a:ext uri="{FF2B5EF4-FFF2-40B4-BE49-F238E27FC236}">
                  <a16:creationId xmlns:a16="http://schemas.microsoft.com/office/drawing/2014/main" id="{0EC68450-79A3-4BC1-9552-38BA94A608D8}"/>
                </a:ext>
              </a:extLst>
            </p:cNvPr>
            <p:cNvSpPr txBox="1">
              <a:spLocks noChangeArrowheads="1"/>
            </p:cNvSpPr>
            <p:nvPr/>
          </p:nvSpPr>
          <p:spPr bwMode="auto">
            <a:xfrm>
              <a:off x="5481638" y="1408113"/>
              <a:ext cx="2343151" cy="400110"/>
            </a:xfrm>
            <a:prstGeom prst="rect">
              <a:avLst/>
            </a:prstGeom>
            <a:solidFill>
              <a:schemeClr val="accent1">
                <a:lumMod val="20000"/>
                <a:lumOff val="80000"/>
              </a:schemeClr>
            </a:solidFill>
            <a:ln w="9525" algn="ctr">
              <a:solidFill>
                <a:schemeClr val="accent1"/>
              </a:solidFill>
              <a:miter lim="800000"/>
              <a:headEnd/>
              <a:tailEnd/>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800080"/>
                </a:buClr>
                <a:buFont typeface="Wingdings" panose="05000000000000000000" pitchFamily="2" charset="2"/>
                <a:buNone/>
              </a:pPr>
              <a:r>
                <a:rPr lang="zh-CN" altLang="en-US" sz="2000" dirty="0">
                  <a:solidFill>
                    <a:srgbClr val="00008C"/>
                  </a:solidFill>
                  <a:latin typeface="Times New Roman" panose="02020603050405020304" pitchFamily="18" charset="0"/>
                  <a:ea typeface="SimHei" panose="02010609060101010101" pitchFamily="49" charset="-122"/>
                </a:rPr>
                <a:t>更名为“环境学院”</a:t>
              </a:r>
            </a:p>
          </p:txBody>
        </p:sp>
      </p:grpSp>
    </p:spTree>
    <p:extLst>
      <p:ext uri="{BB962C8B-B14F-4D97-AF65-F5344CB8AC3E}">
        <p14:creationId xmlns:p14="http://schemas.microsoft.com/office/powerpoint/2010/main" val="307562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3D4EB220-B7FC-4C55-A877-74D76879290F}"/>
              </a:ext>
            </a:extLst>
          </p:cNvPr>
          <p:cNvGrpSpPr/>
          <p:nvPr/>
        </p:nvGrpSpPr>
        <p:grpSpPr>
          <a:xfrm>
            <a:off x="159623" y="177840"/>
            <a:ext cx="11872754" cy="761297"/>
            <a:chOff x="222729" y="110880"/>
            <a:chExt cx="11872754" cy="761297"/>
          </a:xfrm>
        </p:grpSpPr>
        <p:grpSp>
          <p:nvGrpSpPr>
            <p:cNvPr id="29" name="组合 28">
              <a:extLst>
                <a:ext uri="{FF2B5EF4-FFF2-40B4-BE49-F238E27FC236}">
                  <a16:creationId xmlns:a16="http://schemas.microsoft.com/office/drawing/2014/main" id="{D6279608-54D2-4488-9869-ED6B9315A7B8}"/>
                </a:ext>
              </a:extLst>
            </p:cNvPr>
            <p:cNvGrpSpPr/>
            <p:nvPr/>
          </p:nvGrpSpPr>
          <p:grpSpPr>
            <a:xfrm>
              <a:off x="222729" y="110880"/>
              <a:ext cx="11533332" cy="646331"/>
              <a:chOff x="443898" y="190992"/>
              <a:chExt cx="11533332" cy="646331"/>
            </a:xfrm>
          </p:grpSpPr>
          <p:sp>
            <p:nvSpPr>
              <p:cNvPr id="32" name="矩形 31">
                <a:extLst>
                  <a:ext uri="{FF2B5EF4-FFF2-40B4-BE49-F238E27FC236}">
                    <a16:creationId xmlns:a16="http://schemas.microsoft.com/office/drawing/2014/main" id="{F8CC6CE3-603B-48D7-B661-0604B496488B}"/>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环境科学与工程实验实践教学中心</a:t>
                </a:r>
                <a:r>
                  <a:rPr lang="en-US" altLang="zh-CN" sz="3600" b="1" dirty="0">
                    <a:solidFill>
                      <a:srgbClr val="2C4E8C"/>
                    </a:solidFill>
                    <a:latin typeface="+mn-ea"/>
                  </a:rPr>
                  <a:t>—</a:t>
                </a:r>
                <a:r>
                  <a:rPr lang="zh-CN" altLang="en-US" sz="3600" b="1" dirty="0">
                    <a:solidFill>
                      <a:srgbClr val="C00000"/>
                    </a:solidFill>
                    <a:latin typeface="+mn-ea"/>
                  </a:rPr>
                  <a:t>实验课程体系</a:t>
                </a:r>
              </a:p>
            </p:txBody>
          </p:sp>
          <p:grpSp>
            <p:nvGrpSpPr>
              <p:cNvPr id="33" name="Group 6">
                <a:extLst>
                  <a:ext uri="{FF2B5EF4-FFF2-40B4-BE49-F238E27FC236}">
                    <a16:creationId xmlns:a16="http://schemas.microsoft.com/office/drawing/2014/main" id="{B6C09DF7-8E70-4804-9EB5-91A5002AF7B0}"/>
                  </a:ext>
                </a:extLst>
              </p:cNvPr>
              <p:cNvGrpSpPr/>
              <p:nvPr/>
            </p:nvGrpSpPr>
            <p:grpSpPr>
              <a:xfrm>
                <a:off x="443898" y="303114"/>
                <a:ext cx="515576" cy="439821"/>
                <a:chOff x="454963" y="331168"/>
                <a:chExt cx="515576" cy="439821"/>
              </a:xfrm>
            </p:grpSpPr>
            <p:sp>
              <p:nvSpPr>
                <p:cNvPr id="34" name="AutoShape 7">
                  <a:extLst>
                    <a:ext uri="{FF2B5EF4-FFF2-40B4-BE49-F238E27FC236}">
                      <a16:creationId xmlns:a16="http://schemas.microsoft.com/office/drawing/2014/main" id="{7763BCE2-D10E-45FC-9522-27402F4A1329}"/>
                    </a:ext>
                  </a:extLst>
                </p:cNvPr>
                <p:cNvSpPr/>
                <p:nvPr/>
              </p:nvSpPr>
              <p:spPr>
                <a:xfrm>
                  <a:off x="454963" y="331168"/>
                  <a:ext cx="84147" cy="84147"/>
                </a:xfrm>
                <a:prstGeom prst="ellipse">
                  <a:avLst/>
                </a:prstGeom>
                <a:solidFill>
                  <a:schemeClr val="accent1">
                    <a:alpha val="100000"/>
                  </a:schemeClr>
                </a:solidFill>
              </p:spPr>
            </p:sp>
            <p:sp>
              <p:nvSpPr>
                <p:cNvPr id="35" name="AutoShape 8">
                  <a:extLst>
                    <a:ext uri="{FF2B5EF4-FFF2-40B4-BE49-F238E27FC236}">
                      <a16:creationId xmlns:a16="http://schemas.microsoft.com/office/drawing/2014/main" id="{5693D24F-4E47-478B-A0A5-AF97A534B201}"/>
                    </a:ext>
                  </a:extLst>
                </p:cNvPr>
                <p:cNvSpPr/>
                <p:nvPr/>
              </p:nvSpPr>
              <p:spPr>
                <a:xfrm>
                  <a:off x="575049" y="337743"/>
                  <a:ext cx="78137" cy="78137"/>
                </a:xfrm>
                <a:prstGeom prst="ellipse">
                  <a:avLst/>
                </a:prstGeom>
                <a:solidFill>
                  <a:schemeClr val="accent1">
                    <a:alpha val="80000"/>
                  </a:schemeClr>
                </a:solidFill>
              </p:spPr>
            </p:sp>
            <p:sp>
              <p:nvSpPr>
                <p:cNvPr id="36" name="AutoShape 9">
                  <a:extLst>
                    <a:ext uri="{FF2B5EF4-FFF2-40B4-BE49-F238E27FC236}">
                      <a16:creationId xmlns:a16="http://schemas.microsoft.com/office/drawing/2014/main" id="{0369382B-C11C-44F8-B64D-116627BBD9F4}"/>
                    </a:ext>
                  </a:extLst>
                </p:cNvPr>
                <p:cNvSpPr/>
                <p:nvPr/>
              </p:nvSpPr>
              <p:spPr>
                <a:xfrm>
                  <a:off x="689125" y="339460"/>
                  <a:ext cx="74704" cy="74704"/>
                </a:xfrm>
                <a:prstGeom prst="ellipse">
                  <a:avLst/>
                </a:prstGeom>
                <a:solidFill>
                  <a:schemeClr val="accent1">
                    <a:alpha val="60000"/>
                  </a:schemeClr>
                </a:solidFill>
              </p:spPr>
            </p:sp>
            <p:sp>
              <p:nvSpPr>
                <p:cNvPr id="37" name="AutoShape 10">
                  <a:extLst>
                    <a:ext uri="{FF2B5EF4-FFF2-40B4-BE49-F238E27FC236}">
                      <a16:creationId xmlns:a16="http://schemas.microsoft.com/office/drawing/2014/main" id="{6F87BD62-4DA9-4F51-B5BD-EA275CA35C87}"/>
                    </a:ext>
                  </a:extLst>
                </p:cNvPr>
                <p:cNvSpPr/>
                <p:nvPr/>
              </p:nvSpPr>
              <p:spPr>
                <a:xfrm>
                  <a:off x="799768" y="348430"/>
                  <a:ext cx="69238" cy="69238"/>
                </a:xfrm>
                <a:prstGeom prst="ellipse">
                  <a:avLst/>
                </a:prstGeom>
                <a:solidFill>
                  <a:schemeClr val="accent1">
                    <a:alpha val="40000"/>
                  </a:schemeClr>
                </a:solidFill>
              </p:spPr>
            </p:sp>
            <p:sp>
              <p:nvSpPr>
                <p:cNvPr id="38" name="AutoShape 11">
                  <a:extLst>
                    <a:ext uri="{FF2B5EF4-FFF2-40B4-BE49-F238E27FC236}">
                      <a16:creationId xmlns:a16="http://schemas.microsoft.com/office/drawing/2014/main" id="{E4DC595D-4B53-4A6E-9BC4-0D910CCA4EFB}"/>
                    </a:ext>
                  </a:extLst>
                </p:cNvPr>
                <p:cNvSpPr/>
                <p:nvPr/>
              </p:nvSpPr>
              <p:spPr>
                <a:xfrm>
                  <a:off x="904945" y="344297"/>
                  <a:ext cx="65594" cy="65594"/>
                </a:xfrm>
                <a:prstGeom prst="ellipse">
                  <a:avLst/>
                </a:prstGeom>
                <a:solidFill>
                  <a:schemeClr val="accent1">
                    <a:alpha val="20000"/>
                  </a:schemeClr>
                </a:solidFill>
              </p:spPr>
            </p:sp>
            <p:sp>
              <p:nvSpPr>
                <p:cNvPr id="39" name="AutoShape 12">
                  <a:extLst>
                    <a:ext uri="{FF2B5EF4-FFF2-40B4-BE49-F238E27FC236}">
                      <a16:creationId xmlns:a16="http://schemas.microsoft.com/office/drawing/2014/main" id="{3ADBE65F-B196-46B6-A490-99C488420F20}"/>
                    </a:ext>
                  </a:extLst>
                </p:cNvPr>
                <p:cNvSpPr/>
                <p:nvPr/>
              </p:nvSpPr>
              <p:spPr>
                <a:xfrm>
                  <a:off x="454963" y="448942"/>
                  <a:ext cx="84147" cy="84147"/>
                </a:xfrm>
                <a:prstGeom prst="ellipse">
                  <a:avLst/>
                </a:prstGeom>
                <a:solidFill>
                  <a:schemeClr val="accent1">
                    <a:alpha val="100000"/>
                  </a:schemeClr>
                </a:solidFill>
              </p:spPr>
            </p:sp>
            <p:sp>
              <p:nvSpPr>
                <p:cNvPr id="40" name="AutoShape 13">
                  <a:extLst>
                    <a:ext uri="{FF2B5EF4-FFF2-40B4-BE49-F238E27FC236}">
                      <a16:creationId xmlns:a16="http://schemas.microsoft.com/office/drawing/2014/main" id="{4A64A16E-5D0E-41A1-80F3-8D649E441AE9}"/>
                    </a:ext>
                  </a:extLst>
                </p:cNvPr>
                <p:cNvSpPr/>
                <p:nvPr/>
              </p:nvSpPr>
              <p:spPr>
                <a:xfrm>
                  <a:off x="575049" y="455517"/>
                  <a:ext cx="78137" cy="78137"/>
                </a:xfrm>
                <a:prstGeom prst="ellipse">
                  <a:avLst/>
                </a:prstGeom>
                <a:solidFill>
                  <a:schemeClr val="accent1">
                    <a:alpha val="80000"/>
                  </a:schemeClr>
                </a:solidFill>
              </p:spPr>
            </p:sp>
            <p:sp>
              <p:nvSpPr>
                <p:cNvPr id="41" name="AutoShape 14">
                  <a:extLst>
                    <a:ext uri="{FF2B5EF4-FFF2-40B4-BE49-F238E27FC236}">
                      <a16:creationId xmlns:a16="http://schemas.microsoft.com/office/drawing/2014/main" id="{32FF3330-013A-4AC6-930F-B4777B89FAF3}"/>
                    </a:ext>
                  </a:extLst>
                </p:cNvPr>
                <p:cNvSpPr/>
                <p:nvPr/>
              </p:nvSpPr>
              <p:spPr>
                <a:xfrm>
                  <a:off x="689125" y="457233"/>
                  <a:ext cx="74704" cy="74704"/>
                </a:xfrm>
                <a:prstGeom prst="ellipse">
                  <a:avLst/>
                </a:prstGeom>
                <a:solidFill>
                  <a:schemeClr val="accent1">
                    <a:alpha val="60000"/>
                  </a:schemeClr>
                </a:solidFill>
              </p:spPr>
            </p:sp>
            <p:sp>
              <p:nvSpPr>
                <p:cNvPr id="42" name="AutoShape 15">
                  <a:extLst>
                    <a:ext uri="{FF2B5EF4-FFF2-40B4-BE49-F238E27FC236}">
                      <a16:creationId xmlns:a16="http://schemas.microsoft.com/office/drawing/2014/main" id="{705D0A8A-A642-4E3B-8D6E-5B51C098EA56}"/>
                    </a:ext>
                  </a:extLst>
                </p:cNvPr>
                <p:cNvSpPr/>
                <p:nvPr/>
              </p:nvSpPr>
              <p:spPr>
                <a:xfrm>
                  <a:off x="799768" y="466203"/>
                  <a:ext cx="69238" cy="69238"/>
                </a:xfrm>
                <a:prstGeom prst="ellipse">
                  <a:avLst/>
                </a:prstGeom>
                <a:solidFill>
                  <a:schemeClr val="accent1">
                    <a:alpha val="40000"/>
                  </a:schemeClr>
                </a:solidFill>
              </p:spPr>
            </p:sp>
            <p:sp>
              <p:nvSpPr>
                <p:cNvPr id="43" name="AutoShape 16">
                  <a:extLst>
                    <a:ext uri="{FF2B5EF4-FFF2-40B4-BE49-F238E27FC236}">
                      <a16:creationId xmlns:a16="http://schemas.microsoft.com/office/drawing/2014/main" id="{73627F53-DE65-4E60-8FDE-33D96CB1AB23}"/>
                    </a:ext>
                  </a:extLst>
                </p:cNvPr>
                <p:cNvSpPr/>
                <p:nvPr/>
              </p:nvSpPr>
              <p:spPr>
                <a:xfrm>
                  <a:off x="904945" y="462070"/>
                  <a:ext cx="65594" cy="65594"/>
                </a:xfrm>
                <a:prstGeom prst="ellipse">
                  <a:avLst/>
                </a:prstGeom>
                <a:solidFill>
                  <a:schemeClr val="accent1">
                    <a:alpha val="20000"/>
                  </a:schemeClr>
                </a:solidFill>
              </p:spPr>
            </p:sp>
            <p:sp>
              <p:nvSpPr>
                <p:cNvPr id="44" name="AutoShape 17">
                  <a:extLst>
                    <a:ext uri="{FF2B5EF4-FFF2-40B4-BE49-F238E27FC236}">
                      <a16:creationId xmlns:a16="http://schemas.microsoft.com/office/drawing/2014/main" id="{B48AB4C6-1354-436F-A5AB-D88A6271CA0D}"/>
                    </a:ext>
                  </a:extLst>
                </p:cNvPr>
                <p:cNvSpPr/>
                <p:nvPr/>
              </p:nvSpPr>
              <p:spPr>
                <a:xfrm>
                  <a:off x="454963" y="566715"/>
                  <a:ext cx="84147" cy="84147"/>
                </a:xfrm>
                <a:prstGeom prst="ellipse">
                  <a:avLst/>
                </a:prstGeom>
                <a:solidFill>
                  <a:schemeClr val="accent1">
                    <a:alpha val="100000"/>
                  </a:schemeClr>
                </a:solidFill>
              </p:spPr>
            </p:sp>
            <p:sp>
              <p:nvSpPr>
                <p:cNvPr id="45" name="AutoShape 18">
                  <a:extLst>
                    <a:ext uri="{FF2B5EF4-FFF2-40B4-BE49-F238E27FC236}">
                      <a16:creationId xmlns:a16="http://schemas.microsoft.com/office/drawing/2014/main" id="{6A5CC351-AD15-4431-9FDD-E9A05A5C1795}"/>
                    </a:ext>
                  </a:extLst>
                </p:cNvPr>
                <p:cNvSpPr/>
                <p:nvPr/>
              </p:nvSpPr>
              <p:spPr>
                <a:xfrm>
                  <a:off x="575049" y="573291"/>
                  <a:ext cx="78137" cy="78137"/>
                </a:xfrm>
                <a:prstGeom prst="ellipse">
                  <a:avLst/>
                </a:prstGeom>
                <a:solidFill>
                  <a:schemeClr val="accent1">
                    <a:alpha val="80000"/>
                  </a:schemeClr>
                </a:solidFill>
              </p:spPr>
            </p:sp>
            <p:sp>
              <p:nvSpPr>
                <p:cNvPr id="46" name="AutoShape 19">
                  <a:extLst>
                    <a:ext uri="{FF2B5EF4-FFF2-40B4-BE49-F238E27FC236}">
                      <a16:creationId xmlns:a16="http://schemas.microsoft.com/office/drawing/2014/main" id="{EE88DA6E-15D3-4BCE-AD59-E3182E4A6260}"/>
                    </a:ext>
                  </a:extLst>
                </p:cNvPr>
                <p:cNvSpPr/>
                <p:nvPr/>
              </p:nvSpPr>
              <p:spPr>
                <a:xfrm>
                  <a:off x="689125" y="575007"/>
                  <a:ext cx="74704" cy="74704"/>
                </a:xfrm>
                <a:prstGeom prst="ellipse">
                  <a:avLst/>
                </a:prstGeom>
                <a:solidFill>
                  <a:schemeClr val="accent1">
                    <a:alpha val="60000"/>
                  </a:schemeClr>
                </a:solidFill>
              </p:spPr>
            </p:sp>
            <p:sp>
              <p:nvSpPr>
                <p:cNvPr id="47" name="AutoShape 20">
                  <a:extLst>
                    <a:ext uri="{FF2B5EF4-FFF2-40B4-BE49-F238E27FC236}">
                      <a16:creationId xmlns:a16="http://schemas.microsoft.com/office/drawing/2014/main" id="{AC83134D-D9DD-451D-AA94-6E6336AAAACD}"/>
                    </a:ext>
                  </a:extLst>
                </p:cNvPr>
                <p:cNvSpPr/>
                <p:nvPr/>
              </p:nvSpPr>
              <p:spPr>
                <a:xfrm>
                  <a:off x="799768" y="583977"/>
                  <a:ext cx="69238" cy="69238"/>
                </a:xfrm>
                <a:prstGeom prst="ellipse">
                  <a:avLst/>
                </a:prstGeom>
                <a:solidFill>
                  <a:schemeClr val="accent1">
                    <a:alpha val="40000"/>
                  </a:schemeClr>
                </a:solidFill>
              </p:spPr>
            </p:sp>
            <p:sp>
              <p:nvSpPr>
                <p:cNvPr id="48" name="AutoShape 21">
                  <a:extLst>
                    <a:ext uri="{FF2B5EF4-FFF2-40B4-BE49-F238E27FC236}">
                      <a16:creationId xmlns:a16="http://schemas.microsoft.com/office/drawing/2014/main" id="{CE2E006F-EBA4-4959-A606-B99CF25A57F2}"/>
                    </a:ext>
                  </a:extLst>
                </p:cNvPr>
                <p:cNvSpPr/>
                <p:nvPr/>
              </p:nvSpPr>
              <p:spPr>
                <a:xfrm>
                  <a:off x="904945" y="579844"/>
                  <a:ext cx="65594" cy="65594"/>
                </a:xfrm>
                <a:prstGeom prst="ellipse">
                  <a:avLst/>
                </a:prstGeom>
                <a:solidFill>
                  <a:schemeClr val="accent1">
                    <a:alpha val="20000"/>
                  </a:schemeClr>
                </a:solidFill>
              </p:spPr>
            </p:sp>
            <p:sp>
              <p:nvSpPr>
                <p:cNvPr id="49" name="AutoShape 22">
                  <a:extLst>
                    <a:ext uri="{FF2B5EF4-FFF2-40B4-BE49-F238E27FC236}">
                      <a16:creationId xmlns:a16="http://schemas.microsoft.com/office/drawing/2014/main" id="{822CAB69-F8B6-479F-9454-06698D16A133}"/>
                    </a:ext>
                  </a:extLst>
                </p:cNvPr>
                <p:cNvSpPr/>
                <p:nvPr/>
              </p:nvSpPr>
              <p:spPr>
                <a:xfrm>
                  <a:off x="454963" y="684489"/>
                  <a:ext cx="84147" cy="84147"/>
                </a:xfrm>
                <a:prstGeom prst="ellipse">
                  <a:avLst/>
                </a:prstGeom>
                <a:solidFill>
                  <a:schemeClr val="accent1">
                    <a:alpha val="100000"/>
                  </a:schemeClr>
                </a:solidFill>
              </p:spPr>
            </p:sp>
            <p:sp>
              <p:nvSpPr>
                <p:cNvPr id="50" name="AutoShape 23">
                  <a:extLst>
                    <a:ext uri="{FF2B5EF4-FFF2-40B4-BE49-F238E27FC236}">
                      <a16:creationId xmlns:a16="http://schemas.microsoft.com/office/drawing/2014/main" id="{E2D96AB0-B517-489A-9C9C-4F5A657A2A12}"/>
                    </a:ext>
                  </a:extLst>
                </p:cNvPr>
                <p:cNvSpPr/>
                <p:nvPr/>
              </p:nvSpPr>
              <p:spPr>
                <a:xfrm>
                  <a:off x="575049" y="691064"/>
                  <a:ext cx="78137" cy="78137"/>
                </a:xfrm>
                <a:prstGeom prst="ellipse">
                  <a:avLst/>
                </a:prstGeom>
                <a:solidFill>
                  <a:schemeClr val="accent1">
                    <a:alpha val="80000"/>
                  </a:schemeClr>
                </a:solidFill>
              </p:spPr>
            </p:sp>
            <p:sp>
              <p:nvSpPr>
                <p:cNvPr id="51" name="AutoShape 24">
                  <a:extLst>
                    <a:ext uri="{FF2B5EF4-FFF2-40B4-BE49-F238E27FC236}">
                      <a16:creationId xmlns:a16="http://schemas.microsoft.com/office/drawing/2014/main" id="{3B4015C1-DD5D-4FD8-B122-1A7450A26FE9}"/>
                    </a:ext>
                  </a:extLst>
                </p:cNvPr>
                <p:cNvSpPr/>
                <p:nvPr/>
              </p:nvSpPr>
              <p:spPr>
                <a:xfrm>
                  <a:off x="689125" y="692781"/>
                  <a:ext cx="74704" cy="74704"/>
                </a:xfrm>
                <a:prstGeom prst="ellipse">
                  <a:avLst/>
                </a:prstGeom>
                <a:solidFill>
                  <a:schemeClr val="accent1">
                    <a:alpha val="60000"/>
                  </a:schemeClr>
                </a:solidFill>
              </p:spPr>
            </p:sp>
            <p:sp>
              <p:nvSpPr>
                <p:cNvPr id="52" name="AutoShape 25">
                  <a:extLst>
                    <a:ext uri="{FF2B5EF4-FFF2-40B4-BE49-F238E27FC236}">
                      <a16:creationId xmlns:a16="http://schemas.microsoft.com/office/drawing/2014/main" id="{BEDB9AF1-1103-4282-8F11-9F985736B0D4}"/>
                    </a:ext>
                  </a:extLst>
                </p:cNvPr>
                <p:cNvSpPr/>
                <p:nvPr/>
              </p:nvSpPr>
              <p:spPr>
                <a:xfrm>
                  <a:off x="799768" y="701751"/>
                  <a:ext cx="69238" cy="69238"/>
                </a:xfrm>
                <a:prstGeom prst="ellipse">
                  <a:avLst/>
                </a:prstGeom>
                <a:solidFill>
                  <a:schemeClr val="accent1">
                    <a:alpha val="40000"/>
                  </a:schemeClr>
                </a:solidFill>
              </p:spPr>
            </p:sp>
            <p:sp>
              <p:nvSpPr>
                <p:cNvPr id="53" name="AutoShape 26">
                  <a:extLst>
                    <a:ext uri="{FF2B5EF4-FFF2-40B4-BE49-F238E27FC236}">
                      <a16:creationId xmlns:a16="http://schemas.microsoft.com/office/drawing/2014/main" id="{1BFEE362-2EE3-400C-B87B-489B8D823978}"/>
                    </a:ext>
                  </a:extLst>
                </p:cNvPr>
                <p:cNvSpPr/>
                <p:nvPr/>
              </p:nvSpPr>
              <p:spPr>
                <a:xfrm>
                  <a:off x="904945" y="697618"/>
                  <a:ext cx="65594" cy="65594"/>
                </a:xfrm>
                <a:prstGeom prst="ellipse">
                  <a:avLst/>
                </a:prstGeom>
                <a:solidFill>
                  <a:schemeClr val="accent1">
                    <a:alpha val="20000"/>
                  </a:schemeClr>
                </a:solidFill>
              </p:spPr>
            </p:sp>
          </p:grpSp>
        </p:grpSp>
        <p:sp>
          <p:nvSpPr>
            <p:cNvPr id="30" name="平行四边形 29">
              <a:extLst>
                <a:ext uri="{FF2B5EF4-FFF2-40B4-BE49-F238E27FC236}">
                  <a16:creationId xmlns:a16="http://schemas.microsoft.com/office/drawing/2014/main" id="{573B1A68-CE3D-4944-98CA-C2C116A32B44}"/>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31" name="平行四边形 30">
              <a:extLst>
                <a:ext uri="{FF2B5EF4-FFF2-40B4-BE49-F238E27FC236}">
                  <a16:creationId xmlns:a16="http://schemas.microsoft.com/office/drawing/2014/main" id="{9C032FEF-2FCB-45AB-9DC0-6B13E5A054A7}"/>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54" name="组合 53">
            <a:extLst>
              <a:ext uri="{FF2B5EF4-FFF2-40B4-BE49-F238E27FC236}">
                <a16:creationId xmlns:a16="http://schemas.microsoft.com/office/drawing/2014/main" id="{D61AF7FB-4C86-469D-9449-DD47DD938B20}"/>
              </a:ext>
            </a:extLst>
          </p:cNvPr>
          <p:cNvGrpSpPr/>
          <p:nvPr/>
        </p:nvGrpSpPr>
        <p:grpSpPr>
          <a:xfrm>
            <a:off x="1043473" y="1413772"/>
            <a:ext cx="10105053" cy="5006975"/>
            <a:chOff x="800100" y="1247775"/>
            <a:chExt cx="7465872" cy="5006975"/>
          </a:xfrm>
        </p:grpSpPr>
        <p:sp>
          <p:nvSpPr>
            <p:cNvPr id="55" name="Text Box 5">
              <a:extLst>
                <a:ext uri="{FF2B5EF4-FFF2-40B4-BE49-F238E27FC236}">
                  <a16:creationId xmlns:a16="http://schemas.microsoft.com/office/drawing/2014/main" id="{AD43D52D-581E-41D4-B6C2-7712886372D9}"/>
                </a:ext>
              </a:extLst>
            </p:cNvPr>
            <p:cNvSpPr txBox="1">
              <a:spLocks noChangeArrowheads="1"/>
            </p:cNvSpPr>
            <p:nvPr/>
          </p:nvSpPr>
          <p:spPr bwMode="auto">
            <a:xfrm>
              <a:off x="800100" y="2846388"/>
              <a:ext cx="333375" cy="1934154"/>
            </a:xfrm>
            <a:prstGeom prst="rect">
              <a:avLst/>
            </a:prstGeom>
            <a:solidFill>
              <a:srgbClr val="FFFFCC"/>
            </a:solidFill>
            <a:ln w="9525">
              <a:solidFill>
                <a:schemeClr val="tx1"/>
              </a:solidFill>
              <a:miter lim="800000"/>
              <a:headEnd/>
              <a:tailEnd/>
            </a:ln>
          </p:spPr>
          <p:txBody>
            <a:bodyPr wrap="square" lIns="86649" tIns="43324" rIns="86649" bIns="43324">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2000" dirty="0">
                  <a:latin typeface="Times New Roman" panose="02020603050405020304" pitchFamily="18" charset="0"/>
                  <a:ea typeface="SimHei" panose="02010609060101010101" pitchFamily="49" charset="-122"/>
                </a:rPr>
                <a:t>实验课程体系</a:t>
              </a:r>
              <a:endParaRPr kumimoji="1" lang="en-US" altLang="zh-CN" sz="2000" dirty="0">
                <a:latin typeface="Times New Roman" panose="02020603050405020304" pitchFamily="18" charset="0"/>
                <a:ea typeface="SimHei" panose="02010609060101010101" pitchFamily="49" charset="-122"/>
              </a:endParaRPr>
            </a:p>
          </p:txBody>
        </p:sp>
        <p:sp>
          <p:nvSpPr>
            <p:cNvPr id="56" name="Text Box 8">
              <a:extLst>
                <a:ext uri="{FF2B5EF4-FFF2-40B4-BE49-F238E27FC236}">
                  <a16:creationId xmlns:a16="http://schemas.microsoft.com/office/drawing/2014/main" id="{A99FC5F6-A877-4416-9C4E-EF37613BDDCA}"/>
                </a:ext>
              </a:extLst>
            </p:cNvPr>
            <p:cNvSpPr txBox="1">
              <a:spLocks noChangeArrowheads="1"/>
            </p:cNvSpPr>
            <p:nvPr/>
          </p:nvSpPr>
          <p:spPr bwMode="auto">
            <a:xfrm>
              <a:off x="3235325" y="1247775"/>
              <a:ext cx="2605088" cy="365125"/>
            </a:xfrm>
            <a:prstGeom prst="rect">
              <a:avLst/>
            </a:prstGeom>
            <a:solidFill>
              <a:srgbClr val="A0E0FF"/>
            </a:solidFill>
            <a:ln w="6350" algn="ctr">
              <a:solidFill>
                <a:srgbClr val="000000"/>
              </a:solidFill>
              <a:miter lim="800000"/>
              <a:headEnd/>
              <a:tailEnd/>
            </a:ln>
          </p:spPr>
          <p:txBody>
            <a:bodyPr lIns="86649" tIns="43324" rIns="86649" bIns="43324"/>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环境监测实验</a:t>
              </a:r>
            </a:p>
          </p:txBody>
        </p:sp>
        <p:sp>
          <p:nvSpPr>
            <p:cNvPr id="57" name="Text Box 9">
              <a:extLst>
                <a:ext uri="{FF2B5EF4-FFF2-40B4-BE49-F238E27FC236}">
                  <a16:creationId xmlns:a16="http://schemas.microsoft.com/office/drawing/2014/main" id="{DAB0FF66-EB8F-4201-992D-B4143C73B2C2}"/>
                </a:ext>
              </a:extLst>
            </p:cNvPr>
            <p:cNvSpPr txBox="1">
              <a:spLocks noChangeArrowheads="1"/>
            </p:cNvSpPr>
            <p:nvPr/>
          </p:nvSpPr>
          <p:spPr bwMode="auto">
            <a:xfrm>
              <a:off x="3235325" y="1711325"/>
              <a:ext cx="2605088" cy="365125"/>
            </a:xfrm>
            <a:prstGeom prst="rect">
              <a:avLst/>
            </a:prstGeom>
            <a:solidFill>
              <a:srgbClr val="A0E0FF"/>
            </a:solidFill>
            <a:ln w="6350" algn="ctr">
              <a:solidFill>
                <a:srgbClr val="000000"/>
              </a:solidFill>
              <a:miter lim="800000"/>
              <a:headEnd/>
              <a:tailEnd/>
            </a:ln>
          </p:spPr>
          <p:txBody>
            <a:bodyPr lIns="86649" tIns="43324" rIns="86649" bIns="43324"/>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校园环境质量监测实验</a:t>
              </a:r>
            </a:p>
          </p:txBody>
        </p:sp>
        <p:sp>
          <p:nvSpPr>
            <p:cNvPr id="58" name="Text Box 10">
              <a:extLst>
                <a:ext uri="{FF2B5EF4-FFF2-40B4-BE49-F238E27FC236}">
                  <a16:creationId xmlns:a16="http://schemas.microsoft.com/office/drawing/2014/main" id="{4A3455E7-DBE5-430B-A776-4C293AF138BB}"/>
                </a:ext>
              </a:extLst>
            </p:cNvPr>
            <p:cNvSpPr txBox="1">
              <a:spLocks noChangeArrowheads="1"/>
            </p:cNvSpPr>
            <p:nvPr/>
          </p:nvSpPr>
          <p:spPr bwMode="auto">
            <a:xfrm>
              <a:off x="3235325" y="2174875"/>
              <a:ext cx="2605088" cy="365125"/>
            </a:xfrm>
            <a:prstGeom prst="rect">
              <a:avLst/>
            </a:prstGeom>
            <a:solidFill>
              <a:srgbClr val="A0E0FF"/>
            </a:solidFill>
            <a:ln w="6350" algn="ctr">
              <a:solidFill>
                <a:srgbClr val="000000"/>
              </a:solidFill>
              <a:miter lim="800000"/>
              <a:headEnd/>
              <a:tailEnd/>
            </a:ln>
          </p:spPr>
          <p:txBody>
            <a:bodyPr lIns="86649" tIns="43324" rIns="86649" bIns="43324"/>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环境工程微生物学实验</a:t>
              </a:r>
            </a:p>
          </p:txBody>
        </p:sp>
        <p:sp>
          <p:nvSpPr>
            <p:cNvPr id="59" name="Text Box 11">
              <a:extLst>
                <a:ext uri="{FF2B5EF4-FFF2-40B4-BE49-F238E27FC236}">
                  <a16:creationId xmlns:a16="http://schemas.microsoft.com/office/drawing/2014/main" id="{0AB90E93-1044-4200-889B-D288B5884D32}"/>
                </a:ext>
              </a:extLst>
            </p:cNvPr>
            <p:cNvSpPr txBox="1">
              <a:spLocks noChangeArrowheads="1"/>
            </p:cNvSpPr>
            <p:nvPr/>
          </p:nvSpPr>
          <p:spPr bwMode="auto">
            <a:xfrm>
              <a:off x="3235325" y="2640013"/>
              <a:ext cx="2605088" cy="365125"/>
            </a:xfrm>
            <a:prstGeom prst="rect">
              <a:avLst/>
            </a:prstGeom>
            <a:solidFill>
              <a:srgbClr val="A0E0FF"/>
            </a:solidFill>
            <a:ln w="6350" algn="ctr">
              <a:solidFill>
                <a:srgbClr val="000000"/>
              </a:solidFill>
              <a:miter lim="800000"/>
              <a:headEnd/>
              <a:tailEnd/>
            </a:ln>
          </p:spPr>
          <p:txBody>
            <a:bodyPr lIns="86649" tIns="43324" rIns="86649" bIns="43324"/>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环境土壤学实验</a:t>
              </a:r>
            </a:p>
          </p:txBody>
        </p:sp>
        <p:sp>
          <p:nvSpPr>
            <p:cNvPr id="60" name="Text Box 12">
              <a:extLst>
                <a:ext uri="{FF2B5EF4-FFF2-40B4-BE49-F238E27FC236}">
                  <a16:creationId xmlns:a16="http://schemas.microsoft.com/office/drawing/2014/main" id="{39BE6D3A-9991-43E7-9960-CD6624B1AC08}"/>
                </a:ext>
              </a:extLst>
            </p:cNvPr>
            <p:cNvSpPr txBox="1">
              <a:spLocks noChangeArrowheads="1"/>
            </p:cNvSpPr>
            <p:nvPr/>
          </p:nvSpPr>
          <p:spPr bwMode="auto">
            <a:xfrm>
              <a:off x="3235325" y="3103563"/>
              <a:ext cx="2605088" cy="349250"/>
            </a:xfrm>
            <a:prstGeom prst="rect">
              <a:avLst/>
            </a:prstGeom>
            <a:solidFill>
              <a:srgbClr val="CCFF99"/>
            </a:solidFill>
            <a:ln w="6350">
              <a:solidFill>
                <a:schemeClr val="tx1"/>
              </a:solidFill>
              <a:miter lim="800000"/>
              <a:headEnd/>
              <a:tailEnd/>
            </a:ln>
          </p:spPr>
          <p:txBody>
            <a:bodyPr lIns="86649" tIns="43324" rIns="86649" bIns="43324">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dirty="0">
                  <a:latin typeface="Times New Roman" panose="02020603050405020304" pitchFamily="18" charset="0"/>
                  <a:ea typeface="SimHei" panose="02010609060101010101" pitchFamily="49" charset="-122"/>
                </a:rPr>
                <a:t>环境工程原理实验</a:t>
              </a:r>
            </a:p>
          </p:txBody>
        </p:sp>
        <p:sp>
          <p:nvSpPr>
            <p:cNvPr id="61" name="Text Box 13">
              <a:extLst>
                <a:ext uri="{FF2B5EF4-FFF2-40B4-BE49-F238E27FC236}">
                  <a16:creationId xmlns:a16="http://schemas.microsoft.com/office/drawing/2014/main" id="{DB2D8F02-A3C5-4CE1-AADC-3773B42FFDF5}"/>
                </a:ext>
              </a:extLst>
            </p:cNvPr>
            <p:cNvSpPr txBox="1">
              <a:spLocks noChangeArrowheads="1"/>
            </p:cNvSpPr>
            <p:nvPr/>
          </p:nvSpPr>
          <p:spPr bwMode="auto">
            <a:xfrm>
              <a:off x="3235325" y="3568700"/>
              <a:ext cx="2605088" cy="349250"/>
            </a:xfrm>
            <a:prstGeom prst="rect">
              <a:avLst/>
            </a:prstGeom>
            <a:solidFill>
              <a:srgbClr val="CCFF99"/>
            </a:solidFill>
            <a:ln w="6350">
              <a:solidFill>
                <a:schemeClr val="tx1"/>
              </a:solidFill>
              <a:miter lim="800000"/>
              <a:headEnd/>
              <a:tailEnd/>
            </a:ln>
          </p:spPr>
          <p:txBody>
            <a:bodyPr lIns="86649" tIns="43324" rIns="86649" bIns="43324">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水处理工程实验</a:t>
              </a:r>
            </a:p>
          </p:txBody>
        </p:sp>
        <p:sp>
          <p:nvSpPr>
            <p:cNvPr id="62" name="Text Box 14">
              <a:extLst>
                <a:ext uri="{FF2B5EF4-FFF2-40B4-BE49-F238E27FC236}">
                  <a16:creationId xmlns:a16="http://schemas.microsoft.com/office/drawing/2014/main" id="{BD2894C8-F24F-4709-8664-DDCF506E180E}"/>
                </a:ext>
              </a:extLst>
            </p:cNvPr>
            <p:cNvSpPr txBox="1">
              <a:spLocks noChangeArrowheads="1"/>
            </p:cNvSpPr>
            <p:nvPr/>
          </p:nvSpPr>
          <p:spPr bwMode="auto">
            <a:xfrm>
              <a:off x="3235325" y="4032250"/>
              <a:ext cx="2605088" cy="349250"/>
            </a:xfrm>
            <a:prstGeom prst="rect">
              <a:avLst/>
            </a:prstGeom>
            <a:solidFill>
              <a:srgbClr val="CCFF99"/>
            </a:solidFill>
            <a:ln w="6350">
              <a:solidFill>
                <a:schemeClr val="tx1"/>
              </a:solidFill>
              <a:miter lim="800000"/>
              <a:headEnd/>
              <a:tailEnd/>
            </a:ln>
          </p:spPr>
          <p:txBody>
            <a:bodyPr lIns="86649" tIns="43324" rIns="86649" bIns="43324">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大气污染控制实验</a:t>
              </a:r>
            </a:p>
          </p:txBody>
        </p:sp>
        <p:sp>
          <p:nvSpPr>
            <p:cNvPr id="63" name="Text Box 15">
              <a:extLst>
                <a:ext uri="{FF2B5EF4-FFF2-40B4-BE49-F238E27FC236}">
                  <a16:creationId xmlns:a16="http://schemas.microsoft.com/office/drawing/2014/main" id="{4CEAFEDD-60B5-4FCA-A263-405CA87E9CA4}"/>
                </a:ext>
              </a:extLst>
            </p:cNvPr>
            <p:cNvSpPr txBox="1">
              <a:spLocks noChangeArrowheads="1"/>
            </p:cNvSpPr>
            <p:nvPr/>
          </p:nvSpPr>
          <p:spPr bwMode="auto">
            <a:xfrm>
              <a:off x="3235325" y="4495800"/>
              <a:ext cx="2605088" cy="349250"/>
            </a:xfrm>
            <a:prstGeom prst="rect">
              <a:avLst/>
            </a:prstGeom>
            <a:solidFill>
              <a:srgbClr val="CCFF99"/>
            </a:solidFill>
            <a:ln w="6350">
              <a:solidFill>
                <a:schemeClr val="tx1"/>
              </a:solidFill>
              <a:miter lim="800000"/>
              <a:headEnd/>
              <a:tailEnd/>
            </a:ln>
          </p:spPr>
          <p:txBody>
            <a:bodyPr lIns="86649" tIns="43324" rIns="86649" bIns="43324">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固体废物控制实验</a:t>
              </a:r>
            </a:p>
          </p:txBody>
        </p:sp>
        <p:sp>
          <p:nvSpPr>
            <p:cNvPr id="64" name="Text Box 6">
              <a:extLst>
                <a:ext uri="{FF2B5EF4-FFF2-40B4-BE49-F238E27FC236}">
                  <a16:creationId xmlns:a16="http://schemas.microsoft.com/office/drawing/2014/main" id="{3CC5A0B6-EE47-47D8-AC3C-77E3B7102EBB}"/>
                </a:ext>
              </a:extLst>
            </p:cNvPr>
            <p:cNvSpPr txBox="1">
              <a:spLocks noChangeArrowheads="1"/>
            </p:cNvSpPr>
            <p:nvPr/>
          </p:nvSpPr>
          <p:spPr bwMode="auto">
            <a:xfrm>
              <a:off x="1622227" y="3675350"/>
              <a:ext cx="1149326" cy="633412"/>
            </a:xfrm>
            <a:prstGeom prst="rect">
              <a:avLst/>
            </a:prstGeom>
            <a:solidFill>
              <a:srgbClr val="CCFF99"/>
            </a:solidFill>
            <a:ln w="6350" algn="ctr">
              <a:solidFill>
                <a:schemeClr val="tx1"/>
              </a:solidFill>
              <a:miter lim="800000"/>
              <a:headEnd/>
              <a:tailEnd/>
            </a:ln>
          </p:spPr>
          <p:txBody>
            <a:bodyPr wrap="square" lIns="86649" tIns="43324" rIns="86649" bIns="43324">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dirty="0">
                  <a:latin typeface="Times New Roman" panose="02020603050405020304" pitchFamily="18" charset="0"/>
                  <a:ea typeface="SimHei" panose="02010609060101010101" pitchFamily="49" charset="-122"/>
                </a:rPr>
                <a:t>污染控制技术实验</a:t>
              </a:r>
            </a:p>
          </p:txBody>
        </p:sp>
        <p:sp>
          <p:nvSpPr>
            <p:cNvPr id="65" name="Text Box 4">
              <a:extLst>
                <a:ext uri="{FF2B5EF4-FFF2-40B4-BE49-F238E27FC236}">
                  <a16:creationId xmlns:a16="http://schemas.microsoft.com/office/drawing/2014/main" id="{77CCD5AF-0975-4B4E-B2ED-AE2AC9DBA1F3}"/>
                </a:ext>
              </a:extLst>
            </p:cNvPr>
            <p:cNvSpPr txBox="1">
              <a:spLocks noChangeArrowheads="1"/>
            </p:cNvSpPr>
            <p:nvPr/>
          </p:nvSpPr>
          <p:spPr bwMode="auto">
            <a:xfrm>
              <a:off x="1623814" y="2026070"/>
              <a:ext cx="1147738" cy="349104"/>
            </a:xfrm>
            <a:prstGeom prst="rect">
              <a:avLst/>
            </a:prstGeom>
            <a:solidFill>
              <a:srgbClr val="99CCFF"/>
            </a:solidFill>
            <a:ln w="6350">
              <a:solidFill>
                <a:schemeClr val="tx1"/>
              </a:solidFill>
              <a:miter lim="800000"/>
              <a:headEnd/>
              <a:tailEnd/>
            </a:ln>
          </p:spPr>
          <p:txBody>
            <a:bodyPr wrap="square" lIns="86649" tIns="43324" rIns="86649" bIns="43324">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专业基础实验</a:t>
              </a:r>
            </a:p>
          </p:txBody>
        </p:sp>
        <p:sp>
          <p:nvSpPr>
            <p:cNvPr id="66" name="AutoShape 23">
              <a:extLst>
                <a:ext uri="{FF2B5EF4-FFF2-40B4-BE49-F238E27FC236}">
                  <a16:creationId xmlns:a16="http://schemas.microsoft.com/office/drawing/2014/main" id="{4EFA2788-42F0-4843-BF7B-ABD86ECDE7A7}"/>
                </a:ext>
              </a:extLst>
            </p:cNvPr>
            <p:cNvSpPr>
              <a:spLocks/>
            </p:cNvSpPr>
            <p:nvPr/>
          </p:nvSpPr>
          <p:spPr bwMode="auto">
            <a:xfrm>
              <a:off x="2905125" y="1401763"/>
              <a:ext cx="200025" cy="1547812"/>
            </a:xfrm>
            <a:prstGeom prst="leftBrace">
              <a:avLst>
                <a:gd name="adj1" fmla="val 61188"/>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86649" tIns="43324" rIns="86649" bIns="43324" anchor="ctr"/>
            <a:lstStyle>
              <a:lvl1pPr marL="269875" indent="-2698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zh-CN" altLang="en-US" sz="4000">
                <a:solidFill>
                  <a:srgbClr val="00008C"/>
                </a:solidFill>
                <a:latin typeface="Times New Roman" panose="02020603050405020304" pitchFamily="18" charset="0"/>
              </a:endParaRPr>
            </a:p>
          </p:txBody>
        </p:sp>
        <p:sp>
          <p:nvSpPr>
            <p:cNvPr id="67" name="AutoShape 24">
              <a:extLst>
                <a:ext uri="{FF2B5EF4-FFF2-40B4-BE49-F238E27FC236}">
                  <a16:creationId xmlns:a16="http://schemas.microsoft.com/office/drawing/2014/main" id="{B1D7747A-3228-4C43-B88F-DD28CF931CC2}"/>
                </a:ext>
              </a:extLst>
            </p:cNvPr>
            <p:cNvSpPr>
              <a:spLocks/>
            </p:cNvSpPr>
            <p:nvPr/>
          </p:nvSpPr>
          <p:spPr bwMode="auto">
            <a:xfrm>
              <a:off x="2905125" y="3230563"/>
              <a:ext cx="200025" cy="1547812"/>
            </a:xfrm>
            <a:prstGeom prst="leftBrace">
              <a:avLst>
                <a:gd name="adj1" fmla="val 61188"/>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86649" tIns="43324" rIns="86649" bIns="43324" anchor="ctr"/>
            <a:lstStyle>
              <a:lvl1pPr marL="269875" indent="-2698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zh-CN" altLang="en-US" sz="4000">
                <a:solidFill>
                  <a:srgbClr val="00008C"/>
                </a:solidFill>
                <a:latin typeface="Times New Roman" panose="02020603050405020304" pitchFamily="18" charset="0"/>
              </a:endParaRPr>
            </a:p>
          </p:txBody>
        </p:sp>
        <p:grpSp>
          <p:nvGrpSpPr>
            <p:cNvPr id="68" name="Group 16">
              <a:extLst>
                <a:ext uri="{FF2B5EF4-FFF2-40B4-BE49-F238E27FC236}">
                  <a16:creationId xmlns:a16="http://schemas.microsoft.com/office/drawing/2014/main" id="{D3015FD9-D962-4543-9419-48CB3EAA2E71}"/>
                </a:ext>
              </a:extLst>
            </p:cNvPr>
            <p:cNvGrpSpPr>
              <a:grpSpLocks/>
            </p:cNvGrpSpPr>
            <p:nvPr/>
          </p:nvGrpSpPr>
          <p:grpSpPr bwMode="auto">
            <a:xfrm>
              <a:off x="1622784" y="4960938"/>
              <a:ext cx="4217629" cy="1293812"/>
              <a:chOff x="1103" y="3458"/>
              <a:chExt cx="2866" cy="834"/>
            </a:xfrm>
          </p:grpSpPr>
          <p:sp>
            <p:nvSpPr>
              <p:cNvPr id="71" name="Text Box 7">
                <a:extLst>
                  <a:ext uri="{FF2B5EF4-FFF2-40B4-BE49-F238E27FC236}">
                    <a16:creationId xmlns:a16="http://schemas.microsoft.com/office/drawing/2014/main" id="{B55D745E-4232-4162-8401-8BCE47754142}"/>
                  </a:ext>
                </a:extLst>
              </p:cNvPr>
              <p:cNvSpPr txBox="1">
                <a:spLocks noChangeArrowheads="1"/>
              </p:cNvSpPr>
              <p:nvPr/>
            </p:nvSpPr>
            <p:spPr bwMode="auto">
              <a:xfrm>
                <a:off x="1103" y="3591"/>
                <a:ext cx="781" cy="408"/>
              </a:xfrm>
              <a:prstGeom prst="rect">
                <a:avLst/>
              </a:prstGeom>
              <a:solidFill>
                <a:srgbClr val="FFFFCC"/>
              </a:solidFill>
              <a:ln w="6350" algn="ctr">
                <a:solidFill>
                  <a:schemeClr val="tx1"/>
                </a:solidFill>
                <a:miter lim="800000"/>
                <a:headEnd/>
                <a:tailEnd/>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dirty="0">
                    <a:latin typeface="Times New Roman" panose="02020603050405020304" pitchFamily="18" charset="0"/>
                    <a:ea typeface="SimHei" panose="02010609060101010101" pitchFamily="49" charset="-122"/>
                  </a:rPr>
                  <a:t>环境信息</a:t>
                </a:r>
                <a:endParaRPr kumimoji="1" lang="en-US" altLang="zh-CN" sz="1700" dirty="0">
                  <a:latin typeface="Times New Roman" panose="02020603050405020304" pitchFamily="18" charset="0"/>
                  <a:ea typeface="SimHei" panose="02010609060101010101" pitchFamily="49" charset="-122"/>
                </a:endParaRPr>
              </a:p>
              <a:p>
                <a:pPr algn="ctr" eaLnBrk="1" hangingPunct="1">
                  <a:spcBef>
                    <a:spcPct val="0"/>
                  </a:spcBef>
                  <a:buFontTx/>
                  <a:buNone/>
                </a:pPr>
                <a:r>
                  <a:rPr kumimoji="1" lang="zh-CN" altLang="en-US" sz="1700" dirty="0">
                    <a:latin typeface="Times New Roman" panose="02020603050405020304" pitchFamily="18" charset="0"/>
                    <a:ea typeface="SimHei" panose="02010609060101010101" pitchFamily="49" charset="-122"/>
                  </a:rPr>
                  <a:t>与工艺控制</a:t>
                </a:r>
              </a:p>
            </p:txBody>
          </p:sp>
          <p:sp>
            <p:nvSpPr>
              <p:cNvPr id="72" name="Text Box 16">
                <a:extLst>
                  <a:ext uri="{FF2B5EF4-FFF2-40B4-BE49-F238E27FC236}">
                    <a16:creationId xmlns:a16="http://schemas.microsoft.com/office/drawing/2014/main" id="{EC966FC4-58A0-4DA7-B584-78C34930E134}"/>
                  </a:ext>
                </a:extLst>
              </p:cNvPr>
              <p:cNvSpPr txBox="1">
                <a:spLocks noChangeArrowheads="1"/>
              </p:cNvSpPr>
              <p:nvPr/>
            </p:nvSpPr>
            <p:spPr bwMode="auto">
              <a:xfrm>
                <a:off x="2199" y="3458"/>
                <a:ext cx="1770" cy="235"/>
              </a:xfrm>
              <a:prstGeom prst="rect">
                <a:avLst/>
              </a:prstGeom>
              <a:solidFill>
                <a:srgbClr val="FFFFCC"/>
              </a:solidFill>
              <a:ln w="6350">
                <a:solidFill>
                  <a:schemeClr val="tx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环境数据处理与数学模拟</a:t>
                </a:r>
              </a:p>
            </p:txBody>
          </p:sp>
          <p:sp>
            <p:nvSpPr>
              <p:cNvPr id="73" name="Text Box 17">
                <a:extLst>
                  <a:ext uri="{FF2B5EF4-FFF2-40B4-BE49-F238E27FC236}">
                    <a16:creationId xmlns:a16="http://schemas.microsoft.com/office/drawing/2014/main" id="{E04DEC00-E33E-4B56-A3FE-69DA523E215A}"/>
                  </a:ext>
                </a:extLst>
              </p:cNvPr>
              <p:cNvSpPr txBox="1">
                <a:spLocks noChangeArrowheads="1"/>
              </p:cNvSpPr>
              <p:nvPr/>
            </p:nvSpPr>
            <p:spPr bwMode="auto">
              <a:xfrm>
                <a:off x="2199" y="3757"/>
                <a:ext cx="1770" cy="235"/>
              </a:xfrm>
              <a:prstGeom prst="rect">
                <a:avLst/>
              </a:prstGeom>
              <a:solidFill>
                <a:srgbClr val="FFFFCC"/>
              </a:solidFill>
              <a:ln w="6350">
                <a:solidFill>
                  <a:schemeClr val="tx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数据库与信息技术</a:t>
                </a:r>
              </a:p>
            </p:txBody>
          </p:sp>
          <p:sp>
            <p:nvSpPr>
              <p:cNvPr id="74" name="Text Box 18">
                <a:extLst>
                  <a:ext uri="{FF2B5EF4-FFF2-40B4-BE49-F238E27FC236}">
                    <a16:creationId xmlns:a16="http://schemas.microsoft.com/office/drawing/2014/main" id="{73598233-95C5-437C-9CD5-12F1600B75F3}"/>
                  </a:ext>
                </a:extLst>
              </p:cNvPr>
              <p:cNvSpPr txBox="1">
                <a:spLocks noChangeArrowheads="1"/>
              </p:cNvSpPr>
              <p:nvPr/>
            </p:nvSpPr>
            <p:spPr bwMode="auto">
              <a:xfrm>
                <a:off x="2199" y="4057"/>
                <a:ext cx="1770" cy="235"/>
              </a:xfrm>
              <a:prstGeom prst="rect">
                <a:avLst/>
              </a:prstGeom>
              <a:solidFill>
                <a:srgbClr val="FFFFCC"/>
              </a:solidFill>
              <a:ln w="6350">
                <a:solidFill>
                  <a:schemeClr val="tx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1700">
                    <a:latin typeface="Times New Roman" panose="02020603050405020304" pitchFamily="18" charset="0"/>
                    <a:ea typeface="SimHei" panose="02010609060101010101" pitchFamily="49" charset="-122"/>
                  </a:rPr>
                  <a:t>环境工程自动控制实验</a:t>
                </a:r>
              </a:p>
            </p:txBody>
          </p:sp>
          <p:sp>
            <p:nvSpPr>
              <p:cNvPr id="75" name="AutoShape 25">
                <a:extLst>
                  <a:ext uri="{FF2B5EF4-FFF2-40B4-BE49-F238E27FC236}">
                    <a16:creationId xmlns:a16="http://schemas.microsoft.com/office/drawing/2014/main" id="{A9CDD0F7-E2E9-4055-8066-FE1525C89D1B}"/>
                  </a:ext>
                </a:extLst>
              </p:cNvPr>
              <p:cNvSpPr>
                <a:spLocks/>
              </p:cNvSpPr>
              <p:nvPr/>
            </p:nvSpPr>
            <p:spPr bwMode="auto">
              <a:xfrm>
                <a:off x="1974" y="3477"/>
                <a:ext cx="135" cy="725"/>
              </a:xfrm>
              <a:prstGeom prst="leftBrace">
                <a:avLst>
                  <a:gd name="adj1" fmla="val 44753"/>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269875" indent="-2698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zh-CN" altLang="en-US" sz="4000">
                  <a:solidFill>
                    <a:srgbClr val="00008C"/>
                  </a:solidFill>
                  <a:latin typeface="Times New Roman" panose="02020603050405020304" pitchFamily="18" charset="0"/>
                </a:endParaRPr>
              </a:p>
            </p:txBody>
          </p:sp>
        </p:grpSp>
        <p:sp>
          <p:nvSpPr>
            <p:cNvPr id="69" name="AutoShape 26">
              <a:extLst>
                <a:ext uri="{FF2B5EF4-FFF2-40B4-BE49-F238E27FC236}">
                  <a16:creationId xmlns:a16="http://schemas.microsoft.com/office/drawing/2014/main" id="{774EF617-748B-4965-9D5C-565BB2F3066F}"/>
                </a:ext>
              </a:extLst>
            </p:cNvPr>
            <p:cNvSpPr>
              <a:spLocks/>
            </p:cNvSpPr>
            <p:nvPr/>
          </p:nvSpPr>
          <p:spPr bwMode="auto">
            <a:xfrm>
              <a:off x="1235075" y="2246313"/>
              <a:ext cx="265113" cy="3236912"/>
            </a:xfrm>
            <a:prstGeom prst="leftBrace">
              <a:avLst>
                <a:gd name="adj1" fmla="val 96546"/>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86649" tIns="43324" rIns="86649" bIns="43324" anchor="ctr"/>
            <a:lstStyle>
              <a:lvl1pPr marL="269875" indent="-2698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zh-CN" altLang="en-US" sz="4000">
                <a:solidFill>
                  <a:srgbClr val="00008C"/>
                </a:solidFill>
                <a:latin typeface="Times New Roman" panose="02020603050405020304" pitchFamily="18" charset="0"/>
              </a:endParaRPr>
            </a:p>
          </p:txBody>
        </p:sp>
        <p:sp>
          <p:nvSpPr>
            <p:cNvPr id="70" name="Text Box 29">
              <a:extLst>
                <a:ext uri="{FF2B5EF4-FFF2-40B4-BE49-F238E27FC236}">
                  <a16:creationId xmlns:a16="http://schemas.microsoft.com/office/drawing/2014/main" id="{E33A954D-9310-4AAB-927D-2EDDD311BAD1}"/>
                </a:ext>
              </a:extLst>
            </p:cNvPr>
            <p:cNvSpPr txBox="1">
              <a:spLocks noChangeArrowheads="1"/>
            </p:cNvSpPr>
            <p:nvPr/>
          </p:nvSpPr>
          <p:spPr bwMode="auto">
            <a:xfrm>
              <a:off x="6329658" y="3005138"/>
              <a:ext cx="1936314" cy="1416832"/>
            </a:xfrm>
            <a:prstGeom prst="rect">
              <a:avLst/>
            </a:prstGeom>
            <a:noFill/>
            <a:ln w="952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square" lIns="86649" tIns="43324" rIns="86649" bIns="43324">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130000"/>
                </a:lnSpc>
                <a:spcBef>
                  <a:spcPct val="0"/>
                </a:spcBef>
                <a:buFontTx/>
                <a:buNone/>
              </a:pPr>
              <a:r>
                <a:rPr kumimoji="1" lang="zh-CN" altLang="en-US" sz="2300" dirty="0">
                  <a:solidFill>
                    <a:srgbClr val="C00000"/>
                  </a:solidFill>
                  <a:latin typeface="Arial" panose="020B0604020202020204" pitchFamily="34" charset="0"/>
                  <a:ea typeface="SimHei" panose="02010609060101010101" pitchFamily="49" charset="-122"/>
                </a:rPr>
                <a:t>实验课程设置覆盖环境污染防治领域的各个方向</a:t>
              </a:r>
            </a:p>
          </p:txBody>
        </p:sp>
      </p:grpSp>
    </p:spTree>
    <p:extLst>
      <p:ext uri="{BB962C8B-B14F-4D97-AF65-F5344CB8AC3E}">
        <p14:creationId xmlns:p14="http://schemas.microsoft.com/office/powerpoint/2010/main" val="2934690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839253" y="2758656"/>
            <a:ext cx="6585368" cy="1048300"/>
          </a:xfrm>
          <a:prstGeom prst="rect">
            <a:avLst/>
          </a:prstGeom>
        </p:spPr>
        <p:txBody>
          <a:bodyPr vert="horz" wrap="square" lIns="114300" tIns="57150" rIns="114300" bIns="57150" rtlCol="0" anchor="t" anchorCtr="0">
            <a:spAutoFit/>
          </a:bodyPr>
          <a:lstStyle/>
          <a:p>
            <a:pPr lvl="0">
              <a:lnSpc>
                <a:spcPct val="120000"/>
              </a:lnSpc>
            </a:pPr>
            <a:r>
              <a:rPr lang="zh-CN" altLang="en-US" sz="5400" b="1" dirty="0">
                <a:solidFill>
                  <a:srgbClr val="2C4E8C"/>
                </a:solidFill>
                <a:latin typeface="等线" panose="02010600030101010101" pitchFamily="2" charset="-122"/>
                <a:cs typeface="Arial" panose="020B0604020202020204" pitchFamily="34" charset="0"/>
              </a:rPr>
              <a:t>环境科学与工程概述</a:t>
            </a:r>
          </a:p>
        </p:txBody>
      </p:sp>
      <p:sp>
        <p:nvSpPr>
          <p:cNvPr id="3" name="TextBox 3"/>
          <p:cNvSpPr txBox="1"/>
          <p:nvPr/>
        </p:nvSpPr>
        <p:spPr>
          <a:xfrm>
            <a:off x="1217733" y="3030076"/>
            <a:ext cx="2148230" cy="755271"/>
          </a:xfrm>
          <a:prstGeom prst="rect">
            <a:avLst/>
          </a:prstGeom>
        </p:spPr>
        <p:txBody>
          <a:bodyPr vert="horz" wrap="square" lIns="114300" tIns="57150" rIns="114300" bIns="57150" rtlCol="0" anchor="ctr" anchorCtr="0">
            <a:spAutoFit/>
          </a:bodyPr>
          <a:lstStyle/>
          <a:p>
            <a:pPr marL="0" marR="0" lvl="0" indent="0" algn="ctr" defTabSz="914400" rtl="0" eaLnBrk="1" fontAlgn="auto" latinLnBrk="0" hangingPunct="1">
              <a:lnSpc>
                <a:spcPct val="77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2C4E8C"/>
                </a:solidFill>
                <a:effectLst/>
                <a:uLnTx/>
                <a:uFillTx/>
                <a:latin typeface="Arial"/>
                <a:ea typeface="Arial"/>
                <a:cs typeface="Arial"/>
              </a:rPr>
              <a:t>02</a:t>
            </a:r>
          </a:p>
        </p:txBody>
      </p:sp>
    </p:spTree>
    <p:extLst>
      <p:ext uri="{BB962C8B-B14F-4D97-AF65-F5344CB8AC3E}">
        <p14:creationId xmlns:p14="http://schemas.microsoft.com/office/powerpoint/2010/main" val="929162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环境科学与工程学科</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39" name="组合 38">
            <a:extLst>
              <a:ext uri="{FF2B5EF4-FFF2-40B4-BE49-F238E27FC236}">
                <a16:creationId xmlns:a16="http://schemas.microsoft.com/office/drawing/2014/main" id="{F5A1A18C-801A-4F49-AF96-96D6B935B20E}"/>
              </a:ext>
            </a:extLst>
          </p:cNvPr>
          <p:cNvGrpSpPr/>
          <p:nvPr/>
        </p:nvGrpSpPr>
        <p:grpSpPr>
          <a:xfrm>
            <a:off x="856134" y="1582147"/>
            <a:ext cx="10269758" cy="4543553"/>
            <a:chOff x="609605" y="1549874"/>
            <a:chExt cx="10269758" cy="4543553"/>
          </a:xfrm>
        </p:grpSpPr>
        <p:grpSp>
          <p:nvGrpSpPr>
            <p:cNvPr id="37" name="组合 36">
              <a:extLst>
                <a:ext uri="{FF2B5EF4-FFF2-40B4-BE49-F238E27FC236}">
                  <a16:creationId xmlns:a16="http://schemas.microsoft.com/office/drawing/2014/main" id="{E1AF51CB-6BDE-49D3-8BAE-457E61516A24}"/>
                </a:ext>
              </a:extLst>
            </p:cNvPr>
            <p:cNvGrpSpPr/>
            <p:nvPr/>
          </p:nvGrpSpPr>
          <p:grpSpPr>
            <a:xfrm>
              <a:off x="609605" y="1549874"/>
              <a:ext cx="10269758" cy="4543553"/>
              <a:chOff x="539110" y="1388509"/>
              <a:chExt cx="10269758" cy="4543553"/>
            </a:xfrm>
          </p:grpSpPr>
          <p:sp>
            <p:nvSpPr>
              <p:cNvPr id="28" name="AutoShape 2">
                <a:extLst>
                  <a:ext uri="{FF2B5EF4-FFF2-40B4-BE49-F238E27FC236}">
                    <a16:creationId xmlns:a16="http://schemas.microsoft.com/office/drawing/2014/main" id="{8FFBE8FC-92CF-4A97-95AA-4600E5B1B761}"/>
                  </a:ext>
                </a:extLst>
              </p:cNvPr>
              <p:cNvSpPr/>
              <p:nvPr/>
            </p:nvSpPr>
            <p:spPr>
              <a:xfrm>
                <a:off x="2789747" y="1388509"/>
                <a:ext cx="8008040" cy="1267968"/>
              </a:xfrm>
              <a:prstGeom prst="rect">
                <a:avLst/>
              </a:prstGeom>
              <a:solidFill>
                <a:srgbClr val="2C4E8C"/>
              </a:solidFill>
              <a:ln/>
            </p:spPr>
          </p:sp>
          <p:sp>
            <p:nvSpPr>
              <p:cNvPr id="29" name="TextBox 3">
                <a:extLst>
                  <a:ext uri="{FF2B5EF4-FFF2-40B4-BE49-F238E27FC236}">
                    <a16:creationId xmlns:a16="http://schemas.microsoft.com/office/drawing/2014/main" id="{1F79C305-87DB-493F-9D1D-7BCAC07A7FFA}"/>
                  </a:ext>
                </a:extLst>
              </p:cNvPr>
              <p:cNvSpPr txBox="1"/>
              <p:nvPr/>
            </p:nvSpPr>
            <p:spPr>
              <a:xfrm>
                <a:off x="2957509" y="1498333"/>
                <a:ext cx="7622963" cy="981038"/>
              </a:xfrm>
              <a:prstGeom prst="rect">
                <a:avLst/>
              </a:prstGeom>
              <a:ln/>
            </p:spPr>
            <p:txBody>
              <a:bodyPr vert="horz" wrap="square" lIns="114300" tIns="57150" rIns="114300" bIns="57150" rtlCol="0" anchor="t" anchorCtr="0">
                <a:spAutoFit/>
              </a:bodyPr>
              <a:lstStyle/>
              <a:p>
                <a:pPr>
                  <a:lnSpc>
                    <a:spcPct val="120000"/>
                  </a:lnSpc>
                </a:pPr>
                <a:r>
                  <a:rPr lang="zh-CN" altLang="en-US" sz="1600" b="1" dirty="0">
                    <a:solidFill>
                      <a:srgbClr val="FFFFFF">
                        <a:alpha val="100000"/>
                      </a:srgbClr>
                    </a:solidFill>
                    <a:latin typeface="+mn-ea"/>
                    <a:cs typeface="Microsoft Yahei"/>
                  </a:rPr>
                  <a:t>环境科学与工程是研究如何保护和改善环境质量，防止和控制环境污染，合理利用和管理自然资源的学科。它涵盖了环境科学、环境工程、环境生物学、环境地理学、环境物理学及相关专业，是一门交叉性强、实践性高的综合性学科。</a:t>
                </a:r>
                <a:endParaRPr lang="en-US" sz="1600" b="1" dirty="0">
                  <a:solidFill>
                    <a:srgbClr val="FFFFFF">
                      <a:alpha val="100000"/>
                    </a:srgbClr>
                  </a:solidFill>
                  <a:latin typeface="+mn-ea"/>
                  <a:cs typeface="Microsoft Yahei"/>
                </a:endParaRPr>
              </a:p>
            </p:txBody>
          </p:sp>
          <p:sp>
            <p:nvSpPr>
              <p:cNvPr id="30" name="AutoShape 4">
                <a:extLst>
                  <a:ext uri="{FF2B5EF4-FFF2-40B4-BE49-F238E27FC236}">
                    <a16:creationId xmlns:a16="http://schemas.microsoft.com/office/drawing/2014/main" id="{38E78962-1A8E-431E-88DC-AA52C8CEADC8}"/>
                  </a:ext>
                </a:extLst>
              </p:cNvPr>
              <p:cNvSpPr/>
              <p:nvPr/>
            </p:nvSpPr>
            <p:spPr>
              <a:xfrm>
                <a:off x="2789747" y="3026301"/>
                <a:ext cx="8008040" cy="1267968"/>
              </a:xfrm>
              <a:prstGeom prst="rect">
                <a:avLst/>
              </a:prstGeom>
              <a:solidFill>
                <a:schemeClr val="accent2">
                  <a:alpha val="100000"/>
                </a:schemeClr>
              </a:solidFill>
              <a:ln/>
            </p:spPr>
          </p:sp>
          <p:sp>
            <p:nvSpPr>
              <p:cNvPr id="31" name="TextBox 5">
                <a:extLst>
                  <a:ext uri="{FF2B5EF4-FFF2-40B4-BE49-F238E27FC236}">
                    <a16:creationId xmlns:a16="http://schemas.microsoft.com/office/drawing/2014/main" id="{043AC63E-F73E-4E6D-920A-18BC72F7D46D}"/>
                  </a:ext>
                </a:extLst>
              </p:cNvPr>
              <p:cNvSpPr txBox="1"/>
              <p:nvPr/>
            </p:nvSpPr>
            <p:spPr>
              <a:xfrm>
                <a:off x="2912203" y="3312727"/>
                <a:ext cx="7763129" cy="702183"/>
              </a:xfrm>
              <a:prstGeom prst="rect">
                <a:avLst/>
              </a:prstGeom>
              <a:ln/>
            </p:spPr>
            <p:txBody>
              <a:bodyPr vert="horz" wrap="square" lIns="114300" tIns="57150" rIns="114300" bIns="57150" rtlCol="0" anchor="t" anchorCtr="0">
                <a:spAutoFit/>
              </a:bodyPr>
              <a:lstStyle/>
              <a:p>
                <a:pPr>
                  <a:lnSpc>
                    <a:spcPct val="120000"/>
                  </a:lnSpc>
                </a:pPr>
                <a:r>
                  <a:rPr lang="zh-CN" altLang="en-US" sz="1600" b="1" dirty="0">
                    <a:solidFill>
                      <a:srgbClr val="FFFFFF">
                        <a:alpha val="100000"/>
                      </a:srgbClr>
                    </a:solidFill>
                    <a:latin typeface="+mn-ea"/>
                    <a:cs typeface="Times New Roman" panose="02020603050405020304" pitchFamily="18" charset="0"/>
                  </a:rPr>
                  <a:t>环境科学专业主要研究环境及其与人类的关系，包括环境中的物质、自然迁移、转化和积累过程，以及环境污染对人体健康和生态系统的影响。</a:t>
                </a:r>
                <a:endParaRPr lang="en-US" sz="1600" b="1" dirty="0">
                  <a:solidFill>
                    <a:srgbClr val="FFFFFF">
                      <a:alpha val="100000"/>
                    </a:srgbClr>
                  </a:solidFill>
                  <a:latin typeface="+mn-ea"/>
                  <a:cs typeface="Times New Roman" panose="02020603050405020304" pitchFamily="18" charset="0"/>
                </a:endParaRPr>
              </a:p>
            </p:txBody>
          </p:sp>
          <p:pic>
            <p:nvPicPr>
              <p:cNvPr id="32" name="Picture 6">
                <a:extLst>
                  <a:ext uri="{FF2B5EF4-FFF2-40B4-BE49-F238E27FC236}">
                    <a16:creationId xmlns:a16="http://schemas.microsoft.com/office/drawing/2014/main" id="{EFA24FF7-2725-4388-AFB4-D2C55B63AD30}"/>
                  </a:ext>
                </a:extLst>
              </p:cNvPr>
              <p:cNvPicPr>
                <a:picLocks noChangeAspect="1"/>
              </p:cNvPicPr>
              <p:nvPr/>
            </p:nvPicPr>
            <p:blipFill>
              <a:blip r:embed="rId3"/>
              <a:srcRect t="21899" b="21899"/>
              <a:stretch>
                <a:fillRect/>
              </a:stretch>
            </p:blipFill>
            <p:spPr>
              <a:xfrm>
                <a:off x="539110" y="1388509"/>
                <a:ext cx="2256056" cy="1267969"/>
              </a:xfrm>
              <a:prstGeom prst="rect">
                <a:avLst/>
              </a:prstGeom>
            </p:spPr>
          </p:pic>
          <p:sp>
            <p:nvSpPr>
              <p:cNvPr id="34" name="AutoShape 8">
                <a:extLst>
                  <a:ext uri="{FF2B5EF4-FFF2-40B4-BE49-F238E27FC236}">
                    <a16:creationId xmlns:a16="http://schemas.microsoft.com/office/drawing/2014/main" id="{0EBF072B-7F9A-44EB-A3CD-C7AE194570D2}"/>
                  </a:ext>
                </a:extLst>
              </p:cNvPr>
              <p:cNvSpPr/>
              <p:nvPr/>
            </p:nvSpPr>
            <p:spPr>
              <a:xfrm>
                <a:off x="2800828" y="4664094"/>
                <a:ext cx="8008040" cy="1267968"/>
              </a:xfrm>
              <a:prstGeom prst="rect">
                <a:avLst/>
              </a:prstGeom>
              <a:solidFill>
                <a:srgbClr val="2C4E8C"/>
              </a:solidFill>
              <a:ln/>
            </p:spPr>
          </p:sp>
          <p:sp>
            <p:nvSpPr>
              <p:cNvPr id="35" name="TextBox 9">
                <a:extLst>
                  <a:ext uri="{FF2B5EF4-FFF2-40B4-BE49-F238E27FC236}">
                    <a16:creationId xmlns:a16="http://schemas.microsoft.com/office/drawing/2014/main" id="{5038CD76-F697-42B2-A998-A90CBEF80C91}"/>
                  </a:ext>
                </a:extLst>
              </p:cNvPr>
              <p:cNvSpPr txBox="1"/>
              <p:nvPr/>
            </p:nvSpPr>
            <p:spPr>
              <a:xfrm>
                <a:off x="2912203" y="4807559"/>
                <a:ext cx="7763129" cy="981038"/>
              </a:xfrm>
              <a:prstGeom prst="rect">
                <a:avLst/>
              </a:prstGeom>
              <a:ln/>
            </p:spPr>
            <p:txBody>
              <a:bodyPr vert="horz" wrap="square" lIns="114300" tIns="57150" rIns="114300" bIns="57150" rtlCol="0" anchor="t" anchorCtr="0">
                <a:spAutoFit/>
              </a:bodyPr>
              <a:lstStyle/>
              <a:p>
                <a:pPr>
                  <a:lnSpc>
                    <a:spcPct val="120000"/>
                  </a:lnSpc>
                </a:pPr>
                <a:r>
                  <a:rPr lang="zh-CN" altLang="en-US" sz="1600" b="1" dirty="0">
                    <a:solidFill>
                      <a:srgbClr val="FFFFFF">
                        <a:alpha val="100000"/>
                      </a:srgbClr>
                    </a:solidFill>
                    <a:latin typeface="+mn-ea"/>
                  </a:rPr>
                  <a:t>环境工程专业主要研究环境污染治理与控制，致力于开发和应用高效、经济的环保技术。涵盖了从环境污染的预防和治理到生态系统的保护和恢复，以及环境政策和管理等多个方面，旨在促进环境、社会和经济协调发展。</a:t>
                </a:r>
                <a:endParaRPr lang="en-US" sz="1600" b="1" dirty="0">
                  <a:solidFill>
                    <a:srgbClr val="FFFFFF">
                      <a:alpha val="100000"/>
                    </a:srgbClr>
                  </a:solidFill>
                  <a:latin typeface="+mn-ea"/>
                </a:endParaRPr>
              </a:p>
            </p:txBody>
          </p:sp>
          <p:pic>
            <p:nvPicPr>
              <p:cNvPr id="36" name="Picture 10">
                <a:extLst>
                  <a:ext uri="{FF2B5EF4-FFF2-40B4-BE49-F238E27FC236}">
                    <a16:creationId xmlns:a16="http://schemas.microsoft.com/office/drawing/2014/main" id="{603F19B9-9B4D-4B0B-93FD-A2AAA87214F7}"/>
                  </a:ext>
                </a:extLst>
              </p:cNvPr>
              <p:cNvPicPr>
                <a:picLocks noChangeAspect="1"/>
              </p:cNvPicPr>
              <p:nvPr/>
            </p:nvPicPr>
            <p:blipFill>
              <a:blip r:embed="rId4"/>
              <a:srcRect t="7848" b="7848"/>
              <a:stretch>
                <a:fillRect/>
              </a:stretch>
            </p:blipFill>
            <p:spPr>
              <a:xfrm>
                <a:off x="544772" y="4664094"/>
                <a:ext cx="2256056" cy="1267968"/>
              </a:xfrm>
              <a:prstGeom prst="rect">
                <a:avLst/>
              </a:prstGeom>
            </p:spPr>
          </p:pic>
        </p:grpSp>
        <p:pic>
          <p:nvPicPr>
            <p:cNvPr id="38" name="Picture 10">
              <a:extLst>
                <a:ext uri="{FF2B5EF4-FFF2-40B4-BE49-F238E27FC236}">
                  <a16:creationId xmlns:a16="http://schemas.microsoft.com/office/drawing/2014/main" id="{3237F132-A2C8-4248-9F5B-9DDB12BA0B89}"/>
                </a:ext>
              </a:extLst>
            </p:cNvPr>
            <p:cNvPicPr>
              <a:picLocks noChangeAspect="1"/>
            </p:cNvPicPr>
            <p:nvPr/>
          </p:nvPicPr>
          <p:blipFill>
            <a:blip r:embed="rId5"/>
            <a:srcRect t="12531" b="12531"/>
            <a:stretch>
              <a:fillRect/>
            </a:stretch>
          </p:blipFill>
          <p:spPr>
            <a:xfrm>
              <a:off x="615267" y="3187666"/>
              <a:ext cx="2256056" cy="1267968"/>
            </a:xfrm>
            <a:prstGeom prst="rect">
              <a:avLst/>
            </a:prstGeom>
          </p:spPr>
        </p:pic>
      </p:grpSp>
    </p:spTree>
    <p:extLst>
      <p:ext uri="{BB962C8B-B14F-4D97-AF65-F5344CB8AC3E}">
        <p14:creationId xmlns:p14="http://schemas.microsoft.com/office/powerpoint/2010/main" val="2453183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环境问题与挑战</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pic>
        <p:nvPicPr>
          <p:cNvPr id="28" name="图片 27">
            <a:extLst>
              <a:ext uri="{FF2B5EF4-FFF2-40B4-BE49-F238E27FC236}">
                <a16:creationId xmlns:a16="http://schemas.microsoft.com/office/drawing/2014/main" id="{31841083-1536-445B-808E-CB0F6CF51D5B}"/>
              </a:ext>
            </a:extLst>
          </p:cNvPr>
          <p:cNvPicPr>
            <a:picLocks noChangeAspect="1"/>
          </p:cNvPicPr>
          <p:nvPr/>
        </p:nvPicPr>
        <p:blipFill>
          <a:blip r:embed="rId2"/>
          <a:stretch>
            <a:fillRect/>
          </a:stretch>
        </p:blipFill>
        <p:spPr>
          <a:xfrm>
            <a:off x="2398956" y="3324630"/>
            <a:ext cx="6927799" cy="3079022"/>
          </a:xfrm>
          <a:prstGeom prst="rect">
            <a:avLst/>
          </a:prstGeom>
        </p:spPr>
      </p:pic>
      <p:sp>
        <p:nvSpPr>
          <p:cNvPr id="29" name="Text Box 11">
            <a:extLst>
              <a:ext uri="{FF2B5EF4-FFF2-40B4-BE49-F238E27FC236}">
                <a16:creationId xmlns:a16="http://schemas.microsoft.com/office/drawing/2014/main" id="{52F63B34-D80A-4952-B320-E02AC1D0D46A}"/>
              </a:ext>
            </a:extLst>
          </p:cNvPr>
          <p:cNvSpPr txBox="1">
            <a:spLocks noChangeArrowheads="1"/>
          </p:cNvSpPr>
          <p:nvPr/>
        </p:nvSpPr>
        <p:spPr bwMode="auto">
          <a:xfrm>
            <a:off x="675200" y="1128996"/>
            <a:ext cx="172375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3000" b="1" dirty="0">
                <a:solidFill>
                  <a:srgbClr val="FF0000"/>
                </a:solidFill>
                <a:latin typeface="+mn-ea"/>
                <a:ea typeface="+mn-ea"/>
              </a:rPr>
              <a:t>环境问题</a:t>
            </a:r>
          </a:p>
        </p:txBody>
      </p:sp>
      <p:sp>
        <p:nvSpPr>
          <p:cNvPr id="30" name="Rectangle 5">
            <a:extLst>
              <a:ext uri="{FF2B5EF4-FFF2-40B4-BE49-F238E27FC236}">
                <a16:creationId xmlns:a16="http://schemas.microsoft.com/office/drawing/2014/main" id="{C2796A1C-5E22-49D6-B7EF-387AAF251DC9}"/>
              </a:ext>
            </a:extLst>
          </p:cNvPr>
          <p:cNvSpPr>
            <a:spLocks noChangeArrowheads="1"/>
          </p:cNvSpPr>
          <p:nvPr/>
        </p:nvSpPr>
        <p:spPr bwMode="auto">
          <a:xfrm>
            <a:off x="685957" y="1914799"/>
            <a:ext cx="10717149" cy="115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just">
              <a:lnSpc>
                <a:spcPct val="130000"/>
              </a:lnSpc>
              <a:spcBef>
                <a:spcPct val="50000"/>
              </a:spcBef>
              <a:buClr>
                <a:srgbClr val="0000CC"/>
              </a:buClr>
              <a:buNone/>
            </a:pPr>
            <a:r>
              <a:rPr lang="zh-CN" altLang="en-US" sz="2800" dirty="0">
                <a:solidFill>
                  <a:srgbClr val="2C4E8C"/>
                </a:solidFill>
                <a:latin typeface="黑体" panose="02010609060101010101" pitchFamily="49" charset="-122"/>
                <a:ea typeface="黑体" panose="02010609060101010101" pitchFamily="49" charset="-122"/>
              </a:rPr>
              <a:t>是指由自然力或人类不恰当的生产生活活动引起环境质量的下降和恶化，以及这种变化反过来影响人类生存和发展的一切问题。</a:t>
            </a:r>
          </a:p>
        </p:txBody>
      </p:sp>
    </p:spTree>
    <p:extLst>
      <p:ext uri="{BB962C8B-B14F-4D97-AF65-F5344CB8AC3E}">
        <p14:creationId xmlns:p14="http://schemas.microsoft.com/office/powerpoint/2010/main" val="2013339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环境问题与挑战</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64" name="AutoShape 2">
            <a:extLst>
              <a:ext uri="{FF2B5EF4-FFF2-40B4-BE49-F238E27FC236}">
                <a16:creationId xmlns:a16="http://schemas.microsoft.com/office/drawing/2014/main" id="{1D387E0C-0F50-4C20-973D-20259A88714D}"/>
              </a:ext>
            </a:extLst>
          </p:cNvPr>
          <p:cNvSpPr/>
          <p:nvPr/>
        </p:nvSpPr>
        <p:spPr>
          <a:xfrm>
            <a:off x="3262644" y="3099669"/>
            <a:ext cx="2056870" cy="2036039"/>
          </a:xfrm>
          <a:prstGeom prst="ellipse">
            <a:avLst/>
          </a:prstGeom>
          <a:blipFill>
            <a:blip r:embed="rId3"/>
            <a:stretch>
              <a:fillRect/>
            </a:stretch>
          </a:blipFill>
          <a:ln w="120650">
            <a:solidFill>
              <a:srgbClr val="ED7D31"/>
            </a:solidFill>
          </a:ln>
        </p:spPr>
      </p:sp>
      <p:sp>
        <p:nvSpPr>
          <p:cNvPr id="65" name="AutoShape 3">
            <a:extLst>
              <a:ext uri="{FF2B5EF4-FFF2-40B4-BE49-F238E27FC236}">
                <a16:creationId xmlns:a16="http://schemas.microsoft.com/office/drawing/2014/main" id="{966CE7DD-5952-420B-908D-DE2C43706E74}"/>
              </a:ext>
            </a:extLst>
          </p:cNvPr>
          <p:cNvSpPr/>
          <p:nvPr/>
        </p:nvSpPr>
        <p:spPr>
          <a:xfrm>
            <a:off x="5660672" y="3527847"/>
            <a:ext cx="2699191" cy="2719784"/>
          </a:xfrm>
          <a:prstGeom prst="ellipse">
            <a:avLst/>
          </a:prstGeom>
          <a:blipFill>
            <a:blip r:embed="rId4"/>
            <a:stretch>
              <a:fillRect/>
            </a:stretch>
          </a:blipFill>
          <a:ln w="101600">
            <a:solidFill>
              <a:srgbClr val="ED7D31"/>
            </a:solidFill>
          </a:ln>
        </p:spPr>
      </p:sp>
      <p:sp>
        <p:nvSpPr>
          <p:cNvPr id="66" name="AutoShape 4">
            <a:extLst>
              <a:ext uri="{FF2B5EF4-FFF2-40B4-BE49-F238E27FC236}">
                <a16:creationId xmlns:a16="http://schemas.microsoft.com/office/drawing/2014/main" id="{476C9E76-3BFA-4B0A-B2A5-AE4C1BFDB5FB}"/>
              </a:ext>
            </a:extLst>
          </p:cNvPr>
          <p:cNvSpPr/>
          <p:nvPr/>
        </p:nvSpPr>
        <p:spPr>
          <a:xfrm>
            <a:off x="5288494" y="1513149"/>
            <a:ext cx="1721774" cy="1721774"/>
          </a:xfrm>
          <a:prstGeom prst="ellipse">
            <a:avLst/>
          </a:prstGeom>
          <a:solidFill>
            <a:schemeClr val="accent2">
              <a:alpha val="100000"/>
            </a:schemeClr>
          </a:solidFill>
          <a:ln/>
        </p:spPr>
      </p:sp>
      <p:sp>
        <p:nvSpPr>
          <p:cNvPr id="67" name="TextBox 5">
            <a:extLst>
              <a:ext uri="{FF2B5EF4-FFF2-40B4-BE49-F238E27FC236}">
                <a16:creationId xmlns:a16="http://schemas.microsoft.com/office/drawing/2014/main" id="{C4B4495F-681A-4BBB-BE45-A51488419061}"/>
              </a:ext>
            </a:extLst>
          </p:cNvPr>
          <p:cNvSpPr txBox="1"/>
          <p:nvPr/>
        </p:nvSpPr>
        <p:spPr>
          <a:xfrm>
            <a:off x="159623" y="3604541"/>
            <a:ext cx="3039989" cy="1423595"/>
          </a:xfrm>
          <a:prstGeom prst="rect">
            <a:avLst/>
          </a:prstGeom>
          <a:ln/>
        </p:spPr>
        <p:txBody>
          <a:bodyPr vert="horz" wrap="square" lIns="114300" tIns="57150" rIns="114300" bIns="57150" rtlCol="0" anchor="t" anchorCtr="0">
            <a:spAutoFit/>
          </a:bodyPr>
          <a:lstStyle/>
          <a:p>
            <a:pPr>
              <a:lnSpc>
                <a:spcPct val="120000"/>
              </a:lnSpc>
            </a:pPr>
            <a:r>
              <a:rPr lang="zh-CN" altLang="en-US" b="1" dirty="0">
                <a:solidFill>
                  <a:schemeClr val="dk1">
                    <a:alpha val="100000"/>
                  </a:schemeClr>
                </a:solidFill>
                <a:latin typeface="+mn-ea"/>
                <a:cs typeface="Microsoft Yahei"/>
              </a:rPr>
              <a:t>空气污染、水体污染、土壤污染等，主要由人类活动产生的废弃物和有害物质排放引起。</a:t>
            </a:r>
          </a:p>
        </p:txBody>
      </p:sp>
      <p:pic>
        <p:nvPicPr>
          <p:cNvPr id="68" name="Picture 6">
            <a:extLst>
              <a:ext uri="{FF2B5EF4-FFF2-40B4-BE49-F238E27FC236}">
                <a16:creationId xmlns:a16="http://schemas.microsoft.com/office/drawing/2014/main" id="{BEFAB6F3-0825-482C-B75A-75173109F25E}"/>
              </a:ext>
            </a:extLst>
          </p:cNvPr>
          <p:cNvPicPr>
            <a:picLocks noChangeAspect="1"/>
          </p:cNvPicPr>
          <p:nvPr/>
        </p:nvPicPr>
        <p:blipFill>
          <a:blip r:embed="rId5"/>
          <a:srcRect t="125" b="125"/>
          <a:stretch>
            <a:fillRect/>
          </a:stretch>
        </p:blipFill>
        <p:spPr>
          <a:xfrm>
            <a:off x="5399254" y="1623909"/>
            <a:ext cx="1500254" cy="1500254"/>
          </a:xfrm>
          <a:prstGeom prst="ellipse">
            <a:avLst/>
          </a:prstGeom>
        </p:spPr>
      </p:pic>
      <p:sp>
        <p:nvSpPr>
          <p:cNvPr id="69" name="TextBox 7">
            <a:extLst>
              <a:ext uri="{FF2B5EF4-FFF2-40B4-BE49-F238E27FC236}">
                <a16:creationId xmlns:a16="http://schemas.microsoft.com/office/drawing/2014/main" id="{F74C6619-23F6-41C7-BC81-6C086498846B}"/>
              </a:ext>
            </a:extLst>
          </p:cNvPr>
          <p:cNvSpPr txBox="1"/>
          <p:nvPr/>
        </p:nvSpPr>
        <p:spPr>
          <a:xfrm>
            <a:off x="279709" y="2835291"/>
            <a:ext cx="2703493" cy="457113"/>
          </a:xfrm>
          <a:prstGeom prst="rect">
            <a:avLst/>
          </a:prstGeom>
          <a:ln/>
        </p:spPr>
        <p:txBody>
          <a:bodyPr vert="horz" wrap="square" lIns="114300" tIns="57150" rIns="114300" bIns="57150" rtlCol="0" anchor="t" anchorCtr="0">
            <a:spAutoFit/>
          </a:bodyPr>
          <a:lstStyle/>
          <a:p>
            <a:pPr algn="r">
              <a:lnSpc>
                <a:spcPct val="77000"/>
              </a:lnSpc>
            </a:pPr>
            <a:r>
              <a:rPr lang="zh-CN" altLang="en-US" sz="2800" b="1" dirty="0">
                <a:solidFill>
                  <a:srgbClr val="2C4E8C"/>
                </a:solidFill>
                <a:latin typeface="+mn-ea"/>
                <a:cs typeface="Microsoft Yahei"/>
              </a:rPr>
              <a:t>环境污染</a:t>
            </a:r>
            <a:endParaRPr lang="en-US" sz="2800" b="1" dirty="0">
              <a:solidFill>
                <a:srgbClr val="2C4E8C"/>
              </a:solidFill>
              <a:latin typeface="+mn-ea"/>
              <a:cs typeface="Microsoft Yahei"/>
            </a:endParaRPr>
          </a:p>
        </p:txBody>
      </p:sp>
      <p:sp>
        <p:nvSpPr>
          <p:cNvPr id="70" name="TextBox 8">
            <a:extLst>
              <a:ext uri="{FF2B5EF4-FFF2-40B4-BE49-F238E27FC236}">
                <a16:creationId xmlns:a16="http://schemas.microsoft.com/office/drawing/2014/main" id="{FB302B51-CD00-4BAC-8364-ACF0B82D15AC}"/>
              </a:ext>
            </a:extLst>
          </p:cNvPr>
          <p:cNvSpPr txBox="1"/>
          <p:nvPr/>
        </p:nvSpPr>
        <p:spPr>
          <a:xfrm>
            <a:off x="7345364" y="2057191"/>
            <a:ext cx="4162373" cy="1091196"/>
          </a:xfrm>
          <a:prstGeom prst="rect">
            <a:avLst/>
          </a:prstGeom>
          <a:ln/>
        </p:spPr>
        <p:txBody>
          <a:bodyPr vert="horz" wrap="square" lIns="114300" tIns="57150" rIns="114300" bIns="57150" rtlCol="0" anchor="t" anchorCtr="0">
            <a:spAutoFit/>
          </a:bodyPr>
          <a:lstStyle/>
          <a:p>
            <a:pPr>
              <a:lnSpc>
                <a:spcPct val="120000"/>
              </a:lnSpc>
            </a:pPr>
            <a:r>
              <a:rPr lang="zh-CN" altLang="en-US" b="1" dirty="0">
                <a:solidFill>
                  <a:schemeClr val="dk1">
                    <a:alpha val="100000"/>
                  </a:schemeClr>
                </a:solidFill>
                <a:latin typeface="+mn-ea"/>
                <a:cs typeface="Microsoft Yahei"/>
              </a:rPr>
              <a:t>人类活动如过度开发、乱砍滥伐等导致植被破坏、水土流失，并可能威胁野生动植物，破坏生态平衡。</a:t>
            </a:r>
          </a:p>
        </p:txBody>
      </p:sp>
      <p:sp>
        <p:nvSpPr>
          <p:cNvPr id="71" name="TextBox 9">
            <a:extLst>
              <a:ext uri="{FF2B5EF4-FFF2-40B4-BE49-F238E27FC236}">
                <a16:creationId xmlns:a16="http://schemas.microsoft.com/office/drawing/2014/main" id="{9A6B274C-77D3-4AE2-B3BF-94A6F99072DD}"/>
              </a:ext>
            </a:extLst>
          </p:cNvPr>
          <p:cNvSpPr txBox="1"/>
          <p:nvPr/>
        </p:nvSpPr>
        <p:spPr>
          <a:xfrm>
            <a:off x="7300757" y="1513149"/>
            <a:ext cx="2703493" cy="457113"/>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生态破坏</a:t>
            </a:r>
            <a:endParaRPr lang="en-US" sz="2800" b="1" dirty="0">
              <a:solidFill>
                <a:srgbClr val="2C4E8C"/>
              </a:solidFill>
              <a:latin typeface="+mn-ea"/>
              <a:cs typeface="Microsoft Yahei"/>
            </a:endParaRPr>
          </a:p>
        </p:txBody>
      </p:sp>
      <p:sp>
        <p:nvSpPr>
          <p:cNvPr id="74" name="TextBox 12">
            <a:extLst>
              <a:ext uri="{FF2B5EF4-FFF2-40B4-BE49-F238E27FC236}">
                <a16:creationId xmlns:a16="http://schemas.microsoft.com/office/drawing/2014/main" id="{8184E2CD-E3D4-4010-BD4D-54EEE876CD14}"/>
              </a:ext>
            </a:extLst>
          </p:cNvPr>
          <p:cNvSpPr txBox="1"/>
          <p:nvPr/>
        </p:nvSpPr>
        <p:spPr>
          <a:xfrm>
            <a:off x="8621512" y="4777233"/>
            <a:ext cx="3219450" cy="1423595"/>
          </a:xfrm>
          <a:prstGeom prst="rect">
            <a:avLst/>
          </a:prstGeom>
          <a:ln/>
        </p:spPr>
        <p:txBody>
          <a:bodyPr vert="horz" wrap="square" lIns="114300" tIns="57150" rIns="114300" bIns="57150" rtlCol="0" anchor="t" anchorCtr="0">
            <a:spAutoFit/>
          </a:bodyPr>
          <a:lstStyle/>
          <a:p>
            <a:pPr>
              <a:lnSpc>
                <a:spcPct val="120000"/>
              </a:lnSpc>
            </a:pPr>
            <a:r>
              <a:rPr lang="zh-CN" altLang="en-US" b="1" dirty="0">
                <a:solidFill>
                  <a:schemeClr val="dk1">
                    <a:alpha val="100000"/>
                  </a:schemeClr>
                </a:solidFill>
                <a:latin typeface="+mn-ea"/>
                <a:cs typeface="Microsoft Yahei"/>
              </a:rPr>
              <a:t>全球气候变化等环境系统变化在很大程度上由人类活动引起，如温室气体排放导致的大气组成变化。</a:t>
            </a:r>
          </a:p>
        </p:txBody>
      </p:sp>
      <p:sp>
        <p:nvSpPr>
          <p:cNvPr id="77" name="TextBox 9">
            <a:extLst>
              <a:ext uri="{FF2B5EF4-FFF2-40B4-BE49-F238E27FC236}">
                <a16:creationId xmlns:a16="http://schemas.microsoft.com/office/drawing/2014/main" id="{035B7D0C-35FE-41C7-A8FC-72ADD6ACCA46}"/>
              </a:ext>
            </a:extLst>
          </p:cNvPr>
          <p:cNvSpPr txBox="1"/>
          <p:nvPr/>
        </p:nvSpPr>
        <p:spPr>
          <a:xfrm>
            <a:off x="8519345" y="4233191"/>
            <a:ext cx="2703493" cy="457113"/>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环境变化</a:t>
            </a:r>
            <a:endParaRPr lang="en-US" sz="2800" b="1" dirty="0">
              <a:solidFill>
                <a:srgbClr val="2C4E8C"/>
              </a:solidFill>
              <a:latin typeface="+mn-ea"/>
              <a:cs typeface="Microsoft Yahei"/>
            </a:endParaRPr>
          </a:p>
        </p:txBody>
      </p:sp>
      <p:sp>
        <p:nvSpPr>
          <p:cNvPr id="78" name="Text Box 11">
            <a:extLst>
              <a:ext uri="{FF2B5EF4-FFF2-40B4-BE49-F238E27FC236}">
                <a16:creationId xmlns:a16="http://schemas.microsoft.com/office/drawing/2014/main" id="{4C45D4C2-56C6-46DD-8E0D-66754E21ECE5}"/>
              </a:ext>
            </a:extLst>
          </p:cNvPr>
          <p:cNvSpPr txBox="1">
            <a:spLocks noChangeArrowheads="1"/>
          </p:cNvSpPr>
          <p:nvPr/>
        </p:nvSpPr>
        <p:spPr bwMode="auto">
          <a:xfrm>
            <a:off x="675199" y="1156204"/>
            <a:ext cx="26381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3000" b="1" dirty="0">
                <a:solidFill>
                  <a:srgbClr val="FF0000"/>
                </a:solidFill>
                <a:latin typeface="+mn-ea"/>
                <a:ea typeface="+mn-ea"/>
              </a:rPr>
              <a:t>次生环境问题</a:t>
            </a:r>
          </a:p>
        </p:txBody>
      </p:sp>
    </p:spTree>
    <p:extLst>
      <p:ext uri="{BB962C8B-B14F-4D97-AF65-F5344CB8AC3E}">
        <p14:creationId xmlns:p14="http://schemas.microsoft.com/office/powerpoint/2010/main" val="181975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环境问题与挑战</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63" name="组合 62">
            <a:extLst>
              <a:ext uri="{FF2B5EF4-FFF2-40B4-BE49-F238E27FC236}">
                <a16:creationId xmlns:a16="http://schemas.microsoft.com/office/drawing/2014/main" id="{FAE7FB5E-5F3B-4919-9605-EB2990567268}"/>
              </a:ext>
            </a:extLst>
          </p:cNvPr>
          <p:cNvGrpSpPr/>
          <p:nvPr/>
        </p:nvGrpSpPr>
        <p:grpSpPr>
          <a:xfrm>
            <a:off x="1217048" y="1872584"/>
            <a:ext cx="9604993" cy="3919719"/>
            <a:chOff x="654285" y="1646673"/>
            <a:chExt cx="9604993" cy="3919719"/>
          </a:xfrm>
        </p:grpSpPr>
        <p:sp>
          <p:nvSpPr>
            <p:cNvPr id="32" name="TextBox 3">
              <a:extLst>
                <a:ext uri="{FF2B5EF4-FFF2-40B4-BE49-F238E27FC236}">
                  <a16:creationId xmlns:a16="http://schemas.microsoft.com/office/drawing/2014/main" id="{CB3DE366-79B3-4CB6-98E1-7AB6D7618416}"/>
                </a:ext>
              </a:extLst>
            </p:cNvPr>
            <p:cNvSpPr txBox="1"/>
            <p:nvPr/>
          </p:nvSpPr>
          <p:spPr>
            <a:xfrm>
              <a:off x="654285" y="4028603"/>
              <a:ext cx="2814435" cy="1233928"/>
            </a:xfrm>
            <a:prstGeom prst="rect">
              <a:avLst/>
            </a:prstGeom>
            <a:ln/>
          </p:spPr>
          <p:txBody>
            <a:bodyPr vert="horz" wrap="square" lIns="114300" tIns="57150" rIns="114300" bIns="57150" rtlCol="0" anchor="t" anchorCtr="0">
              <a:spAutoFit/>
            </a:bodyPr>
            <a:lstStyle/>
            <a:p>
              <a:pPr algn="just">
                <a:lnSpc>
                  <a:spcPct val="125000"/>
                </a:lnSpc>
              </a:pPr>
              <a:r>
                <a:rPr lang="zh-CN" altLang="en-US" sz="2000" b="1" dirty="0">
                  <a:latin typeface="+mn-ea"/>
                  <a:cs typeface="Microsoft Yahei"/>
                </a:rPr>
                <a:t>气候变化、生物多样性丧失、水资源短缺、土地退化等。</a:t>
              </a:r>
            </a:p>
          </p:txBody>
        </p:sp>
        <p:sp>
          <p:nvSpPr>
            <p:cNvPr id="33" name="TextBox 4">
              <a:extLst>
                <a:ext uri="{FF2B5EF4-FFF2-40B4-BE49-F238E27FC236}">
                  <a16:creationId xmlns:a16="http://schemas.microsoft.com/office/drawing/2014/main" id="{57BB204A-3B8B-4DD0-9E11-25CEC0786C1C}"/>
                </a:ext>
              </a:extLst>
            </p:cNvPr>
            <p:cNvSpPr txBox="1"/>
            <p:nvPr/>
          </p:nvSpPr>
          <p:spPr>
            <a:xfrm>
              <a:off x="801430" y="2811654"/>
              <a:ext cx="2412218" cy="529056"/>
            </a:xfrm>
            <a:prstGeom prst="rect">
              <a:avLst/>
            </a:prstGeom>
            <a:ln>
              <a:solidFill>
                <a:schemeClr val="accent1">
                  <a:alpha val="100000"/>
                </a:schemeClr>
              </a:solidFill>
            </a:ln>
          </p:spPr>
          <p:txBody>
            <a:bodyPr vert="horz" wrap="square" lIns="114300" tIns="57150" rIns="114300" bIns="57150" rtlCol="0" anchor="t" anchorCtr="0">
              <a:spAutoFit/>
            </a:bodyPr>
            <a:lstStyle/>
            <a:p>
              <a:pPr>
                <a:lnSpc>
                  <a:spcPct val="96000"/>
                </a:lnSpc>
              </a:pPr>
              <a:r>
                <a:rPr lang="zh-CN" altLang="en-US" sz="2800" b="1" dirty="0">
                  <a:solidFill>
                    <a:srgbClr val="2C4E8C"/>
                  </a:solidFill>
                  <a:latin typeface="+mn-ea"/>
                  <a:cs typeface="Microsoft Yahei"/>
                </a:rPr>
                <a:t>全球环境问题</a:t>
              </a:r>
            </a:p>
          </p:txBody>
        </p:sp>
        <p:cxnSp>
          <p:nvCxnSpPr>
            <p:cNvPr id="34" name="Connector 5">
              <a:extLst>
                <a:ext uri="{FF2B5EF4-FFF2-40B4-BE49-F238E27FC236}">
                  <a16:creationId xmlns:a16="http://schemas.microsoft.com/office/drawing/2014/main" id="{CA409D86-1D4A-47C0-BE39-5705BC223504}"/>
                </a:ext>
              </a:extLst>
            </p:cNvPr>
            <p:cNvCxnSpPr/>
            <p:nvPr/>
          </p:nvCxnSpPr>
          <p:spPr>
            <a:xfrm>
              <a:off x="723093" y="3614285"/>
              <a:ext cx="2676821" cy="0"/>
            </a:xfrm>
            <a:prstGeom prst="line">
              <a:avLst/>
            </a:prstGeom>
            <a:ln w="9525">
              <a:solidFill>
                <a:schemeClr val="accent1">
                  <a:lumMod val="75000"/>
                </a:schemeClr>
              </a:solidFill>
              <a:prstDash val="solid"/>
              <a:headEnd type="none"/>
              <a:tailEnd type="none"/>
            </a:ln>
          </p:spPr>
          <p:style>
            <a:lnRef idx="0">
              <a:schemeClr val="accent1"/>
            </a:lnRef>
            <a:fillRef idx="1">
              <a:schemeClr val="accent1"/>
            </a:fillRef>
            <a:effectRef idx="0">
              <a:schemeClr val="accent1"/>
            </a:effectRef>
            <a:fontRef idx="minor">
              <a:schemeClr val="lt1"/>
            </a:fontRef>
          </p:style>
        </p:cxnSp>
        <p:grpSp>
          <p:nvGrpSpPr>
            <p:cNvPr id="58" name="组合 57">
              <a:extLst>
                <a:ext uri="{FF2B5EF4-FFF2-40B4-BE49-F238E27FC236}">
                  <a16:creationId xmlns:a16="http://schemas.microsoft.com/office/drawing/2014/main" id="{75F001A4-E259-4B7E-9B7C-C80D445CCEAF}"/>
                </a:ext>
              </a:extLst>
            </p:cNvPr>
            <p:cNvGrpSpPr/>
            <p:nvPr/>
          </p:nvGrpSpPr>
          <p:grpSpPr>
            <a:xfrm>
              <a:off x="3311395" y="2973423"/>
              <a:ext cx="687997" cy="187422"/>
              <a:chOff x="3151499" y="3947812"/>
              <a:chExt cx="687997" cy="187422"/>
            </a:xfrm>
          </p:grpSpPr>
          <p:cxnSp>
            <p:nvCxnSpPr>
              <p:cNvPr id="35" name="Connector 6">
                <a:extLst>
                  <a:ext uri="{FF2B5EF4-FFF2-40B4-BE49-F238E27FC236}">
                    <a16:creationId xmlns:a16="http://schemas.microsoft.com/office/drawing/2014/main" id="{4BDFBCB0-61C1-4E7D-B731-A2B854EC2C69}"/>
                  </a:ext>
                </a:extLst>
              </p:cNvPr>
              <p:cNvCxnSpPr>
                <a:cxnSpLocks/>
              </p:cNvCxnSpPr>
              <p:nvPr/>
            </p:nvCxnSpPr>
            <p:spPr>
              <a:xfrm>
                <a:off x="3151499" y="4041523"/>
                <a:ext cx="612135" cy="0"/>
              </a:xfrm>
              <a:prstGeom prst="line">
                <a:avLst/>
              </a:prstGeom>
              <a:ln w="3810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sp>
            <p:nvSpPr>
              <p:cNvPr id="36" name="Freeform 7">
                <a:extLst>
                  <a:ext uri="{FF2B5EF4-FFF2-40B4-BE49-F238E27FC236}">
                    <a16:creationId xmlns:a16="http://schemas.microsoft.com/office/drawing/2014/main" id="{FA32BB62-461A-40EE-8B47-F4088B252CBC}"/>
                  </a:ext>
                </a:extLst>
              </p:cNvPr>
              <p:cNvSpPr/>
              <p:nvPr/>
            </p:nvSpPr>
            <p:spPr>
              <a:xfrm>
                <a:off x="3687773" y="3947812"/>
                <a:ext cx="151723" cy="187422"/>
              </a:xfrm>
              <a:custGeom>
                <a:avLst/>
                <a:gdLst/>
                <a:ahLst/>
                <a:cxnLst/>
                <a:rect l="l" t="t" r="r" b="b"/>
                <a:pathLst>
                  <a:path w="1905000" h="1905000">
                    <a:moveTo>
                      <a:pt x="0" y="0"/>
                    </a:moveTo>
                    <a:lnTo>
                      <a:pt x="762000" y="0"/>
                    </a:lnTo>
                    <a:lnTo>
                      <a:pt x="1905000" y="952500"/>
                    </a:lnTo>
                    <a:lnTo>
                      <a:pt x="762000" y="1905000"/>
                    </a:lnTo>
                    <a:lnTo>
                      <a:pt x="0" y="1905000"/>
                    </a:lnTo>
                    <a:lnTo>
                      <a:pt x="1143000" y="952500"/>
                    </a:lnTo>
                    <a:lnTo>
                      <a:pt x="0" y="0"/>
                    </a:lnTo>
                    <a:close/>
                  </a:path>
                </a:pathLst>
              </a:custGeom>
              <a:solidFill>
                <a:srgbClr val="4472C4"/>
              </a:solidFill>
              <a:ln>
                <a:solidFill>
                  <a:schemeClr val="accent1">
                    <a:alpha val="100000"/>
                  </a:schemeClr>
                </a:solidFill>
              </a:ln>
            </p:spPr>
          </p:sp>
        </p:grpSp>
        <p:sp>
          <p:nvSpPr>
            <p:cNvPr id="39" name="TextBox 10">
              <a:extLst>
                <a:ext uri="{FF2B5EF4-FFF2-40B4-BE49-F238E27FC236}">
                  <a16:creationId xmlns:a16="http://schemas.microsoft.com/office/drawing/2014/main" id="{46CE069B-EBF3-45EC-A530-ECDF13383E1E}"/>
                </a:ext>
              </a:extLst>
            </p:cNvPr>
            <p:cNvSpPr txBox="1"/>
            <p:nvPr/>
          </p:nvSpPr>
          <p:spPr>
            <a:xfrm>
              <a:off x="4230543" y="2807180"/>
              <a:ext cx="2412218" cy="529056"/>
            </a:xfrm>
            <a:prstGeom prst="rect">
              <a:avLst/>
            </a:prstGeom>
            <a:ln>
              <a:solidFill>
                <a:schemeClr val="accent1">
                  <a:alpha val="100000"/>
                </a:schemeClr>
              </a:solidFill>
            </a:ln>
          </p:spPr>
          <p:txBody>
            <a:bodyPr vert="horz" wrap="square" lIns="114300" tIns="57150" rIns="114300" bIns="57150" rtlCol="0" anchor="t" anchorCtr="0">
              <a:spAutoFit/>
            </a:bodyPr>
            <a:lstStyle/>
            <a:p>
              <a:pPr>
                <a:lnSpc>
                  <a:spcPct val="96000"/>
                </a:lnSpc>
              </a:pPr>
              <a:r>
                <a:rPr lang="zh-CN" altLang="en-US" sz="2800" b="1" dirty="0">
                  <a:solidFill>
                    <a:srgbClr val="2C4E8C"/>
                  </a:solidFill>
                  <a:latin typeface="+mn-ea"/>
                  <a:cs typeface="Microsoft Yahei"/>
                </a:rPr>
                <a:t>区域环境问题</a:t>
              </a:r>
            </a:p>
          </p:txBody>
        </p:sp>
        <p:cxnSp>
          <p:nvCxnSpPr>
            <p:cNvPr id="40" name="Connector 11">
              <a:extLst>
                <a:ext uri="{FF2B5EF4-FFF2-40B4-BE49-F238E27FC236}">
                  <a16:creationId xmlns:a16="http://schemas.microsoft.com/office/drawing/2014/main" id="{0D1D88EB-2161-42B5-A48B-93C6392814AA}"/>
                </a:ext>
              </a:extLst>
            </p:cNvPr>
            <p:cNvCxnSpPr/>
            <p:nvPr/>
          </p:nvCxnSpPr>
          <p:spPr>
            <a:xfrm>
              <a:off x="3957204" y="3585439"/>
              <a:ext cx="2676821" cy="0"/>
            </a:xfrm>
            <a:prstGeom prst="line">
              <a:avLst/>
            </a:prstGeom>
            <a:ln w="9525">
              <a:solidFill>
                <a:srgbClr val="2C4E8C"/>
              </a:solidFill>
              <a:prstDash val="solid"/>
              <a:headEnd type="none"/>
              <a:tailEnd type="none"/>
            </a:ln>
          </p:spPr>
          <p:style>
            <a:lnRef idx="0">
              <a:schemeClr val="accent2"/>
            </a:lnRef>
            <a:fillRef idx="1">
              <a:schemeClr val="accent2"/>
            </a:fillRef>
            <a:effectRef idx="0">
              <a:schemeClr val="accent2"/>
            </a:effectRef>
            <a:fontRef idx="minor">
              <a:schemeClr val="lt1"/>
            </a:fontRef>
          </p:style>
        </p:cxnSp>
        <p:sp>
          <p:nvSpPr>
            <p:cNvPr id="45" name="TextBox 16">
              <a:extLst>
                <a:ext uri="{FF2B5EF4-FFF2-40B4-BE49-F238E27FC236}">
                  <a16:creationId xmlns:a16="http://schemas.microsoft.com/office/drawing/2014/main" id="{83F63CF7-DF35-4AE0-A306-BEC770C9396E}"/>
                </a:ext>
              </a:extLst>
            </p:cNvPr>
            <p:cNvSpPr txBox="1"/>
            <p:nvPr/>
          </p:nvSpPr>
          <p:spPr>
            <a:xfrm>
              <a:off x="7856208" y="2767462"/>
              <a:ext cx="1714463" cy="529056"/>
            </a:xfrm>
            <a:prstGeom prst="rect">
              <a:avLst/>
            </a:prstGeom>
            <a:ln>
              <a:solidFill>
                <a:schemeClr val="accent1">
                  <a:alpha val="100000"/>
                </a:schemeClr>
              </a:solidFill>
            </a:ln>
          </p:spPr>
          <p:txBody>
            <a:bodyPr vert="horz" wrap="square" lIns="114300" tIns="57150" rIns="114300" bIns="57150" rtlCol="0" anchor="t" anchorCtr="0">
              <a:spAutoFit/>
            </a:bodyPr>
            <a:lstStyle/>
            <a:p>
              <a:pPr>
                <a:lnSpc>
                  <a:spcPct val="96000"/>
                </a:lnSpc>
              </a:pPr>
              <a:r>
                <a:rPr lang="zh-CN" altLang="en-US" sz="2800" b="1" dirty="0">
                  <a:solidFill>
                    <a:srgbClr val="2C4E8C"/>
                  </a:solidFill>
                  <a:latin typeface="+mn-ea"/>
                  <a:cs typeface="Microsoft Yahei"/>
                </a:rPr>
                <a:t>环境挑战</a:t>
              </a:r>
            </a:p>
          </p:txBody>
        </p:sp>
        <p:cxnSp>
          <p:nvCxnSpPr>
            <p:cNvPr id="46" name="Connector 17">
              <a:extLst>
                <a:ext uri="{FF2B5EF4-FFF2-40B4-BE49-F238E27FC236}">
                  <a16:creationId xmlns:a16="http://schemas.microsoft.com/office/drawing/2014/main" id="{BA39BAE3-1846-466C-8C40-80DFED5304A4}"/>
                </a:ext>
              </a:extLst>
            </p:cNvPr>
            <p:cNvCxnSpPr/>
            <p:nvPr/>
          </p:nvCxnSpPr>
          <p:spPr>
            <a:xfrm>
              <a:off x="7427514" y="3585439"/>
              <a:ext cx="2676821" cy="0"/>
            </a:xfrm>
            <a:prstGeom prst="line">
              <a:avLst/>
            </a:prstGeom>
            <a:ln w="9525">
              <a:solidFill>
                <a:schemeClr val="accent1">
                  <a:lumMod val="75000"/>
                </a:schemeClr>
              </a:solidFill>
              <a:prstDash val="solid"/>
              <a:headEnd type="none"/>
              <a:tailEnd type="none"/>
            </a:ln>
          </p:spPr>
          <p:style>
            <a:lnRef idx="0">
              <a:schemeClr val="accent1"/>
            </a:lnRef>
            <a:fillRef idx="1">
              <a:schemeClr val="accent1"/>
            </a:fillRef>
            <a:effectRef idx="0">
              <a:schemeClr val="accent1"/>
            </a:effectRef>
            <a:fontRef idx="minor">
              <a:schemeClr val="lt1"/>
            </a:fontRef>
          </p:style>
        </p:cxnSp>
        <p:sp>
          <p:nvSpPr>
            <p:cNvPr id="50" name="TextBox 21">
              <a:extLst>
                <a:ext uri="{FF2B5EF4-FFF2-40B4-BE49-F238E27FC236}">
                  <a16:creationId xmlns:a16="http://schemas.microsoft.com/office/drawing/2014/main" id="{66AE1DC1-CBF7-4E43-9572-CD96D76D042B}"/>
                </a:ext>
              </a:extLst>
            </p:cNvPr>
            <p:cNvSpPr txBox="1"/>
            <p:nvPr/>
          </p:nvSpPr>
          <p:spPr>
            <a:xfrm>
              <a:off x="3999392" y="4109242"/>
              <a:ext cx="3060320" cy="857222"/>
            </a:xfrm>
            <a:prstGeom prst="rect">
              <a:avLst/>
            </a:prstGeom>
            <a:ln/>
          </p:spPr>
          <p:txBody>
            <a:bodyPr vert="horz" wrap="square" lIns="114300" tIns="57150" rIns="114300" bIns="57150" rtlCol="0" anchor="t" anchorCtr="0">
              <a:spAutoFit/>
            </a:bodyPr>
            <a:lstStyle/>
            <a:p>
              <a:pPr algn="just">
                <a:lnSpc>
                  <a:spcPct val="125000"/>
                </a:lnSpc>
              </a:pPr>
              <a:r>
                <a:rPr lang="zh-CN" altLang="en-US" sz="2000" b="1" dirty="0">
                  <a:latin typeface="+mn-ea"/>
                </a:rPr>
                <a:t>大气污染、水污染、土壤污染、固体废物污染等。</a:t>
              </a:r>
            </a:p>
          </p:txBody>
        </p:sp>
        <p:sp>
          <p:nvSpPr>
            <p:cNvPr id="51" name="TextBox 22">
              <a:extLst>
                <a:ext uri="{FF2B5EF4-FFF2-40B4-BE49-F238E27FC236}">
                  <a16:creationId xmlns:a16="http://schemas.microsoft.com/office/drawing/2014/main" id="{24063CA4-4DA7-440E-830A-D43BE9B6F9C5}"/>
                </a:ext>
              </a:extLst>
            </p:cNvPr>
            <p:cNvSpPr txBox="1"/>
            <p:nvPr/>
          </p:nvSpPr>
          <p:spPr>
            <a:xfrm>
              <a:off x="7444842" y="3939728"/>
              <a:ext cx="2814436" cy="1626664"/>
            </a:xfrm>
            <a:prstGeom prst="rect">
              <a:avLst/>
            </a:prstGeom>
            <a:ln/>
          </p:spPr>
          <p:txBody>
            <a:bodyPr vert="horz" wrap="square" lIns="114300" tIns="57150" rIns="114300" bIns="57150" rtlCol="0" anchor="t" anchorCtr="0">
              <a:spAutoFit/>
            </a:bodyPr>
            <a:lstStyle/>
            <a:p>
              <a:pPr algn="just">
                <a:lnSpc>
                  <a:spcPct val="125000"/>
                </a:lnSpc>
              </a:pPr>
              <a:r>
                <a:rPr lang="zh-CN" altLang="en-US" sz="2000" b="1" dirty="0">
                  <a:solidFill>
                    <a:schemeClr val="dk1">
                      <a:alpha val="100000"/>
                    </a:schemeClr>
                  </a:solidFill>
                  <a:latin typeface="+mn-ea"/>
                  <a:cs typeface="Microsoft Yahei"/>
                </a:rPr>
                <a:t>人口增长、经济发展与环境保护之间的矛盾，以及环境问题的复杂性和不确定性。</a:t>
              </a:r>
            </a:p>
          </p:txBody>
        </p:sp>
        <p:grpSp>
          <p:nvGrpSpPr>
            <p:cNvPr id="57" name="组合 56">
              <a:extLst>
                <a:ext uri="{FF2B5EF4-FFF2-40B4-BE49-F238E27FC236}">
                  <a16:creationId xmlns:a16="http://schemas.microsoft.com/office/drawing/2014/main" id="{223CE33A-CEB1-4B60-BFEE-0AAB405F755A}"/>
                </a:ext>
              </a:extLst>
            </p:cNvPr>
            <p:cNvGrpSpPr/>
            <p:nvPr/>
          </p:nvGrpSpPr>
          <p:grpSpPr>
            <a:xfrm>
              <a:off x="8222408" y="1654095"/>
              <a:ext cx="932011" cy="932011"/>
              <a:chOff x="8373015" y="1454147"/>
              <a:chExt cx="932011" cy="932011"/>
            </a:xfrm>
          </p:grpSpPr>
          <p:sp>
            <p:nvSpPr>
              <p:cNvPr id="43" name="AutoShape 14">
                <a:extLst>
                  <a:ext uri="{FF2B5EF4-FFF2-40B4-BE49-F238E27FC236}">
                    <a16:creationId xmlns:a16="http://schemas.microsoft.com/office/drawing/2014/main" id="{9C604A21-AE72-4161-821F-CB392EBC7B4D}"/>
                  </a:ext>
                </a:extLst>
              </p:cNvPr>
              <p:cNvSpPr/>
              <p:nvPr/>
            </p:nvSpPr>
            <p:spPr>
              <a:xfrm>
                <a:off x="8373015" y="1454147"/>
                <a:ext cx="932011" cy="932011"/>
              </a:xfrm>
              <a:prstGeom prst="ellipse">
                <a:avLst/>
              </a:prstGeom>
              <a:solidFill>
                <a:schemeClr val="accent1">
                  <a:alpha val="100000"/>
                </a:schemeClr>
              </a:solidFill>
              <a:ln/>
            </p:spPr>
          </p:sp>
          <p:sp>
            <p:nvSpPr>
              <p:cNvPr id="52" name="TextBox 23">
                <a:extLst>
                  <a:ext uri="{FF2B5EF4-FFF2-40B4-BE49-F238E27FC236}">
                    <a16:creationId xmlns:a16="http://schemas.microsoft.com/office/drawing/2014/main" id="{0998BADE-BB18-4599-ACC1-58595858EBAD}"/>
                  </a:ext>
                </a:extLst>
              </p:cNvPr>
              <p:cNvSpPr txBox="1"/>
              <p:nvPr/>
            </p:nvSpPr>
            <p:spPr>
              <a:xfrm>
                <a:off x="8548507" y="1691551"/>
                <a:ext cx="581025" cy="457200"/>
              </a:xfrm>
              <a:prstGeom prst="rect">
                <a:avLst/>
              </a:prstGeom>
              <a:ln/>
            </p:spPr>
            <p:txBody>
              <a:bodyPr vert="horz" wrap="square" lIns="114300" tIns="57150" rIns="114300" bIns="57150" rtlCol="0" anchor="ctr" anchorCtr="1">
                <a:spAutoFit/>
              </a:bodyPr>
              <a:lstStyle/>
              <a:p>
                <a:pPr algn="ctr">
                  <a:lnSpc>
                    <a:spcPct val="100000"/>
                  </a:lnSpc>
                  <a:spcBef>
                    <a:spcPts val="450"/>
                  </a:spcBef>
                </a:pPr>
                <a:r>
                  <a:rPr lang="en-US" sz="2025" b="1" dirty="0">
                    <a:solidFill>
                      <a:srgbClr val="FFFFFF">
                        <a:alpha val="100000"/>
                      </a:srgbClr>
                    </a:solidFill>
                    <a:latin typeface="Microsoft Yahei"/>
                    <a:ea typeface="Microsoft Yahei"/>
                    <a:cs typeface="Microsoft Yahei"/>
                  </a:rPr>
                  <a:t>03</a:t>
                </a:r>
              </a:p>
            </p:txBody>
          </p:sp>
        </p:grpSp>
        <p:grpSp>
          <p:nvGrpSpPr>
            <p:cNvPr id="56" name="组合 55">
              <a:extLst>
                <a:ext uri="{FF2B5EF4-FFF2-40B4-BE49-F238E27FC236}">
                  <a16:creationId xmlns:a16="http://schemas.microsoft.com/office/drawing/2014/main" id="{EF5F69EA-1A51-4623-B86F-031964FD9DEA}"/>
                </a:ext>
              </a:extLst>
            </p:cNvPr>
            <p:cNvGrpSpPr/>
            <p:nvPr/>
          </p:nvGrpSpPr>
          <p:grpSpPr>
            <a:xfrm>
              <a:off x="4918727" y="1654095"/>
              <a:ext cx="932011" cy="932011"/>
              <a:chOff x="4918727" y="1461569"/>
              <a:chExt cx="932011" cy="932011"/>
            </a:xfrm>
          </p:grpSpPr>
          <p:sp>
            <p:nvSpPr>
              <p:cNvPr id="37" name="AutoShape 8">
                <a:extLst>
                  <a:ext uri="{FF2B5EF4-FFF2-40B4-BE49-F238E27FC236}">
                    <a16:creationId xmlns:a16="http://schemas.microsoft.com/office/drawing/2014/main" id="{E597BC35-70EB-480F-A5DA-F44DF01E907E}"/>
                  </a:ext>
                </a:extLst>
              </p:cNvPr>
              <p:cNvSpPr/>
              <p:nvPr/>
            </p:nvSpPr>
            <p:spPr>
              <a:xfrm>
                <a:off x="4918727" y="1461569"/>
                <a:ext cx="932011" cy="932011"/>
              </a:xfrm>
              <a:prstGeom prst="ellipse">
                <a:avLst/>
              </a:prstGeom>
              <a:solidFill>
                <a:srgbClr val="4472C4"/>
              </a:solidFill>
              <a:ln/>
            </p:spPr>
          </p:sp>
          <p:sp>
            <p:nvSpPr>
              <p:cNvPr id="53" name="TextBox 24">
                <a:extLst>
                  <a:ext uri="{FF2B5EF4-FFF2-40B4-BE49-F238E27FC236}">
                    <a16:creationId xmlns:a16="http://schemas.microsoft.com/office/drawing/2014/main" id="{54399D90-B82E-42BB-9E18-E63B56174DF4}"/>
                  </a:ext>
                </a:extLst>
              </p:cNvPr>
              <p:cNvSpPr txBox="1"/>
              <p:nvPr/>
            </p:nvSpPr>
            <p:spPr>
              <a:xfrm>
                <a:off x="5095584" y="1701648"/>
                <a:ext cx="578298" cy="437007"/>
              </a:xfrm>
              <a:prstGeom prst="rect">
                <a:avLst/>
              </a:prstGeom>
              <a:ln/>
            </p:spPr>
            <p:txBody>
              <a:bodyPr vert="horz" wrap="square" lIns="114300" tIns="57150" rIns="114300" bIns="57150" rtlCol="0" anchor="ctr" anchorCtr="1">
                <a:spAutoFit/>
              </a:bodyPr>
              <a:lstStyle/>
              <a:p>
                <a:pPr>
                  <a:lnSpc>
                    <a:spcPct val="100000"/>
                  </a:lnSpc>
                  <a:spcBef>
                    <a:spcPts val="450"/>
                  </a:spcBef>
                </a:pPr>
                <a:r>
                  <a:rPr lang="en-US" sz="2025" b="1" dirty="0">
                    <a:solidFill>
                      <a:srgbClr val="FFFFFF">
                        <a:alpha val="100000"/>
                      </a:srgbClr>
                    </a:solidFill>
                    <a:latin typeface="Microsoft Yahei"/>
                    <a:ea typeface="Microsoft Yahei"/>
                    <a:cs typeface="Microsoft Yahei"/>
                  </a:rPr>
                  <a:t>02</a:t>
                </a:r>
              </a:p>
            </p:txBody>
          </p:sp>
        </p:grpSp>
        <p:grpSp>
          <p:nvGrpSpPr>
            <p:cNvPr id="55" name="组合 54">
              <a:extLst>
                <a:ext uri="{FF2B5EF4-FFF2-40B4-BE49-F238E27FC236}">
                  <a16:creationId xmlns:a16="http://schemas.microsoft.com/office/drawing/2014/main" id="{C7C0809F-CDA1-41E3-8AA4-2BC702193EB6}"/>
                </a:ext>
              </a:extLst>
            </p:cNvPr>
            <p:cNvGrpSpPr/>
            <p:nvPr/>
          </p:nvGrpSpPr>
          <p:grpSpPr>
            <a:xfrm>
              <a:off x="1478616" y="1646673"/>
              <a:ext cx="932011" cy="932011"/>
              <a:chOff x="1033121" y="1514981"/>
              <a:chExt cx="932011" cy="932011"/>
            </a:xfrm>
          </p:grpSpPr>
          <p:sp>
            <p:nvSpPr>
              <p:cNvPr id="31" name="AutoShape 2">
                <a:extLst>
                  <a:ext uri="{FF2B5EF4-FFF2-40B4-BE49-F238E27FC236}">
                    <a16:creationId xmlns:a16="http://schemas.microsoft.com/office/drawing/2014/main" id="{656876B8-2BB1-4BA3-A7B7-D09FDEB11095}"/>
                  </a:ext>
                </a:extLst>
              </p:cNvPr>
              <p:cNvSpPr/>
              <p:nvPr/>
            </p:nvSpPr>
            <p:spPr>
              <a:xfrm>
                <a:off x="1033121" y="1514981"/>
                <a:ext cx="932011" cy="932011"/>
              </a:xfrm>
              <a:prstGeom prst="ellipse">
                <a:avLst/>
              </a:prstGeom>
              <a:solidFill>
                <a:schemeClr val="accent1">
                  <a:alpha val="100000"/>
                </a:schemeClr>
              </a:solidFill>
              <a:ln/>
            </p:spPr>
          </p:sp>
          <p:sp>
            <p:nvSpPr>
              <p:cNvPr id="54" name="TextBox 25">
                <a:extLst>
                  <a:ext uri="{FF2B5EF4-FFF2-40B4-BE49-F238E27FC236}">
                    <a16:creationId xmlns:a16="http://schemas.microsoft.com/office/drawing/2014/main" id="{BFC485D0-CFA7-4C36-85D3-D2BDFBE685EC}"/>
                  </a:ext>
                </a:extLst>
              </p:cNvPr>
              <p:cNvSpPr txBox="1"/>
              <p:nvPr/>
            </p:nvSpPr>
            <p:spPr>
              <a:xfrm>
                <a:off x="1208613" y="1759809"/>
                <a:ext cx="581025" cy="457200"/>
              </a:xfrm>
              <a:prstGeom prst="rect">
                <a:avLst/>
              </a:prstGeom>
              <a:ln/>
            </p:spPr>
            <p:txBody>
              <a:bodyPr vert="horz" wrap="square" lIns="114300" tIns="57150" rIns="114300" bIns="57150" rtlCol="0" anchor="ctr" anchorCtr="1">
                <a:spAutoFit/>
              </a:bodyPr>
              <a:lstStyle/>
              <a:p>
                <a:pPr algn="ctr">
                  <a:lnSpc>
                    <a:spcPct val="100000"/>
                  </a:lnSpc>
                  <a:spcBef>
                    <a:spcPts val="450"/>
                  </a:spcBef>
                </a:pPr>
                <a:r>
                  <a:rPr lang="en-US" sz="2025" b="1" dirty="0">
                    <a:solidFill>
                      <a:srgbClr val="FFFFFF">
                        <a:alpha val="100000"/>
                      </a:srgbClr>
                    </a:solidFill>
                    <a:latin typeface="Microsoft Yahei"/>
                    <a:ea typeface="Microsoft Yahei"/>
                    <a:cs typeface="Microsoft Yahei"/>
                  </a:rPr>
                  <a:t>01</a:t>
                </a:r>
              </a:p>
            </p:txBody>
          </p:sp>
        </p:grpSp>
        <p:grpSp>
          <p:nvGrpSpPr>
            <p:cNvPr id="60" name="组合 59">
              <a:extLst>
                <a:ext uri="{FF2B5EF4-FFF2-40B4-BE49-F238E27FC236}">
                  <a16:creationId xmlns:a16="http://schemas.microsoft.com/office/drawing/2014/main" id="{B058798E-8AE5-49FB-B2E6-CE95AA0793CF}"/>
                </a:ext>
              </a:extLst>
            </p:cNvPr>
            <p:cNvGrpSpPr/>
            <p:nvPr/>
          </p:nvGrpSpPr>
          <p:grpSpPr>
            <a:xfrm>
              <a:off x="6756845" y="2952133"/>
              <a:ext cx="687997" cy="187422"/>
              <a:chOff x="3151499" y="3947812"/>
              <a:chExt cx="687997" cy="187422"/>
            </a:xfrm>
          </p:grpSpPr>
          <p:cxnSp>
            <p:nvCxnSpPr>
              <p:cNvPr id="61" name="Connector 6">
                <a:extLst>
                  <a:ext uri="{FF2B5EF4-FFF2-40B4-BE49-F238E27FC236}">
                    <a16:creationId xmlns:a16="http://schemas.microsoft.com/office/drawing/2014/main" id="{D0523CCF-2EFE-41D1-8B1E-3BFEBC5B499C}"/>
                  </a:ext>
                </a:extLst>
              </p:cNvPr>
              <p:cNvCxnSpPr>
                <a:cxnSpLocks/>
              </p:cNvCxnSpPr>
              <p:nvPr/>
            </p:nvCxnSpPr>
            <p:spPr>
              <a:xfrm>
                <a:off x="3151499" y="4041523"/>
                <a:ext cx="612135" cy="0"/>
              </a:xfrm>
              <a:prstGeom prst="line">
                <a:avLst/>
              </a:prstGeom>
              <a:ln w="3810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sp>
            <p:nvSpPr>
              <p:cNvPr id="62" name="Freeform 7">
                <a:extLst>
                  <a:ext uri="{FF2B5EF4-FFF2-40B4-BE49-F238E27FC236}">
                    <a16:creationId xmlns:a16="http://schemas.microsoft.com/office/drawing/2014/main" id="{7DFB11CA-A9CC-44BA-BEAF-4851D797083B}"/>
                  </a:ext>
                </a:extLst>
              </p:cNvPr>
              <p:cNvSpPr/>
              <p:nvPr/>
            </p:nvSpPr>
            <p:spPr>
              <a:xfrm>
                <a:off x="3687773" y="3947812"/>
                <a:ext cx="151723" cy="187422"/>
              </a:xfrm>
              <a:custGeom>
                <a:avLst/>
                <a:gdLst/>
                <a:ahLst/>
                <a:cxnLst/>
                <a:rect l="l" t="t" r="r" b="b"/>
                <a:pathLst>
                  <a:path w="1905000" h="1905000">
                    <a:moveTo>
                      <a:pt x="0" y="0"/>
                    </a:moveTo>
                    <a:lnTo>
                      <a:pt x="762000" y="0"/>
                    </a:lnTo>
                    <a:lnTo>
                      <a:pt x="1905000" y="952500"/>
                    </a:lnTo>
                    <a:lnTo>
                      <a:pt x="762000" y="1905000"/>
                    </a:lnTo>
                    <a:lnTo>
                      <a:pt x="0" y="1905000"/>
                    </a:lnTo>
                    <a:lnTo>
                      <a:pt x="1143000" y="952500"/>
                    </a:lnTo>
                    <a:lnTo>
                      <a:pt x="0" y="0"/>
                    </a:lnTo>
                    <a:close/>
                  </a:path>
                </a:pathLst>
              </a:custGeom>
              <a:solidFill>
                <a:srgbClr val="4472C4"/>
              </a:solidFill>
              <a:ln>
                <a:solidFill>
                  <a:schemeClr val="accent1">
                    <a:alpha val="100000"/>
                  </a:schemeClr>
                </a:solidFill>
              </a:ln>
            </p:spPr>
          </p:sp>
        </p:grpSp>
      </p:grpSp>
    </p:spTree>
    <p:extLst>
      <p:ext uri="{BB962C8B-B14F-4D97-AF65-F5344CB8AC3E}">
        <p14:creationId xmlns:p14="http://schemas.microsoft.com/office/powerpoint/2010/main" val="1572930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研究内容</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28" name="组合 27">
            <a:extLst>
              <a:ext uri="{FF2B5EF4-FFF2-40B4-BE49-F238E27FC236}">
                <a16:creationId xmlns:a16="http://schemas.microsoft.com/office/drawing/2014/main" id="{E33B0E6B-6096-4A30-BA19-3F0E14C8E536}"/>
              </a:ext>
            </a:extLst>
          </p:cNvPr>
          <p:cNvGrpSpPr/>
          <p:nvPr/>
        </p:nvGrpSpPr>
        <p:grpSpPr>
          <a:xfrm>
            <a:off x="1399721" y="1825681"/>
            <a:ext cx="9508533" cy="4854479"/>
            <a:chOff x="539110" y="1390903"/>
            <a:chExt cx="7387349" cy="4854479"/>
          </a:xfrm>
          <a:solidFill>
            <a:srgbClr val="4472C4"/>
          </a:solidFill>
        </p:grpSpPr>
        <p:grpSp>
          <p:nvGrpSpPr>
            <p:cNvPr id="59" name="Group 2">
              <a:extLst>
                <a:ext uri="{FF2B5EF4-FFF2-40B4-BE49-F238E27FC236}">
                  <a16:creationId xmlns:a16="http://schemas.microsoft.com/office/drawing/2014/main" id="{38E49C43-97E5-4EC8-BBFD-8A37BC26C489}"/>
                </a:ext>
              </a:extLst>
            </p:cNvPr>
            <p:cNvGrpSpPr/>
            <p:nvPr/>
          </p:nvGrpSpPr>
          <p:grpSpPr>
            <a:xfrm>
              <a:off x="4343439" y="1390903"/>
              <a:ext cx="3583020" cy="975360"/>
              <a:chOff x="4343439" y="1390903"/>
              <a:chExt cx="3583020" cy="975360"/>
            </a:xfrm>
            <a:grpFill/>
          </p:grpSpPr>
          <p:sp>
            <p:nvSpPr>
              <p:cNvPr id="64" name="AutoShape 3">
                <a:extLst>
                  <a:ext uri="{FF2B5EF4-FFF2-40B4-BE49-F238E27FC236}">
                    <a16:creationId xmlns:a16="http://schemas.microsoft.com/office/drawing/2014/main" id="{818C6B71-4E81-4860-A295-EB19802101C2}"/>
                  </a:ext>
                </a:extLst>
              </p:cNvPr>
              <p:cNvSpPr/>
              <p:nvPr/>
            </p:nvSpPr>
            <p:spPr>
              <a:xfrm>
                <a:off x="6951099" y="1390903"/>
                <a:ext cx="975360" cy="975360"/>
              </a:xfrm>
              <a:prstGeom prst="ellipse">
                <a:avLst/>
              </a:prstGeom>
              <a:grpFill/>
              <a:ln/>
            </p:spPr>
          </p:sp>
          <p:sp>
            <p:nvSpPr>
              <p:cNvPr id="65" name="AutoShape 4">
                <a:extLst>
                  <a:ext uri="{FF2B5EF4-FFF2-40B4-BE49-F238E27FC236}">
                    <a16:creationId xmlns:a16="http://schemas.microsoft.com/office/drawing/2014/main" id="{EE95F164-A525-4B56-8F88-98086BD49267}"/>
                  </a:ext>
                </a:extLst>
              </p:cNvPr>
              <p:cNvSpPr/>
              <p:nvPr/>
            </p:nvSpPr>
            <p:spPr>
              <a:xfrm>
                <a:off x="4854091" y="1391888"/>
                <a:ext cx="2537366" cy="971419"/>
              </a:xfrm>
              <a:prstGeom prst="rect">
                <a:avLst/>
              </a:prstGeom>
              <a:grpFill/>
              <a:ln/>
            </p:spPr>
          </p:sp>
          <p:sp>
            <p:nvSpPr>
              <p:cNvPr id="66" name="AutoShape 5">
                <a:extLst>
                  <a:ext uri="{FF2B5EF4-FFF2-40B4-BE49-F238E27FC236}">
                    <a16:creationId xmlns:a16="http://schemas.microsoft.com/office/drawing/2014/main" id="{6EC13885-D394-41DB-8D7A-60A981522A6F}"/>
                  </a:ext>
                </a:extLst>
              </p:cNvPr>
              <p:cNvSpPr/>
              <p:nvPr/>
            </p:nvSpPr>
            <p:spPr>
              <a:xfrm>
                <a:off x="4343439" y="1390903"/>
                <a:ext cx="975360" cy="975360"/>
              </a:xfrm>
              <a:prstGeom prst="ellipse">
                <a:avLst/>
              </a:prstGeom>
              <a:grpFill/>
              <a:ln/>
            </p:spPr>
          </p:sp>
        </p:grpSp>
        <p:sp>
          <p:nvSpPr>
            <p:cNvPr id="67" name="AutoShape 7">
              <a:extLst>
                <a:ext uri="{FF2B5EF4-FFF2-40B4-BE49-F238E27FC236}">
                  <a16:creationId xmlns:a16="http://schemas.microsoft.com/office/drawing/2014/main" id="{CECCB361-7FE8-4F11-A4A9-E6295C3DA072}"/>
                </a:ext>
              </a:extLst>
            </p:cNvPr>
            <p:cNvSpPr/>
            <p:nvPr/>
          </p:nvSpPr>
          <p:spPr>
            <a:xfrm>
              <a:off x="1049459" y="1392873"/>
              <a:ext cx="2537366" cy="971419"/>
            </a:xfrm>
            <a:prstGeom prst="rect">
              <a:avLst/>
            </a:prstGeom>
            <a:grpFill/>
            <a:ln/>
          </p:spPr>
        </p:sp>
        <p:sp>
          <p:nvSpPr>
            <p:cNvPr id="68" name="AutoShape 8">
              <a:extLst>
                <a:ext uri="{FF2B5EF4-FFF2-40B4-BE49-F238E27FC236}">
                  <a16:creationId xmlns:a16="http://schemas.microsoft.com/office/drawing/2014/main" id="{A072CEF4-FB90-47B5-81BF-826C4846C63E}"/>
                </a:ext>
              </a:extLst>
            </p:cNvPr>
            <p:cNvSpPr/>
            <p:nvPr/>
          </p:nvSpPr>
          <p:spPr>
            <a:xfrm>
              <a:off x="539110" y="1390903"/>
              <a:ext cx="975360" cy="975360"/>
            </a:xfrm>
            <a:prstGeom prst="ellipse">
              <a:avLst/>
            </a:prstGeom>
            <a:grpFill/>
            <a:ln/>
          </p:spPr>
        </p:sp>
        <p:sp>
          <p:nvSpPr>
            <p:cNvPr id="69" name="TextBox 9">
              <a:extLst>
                <a:ext uri="{FF2B5EF4-FFF2-40B4-BE49-F238E27FC236}">
                  <a16:creationId xmlns:a16="http://schemas.microsoft.com/office/drawing/2014/main" id="{BF91DDC3-D5D3-4A4E-B660-4E555201F2BB}"/>
                </a:ext>
              </a:extLst>
            </p:cNvPr>
            <p:cNvSpPr txBox="1"/>
            <p:nvPr/>
          </p:nvSpPr>
          <p:spPr>
            <a:xfrm>
              <a:off x="601242" y="2425290"/>
              <a:ext cx="3433799" cy="1259772"/>
            </a:xfrm>
            <a:prstGeom prst="rect">
              <a:avLst/>
            </a:prstGeom>
            <a:noFill/>
            <a:ln/>
          </p:spPr>
          <p:txBody>
            <a:bodyPr vert="horz" wrap="square" lIns="123825" tIns="123825" rIns="57150" bIns="123825" rtlCol="0" anchor="t" anchorCtr="0">
              <a:noAutofit/>
            </a:bodyPr>
            <a:lstStyle/>
            <a:p>
              <a:pPr>
                <a:lnSpc>
                  <a:spcPct val="150000"/>
                </a:lnSpc>
              </a:pPr>
              <a:r>
                <a:rPr lang="zh-CN" altLang="en-US" sz="1600" b="1" dirty="0">
                  <a:solidFill>
                    <a:schemeClr val="dk1">
                      <a:alpha val="100000"/>
                    </a:schemeClr>
                  </a:solidFill>
                  <a:latin typeface="+mn-ea"/>
                  <a:cs typeface="Microsoft Yahei"/>
                </a:rPr>
                <a:t>监测污染物和环境因素，评估环境质量，预测变化趋势，为污染治理和管理提供科学依据。</a:t>
              </a:r>
              <a:endParaRPr lang="en-US" sz="1600" b="1" dirty="0">
                <a:solidFill>
                  <a:schemeClr val="dk1">
                    <a:alpha val="100000"/>
                  </a:schemeClr>
                </a:solidFill>
                <a:latin typeface="+mn-ea"/>
                <a:cs typeface="Microsoft Yahei"/>
              </a:endParaRPr>
            </a:p>
          </p:txBody>
        </p:sp>
        <p:sp>
          <p:nvSpPr>
            <p:cNvPr id="70" name="AutoShape 10">
              <a:extLst>
                <a:ext uri="{FF2B5EF4-FFF2-40B4-BE49-F238E27FC236}">
                  <a16:creationId xmlns:a16="http://schemas.microsoft.com/office/drawing/2014/main" id="{2B325952-B4D9-4228-A719-F979D8149BFE}"/>
                </a:ext>
              </a:extLst>
            </p:cNvPr>
            <p:cNvSpPr/>
            <p:nvPr/>
          </p:nvSpPr>
          <p:spPr>
            <a:xfrm>
              <a:off x="3146770" y="1390903"/>
              <a:ext cx="975360" cy="975360"/>
            </a:xfrm>
            <a:prstGeom prst="ellipse">
              <a:avLst/>
            </a:prstGeom>
            <a:grpFill/>
            <a:ln/>
          </p:spPr>
        </p:sp>
        <p:sp>
          <p:nvSpPr>
            <p:cNvPr id="71" name="TextBox 11">
              <a:extLst>
                <a:ext uri="{FF2B5EF4-FFF2-40B4-BE49-F238E27FC236}">
                  <a16:creationId xmlns:a16="http://schemas.microsoft.com/office/drawing/2014/main" id="{615BEEC1-6297-49EC-A85E-23EA0BB480F9}"/>
                </a:ext>
              </a:extLst>
            </p:cNvPr>
            <p:cNvSpPr txBox="1"/>
            <p:nvPr/>
          </p:nvSpPr>
          <p:spPr>
            <a:xfrm>
              <a:off x="601242" y="1602358"/>
              <a:ext cx="3433799" cy="552450"/>
            </a:xfrm>
            <a:prstGeom prst="rect">
              <a:avLst/>
            </a:prstGeom>
            <a:grpFill/>
            <a:ln/>
          </p:spPr>
          <p:txBody>
            <a:bodyPr vert="horz" wrap="square" lIns="123825" tIns="123825" rIns="57150" bIns="123825" rtlCol="0" anchor="ctr" anchorCtr="1">
              <a:noAutofit/>
            </a:bodyPr>
            <a:lstStyle/>
            <a:p>
              <a:pPr algn="ctr">
                <a:lnSpc>
                  <a:spcPct val="120000"/>
                </a:lnSpc>
              </a:pPr>
              <a:r>
                <a:rPr lang="zh-CN" altLang="en-US" sz="2000" b="1" dirty="0">
                  <a:solidFill>
                    <a:srgbClr val="FFFFFF">
                      <a:alpha val="100000"/>
                    </a:srgbClr>
                  </a:solidFill>
                  <a:latin typeface="+mn-ea"/>
                  <a:cs typeface="Microsoft Yahei"/>
                </a:rPr>
                <a:t>环境监测与评价</a:t>
              </a:r>
              <a:endParaRPr lang="en-US" sz="2000" b="1" dirty="0">
                <a:solidFill>
                  <a:srgbClr val="FFFFFF">
                    <a:alpha val="100000"/>
                  </a:srgbClr>
                </a:solidFill>
                <a:latin typeface="+mn-ea"/>
                <a:cs typeface="Microsoft Yahei"/>
              </a:endParaRPr>
            </a:p>
          </p:txBody>
        </p:sp>
        <p:sp>
          <p:nvSpPr>
            <p:cNvPr id="72" name="TextBox 12">
              <a:extLst>
                <a:ext uri="{FF2B5EF4-FFF2-40B4-BE49-F238E27FC236}">
                  <a16:creationId xmlns:a16="http://schemas.microsoft.com/office/drawing/2014/main" id="{72F12D32-81E8-438D-B067-3D6209F1861D}"/>
                </a:ext>
              </a:extLst>
            </p:cNvPr>
            <p:cNvSpPr txBox="1"/>
            <p:nvPr/>
          </p:nvSpPr>
          <p:spPr>
            <a:xfrm>
              <a:off x="4492660" y="2425290"/>
              <a:ext cx="3433799" cy="1259772"/>
            </a:xfrm>
            <a:prstGeom prst="rect">
              <a:avLst/>
            </a:prstGeom>
            <a:noFill/>
            <a:ln/>
          </p:spPr>
          <p:txBody>
            <a:bodyPr vert="horz" wrap="square" lIns="123825" tIns="123825" rIns="57150" bIns="123825" rtlCol="0" anchor="t" anchorCtr="0">
              <a:noAutofit/>
            </a:bodyPr>
            <a:lstStyle>
              <a:defPPr>
                <a:defRPr lang="zh-CN"/>
              </a:defPPr>
              <a:lvl1pPr>
                <a:lnSpc>
                  <a:spcPct val="150000"/>
                </a:lnSpc>
                <a:defRPr sz="1600" b="1">
                  <a:solidFill>
                    <a:schemeClr val="dk1">
                      <a:alpha val="100000"/>
                    </a:schemeClr>
                  </a:solidFill>
                  <a:latin typeface="+mn-ea"/>
                  <a:cs typeface="Microsoft Yahei"/>
                </a:defRPr>
              </a:lvl1pPr>
            </a:lstStyle>
            <a:p>
              <a:r>
                <a:rPr lang="zh-CN" altLang="en-US" dirty="0"/>
                <a:t>针对大气、水体、土壤中的污染物，采用物理、化学、生物等方法进行治理，减少排放，改善环境质量</a:t>
              </a:r>
              <a:r>
                <a:rPr lang="en-US" dirty="0"/>
                <a:t>。</a:t>
              </a:r>
            </a:p>
          </p:txBody>
        </p:sp>
        <p:sp>
          <p:nvSpPr>
            <p:cNvPr id="73" name="TextBox 13">
              <a:extLst>
                <a:ext uri="{FF2B5EF4-FFF2-40B4-BE49-F238E27FC236}">
                  <a16:creationId xmlns:a16="http://schemas.microsoft.com/office/drawing/2014/main" id="{13A25A0C-FB3F-41DA-90F7-3A7E425A860D}"/>
                </a:ext>
              </a:extLst>
            </p:cNvPr>
            <p:cNvSpPr txBox="1"/>
            <p:nvPr/>
          </p:nvSpPr>
          <p:spPr>
            <a:xfrm>
              <a:off x="4405571" y="1601372"/>
              <a:ext cx="3433799" cy="552450"/>
            </a:xfrm>
            <a:prstGeom prst="rect">
              <a:avLst/>
            </a:prstGeom>
            <a:grpFill/>
            <a:ln/>
          </p:spPr>
          <p:txBody>
            <a:bodyPr vert="horz" wrap="square" lIns="123825" tIns="123825" rIns="57150" bIns="123825" rtlCol="0" anchor="ctr" anchorCtr="1">
              <a:noAutofit/>
            </a:bodyPr>
            <a:lstStyle/>
            <a:p>
              <a:pPr algn="ctr">
                <a:lnSpc>
                  <a:spcPct val="120000"/>
                </a:lnSpc>
              </a:pPr>
              <a:r>
                <a:rPr lang="zh-CN" altLang="en-US" sz="2000" b="1" dirty="0">
                  <a:solidFill>
                    <a:srgbClr val="FFFFFF">
                      <a:alpha val="100000"/>
                    </a:srgbClr>
                  </a:solidFill>
                  <a:latin typeface="+mn-ea"/>
                  <a:cs typeface="Microsoft Yahei"/>
                </a:rPr>
                <a:t>污染治理与控制</a:t>
              </a:r>
              <a:endParaRPr lang="en-US" sz="2000" b="1" dirty="0">
                <a:solidFill>
                  <a:srgbClr val="FFFFFF">
                    <a:alpha val="100000"/>
                  </a:srgbClr>
                </a:solidFill>
                <a:latin typeface="+mn-ea"/>
                <a:cs typeface="Microsoft Yahei"/>
              </a:endParaRPr>
            </a:p>
          </p:txBody>
        </p:sp>
        <p:sp>
          <p:nvSpPr>
            <p:cNvPr id="74" name="AutoShape 14">
              <a:extLst>
                <a:ext uri="{FF2B5EF4-FFF2-40B4-BE49-F238E27FC236}">
                  <a16:creationId xmlns:a16="http://schemas.microsoft.com/office/drawing/2014/main" id="{681091C9-DC90-447B-B22C-62EFCC0378FE}"/>
                </a:ext>
              </a:extLst>
            </p:cNvPr>
            <p:cNvSpPr/>
            <p:nvPr/>
          </p:nvSpPr>
          <p:spPr>
            <a:xfrm>
              <a:off x="1049459" y="3941002"/>
              <a:ext cx="2537366" cy="971419"/>
            </a:xfrm>
            <a:prstGeom prst="rect">
              <a:avLst/>
            </a:prstGeom>
            <a:grpFill/>
            <a:ln/>
          </p:spPr>
        </p:sp>
        <p:sp>
          <p:nvSpPr>
            <p:cNvPr id="75" name="AutoShape 15">
              <a:extLst>
                <a:ext uri="{FF2B5EF4-FFF2-40B4-BE49-F238E27FC236}">
                  <a16:creationId xmlns:a16="http://schemas.microsoft.com/office/drawing/2014/main" id="{08EF53E2-949C-49FB-8910-07473F956E6A}"/>
                </a:ext>
              </a:extLst>
            </p:cNvPr>
            <p:cNvSpPr/>
            <p:nvPr/>
          </p:nvSpPr>
          <p:spPr>
            <a:xfrm>
              <a:off x="539110" y="3939031"/>
              <a:ext cx="975360" cy="975360"/>
            </a:xfrm>
            <a:prstGeom prst="ellipse">
              <a:avLst/>
            </a:prstGeom>
            <a:grpFill/>
            <a:ln/>
          </p:spPr>
        </p:sp>
        <p:sp>
          <p:nvSpPr>
            <p:cNvPr id="76" name="TextBox 16">
              <a:extLst>
                <a:ext uri="{FF2B5EF4-FFF2-40B4-BE49-F238E27FC236}">
                  <a16:creationId xmlns:a16="http://schemas.microsoft.com/office/drawing/2014/main" id="{AAC2897C-AD69-42E0-874B-15CA6951769B}"/>
                </a:ext>
              </a:extLst>
            </p:cNvPr>
            <p:cNvSpPr txBox="1"/>
            <p:nvPr/>
          </p:nvSpPr>
          <p:spPr>
            <a:xfrm>
              <a:off x="601242" y="4982395"/>
              <a:ext cx="3433799" cy="1262987"/>
            </a:xfrm>
            <a:prstGeom prst="rect">
              <a:avLst/>
            </a:prstGeom>
            <a:noFill/>
            <a:ln/>
          </p:spPr>
          <p:txBody>
            <a:bodyPr vert="horz" wrap="square" lIns="123825" tIns="123825" rIns="57150" bIns="123825" rtlCol="0" anchor="t" anchorCtr="0">
              <a:noAutofit/>
            </a:bodyPr>
            <a:lstStyle/>
            <a:p>
              <a:pPr>
                <a:lnSpc>
                  <a:spcPct val="150000"/>
                </a:lnSpc>
              </a:pPr>
              <a:r>
                <a:rPr lang="zh-CN" altLang="en-US" sz="1600" b="1" dirty="0">
                  <a:solidFill>
                    <a:schemeClr val="dk1">
                      <a:alpha val="100000"/>
                    </a:schemeClr>
                  </a:solidFill>
                  <a:latin typeface="+mn-ea"/>
                  <a:cs typeface="Microsoft Yahei"/>
                </a:rPr>
                <a:t>保护自然生态系统和野生动植物资源，维护生态平衡；对受损环境进行修复，促进生态系统恢复。</a:t>
              </a:r>
            </a:p>
          </p:txBody>
        </p:sp>
        <p:sp>
          <p:nvSpPr>
            <p:cNvPr id="77" name="AutoShape 17">
              <a:extLst>
                <a:ext uri="{FF2B5EF4-FFF2-40B4-BE49-F238E27FC236}">
                  <a16:creationId xmlns:a16="http://schemas.microsoft.com/office/drawing/2014/main" id="{662CC488-B223-4F13-B2DC-13FA9A8C5E35}"/>
                </a:ext>
              </a:extLst>
            </p:cNvPr>
            <p:cNvSpPr/>
            <p:nvPr/>
          </p:nvSpPr>
          <p:spPr>
            <a:xfrm>
              <a:off x="3146770" y="3939031"/>
              <a:ext cx="975360" cy="975360"/>
            </a:xfrm>
            <a:prstGeom prst="ellipse">
              <a:avLst/>
            </a:prstGeom>
            <a:grpFill/>
            <a:ln/>
          </p:spPr>
        </p:sp>
        <p:sp>
          <p:nvSpPr>
            <p:cNvPr id="78" name="TextBox 18">
              <a:extLst>
                <a:ext uri="{FF2B5EF4-FFF2-40B4-BE49-F238E27FC236}">
                  <a16:creationId xmlns:a16="http://schemas.microsoft.com/office/drawing/2014/main" id="{5E004619-E8F2-44C6-9DCE-3791D32130D4}"/>
                </a:ext>
              </a:extLst>
            </p:cNvPr>
            <p:cNvSpPr txBox="1"/>
            <p:nvPr/>
          </p:nvSpPr>
          <p:spPr>
            <a:xfrm>
              <a:off x="601242" y="4150486"/>
              <a:ext cx="3433799" cy="552450"/>
            </a:xfrm>
            <a:prstGeom prst="rect">
              <a:avLst/>
            </a:prstGeom>
            <a:grpFill/>
            <a:ln/>
          </p:spPr>
          <p:txBody>
            <a:bodyPr vert="horz" wrap="square" lIns="123825" tIns="123825" rIns="57150" bIns="123825" rtlCol="0" anchor="ctr" anchorCtr="1">
              <a:noAutofit/>
            </a:bodyPr>
            <a:lstStyle/>
            <a:p>
              <a:pPr algn="ctr">
                <a:lnSpc>
                  <a:spcPct val="120000"/>
                </a:lnSpc>
              </a:pPr>
              <a:r>
                <a:rPr lang="zh-CN" altLang="en-US" sz="2000" b="1" dirty="0">
                  <a:solidFill>
                    <a:srgbClr val="FFFFFF">
                      <a:alpha val="100000"/>
                    </a:srgbClr>
                  </a:solidFill>
                  <a:latin typeface="+mn-ea"/>
                  <a:cs typeface="Microsoft Yahei"/>
                </a:rPr>
                <a:t>生态保护与修复</a:t>
              </a:r>
              <a:endParaRPr lang="en-US" sz="2000" b="1" dirty="0">
                <a:solidFill>
                  <a:srgbClr val="FFFFFF">
                    <a:alpha val="100000"/>
                  </a:srgbClr>
                </a:solidFill>
                <a:latin typeface="+mn-ea"/>
                <a:cs typeface="Microsoft Yahei"/>
              </a:endParaRPr>
            </a:p>
          </p:txBody>
        </p:sp>
        <p:sp>
          <p:nvSpPr>
            <p:cNvPr id="79" name="AutoShape 19">
              <a:extLst>
                <a:ext uri="{FF2B5EF4-FFF2-40B4-BE49-F238E27FC236}">
                  <a16:creationId xmlns:a16="http://schemas.microsoft.com/office/drawing/2014/main" id="{8FD499B6-531B-4E0E-9074-D13B0A202E13}"/>
                </a:ext>
              </a:extLst>
            </p:cNvPr>
            <p:cNvSpPr/>
            <p:nvPr/>
          </p:nvSpPr>
          <p:spPr>
            <a:xfrm>
              <a:off x="4853788" y="3941002"/>
              <a:ext cx="2537366" cy="971419"/>
            </a:xfrm>
            <a:prstGeom prst="rect">
              <a:avLst/>
            </a:prstGeom>
            <a:grpFill/>
            <a:ln/>
          </p:spPr>
        </p:sp>
        <p:sp>
          <p:nvSpPr>
            <p:cNvPr id="80" name="AutoShape 20">
              <a:extLst>
                <a:ext uri="{FF2B5EF4-FFF2-40B4-BE49-F238E27FC236}">
                  <a16:creationId xmlns:a16="http://schemas.microsoft.com/office/drawing/2014/main" id="{A4AF2089-4AF5-4075-A483-C85321E6A7E3}"/>
                </a:ext>
              </a:extLst>
            </p:cNvPr>
            <p:cNvSpPr/>
            <p:nvPr/>
          </p:nvSpPr>
          <p:spPr>
            <a:xfrm>
              <a:off x="4343439" y="3939031"/>
              <a:ext cx="975360" cy="975360"/>
            </a:xfrm>
            <a:prstGeom prst="ellipse">
              <a:avLst/>
            </a:prstGeom>
            <a:grpFill/>
            <a:ln/>
          </p:spPr>
        </p:sp>
        <p:sp>
          <p:nvSpPr>
            <p:cNvPr id="81" name="TextBox 21">
              <a:extLst>
                <a:ext uri="{FF2B5EF4-FFF2-40B4-BE49-F238E27FC236}">
                  <a16:creationId xmlns:a16="http://schemas.microsoft.com/office/drawing/2014/main" id="{19FA4077-3D6B-435D-9A2A-66461CEBDD77}"/>
                </a:ext>
              </a:extLst>
            </p:cNvPr>
            <p:cNvSpPr txBox="1"/>
            <p:nvPr/>
          </p:nvSpPr>
          <p:spPr>
            <a:xfrm>
              <a:off x="4405571" y="4982395"/>
              <a:ext cx="3520888" cy="1262987"/>
            </a:xfrm>
            <a:prstGeom prst="rect">
              <a:avLst/>
            </a:prstGeom>
            <a:noFill/>
            <a:ln/>
          </p:spPr>
          <p:txBody>
            <a:bodyPr vert="horz" wrap="square" lIns="123825" tIns="123825" rIns="57150" bIns="123825" rtlCol="0" anchor="t" anchorCtr="0">
              <a:noAutofit/>
            </a:bodyPr>
            <a:lstStyle/>
            <a:p>
              <a:pPr>
                <a:lnSpc>
                  <a:spcPct val="150000"/>
                </a:lnSpc>
              </a:pPr>
              <a:r>
                <a:rPr lang="zh-CN" altLang="en-US" sz="1600" b="1" dirty="0">
                  <a:solidFill>
                    <a:schemeClr val="dk1">
                      <a:alpha val="100000"/>
                    </a:schemeClr>
                  </a:solidFill>
                  <a:latin typeface="+mn-ea"/>
                  <a:cs typeface="Microsoft Yahei"/>
                </a:rPr>
                <a:t>循环利用资源，提高利用效率，减少浪费和环境压力；推动循环经济的发展。</a:t>
              </a:r>
            </a:p>
            <a:p>
              <a:pPr>
                <a:lnSpc>
                  <a:spcPct val="150000"/>
                </a:lnSpc>
              </a:pPr>
              <a:endParaRPr lang="en-US" sz="1600" b="1" dirty="0">
                <a:solidFill>
                  <a:schemeClr val="dk1">
                    <a:alpha val="100000"/>
                  </a:schemeClr>
                </a:solidFill>
                <a:latin typeface="+mn-ea"/>
                <a:cs typeface="Microsoft Yahei"/>
              </a:endParaRPr>
            </a:p>
          </p:txBody>
        </p:sp>
        <p:sp>
          <p:nvSpPr>
            <p:cNvPr id="82" name="AutoShape 22">
              <a:extLst>
                <a:ext uri="{FF2B5EF4-FFF2-40B4-BE49-F238E27FC236}">
                  <a16:creationId xmlns:a16="http://schemas.microsoft.com/office/drawing/2014/main" id="{441CE6A1-440C-4E4A-B0D9-4D96322954C0}"/>
                </a:ext>
              </a:extLst>
            </p:cNvPr>
            <p:cNvSpPr/>
            <p:nvPr/>
          </p:nvSpPr>
          <p:spPr>
            <a:xfrm>
              <a:off x="6951099" y="3939031"/>
              <a:ext cx="975360" cy="975360"/>
            </a:xfrm>
            <a:prstGeom prst="ellipse">
              <a:avLst/>
            </a:prstGeom>
            <a:grpFill/>
            <a:ln/>
          </p:spPr>
        </p:sp>
        <p:sp>
          <p:nvSpPr>
            <p:cNvPr id="83" name="TextBox 23">
              <a:extLst>
                <a:ext uri="{FF2B5EF4-FFF2-40B4-BE49-F238E27FC236}">
                  <a16:creationId xmlns:a16="http://schemas.microsoft.com/office/drawing/2014/main" id="{D4950A24-9000-4FFC-9D59-B888F247839F}"/>
                </a:ext>
              </a:extLst>
            </p:cNvPr>
            <p:cNvSpPr txBox="1"/>
            <p:nvPr/>
          </p:nvSpPr>
          <p:spPr>
            <a:xfrm>
              <a:off x="4483258" y="4150486"/>
              <a:ext cx="3337062" cy="552450"/>
            </a:xfrm>
            <a:prstGeom prst="rect">
              <a:avLst/>
            </a:prstGeom>
            <a:grpFill/>
            <a:ln/>
          </p:spPr>
          <p:txBody>
            <a:bodyPr vert="horz" wrap="square" lIns="123825" tIns="123825" rIns="57150" bIns="123825" rtlCol="0" anchor="ctr" anchorCtr="1">
              <a:noAutofit/>
            </a:bodyPr>
            <a:lstStyle/>
            <a:p>
              <a:pPr algn="ctr">
                <a:lnSpc>
                  <a:spcPct val="120000"/>
                </a:lnSpc>
              </a:pPr>
              <a:r>
                <a:rPr lang="zh-CN" altLang="en-US" sz="2000" b="1" dirty="0">
                  <a:solidFill>
                    <a:srgbClr val="FFFFFF">
                      <a:alpha val="100000"/>
                    </a:srgbClr>
                  </a:solidFill>
                  <a:latin typeface="+mn-ea"/>
                  <a:cs typeface="Microsoft Yahei"/>
                </a:rPr>
                <a:t>资源循环与利用</a:t>
              </a:r>
              <a:endParaRPr lang="en-US" sz="2000" b="1" dirty="0">
                <a:solidFill>
                  <a:srgbClr val="FFFFFF">
                    <a:alpha val="100000"/>
                  </a:srgbClr>
                </a:solidFill>
                <a:latin typeface="+mn-ea"/>
                <a:cs typeface="Microsoft Yahei"/>
              </a:endParaRPr>
            </a:p>
          </p:txBody>
        </p:sp>
      </p:grpSp>
    </p:spTree>
    <p:extLst>
      <p:ext uri="{BB962C8B-B14F-4D97-AF65-F5344CB8AC3E}">
        <p14:creationId xmlns:p14="http://schemas.microsoft.com/office/powerpoint/2010/main" val="2822507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839252" y="2758656"/>
            <a:ext cx="6606883" cy="1048300"/>
          </a:xfrm>
          <a:prstGeom prst="rect">
            <a:avLst/>
          </a:prstGeom>
        </p:spPr>
        <p:txBody>
          <a:bodyPr vert="horz" wrap="square" lIns="114300" tIns="57150" rIns="114300" bIns="57150" rtlCol="0" anchor="t" anchorCtr="0">
            <a:spAutoFit/>
          </a:bodyPr>
          <a:lstStyle/>
          <a:p>
            <a:pPr lvl="0">
              <a:lnSpc>
                <a:spcPct val="120000"/>
              </a:lnSpc>
            </a:pPr>
            <a:r>
              <a:rPr lang="zh-CN" altLang="en-US" sz="5400" b="1" dirty="0">
                <a:solidFill>
                  <a:srgbClr val="2C4E8C"/>
                </a:solidFill>
                <a:latin typeface="等线" panose="02010600030101010101" pitchFamily="2" charset="-122"/>
                <a:cs typeface="Arial" panose="020B0604020202020204" pitchFamily="34" charset="0"/>
              </a:rPr>
              <a:t>技术方法与应用领域</a:t>
            </a:r>
          </a:p>
        </p:txBody>
      </p:sp>
      <p:sp>
        <p:nvSpPr>
          <p:cNvPr id="3" name="TextBox 3"/>
          <p:cNvSpPr txBox="1"/>
          <p:nvPr/>
        </p:nvSpPr>
        <p:spPr>
          <a:xfrm>
            <a:off x="1217733" y="3030076"/>
            <a:ext cx="2148230" cy="755271"/>
          </a:xfrm>
          <a:prstGeom prst="rect">
            <a:avLst/>
          </a:prstGeom>
        </p:spPr>
        <p:txBody>
          <a:bodyPr vert="horz" wrap="square" lIns="114300" tIns="57150" rIns="114300" bIns="57150" rtlCol="0" anchor="ctr" anchorCtr="0">
            <a:spAutoFit/>
          </a:bodyPr>
          <a:lstStyle/>
          <a:p>
            <a:pPr marL="0" marR="0" lvl="0" indent="0" algn="ctr" defTabSz="914400" rtl="0" eaLnBrk="1" fontAlgn="auto" latinLnBrk="0" hangingPunct="1">
              <a:lnSpc>
                <a:spcPct val="77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2C4E8C"/>
                </a:solidFill>
                <a:effectLst/>
                <a:uLnTx/>
                <a:uFillTx/>
                <a:latin typeface="Arial"/>
                <a:ea typeface="Arial"/>
                <a:cs typeface="Arial"/>
              </a:rPr>
              <a:t>03</a:t>
            </a:r>
          </a:p>
        </p:txBody>
      </p:sp>
    </p:spTree>
    <p:extLst>
      <p:ext uri="{BB962C8B-B14F-4D97-AF65-F5344CB8AC3E}">
        <p14:creationId xmlns:p14="http://schemas.microsoft.com/office/powerpoint/2010/main" val="140600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监测与评价技术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47" name="组合 46">
            <a:extLst>
              <a:ext uri="{FF2B5EF4-FFF2-40B4-BE49-F238E27FC236}">
                <a16:creationId xmlns:a16="http://schemas.microsoft.com/office/drawing/2014/main" id="{747CE034-21F7-46DD-B5C2-9F1AF2DAFB71}"/>
              </a:ext>
            </a:extLst>
          </p:cNvPr>
          <p:cNvGrpSpPr/>
          <p:nvPr/>
        </p:nvGrpSpPr>
        <p:grpSpPr>
          <a:xfrm>
            <a:off x="454963" y="1294832"/>
            <a:ext cx="11237992" cy="4768654"/>
            <a:chOff x="454963" y="1294832"/>
            <a:chExt cx="11237992" cy="4768654"/>
          </a:xfrm>
        </p:grpSpPr>
        <p:pic>
          <p:nvPicPr>
            <p:cNvPr id="28" name="Picture 2">
              <a:extLst>
                <a:ext uri="{FF2B5EF4-FFF2-40B4-BE49-F238E27FC236}">
                  <a16:creationId xmlns:a16="http://schemas.microsoft.com/office/drawing/2014/main" id="{CF51AF7D-8BDD-41A4-A227-8144D0D5705F}"/>
                </a:ext>
              </a:extLst>
            </p:cNvPr>
            <p:cNvPicPr>
              <a:picLocks noChangeAspect="1"/>
            </p:cNvPicPr>
            <p:nvPr/>
          </p:nvPicPr>
          <p:blipFill>
            <a:blip r:embed="rId3"/>
            <a:srcRect l="33292" r="33292"/>
            <a:stretch>
              <a:fillRect/>
            </a:stretch>
          </p:blipFill>
          <p:spPr>
            <a:xfrm>
              <a:off x="454963" y="1569535"/>
              <a:ext cx="4219249" cy="4219249"/>
            </a:xfrm>
            <a:prstGeom prst="ellipse">
              <a:avLst/>
            </a:prstGeom>
            <a:ln w="28575">
              <a:solidFill>
                <a:srgbClr val="ED7D31"/>
              </a:solidFill>
            </a:ln>
          </p:spPr>
        </p:pic>
        <p:grpSp>
          <p:nvGrpSpPr>
            <p:cNvPr id="29" name="Group 3">
              <a:extLst>
                <a:ext uri="{FF2B5EF4-FFF2-40B4-BE49-F238E27FC236}">
                  <a16:creationId xmlns:a16="http://schemas.microsoft.com/office/drawing/2014/main" id="{B0FFE796-3669-45BA-A1E9-FDD28A542A87}"/>
                </a:ext>
              </a:extLst>
            </p:cNvPr>
            <p:cNvGrpSpPr/>
            <p:nvPr/>
          </p:nvGrpSpPr>
          <p:grpSpPr>
            <a:xfrm>
              <a:off x="5163133" y="1294832"/>
              <a:ext cx="6529822" cy="1468186"/>
              <a:chOff x="5163133" y="1294832"/>
              <a:chExt cx="6264882" cy="1468186"/>
            </a:xfrm>
            <a:solidFill>
              <a:srgbClr val="4472C4"/>
            </a:solidFill>
          </p:grpSpPr>
          <p:sp>
            <p:nvSpPr>
              <p:cNvPr id="30" name="AutoShape 4">
                <a:extLst>
                  <a:ext uri="{FF2B5EF4-FFF2-40B4-BE49-F238E27FC236}">
                    <a16:creationId xmlns:a16="http://schemas.microsoft.com/office/drawing/2014/main" id="{9AB378E3-E037-48EB-9712-AA5426FF6AAF}"/>
                  </a:ext>
                </a:extLst>
              </p:cNvPr>
              <p:cNvSpPr/>
              <p:nvPr/>
            </p:nvSpPr>
            <p:spPr>
              <a:xfrm>
                <a:off x="5328795" y="1294832"/>
                <a:ext cx="6099220" cy="1468186"/>
              </a:xfrm>
              <a:prstGeom prst="rect">
                <a:avLst/>
              </a:prstGeom>
              <a:grpFill/>
              <a:ln/>
            </p:spPr>
          </p:sp>
          <p:sp>
            <p:nvSpPr>
              <p:cNvPr id="31" name="TextBox 5">
                <a:extLst>
                  <a:ext uri="{FF2B5EF4-FFF2-40B4-BE49-F238E27FC236}">
                    <a16:creationId xmlns:a16="http://schemas.microsoft.com/office/drawing/2014/main" id="{B9E9CE48-A5F8-443E-BAB4-46FBB890344F}"/>
                  </a:ext>
                </a:extLst>
              </p:cNvPr>
              <p:cNvSpPr txBox="1"/>
              <p:nvPr/>
            </p:nvSpPr>
            <p:spPr>
              <a:xfrm>
                <a:off x="5361702" y="1423381"/>
                <a:ext cx="3055242" cy="408317"/>
              </a:xfrm>
              <a:prstGeom prst="rect">
                <a:avLst/>
              </a:prstGeom>
              <a:grpFill/>
              <a:ln/>
            </p:spPr>
            <p:txBody>
              <a:bodyPr vert="horz" wrap="square" lIns="114300" tIns="57150" rIns="114300" bIns="57150" rtlCol="0" anchor="t" anchorCtr="0">
                <a:spAutoFit/>
              </a:bodyPr>
              <a:lstStyle/>
              <a:p>
                <a:pPr>
                  <a:lnSpc>
                    <a:spcPct val="77000"/>
                  </a:lnSpc>
                  <a:spcBef>
                    <a:spcPts val="450"/>
                  </a:spcBef>
                </a:pPr>
                <a:r>
                  <a:rPr lang="zh-CN" altLang="en-US" sz="2400" b="1" dirty="0">
                    <a:solidFill>
                      <a:srgbClr val="FFFFFF">
                        <a:alpha val="100000"/>
                      </a:srgbClr>
                    </a:solidFill>
                    <a:latin typeface="+mn-ea"/>
                    <a:cs typeface="Microsoft Yahei"/>
                  </a:rPr>
                  <a:t>环境监测技术</a:t>
                </a:r>
                <a:endParaRPr lang="en-US" sz="2400" b="1" dirty="0">
                  <a:solidFill>
                    <a:srgbClr val="FFFFFF">
                      <a:alpha val="100000"/>
                    </a:srgbClr>
                  </a:solidFill>
                  <a:latin typeface="+mn-ea"/>
                  <a:cs typeface="Microsoft Yahei"/>
                </a:endParaRPr>
              </a:p>
            </p:txBody>
          </p:sp>
          <p:sp>
            <p:nvSpPr>
              <p:cNvPr id="32" name="TextBox 6">
                <a:extLst>
                  <a:ext uri="{FF2B5EF4-FFF2-40B4-BE49-F238E27FC236}">
                    <a16:creationId xmlns:a16="http://schemas.microsoft.com/office/drawing/2014/main" id="{1C0F7A40-DDD5-4D0D-A3E8-13C31DE499F2}"/>
                  </a:ext>
                </a:extLst>
              </p:cNvPr>
              <p:cNvSpPr txBox="1"/>
              <p:nvPr/>
            </p:nvSpPr>
            <p:spPr>
              <a:xfrm>
                <a:off x="5632910" y="1910708"/>
                <a:ext cx="5568066" cy="366960"/>
              </a:xfrm>
              <a:prstGeom prst="rect">
                <a:avLst/>
              </a:prstGeom>
              <a:grpFill/>
              <a:ln/>
            </p:spPr>
            <p:txBody>
              <a:bodyPr vert="horz" wrap="square" lIns="114300" tIns="57150" rIns="114300" bIns="57150" rtlCol="0" anchor="t" anchorCtr="0">
                <a:spAutoFit/>
              </a:bodyPr>
              <a:lstStyle/>
              <a:p>
                <a:pPr>
                  <a:lnSpc>
                    <a:spcPct val="120000"/>
                  </a:lnSpc>
                </a:pPr>
                <a:endParaRPr lang="en-US" sz="1500" dirty="0">
                  <a:solidFill>
                    <a:srgbClr val="FFFFFF">
                      <a:alpha val="100000"/>
                    </a:srgbClr>
                  </a:solidFill>
                  <a:latin typeface="+mn-ea"/>
                  <a:cs typeface="Microsoft Yahei"/>
                </a:endParaRPr>
              </a:p>
            </p:txBody>
          </p:sp>
          <p:sp>
            <p:nvSpPr>
              <p:cNvPr id="33" name="AutoShape 7">
                <a:extLst>
                  <a:ext uri="{FF2B5EF4-FFF2-40B4-BE49-F238E27FC236}">
                    <a16:creationId xmlns:a16="http://schemas.microsoft.com/office/drawing/2014/main" id="{236EFE2E-63F2-42C8-B1CD-7D96050C4D2B}"/>
                  </a:ext>
                </a:extLst>
              </p:cNvPr>
              <p:cNvSpPr/>
              <p:nvPr/>
            </p:nvSpPr>
            <p:spPr>
              <a:xfrm>
                <a:off x="5163133" y="1294832"/>
                <a:ext cx="165663" cy="1468186"/>
              </a:xfrm>
              <a:prstGeom prst="rect">
                <a:avLst/>
              </a:prstGeom>
              <a:grpFill/>
              <a:ln/>
            </p:spPr>
          </p:sp>
        </p:grpSp>
        <p:grpSp>
          <p:nvGrpSpPr>
            <p:cNvPr id="34" name="Group 8">
              <a:extLst>
                <a:ext uri="{FF2B5EF4-FFF2-40B4-BE49-F238E27FC236}">
                  <a16:creationId xmlns:a16="http://schemas.microsoft.com/office/drawing/2014/main" id="{E8093EDE-6A56-4596-BABC-AE37EF95DD6B}"/>
                </a:ext>
              </a:extLst>
            </p:cNvPr>
            <p:cNvGrpSpPr/>
            <p:nvPr/>
          </p:nvGrpSpPr>
          <p:grpSpPr>
            <a:xfrm>
              <a:off x="5163133" y="2945066"/>
              <a:ext cx="6529822" cy="1468186"/>
              <a:chOff x="5163133" y="2945066"/>
              <a:chExt cx="6264882" cy="1468186"/>
            </a:xfrm>
            <a:solidFill>
              <a:srgbClr val="4472C4"/>
            </a:solidFill>
          </p:grpSpPr>
          <p:sp>
            <p:nvSpPr>
              <p:cNvPr id="35" name="AutoShape 9">
                <a:extLst>
                  <a:ext uri="{FF2B5EF4-FFF2-40B4-BE49-F238E27FC236}">
                    <a16:creationId xmlns:a16="http://schemas.microsoft.com/office/drawing/2014/main" id="{58E640DC-3980-4E66-A9F2-6EB7C3D8ACCC}"/>
                  </a:ext>
                </a:extLst>
              </p:cNvPr>
              <p:cNvSpPr/>
              <p:nvPr/>
            </p:nvSpPr>
            <p:spPr>
              <a:xfrm>
                <a:off x="5328795" y="2945066"/>
                <a:ext cx="6099220" cy="1468186"/>
              </a:xfrm>
              <a:prstGeom prst="rect">
                <a:avLst/>
              </a:prstGeom>
              <a:grpFill/>
              <a:ln/>
            </p:spPr>
          </p:sp>
          <p:sp>
            <p:nvSpPr>
              <p:cNvPr id="37" name="TextBox 11">
                <a:extLst>
                  <a:ext uri="{FF2B5EF4-FFF2-40B4-BE49-F238E27FC236}">
                    <a16:creationId xmlns:a16="http://schemas.microsoft.com/office/drawing/2014/main" id="{A948B82C-0E06-4BEB-B2DD-0BF7282E1F56}"/>
                  </a:ext>
                </a:extLst>
              </p:cNvPr>
              <p:cNvSpPr txBox="1"/>
              <p:nvPr/>
            </p:nvSpPr>
            <p:spPr>
              <a:xfrm>
                <a:off x="5396997" y="3601928"/>
                <a:ext cx="5814166" cy="758797"/>
              </a:xfrm>
              <a:prstGeom prst="rect">
                <a:avLst/>
              </a:prstGeom>
              <a:grpFill/>
              <a:ln/>
            </p:spPr>
            <p:txBody>
              <a:bodyPr vert="horz" wrap="square" lIns="114300" tIns="57150" rIns="114300" bIns="57150" rtlCol="0" anchor="t" anchorCtr="0">
                <a:spAutoFit/>
              </a:bodyPr>
              <a:lstStyle/>
              <a:p>
                <a:pPr>
                  <a:lnSpc>
                    <a:spcPct val="120000"/>
                  </a:lnSpc>
                </a:pPr>
                <a:r>
                  <a:rPr lang="zh-CN" altLang="en-US" b="1" dirty="0">
                    <a:solidFill>
                      <a:schemeClr val="bg1"/>
                    </a:solidFill>
                  </a:rPr>
                  <a:t>对项目或政策实施后可能造成的环境影响进行预测和评估，为决策提供科学依据。</a:t>
                </a:r>
                <a:endParaRPr lang="en-US" b="1" dirty="0">
                  <a:solidFill>
                    <a:schemeClr val="bg1"/>
                  </a:solidFill>
                </a:endParaRPr>
              </a:p>
            </p:txBody>
          </p:sp>
          <p:sp>
            <p:nvSpPr>
              <p:cNvPr id="38" name="AutoShape 12">
                <a:extLst>
                  <a:ext uri="{FF2B5EF4-FFF2-40B4-BE49-F238E27FC236}">
                    <a16:creationId xmlns:a16="http://schemas.microsoft.com/office/drawing/2014/main" id="{000E6357-1DBC-4572-81CB-9419E6449E85}"/>
                  </a:ext>
                </a:extLst>
              </p:cNvPr>
              <p:cNvSpPr/>
              <p:nvPr/>
            </p:nvSpPr>
            <p:spPr>
              <a:xfrm>
                <a:off x="5163133" y="2945066"/>
                <a:ext cx="165663" cy="1468186"/>
              </a:xfrm>
              <a:prstGeom prst="rect">
                <a:avLst/>
              </a:prstGeom>
              <a:grpFill/>
              <a:ln/>
            </p:spPr>
          </p:sp>
        </p:grpSp>
        <p:grpSp>
          <p:nvGrpSpPr>
            <p:cNvPr id="39" name="Group 13">
              <a:extLst>
                <a:ext uri="{FF2B5EF4-FFF2-40B4-BE49-F238E27FC236}">
                  <a16:creationId xmlns:a16="http://schemas.microsoft.com/office/drawing/2014/main" id="{346AE716-E191-4FEE-9EA2-87AF1B2621E2}"/>
                </a:ext>
              </a:extLst>
            </p:cNvPr>
            <p:cNvGrpSpPr/>
            <p:nvPr/>
          </p:nvGrpSpPr>
          <p:grpSpPr>
            <a:xfrm>
              <a:off x="5163133" y="4595300"/>
              <a:ext cx="6529822" cy="1468186"/>
              <a:chOff x="5163133" y="4595300"/>
              <a:chExt cx="6264882" cy="1468186"/>
            </a:xfrm>
            <a:solidFill>
              <a:srgbClr val="4472C4"/>
            </a:solidFill>
          </p:grpSpPr>
          <p:sp>
            <p:nvSpPr>
              <p:cNvPr id="40" name="AutoShape 14">
                <a:extLst>
                  <a:ext uri="{FF2B5EF4-FFF2-40B4-BE49-F238E27FC236}">
                    <a16:creationId xmlns:a16="http://schemas.microsoft.com/office/drawing/2014/main" id="{C8817CBC-F77F-44DE-B8DD-622BA3E7C912}"/>
                  </a:ext>
                </a:extLst>
              </p:cNvPr>
              <p:cNvSpPr/>
              <p:nvPr/>
            </p:nvSpPr>
            <p:spPr>
              <a:xfrm>
                <a:off x="5328795" y="4595300"/>
                <a:ext cx="6099220" cy="1468186"/>
              </a:xfrm>
              <a:prstGeom prst="rect">
                <a:avLst/>
              </a:prstGeom>
              <a:grpFill/>
              <a:ln/>
            </p:spPr>
            <p:txBody>
              <a:bodyPr/>
              <a:lstStyle/>
              <a:p>
                <a:endParaRPr lang="zh-CN" altLang="en-US" dirty="0"/>
              </a:p>
            </p:txBody>
          </p:sp>
          <p:sp>
            <p:nvSpPr>
              <p:cNvPr id="42" name="TextBox 16">
                <a:extLst>
                  <a:ext uri="{FF2B5EF4-FFF2-40B4-BE49-F238E27FC236}">
                    <a16:creationId xmlns:a16="http://schemas.microsoft.com/office/drawing/2014/main" id="{C9CE071F-3217-4DBF-82E5-1C47E2515080}"/>
                  </a:ext>
                </a:extLst>
              </p:cNvPr>
              <p:cNvSpPr txBox="1"/>
              <p:nvPr/>
            </p:nvSpPr>
            <p:spPr>
              <a:xfrm>
                <a:off x="5396997" y="5265205"/>
                <a:ext cx="6031018" cy="758797"/>
              </a:xfrm>
              <a:prstGeom prst="rect">
                <a:avLst/>
              </a:prstGeom>
              <a:grpFill/>
              <a:ln/>
            </p:spPr>
            <p:txBody>
              <a:bodyPr vert="horz" wrap="square" lIns="114300" tIns="57150" rIns="114300" bIns="57150" rtlCol="0" anchor="t" anchorCtr="0">
                <a:spAutoFit/>
              </a:bodyPr>
              <a:lstStyle/>
              <a:p>
                <a:pPr>
                  <a:lnSpc>
                    <a:spcPct val="120000"/>
                  </a:lnSpc>
                </a:pPr>
                <a:r>
                  <a:rPr lang="zh-CN" altLang="en-US" b="1" dirty="0">
                    <a:solidFill>
                      <a:schemeClr val="bg1"/>
                    </a:solidFill>
                  </a:rPr>
                  <a:t>识别和评估环境风险源，确定风险等级和可接受水平，提出风险防控措施。</a:t>
                </a:r>
                <a:endParaRPr lang="en-US" b="1" dirty="0">
                  <a:solidFill>
                    <a:schemeClr val="bg1"/>
                  </a:solidFill>
                </a:endParaRPr>
              </a:p>
            </p:txBody>
          </p:sp>
          <p:sp>
            <p:nvSpPr>
              <p:cNvPr id="43" name="AutoShape 17">
                <a:extLst>
                  <a:ext uri="{FF2B5EF4-FFF2-40B4-BE49-F238E27FC236}">
                    <a16:creationId xmlns:a16="http://schemas.microsoft.com/office/drawing/2014/main" id="{74D05184-47AF-42B5-902D-60870D77FD13}"/>
                  </a:ext>
                </a:extLst>
              </p:cNvPr>
              <p:cNvSpPr/>
              <p:nvPr/>
            </p:nvSpPr>
            <p:spPr>
              <a:xfrm>
                <a:off x="5163133" y="4595300"/>
                <a:ext cx="165663" cy="1468186"/>
              </a:xfrm>
              <a:prstGeom prst="rect">
                <a:avLst/>
              </a:prstGeom>
              <a:grpFill/>
              <a:ln/>
            </p:spPr>
          </p:sp>
        </p:grpSp>
        <p:sp>
          <p:nvSpPr>
            <p:cNvPr id="44" name="矩形 43">
              <a:extLst>
                <a:ext uri="{FF2B5EF4-FFF2-40B4-BE49-F238E27FC236}">
                  <a16:creationId xmlns:a16="http://schemas.microsoft.com/office/drawing/2014/main" id="{0B313151-1261-42F7-BCB9-FBCB0192165A}"/>
                </a:ext>
              </a:extLst>
            </p:cNvPr>
            <p:cNvSpPr/>
            <p:nvPr/>
          </p:nvSpPr>
          <p:spPr>
            <a:xfrm>
              <a:off x="5406887" y="1869369"/>
              <a:ext cx="6060045" cy="646331"/>
            </a:xfrm>
            <a:prstGeom prst="rect">
              <a:avLst/>
            </a:prstGeom>
          </p:spPr>
          <p:txBody>
            <a:bodyPr wrap="square">
              <a:spAutoFit/>
            </a:bodyPr>
            <a:lstStyle/>
            <a:p>
              <a:r>
                <a:rPr lang="zh-CN" altLang="en-US" b="1" dirty="0">
                  <a:solidFill>
                    <a:schemeClr val="bg1"/>
                  </a:solidFill>
                </a:rPr>
                <a:t>现场采样、实验室分析、遥感监测等技术手段，用于获取环境参数和数据。</a:t>
              </a:r>
            </a:p>
          </p:txBody>
        </p:sp>
        <p:sp>
          <p:nvSpPr>
            <p:cNvPr id="45" name="TextBox 5">
              <a:extLst>
                <a:ext uri="{FF2B5EF4-FFF2-40B4-BE49-F238E27FC236}">
                  <a16:creationId xmlns:a16="http://schemas.microsoft.com/office/drawing/2014/main" id="{AE532ACD-E661-4725-9E06-0E94C56D5FCA}"/>
                </a:ext>
              </a:extLst>
            </p:cNvPr>
            <p:cNvSpPr txBox="1"/>
            <p:nvPr/>
          </p:nvSpPr>
          <p:spPr>
            <a:xfrm>
              <a:off x="5406887" y="4856888"/>
              <a:ext cx="3184447" cy="408317"/>
            </a:xfrm>
            <a:prstGeom prst="rect">
              <a:avLst/>
            </a:prstGeom>
            <a:solidFill>
              <a:srgbClr val="4472C4"/>
            </a:solidFill>
            <a:ln/>
          </p:spPr>
          <p:txBody>
            <a:bodyPr vert="horz" wrap="square" lIns="114300" tIns="57150" rIns="114300" bIns="57150" rtlCol="0" anchor="t" anchorCtr="0">
              <a:spAutoFit/>
            </a:bodyPr>
            <a:lstStyle/>
            <a:p>
              <a:pPr>
                <a:lnSpc>
                  <a:spcPct val="77000"/>
                </a:lnSpc>
                <a:spcBef>
                  <a:spcPts val="450"/>
                </a:spcBef>
              </a:pPr>
              <a:r>
                <a:rPr lang="zh-CN" altLang="en-US" sz="2400" b="1" dirty="0">
                  <a:solidFill>
                    <a:srgbClr val="FFFFFF">
                      <a:alpha val="100000"/>
                    </a:srgbClr>
                  </a:solidFill>
                  <a:latin typeface="+mn-ea"/>
                  <a:cs typeface="Microsoft Yahei"/>
                </a:rPr>
                <a:t>环境风险评估技术</a:t>
              </a:r>
              <a:endParaRPr lang="en-US" sz="2400" b="1" dirty="0">
                <a:solidFill>
                  <a:srgbClr val="FFFFFF">
                    <a:alpha val="100000"/>
                  </a:srgbClr>
                </a:solidFill>
                <a:latin typeface="+mn-ea"/>
                <a:cs typeface="Microsoft Yahei"/>
              </a:endParaRPr>
            </a:p>
          </p:txBody>
        </p:sp>
        <p:sp>
          <p:nvSpPr>
            <p:cNvPr id="46" name="TextBox 5">
              <a:extLst>
                <a:ext uri="{FF2B5EF4-FFF2-40B4-BE49-F238E27FC236}">
                  <a16:creationId xmlns:a16="http://schemas.microsoft.com/office/drawing/2014/main" id="{A7ECDE3A-3E68-4E84-BF1D-798C82A12AEC}"/>
                </a:ext>
              </a:extLst>
            </p:cNvPr>
            <p:cNvSpPr txBox="1"/>
            <p:nvPr/>
          </p:nvSpPr>
          <p:spPr>
            <a:xfrm>
              <a:off x="5406887" y="3141085"/>
              <a:ext cx="3184447" cy="408317"/>
            </a:xfrm>
            <a:prstGeom prst="rect">
              <a:avLst/>
            </a:prstGeom>
            <a:solidFill>
              <a:srgbClr val="4472C4"/>
            </a:solidFill>
            <a:ln/>
          </p:spPr>
          <p:txBody>
            <a:bodyPr vert="horz" wrap="square" lIns="114300" tIns="57150" rIns="114300" bIns="57150" rtlCol="0" anchor="t" anchorCtr="0">
              <a:spAutoFit/>
            </a:bodyPr>
            <a:lstStyle/>
            <a:p>
              <a:pPr>
                <a:lnSpc>
                  <a:spcPct val="77000"/>
                </a:lnSpc>
                <a:spcBef>
                  <a:spcPts val="450"/>
                </a:spcBef>
              </a:pPr>
              <a:r>
                <a:rPr lang="zh-CN" altLang="en-US" sz="2400" b="1" dirty="0">
                  <a:solidFill>
                    <a:srgbClr val="FFFFFF">
                      <a:alpha val="100000"/>
                    </a:srgbClr>
                  </a:solidFill>
                  <a:latin typeface="+mn-ea"/>
                  <a:cs typeface="Microsoft Yahei"/>
                </a:rPr>
                <a:t>环境影响评价技术</a:t>
              </a:r>
              <a:endParaRPr lang="en-US" sz="2400" b="1" dirty="0">
                <a:solidFill>
                  <a:srgbClr val="FFFFFF">
                    <a:alpha val="100000"/>
                  </a:srgbClr>
                </a:solidFill>
                <a:latin typeface="+mn-ea"/>
                <a:cs typeface="Microsoft Yahei"/>
              </a:endParaRPr>
            </a:p>
          </p:txBody>
        </p:sp>
      </p:grpSp>
    </p:spTree>
    <p:extLst>
      <p:ext uri="{BB962C8B-B14F-4D97-AF65-F5344CB8AC3E}">
        <p14:creationId xmlns:p14="http://schemas.microsoft.com/office/powerpoint/2010/main" val="936044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31" name="组合 30">
            <a:extLst>
              <a:ext uri="{FF2B5EF4-FFF2-40B4-BE49-F238E27FC236}">
                <a16:creationId xmlns:a16="http://schemas.microsoft.com/office/drawing/2014/main" id="{4D5D27E7-0F67-437A-BBA9-4E5D7B22B3EB}"/>
              </a:ext>
            </a:extLst>
          </p:cNvPr>
          <p:cNvGrpSpPr/>
          <p:nvPr/>
        </p:nvGrpSpPr>
        <p:grpSpPr>
          <a:xfrm>
            <a:off x="539047" y="1237949"/>
            <a:ext cx="11011496" cy="1062567"/>
            <a:chOff x="539047" y="1237949"/>
            <a:chExt cx="11011496" cy="1062567"/>
          </a:xfrm>
        </p:grpSpPr>
        <p:grpSp>
          <p:nvGrpSpPr>
            <p:cNvPr id="55" name="Group 9">
              <a:extLst>
                <a:ext uri="{FF2B5EF4-FFF2-40B4-BE49-F238E27FC236}">
                  <a16:creationId xmlns:a16="http://schemas.microsoft.com/office/drawing/2014/main" id="{DE775734-CAFA-426E-9B3A-CA25F6CB59DE}"/>
                </a:ext>
              </a:extLst>
            </p:cNvPr>
            <p:cNvGrpSpPr/>
            <p:nvPr/>
          </p:nvGrpSpPr>
          <p:grpSpPr>
            <a:xfrm>
              <a:off x="1483147" y="1271486"/>
              <a:ext cx="10067396" cy="1029030"/>
              <a:chOff x="5925310" y="1577851"/>
              <a:chExt cx="8805554" cy="912017"/>
            </a:xfrm>
          </p:grpSpPr>
          <p:sp>
            <p:nvSpPr>
              <p:cNvPr id="56" name="TextBox 10">
                <a:extLst>
                  <a:ext uri="{FF2B5EF4-FFF2-40B4-BE49-F238E27FC236}">
                    <a16:creationId xmlns:a16="http://schemas.microsoft.com/office/drawing/2014/main" id="{8E88FE18-4345-4D23-BDEF-6E69AECD1766}"/>
                  </a:ext>
                </a:extLst>
              </p:cNvPr>
              <p:cNvSpPr txBox="1"/>
              <p:nvPr/>
            </p:nvSpPr>
            <p:spPr>
              <a:xfrm>
                <a:off x="5925310" y="1577851"/>
                <a:ext cx="4521094" cy="457113"/>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水污染防治技术</a:t>
                </a:r>
                <a:endParaRPr lang="en-US" sz="2800" b="1" dirty="0">
                  <a:solidFill>
                    <a:srgbClr val="2C4E8C"/>
                  </a:solidFill>
                  <a:latin typeface="+mn-ea"/>
                  <a:cs typeface="Microsoft Yahei"/>
                </a:endParaRPr>
              </a:p>
            </p:txBody>
          </p:sp>
          <p:sp>
            <p:nvSpPr>
              <p:cNvPr id="57" name="TextBox 11">
                <a:extLst>
                  <a:ext uri="{FF2B5EF4-FFF2-40B4-BE49-F238E27FC236}">
                    <a16:creationId xmlns:a16="http://schemas.microsoft.com/office/drawing/2014/main" id="{261272D6-07CE-4906-9165-9166F71395CD}"/>
                  </a:ext>
                </a:extLst>
              </p:cNvPr>
              <p:cNvSpPr txBox="1"/>
              <p:nvPr/>
            </p:nvSpPr>
            <p:spPr>
              <a:xfrm>
                <a:off x="5982796" y="2022450"/>
                <a:ext cx="8748068" cy="467418"/>
              </a:xfrm>
              <a:prstGeom prst="rect">
                <a:avLst/>
              </a:prstGeom>
              <a:ln/>
            </p:spPr>
            <p:txBody>
              <a:bodyPr vert="horz" wrap="square" lIns="114300" tIns="57150" rIns="114300" bIns="57150" rtlCol="0" anchor="t" anchorCtr="0">
                <a:spAutoFit/>
              </a:bodyPr>
              <a:lstStyle/>
              <a:p>
                <a:pPr>
                  <a:lnSpc>
                    <a:spcPct val="120000"/>
                  </a:lnSpc>
                </a:pPr>
                <a:r>
                  <a:rPr lang="zh-CN" altLang="en-US" sz="2400" b="1" dirty="0">
                    <a:solidFill>
                      <a:schemeClr val="dk1">
                        <a:alpha val="100000"/>
                      </a:schemeClr>
                    </a:solidFill>
                    <a:latin typeface="+mn-ea"/>
                    <a:cs typeface="Microsoft Yahei"/>
                  </a:rPr>
                  <a:t>包括污水处理、水体修复、底泥治理等技术手段，用于改善水环境质量。</a:t>
                </a:r>
                <a:endParaRPr lang="en-US" sz="2400" b="1" dirty="0">
                  <a:solidFill>
                    <a:schemeClr val="dk1">
                      <a:alpha val="100000"/>
                    </a:schemeClr>
                  </a:solidFill>
                  <a:latin typeface="+mn-ea"/>
                  <a:cs typeface="Microsoft Yahei"/>
                </a:endParaRPr>
              </a:p>
            </p:txBody>
          </p:sp>
        </p:grpSp>
        <p:grpSp>
          <p:nvGrpSpPr>
            <p:cNvPr id="30" name="组合 29">
              <a:extLst>
                <a:ext uri="{FF2B5EF4-FFF2-40B4-BE49-F238E27FC236}">
                  <a16:creationId xmlns:a16="http://schemas.microsoft.com/office/drawing/2014/main" id="{DA0B3AD9-5E5C-4EF2-A33E-8BD9658D77A4}"/>
                </a:ext>
              </a:extLst>
            </p:cNvPr>
            <p:cNvGrpSpPr/>
            <p:nvPr/>
          </p:nvGrpSpPr>
          <p:grpSpPr>
            <a:xfrm>
              <a:off x="539047" y="1237949"/>
              <a:ext cx="810236" cy="810236"/>
              <a:chOff x="4761432" y="1399458"/>
              <a:chExt cx="810236" cy="810236"/>
            </a:xfrm>
          </p:grpSpPr>
          <p:sp>
            <p:nvSpPr>
              <p:cNvPr id="59" name="AutoShape 13">
                <a:extLst>
                  <a:ext uri="{FF2B5EF4-FFF2-40B4-BE49-F238E27FC236}">
                    <a16:creationId xmlns:a16="http://schemas.microsoft.com/office/drawing/2014/main" id="{A9AE7F02-AD9F-4F9B-B2A3-FE4E4C8623AF}"/>
                  </a:ext>
                </a:extLst>
              </p:cNvPr>
              <p:cNvSpPr/>
              <p:nvPr/>
            </p:nvSpPr>
            <p:spPr>
              <a:xfrm>
                <a:off x="4761432" y="1399458"/>
                <a:ext cx="810236" cy="810236"/>
              </a:xfrm>
              <a:prstGeom prst="ellipse">
                <a:avLst/>
              </a:prstGeom>
              <a:solidFill>
                <a:schemeClr val="accent2">
                  <a:alpha val="100000"/>
                </a:schemeClr>
              </a:solidFill>
              <a:ln/>
            </p:spPr>
          </p:sp>
          <p:sp>
            <p:nvSpPr>
              <p:cNvPr id="62" name="Freeform 16">
                <a:extLst>
                  <a:ext uri="{FF2B5EF4-FFF2-40B4-BE49-F238E27FC236}">
                    <a16:creationId xmlns:a16="http://schemas.microsoft.com/office/drawing/2014/main" id="{5861BB21-10B9-4612-A763-91F143BF09E0}"/>
                  </a:ext>
                </a:extLst>
              </p:cNvPr>
              <p:cNvSpPr/>
              <p:nvPr/>
            </p:nvSpPr>
            <p:spPr>
              <a:xfrm>
                <a:off x="4970715" y="1571267"/>
                <a:ext cx="391670" cy="3916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grpSp>
      </p:grpSp>
      <p:grpSp>
        <p:nvGrpSpPr>
          <p:cNvPr id="29" name="组合 28">
            <a:extLst>
              <a:ext uri="{FF2B5EF4-FFF2-40B4-BE49-F238E27FC236}">
                <a16:creationId xmlns:a16="http://schemas.microsoft.com/office/drawing/2014/main" id="{95E16CEA-80B4-44F0-A4F8-EB13C4D7A9C5}"/>
              </a:ext>
            </a:extLst>
          </p:cNvPr>
          <p:cNvGrpSpPr/>
          <p:nvPr/>
        </p:nvGrpSpPr>
        <p:grpSpPr>
          <a:xfrm>
            <a:off x="693879" y="2461964"/>
            <a:ext cx="3722789" cy="3981079"/>
            <a:chOff x="641457" y="1735931"/>
            <a:chExt cx="3722789" cy="3981079"/>
          </a:xfrm>
        </p:grpSpPr>
        <p:sp>
          <p:nvSpPr>
            <p:cNvPr id="60" name="AutoShape 14">
              <a:extLst>
                <a:ext uri="{FF2B5EF4-FFF2-40B4-BE49-F238E27FC236}">
                  <a16:creationId xmlns:a16="http://schemas.microsoft.com/office/drawing/2014/main" id="{9DC82CB7-AC96-40CE-86D6-9981293D7240}"/>
                </a:ext>
              </a:extLst>
            </p:cNvPr>
            <p:cNvSpPr/>
            <p:nvPr/>
          </p:nvSpPr>
          <p:spPr>
            <a:xfrm>
              <a:off x="641457" y="1735931"/>
              <a:ext cx="3722789" cy="3981079"/>
            </a:xfrm>
            <a:prstGeom prst="rect">
              <a:avLst/>
            </a:prstGeom>
            <a:solidFill>
              <a:schemeClr val="accent1">
                <a:alpha val="94000"/>
              </a:schemeClr>
            </a:solidFill>
            <a:ln/>
          </p:spPr>
        </p:sp>
        <p:pic>
          <p:nvPicPr>
            <p:cNvPr id="64" name="Picture 18">
              <a:extLst>
                <a:ext uri="{FF2B5EF4-FFF2-40B4-BE49-F238E27FC236}">
                  <a16:creationId xmlns:a16="http://schemas.microsoft.com/office/drawing/2014/main" id="{6F7CB9A7-0E68-499B-BE4B-4B36E25399A6}"/>
                </a:ext>
              </a:extLst>
            </p:cNvPr>
            <p:cNvPicPr>
              <a:picLocks noChangeAspect="1"/>
            </p:cNvPicPr>
            <p:nvPr/>
          </p:nvPicPr>
          <p:blipFill>
            <a:blip r:embed="rId3">
              <a:alphaModFix/>
            </a:blip>
            <a:srcRect l="16181" r="16181"/>
            <a:stretch>
              <a:fillRect/>
            </a:stretch>
          </p:blipFill>
          <p:spPr>
            <a:xfrm>
              <a:off x="641457" y="1890928"/>
              <a:ext cx="3722788" cy="3671084"/>
            </a:xfrm>
            <a:prstGeom prst="rect">
              <a:avLst/>
            </a:prstGeom>
          </p:spPr>
        </p:pic>
      </p:grpSp>
      <p:pic>
        <p:nvPicPr>
          <p:cNvPr id="95" name="图片 94">
            <a:extLst>
              <a:ext uri="{FF2B5EF4-FFF2-40B4-BE49-F238E27FC236}">
                <a16:creationId xmlns:a16="http://schemas.microsoft.com/office/drawing/2014/main" id="{AC19B03A-B7E4-4832-9092-432D3CEECB4B}"/>
              </a:ext>
            </a:extLst>
          </p:cNvPr>
          <p:cNvPicPr>
            <a:picLocks noChangeAspect="1"/>
          </p:cNvPicPr>
          <p:nvPr/>
        </p:nvPicPr>
        <p:blipFill>
          <a:blip r:embed="rId4"/>
          <a:stretch>
            <a:fillRect/>
          </a:stretch>
        </p:blipFill>
        <p:spPr>
          <a:xfrm>
            <a:off x="5423230" y="2418894"/>
            <a:ext cx="5615831" cy="4149382"/>
          </a:xfrm>
          <a:prstGeom prst="rect">
            <a:avLst/>
          </a:prstGeom>
        </p:spPr>
      </p:pic>
    </p:spTree>
    <p:extLst>
      <p:ext uri="{BB962C8B-B14F-4D97-AF65-F5344CB8AC3E}">
        <p14:creationId xmlns:p14="http://schemas.microsoft.com/office/powerpoint/2010/main" val="2042485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31" name="组合 30">
            <a:extLst>
              <a:ext uri="{FF2B5EF4-FFF2-40B4-BE49-F238E27FC236}">
                <a16:creationId xmlns:a16="http://schemas.microsoft.com/office/drawing/2014/main" id="{4D5D27E7-0F67-437A-BBA9-4E5D7B22B3EB}"/>
              </a:ext>
            </a:extLst>
          </p:cNvPr>
          <p:cNvGrpSpPr/>
          <p:nvPr/>
        </p:nvGrpSpPr>
        <p:grpSpPr>
          <a:xfrm>
            <a:off x="504428" y="1086643"/>
            <a:ext cx="6113070" cy="810236"/>
            <a:chOff x="539047" y="1237949"/>
            <a:chExt cx="6113070" cy="810236"/>
          </a:xfrm>
        </p:grpSpPr>
        <p:sp>
          <p:nvSpPr>
            <p:cNvPr id="56" name="TextBox 10">
              <a:extLst>
                <a:ext uri="{FF2B5EF4-FFF2-40B4-BE49-F238E27FC236}">
                  <a16:creationId xmlns:a16="http://schemas.microsoft.com/office/drawing/2014/main" id="{8E88FE18-4345-4D23-BDEF-6E69AECD1766}"/>
                </a:ext>
              </a:extLst>
            </p:cNvPr>
            <p:cNvSpPr txBox="1"/>
            <p:nvPr/>
          </p:nvSpPr>
          <p:spPr>
            <a:xfrm>
              <a:off x="1483147" y="1405995"/>
              <a:ext cx="5168970" cy="515761"/>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水污染防治技术</a:t>
              </a:r>
              <a:endParaRPr lang="en-US" sz="2800" b="1" dirty="0">
                <a:solidFill>
                  <a:srgbClr val="2C4E8C"/>
                </a:solidFill>
                <a:latin typeface="+mn-ea"/>
                <a:cs typeface="Microsoft Yahei"/>
              </a:endParaRPr>
            </a:p>
          </p:txBody>
        </p:sp>
        <p:grpSp>
          <p:nvGrpSpPr>
            <p:cNvPr id="30" name="组合 29">
              <a:extLst>
                <a:ext uri="{FF2B5EF4-FFF2-40B4-BE49-F238E27FC236}">
                  <a16:creationId xmlns:a16="http://schemas.microsoft.com/office/drawing/2014/main" id="{DA0B3AD9-5E5C-4EF2-A33E-8BD9658D77A4}"/>
                </a:ext>
              </a:extLst>
            </p:cNvPr>
            <p:cNvGrpSpPr/>
            <p:nvPr/>
          </p:nvGrpSpPr>
          <p:grpSpPr>
            <a:xfrm>
              <a:off x="539047" y="1237949"/>
              <a:ext cx="810236" cy="810236"/>
              <a:chOff x="4761432" y="1399458"/>
              <a:chExt cx="810236" cy="810236"/>
            </a:xfrm>
          </p:grpSpPr>
          <p:sp>
            <p:nvSpPr>
              <p:cNvPr id="59" name="AutoShape 13">
                <a:extLst>
                  <a:ext uri="{FF2B5EF4-FFF2-40B4-BE49-F238E27FC236}">
                    <a16:creationId xmlns:a16="http://schemas.microsoft.com/office/drawing/2014/main" id="{A9AE7F02-AD9F-4F9B-B2A3-FE4E4C8623AF}"/>
                  </a:ext>
                </a:extLst>
              </p:cNvPr>
              <p:cNvSpPr/>
              <p:nvPr/>
            </p:nvSpPr>
            <p:spPr>
              <a:xfrm>
                <a:off x="4761432" y="1399458"/>
                <a:ext cx="810236" cy="810236"/>
              </a:xfrm>
              <a:prstGeom prst="ellipse">
                <a:avLst/>
              </a:prstGeom>
              <a:solidFill>
                <a:schemeClr val="accent2">
                  <a:alpha val="100000"/>
                </a:schemeClr>
              </a:solidFill>
              <a:ln/>
            </p:spPr>
          </p:sp>
          <p:sp>
            <p:nvSpPr>
              <p:cNvPr id="62" name="Freeform 16">
                <a:extLst>
                  <a:ext uri="{FF2B5EF4-FFF2-40B4-BE49-F238E27FC236}">
                    <a16:creationId xmlns:a16="http://schemas.microsoft.com/office/drawing/2014/main" id="{5861BB21-10B9-4612-A763-91F143BF09E0}"/>
                  </a:ext>
                </a:extLst>
              </p:cNvPr>
              <p:cNvSpPr/>
              <p:nvPr/>
            </p:nvSpPr>
            <p:spPr>
              <a:xfrm>
                <a:off x="4970715" y="1571267"/>
                <a:ext cx="391670" cy="3916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grpSp>
      </p:grpSp>
      <p:pic>
        <p:nvPicPr>
          <p:cNvPr id="40" name="图片 39">
            <a:extLst>
              <a:ext uri="{FF2B5EF4-FFF2-40B4-BE49-F238E27FC236}">
                <a16:creationId xmlns:a16="http://schemas.microsoft.com/office/drawing/2014/main" id="{32EDB956-2EAA-44A3-8D31-B5C82B5A8600}"/>
              </a:ext>
            </a:extLst>
          </p:cNvPr>
          <p:cNvPicPr>
            <a:picLocks noChangeAspect="1"/>
          </p:cNvPicPr>
          <p:nvPr/>
        </p:nvPicPr>
        <p:blipFill>
          <a:blip r:embed="rId3"/>
          <a:stretch>
            <a:fillRect/>
          </a:stretch>
        </p:blipFill>
        <p:spPr>
          <a:xfrm>
            <a:off x="2314904" y="1413772"/>
            <a:ext cx="8393949" cy="5288605"/>
          </a:xfrm>
          <a:prstGeom prst="rect">
            <a:avLst/>
          </a:prstGeom>
        </p:spPr>
      </p:pic>
    </p:spTree>
    <p:extLst>
      <p:ext uri="{BB962C8B-B14F-4D97-AF65-F5344CB8AC3E}">
        <p14:creationId xmlns:p14="http://schemas.microsoft.com/office/powerpoint/2010/main" val="278780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38" name="Rectangle 14">
            <a:extLst>
              <a:ext uri="{FF2B5EF4-FFF2-40B4-BE49-F238E27FC236}">
                <a16:creationId xmlns:a16="http://schemas.microsoft.com/office/drawing/2014/main" id="{8EDAEB05-D0EC-473A-9AAD-FA257FF87ECD}"/>
              </a:ext>
            </a:extLst>
          </p:cNvPr>
          <p:cNvSpPr>
            <a:spLocks noChangeArrowheads="1"/>
          </p:cNvSpPr>
          <p:nvPr/>
        </p:nvSpPr>
        <p:spPr bwMode="auto">
          <a:xfrm>
            <a:off x="573666" y="1117703"/>
            <a:ext cx="4047903" cy="59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40000"/>
              </a:spcBef>
              <a:buFontTx/>
              <a:buNone/>
            </a:pPr>
            <a:r>
              <a:rPr lang="zh-CN" altLang="en-US" sz="3000" b="1" dirty="0">
                <a:solidFill>
                  <a:srgbClr val="2C4E8C"/>
                </a:solidFill>
                <a:latin typeface="Arial" panose="020B0604020202020204" pitchFamily="34" charset="0"/>
                <a:ea typeface="SimHei" panose="02010609060101010101" pitchFamily="49" charset="-122"/>
              </a:rPr>
              <a:t>饮用水处理的基本方法</a:t>
            </a:r>
          </a:p>
        </p:txBody>
      </p:sp>
      <p:grpSp>
        <p:nvGrpSpPr>
          <p:cNvPr id="52" name="组合 51">
            <a:extLst>
              <a:ext uri="{FF2B5EF4-FFF2-40B4-BE49-F238E27FC236}">
                <a16:creationId xmlns:a16="http://schemas.microsoft.com/office/drawing/2014/main" id="{B1E7A598-7500-4858-8B8F-044F6B4B9BB9}"/>
              </a:ext>
            </a:extLst>
          </p:cNvPr>
          <p:cNvGrpSpPr/>
          <p:nvPr/>
        </p:nvGrpSpPr>
        <p:grpSpPr>
          <a:xfrm>
            <a:off x="1775619" y="2002487"/>
            <a:ext cx="8640762" cy="3700463"/>
            <a:chOff x="198438" y="1924050"/>
            <a:chExt cx="8640762" cy="3700463"/>
          </a:xfrm>
        </p:grpSpPr>
        <p:sp>
          <p:nvSpPr>
            <p:cNvPr id="53" name="Text Box 3">
              <a:extLst>
                <a:ext uri="{FF2B5EF4-FFF2-40B4-BE49-F238E27FC236}">
                  <a16:creationId xmlns:a16="http://schemas.microsoft.com/office/drawing/2014/main" id="{E59DF213-9A06-497D-8D4C-0B19109D45E2}"/>
                </a:ext>
              </a:extLst>
            </p:cNvPr>
            <p:cNvSpPr txBox="1">
              <a:spLocks noChangeArrowheads="1"/>
            </p:cNvSpPr>
            <p:nvPr/>
          </p:nvSpPr>
          <p:spPr bwMode="auto">
            <a:xfrm>
              <a:off x="3581400" y="2889250"/>
              <a:ext cx="1008063" cy="679450"/>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dirty="0">
                  <a:latin typeface="Times New Roman" panose="02020603050405020304" pitchFamily="18" charset="0"/>
                </a:rPr>
                <a:t>预臭氧接触池</a:t>
              </a:r>
            </a:p>
          </p:txBody>
        </p:sp>
        <p:sp>
          <p:nvSpPr>
            <p:cNvPr id="54" name="Text Box 4">
              <a:extLst>
                <a:ext uri="{FF2B5EF4-FFF2-40B4-BE49-F238E27FC236}">
                  <a16:creationId xmlns:a16="http://schemas.microsoft.com/office/drawing/2014/main" id="{4C392BB4-B329-4C81-A7AE-FFC95A328302}"/>
                </a:ext>
              </a:extLst>
            </p:cNvPr>
            <p:cNvSpPr txBox="1">
              <a:spLocks noChangeArrowheads="1"/>
            </p:cNvSpPr>
            <p:nvPr/>
          </p:nvSpPr>
          <p:spPr bwMode="auto">
            <a:xfrm>
              <a:off x="846138" y="3032125"/>
              <a:ext cx="1008062" cy="404813"/>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结合井</a:t>
              </a:r>
            </a:p>
          </p:txBody>
        </p:sp>
        <p:sp>
          <p:nvSpPr>
            <p:cNvPr id="58" name="Text Box 5">
              <a:extLst>
                <a:ext uri="{FF2B5EF4-FFF2-40B4-BE49-F238E27FC236}">
                  <a16:creationId xmlns:a16="http://schemas.microsoft.com/office/drawing/2014/main" id="{94B8E0D9-0DBD-4930-8BA9-94C9DFCE52CC}"/>
                </a:ext>
              </a:extLst>
            </p:cNvPr>
            <p:cNvSpPr txBox="1">
              <a:spLocks noChangeArrowheads="1"/>
            </p:cNvSpPr>
            <p:nvPr/>
          </p:nvSpPr>
          <p:spPr bwMode="auto">
            <a:xfrm>
              <a:off x="2212975" y="3032125"/>
              <a:ext cx="1008063" cy="404813"/>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格栅井</a:t>
              </a:r>
            </a:p>
          </p:txBody>
        </p:sp>
        <p:sp>
          <p:nvSpPr>
            <p:cNvPr id="61" name="Text Box 6">
              <a:extLst>
                <a:ext uri="{FF2B5EF4-FFF2-40B4-BE49-F238E27FC236}">
                  <a16:creationId xmlns:a16="http://schemas.microsoft.com/office/drawing/2014/main" id="{296DFFD1-42DC-43C4-B49C-FDB121570BD3}"/>
                </a:ext>
              </a:extLst>
            </p:cNvPr>
            <p:cNvSpPr txBox="1">
              <a:spLocks noChangeArrowheads="1"/>
            </p:cNvSpPr>
            <p:nvPr/>
          </p:nvSpPr>
          <p:spPr bwMode="auto">
            <a:xfrm>
              <a:off x="4949825" y="3032125"/>
              <a:ext cx="1152525" cy="404813"/>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配水井</a:t>
              </a:r>
            </a:p>
          </p:txBody>
        </p:sp>
        <p:sp>
          <p:nvSpPr>
            <p:cNvPr id="63" name="Text Box 7">
              <a:extLst>
                <a:ext uri="{FF2B5EF4-FFF2-40B4-BE49-F238E27FC236}">
                  <a16:creationId xmlns:a16="http://schemas.microsoft.com/office/drawing/2014/main" id="{DC5591B3-1CCA-4E33-A5CB-6745769BD823}"/>
                </a:ext>
              </a:extLst>
            </p:cNvPr>
            <p:cNvSpPr txBox="1">
              <a:spLocks noChangeArrowheads="1"/>
            </p:cNvSpPr>
            <p:nvPr/>
          </p:nvSpPr>
          <p:spPr bwMode="auto">
            <a:xfrm>
              <a:off x="6462713" y="3032125"/>
              <a:ext cx="1008062" cy="404813"/>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絮凝池</a:t>
              </a:r>
            </a:p>
          </p:txBody>
        </p:sp>
        <p:sp>
          <p:nvSpPr>
            <p:cNvPr id="65" name="Text Box 8">
              <a:extLst>
                <a:ext uri="{FF2B5EF4-FFF2-40B4-BE49-F238E27FC236}">
                  <a16:creationId xmlns:a16="http://schemas.microsoft.com/office/drawing/2014/main" id="{F8ADAA59-92EC-4C7C-A17C-BC94C76EDEF9}"/>
                </a:ext>
              </a:extLst>
            </p:cNvPr>
            <p:cNvSpPr txBox="1">
              <a:spLocks noChangeArrowheads="1"/>
            </p:cNvSpPr>
            <p:nvPr/>
          </p:nvSpPr>
          <p:spPr bwMode="auto">
            <a:xfrm>
              <a:off x="7831138" y="3032125"/>
              <a:ext cx="1008062" cy="404813"/>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沉淀池</a:t>
              </a:r>
            </a:p>
          </p:txBody>
        </p:sp>
        <p:sp>
          <p:nvSpPr>
            <p:cNvPr id="66" name="Text Box 9">
              <a:extLst>
                <a:ext uri="{FF2B5EF4-FFF2-40B4-BE49-F238E27FC236}">
                  <a16:creationId xmlns:a16="http://schemas.microsoft.com/office/drawing/2014/main" id="{EDEAC8B5-F6A6-43EE-AF43-1FD0E471D906}"/>
                </a:ext>
              </a:extLst>
            </p:cNvPr>
            <p:cNvSpPr txBox="1">
              <a:spLocks noChangeArrowheads="1"/>
            </p:cNvSpPr>
            <p:nvPr/>
          </p:nvSpPr>
          <p:spPr bwMode="auto">
            <a:xfrm>
              <a:off x="7831138" y="5075238"/>
              <a:ext cx="1008062" cy="404812"/>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砂滤池</a:t>
              </a:r>
            </a:p>
          </p:txBody>
        </p:sp>
        <p:sp>
          <p:nvSpPr>
            <p:cNvPr id="67" name="Text Box 10">
              <a:extLst>
                <a:ext uri="{FF2B5EF4-FFF2-40B4-BE49-F238E27FC236}">
                  <a16:creationId xmlns:a16="http://schemas.microsoft.com/office/drawing/2014/main" id="{8EB3F070-DFF2-41B6-94DD-86D13B7ED604}"/>
                </a:ext>
              </a:extLst>
            </p:cNvPr>
            <p:cNvSpPr txBox="1">
              <a:spLocks noChangeArrowheads="1"/>
            </p:cNvSpPr>
            <p:nvPr/>
          </p:nvSpPr>
          <p:spPr bwMode="auto">
            <a:xfrm>
              <a:off x="6391275" y="5075238"/>
              <a:ext cx="1152525" cy="404812"/>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提升泵房</a:t>
              </a:r>
            </a:p>
          </p:txBody>
        </p:sp>
        <p:sp>
          <p:nvSpPr>
            <p:cNvPr id="68" name="Text Box 11">
              <a:extLst>
                <a:ext uri="{FF2B5EF4-FFF2-40B4-BE49-F238E27FC236}">
                  <a16:creationId xmlns:a16="http://schemas.microsoft.com/office/drawing/2014/main" id="{9527EAA9-BA4A-4230-830E-4842277CC7D5}"/>
                </a:ext>
              </a:extLst>
            </p:cNvPr>
            <p:cNvSpPr txBox="1">
              <a:spLocks noChangeArrowheads="1"/>
            </p:cNvSpPr>
            <p:nvPr/>
          </p:nvSpPr>
          <p:spPr bwMode="auto">
            <a:xfrm>
              <a:off x="5095875" y="4945063"/>
              <a:ext cx="1008063" cy="679450"/>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后臭氧接触池</a:t>
              </a:r>
            </a:p>
          </p:txBody>
        </p:sp>
        <p:sp>
          <p:nvSpPr>
            <p:cNvPr id="69" name="Text Box 12">
              <a:extLst>
                <a:ext uri="{FF2B5EF4-FFF2-40B4-BE49-F238E27FC236}">
                  <a16:creationId xmlns:a16="http://schemas.microsoft.com/office/drawing/2014/main" id="{8E7E9142-698C-40B8-A201-964F81F143E7}"/>
                </a:ext>
              </a:extLst>
            </p:cNvPr>
            <p:cNvSpPr txBox="1">
              <a:spLocks noChangeArrowheads="1"/>
            </p:cNvSpPr>
            <p:nvPr/>
          </p:nvSpPr>
          <p:spPr bwMode="auto">
            <a:xfrm>
              <a:off x="3727450" y="5075238"/>
              <a:ext cx="1008063" cy="404812"/>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炭滤池</a:t>
              </a:r>
            </a:p>
          </p:txBody>
        </p:sp>
        <p:sp>
          <p:nvSpPr>
            <p:cNvPr id="70" name="Text Box 13">
              <a:extLst>
                <a:ext uri="{FF2B5EF4-FFF2-40B4-BE49-F238E27FC236}">
                  <a16:creationId xmlns:a16="http://schemas.microsoft.com/office/drawing/2014/main" id="{4E600C90-46E1-4185-B669-7834055205E3}"/>
                </a:ext>
              </a:extLst>
            </p:cNvPr>
            <p:cNvSpPr txBox="1">
              <a:spLocks noChangeArrowheads="1"/>
            </p:cNvSpPr>
            <p:nvPr/>
          </p:nvSpPr>
          <p:spPr bwMode="auto">
            <a:xfrm>
              <a:off x="2359025" y="5075238"/>
              <a:ext cx="1008063" cy="404812"/>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清水池</a:t>
              </a:r>
            </a:p>
          </p:txBody>
        </p:sp>
        <p:sp>
          <p:nvSpPr>
            <p:cNvPr id="71" name="Text Box 14">
              <a:extLst>
                <a:ext uri="{FF2B5EF4-FFF2-40B4-BE49-F238E27FC236}">
                  <a16:creationId xmlns:a16="http://schemas.microsoft.com/office/drawing/2014/main" id="{F2492006-55CA-435C-A40D-6B673FCEBE0B}"/>
                </a:ext>
              </a:extLst>
            </p:cNvPr>
            <p:cNvSpPr txBox="1">
              <a:spLocks noChangeArrowheads="1"/>
            </p:cNvSpPr>
            <p:nvPr/>
          </p:nvSpPr>
          <p:spPr bwMode="auto">
            <a:xfrm>
              <a:off x="846138" y="5075238"/>
              <a:ext cx="1152525" cy="404812"/>
            </a:xfrm>
            <a:prstGeom prst="rect">
              <a:avLst/>
            </a:prstGeom>
            <a:solidFill>
              <a:srgbClr val="FFFF99"/>
            </a:solidFill>
            <a:ln w="38100">
              <a:solidFill>
                <a:srgbClr val="FF9900"/>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rPr>
                <a:t>二级泵房</a:t>
              </a:r>
            </a:p>
          </p:txBody>
        </p:sp>
        <p:sp>
          <p:nvSpPr>
            <p:cNvPr id="72" name="Line 15">
              <a:extLst>
                <a:ext uri="{FF2B5EF4-FFF2-40B4-BE49-F238E27FC236}">
                  <a16:creationId xmlns:a16="http://schemas.microsoft.com/office/drawing/2014/main" id="{7BD5C505-16E8-44AF-B44B-07CA421CE414}"/>
                </a:ext>
              </a:extLst>
            </p:cNvPr>
            <p:cNvSpPr>
              <a:spLocks noChangeShapeType="1"/>
            </p:cNvSpPr>
            <p:nvPr/>
          </p:nvSpPr>
          <p:spPr bwMode="auto">
            <a:xfrm>
              <a:off x="269875" y="3248025"/>
              <a:ext cx="5048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73" name="Line 16">
              <a:extLst>
                <a:ext uri="{FF2B5EF4-FFF2-40B4-BE49-F238E27FC236}">
                  <a16:creationId xmlns:a16="http://schemas.microsoft.com/office/drawing/2014/main" id="{5EFC65CA-A946-4F54-836C-97D18D1E7B37}"/>
                </a:ext>
              </a:extLst>
            </p:cNvPr>
            <p:cNvSpPr>
              <a:spLocks noChangeShapeType="1"/>
            </p:cNvSpPr>
            <p:nvPr/>
          </p:nvSpPr>
          <p:spPr bwMode="auto">
            <a:xfrm>
              <a:off x="1892300" y="3248025"/>
              <a:ext cx="2889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74" name="Line 17">
              <a:extLst>
                <a:ext uri="{FF2B5EF4-FFF2-40B4-BE49-F238E27FC236}">
                  <a16:creationId xmlns:a16="http://schemas.microsoft.com/office/drawing/2014/main" id="{05505CAA-D085-4C37-85F5-12B2AA6BDCCD}"/>
                </a:ext>
              </a:extLst>
            </p:cNvPr>
            <p:cNvSpPr>
              <a:spLocks noChangeShapeType="1"/>
            </p:cNvSpPr>
            <p:nvPr/>
          </p:nvSpPr>
          <p:spPr bwMode="auto">
            <a:xfrm>
              <a:off x="3270250" y="3248025"/>
              <a:ext cx="2889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75" name="Line 18">
              <a:extLst>
                <a:ext uri="{FF2B5EF4-FFF2-40B4-BE49-F238E27FC236}">
                  <a16:creationId xmlns:a16="http://schemas.microsoft.com/office/drawing/2014/main" id="{6BE725F7-9540-42FA-A1C2-0F2C5EDAF6FF}"/>
                </a:ext>
              </a:extLst>
            </p:cNvPr>
            <p:cNvSpPr>
              <a:spLocks noChangeShapeType="1"/>
            </p:cNvSpPr>
            <p:nvPr/>
          </p:nvSpPr>
          <p:spPr bwMode="auto">
            <a:xfrm>
              <a:off x="4641850" y="3248025"/>
              <a:ext cx="2889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76" name="Line 19">
              <a:extLst>
                <a:ext uri="{FF2B5EF4-FFF2-40B4-BE49-F238E27FC236}">
                  <a16:creationId xmlns:a16="http://schemas.microsoft.com/office/drawing/2014/main" id="{F2BD9EBB-56DD-4EFD-9970-69C15A897062}"/>
                </a:ext>
              </a:extLst>
            </p:cNvPr>
            <p:cNvSpPr>
              <a:spLocks noChangeShapeType="1"/>
            </p:cNvSpPr>
            <p:nvPr/>
          </p:nvSpPr>
          <p:spPr bwMode="auto">
            <a:xfrm>
              <a:off x="6137275" y="3248025"/>
              <a:ext cx="2889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77" name="Line 20">
              <a:extLst>
                <a:ext uri="{FF2B5EF4-FFF2-40B4-BE49-F238E27FC236}">
                  <a16:creationId xmlns:a16="http://schemas.microsoft.com/office/drawing/2014/main" id="{4A431617-D7A2-48AE-9D59-7AB618109E80}"/>
                </a:ext>
              </a:extLst>
            </p:cNvPr>
            <p:cNvSpPr>
              <a:spLocks noChangeShapeType="1"/>
            </p:cNvSpPr>
            <p:nvPr/>
          </p:nvSpPr>
          <p:spPr bwMode="auto">
            <a:xfrm>
              <a:off x="7518400" y="3248025"/>
              <a:ext cx="2889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78" name="Line 21">
              <a:extLst>
                <a:ext uri="{FF2B5EF4-FFF2-40B4-BE49-F238E27FC236}">
                  <a16:creationId xmlns:a16="http://schemas.microsoft.com/office/drawing/2014/main" id="{52ABCC85-7C48-49A3-9723-47A29F1BD803}"/>
                </a:ext>
              </a:extLst>
            </p:cNvPr>
            <p:cNvSpPr>
              <a:spLocks noChangeShapeType="1"/>
            </p:cNvSpPr>
            <p:nvPr/>
          </p:nvSpPr>
          <p:spPr bwMode="auto">
            <a:xfrm>
              <a:off x="8335963" y="3509963"/>
              <a:ext cx="0" cy="1512887"/>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79" name="Line 22">
              <a:extLst>
                <a:ext uri="{FF2B5EF4-FFF2-40B4-BE49-F238E27FC236}">
                  <a16:creationId xmlns:a16="http://schemas.microsoft.com/office/drawing/2014/main" id="{95869485-A2B2-4792-B3AB-406518690352}"/>
                </a:ext>
              </a:extLst>
            </p:cNvPr>
            <p:cNvSpPr>
              <a:spLocks noChangeShapeType="1"/>
            </p:cNvSpPr>
            <p:nvPr/>
          </p:nvSpPr>
          <p:spPr bwMode="auto">
            <a:xfrm flipH="1">
              <a:off x="7569200" y="5264150"/>
              <a:ext cx="2159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80" name="Line 23">
              <a:extLst>
                <a:ext uri="{FF2B5EF4-FFF2-40B4-BE49-F238E27FC236}">
                  <a16:creationId xmlns:a16="http://schemas.microsoft.com/office/drawing/2014/main" id="{9AA9A8DA-B450-4435-BA36-F515886565AF}"/>
                </a:ext>
              </a:extLst>
            </p:cNvPr>
            <p:cNvSpPr>
              <a:spLocks noChangeShapeType="1"/>
            </p:cNvSpPr>
            <p:nvPr/>
          </p:nvSpPr>
          <p:spPr bwMode="auto">
            <a:xfrm flipH="1">
              <a:off x="6129338" y="5264150"/>
              <a:ext cx="2159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81" name="Line 24">
              <a:extLst>
                <a:ext uri="{FF2B5EF4-FFF2-40B4-BE49-F238E27FC236}">
                  <a16:creationId xmlns:a16="http://schemas.microsoft.com/office/drawing/2014/main" id="{D8C6618E-D06D-449C-8A29-9E88C4264516}"/>
                </a:ext>
              </a:extLst>
            </p:cNvPr>
            <p:cNvSpPr>
              <a:spLocks noChangeShapeType="1"/>
            </p:cNvSpPr>
            <p:nvPr/>
          </p:nvSpPr>
          <p:spPr bwMode="auto">
            <a:xfrm flipH="1">
              <a:off x="4743450" y="5264150"/>
              <a:ext cx="2889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82" name="Line 25">
              <a:extLst>
                <a:ext uri="{FF2B5EF4-FFF2-40B4-BE49-F238E27FC236}">
                  <a16:creationId xmlns:a16="http://schemas.microsoft.com/office/drawing/2014/main" id="{D9DE7696-9BF5-4ADF-99D1-E1068B6C46F7}"/>
                </a:ext>
              </a:extLst>
            </p:cNvPr>
            <p:cNvSpPr>
              <a:spLocks noChangeShapeType="1"/>
            </p:cNvSpPr>
            <p:nvPr/>
          </p:nvSpPr>
          <p:spPr bwMode="auto">
            <a:xfrm flipH="1">
              <a:off x="2011363" y="5264150"/>
              <a:ext cx="2889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83" name="Line 26">
              <a:extLst>
                <a:ext uri="{FF2B5EF4-FFF2-40B4-BE49-F238E27FC236}">
                  <a16:creationId xmlns:a16="http://schemas.microsoft.com/office/drawing/2014/main" id="{9F668664-8DE9-4DE5-BC28-EE8181DFF9D4}"/>
                </a:ext>
              </a:extLst>
            </p:cNvPr>
            <p:cNvSpPr>
              <a:spLocks noChangeShapeType="1"/>
            </p:cNvSpPr>
            <p:nvPr/>
          </p:nvSpPr>
          <p:spPr bwMode="auto">
            <a:xfrm flipH="1">
              <a:off x="3379788" y="5264150"/>
              <a:ext cx="2889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84" name="Line 27">
              <a:extLst>
                <a:ext uri="{FF2B5EF4-FFF2-40B4-BE49-F238E27FC236}">
                  <a16:creationId xmlns:a16="http://schemas.microsoft.com/office/drawing/2014/main" id="{702F5492-426B-47FB-903D-5472983C4CA2}"/>
                </a:ext>
              </a:extLst>
            </p:cNvPr>
            <p:cNvSpPr>
              <a:spLocks noChangeShapeType="1"/>
            </p:cNvSpPr>
            <p:nvPr/>
          </p:nvSpPr>
          <p:spPr bwMode="auto">
            <a:xfrm flipH="1">
              <a:off x="269875" y="5264150"/>
              <a:ext cx="5048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85" name="Text Box 28">
              <a:extLst>
                <a:ext uri="{FF2B5EF4-FFF2-40B4-BE49-F238E27FC236}">
                  <a16:creationId xmlns:a16="http://schemas.microsoft.com/office/drawing/2014/main" id="{BA76ADF8-E519-4A94-A0F8-9D0155F6A1CA}"/>
                </a:ext>
              </a:extLst>
            </p:cNvPr>
            <p:cNvSpPr txBox="1">
              <a:spLocks noChangeArrowheads="1"/>
            </p:cNvSpPr>
            <p:nvPr/>
          </p:nvSpPr>
          <p:spPr bwMode="auto">
            <a:xfrm>
              <a:off x="198438" y="2600325"/>
              <a:ext cx="719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1800" b="1">
                  <a:latin typeface="Times New Roman" panose="02020603050405020304" pitchFamily="18" charset="0"/>
                  <a:ea typeface="华文细黑" panose="02010600040101010101" pitchFamily="2" charset="-122"/>
                </a:rPr>
                <a:t>原水</a:t>
              </a:r>
            </a:p>
          </p:txBody>
        </p:sp>
        <p:sp>
          <p:nvSpPr>
            <p:cNvPr id="86" name="Text Box 29">
              <a:extLst>
                <a:ext uri="{FF2B5EF4-FFF2-40B4-BE49-F238E27FC236}">
                  <a16:creationId xmlns:a16="http://schemas.microsoft.com/office/drawing/2014/main" id="{0390CB12-5D0F-46C1-A766-7525D301028A}"/>
                </a:ext>
              </a:extLst>
            </p:cNvPr>
            <p:cNvSpPr txBox="1">
              <a:spLocks noChangeArrowheads="1"/>
            </p:cNvSpPr>
            <p:nvPr/>
          </p:nvSpPr>
          <p:spPr bwMode="auto">
            <a:xfrm>
              <a:off x="200025" y="4689475"/>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1800" b="1">
                  <a:latin typeface="Times New Roman" panose="02020603050405020304" pitchFamily="18" charset="0"/>
                  <a:ea typeface="华文细黑" panose="02010600040101010101" pitchFamily="2" charset="-122"/>
                </a:rPr>
                <a:t>出厂水</a:t>
              </a:r>
            </a:p>
          </p:txBody>
        </p:sp>
        <p:sp>
          <p:nvSpPr>
            <p:cNvPr id="87" name="Line 30">
              <a:extLst>
                <a:ext uri="{FF2B5EF4-FFF2-40B4-BE49-F238E27FC236}">
                  <a16:creationId xmlns:a16="http://schemas.microsoft.com/office/drawing/2014/main" id="{5D21D847-5D04-4CA0-8798-C27E49CA8F87}"/>
                </a:ext>
              </a:extLst>
            </p:cNvPr>
            <p:cNvSpPr>
              <a:spLocks noChangeShapeType="1"/>
            </p:cNvSpPr>
            <p:nvPr/>
          </p:nvSpPr>
          <p:spPr bwMode="auto">
            <a:xfrm>
              <a:off x="4086225" y="2311400"/>
              <a:ext cx="0" cy="504825"/>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88" name="Text Box 31">
              <a:extLst>
                <a:ext uri="{FF2B5EF4-FFF2-40B4-BE49-F238E27FC236}">
                  <a16:creationId xmlns:a16="http://schemas.microsoft.com/office/drawing/2014/main" id="{7E33B7DE-A8DA-4BDF-824E-E00E765ECF34}"/>
                </a:ext>
              </a:extLst>
            </p:cNvPr>
            <p:cNvSpPr txBox="1">
              <a:spLocks noChangeArrowheads="1"/>
            </p:cNvSpPr>
            <p:nvPr/>
          </p:nvSpPr>
          <p:spPr bwMode="auto">
            <a:xfrm>
              <a:off x="3727450" y="1952625"/>
              <a:ext cx="719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1800" b="1">
                  <a:latin typeface="Times New Roman" panose="02020603050405020304" pitchFamily="18" charset="0"/>
                  <a:ea typeface="华文细黑" panose="02010600040101010101" pitchFamily="2" charset="-122"/>
                </a:rPr>
                <a:t>臭氧</a:t>
              </a:r>
            </a:p>
          </p:txBody>
        </p:sp>
        <p:sp>
          <p:nvSpPr>
            <p:cNvPr id="89" name="Line 32">
              <a:extLst>
                <a:ext uri="{FF2B5EF4-FFF2-40B4-BE49-F238E27FC236}">
                  <a16:creationId xmlns:a16="http://schemas.microsoft.com/office/drawing/2014/main" id="{7E334DE8-FF90-4341-985C-C0A75085D26B}"/>
                </a:ext>
              </a:extLst>
            </p:cNvPr>
            <p:cNvSpPr>
              <a:spLocks noChangeShapeType="1"/>
            </p:cNvSpPr>
            <p:nvPr/>
          </p:nvSpPr>
          <p:spPr bwMode="auto">
            <a:xfrm>
              <a:off x="5429250" y="2305050"/>
              <a:ext cx="0" cy="504825"/>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0" name="Text Box 33">
              <a:extLst>
                <a:ext uri="{FF2B5EF4-FFF2-40B4-BE49-F238E27FC236}">
                  <a16:creationId xmlns:a16="http://schemas.microsoft.com/office/drawing/2014/main" id="{0DE4857D-5CF3-493C-98AE-57BA9B5CB1CF}"/>
                </a:ext>
              </a:extLst>
            </p:cNvPr>
            <p:cNvSpPr txBox="1">
              <a:spLocks noChangeArrowheads="1"/>
            </p:cNvSpPr>
            <p:nvPr/>
          </p:nvSpPr>
          <p:spPr bwMode="auto">
            <a:xfrm>
              <a:off x="5124450" y="1924050"/>
              <a:ext cx="719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1800" b="1">
                  <a:latin typeface="Times New Roman" panose="02020603050405020304" pitchFamily="18" charset="0"/>
                  <a:ea typeface="华文细黑" panose="02010600040101010101" pitchFamily="2" charset="-122"/>
                </a:rPr>
                <a:t>石灰</a:t>
              </a:r>
            </a:p>
          </p:txBody>
        </p:sp>
        <p:sp>
          <p:nvSpPr>
            <p:cNvPr id="91" name="Line 34">
              <a:extLst>
                <a:ext uri="{FF2B5EF4-FFF2-40B4-BE49-F238E27FC236}">
                  <a16:creationId xmlns:a16="http://schemas.microsoft.com/office/drawing/2014/main" id="{9C0E32A8-CA39-40BE-9AC9-9040597A0ED3}"/>
                </a:ext>
              </a:extLst>
            </p:cNvPr>
            <p:cNvSpPr>
              <a:spLocks noChangeShapeType="1"/>
            </p:cNvSpPr>
            <p:nvPr/>
          </p:nvSpPr>
          <p:spPr bwMode="auto">
            <a:xfrm>
              <a:off x="6343650" y="2305050"/>
              <a:ext cx="0" cy="504825"/>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2" name="Text Box 35">
              <a:extLst>
                <a:ext uri="{FF2B5EF4-FFF2-40B4-BE49-F238E27FC236}">
                  <a16:creationId xmlns:a16="http://schemas.microsoft.com/office/drawing/2014/main" id="{08E98D13-8E7A-4513-99D0-CE5CC857C4EE}"/>
                </a:ext>
              </a:extLst>
            </p:cNvPr>
            <p:cNvSpPr txBox="1">
              <a:spLocks noChangeArrowheads="1"/>
            </p:cNvSpPr>
            <p:nvPr/>
          </p:nvSpPr>
          <p:spPr bwMode="auto">
            <a:xfrm>
              <a:off x="5962650" y="1924050"/>
              <a:ext cx="10080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1800" b="1">
                  <a:latin typeface="Times New Roman" panose="02020603050405020304" pitchFamily="18" charset="0"/>
                  <a:ea typeface="华文细黑" panose="02010600040101010101" pitchFamily="2" charset="-122"/>
                </a:rPr>
                <a:t>絮凝剂</a:t>
              </a:r>
            </a:p>
          </p:txBody>
        </p:sp>
        <p:sp>
          <p:nvSpPr>
            <p:cNvPr id="93" name="Line 36">
              <a:extLst>
                <a:ext uri="{FF2B5EF4-FFF2-40B4-BE49-F238E27FC236}">
                  <a16:creationId xmlns:a16="http://schemas.microsoft.com/office/drawing/2014/main" id="{3EC03E83-821F-4CF7-8F38-138DB9D8B9DA}"/>
                </a:ext>
              </a:extLst>
            </p:cNvPr>
            <p:cNvSpPr>
              <a:spLocks noChangeShapeType="1"/>
            </p:cNvSpPr>
            <p:nvPr/>
          </p:nvSpPr>
          <p:spPr bwMode="auto">
            <a:xfrm>
              <a:off x="3600450" y="4438650"/>
              <a:ext cx="0" cy="504825"/>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4" name="Text Box 37">
              <a:extLst>
                <a:ext uri="{FF2B5EF4-FFF2-40B4-BE49-F238E27FC236}">
                  <a16:creationId xmlns:a16="http://schemas.microsoft.com/office/drawing/2014/main" id="{8D377AB3-EDC3-4D9F-A4CD-44D272E5D567}"/>
                </a:ext>
              </a:extLst>
            </p:cNvPr>
            <p:cNvSpPr txBox="1">
              <a:spLocks noChangeArrowheads="1"/>
            </p:cNvSpPr>
            <p:nvPr/>
          </p:nvSpPr>
          <p:spPr bwMode="auto">
            <a:xfrm>
              <a:off x="3222625" y="3968750"/>
              <a:ext cx="719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ea typeface="华文细黑" panose="02010600040101010101" pitchFamily="2" charset="-122"/>
                </a:rPr>
                <a:t>氯</a:t>
              </a:r>
            </a:p>
          </p:txBody>
        </p:sp>
        <p:sp>
          <p:nvSpPr>
            <p:cNvPr id="95" name="Line 38">
              <a:extLst>
                <a:ext uri="{FF2B5EF4-FFF2-40B4-BE49-F238E27FC236}">
                  <a16:creationId xmlns:a16="http://schemas.microsoft.com/office/drawing/2014/main" id="{4C33D64E-FC7E-4EF1-890A-7264D0410144}"/>
                </a:ext>
              </a:extLst>
            </p:cNvPr>
            <p:cNvSpPr>
              <a:spLocks noChangeShapeType="1"/>
            </p:cNvSpPr>
            <p:nvPr/>
          </p:nvSpPr>
          <p:spPr bwMode="auto">
            <a:xfrm>
              <a:off x="2228850" y="4438650"/>
              <a:ext cx="0" cy="504825"/>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6" name="Text Box 39">
              <a:extLst>
                <a:ext uri="{FF2B5EF4-FFF2-40B4-BE49-F238E27FC236}">
                  <a16:creationId xmlns:a16="http://schemas.microsoft.com/office/drawing/2014/main" id="{25EDEB3E-607F-4A0C-8C69-538848806586}"/>
                </a:ext>
              </a:extLst>
            </p:cNvPr>
            <p:cNvSpPr txBox="1">
              <a:spLocks noChangeArrowheads="1"/>
            </p:cNvSpPr>
            <p:nvPr/>
          </p:nvSpPr>
          <p:spPr bwMode="auto">
            <a:xfrm>
              <a:off x="1855788" y="3968750"/>
              <a:ext cx="719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lang="zh-CN" altLang="en-US" sz="1800" b="1">
                  <a:latin typeface="Times New Roman" panose="02020603050405020304" pitchFamily="18" charset="0"/>
                  <a:ea typeface="华文细黑" panose="02010600040101010101" pitchFamily="2" charset="-122"/>
                </a:rPr>
                <a:t>氯</a:t>
              </a:r>
            </a:p>
          </p:txBody>
        </p:sp>
        <p:sp>
          <p:nvSpPr>
            <p:cNvPr id="97" name="Line 40">
              <a:extLst>
                <a:ext uri="{FF2B5EF4-FFF2-40B4-BE49-F238E27FC236}">
                  <a16:creationId xmlns:a16="http://schemas.microsoft.com/office/drawing/2014/main" id="{F483182E-D9A1-4B8D-8FEA-8AF38957BB82}"/>
                </a:ext>
              </a:extLst>
            </p:cNvPr>
            <p:cNvSpPr>
              <a:spLocks noChangeShapeType="1"/>
            </p:cNvSpPr>
            <p:nvPr/>
          </p:nvSpPr>
          <p:spPr bwMode="auto">
            <a:xfrm>
              <a:off x="5505450" y="4362450"/>
              <a:ext cx="0" cy="504825"/>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8" name="Text Box 41">
              <a:extLst>
                <a:ext uri="{FF2B5EF4-FFF2-40B4-BE49-F238E27FC236}">
                  <a16:creationId xmlns:a16="http://schemas.microsoft.com/office/drawing/2014/main" id="{E02AED4A-777A-425B-B71D-A5CC3B09A2FA}"/>
                </a:ext>
              </a:extLst>
            </p:cNvPr>
            <p:cNvSpPr txBox="1">
              <a:spLocks noChangeArrowheads="1"/>
            </p:cNvSpPr>
            <p:nvPr/>
          </p:nvSpPr>
          <p:spPr bwMode="auto">
            <a:xfrm>
              <a:off x="5167313" y="3968750"/>
              <a:ext cx="719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1800" b="1">
                  <a:latin typeface="Times New Roman" panose="02020603050405020304" pitchFamily="18" charset="0"/>
                  <a:ea typeface="华文细黑" panose="02010600040101010101" pitchFamily="2" charset="-122"/>
                </a:rPr>
                <a:t>臭氧</a:t>
              </a:r>
            </a:p>
          </p:txBody>
        </p:sp>
      </p:grpSp>
      <p:sp>
        <p:nvSpPr>
          <p:cNvPr id="99" name="Text Box 55">
            <a:extLst>
              <a:ext uri="{FF2B5EF4-FFF2-40B4-BE49-F238E27FC236}">
                <a16:creationId xmlns:a16="http://schemas.microsoft.com/office/drawing/2014/main" id="{3328F1F8-0853-4763-9356-4EA5D8ACEF2F}"/>
              </a:ext>
            </a:extLst>
          </p:cNvPr>
          <p:cNvSpPr txBox="1">
            <a:spLocks noChangeArrowheads="1"/>
          </p:cNvSpPr>
          <p:nvPr/>
        </p:nvSpPr>
        <p:spPr bwMode="auto">
          <a:xfrm>
            <a:off x="1893093" y="6171367"/>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med"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400" b="1" dirty="0">
                <a:solidFill>
                  <a:srgbClr val="2C4E8C"/>
                </a:solidFill>
                <a:latin typeface="+mn-ea"/>
                <a:ea typeface="+mn-ea"/>
              </a:rPr>
              <a:t>饮用水处理流程示意图</a:t>
            </a:r>
          </a:p>
        </p:txBody>
      </p:sp>
    </p:spTree>
    <p:extLst>
      <p:ext uri="{BB962C8B-B14F-4D97-AF65-F5344CB8AC3E}">
        <p14:creationId xmlns:p14="http://schemas.microsoft.com/office/powerpoint/2010/main" val="560805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38" name="Rectangle 14">
            <a:extLst>
              <a:ext uri="{FF2B5EF4-FFF2-40B4-BE49-F238E27FC236}">
                <a16:creationId xmlns:a16="http://schemas.microsoft.com/office/drawing/2014/main" id="{8EDAEB05-D0EC-473A-9AAD-FA257FF87ECD}"/>
              </a:ext>
            </a:extLst>
          </p:cNvPr>
          <p:cNvSpPr>
            <a:spLocks noChangeArrowheads="1"/>
          </p:cNvSpPr>
          <p:nvPr/>
        </p:nvSpPr>
        <p:spPr bwMode="auto">
          <a:xfrm>
            <a:off x="573666" y="1117703"/>
            <a:ext cx="3660775"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40000"/>
              </a:spcBef>
              <a:buFontTx/>
              <a:buNone/>
            </a:pPr>
            <a:r>
              <a:rPr lang="zh-CN" altLang="en-US" sz="3000" b="1" dirty="0">
                <a:solidFill>
                  <a:srgbClr val="2C4E8C"/>
                </a:solidFill>
                <a:latin typeface="Arial" panose="020B0604020202020204" pitchFamily="34" charset="0"/>
                <a:ea typeface="SimHei" panose="02010609060101010101" pitchFamily="49" charset="-122"/>
              </a:rPr>
              <a:t>污水处理的基本方法</a:t>
            </a:r>
          </a:p>
        </p:txBody>
      </p:sp>
      <p:sp>
        <p:nvSpPr>
          <p:cNvPr id="39" name="Rectangle 2">
            <a:extLst>
              <a:ext uri="{FF2B5EF4-FFF2-40B4-BE49-F238E27FC236}">
                <a16:creationId xmlns:a16="http://schemas.microsoft.com/office/drawing/2014/main" id="{E50BD61C-855E-40C0-BB04-B81A250F8DC6}"/>
              </a:ext>
            </a:extLst>
          </p:cNvPr>
          <p:cNvSpPr txBox="1">
            <a:spLocks noChangeArrowheads="1"/>
          </p:cNvSpPr>
          <p:nvPr/>
        </p:nvSpPr>
        <p:spPr bwMode="auto">
          <a:xfrm>
            <a:off x="3994746" y="6213671"/>
            <a:ext cx="3840656" cy="54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20000"/>
              </a:lnSpc>
              <a:spcBef>
                <a:spcPct val="40000"/>
              </a:spcBef>
              <a:buFont typeface="Wingdings" panose="05000000000000000000" pitchFamily="2" charset="2"/>
              <a:buNone/>
            </a:pPr>
            <a:r>
              <a:rPr lang="zh-CN" altLang="en-US" sz="2800" b="1" dirty="0">
                <a:solidFill>
                  <a:srgbClr val="800000"/>
                </a:solidFill>
                <a:latin typeface="SimHei" panose="02010609060101010101" pitchFamily="49" charset="-122"/>
                <a:ea typeface="SimHei" panose="02010609060101010101" pitchFamily="49" charset="-122"/>
              </a:rPr>
              <a:t>  </a:t>
            </a:r>
            <a:r>
              <a:rPr kumimoji="1" lang="zh-CN" altLang="en-US" sz="2400" b="1" dirty="0">
                <a:solidFill>
                  <a:srgbClr val="2C4E8C"/>
                </a:solidFill>
                <a:latin typeface="+mn-ea"/>
                <a:ea typeface="+mn-ea"/>
              </a:rPr>
              <a:t>城市污水处理的分级</a:t>
            </a:r>
          </a:p>
        </p:txBody>
      </p:sp>
      <p:grpSp>
        <p:nvGrpSpPr>
          <p:cNvPr id="31" name="组合 30">
            <a:extLst>
              <a:ext uri="{FF2B5EF4-FFF2-40B4-BE49-F238E27FC236}">
                <a16:creationId xmlns:a16="http://schemas.microsoft.com/office/drawing/2014/main" id="{3BABA91C-CC25-4990-B300-8C125B44A4E7}"/>
              </a:ext>
            </a:extLst>
          </p:cNvPr>
          <p:cNvGrpSpPr/>
          <p:nvPr/>
        </p:nvGrpSpPr>
        <p:grpSpPr>
          <a:xfrm>
            <a:off x="1777964" y="2187184"/>
            <a:ext cx="8291514" cy="4108450"/>
            <a:chOff x="1981200" y="2416175"/>
            <a:chExt cx="8291514" cy="4108450"/>
          </a:xfrm>
        </p:grpSpPr>
        <p:sp>
          <p:nvSpPr>
            <p:cNvPr id="40" name="AutoShape 3">
              <a:extLst>
                <a:ext uri="{FF2B5EF4-FFF2-40B4-BE49-F238E27FC236}">
                  <a16:creationId xmlns:a16="http://schemas.microsoft.com/office/drawing/2014/main" id="{9BAD8FD6-4B60-4BD7-AC19-CD27847C89CC}"/>
                </a:ext>
              </a:extLst>
            </p:cNvPr>
            <p:cNvSpPr>
              <a:spLocks noChangeArrowheads="1"/>
            </p:cNvSpPr>
            <p:nvPr/>
          </p:nvSpPr>
          <p:spPr bwMode="auto">
            <a:xfrm>
              <a:off x="2362200" y="2416175"/>
              <a:ext cx="1600200" cy="685800"/>
            </a:xfrm>
            <a:prstGeom prst="flowChartAlternateProcess">
              <a:avLst/>
            </a:prstGeom>
            <a:gradFill rotWithShape="1">
              <a:gsLst>
                <a:gs pos="0">
                  <a:srgbClr val="1A6870"/>
                </a:gs>
                <a:gs pos="50000">
                  <a:srgbClr val="39E1F3"/>
                </a:gs>
                <a:gs pos="100000">
                  <a:srgbClr val="1A6870"/>
                </a:gs>
              </a:gsLst>
              <a:lin ang="2700000" scaled="1"/>
            </a:gradFill>
            <a:ln w="317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2800">
                  <a:solidFill>
                    <a:srgbClr val="000000"/>
                  </a:solidFill>
                  <a:latin typeface="Times New Roman" panose="02020603050405020304" pitchFamily="18" charset="0"/>
                  <a:ea typeface="SimHei" panose="02010609060101010101" pitchFamily="49" charset="-122"/>
                </a:rPr>
                <a:t>一级处理</a:t>
              </a:r>
            </a:p>
          </p:txBody>
        </p:sp>
        <p:sp>
          <p:nvSpPr>
            <p:cNvPr id="41" name="AutoShape 4">
              <a:extLst>
                <a:ext uri="{FF2B5EF4-FFF2-40B4-BE49-F238E27FC236}">
                  <a16:creationId xmlns:a16="http://schemas.microsoft.com/office/drawing/2014/main" id="{3ED9D558-F0E5-48F2-9AD7-281DAEB85253}"/>
                </a:ext>
              </a:extLst>
            </p:cNvPr>
            <p:cNvSpPr>
              <a:spLocks noChangeArrowheads="1"/>
            </p:cNvSpPr>
            <p:nvPr/>
          </p:nvSpPr>
          <p:spPr bwMode="auto">
            <a:xfrm>
              <a:off x="4953000" y="2416175"/>
              <a:ext cx="1600200" cy="685800"/>
            </a:xfrm>
            <a:prstGeom prst="flowChartAlternateProcess">
              <a:avLst/>
            </a:prstGeom>
            <a:gradFill rotWithShape="0">
              <a:gsLst>
                <a:gs pos="0">
                  <a:srgbClr val="1A6870"/>
                </a:gs>
                <a:gs pos="50000">
                  <a:srgbClr val="39E1F3"/>
                </a:gs>
                <a:gs pos="100000">
                  <a:srgbClr val="1A6870"/>
                </a:gs>
              </a:gsLst>
              <a:lin ang="2700000" scaled="1"/>
            </a:gradFill>
            <a:ln w="317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2800">
                  <a:solidFill>
                    <a:srgbClr val="000000"/>
                  </a:solidFill>
                  <a:latin typeface="Times New Roman" panose="02020603050405020304" pitchFamily="18" charset="0"/>
                  <a:ea typeface="SimHei" panose="02010609060101010101" pitchFamily="49" charset="-122"/>
                </a:rPr>
                <a:t>二级处理</a:t>
              </a:r>
            </a:p>
          </p:txBody>
        </p:sp>
        <p:sp>
          <p:nvSpPr>
            <p:cNvPr id="42" name="AutoShape 5">
              <a:extLst>
                <a:ext uri="{FF2B5EF4-FFF2-40B4-BE49-F238E27FC236}">
                  <a16:creationId xmlns:a16="http://schemas.microsoft.com/office/drawing/2014/main" id="{4A2E38C1-397D-42EC-A3D4-9C09078AE081}"/>
                </a:ext>
              </a:extLst>
            </p:cNvPr>
            <p:cNvSpPr>
              <a:spLocks noChangeArrowheads="1"/>
            </p:cNvSpPr>
            <p:nvPr/>
          </p:nvSpPr>
          <p:spPr bwMode="auto">
            <a:xfrm>
              <a:off x="7848600" y="2416175"/>
              <a:ext cx="1600200" cy="685800"/>
            </a:xfrm>
            <a:prstGeom prst="flowChartAlternateProcess">
              <a:avLst/>
            </a:prstGeom>
            <a:gradFill rotWithShape="0">
              <a:gsLst>
                <a:gs pos="0">
                  <a:srgbClr val="1A6870"/>
                </a:gs>
                <a:gs pos="50000">
                  <a:srgbClr val="39E1F3"/>
                </a:gs>
                <a:gs pos="100000">
                  <a:srgbClr val="1A6870"/>
                </a:gs>
              </a:gsLst>
              <a:lin ang="2700000" scaled="1"/>
            </a:gradFill>
            <a:ln w="317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2800">
                  <a:solidFill>
                    <a:srgbClr val="000000"/>
                  </a:solidFill>
                  <a:latin typeface="Times New Roman" panose="02020603050405020304" pitchFamily="18" charset="0"/>
                  <a:ea typeface="SimHei" panose="02010609060101010101" pitchFamily="49" charset="-122"/>
                </a:rPr>
                <a:t>三级处理</a:t>
              </a:r>
            </a:p>
          </p:txBody>
        </p:sp>
        <p:sp>
          <p:nvSpPr>
            <p:cNvPr id="43" name="AutoShape 6">
              <a:extLst>
                <a:ext uri="{FF2B5EF4-FFF2-40B4-BE49-F238E27FC236}">
                  <a16:creationId xmlns:a16="http://schemas.microsoft.com/office/drawing/2014/main" id="{27883C2A-571D-49B7-914E-BCE3A45C5C4D}"/>
                </a:ext>
              </a:extLst>
            </p:cNvPr>
            <p:cNvSpPr>
              <a:spLocks noChangeArrowheads="1"/>
            </p:cNvSpPr>
            <p:nvPr/>
          </p:nvSpPr>
          <p:spPr bwMode="auto">
            <a:xfrm rot="5400000">
              <a:off x="2895600" y="3330575"/>
              <a:ext cx="533400" cy="533400"/>
            </a:xfrm>
            <a:prstGeom prst="notchedRightArrow">
              <a:avLst>
                <a:gd name="adj1" fmla="val 50000"/>
                <a:gd name="adj2" fmla="val 25000"/>
              </a:avLst>
            </a:prstGeom>
            <a:solidFill>
              <a:srgbClr val="93E3FF"/>
            </a:solidFill>
            <a:ln w="31750">
              <a:solidFill>
                <a:schemeClr val="bg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44" name="AutoShape 7">
              <a:extLst>
                <a:ext uri="{FF2B5EF4-FFF2-40B4-BE49-F238E27FC236}">
                  <a16:creationId xmlns:a16="http://schemas.microsoft.com/office/drawing/2014/main" id="{60555C98-1F4B-43F5-9E4D-0835C2DBA17B}"/>
                </a:ext>
              </a:extLst>
            </p:cNvPr>
            <p:cNvSpPr>
              <a:spLocks noChangeArrowheads="1"/>
            </p:cNvSpPr>
            <p:nvPr/>
          </p:nvSpPr>
          <p:spPr bwMode="auto">
            <a:xfrm>
              <a:off x="1981200" y="4016375"/>
              <a:ext cx="2362200" cy="2508250"/>
            </a:xfrm>
            <a:prstGeom prst="flowChartDocument">
              <a:avLst/>
            </a:prstGeom>
            <a:gradFill rotWithShape="0">
              <a:gsLst>
                <a:gs pos="0">
                  <a:srgbClr val="5E9EFF"/>
                </a:gs>
                <a:gs pos="39999">
                  <a:srgbClr val="85C2FF"/>
                </a:gs>
                <a:gs pos="70000">
                  <a:srgbClr val="C4D6EB"/>
                </a:gs>
                <a:gs pos="100000">
                  <a:srgbClr val="FFEBFA"/>
                </a:gs>
              </a:gsLst>
              <a:lin ang="5400000" scaled="1"/>
            </a:gradFill>
            <a:ln w="317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25000"/>
                </a:lnSpc>
                <a:spcBef>
                  <a:spcPct val="0"/>
                </a:spcBef>
                <a:buFontTx/>
                <a:buNone/>
              </a:pPr>
              <a:endPar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endParaRPr>
            </a:p>
            <a:p>
              <a:pPr algn="just" eaLnBrk="1" hangingPunct="1">
                <a:lnSpc>
                  <a:spcPct val="125000"/>
                </a:lnSpc>
                <a:spcBef>
                  <a:spcPct val="0"/>
                </a:spcBef>
                <a:buFontTx/>
                <a:buNone/>
              </a:pPr>
              <a:endPar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endParaRPr>
            </a:p>
            <a:p>
              <a:pPr algn="just" eaLnBrk="1" hangingPunct="1">
                <a:lnSpc>
                  <a:spcPct val="125000"/>
                </a:lnSpc>
                <a:spcBef>
                  <a:spcPct val="0"/>
                </a:spcBef>
                <a:buFontTx/>
                <a:buNone/>
              </a:pPr>
              <a:r>
                <a:rPr kumimoji="1" lang="zh-CN" altLang="en-US"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去除沉淀性</a:t>
              </a:r>
            </a:p>
            <a:p>
              <a:pPr algn="just" eaLnBrk="1" hangingPunct="1">
                <a:lnSpc>
                  <a:spcPct val="125000"/>
                </a:lnSpc>
                <a:spcBef>
                  <a:spcPct val="0"/>
                </a:spcBef>
                <a:buFontTx/>
                <a:buNone/>
              </a:pPr>
              <a:r>
                <a:rPr kumimoji="1" lang="zh-CN" altLang="en-US"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物质及油脂等</a:t>
              </a:r>
            </a:p>
            <a:p>
              <a:pPr algn="just" eaLnBrk="1" hangingPunct="1">
                <a:spcBef>
                  <a:spcPct val="0"/>
                </a:spcBef>
                <a:buFontTx/>
                <a:buNone/>
              </a:pPr>
              <a:r>
                <a:rPr kumimoji="1" lang="zh-CN" altLang="en-US"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sym typeface="Symbol" panose="05050102010706020507" pitchFamily="18" charset="2"/>
                </a:rPr>
                <a:t></a:t>
              </a:r>
              <a:r>
                <a:rPr kumimoji="1" lang="en-US" altLang="zh-CN" sz="2400" b="1" baseline="-25000">
                  <a:solidFill>
                    <a:srgbClr val="000000"/>
                  </a:solidFill>
                  <a:latin typeface="Times New Roman" panose="02020603050405020304" pitchFamily="18" charset="0"/>
                  <a:ea typeface="SimHei" panose="02010609060101010101" pitchFamily="49" charset="-122"/>
                  <a:cs typeface="Times New Roman" panose="02020603050405020304" pitchFamily="18" charset="0"/>
                </a:rPr>
                <a:t>SS</a:t>
              </a:r>
              <a:r>
                <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 40%</a:t>
              </a:r>
            </a:p>
            <a:p>
              <a:pPr algn="just" eaLnBrk="1" hangingPunct="1">
                <a:lnSpc>
                  <a:spcPct val="125000"/>
                </a:lnSpc>
                <a:spcBef>
                  <a:spcPct val="0"/>
                </a:spcBef>
                <a:buFontTx/>
                <a:buNone/>
              </a:pPr>
              <a:r>
                <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sym typeface="Symbol" panose="05050102010706020507" pitchFamily="18" charset="2"/>
                </a:rPr>
                <a:t></a:t>
              </a:r>
              <a:r>
                <a:rPr kumimoji="1" lang="en-US" altLang="zh-CN" sz="2400" b="1" baseline="-25000">
                  <a:solidFill>
                    <a:srgbClr val="000000"/>
                  </a:solidFill>
                  <a:latin typeface="Times New Roman" panose="02020603050405020304" pitchFamily="18" charset="0"/>
                  <a:ea typeface="SimHei" panose="02010609060101010101" pitchFamily="49" charset="-122"/>
                  <a:cs typeface="Times New Roman" panose="02020603050405020304" pitchFamily="18" charset="0"/>
                </a:rPr>
                <a:t>BOD5</a:t>
              </a:r>
              <a:r>
                <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 30%</a:t>
              </a:r>
            </a:p>
            <a:p>
              <a:pPr algn="just" eaLnBrk="1" hangingPunct="1">
                <a:lnSpc>
                  <a:spcPct val="125000"/>
                </a:lnSpc>
                <a:spcBef>
                  <a:spcPct val="0"/>
                </a:spcBef>
                <a:buFontTx/>
                <a:buNone/>
              </a:pPr>
              <a:endPar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45" name="AutoShape 8">
              <a:extLst>
                <a:ext uri="{FF2B5EF4-FFF2-40B4-BE49-F238E27FC236}">
                  <a16:creationId xmlns:a16="http://schemas.microsoft.com/office/drawing/2014/main" id="{8D1E9E57-B2CC-4CF1-ADFC-A2775430C20F}"/>
                </a:ext>
              </a:extLst>
            </p:cNvPr>
            <p:cNvSpPr>
              <a:spLocks noChangeArrowheads="1"/>
            </p:cNvSpPr>
            <p:nvPr/>
          </p:nvSpPr>
          <p:spPr bwMode="auto">
            <a:xfrm rot="5400000">
              <a:off x="5486400" y="3330575"/>
              <a:ext cx="533400" cy="533400"/>
            </a:xfrm>
            <a:prstGeom prst="notchedRightArrow">
              <a:avLst>
                <a:gd name="adj1" fmla="val 50000"/>
                <a:gd name="adj2" fmla="val 25000"/>
              </a:avLst>
            </a:prstGeom>
            <a:solidFill>
              <a:srgbClr val="93E3FF"/>
            </a:solidFill>
            <a:ln w="31750">
              <a:solidFill>
                <a:schemeClr val="bg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46" name="AutoShape 9">
              <a:extLst>
                <a:ext uri="{FF2B5EF4-FFF2-40B4-BE49-F238E27FC236}">
                  <a16:creationId xmlns:a16="http://schemas.microsoft.com/office/drawing/2014/main" id="{970EF8DB-E01A-484E-962C-024B0C7154BE}"/>
                </a:ext>
              </a:extLst>
            </p:cNvPr>
            <p:cNvSpPr>
              <a:spLocks noChangeArrowheads="1"/>
            </p:cNvSpPr>
            <p:nvPr/>
          </p:nvSpPr>
          <p:spPr bwMode="auto">
            <a:xfrm>
              <a:off x="4572000" y="4016375"/>
              <a:ext cx="2362200" cy="2292350"/>
            </a:xfrm>
            <a:prstGeom prst="flowChartDocument">
              <a:avLst/>
            </a:prstGeom>
            <a:gradFill rotWithShape="0">
              <a:gsLst>
                <a:gs pos="0">
                  <a:srgbClr val="5E9EFF"/>
                </a:gs>
                <a:gs pos="39999">
                  <a:srgbClr val="85C2FF"/>
                </a:gs>
                <a:gs pos="70000">
                  <a:srgbClr val="C4D6EB"/>
                </a:gs>
                <a:gs pos="100000">
                  <a:srgbClr val="FFEBFA"/>
                </a:gs>
              </a:gsLst>
              <a:lin ang="5400000" scaled="1"/>
            </a:gradFill>
            <a:ln w="317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去除有机物</a:t>
              </a:r>
            </a:p>
            <a:p>
              <a:pPr eaLnBrk="1" hangingPunct="1">
                <a:spcBef>
                  <a:spcPct val="0"/>
                </a:spcBef>
                <a:buFontTx/>
                <a:buNone/>
              </a:pPr>
              <a:r>
                <a:rPr kumimoji="1" lang="zh-CN" altLang="en-US"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sym typeface="Symbol" panose="05050102010706020507" pitchFamily="18" charset="2"/>
                </a:rPr>
                <a:t></a:t>
              </a:r>
              <a:r>
                <a:rPr kumimoji="1" lang="en-US" altLang="zh-CN" sz="2400" b="1" baseline="-25000">
                  <a:solidFill>
                    <a:srgbClr val="000000"/>
                  </a:solidFill>
                  <a:latin typeface="Times New Roman" panose="02020603050405020304" pitchFamily="18" charset="0"/>
                  <a:ea typeface="SimHei" panose="02010609060101010101" pitchFamily="49" charset="-122"/>
                  <a:cs typeface="Times New Roman" panose="02020603050405020304" pitchFamily="18" charset="0"/>
                </a:rPr>
                <a:t>SS</a:t>
              </a:r>
              <a:r>
                <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 90%</a:t>
              </a:r>
            </a:p>
            <a:p>
              <a:pPr eaLnBrk="1" hangingPunct="1">
                <a:spcBef>
                  <a:spcPct val="0"/>
                </a:spcBef>
                <a:buFontTx/>
                <a:buNone/>
              </a:pPr>
              <a:r>
                <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sym typeface="Symbol" panose="05050102010706020507" pitchFamily="18" charset="2"/>
                </a:rPr>
                <a:t></a:t>
              </a:r>
              <a:r>
                <a:rPr kumimoji="1" lang="en-US" altLang="zh-CN" sz="2400" b="1" baseline="-25000">
                  <a:solidFill>
                    <a:srgbClr val="000000"/>
                  </a:solidFill>
                  <a:latin typeface="Times New Roman" panose="02020603050405020304" pitchFamily="18" charset="0"/>
                  <a:ea typeface="SimHei" panose="02010609060101010101" pitchFamily="49" charset="-122"/>
                  <a:cs typeface="Times New Roman" panose="02020603050405020304" pitchFamily="18" charset="0"/>
                </a:rPr>
                <a:t>BOD5</a:t>
              </a:r>
              <a:r>
                <a:rPr kumimoji="1" lang="en-US" altLang="zh-CN"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 90%</a:t>
              </a:r>
            </a:p>
          </p:txBody>
        </p:sp>
        <p:sp>
          <p:nvSpPr>
            <p:cNvPr id="47" name="AutoShape 10">
              <a:extLst>
                <a:ext uri="{FF2B5EF4-FFF2-40B4-BE49-F238E27FC236}">
                  <a16:creationId xmlns:a16="http://schemas.microsoft.com/office/drawing/2014/main" id="{42765E58-E549-4F05-932B-809991BEC832}"/>
                </a:ext>
              </a:extLst>
            </p:cNvPr>
            <p:cNvSpPr>
              <a:spLocks noChangeArrowheads="1"/>
            </p:cNvSpPr>
            <p:nvPr/>
          </p:nvSpPr>
          <p:spPr bwMode="auto">
            <a:xfrm rot="5400000">
              <a:off x="8382000" y="3330575"/>
              <a:ext cx="533400" cy="533400"/>
            </a:xfrm>
            <a:prstGeom prst="notchedRightArrow">
              <a:avLst>
                <a:gd name="adj1" fmla="val 50000"/>
                <a:gd name="adj2" fmla="val 25000"/>
              </a:avLst>
            </a:prstGeom>
            <a:solidFill>
              <a:srgbClr val="93E3FF"/>
            </a:solidFill>
            <a:ln w="31750">
              <a:solidFill>
                <a:schemeClr val="bg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48" name="AutoShape 11">
              <a:extLst>
                <a:ext uri="{FF2B5EF4-FFF2-40B4-BE49-F238E27FC236}">
                  <a16:creationId xmlns:a16="http://schemas.microsoft.com/office/drawing/2014/main" id="{D94BEFF9-4F3F-4CDE-8A47-5A2656294592}"/>
                </a:ext>
              </a:extLst>
            </p:cNvPr>
            <p:cNvSpPr>
              <a:spLocks noChangeArrowheads="1"/>
            </p:cNvSpPr>
            <p:nvPr/>
          </p:nvSpPr>
          <p:spPr bwMode="auto">
            <a:xfrm>
              <a:off x="7315201" y="4016375"/>
              <a:ext cx="2957513" cy="2363788"/>
            </a:xfrm>
            <a:prstGeom prst="flowChartDocument">
              <a:avLst/>
            </a:prstGeom>
            <a:gradFill rotWithShape="0">
              <a:gsLst>
                <a:gs pos="0">
                  <a:srgbClr val="5E9EFF"/>
                </a:gs>
                <a:gs pos="39999">
                  <a:srgbClr val="85C2FF"/>
                </a:gs>
                <a:gs pos="70000">
                  <a:srgbClr val="C4D6EB"/>
                </a:gs>
                <a:gs pos="100000">
                  <a:srgbClr val="FFEBFA"/>
                </a:gs>
              </a:gsLst>
              <a:lin ang="5400000" scaled="1"/>
            </a:gradFill>
            <a:ln w="317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25000"/>
                </a:lnSpc>
                <a:spcBef>
                  <a:spcPct val="0"/>
                </a:spcBef>
                <a:buFontTx/>
                <a:buNone/>
              </a:pPr>
              <a:r>
                <a:rPr kumimoji="1" lang="zh-CN" altLang="en-US"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去除氮和磷及</a:t>
              </a:r>
            </a:p>
            <a:p>
              <a:pPr algn="just" eaLnBrk="1" hangingPunct="1">
                <a:lnSpc>
                  <a:spcPct val="125000"/>
                </a:lnSpc>
                <a:spcBef>
                  <a:spcPct val="0"/>
                </a:spcBef>
                <a:buFontTx/>
                <a:buNone/>
              </a:pPr>
              <a:r>
                <a:rPr kumimoji="1" lang="zh-CN" altLang="en-US"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其他溶解性物质、</a:t>
              </a:r>
            </a:p>
            <a:p>
              <a:pPr algn="just" eaLnBrk="1" hangingPunct="1">
                <a:lnSpc>
                  <a:spcPct val="125000"/>
                </a:lnSpc>
                <a:spcBef>
                  <a:spcPct val="0"/>
                </a:spcBef>
                <a:buFontTx/>
                <a:buNone/>
              </a:pPr>
              <a:r>
                <a:rPr kumimoji="1" lang="zh-CN" altLang="en-US" sz="2400" b="1">
                  <a:solidFill>
                    <a:srgbClr val="000000"/>
                  </a:solidFill>
                  <a:latin typeface="Times New Roman" panose="02020603050405020304" pitchFamily="18" charset="0"/>
                  <a:ea typeface="SimHei" panose="02010609060101010101" pitchFamily="49" charset="-122"/>
                  <a:cs typeface="Times New Roman" panose="02020603050405020304" pitchFamily="18" charset="0"/>
                </a:rPr>
                <a:t>杀菌消毒</a:t>
              </a:r>
            </a:p>
          </p:txBody>
        </p:sp>
        <p:sp>
          <p:nvSpPr>
            <p:cNvPr id="49" name="Line 12">
              <a:extLst>
                <a:ext uri="{FF2B5EF4-FFF2-40B4-BE49-F238E27FC236}">
                  <a16:creationId xmlns:a16="http://schemas.microsoft.com/office/drawing/2014/main" id="{422B5EDD-0735-468E-ADFB-F67427908872}"/>
                </a:ext>
              </a:extLst>
            </p:cNvPr>
            <p:cNvSpPr>
              <a:spLocks noChangeShapeType="1"/>
            </p:cNvSpPr>
            <p:nvPr/>
          </p:nvSpPr>
          <p:spPr bwMode="auto">
            <a:xfrm>
              <a:off x="4079876" y="2779713"/>
              <a:ext cx="792163"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13">
              <a:extLst>
                <a:ext uri="{FF2B5EF4-FFF2-40B4-BE49-F238E27FC236}">
                  <a16:creationId xmlns:a16="http://schemas.microsoft.com/office/drawing/2014/main" id="{2E4F536B-9913-49CE-B529-4D8121A01658}"/>
                </a:ext>
              </a:extLst>
            </p:cNvPr>
            <p:cNvSpPr>
              <a:spLocks noChangeShapeType="1"/>
            </p:cNvSpPr>
            <p:nvPr/>
          </p:nvSpPr>
          <p:spPr bwMode="auto">
            <a:xfrm>
              <a:off x="6600826" y="2779713"/>
              <a:ext cx="1223963"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extLst>
      <p:ext uri="{BB962C8B-B14F-4D97-AF65-F5344CB8AC3E}">
        <p14:creationId xmlns:p14="http://schemas.microsoft.com/office/powerpoint/2010/main" val="3285709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EC614B4C-B57C-4DD1-B6EB-911EF052BF2A}"/>
              </a:ext>
            </a:extLst>
          </p:cNvPr>
          <p:cNvPicPr>
            <a:picLocks noChangeAspect="1"/>
          </p:cNvPicPr>
          <p:nvPr/>
        </p:nvPicPr>
        <p:blipFill>
          <a:blip r:embed="rId3"/>
          <a:stretch>
            <a:fillRect/>
          </a:stretch>
        </p:blipFill>
        <p:spPr>
          <a:xfrm>
            <a:off x="1624694" y="1451129"/>
            <a:ext cx="8555652" cy="5489195"/>
          </a:xfrm>
          <a:prstGeom prst="rect">
            <a:avLst/>
          </a:prstGeom>
        </p:spPr>
      </p:pic>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39" name="Rectangle 2">
            <a:extLst>
              <a:ext uri="{FF2B5EF4-FFF2-40B4-BE49-F238E27FC236}">
                <a16:creationId xmlns:a16="http://schemas.microsoft.com/office/drawing/2014/main" id="{E50BD61C-855E-40C0-BB04-B81A250F8DC6}"/>
              </a:ext>
            </a:extLst>
          </p:cNvPr>
          <p:cNvSpPr txBox="1">
            <a:spLocks noChangeArrowheads="1"/>
          </p:cNvSpPr>
          <p:nvPr/>
        </p:nvSpPr>
        <p:spPr bwMode="auto">
          <a:xfrm>
            <a:off x="102407" y="1040206"/>
            <a:ext cx="3840656" cy="54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20000"/>
              </a:lnSpc>
              <a:spcBef>
                <a:spcPct val="40000"/>
              </a:spcBef>
              <a:buFont typeface="Wingdings" panose="05000000000000000000" pitchFamily="2" charset="2"/>
              <a:buNone/>
            </a:pPr>
            <a:r>
              <a:rPr lang="zh-CN" altLang="en-US" sz="2800" b="1" dirty="0">
                <a:solidFill>
                  <a:srgbClr val="800000"/>
                </a:solidFill>
                <a:latin typeface="SimHei" panose="02010609060101010101" pitchFamily="49" charset="-122"/>
                <a:ea typeface="SimHei" panose="02010609060101010101" pitchFamily="49" charset="-122"/>
              </a:rPr>
              <a:t>  城市污水处理工艺</a:t>
            </a:r>
          </a:p>
        </p:txBody>
      </p:sp>
      <p:sp>
        <p:nvSpPr>
          <p:cNvPr id="115" name="Text Box 55">
            <a:extLst>
              <a:ext uri="{FF2B5EF4-FFF2-40B4-BE49-F238E27FC236}">
                <a16:creationId xmlns:a16="http://schemas.microsoft.com/office/drawing/2014/main" id="{85E90AC3-A3FC-4453-BE6C-A2F4A057422A}"/>
              </a:ext>
            </a:extLst>
          </p:cNvPr>
          <p:cNvSpPr txBox="1">
            <a:spLocks noChangeArrowheads="1"/>
          </p:cNvSpPr>
          <p:nvPr/>
        </p:nvSpPr>
        <p:spPr bwMode="auto">
          <a:xfrm>
            <a:off x="2237650" y="64008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med"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400" b="1" dirty="0">
                <a:solidFill>
                  <a:srgbClr val="2C4E8C"/>
                </a:solidFill>
                <a:latin typeface="+mn-ea"/>
                <a:ea typeface="+mn-ea"/>
              </a:rPr>
              <a:t>城市污水处理流程示意图</a:t>
            </a:r>
          </a:p>
        </p:txBody>
      </p:sp>
    </p:spTree>
    <p:extLst>
      <p:ext uri="{BB962C8B-B14F-4D97-AF65-F5344CB8AC3E}">
        <p14:creationId xmlns:p14="http://schemas.microsoft.com/office/powerpoint/2010/main" val="554983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41" name="组合 40">
            <a:extLst>
              <a:ext uri="{FF2B5EF4-FFF2-40B4-BE49-F238E27FC236}">
                <a16:creationId xmlns:a16="http://schemas.microsoft.com/office/drawing/2014/main" id="{CD890DF9-6C25-47E8-9FC4-148AE0BFC0BD}"/>
              </a:ext>
            </a:extLst>
          </p:cNvPr>
          <p:cNvGrpSpPr/>
          <p:nvPr/>
        </p:nvGrpSpPr>
        <p:grpSpPr>
          <a:xfrm>
            <a:off x="642402" y="2893957"/>
            <a:ext cx="3255153" cy="3756812"/>
            <a:chOff x="641456" y="1735931"/>
            <a:chExt cx="3722790" cy="3981079"/>
          </a:xfrm>
        </p:grpSpPr>
        <p:sp>
          <p:nvSpPr>
            <p:cNvPr id="60" name="AutoShape 14">
              <a:extLst>
                <a:ext uri="{FF2B5EF4-FFF2-40B4-BE49-F238E27FC236}">
                  <a16:creationId xmlns:a16="http://schemas.microsoft.com/office/drawing/2014/main" id="{9DC82CB7-AC96-40CE-86D6-9981293D7240}"/>
                </a:ext>
              </a:extLst>
            </p:cNvPr>
            <p:cNvSpPr/>
            <p:nvPr/>
          </p:nvSpPr>
          <p:spPr>
            <a:xfrm>
              <a:off x="641457" y="1735931"/>
              <a:ext cx="3722789" cy="3981079"/>
            </a:xfrm>
            <a:prstGeom prst="rect">
              <a:avLst/>
            </a:prstGeom>
            <a:solidFill>
              <a:schemeClr val="accent1">
                <a:alpha val="94000"/>
              </a:schemeClr>
            </a:solidFill>
            <a:ln/>
          </p:spPr>
        </p:sp>
        <p:pic>
          <p:nvPicPr>
            <p:cNvPr id="36" name="图片 35">
              <a:extLst>
                <a:ext uri="{FF2B5EF4-FFF2-40B4-BE49-F238E27FC236}">
                  <a16:creationId xmlns:a16="http://schemas.microsoft.com/office/drawing/2014/main" id="{09C38AF4-6131-47DA-ACE4-BC773CFD0036}"/>
                </a:ext>
              </a:extLst>
            </p:cNvPr>
            <p:cNvPicPr>
              <a:picLocks noChangeAspect="1"/>
            </p:cNvPicPr>
            <p:nvPr/>
          </p:nvPicPr>
          <p:blipFill>
            <a:blip r:embed="rId3"/>
            <a:stretch>
              <a:fillRect/>
            </a:stretch>
          </p:blipFill>
          <p:spPr>
            <a:xfrm>
              <a:off x="641456" y="1845755"/>
              <a:ext cx="3722789" cy="3759915"/>
            </a:xfrm>
            <a:prstGeom prst="rect">
              <a:avLst/>
            </a:prstGeom>
          </p:spPr>
        </p:pic>
      </p:grpSp>
      <p:grpSp>
        <p:nvGrpSpPr>
          <p:cNvPr id="67" name="Group 9">
            <a:extLst>
              <a:ext uri="{FF2B5EF4-FFF2-40B4-BE49-F238E27FC236}">
                <a16:creationId xmlns:a16="http://schemas.microsoft.com/office/drawing/2014/main" id="{6F03009A-EF4F-4F94-A8D0-099CA415B3C5}"/>
              </a:ext>
            </a:extLst>
          </p:cNvPr>
          <p:cNvGrpSpPr/>
          <p:nvPr/>
        </p:nvGrpSpPr>
        <p:grpSpPr>
          <a:xfrm>
            <a:off x="1510581" y="1206641"/>
            <a:ext cx="10507919" cy="1474857"/>
            <a:chOff x="5925310" y="1577851"/>
            <a:chExt cx="8805554" cy="1307148"/>
          </a:xfrm>
        </p:grpSpPr>
        <p:sp>
          <p:nvSpPr>
            <p:cNvPr id="71" name="TextBox 10">
              <a:extLst>
                <a:ext uri="{FF2B5EF4-FFF2-40B4-BE49-F238E27FC236}">
                  <a16:creationId xmlns:a16="http://schemas.microsoft.com/office/drawing/2014/main" id="{AB14FAA3-A65F-4850-BA69-83107134640E}"/>
                </a:ext>
              </a:extLst>
            </p:cNvPr>
            <p:cNvSpPr txBox="1"/>
            <p:nvPr/>
          </p:nvSpPr>
          <p:spPr>
            <a:xfrm>
              <a:off x="5925310" y="1577851"/>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大气污染防治技术</a:t>
              </a:r>
              <a:endParaRPr lang="en-US" sz="2800" b="1" dirty="0">
                <a:solidFill>
                  <a:srgbClr val="2C4E8C"/>
                </a:solidFill>
                <a:latin typeface="+mn-ea"/>
                <a:cs typeface="Microsoft Yahei"/>
              </a:endParaRPr>
            </a:p>
          </p:txBody>
        </p:sp>
        <p:sp>
          <p:nvSpPr>
            <p:cNvPr id="72" name="TextBox 11">
              <a:extLst>
                <a:ext uri="{FF2B5EF4-FFF2-40B4-BE49-F238E27FC236}">
                  <a16:creationId xmlns:a16="http://schemas.microsoft.com/office/drawing/2014/main" id="{1A67078A-B7EC-41F8-83FB-70E3E973497E}"/>
                </a:ext>
              </a:extLst>
            </p:cNvPr>
            <p:cNvSpPr txBox="1"/>
            <p:nvPr/>
          </p:nvSpPr>
          <p:spPr>
            <a:xfrm>
              <a:off x="5982796" y="2022450"/>
              <a:ext cx="8748068" cy="862549"/>
            </a:xfrm>
            <a:prstGeom prst="rect">
              <a:avLst/>
            </a:prstGeom>
            <a:ln/>
          </p:spPr>
          <p:txBody>
            <a:bodyPr vert="horz" wrap="square" lIns="114300" tIns="57150" rIns="114300" bIns="57150" rtlCol="0" anchor="t" anchorCtr="0">
              <a:spAutoFit/>
            </a:bodyPr>
            <a:lstStyle/>
            <a:p>
              <a:pPr>
                <a:lnSpc>
                  <a:spcPct val="120000"/>
                </a:lnSpc>
              </a:pPr>
              <a:r>
                <a:rPr lang="zh-CN" altLang="en-US" sz="2400" b="1" dirty="0">
                  <a:solidFill>
                    <a:schemeClr val="dk1">
                      <a:alpha val="100000"/>
                    </a:schemeClr>
                  </a:solidFill>
                  <a:latin typeface="+mn-ea"/>
                  <a:cs typeface="Microsoft Yahei"/>
                </a:rPr>
                <a:t>包括烟气治理、</a:t>
              </a:r>
              <a:r>
                <a:rPr lang="en-US" altLang="zh-CN" sz="2400" b="1" dirty="0">
                  <a:solidFill>
                    <a:schemeClr val="dk1">
                      <a:alpha val="100000"/>
                    </a:schemeClr>
                  </a:solidFill>
                  <a:latin typeface="+mn-ea"/>
                  <a:cs typeface="Microsoft Yahei"/>
                </a:rPr>
                <a:t>VOCs</a:t>
              </a:r>
              <a:r>
                <a:rPr lang="zh-CN" altLang="en-US" sz="2400" b="1" dirty="0">
                  <a:solidFill>
                    <a:schemeClr val="dk1">
                      <a:alpha val="100000"/>
                    </a:schemeClr>
                  </a:solidFill>
                  <a:latin typeface="+mn-ea"/>
                  <a:cs typeface="Microsoft Yahei"/>
                </a:rPr>
                <a:t>治理、机动车尾气控制等技术手段，用于降低大气污染排放。</a:t>
              </a:r>
            </a:p>
          </p:txBody>
        </p:sp>
      </p:grpSp>
      <p:grpSp>
        <p:nvGrpSpPr>
          <p:cNvPr id="68" name="组合 67">
            <a:extLst>
              <a:ext uri="{FF2B5EF4-FFF2-40B4-BE49-F238E27FC236}">
                <a16:creationId xmlns:a16="http://schemas.microsoft.com/office/drawing/2014/main" id="{DD2CCBB9-AE62-4FD6-9F6D-A6FB9B971D87}"/>
              </a:ext>
            </a:extLst>
          </p:cNvPr>
          <p:cNvGrpSpPr/>
          <p:nvPr/>
        </p:nvGrpSpPr>
        <p:grpSpPr>
          <a:xfrm>
            <a:off x="560013" y="1275402"/>
            <a:ext cx="845690" cy="810236"/>
            <a:chOff x="4761432" y="1399458"/>
            <a:chExt cx="810236" cy="810236"/>
          </a:xfrm>
        </p:grpSpPr>
        <p:sp>
          <p:nvSpPr>
            <p:cNvPr id="69" name="AutoShape 13">
              <a:extLst>
                <a:ext uri="{FF2B5EF4-FFF2-40B4-BE49-F238E27FC236}">
                  <a16:creationId xmlns:a16="http://schemas.microsoft.com/office/drawing/2014/main" id="{1536DC21-1C77-4BAA-8BA0-EC702CC1CC18}"/>
                </a:ext>
              </a:extLst>
            </p:cNvPr>
            <p:cNvSpPr/>
            <p:nvPr/>
          </p:nvSpPr>
          <p:spPr>
            <a:xfrm>
              <a:off x="4761432" y="1399458"/>
              <a:ext cx="810236" cy="810236"/>
            </a:xfrm>
            <a:prstGeom prst="ellipse">
              <a:avLst/>
            </a:prstGeom>
            <a:solidFill>
              <a:schemeClr val="accent2">
                <a:alpha val="100000"/>
              </a:schemeClr>
            </a:solidFill>
            <a:ln/>
          </p:spPr>
        </p:sp>
        <p:sp>
          <p:nvSpPr>
            <p:cNvPr id="70" name="Freeform 16">
              <a:extLst>
                <a:ext uri="{FF2B5EF4-FFF2-40B4-BE49-F238E27FC236}">
                  <a16:creationId xmlns:a16="http://schemas.microsoft.com/office/drawing/2014/main" id="{E0E036B2-10D5-40B3-9FEF-51EDFADD27D5}"/>
                </a:ext>
              </a:extLst>
            </p:cNvPr>
            <p:cNvSpPr/>
            <p:nvPr/>
          </p:nvSpPr>
          <p:spPr>
            <a:xfrm>
              <a:off x="4970715" y="1571267"/>
              <a:ext cx="391670" cy="3916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grpSp>
      <p:sp>
        <p:nvSpPr>
          <p:cNvPr id="96" name="矩形 95">
            <a:extLst>
              <a:ext uri="{FF2B5EF4-FFF2-40B4-BE49-F238E27FC236}">
                <a16:creationId xmlns:a16="http://schemas.microsoft.com/office/drawing/2014/main" id="{E08A21E1-D7B2-4BC5-B797-DCABB71449A4}"/>
              </a:ext>
            </a:extLst>
          </p:cNvPr>
          <p:cNvSpPr/>
          <p:nvPr/>
        </p:nvSpPr>
        <p:spPr>
          <a:xfrm>
            <a:off x="4306769" y="2558380"/>
            <a:ext cx="1723549" cy="562333"/>
          </a:xfrm>
          <a:prstGeom prst="rect">
            <a:avLst/>
          </a:prstGeom>
        </p:spPr>
        <p:txBody>
          <a:bodyPr wrap="none">
            <a:spAutoFit/>
          </a:bodyPr>
          <a:lstStyle/>
          <a:p>
            <a:pPr>
              <a:lnSpc>
                <a:spcPct val="140000"/>
              </a:lnSpc>
            </a:pPr>
            <a:r>
              <a:rPr lang="zh-CN" altLang="en-US" sz="2400" b="1" dirty="0">
                <a:solidFill>
                  <a:srgbClr val="C00000"/>
                </a:solidFill>
                <a:latin typeface="+mn-ea"/>
                <a:cs typeface="Microsoft Yahei"/>
              </a:rPr>
              <a:t>大气污染物</a:t>
            </a:r>
          </a:p>
        </p:txBody>
      </p:sp>
      <p:grpSp>
        <p:nvGrpSpPr>
          <p:cNvPr id="59" name="组合 58">
            <a:extLst>
              <a:ext uri="{FF2B5EF4-FFF2-40B4-BE49-F238E27FC236}">
                <a16:creationId xmlns:a16="http://schemas.microsoft.com/office/drawing/2014/main" id="{D9A7AB8F-B5A9-4C17-9492-7E8119F8CB64}"/>
              </a:ext>
            </a:extLst>
          </p:cNvPr>
          <p:cNvGrpSpPr/>
          <p:nvPr/>
        </p:nvGrpSpPr>
        <p:grpSpPr>
          <a:xfrm>
            <a:off x="5207421" y="3123643"/>
            <a:ext cx="5255961" cy="1294641"/>
            <a:chOff x="1578572" y="1994744"/>
            <a:chExt cx="5255961" cy="1294641"/>
          </a:xfrm>
        </p:grpSpPr>
        <p:sp>
          <p:nvSpPr>
            <p:cNvPr id="61" name="Text Box 5">
              <a:extLst>
                <a:ext uri="{FF2B5EF4-FFF2-40B4-BE49-F238E27FC236}">
                  <a16:creationId xmlns:a16="http://schemas.microsoft.com/office/drawing/2014/main" id="{52ACE250-F46E-42CB-9ADE-73DD570F9273}"/>
                </a:ext>
              </a:extLst>
            </p:cNvPr>
            <p:cNvSpPr txBox="1">
              <a:spLocks noChangeArrowheads="1"/>
            </p:cNvSpPr>
            <p:nvPr/>
          </p:nvSpPr>
          <p:spPr bwMode="auto">
            <a:xfrm>
              <a:off x="2889250" y="1994744"/>
              <a:ext cx="2994716" cy="357085"/>
            </a:xfrm>
            <a:prstGeom prst="rect">
              <a:avLst/>
            </a:prstGeom>
            <a:noFill/>
            <a:ln w="28575">
              <a:solidFill>
                <a:srgbClr val="2C4E8C"/>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85000"/>
                </a:lnSpc>
                <a:spcBef>
                  <a:spcPct val="0"/>
                </a:spcBef>
                <a:spcAft>
                  <a:spcPct val="50000"/>
                </a:spcAft>
                <a:buFontTx/>
                <a:buNone/>
              </a:pPr>
              <a:r>
                <a:rPr lang="zh-CN" altLang="en-US" sz="2000" b="1" dirty="0">
                  <a:solidFill>
                    <a:srgbClr val="2C4E8C"/>
                  </a:solidFill>
                  <a:latin typeface="+mn-ea"/>
                  <a:ea typeface="+mn-ea"/>
                </a:rPr>
                <a:t>依照与污染源的关系分类</a:t>
              </a:r>
            </a:p>
          </p:txBody>
        </p:sp>
        <p:sp>
          <p:nvSpPr>
            <p:cNvPr id="62" name="Rectangle 6">
              <a:extLst>
                <a:ext uri="{FF2B5EF4-FFF2-40B4-BE49-F238E27FC236}">
                  <a16:creationId xmlns:a16="http://schemas.microsoft.com/office/drawing/2014/main" id="{51B8D1AD-8B34-4B93-B529-659191DC36FA}"/>
                </a:ext>
              </a:extLst>
            </p:cNvPr>
            <p:cNvSpPr>
              <a:spLocks noChangeArrowheads="1"/>
            </p:cNvSpPr>
            <p:nvPr/>
          </p:nvSpPr>
          <p:spPr bwMode="auto">
            <a:xfrm>
              <a:off x="1578572" y="2932300"/>
              <a:ext cx="2447925" cy="357085"/>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85000"/>
                </a:lnSpc>
                <a:spcBef>
                  <a:spcPct val="0"/>
                </a:spcBef>
                <a:spcAft>
                  <a:spcPct val="50000"/>
                </a:spcAft>
                <a:buFontTx/>
                <a:buNone/>
              </a:pPr>
              <a:r>
                <a:rPr lang="zh-CN" altLang="en-US" sz="2000" b="1" dirty="0">
                  <a:solidFill>
                    <a:srgbClr val="2C4E8C"/>
                  </a:solidFill>
                  <a:latin typeface="+mn-ea"/>
                  <a:ea typeface="+mn-ea"/>
                </a:rPr>
                <a:t>一次污染物</a:t>
              </a:r>
            </a:p>
          </p:txBody>
        </p:sp>
        <p:sp>
          <p:nvSpPr>
            <p:cNvPr id="63" name="Rectangle 7">
              <a:extLst>
                <a:ext uri="{FF2B5EF4-FFF2-40B4-BE49-F238E27FC236}">
                  <a16:creationId xmlns:a16="http://schemas.microsoft.com/office/drawing/2014/main" id="{5F686598-A8D4-4BC1-BD4D-778BAFBB5CDB}"/>
                </a:ext>
              </a:extLst>
            </p:cNvPr>
            <p:cNvSpPr>
              <a:spLocks noChangeArrowheads="1"/>
            </p:cNvSpPr>
            <p:nvPr/>
          </p:nvSpPr>
          <p:spPr bwMode="auto">
            <a:xfrm>
              <a:off x="4386608" y="2930462"/>
              <a:ext cx="2447925" cy="357085"/>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85000"/>
                </a:lnSpc>
                <a:spcBef>
                  <a:spcPct val="0"/>
                </a:spcBef>
                <a:spcAft>
                  <a:spcPct val="50000"/>
                </a:spcAft>
                <a:buFontTx/>
                <a:buNone/>
              </a:pPr>
              <a:r>
                <a:rPr lang="zh-CN" altLang="en-US" sz="2000" b="1">
                  <a:solidFill>
                    <a:srgbClr val="2C4E8C"/>
                  </a:solidFill>
                  <a:latin typeface="+mn-ea"/>
                  <a:ea typeface="+mn-ea"/>
                </a:rPr>
                <a:t>二次污染物</a:t>
              </a:r>
            </a:p>
          </p:txBody>
        </p:sp>
        <p:sp>
          <p:nvSpPr>
            <p:cNvPr id="64" name="AutoShape 8">
              <a:extLst>
                <a:ext uri="{FF2B5EF4-FFF2-40B4-BE49-F238E27FC236}">
                  <a16:creationId xmlns:a16="http://schemas.microsoft.com/office/drawing/2014/main" id="{9C43A0F2-D0AD-4757-82B0-1B0B3133CC32}"/>
                </a:ext>
              </a:extLst>
            </p:cNvPr>
            <p:cNvSpPr>
              <a:spLocks/>
            </p:cNvSpPr>
            <p:nvPr/>
          </p:nvSpPr>
          <p:spPr bwMode="auto">
            <a:xfrm rot="5400000">
              <a:off x="4113531" y="845167"/>
              <a:ext cx="223685" cy="3673475"/>
            </a:xfrm>
            <a:prstGeom prst="leftBrace">
              <a:avLst>
                <a:gd name="adj1" fmla="val 70895"/>
                <a:gd name="adj2" fmla="val 49523"/>
              </a:avLst>
            </a:prstGeom>
            <a:noFill/>
            <a:ln w="38100">
              <a:solidFill>
                <a:srgbClr val="FF9900"/>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000" b="1">
                <a:solidFill>
                  <a:srgbClr val="2C4E8C"/>
                </a:solidFill>
                <a:latin typeface="+mn-ea"/>
                <a:ea typeface="+mn-ea"/>
              </a:endParaRPr>
            </a:p>
          </p:txBody>
        </p:sp>
      </p:grpSp>
      <p:sp>
        <p:nvSpPr>
          <p:cNvPr id="28" name="矩形 27">
            <a:extLst>
              <a:ext uri="{FF2B5EF4-FFF2-40B4-BE49-F238E27FC236}">
                <a16:creationId xmlns:a16="http://schemas.microsoft.com/office/drawing/2014/main" id="{C738181A-2139-4161-B112-8EC876A0CE8B}"/>
              </a:ext>
            </a:extLst>
          </p:cNvPr>
          <p:cNvSpPr/>
          <p:nvPr/>
        </p:nvSpPr>
        <p:spPr>
          <a:xfrm>
            <a:off x="4367380" y="4798851"/>
            <a:ext cx="7042741" cy="1579150"/>
          </a:xfrm>
          <a:prstGeom prst="rect">
            <a:avLst/>
          </a:prstGeom>
        </p:spPr>
        <p:txBody>
          <a:bodyPr wrap="square">
            <a:spAutoFit/>
          </a:bodyPr>
          <a:lstStyle/>
          <a:p>
            <a:pPr>
              <a:lnSpc>
                <a:spcPct val="150000"/>
              </a:lnSpc>
              <a:spcBef>
                <a:spcPct val="0"/>
              </a:spcBef>
              <a:spcAft>
                <a:spcPct val="50000"/>
              </a:spcAft>
              <a:buClr>
                <a:srgbClr val="FF33CC"/>
              </a:buClr>
            </a:pPr>
            <a:r>
              <a:rPr lang="zh-CN" altLang="en-US" sz="2000" dirty="0">
                <a:solidFill>
                  <a:srgbClr val="2C4E8C"/>
                </a:solidFill>
                <a:latin typeface="Times New Roman" panose="02020603050405020304" pitchFamily="18" charset="0"/>
                <a:ea typeface="SimHei" panose="02010609060101010101" pitchFamily="49" charset="-122"/>
              </a:rPr>
              <a:t>典型的一次污染物有：颗粒物、</a:t>
            </a:r>
            <a:r>
              <a:rPr lang="en-US" altLang="zh-CN" sz="2000" dirty="0">
                <a:solidFill>
                  <a:srgbClr val="2C4E8C"/>
                </a:solidFill>
                <a:latin typeface="Times New Roman" panose="02020603050405020304" pitchFamily="18" charset="0"/>
                <a:ea typeface="SimHei" panose="02010609060101010101" pitchFamily="49" charset="-122"/>
              </a:rPr>
              <a:t>SO</a:t>
            </a:r>
            <a:r>
              <a:rPr lang="en-US" altLang="zh-CN" sz="2000" baseline="-25000" dirty="0">
                <a:solidFill>
                  <a:srgbClr val="2C4E8C"/>
                </a:solidFill>
                <a:latin typeface="Times New Roman" panose="02020603050405020304" pitchFamily="18" charset="0"/>
                <a:ea typeface="SimHei" panose="02010609060101010101" pitchFamily="49" charset="-122"/>
              </a:rPr>
              <a:t>2</a:t>
            </a:r>
            <a:r>
              <a:rPr lang="zh-CN" altLang="en-US" sz="2000" dirty="0">
                <a:solidFill>
                  <a:srgbClr val="2C4E8C"/>
                </a:solidFill>
                <a:latin typeface="Times New Roman" panose="02020603050405020304" pitchFamily="18" charset="0"/>
                <a:ea typeface="SimHei" panose="02010609060101010101" pitchFamily="49" charset="-122"/>
              </a:rPr>
              <a:t>、</a:t>
            </a:r>
            <a:r>
              <a:rPr lang="en-US" altLang="zh-CN" sz="2000" dirty="0">
                <a:solidFill>
                  <a:srgbClr val="2C4E8C"/>
                </a:solidFill>
                <a:latin typeface="Times New Roman" panose="02020603050405020304" pitchFamily="18" charset="0"/>
                <a:ea typeface="SimHei" panose="02010609060101010101" pitchFamily="49" charset="-122"/>
              </a:rPr>
              <a:t>H</a:t>
            </a:r>
            <a:r>
              <a:rPr lang="en-US" altLang="zh-CN" sz="2000" baseline="-25000" dirty="0">
                <a:solidFill>
                  <a:srgbClr val="2C4E8C"/>
                </a:solidFill>
                <a:latin typeface="Times New Roman" panose="02020603050405020304" pitchFamily="18" charset="0"/>
                <a:ea typeface="SimHei" panose="02010609060101010101" pitchFamily="49" charset="-122"/>
              </a:rPr>
              <a:t>2</a:t>
            </a:r>
            <a:r>
              <a:rPr lang="en-US" altLang="zh-CN" sz="2000" dirty="0">
                <a:solidFill>
                  <a:srgbClr val="2C4E8C"/>
                </a:solidFill>
                <a:latin typeface="Times New Roman" panose="02020603050405020304" pitchFamily="18" charset="0"/>
                <a:ea typeface="SimHei" panose="02010609060101010101" pitchFamily="49" charset="-122"/>
              </a:rPr>
              <a:t>S</a:t>
            </a:r>
            <a:r>
              <a:rPr lang="zh-CN" altLang="en-US" sz="2000" dirty="0">
                <a:solidFill>
                  <a:srgbClr val="2C4E8C"/>
                </a:solidFill>
                <a:latin typeface="Times New Roman" panose="02020603050405020304" pitchFamily="18" charset="0"/>
                <a:ea typeface="SimHei" panose="02010609060101010101" pitchFamily="49" charset="-122"/>
              </a:rPr>
              <a:t>、</a:t>
            </a:r>
            <a:r>
              <a:rPr lang="en-US" altLang="zh-CN" sz="2000" dirty="0">
                <a:solidFill>
                  <a:srgbClr val="2C4E8C"/>
                </a:solidFill>
                <a:latin typeface="Times New Roman" panose="02020603050405020304" pitchFamily="18" charset="0"/>
                <a:ea typeface="SimHei" panose="02010609060101010101" pitchFamily="49" charset="-122"/>
              </a:rPr>
              <a:t>CO</a:t>
            </a:r>
            <a:r>
              <a:rPr lang="zh-CN" altLang="en-US" sz="2000" dirty="0">
                <a:solidFill>
                  <a:srgbClr val="2C4E8C"/>
                </a:solidFill>
                <a:latin typeface="Times New Roman" panose="02020603050405020304" pitchFamily="18" charset="0"/>
                <a:ea typeface="SimHei" panose="02010609060101010101" pitchFamily="49" charset="-122"/>
              </a:rPr>
              <a:t>、碳氢化合物、</a:t>
            </a:r>
            <a:r>
              <a:rPr lang="en-US" altLang="zh-CN" sz="2000" dirty="0">
                <a:solidFill>
                  <a:srgbClr val="2C4E8C"/>
                </a:solidFill>
                <a:latin typeface="Times New Roman" panose="02020603050405020304" pitchFamily="18" charset="0"/>
                <a:ea typeface="SimHei" panose="02010609060101010101" pitchFamily="49" charset="-122"/>
              </a:rPr>
              <a:t>NOx</a:t>
            </a:r>
            <a:r>
              <a:rPr lang="zh-CN" altLang="en-US" sz="2000" dirty="0">
                <a:solidFill>
                  <a:srgbClr val="2C4E8C"/>
                </a:solidFill>
                <a:latin typeface="Times New Roman" panose="02020603050405020304" pitchFamily="18" charset="0"/>
                <a:ea typeface="SimHei" panose="02010609060101010101" pitchFamily="49" charset="-122"/>
              </a:rPr>
              <a:t>等。</a:t>
            </a:r>
            <a:endParaRPr lang="en-US" altLang="zh-CN" sz="2000" dirty="0">
              <a:solidFill>
                <a:srgbClr val="2C4E8C"/>
              </a:solidFill>
              <a:latin typeface="Times New Roman" panose="02020603050405020304" pitchFamily="18" charset="0"/>
              <a:ea typeface="SimHei" panose="02010609060101010101" pitchFamily="49" charset="-122"/>
            </a:endParaRPr>
          </a:p>
          <a:p>
            <a:pPr>
              <a:lnSpc>
                <a:spcPct val="150000"/>
              </a:lnSpc>
              <a:spcBef>
                <a:spcPct val="0"/>
              </a:spcBef>
              <a:spcAft>
                <a:spcPct val="50000"/>
              </a:spcAft>
            </a:pPr>
            <a:r>
              <a:rPr lang="zh-CN" altLang="en-US" sz="2000" dirty="0">
                <a:solidFill>
                  <a:srgbClr val="2C4E8C"/>
                </a:solidFill>
                <a:latin typeface="Arial" panose="020B0604020202020204" pitchFamily="34" charset="0"/>
                <a:ea typeface="SimHei" panose="02010609060101010101" pitchFamily="49" charset="-122"/>
              </a:rPr>
              <a:t>常见的二次污染物有：光化学烟雾和硫酸烟雾。</a:t>
            </a:r>
            <a:endParaRPr lang="zh-CN" altLang="en-US" sz="2000" dirty="0">
              <a:solidFill>
                <a:srgbClr val="2C4E8C"/>
              </a:solidFill>
            </a:endParaRPr>
          </a:p>
        </p:txBody>
      </p:sp>
    </p:spTree>
    <p:extLst>
      <p:ext uri="{BB962C8B-B14F-4D97-AF65-F5344CB8AC3E}">
        <p14:creationId xmlns:p14="http://schemas.microsoft.com/office/powerpoint/2010/main" val="318550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71" name="TextBox 10">
            <a:extLst>
              <a:ext uri="{FF2B5EF4-FFF2-40B4-BE49-F238E27FC236}">
                <a16:creationId xmlns:a16="http://schemas.microsoft.com/office/drawing/2014/main" id="{AB14FAA3-A65F-4850-BA69-83107134640E}"/>
              </a:ext>
            </a:extLst>
          </p:cNvPr>
          <p:cNvSpPr txBox="1"/>
          <p:nvPr/>
        </p:nvSpPr>
        <p:spPr>
          <a:xfrm>
            <a:off x="1405703" y="1484881"/>
            <a:ext cx="5395151" cy="457113"/>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大气污染防治技术</a:t>
            </a:r>
            <a:endParaRPr lang="en-US" sz="2800" b="1" dirty="0">
              <a:solidFill>
                <a:srgbClr val="2C4E8C"/>
              </a:solidFill>
              <a:latin typeface="+mn-ea"/>
              <a:cs typeface="Microsoft Yahei"/>
            </a:endParaRPr>
          </a:p>
        </p:txBody>
      </p:sp>
      <p:grpSp>
        <p:nvGrpSpPr>
          <p:cNvPr id="68" name="组合 67">
            <a:extLst>
              <a:ext uri="{FF2B5EF4-FFF2-40B4-BE49-F238E27FC236}">
                <a16:creationId xmlns:a16="http://schemas.microsoft.com/office/drawing/2014/main" id="{DD2CCBB9-AE62-4FD6-9F6D-A6FB9B971D87}"/>
              </a:ext>
            </a:extLst>
          </p:cNvPr>
          <p:cNvGrpSpPr/>
          <p:nvPr/>
        </p:nvGrpSpPr>
        <p:grpSpPr>
          <a:xfrm>
            <a:off x="560013" y="1275402"/>
            <a:ext cx="845690" cy="810236"/>
            <a:chOff x="4761432" y="1399458"/>
            <a:chExt cx="810236" cy="810236"/>
          </a:xfrm>
        </p:grpSpPr>
        <p:sp>
          <p:nvSpPr>
            <p:cNvPr id="69" name="AutoShape 13">
              <a:extLst>
                <a:ext uri="{FF2B5EF4-FFF2-40B4-BE49-F238E27FC236}">
                  <a16:creationId xmlns:a16="http://schemas.microsoft.com/office/drawing/2014/main" id="{1536DC21-1C77-4BAA-8BA0-EC702CC1CC18}"/>
                </a:ext>
              </a:extLst>
            </p:cNvPr>
            <p:cNvSpPr/>
            <p:nvPr/>
          </p:nvSpPr>
          <p:spPr>
            <a:xfrm>
              <a:off x="4761432" y="1399458"/>
              <a:ext cx="810236" cy="810236"/>
            </a:xfrm>
            <a:prstGeom prst="ellipse">
              <a:avLst/>
            </a:prstGeom>
            <a:solidFill>
              <a:schemeClr val="accent2">
                <a:alpha val="100000"/>
              </a:schemeClr>
            </a:solidFill>
            <a:ln/>
          </p:spPr>
        </p:sp>
        <p:sp>
          <p:nvSpPr>
            <p:cNvPr id="70" name="Freeform 16">
              <a:extLst>
                <a:ext uri="{FF2B5EF4-FFF2-40B4-BE49-F238E27FC236}">
                  <a16:creationId xmlns:a16="http://schemas.microsoft.com/office/drawing/2014/main" id="{E0E036B2-10D5-40B3-9FEF-51EDFADD27D5}"/>
                </a:ext>
              </a:extLst>
            </p:cNvPr>
            <p:cNvSpPr/>
            <p:nvPr/>
          </p:nvSpPr>
          <p:spPr>
            <a:xfrm>
              <a:off x="4970715" y="1571267"/>
              <a:ext cx="391670" cy="3916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grpSp>
      <p:sp>
        <p:nvSpPr>
          <p:cNvPr id="96" name="矩形 95">
            <a:extLst>
              <a:ext uri="{FF2B5EF4-FFF2-40B4-BE49-F238E27FC236}">
                <a16:creationId xmlns:a16="http://schemas.microsoft.com/office/drawing/2014/main" id="{E08A21E1-D7B2-4BC5-B797-DCABB71449A4}"/>
              </a:ext>
            </a:extLst>
          </p:cNvPr>
          <p:cNvSpPr/>
          <p:nvPr/>
        </p:nvSpPr>
        <p:spPr>
          <a:xfrm>
            <a:off x="1405703" y="2120622"/>
            <a:ext cx="1723549" cy="562333"/>
          </a:xfrm>
          <a:prstGeom prst="rect">
            <a:avLst/>
          </a:prstGeom>
        </p:spPr>
        <p:txBody>
          <a:bodyPr wrap="none">
            <a:spAutoFit/>
          </a:bodyPr>
          <a:lstStyle/>
          <a:p>
            <a:pPr>
              <a:lnSpc>
                <a:spcPct val="140000"/>
              </a:lnSpc>
            </a:pPr>
            <a:r>
              <a:rPr lang="zh-CN" altLang="en-US" sz="2400" b="1" dirty="0">
                <a:solidFill>
                  <a:srgbClr val="C00000"/>
                </a:solidFill>
                <a:latin typeface="+mn-ea"/>
                <a:cs typeface="Microsoft Yahei"/>
              </a:rPr>
              <a:t>大气污染物</a:t>
            </a:r>
          </a:p>
        </p:txBody>
      </p:sp>
      <p:grpSp>
        <p:nvGrpSpPr>
          <p:cNvPr id="59" name="组合 58">
            <a:extLst>
              <a:ext uri="{FF2B5EF4-FFF2-40B4-BE49-F238E27FC236}">
                <a16:creationId xmlns:a16="http://schemas.microsoft.com/office/drawing/2014/main" id="{D9A7AB8F-B5A9-4C17-9492-7E8119F8CB64}"/>
              </a:ext>
            </a:extLst>
          </p:cNvPr>
          <p:cNvGrpSpPr/>
          <p:nvPr/>
        </p:nvGrpSpPr>
        <p:grpSpPr>
          <a:xfrm>
            <a:off x="3942425" y="2252014"/>
            <a:ext cx="5255961" cy="1294641"/>
            <a:chOff x="1578572" y="1994744"/>
            <a:chExt cx="5255961" cy="1294641"/>
          </a:xfrm>
        </p:grpSpPr>
        <p:sp>
          <p:nvSpPr>
            <p:cNvPr id="61" name="Text Box 5">
              <a:extLst>
                <a:ext uri="{FF2B5EF4-FFF2-40B4-BE49-F238E27FC236}">
                  <a16:creationId xmlns:a16="http://schemas.microsoft.com/office/drawing/2014/main" id="{52ACE250-F46E-42CB-9ADE-73DD570F9273}"/>
                </a:ext>
              </a:extLst>
            </p:cNvPr>
            <p:cNvSpPr txBox="1">
              <a:spLocks noChangeArrowheads="1"/>
            </p:cNvSpPr>
            <p:nvPr/>
          </p:nvSpPr>
          <p:spPr bwMode="auto">
            <a:xfrm>
              <a:off x="2889250" y="1994744"/>
              <a:ext cx="2994716" cy="357085"/>
            </a:xfrm>
            <a:prstGeom prst="rect">
              <a:avLst/>
            </a:prstGeom>
            <a:noFill/>
            <a:ln w="28575">
              <a:solidFill>
                <a:srgbClr val="2C4E8C"/>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85000"/>
                </a:lnSpc>
                <a:spcBef>
                  <a:spcPct val="0"/>
                </a:spcBef>
                <a:spcAft>
                  <a:spcPct val="50000"/>
                </a:spcAft>
                <a:buFontTx/>
                <a:buNone/>
              </a:pPr>
              <a:r>
                <a:rPr lang="zh-CN" altLang="en-US" sz="2000" b="1" dirty="0">
                  <a:solidFill>
                    <a:srgbClr val="2C4E8C"/>
                  </a:solidFill>
                  <a:latin typeface="+mn-ea"/>
                  <a:ea typeface="+mn-ea"/>
                </a:rPr>
                <a:t>依照污染物存在状态</a:t>
              </a:r>
            </a:p>
          </p:txBody>
        </p:sp>
        <p:sp>
          <p:nvSpPr>
            <p:cNvPr id="62" name="Rectangle 6">
              <a:extLst>
                <a:ext uri="{FF2B5EF4-FFF2-40B4-BE49-F238E27FC236}">
                  <a16:creationId xmlns:a16="http://schemas.microsoft.com/office/drawing/2014/main" id="{51B8D1AD-8B34-4B93-B529-659191DC36FA}"/>
                </a:ext>
              </a:extLst>
            </p:cNvPr>
            <p:cNvSpPr>
              <a:spLocks noChangeArrowheads="1"/>
            </p:cNvSpPr>
            <p:nvPr/>
          </p:nvSpPr>
          <p:spPr bwMode="auto">
            <a:xfrm>
              <a:off x="1578572" y="2932300"/>
              <a:ext cx="2447925" cy="357085"/>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85000"/>
                </a:lnSpc>
                <a:spcBef>
                  <a:spcPct val="0"/>
                </a:spcBef>
                <a:spcAft>
                  <a:spcPct val="50000"/>
                </a:spcAft>
                <a:buFontTx/>
                <a:buNone/>
              </a:pPr>
              <a:r>
                <a:rPr lang="zh-CN" altLang="en-US" sz="2000" b="1" dirty="0">
                  <a:solidFill>
                    <a:srgbClr val="2C4E8C"/>
                  </a:solidFill>
                  <a:latin typeface="+mn-ea"/>
                  <a:ea typeface="+mn-ea"/>
                </a:rPr>
                <a:t>气态污染物</a:t>
              </a:r>
            </a:p>
          </p:txBody>
        </p:sp>
        <p:sp>
          <p:nvSpPr>
            <p:cNvPr id="63" name="Rectangle 7">
              <a:extLst>
                <a:ext uri="{FF2B5EF4-FFF2-40B4-BE49-F238E27FC236}">
                  <a16:creationId xmlns:a16="http://schemas.microsoft.com/office/drawing/2014/main" id="{5F686598-A8D4-4BC1-BD4D-778BAFBB5CDB}"/>
                </a:ext>
              </a:extLst>
            </p:cNvPr>
            <p:cNvSpPr>
              <a:spLocks noChangeArrowheads="1"/>
            </p:cNvSpPr>
            <p:nvPr/>
          </p:nvSpPr>
          <p:spPr bwMode="auto">
            <a:xfrm>
              <a:off x="4386608" y="2930462"/>
              <a:ext cx="2447925" cy="357085"/>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85000"/>
                </a:lnSpc>
                <a:spcBef>
                  <a:spcPct val="0"/>
                </a:spcBef>
                <a:spcAft>
                  <a:spcPct val="50000"/>
                </a:spcAft>
                <a:buFontTx/>
                <a:buNone/>
              </a:pPr>
              <a:r>
                <a:rPr lang="zh-CN" altLang="en-US" sz="2000" b="1" dirty="0">
                  <a:solidFill>
                    <a:srgbClr val="2C4E8C"/>
                  </a:solidFill>
                  <a:latin typeface="+mn-ea"/>
                  <a:ea typeface="+mn-ea"/>
                </a:rPr>
                <a:t>气溶胶态污染物</a:t>
              </a:r>
            </a:p>
          </p:txBody>
        </p:sp>
        <p:sp>
          <p:nvSpPr>
            <p:cNvPr id="64" name="AutoShape 8">
              <a:extLst>
                <a:ext uri="{FF2B5EF4-FFF2-40B4-BE49-F238E27FC236}">
                  <a16:creationId xmlns:a16="http://schemas.microsoft.com/office/drawing/2014/main" id="{9C43A0F2-D0AD-4757-82B0-1B0B3133CC32}"/>
                </a:ext>
              </a:extLst>
            </p:cNvPr>
            <p:cNvSpPr>
              <a:spLocks/>
            </p:cNvSpPr>
            <p:nvPr/>
          </p:nvSpPr>
          <p:spPr bwMode="auto">
            <a:xfrm rot="5400000">
              <a:off x="4113531" y="845167"/>
              <a:ext cx="223685" cy="3673475"/>
            </a:xfrm>
            <a:prstGeom prst="leftBrace">
              <a:avLst>
                <a:gd name="adj1" fmla="val 70895"/>
                <a:gd name="adj2" fmla="val 49523"/>
              </a:avLst>
            </a:prstGeom>
            <a:noFill/>
            <a:ln w="38100">
              <a:solidFill>
                <a:srgbClr val="FF9900"/>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000" b="1">
                <a:solidFill>
                  <a:srgbClr val="2C4E8C"/>
                </a:solidFill>
                <a:latin typeface="+mn-ea"/>
                <a:ea typeface="+mn-ea"/>
              </a:endParaRPr>
            </a:p>
          </p:txBody>
        </p:sp>
      </p:grpSp>
      <p:graphicFrame>
        <p:nvGraphicFramePr>
          <p:cNvPr id="44" name="Group 6">
            <a:extLst>
              <a:ext uri="{FF2B5EF4-FFF2-40B4-BE49-F238E27FC236}">
                <a16:creationId xmlns:a16="http://schemas.microsoft.com/office/drawing/2014/main" id="{D4D34614-C927-478A-BCFF-D05B54CCB8E9}"/>
              </a:ext>
            </a:extLst>
          </p:cNvPr>
          <p:cNvGraphicFramePr>
            <a:graphicFrameLocks noGrp="1"/>
          </p:cNvGraphicFramePr>
          <p:nvPr>
            <p:extLst>
              <p:ext uri="{D42A27DB-BD31-4B8C-83A1-F6EECF244321}">
                <p14:modId xmlns:p14="http://schemas.microsoft.com/office/powerpoint/2010/main" val="2859206609"/>
              </p:ext>
            </p:extLst>
          </p:nvPr>
        </p:nvGraphicFramePr>
        <p:xfrm>
          <a:off x="1405703" y="4322752"/>
          <a:ext cx="9029578" cy="2447926"/>
        </p:xfrm>
        <a:graphic>
          <a:graphicData uri="http://schemas.openxmlformats.org/drawingml/2006/table">
            <a:tbl>
              <a:tblPr/>
              <a:tblGrid>
                <a:gridCol w="1044575">
                  <a:extLst>
                    <a:ext uri="{9D8B030D-6E8A-4147-A177-3AD203B41FA5}">
                      <a16:colId xmlns:a16="http://schemas.microsoft.com/office/drawing/2014/main" val="20000"/>
                    </a:ext>
                  </a:extLst>
                </a:gridCol>
                <a:gridCol w="1547812">
                  <a:extLst>
                    <a:ext uri="{9D8B030D-6E8A-4147-A177-3AD203B41FA5}">
                      <a16:colId xmlns:a16="http://schemas.microsoft.com/office/drawing/2014/main" val="20001"/>
                    </a:ext>
                  </a:extLst>
                </a:gridCol>
                <a:gridCol w="1143753">
                  <a:extLst>
                    <a:ext uri="{9D8B030D-6E8A-4147-A177-3AD203B41FA5}">
                      <a16:colId xmlns:a16="http://schemas.microsoft.com/office/drawing/2014/main" val="20002"/>
                    </a:ext>
                  </a:extLst>
                </a:gridCol>
                <a:gridCol w="2001079">
                  <a:extLst>
                    <a:ext uri="{9D8B030D-6E8A-4147-A177-3AD203B41FA5}">
                      <a16:colId xmlns:a16="http://schemas.microsoft.com/office/drawing/2014/main" val="20003"/>
                    </a:ext>
                  </a:extLst>
                </a:gridCol>
                <a:gridCol w="1842052">
                  <a:extLst>
                    <a:ext uri="{9D8B030D-6E8A-4147-A177-3AD203B41FA5}">
                      <a16:colId xmlns:a16="http://schemas.microsoft.com/office/drawing/2014/main" val="20004"/>
                    </a:ext>
                  </a:extLst>
                </a:gridCol>
                <a:gridCol w="1450307">
                  <a:extLst>
                    <a:ext uri="{9D8B030D-6E8A-4147-A177-3AD203B41FA5}">
                      <a16:colId xmlns:a16="http://schemas.microsoft.com/office/drawing/2014/main" val="20005"/>
                    </a:ext>
                  </a:extLst>
                </a:gridCol>
              </a:tblGrid>
              <a:tr h="79216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污染物</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含硫化合物</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碳的</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氧化物</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含氮氧化物</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碳氢化合物</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卤素化合物</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extLst>
                  <a:ext uri="{0D108BD9-81ED-4DB2-BD59-A6C34878D82A}">
                    <a16:rowId xmlns:a16="http://schemas.microsoft.com/office/drawing/2014/main" val="10000"/>
                  </a:ext>
                </a:extLst>
              </a:tr>
              <a:tr h="86360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一次污染物</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SO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2</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H</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2</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S</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CO</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CO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2</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NO</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NH</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3</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C</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m</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H</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n</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HF</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HCl</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氟利昂</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extLst>
                  <a:ext uri="{0D108BD9-81ED-4DB2-BD59-A6C34878D82A}">
                    <a16:rowId xmlns:a16="http://schemas.microsoft.com/office/drawing/2014/main" val="10001"/>
                  </a:ext>
                </a:extLst>
              </a:tr>
              <a:tr h="79216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二次污染物</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SO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3</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H</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2</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SO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4</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MSO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4</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无</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NO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2</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HNO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3</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MNO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3</a:t>
                      </a: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O</a:t>
                      </a:r>
                      <a:r>
                        <a:rPr kumimoji="0" lang="en-US" altLang="zh-CN" sz="1800" b="1" i="0" u="none" strike="noStrike" cap="none" normalizeH="0" baseline="-25000">
                          <a:ln>
                            <a:noFill/>
                          </a:ln>
                          <a:solidFill>
                            <a:schemeClr val="tx1"/>
                          </a:solidFill>
                          <a:effectLst/>
                          <a:latin typeface="Times New Roman" panose="02020603050405020304" pitchFamily="18" charset="0"/>
                          <a:ea typeface="+mn-ea"/>
                          <a:cs typeface="Times New Roman" panose="02020603050405020304" pitchFamily="18" charset="0"/>
                        </a:rPr>
                        <a:t>3</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醛、酮、过氧乙酰硝酸酯</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无</a:t>
                      </a:r>
                    </a:p>
                  </a:txBody>
                  <a:tcPr marL="90000" marR="90000" marT="46800" marB="46800" anchor="ctr" horzOverflow="overflow">
                    <a:lnL w="12700" cap="flat" cmpd="sng" algn="ctr">
                      <a:solidFill>
                        <a:schemeClr val="tx1"/>
                      </a:solidFill>
                      <a:prstDash val="solid"/>
                      <a:miter lim="800000"/>
                      <a:headEnd type="none" w="med" len="med"/>
                      <a:tailEnd type="none" w="sm" len="lg"/>
                    </a:lnL>
                    <a:lnR w="12700" cap="flat" cmpd="sng" algn="ctr">
                      <a:solidFill>
                        <a:schemeClr val="tx1"/>
                      </a:solidFill>
                      <a:prstDash val="solid"/>
                      <a:miter lim="800000"/>
                      <a:headEnd type="none" w="med" len="med"/>
                      <a:tailEnd type="none" w="sm" len="lg"/>
                    </a:lnR>
                    <a:lnT w="12700" cap="flat" cmpd="sng" algn="ctr">
                      <a:solidFill>
                        <a:schemeClr val="tx1"/>
                      </a:solidFill>
                      <a:prstDash val="solid"/>
                      <a:miter lim="800000"/>
                      <a:headEnd type="none" w="med" len="med"/>
                      <a:tailEnd type="none" w="sm" len="lg"/>
                    </a:lnT>
                    <a:lnB w="12700" cap="flat" cmpd="sng" algn="ctr">
                      <a:solidFill>
                        <a:schemeClr val="tx1"/>
                      </a:solidFill>
                      <a:prstDash val="solid"/>
                      <a:miter lim="800000"/>
                      <a:headEnd type="none" w="med" len="med"/>
                      <a:tailEnd type="none" w="sm" len="lg"/>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5" name="矩形 44">
            <a:extLst>
              <a:ext uri="{FF2B5EF4-FFF2-40B4-BE49-F238E27FC236}">
                <a16:creationId xmlns:a16="http://schemas.microsoft.com/office/drawing/2014/main" id="{165C96A0-C7A8-47B4-A72D-81B536696314}"/>
              </a:ext>
            </a:extLst>
          </p:cNvPr>
          <p:cNvSpPr/>
          <p:nvPr/>
        </p:nvSpPr>
        <p:spPr>
          <a:xfrm>
            <a:off x="1405703" y="3581791"/>
            <a:ext cx="2339102" cy="562333"/>
          </a:xfrm>
          <a:prstGeom prst="rect">
            <a:avLst/>
          </a:prstGeom>
        </p:spPr>
        <p:txBody>
          <a:bodyPr wrap="none">
            <a:spAutoFit/>
          </a:bodyPr>
          <a:lstStyle/>
          <a:p>
            <a:pPr>
              <a:lnSpc>
                <a:spcPct val="140000"/>
              </a:lnSpc>
            </a:pPr>
            <a:r>
              <a:rPr lang="zh-CN" altLang="en-US" sz="2400" b="1" dirty="0">
                <a:solidFill>
                  <a:srgbClr val="C00000"/>
                </a:solidFill>
                <a:latin typeface="+mn-ea"/>
                <a:cs typeface="Microsoft Yahei"/>
              </a:rPr>
              <a:t>主要气态污染物</a:t>
            </a:r>
          </a:p>
        </p:txBody>
      </p:sp>
    </p:spTree>
    <p:extLst>
      <p:ext uri="{BB962C8B-B14F-4D97-AF65-F5344CB8AC3E}">
        <p14:creationId xmlns:p14="http://schemas.microsoft.com/office/powerpoint/2010/main" val="1042680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71" name="TextBox 10">
            <a:extLst>
              <a:ext uri="{FF2B5EF4-FFF2-40B4-BE49-F238E27FC236}">
                <a16:creationId xmlns:a16="http://schemas.microsoft.com/office/drawing/2014/main" id="{AB14FAA3-A65F-4850-BA69-83107134640E}"/>
              </a:ext>
            </a:extLst>
          </p:cNvPr>
          <p:cNvSpPr txBox="1"/>
          <p:nvPr/>
        </p:nvSpPr>
        <p:spPr>
          <a:xfrm>
            <a:off x="1405703" y="1471487"/>
            <a:ext cx="5395151" cy="457113"/>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大气污染防治技术</a:t>
            </a:r>
            <a:endParaRPr lang="en-US" sz="2800" b="1" dirty="0">
              <a:solidFill>
                <a:srgbClr val="2C4E8C"/>
              </a:solidFill>
              <a:latin typeface="+mn-ea"/>
              <a:cs typeface="Microsoft Yahei"/>
            </a:endParaRPr>
          </a:p>
        </p:txBody>
      </p:sp>
      <p:grpSp>
        <p:nvGrpSpPr>
          <p:cNvPr id="68" name="组合 67">
            <a:extLst>
              <a:ext uri="{FF2B5EF4-FFF2-40B4-BE49-F238E27FC236}">
                <a16:creationId xmlns:a16="http://schemas.microsoft.com/office/drawing/2014/main" id="{DD2CCBB9-AE62-4FD6-9F6D-A6FB9B971D87}"/>
              </a:ext>
            </a:extLst>
          </p:cNvPr>
          <p:cNvGrpSpPr/>
          <p:nvPr/>
        </p:nvGrpSpPr>
        <p:grpSpPr>
          <a:xfrm>
            <a:off x="560013" y="1275402"/>
            <a:ext cx="845690" cy="810236"/>
            <a:chOff x="4761432" y="1399458"/>
            <a:chExt cx="810236" cy="810236"/>
          </a:xfrm>
        </p:grpSpPr>
        <p:sp>
          <p:nvSpPr>
            <p:cNvPr id="69" name="AutoShape 13">
              <a:extLst>
                <a:ext uri="{FF2B5EF4-FFF2-40B4-BE49-F238E27FC236}">
                  <a16:creationId xmlns:a16="http://schemas.microsoft.com/office/drawing/2014/main" id="{1536DC21-1C77-4BAA-8BA0-EC702CC1CC18}"/>
                </a:ext>
              </a:extLst>
            </p:cNvPr>
            <p:cNvSpPr/>
            <p:nvPr/>
          </p:nvSpPr>
          <p:spPr>
            <a:xfrm>
              <a:off x="4761432" y="1399458"/>
              <a:ext cx="810236" cy="810236"/>
            </a:xfrm>
            <a:prstGeom prst="ellipse">
              <a:avLst/>
            </a:prstGeom>
            <a:solidFill>
              <a:schemeClr val="accent2">
                <a:alpha val="100000"/>
              </a:schemeClr>
            </a:solidFill>
            <a:ln/>
          </p:spPr>
        </p:sp>
        <p:sp>
          <p:nvSpPr>
            <p:cNvPr id="70" name="Freeform 16">
              <a:extLst>
                <a:ext uri="{FF2B5EF4-FFF2-40B4-BE49-F238E27FC236}">
                  <a16:creationId xmlns:a16="http://schemas.microsoft.com/office/drawing/2014/main" id="{E0E036B2-10D5-40B3-9FEF-51EDFADD27D5}"/>
                </a:ext>
              </a:extLst>
            </p:cNvPr>
            <p:cNvSpPr/>
            <p:nvPr/>
          </p:nvSpPr>
          <p:spPr>
            <a:xfrm>
              <a:off x="4970715" y="1571267"/>
              <a:ext cx="391670" cy="3916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grpSp>
      <p:sp>
        <p:nvSpPr>
          <p:cNvPr id="45" name="矩形 44">
            <a:extLst>
              <a:ext uri="{FF2B5EF4-FFF2-40B4-BE49-F238E27FC236}">
                <a16:creationId xmlns:a16="http://schemas.microsoft.com/office/drawing/2014/main" id="{165C96A0-C7A8-47B4-A72D-81B536696314}"/>
              </a:ext>
            </a:extLst>
          </p:cNvPr>
          <p:cNvSpPr/>
          <p:nvPr/>
        </p:nvSpPr>
        <p:spPr>
          <a:xfrm>
            <a:off x="1405703" y="1972915"/>
            <a:ext cx="4493538" cy="562333"/>
          </a:xfrm>
          <a:prstGeom prst="rect">
            <a:avLst/>
          </a:prstGeom>
        </p:spPr>
        <p:txBody>
          <a:bodyPr wrap="none">
            <a:spAutoFit/>
          </a:bodyPr>
          <a:lstStyle/>
          <a:p>
            <a:pPr>
              <a:lnSpc>
                <a:spcPct val="140000"/>
              </a:lnSpc>
            </a:pPr>
            <a:r>
              <a:rPr lang="zh-CN" altLang="en-US" sz="2400" b="1" dirty="0">
                <a:solidFill>
                  <a:srgbClr val="C00000"/>
                </a:solidFill>
                <a:latin typeface="+mn-ea"/>
                <a:cs typeface="Microsoft Yahei"/>
              </a:rPr>
              <a:t>气溶胶态污染物（颗粒污染物）</a:t>
            </a:r>
          </a:p>
        </p:txBody>
      </p:sp>
      <p:sp>
        <p:nvSpPr>
          <p:cNvPr id="40" name="Rectangle 4">
            <a:extLst>
              <a:ext uri="{FF2B5EF4-FFF2-40B4-BE49-F238E27FC236}">
                <a16:creationId xmlns:a16="http://schemas.microsoft.com/office/drawing/2014/main" id="{2C09FE97-F7BB-44B5-B394-4E51EBA99944}"/>
              </a:ext>
            </a:extLst>
          </p:cNvPr>
          <p:cNvSpPr>
            <a:spLocks noChangeArrowheads="1"/>
          </p:cNvSpPr>
          <p:nvPr/>
        </p:nvSpPr>
        <p:spPr bwMode="auto">
          <a:xfrm>
            <a:off x="1405703" y="2656674"/>
            <a:ext cx="9079635" cy="446597"/>
          </a:xfrm>
          <a:prstGeom prst="rect">
            <a:avLst/>
          </a:prstGeom>
          <a:noFill/>
          <a:ln w="28575">
            <a:noFill/>
            <a:miter lim="800000"/>
            <a:headEnd/>
            <a:tailEnd type="none" w="sm" len="lg"/>
          </a:ln>
        </p:spPr>
        <p:txBody>
          <a:bodyPr wrap="square" anchor="ctr">
            <a:spAutoFit/>
          </a:bodyPr>
          <a:lstStyle/>
          <a:p>
            <a:pPr eaLnBrk="1" hangingPunct="1">
              <a:lnSpc>
                <a:spcPct val="125000"/>
              </a:lnSpc>
              <a:spcAft>
                <a:spcPct val="50000"/>
              </a:spcAft>
              <a:buClr>
                <a:srgbClr val="FF33CC"/>
              </a:buClr>
              <a:defRPr/>
            </a:pPr>
            <a:r>
              <a:rPr lang="zh-CN" altLang="en-US" sz="2000" b="1" dirty="0">
                <a:solidFill>
                  <a:srgbClr val="2C4E8C"/>
                </a:solidFill>
                <a:latin typeface="Times New Roman" panose="02020603050405020304" pitchFamily="18" charset="0"/>
                <a:cs typeface="Times New Roman" panose="02020603050405020304" pitchFamily="18" charset="0"/>
              </a:rPr>
              <a:t>指所有包含在大气中的分散的固态、液态物质，其直径约为</a:t>
            </a:r>
            <a:r>
              <a:rPr lang="en-US" altLang="zh-CN" sz="2000" b="1" dirty="0">
                <a:solidFill>
                  <a:srgbClr val="2C4E8C"/>
                </a:solidFill>
                <a:latin typeface="Times New Roman" panose="02020603050405020304" pitchFamily="18" charset="0"/>
                <a:cs typeface="Times New Roman" panose="02020603050405020304" pitchFamily="18" charset="0"/>
              </a:rPr>
              <a:t>0.002</a:t>
            </a:r>
            <a:r>
              <a:rPr lang="en-US" altLang="zh-CN" sz="2000" b="1" dirty="0">
                <a:solidFill>
                  <a:srgbClr val="2C4E8C"/>
                </a:solidFill>
                <a:latin typeface="Times New Roman" panose="02020603050405020304" pitchFamily="18" charset="0"/>
                <a:cs typeface="Times New Roman" panose="02020603050405020304" pitchFamily="18" charset="0"/>
                <a:sym typeface="Symbol" pitchFamily="18" charset="2"/>
              </a:rPr>
              <a:t></a:t>
            </a:r>
            <a:r>
              <a:rPr lang="en-US" altLang="zh-CN" sz="2000" b="1" dirty="0">
                <a:solidFill>
                  <a:srgbClr val="2C4E8C"/>
                </a:solidFill>
                <a:latin typeface="Times New Roman" panose="02020603050405020304" pitchFamily="18" charset="0"/>
                <a:cs typeface="Times New Roman" panose="02020603050405020304" pitchFamily="18" charset="0"/>
              </a:rPr>
              <a:t>m ~100</a:t>
            </a:r>
            <a:r>
              <a:rPr lang="en-US" altLang="zh-CN" sz="2000" b="1" dirty="0">
                <a:solidFill>
                  <a:srgbClr val="2C4E8C"/>
                </a:solidFill>
                <a:latin typeface="Times New Roman" panose="02020603050405020304" pitchFamily="18" charset="0"/>
                <a:cs typeface="Times New Roman" panose="02020603050405020304" pitchFamily="18" charset="0"/>
                <a:sym typeface="Symbol" pitchFamily="18" charset="2"/>
              </a:rPr>
              <a:t></a:t>
            </a:r>
            <a:r>
              <a:rPr lang="en-US" altLang="zh-CN" sz="2000" b="1" dirty="0">
                <a:solidFill>
                  <a:srgbClr val="2C4E8C"/>
                </a:solidFill>
                <a:latin typeface="Times New Roman" panose="02020603050405020304" pitchFamily="18" charset="0"/>
                <a:cs typeface="Times New Roman" panose="02020603050405020304" pitchFamily="18" charset="0"/>
              </a:rPr>
              <a:t>m</a:t>
            </a:r>
            <a:r>
              <a:rPr lang="zh-CN" altLang="en-US" sz="2000" b="1" dirty="0">
                <a:solidFill>
                  <a:srgbClr val="2C4E8C"/>
                </a:solidFill>
                <a:latin typeface="Times New Roman" panose="02020603050405020304" pitchFamily="18" charset="0"/>
                <a:cs typeface="Times New Roman" panose="02020603050405020304" pitchFamily="18" charset="0"/>
              </a:rPr>
              <a:t>。</a:t>
            </a:r>
          </a:p>
        </p:txBody>
      </p:sp>
      <p:grpSp>
        <p:nvGrpSpPr>
          <p:cNvPr id="41" name="组合 40">
            <a:extLst>
              <a:ext uri="{FF2B5EF4-FFF2-40B4-BE49-F238E27FC236}">
                <a16:creationId xmlns:a16="http://schemas.microsoft.com/office/drawing/2014/main" id="{513496D1-7C75-488A-83D4-27906430EA29}"/>
              </a:ext>
            </a:extLst>
          </p:cNvPr>
          <p:cNvGrpSpPr/>
          <p:nvPr/>
        </p:nvGrpSpPr>
        <p:grpSpPr>
          <a:xfrm>
            <a:off x="2129958" y="3213707"/>
            <a:ext cx="8935607" cy="3603625"/>
            <a:chOff x="600402" y="3006725"/>
            <a:chExt cx="7932411" cy="3603625"/>
          </a:xfrm>
        </p:grpSpPr>
        <p:sp>
          <p:nvSpPr>
            <p:cNvPr id="42" name="Rectangle 5">
              <a:extLst>
                <a:ext uri="{FF2B5EF4-FFF2-40B4-BE49-F238E27FC236}">
                  <a16:creationId xmlns:a16="http://schemas.microsoft.com/office/drawing/2014/main" id="{599E5F46-509D-400F-B799-02A6B75406FF}"/>
                </a:ext>
              </a:extLst>
            </p:cNvPr>
            <p:cNvSpPr>
              <a:spLocks noChangeArrowheads="1"/>
            </p:cNvSpPr>
            <p:nvPr/>
          </p:nvSpPr>
          <p:spPr bwMode="auto">
            <a:xfrm>
              <a:off x="1355725" y="3006725"/>
              <a:ext cx="7177088" cy="1276350"/>
            </a:xfrm>
            <a:prstGeom prst="rect">
              <a:avLst/>
            </a:prstGeom>
            <a:noFill/>
            <a:ln w="19050">
              <a:noFill/>
              <a:miter lim="800000"/>
              <a:headEnd/>
              <a:tailEnd/>
            </a:ln>
          </p:spPr>
          <p:txBody>
            <a:bodyPr anchor="ctr">
              <a:spAutoFit/>
            </a:bodyPr>
            <a:lstStyle/>
            <a:p>
              <a:pPr marL="457200" indent="-457200" eaLnBrk="1" hangingPunct="1">
                <a:lnSpc>
                  <a:spcPct val="85000"/>
                </a:lnSpc>
                <a:spcAft>
                  <a:spcPct val="50000"/>
                </a:spcAft>
                <a:defRPr/>
              </a:pPr>
              <a:r>
                <a:rPr lang="zh-CN" altLang="en-US" sz="2000" b="1" dirty="0">
                  <a:solidFill>
                    <a:srgbClr val="C00000"/>
                  </a:solidFill>
                  <a:latin typeface="Times New Roman" panose="02020603050405020304" pitchFamily="18" charset="0"/>
                  <a:cs typeface="Times New Roman" panose="02020603050405020304" pitchFamily="18" charset="0"/>
                </a:rPr>
                <a:t>总悬浮颗粒物（</a:t>
              </a:r>
              <a:r>
                <a:rPr lang="en-US" altLang="zh-CN" sz="2000" b="1" dirty="0">
                  <a:solidFill>
                    <a:srgbClr val="C00000"/>
                  </a:solidFill>
                  <a:latin typeface="Times New Roman" panose="02020603050405020304" pitchFamily="18" charset="0"/>
                  <a:cs typeface="Times New Roman" panose="02020603050405020304" pitchFamily="18" charset="0"/>
                </a:rPr>
                <a:t>TSP</a:t>
              </a:r>
              <a:r>
                <a:rPr lang="zh-CN" altLang="en-US" sz="2000" b="1" dirty="0">
                  <a:solidFill>
                    <a:srgbClr val="C00000"/>
                  </a:solidFill>
                  <a:latin typeface="Times New Roman" panose="02020603050405020304" pitchFamily="18" charset="0"/>
                  <a:cs typeface="Times New Roman" panose="02020603050405020304" pitchFamily="18" charset="0"/>
                </a:rPr>
                <a:t>）</a:t>
              </a:r>
              <a:r>
                <a:rPr lang="en-US" altLang="zh-CN" sz="2000" b="1" dirty="0">
                  <a:solidFill>
                    <a:srgbClr val="C00000"/>
                  </a:solidFill>
                  <a:latin typeface="Times New Roman" panose="02020603050405020304" pitchFamily="18" charset="0"/>
                  <a:cs typeface="Times New Roman" panose="02020603050405020304" pitchFamily="18" charset="0"/>
                </a:rPr>
                <a:t>:  </a:t>
              </a:r>
            </a:p>
            <a:p>
              <a:pPr marL="457200" indent="-457200" eaLnBrk="1" hangingPunct="1">
                <a:lnSpc>
                  <a:spcPct val="125000"/>
                </a:lnSpc>
                <a:spcAft>
                  <a:spcPct val="50000"/>
                </a:spcAft>
                <a:buClr>
                  <a:srgbClr val="FF33CC"/>
                </a:buClr>
                <a:buFont typeface="Wingdings 2" pitchFamily="18" charset="2"/>
                <a:buChar char="³"/>
                <a:defRPr/>
              </a:pPr>
              <a:r>
                <a:rPr lang="zh-CN" altLang="en-US" sz="2000" b="1" dirty="0">
                  <a:solidFill>
                    <a:srgbClr val="2C4E8C"/>
                  </a:solidFill>
                  <a:latin typeface="Times New Roman" panose="02020603050405020304" pitchFamily="18" charset="0"/>
                  <a:cs typeface="Times New Roman" panose="02020603050405020304" pitchFamily="18" charset="0"/>
                </a:rPr>
                <a:t>指能悬浮在空气中，空气动力学当量直径 ≤ </a:t>
              </a:r>
              <a:r>
                <a:rPr lang="en-US" altLang="zh-CN" sz="2000" b="1" dirty="0">
                  <a:solidFill>
                    <a:srgbClr val="2C4E8C"/>
                  </a:solidFill>
                  <a:latin typeface="Times New Roman" panose="02020603050405020304" pitchFamily="18" charset="0"/>
                  <a:cs typeface="Times New Roman" panose="02020603050405020304" pitchFamily="18" charset="0"/>
                </a:rPr>
                <a:t>100</a:t>
              </a:r>
              <a:r>
                <a:rPr lang="en-US" altLang="zh-CN" sz="2000" b="1" dirty="0">
                  <a:solidFill>
                    <a:srgbClr val="2C4E8C"/>
                  </a:solidFill>
                  <a:latin typeface="Times New Roman" panose="02020603050405020304" pitchFamily="18" charset="0"/>
                  <a:cs typeface="Times New Roman" panose="02020603050405020304" pitchFamily="18" charset="0"/>
                  <a:sym typeface="Symbol" pitchFamily="18" charset="2"/>
                </a:rPr>
                <a:t></a:t>
              </a:r>
              <a:r>
                <a:rPr lang="en-US" altLang="zh-CN" sz="2000" b="1" dirty="0">
                  <a:solidFill>
                    <a:srgbClr val="2C4E8C"/>
                  </a:solidFill>
                  <a:latin typeface="Times New Roman" panose="02020603050405020304" pitchFamily="18" charset="0"/>
                  <a:cs typeface="Times New Roman" panose="02020603050405020304" pitchFamily="18" charset="0"/>
                </a:rPr>
                <a:t>m</a:t>
              </a:r>
              <a:r>
                <a:rPr lang="zh-CN" altLang="en-US" sz="2000" b="1" dirty="0">
                  <a:solidFill>
                    <a:srgbClr val="2C4E8C"/>
                  </a:solidFill>
                  <a:latin typeface="Times New Roman" panose="02020603050405020304" pitchFamily="18" charset="0"/>
                  <a:cs typeface="Times New Roman" panose="02020603050405020304" pitchFamily="18" charset="0"/>
                </a:rPr>
                <a:t>的颗粒物的总称。        </a:t>
              </a:r>
            </a:p>
          </p:txBody>
        </p:sp>
        <p:sp>
          <p:nvSpPr>
            <p:cNvPr id="43" name="Rectangle 6">
              <a:extLst>
                <a:ext uri="{FF2B5EF4-FFF2-40B4-BE49-F238E27FC236}">
                  <a16:creationId xmlns:a16="http://schemas.microsoft.com/office/drawing/2014/main" id="{56F48153-7AA2-4F3B-AAF3-696BA5AE4061}"/>
                </a:ext>
              </a:extLst>
            </p:cNvPr>
            <p:cNvSpPr>
              <a:spLocks noChangeArrowheads="1"/>
            </p:cNvSpPr>
            <p:nvPr/>
          </p:nvSpPr>
          <p:spPr bwMode="auto">
            <a:xfrm>
              <a:off x="1355725" y="4251986"/>
              <a:ext cx="7177088" cy="1230312"/>
            </a:xfrm>
            <a:prstGeom prst="rect">
              <a:avLst/>
            </a:prstGeom>
            <a:noFill/>
            <a:ln w="19050">
              <a:noFill/>
              <a:miter lim="800000"/>
              <a:headEnd/>
              <a:tailEnd/>
            </a:ln>
          </p:spPr>
          <p:txBody>
            <a:bodyPr anchor="ctr">
              <a:spAutoFit/>
            </a:bodyPr>
            <a:lstStyle/>
            <a:p>
              <a:pPr marL="457200" indent="-457200" eaLnBrk="1" hangingPunct="1">
                <a:lnSpc>
                  <a:spcPct val="70000"/>
                </a:lnSpc>
                <a:spcAft>
                  <a:spcPct val="50000"/>
                </a:spcAft>
                <a:defRPr/>
              </a:pPr>
              <a:r>
                <a:rPr lang="zh-CN" altLang="en-US" sz="2000" b="1" dirty="0">
                  <a:solidFill>
                    <a:srgbClr val="C00000"/>
                  </a:solidFill>
                  <a:latin typeface="Times New Roman" panose="02020603050405020304" pitchFamily="18" charset="0"/>
                  <a:cs typeface="Times New Roman" panose="02020603050405020304" pitchFamily="18" charset="0"/>
                </a:rPr>
                <a:t>可吸入颗粒物（</a:t>
              </a:r>
              <a:r>
                <a:rPr lang="en-US" altLang="zh-CN" sz="2000" b="1" dirty="0">
                  <a:solidFill>
                    <a:srgbClr val="C00000"/>
                  </a:solidFill>
                  <a:latin typeface="Times New Roman" panose="02020603050405020304" pitchFamily="18" charset="0"/>
                  <a:cs typeface="Times New Roman" panose="02020603050405020304" pitchFamily="18" charset="0"/>
                </a:rPr>
                <a:t>PM10</a:t>
              </a:r>
              <a:r>
                <a:rPr lang="zh-CN" altLang="en-US" sz="2000" b="1" dirty="0">
                  <a:solidFill>
                    <a:srgbClr val="C00000"/>
                  </a:solidFill>
                  <a:latin typeface="Times New Roman" panose="02020603050405020304" pitchFamily="18" charset="0"/>
                  <a:cs typeface="Times New Roman" panose="02020603050405020304" pitchFamily="18" charset="0"/>
                </a:rPr>
                <a:t>）</a:t>
              </a:r>
              <a:r>
                <a:rPr lang="en-US" altLang="zh-CN" sz="2000" b="1" dirty="0">
                  <a:solidFill>
                    <a:srgbClr val="C00000"/>
                  </a:solidFill>
                  <a:latin typeface="Times New Roman" panose="02020603050405020304" pitchFamily="18" charset="0"/>
                  <a:cs typeface="Times New Roman" panose="02020603050405020304" pitchFamily="18" charset="0"/>
                </a:rPr>
                <a:t>:  </a:t>
              </a:r>
            </a:p>
            <a:p>
              <a:pPr marL="457200" indent="-457200" eaLnBrk="1" hangingPunct="1">
                <a:lnSpc>
                  <a:spcPct val="125000"/>
                </a:lnSpc>
                <a:spcAft>
                  <a:spcPct val="50000"/>
                </a:spcAft>
                <a:buClr>
                  <a:srgbClr val="FF33CC"/>
                </a:buClr>
                <a:buFont typeface="Wingdings 2" pitchFamily="18" charset="2"/>
                <a:buChar char="³"/>
                <a:defRPr/>
              </a:pPr>
              <a:r>
                <a:rPr lang="zh-CN" altLang="en-US" sz="2000" b="1" dirty="0">
                  <a:solidFill>
                    <a:srgbClr val="2C4E8C"/>
                  </a:solidFill>
                  <a:latin typeface="Times New Roman" panose="02020603050405020304" pitchFamily="18" charset="0"/>
                  <a:cs typeface="Times New Roman" panose="02020603050405020304" pitchFamily="18" charset="0"/>
                </a:rPr>
                <a:t>指悬浮在空气中，</a:t>
              </a:r>
              <a:r>
                <a:rPr lang="en-US" altLang="zh-CN" sz="2000" b="1" dirty="0">
                  <a:solidFill>
                    <a:srgbClr val="2C4E8C"/>
                  </a:solidFill>
                  <a:latin typeface="Times New Roman" panose="02020603050405020304" pitchFamily="18" charset="0"/>
                  <a:cs typeface="Times New Roman" panose="02020603050405020304" pitchFamily="18" charset="0"/>
                </a:rPr>
                <a:t>2.5</a:t>
              </a:r>
              <a:r>
                <a:rPr lang="en-US" altLang="zh-CN" sz="2000" b="1" dirty="0">
                  <a:solidFill>
                    <a:srgbClr val="2C4E8C"/>
                  </a:solidFill>
                  <a:latin typeface="Times New Roman" panose="02020603050405020304" pitchFamily="18" charset="0"/>
                  <a:cs typeface="Times New Roman" panose="02020603050405020304" pitchFamily="18" charset="0"/>
                  <a:sym typeface="Symbol" pitchFamily="18" charset="2"/>
                </a:rPr>
                <a:t> </a:t>
              </a:r>
              <a:r>
                <a:rPr lang="en-US" altLang="zh-CN" sz="2000" b="1" dirty="0">
                  <a:solidFill>
                    <a:srgbClr val="2C4E8C"/>
                  </a:solidFill>
                  <a:latin typeface="Times New Roman" panose="02020603050405020304" pitchFamily="18" charset="0"/>
                  <a:cs typeface="Times New Roman" panose="02020603050405020304" pitchFamily="18" charset="0"/>
                </a:rPr>
                <a:t>m &lt; </a:t>
              </a:r>
              <a:r>
                <a:rPr lang="zh-CN" altLang="en-US" sz="2000" b="1" dirty="0">
                  <a:solidFill>
                    <a:srgbClr val="2C4E8C"/>
                  </a:solidFill>
                  <a:latin typeface="Times New Roman" panose="02020603050405020304" pitchFamily="18" charset="0"/>
                  <a:cs typeface="Times New Roman" panose="02020603050405020304" pitchFamily="18" charset="0"/>
                </a:rPr>
                <a:t>空气动力学当量直径 ≤ </a:t>
              </a:r>
              <a:r>
                <a:rPr lang="en-US" altLang="zh-CN" sz="2000" b="1" dirty="0">
                  <a:solidFill>
                    <a:srgbClr val="2C4E8C"/>
                  </a:solidFill>
                  <a:latin typeface="Times New Roman" panose="02020603050405020304" pitchFamily="18" charset="0"/>
                  <a:cs typeface="Times New Roman" panose="02020603050405020304" pitchFamily="18" charset="0"/>
                </a:rPr>
                <a:t>10</a:t>
              </a:r>
              <a:r>
                <a:rPr lang="en-US" altLang="zh-CN" sz="2000" b="1" dirty="0">
                  <a:solidFill>
                    <a:srgbClr val="2C4E8C"/>
                  </a:solidFill>
                  <a:latin typeface="Times New Roman" panose="02020603050405020304" pitchFamily="18" charset="0"/>
                  <a:cs typeface="Times New Roman" panose="02020603050405020304" pitchFamily="18" charset="0"/>
                  <a:sym typeface="Symbol" pitchFamily="18" charset="2"/>
                </a:rPr>
                <a:t></a:t>
              </a:r>
              <a:r>
                <a:rPr lang="en-US" altLang="zh-CN" sz="2000" b="1" dirty="0">
                  <a:solidFill>
                    <a:srgbClr val="2C4E8C"/>
                  </a:solidFill>
                  <a:latin typeface="Times New Roman" panose="02020603050405020304" pitchFamily="18" charset="0"/>
                  <a:cs typeface="Times New Roman" panose="02020603050405020304" pitchFamily="18" charset="0"/>
                </a:rPr>
                <a:t>m</a:t>
              </a:r>
              <a:r>
                <a:rPr lang="zh-CN" altLang="en-US" sz="2000" b="1" dirty="0">
                  <a:solidFill>
                    <a:srgbClr val="2C4E8C"/>
                  </a:solidFill>
                  <a:latin typeface="Times New Roman" panose="02020603050405020304" pitchFamily="18" charset="0"/>
                  <a:cs typeface="Times New Roman" panose="02020603050405020304" pitchFamily="18" charset="0"/>
                </a:rPr>
                <a:t>的颗粒。        </a:t>
              </a:r>
            </a:p>
          </p:txBody>
        </p:sp>
        <p:sp>
          <p:nvSpPr>
            <p:cNvPr id="46" name="Rectangle 6">
              <a:extLst>
                <a:ext uri="{FF2B5EF4-FFF2-40B4-BE49-F238E27FC236}">
                  <a16:creationId xmlns:a16="http://schemas.microsoft.com/office/drawing/2014/main" id="{FC269AFC-D950-4FEF-B012-11D108E9EAAA}"/>
                </a:ext>
              </a:extLst>
            </p:cNvPr>
            <p:cNvSpPr>
              <a:spLocks noChangeArrowheads="1"/>
            </p:cNvSpPr>
            <p:nvPr/>
          </p:nvSpPr>
          <p:spPr bwMode="auto">
            <a:xfrm>
              <a:off x="1355725" y="5566287"/>
              <a:ext cx="7010400" cy="846138"/>
            </a:xfrm>
            <a:prstGeom prst="rect">
              <a:avLst/>
            </a:prstGeom>
            <a:noFill/>
            <a:ln w="19050">
              <a:noFill/>
              <a:miter lim="800000"/>
              <a:headEnd/>
              <a:tailEnd/>
            </a:ln>
          </p:spPr>
          <p:txBody>
            <a:bodyPr anchor="ctr">
              <a:spAutoFit/>
            </a:bodyPr>
            <a:lstStyle/>
            <a:p>
              <a:pPr marL="457200" indent="-457200" eaLnBrk="1" hangingPunct="1">
                <a:lnSpc>
                  <a:spcPct val="70000"/>
                </a:lnSpc>
                <a:spcAft>
                  <a:spcPct val="50000"/>
                </a:spcAft>
                <a:defRPr/>
              </a:pPr>
              <a:r>
                <a:rPr lang="zh-CN" altLang="en-US" sz="2000" b="1" dirty="0">
                  <a:solidFill>
                    <a:srgbClr val="C00000"/>
                  </a:solidFill>
                  <a:latin typeface="Times New Roman" panose="02020603050405020304" pitchFamily="18" charset="0"/>
                  <a:cs typeface="Times New Roman" panose="02020603050405020304" pitchFamily="18" charset="0"/>
                </a:rPr>
                <a:t>可入肺颗粒物 （细颗粒物 </a:t>
              </a:r>
              <a:r>
                <a:rPr lang="en-US" altLang="zh-CN" sz="2000" b="1" dirty="0">
                  <a:solidFill>
                    <a:srgbClr val="C00000"/>
                  </a:solidFill>
                  <a:latin typeface="Times New Roman" panose="02020603050405020304" pitchFamily="18" charset="0"/>
                  <a:cs typeface="Times New Roman" panose="02020603050405020304" pitchFamily="18" charset="0"/>
                </a:rPr>
                <a:t>PM2.5</a:t>
              </a:r>
              <a:r>
                <a:rPr lang="zh-CN" altLang="en-US" sz="2000" b="1" dirty="0">
                  <a:solidFill>
                    <a:srgbClr val="C00000"/>
                  </a:solidFill>
                  <a:latin typeface="Times New Roman" panose="02020603050405020304" pitchFamily="18" charset="0"/>
                  <a:cs typeface="Times New Roman" panose="02020603050405020304" pitchFamily="18" charset="0"/>
                </a:rPr>
                <a:t>）</a:t>
              </a:r>
              <a:r>
                <a:rPr lang="en-US" altLang="zh-CN" sz="2000" b="1" dirty="0">
                  <a:solidFill>
                    <a:srgbClr val="C00000"/>
                  </a:solidFill>
                  <a:latin typeface="Times New Roman" panose="02020603050405020304" pitchFamily="18" charset="0"/>
                  <a:cs typeface="Times New Roman" panose="02020603050405020304" pitchFamily="18" charset="0"/>
                </a:rPr>
                <a:t>:  </a:t>
              </a:r>
            </a:p>
            <a:p>
              <a:pPr marL="457200" indent="-457200" eaLnBrk="1" hangingPunct="1">
                <a:lnSpc>
                  <a:spcPct val="125000"/>
                </a:lnSpc>
                <a:spcAft>
                  <a:spcPct val="50000"/>
                </a:spcAft>
                <a:buClr>
                  <a:srgbClr val="FF00FF"/>
                </a:buClr>
                <a:buFont typeface="Wingdings 2" pitchFamily="18" charset="2"/>
                <a:buChar char="³"/>
                <a:defRPr/>
              </a:pPr>
              <a:r>
                <a:rPr lang="zh-CN" altLang="en-US" sz="2000" b="1" dirty="0">
                  <a:solidFill>
                    <a:srgbClr val="2C4E8C"/>
                  </a:solidFill>
                  <a:latin typeface="Times New Roman" panose="02020603050405020304" pitchFamily="18" charset="0"/>
                  <a:cs typeface="Times New Roman" panose="02020603050405020304" pitchFamily="18" charset="0"/>
                </a:rPr>
                <a:t>指悬浮在空气中，空气动力学当量直径≤ </a:t>
              </a:r>
              <a:r>
                <a:rPr lang="en-US" altLang="zh-CN" sz="2000" b="1" dirty="0">
                  <a:solidFill>
                    <a:srgbClr val="2C4E8C"/>
                  </a:solidFill>
                  <a:latin typeface="Times New Roman" panose="02020603050405020304" pitchFamily="18" charset="0"/>
                  <a:cs typeface="Times New Roman" panose="02020603050405020304" pitchFamily="18" charset="0"/>
                </a:rPr>
                <a:t>2.5</a:t>
              </a:r>
              <a:r>
                <a:rPr lang="en-US" altLang="zh-CN" sz="2000" b="1" dirty="0">
                  <a:solidFill>
                    <a:srgbClr val="2C4E8C"/>
                  </a:solidFill>
                  <a:latin typeface="Times New Roman" panose="02020603050405020304" pitchFamily="18" charset="0"/>
                  <a:cs typeface="Times New Roman" panose="02020603050405020304" pitchFamily="18" charset="0"/>
                  <a:sym typeface="Symbol" pitchFamily="18" charset="2"/>
                </a:rPr>
                <a:t></a:t>
              </a:r>
              <a:r>
                <a:rPr lang="en-US" altLang="zh-CN" sz="2000" b="1" dirty="0">
                  <a:solidFill>
                    <a:srgbClr val="2C4E8C"/>
                  </a:solidFill>
                  <a:latin typeface="Times New Roman" panose="02020603050405020304" pitchFamily="18" charset="0"/>
                  <a:cs typeface="Times New Roman" panose="02020603050405020304" pitchFamily="18" charset="0"/>
                </a:rPr>
                <a:t>m</a:t>
              </a:r>
              <a:r>
                <a:rPr lang="zh-CN" altLang="en-US" sz="2000" b="1" dirty="0">
                  <a:solidFill>
                    <a:srgbClr val="2C4E8C"/>
                  </a:solidFill>
                  <a:latin typeface="Times New Roman" panose="02020603050405020304" pitchFamily="18" charset="0"/>
                  <a:cs typeface="Times New Roman" panose="02020603050405020304" pitchFamily="18" charset="0"/>
                </a:rPr>
                <a:t>的颗粒。        </a:t>
              </a:r>
            </a:p>
          </p:txBody>
        </p:sp>
        <p:sp>
          <p:nvSpPr>
            <p:cNvPr id="47" name="AutoShape 7">
              <a:extLst>
                <a:ext uri="{FF2B5EF4-FFF2-40B4-BE49-F238E27FC236}">
                  <a16:creationId xmlns:a16="http://schemas.microsoft.com/office/drawing/2014/main" id="{9CEFF6A5-B2AE-4130-A1D5-2800B012EB3A}"/>
                </a:ext>
              </a:extLst>
            </p:cNvPr>
            <p:cNvSpPr>
              <a:spLocks/>
            </p:cNvSpPr>
            <p:nvPr/>
          </p:nvSpPr>
          <p:spPr bwMode="auto">
            <a:xfrm>
              <a:off x="1139825" y="3152775"/>
              <a:ext cx="142875" cy="3457575"/>
            </a:xfrm>
            <a:prstGeom prst="leftBrace">
              <a:avLst>
                <a:gd name="adj1" fmla="val 63950"/>
                <a:gd name="adj2" fmla="val 50000"/>
              </a:avLst>
            </a:prstGeom>
            <a:noFill/>
            <a:ln w="31750">
              <a:solidFill>
                <a:srgbClr val="C00000"/>
              </a:solidFill>
              <a:miter lim="800000"/>
              <a:headEnd/>
              <a:tailEnd/>
            </a:ln>
          </p:spPr>
          <p:txBody>
            <a:bodyPr wrap="none" anchor="ctr"/>
            <a:lstStyle/>
            <a:p>
              <a:pPr eaLnBrk="1" hangingPunct="1">
                <a:defRPr/>
              </a:pP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
          <p:nvSpPr>
            <p:cNvPr id="48" name="TextBox 12">
              <a:extLst>
                <a:ext uri="{FF2B5EF4-FFF2-40B4-BE49-F238E27FC236}">
                  <a16:creationId xmlns:a16="http://schemas.microsoft.com/office/drawing/2014/main" id="{F7CD6C0B-5706-4CD7-851D-E3FC9BEAE8E1}"/>
                </a:ext>
              </a:extLst>
            </p:cNvPr>
            <p:cNvSpPr txBox="1"/>
            <p:nvPr/>
          </p:nvSpPr>
          <p:spPr>
            <a:xfrm>
              <a:off x="600402" y="3565525"/>
              <a:ext cx="523220" cy="2684463"/>
            </a:xfrm>
            <a:prstGeom prst="rect">
              <a:avLst/>
            </a:prstGeom>
            <a:noFill/>
          </p:spPr>
          <p:txBody>
            <a:bodyPr vert="eaVert" anchor="ctr">
              <a:spAutoFit/>
            </a:bodyPr>
            <a:lstStyle/>
            <a:p>
              <a:pPr algn="ctr" eaLnBrk="1" hangingPunct="1">
                <a:defRPr/>
              </a:pPr>
              <a:r>
                <a:rPr lang="zh-CN" altLang="en-US" sz="2200" b="1" dirty="0">
                  <a:solidFill>
                    <a:srgbClr val="C00000"/>
                  </a:solidFill>
                  <a:latin typeface="Times New Roman" panose="02020603050405020304" pitchFamily="18" charset="0"/>
                  <a:cs typeface="Times New Roman" panose="02020603050405020304" pitchFamily="18" charset="0"/>
                </a:rPr>
                <a:t>大气污染指标</a:t>
              </a:r>
            </a:p>
          </p:txBody>
        </p:sp>
      </p:grpSp>
    </p:spTree>
    <p:extLst>
      <p:ext uri="{BB962C8B-B14F-4D97-AF65-F5344CB8AC3E}">
        <p14:creationId xmlns:p14="http://schemas.microsoft.com/office/powerpoint/2010/main" val="935118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71" name="TextBox 10">
            <a:extLst>
              <a:ext uri="{FF2B5EF4-FFF2-40B4-BE49-F238E27FC236}">
                <a16:creationId xmlns:a16="http://schemas.microsoft.com/office/drawing/2014/main" id="{AB14FAA3-A65F-4850-BA69-83107134640E}"/>
              </a:ext>
            </a:extLst>
          </p:cNvPr>
          <p:cNvSpPr txBox="1"/>
          <p:nvPr/>
        </p:nvSpPr>
        <p:spPr>
          <a:xfrm>
            <a:off x="1494001" y="1447211"/>
            <a:ext cx="5395151" cy="457113"/>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大气污染防治技术</a:t>
            </a:r>
            <a:endParaRPr lang="en-US" sz="2800" b="1" dirty="0">
              <a:solidFill>
                <a:srgbClr val="2C4E8C"/>
              </a:solidFill>
              <a:latin typeface="+mn-ea"/>
              <a:cs typeface="Microsoft Yahei"/>
            </a:endParaRPr>
          </a:p>
        </p:txBody>
      </p:sp>
      <p:grpSp>
        <p:nvGrpSpPr>
          <p:cNvPr id="68" name="组合 67">
            <a:extLst>
              <a:ext uri="{FF2B5EF4-FFF2-40B4-BE49-F238E27FC236}">
                <a16:creationId xmlns:a16="http://schemas.microsoft.com/office/drawing/2014/main" id="{DD2CCBB9-AE62-4FD6-9F6D-A6FB9B971D87}"/>
              </a:ext>
            </a:extLst>
          </p:cNvPr>
          <p:cNvGrpSpPr/>
          <p:nvPr/>
        </p:nvGrpSpPr>
        <p:grpSpPr>
          <a:xfrm>
            <a:off x="560013" y="1275402"/>
            <a:ext cx="845690" cy="810236"/>
            <a:chOff x="4761432" y="1399458"/>
            <a:chExt cx="810236" cy="810236"/>
          </a:xfrm>
        </p:grpSpPr>
        <p:sp>
          <p:nvSpPr>
            <p:cNvPr id="69" name="AutoShape 13">
              <a:extLst>
                <a:ext uri="{FF2B5EF4-FFF2-40B4-BE49-F238E27FC236}">
                  <a16:creationId xmlns:a16="http://schemas.microsoft.com/office/drawing/2014/main" id="{1536DC21-1C77-4BAA-8BA0-EC702CC1CC18}"/>
                </a:ext>
              </a:extLst>
            </p:cNvPr>
            <p:cNvSpPr/>
            <p:nvPr/>
          </p:nvSpPr>
          <p:spPr>
            <a:xfrm>
              <a:off x="4761432" y="1399458"/>
              <a:ext cx="810236" cy="810236"/>
            </a:xfrm>
            <a:prstGeom prst="ellipse">
              <a:avLst/>
            </a:prstGeom>
            <a:solidFill>
              <a:schemeClr val="accent2">
                <a:alpha val="100000"/>
              </a:schemeClr>
            </a:solidFill>
            <a:ln/>
          </p:spPr>
        </p:sp>
        <p:sp>
          <p:nvSpPr>
            <p:cNvPr id="70" name="Freeform 16">
              <a:extLst>
                <a:ext uri="{FF2B5EF4-FFF2-40B4-BE49-F238E27FC236}">
                  <a16:creationId xmlns:a16="http://schemas.microsoft.com/office/drawing/2014/main" id="{E0E036B2-10D5-40B3-9FEF-51EDFADD27D5}"/>
                </a:ext>
              </a:extLst>
            </p:cNvPr>
            <p:cNvSpPr/>
            <p:nvPr/>
          </p:nvSpPr>
          <p:spPr>
            <a:xfrm>
              <a:off x="4970715" y="1571267"/>
              <a:ext cx="391670" cy="3916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grpSp>
      <p:sp>
        <p:nvSpPr>
          <p:cNvPr id="96" name="矩形 95">
            <a:extLst>
              <a:ext uri="{FF2B5EF4-FFF2-40B4-BE49-F238E27FC236}">
                <a16:creationId xmlns:a16="http://schemas.microsoft.com/office/drawing/2014/main" id="{E08A21E1-D7B2-4BC5-B797-DCABB71449A4}"/>
              </a:ext>
            </a:extLst>
          </p:cNvPr>
          <p:cNvSpPr/>
          <p:nvPr/>
        </p:nvSpPr>
        <p:spPr>
          <a:xfrm>
            <a:off x="4516035" y="1888945"/>
            <a:ext cx="2954655" cy="562333"/>
          </a:xfrm>
          <a:prstGeom prst="rect">
            <a:avLst/>
          </a:prstGeom>
        </p:spPr>
        <p:txBody>
          <a:bodyPr wrap="none">
            <a:spAutoFit/>
          </a:bodyPr>
          <a:lstStyle/>
          <a:p>
            <a:pPr>
              <a:lnSpc>
                <a:spcPct val="140000"/>
              </a:lnSpc>
            </a:pPr>
            <a:r>
              <a:rPr lang="zh-CN" altLang="en-US" sz="2400" b="1" dirty="0">
                <a:solidFill>
                  <a:srgbClr val="C00000"/>
                </a:solidFill>
                <a:latin typeface="+mn-ea"/>
                <a:cs typeface="Microsoft Yahei"/>
              </a:rPr>
              <a:t>气态污染物治理技术</a:t>
            </a:r>
          </a:p>
        </p:txBody>
      </p:sp>
      <p:grpSp>
        <p:nvGrpSpPr>
          <p:cNvPr id="134" name="组合 133">
            <a:extLst>
              <a:ext uri="{FF2B5EF4-FFF2-40B4-BE49-F238E27FC236}">
                <a16:creationId xmlns:a16="http://schemas.microsoft.com/office/drawing/2014/main" id="{9FBA65C0-D487-447F-B801-04C5631B5B28}"/>
              </a:ext>
            </a:extLst>
          </p:cNvPr>
          <p:cNvGrpSpPr/>
          <p:nvPr/>
        </p:nvGrpSpPr>
        <p:grpSpPr>
          <a:xfrm>
            <a:off x="1367334" y="2633094"/>
            <a:ext cx="9252055" cy="3946664"/>
            <a:chOff x="4295547" y="2726027"/>
            <a:chExt cx="7736830" cy="3694240"/>
          </a:xfrm>
        </p:grpSpPr>
        <p:grpSp>
          <p:nvGrpSpPr>
            <p:cNvPr id="114" name="组合 113">
              <a:extLst>
                <a:ext uri="{FF2B5EF4-FFF2-40B4-BE49-F238E27FC236}">
                  <a16:creationId xmlns:a16="http://schemas.microsoft.com/office/drawing/2014/main" id="{877830B9-EC41-40C6-B32F-1E7B052E9291}"/>
                </a:ext>
              </a:extLst>
            </p:cNvPr>
            <p:cNvGrpSpPr/>
            <p:nvPr/>
          </p:nvGrpSpPr>
          <p:grpSpPr>
            <a:xfrm>
              <a:off x="4295547" y="2726027"/>
              <a:ext cx="3657600" cy="1685497"/>
              <a:chOff x="1268004" y="1141971"/>
              <a:chExt cx="3657600" cy="1685497"/>
            </a:xfrm>
          </p:grpSpPr>
          <p:sp>
            <p:nvSpPr>
              <p:cNvPr id="130" name="AutoShape 3">
                <a:extLst>
                  <a:ext uri="{FF2B5EF4-FFF2-40B4-BE49-F238E27FC236}">
                    <a16:creationId xmlns:a16="http://schemas.microsoft.com/office/drawing/2014/main" id="{748C9DFA-0A01-480A-BB5E-3C42BD95147E}"/>
                  </a:ext>
                </a:extLst>
              </p:cNvPr>
              <p:cNvSpPr/>
              <p:nvPr/>
            </p:nvSpPr>
            <p:spPr>
              <a:xfrm>
                <a:off x="1268004" y="1522658"/>
                <a:ext cx="3657600" cy="1304810"/>
              </a:xfrm>
              <a:prstGeom prst="rect">
                <a:avLst/>
              </a:prstGeom>
              <a:solidFill>
                <a:srgbClr val="4472C4"/>
              </a:solidFill>
              <a:ln/>
            </p:spPr>
          </p:sp>
          <p:sp>
            <p:nvSpPr>
              <p:cNvPr id="131" name="AutoShape 4">
                <a:extLst>
                  <a:ext uri="{FF2B5EF4-FFF2-40B4-BE49-F238E27FC236}">
                    <a16:creationId xmlns:a16="http://schemas.microsoft.com/office/drawing/2014/main" id="{3C329420-1338-4C7C-8843-BE5811ACEE8F}"/>
                  </a:ext>
                </a:extLst>
              </p:cNvPr>
              <p:cNvSpPr/>
              <p:nvPr/>
            </p:nvSpPr>
            <p:spPr>
              <a:xfrm>
                <a:off x="1268004" y="1141971"/>
                <a:ext cx="3657600" cy="719328"/>
              </a:xfrm>
              <a:prstGeom prst="roundRect">
                <a:avLst/>
              </a:prstGeom>
              <a:solidFill>
                <a:srgbClr val="4472C4"/>
              </a:solidFill>
              <a:ln/>
            </p:spPr>
          </p:sp>
          <p:sp>
            <p:nvSpPr>
              <p:cNvPr id="132" name="TextBox 6">
                <a:extLst>
                  <a:ext uri="{FF2B5EF4-FFF2-40B4-BE49-F238E27FC236}">
                    <a16:creationId xmlns:a16="http://schemas.microsoft.com/office/drawing/2014/main" id="{87B7169E-72DB-4991-9E9F-2278254705E5}"/>
                  </a:ext>
                </a:extLst>
              </p:cNvPr>
              <p:cNvSpPr txBox="1"/>
              <p:nvPr/>
            </p:nvSpPr>
            <p:spPr>
              <a:xfrm>
                <a:off x="1408898" y="1190739"/>
                <a:ext cx="3375812" cy="59343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吸收技术</a:t>
                </a:r>
                <a:endParaRPr lang="en-US" sz="2000" b="1" dirty="0">
                  <a:solidFill>
                    <a:srgbClr val="FFFFFF">
                      <a:alpha val="100000"/>
                    </a:srgbClr>
                  </a:solidFill>
                  <a:latin typeface="+mn-ea"/>
                  <a:cs typeface="Microsoft Yahei"/>
                </a:endParaRPr>
              </a:p>
            </p:txBody>
          </p:sp>
          <p:sp>
            <p:nvSpPr>
              <p:cNvPr id="133" name="TextBox 5">
                <a:extLst>
                  <a:ext uri="{FF2B5EF4-FFF2-40B4-BE49-F238E27FC236}">
                    <a16:creationId xmlns:a16="http://schemas.microsoft.com/office/drawing/2014/main" id="{DF9E6814-CCDE-41AB-96EF-DF3E90B9BC93}"/>
                  </a:ext>
                </a:extLst>
              </p:cNvPr>
              <p:cNvSpPr txBox="1"/>
              <p:nvPr/>
            </p:nvSpPr>
            <p:spPr>
              <a:xfrm>
                <a:off x="1371068" y="1710046"/>
                <a:ext cx="3255153" cy="111742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利用废气中污染物组分在吸收剂中的溶解度不同或与吸收剂组分发生选择性化学反应来净化废气。</a:t>
                </a:r>
              </a:p>
            </p:txBody>
          </p:sp>
        </p:grpSp>
        <p:grpSp>
          <p:nvGrpSpPr>
            <p:cNvPr id="115" name="组合 114">
              <a:extLst>
                <a:ext uri="{FF2B5EF4-FFF2-40B4-BE49-F238E27FC236}">
                  <a16:creationId xmlns:a16="http://schemas.microsoft.com/office/drawing/2014/main" id="{BA708D0F-D713-461C-B7C5-EA5CC6A1DFB6}"/>
                </a:ext>
              </a:extLst>
            </p:cNvPr>
            <p:cNvGrpSpPr/>
            <p:nvPr/>
          </p:nvGrpSpPr>
          <p:grpSpPr>
            <a:xfrm>
              <a:off x="8374777" y="2726027"/>
              <a:ext cx="3657600" cy="1685497"/>
              <a:chOff x="1268004" y="1141971"/>
              <a:chExt cx="3657600" cy="1685497"/>
            </a:xfrm>
          </p:grpSpPr>
          <p:sp>
            <p:nvSpPr>
              <p:cNvPr id="126" name="AutoShape 3">
                <a:extLst>
                  <a:ext uri="{FF2B5EF4-FFF2-40B4-BE49-F238E27FC236}">
                    <a16:creationId xmlns:a16="http://schemas.microsoft.com/office/drawing/2014/main" id="{863C192A-09AF-48B4-89DB-B73F6597EE3D}"/>
                  </a:ext>
                </a:extLst>
              </p:cNvPr>
              <p:cNvSpPr/>
              <p:nvPr/>
            </p:nvSpPr>
            <p:spPr>
              <a:xfrm>
                <a:off x="1268004" y="1522658"/>
                <a:ext cx="3657600" cy="1304810"/>
              </a:xfrm>
              <a:prstGeom prst="rect">
                <a:avLst/>
              </a:prstGeom>
              <a:solidFill>
                <a:srgbClr val="4472C4"/>
              </a:solidFill>
              <a:ln/>
            </p:spPr>
          </p:sp>
          <p:sp>
            <p:nvSpPr>
              <p:cNvPr id="127" name="AutoShape 4">
                <a:extLst>
                  <a:ext uri="{FF2B5EF4-FFF2-40B4-BE49-F238E27FC236}">
                    <a16:creationId xmlns:a16="http://schemas.microsoft.com/office/drawing/2014/main" id="{98D67471-04D4-4EE1-910E-5CD6C8DA405D}"/>
                  </a:ext>
                </a:extLst>
              </p:cNvPr>
              <p:cNvSpPr/>
              <p:nvPr/>
            </p:nvSpPr>
            <p:spPr>
              <a:xfrm>
                <a:off x="1268004" y="1141971"/>
                <a:ext cx="3657600" cy="719328"/>
              </a:xfrm>
              <a:prstGeom prst="roundRect">
                <a:avLst/>
              </a:prstGeom>
              <a:solidFill>
                <a:srgbClr val="4472C4"/>
              </a:solidFill>
              <a:ln/>
            </p:spPr>
          </p:sp>
          <p:sp>
            <p:nvSpPr>
              <p:cNvPr id="128" name="TextBox 6">
                <a:extLst>
                  <a:ext uri="{FF2B5EF4-FFF2-40B4-BE49-F238E27FC236}">
                    <a16:creationId xmlns:a16="http://schemas.microsoft.com/office/drawing/2014/main" id="{63C7C38B-D1D3-4AF4-AB2D-574A01F58387}"/>
                  </a:ext>
                </a:extLst>
              </p:cNvPr>
              <p:cNvSpPr txBox="1"/>
              <p:nvPr/>
            </p:nvSpPr>
            <p:spPr>
              <a:xfrm>
                <a:off x="1408898" y="1190739"/>
                <a:ext cx="3375812" cy="59343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吸附技术</a:t>
                </a:r>
                <a:endParaRPr lang="en-US" sz="2000" b="1" dirty="0">
                  <a:solidFill>
                    <a:srgbClr val="FFFFFF">
                      <a:alpha val="100000"/>
                    </a:srgbClr>
                  </a:solidFill>
                  <a:latin typeface="+mn-ea"/>
                  <a:cs typeface="Microsoft Yahei"/>
                </a:endParaRPr>
              </a:p>
            </p:txBody>
          </p:sp>
          <p:sp>
            <p:nvSpPr>
              <p:cNvPr id="129" name="TextBox 5">
                <a:extLst>
                  <a:ext uri="{FF2B5EF4-FFF2-40B4-BE49-F238E27FC236}">
                    <a16:creationId xmlns:a16="http://schemas.microsoft.com/office/drawing/2014/main" id="{AC761F1B-6320-4751-A6F0-D57E06189324}"/>
                  </a:ext>
                </a:extLst>
              </p:cNvPr>
              <p:cNvSpPr txBox="1"/>
              <p:nvPr/>
            </p:nvSpPr>
            <p:spPr>
              <a:xfrm>
                <a:off x="1371068" y="1710046"/>
                <a:ext cx="3255153" cy="821956"/>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利用多孔固体吸附剂将气体混合物中组分浓集于固体表面。</a:t>
                </a:r>
              </a:p>
            </p:txBody>
          </p:sp>
        </p:grpSp>
        <p:grpSp>
          <p:nvGrpSpPr>
            <p:cNvPr id="116" name="组合 115">
              <a:extLst>
                <a:ext uri="{FF2B5EF4-FFF2-40B4-BE49-F238E27FC236}">
                  <a16:creationId xmlns:a16="http://schemas.microsoft.com/office/drawing/2014/main" id="{C75718B1-784F-4CD9-8B36-8AEF66FEE32E}"/>
                </a:ext>
              </a:extLst>
            </p:cNvPr>
            <p:cNvGrpSpPr/>
            <p:nvPr/>
          </p:nvGrpSpPr>
          <p:grpSpPr>
            <a:xfrm>
              <a:off x="8374777" y="4720039"/>
              <a:ext cx="3657600" cy="1685497"/>
              <a:chOff x="1268004" y="1141971"/>
              <a:chExt cx="3657600" cy="1685497"/>
            </a:xfrm>
          </p:grpSpPr>
          <p:sp>
            <p:nvSpPr>
              <p:cNvPr id="122" name="AutoShape 3">
                <a:extLst>
                  <a:ext uri="{FF2B5EF4-FFF2-40B4-BE49-F238E27FC236}">
                    <a16:creationId xmlns:a16="http://schemas.microsoft.com/office/drawing/2014/main" id="{C8B22E96-DA36-4CBA-81AC-CD88714DDF42}"/>
                  </a:ext>
                </a:extLst>
              </p:cNvPr>
              <p:cNvSpPr/>
              <p:nvPr/>
            </p:nvSpPr>
            <p:spPr>
              <a:xfrm>
                <a:off x="1268004" y="1522658"/>
                <a:ext cx="3657600" cy="1304810"/>
              </a:xfrm>
              <a:prstGeom prst="rect">
                <a:avLst/>
              </a:prstGeom>
              <a:solidFill>
                <a:srgbClr val="4472C4"/>
              </a:solidFill>
              <a:ln/>
            </p:spPr>
          </p:sp>
          <p:sp>
            <p:nvSpPr>
              <p:cNvPr id="123" name="AutoShape 4">
                <a:extLst>
                  <a:ext uri="{FF2B5EF4-FFF2-40B4-BE49-F238E27FC236}">
                    <a16:creationId xmlns:a16="http://schemas.microsoft.com/office/drawing/2014/main" id="{F0BAC70D-022D-413B-89DD-CB3F3575DF7B}"/>
                  </a:ext>
                </a:extLst>
              </p:cNvPr>
              <p:cNvSpPr/>
              <p:nvPr/>
            </p:nvSpPr>
            <p:spPr>
              <a:xfrm>
                <a:off x="1268004" y="1141971"/>
                <a:ext cx="3657600" cy="719328"/>
              </a:xfrm>
              <a:prstGeom prst="roundRect">
                <a:avLst/>
              </a:prstGeom>
              <a:solidFill>
                <a:srgbClr val="4472C4"/>
              </a:solidFill>
              <a:ln/>
            </p:spPr>
          </p:sp>
          <p:sp>
            <p:nvSpPr>
              <p:cNvPr id="124" name="TextBox 6">
                <a:extLst>
                  <a:ext uri="{FF2B5EF4-FFF2-40B4-BE49-F238E27FC236}">
                    <a16:creationId xmlns:a16="http://schemas.microsoft.com/office/drawing/2014/main" id="{EF422384-4807-4AAB-8CFE-7D77B45FCA3E}"/>
                  </a:ext>
                </a:extLst>
              </p:cNvPr>
              <p:cNvSpPr txBox="1"/>
              <p:nvPr/>
            </p:nvSpPr>
            <p:spPr>
              <a:xfrm>
                <a:off x="1408898" y="1190739"/>
                <a:ext cx="3375812" cy="59343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电化学技术</a:t>
                </a:r>
                <a:endParaRPr lang="en-US" sz="2000" b="1" dirty="0">
                  <a:solidFill>
                    <a:srgbClr val="FFFFFF">
                      <a:alpha val="100000"/>
                    </a:srgbClr>
                  </a:solidFill>
                  <a:latin typeface="+mn-ea"/>
                  <a:cs typeface="Microsoft Yahei"/>
                </a:endParaRPr>
              </a:p>
            </p:txBody>
          </p:sp>
          <p:sp>
            <p:nvSpPr>
              <p:cNvPr id="125" name="TextBox 5">
                <a:extLst>
                  <a:ext uri="{FF2B5EF4-FFF2-40B4-BE49-F238E27FC236}">
                    <a16:creationId xmlns:a16="http://schemas.microsoft.com/office/drawing/2014/main" id="{EA45321B-BC27-45D3-9427-A2CD0FA64D0F}"/>
                  </a:ext>
                </a:extLst>
              </p:cNvPr>
              <p:cNvSpPr txBox="1"/>
              <p:nvPr/>
            </p:nvSpPr>
            <p:spPr>
              <a:xfrm>
                <a:off x="1371068" y="1710046"/>
                <a:ext cx="3255153" cy="111742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利用电化学原理，通过电极反应将无机废气中的污染物转化为无害物质。</a:t>
                </a:r>
              </a:p>
            </p:txBody>
          </p:sp>
        </p:grpSp>
        <p:grpSp>
          <p:nvGrpSpPr>
            <p:cNvPr id="117" name="组合 116">
              <a:extLst>
                <a:ext uri="{FF2B5EF4-FFF2-40B4-BE49-F238E27FC236}">
                  <a16:creationId xmlns:a16="http://schemas.microsoft.com/office/drawing/2014/main" id="{5ECE20F8-73A5-4B96-9C1C-9648C520C900}"/>
                </a:ext>
              </a:extLst>
            </p:cNvPr>
            <p:cNvGrpSpPr/>
            <p:nvPr/>
          </p:nvGrpSpPr>
          <p:grpSpPr>
            <a:xfrm>
              <a:off x="4295547" y="4725115"/>
              <a:ext cx="3657600" cy="1695152"/>
              <a:chOff x="1268004" y="1141971"/>
              <a:chExt cx="3657600" cy="1695152"/>
            </a:xfrm>
          </p:grpSpPr>
          <p:sp>
            <p:nvSpPr>
              <p:cNvPr id="118" name="AutoShape 3">
                <a:extLst>
                  <a:ext uri="{FF2B5EF4-FFF2-40B4-BE49-F238E27FC236}">
                    <a16:creationId xmlns:a16="http://schemas.microsoft.com/office/drawing/2014/main" id="{A3854483-5E24-45C9-B3F0-5840AA50C0D0}"/>
                  </a:ext>
                </a:extLst>
              </p:cNvPr>
              <p:cNvSpPr/>
              <p:nvPr/>
            </p:nvSpPr>
            <p:spPr>
              <a:xfrm>
                <a:off x="1268004" y="1522658"/>
                <a:ext cx="3657600" cy="1314465"/>
              </a:xfrm>
              <a:prstGeom prst="rect">
                <a:avLst/>
              </a:prstGeom>
              <a:solidFill>
                <a:srgbClr val="4472C4"/>
              </a:solidFill>
              <a:ln/>
            </p:spPr>
          </p:sp>
          <p:sp>
            <p:nvSpPr>
              <p:cNvPr id="119" name="AutoShape 4">
                <a:extLst>
                  <a:ext uri="{FF2B5EF4-FFF2-40B4-BE49-F238E27FC236}">
                    <a16:creationId xmlns:a16="http://schemas.microsoft.com/office/drawing/2014/main" id="{55908281-A567-4FEC-A621-28896009F4AE}"/>
                  </a:ext>
                </a:extLst>
              </p:cNvPr>
              <p:cNvSpPr/>
              <p:nvPr/>
            </p:nvSpPr>
            <p:spPr>
              <a:xfrm>
                <a:off x="1268004" y="1141971"/>
                <a:ext cx="3657600" cy="719328"/>
              </a:xfrm>
              <a:prstGeom prst="roundRect">
                <a:avLst/>
              </a:prstGeom>
              <a:solidFill>
                <a:srgbClr val="4472C4"/>
              </a:solidFill>
              <a:ln/>
            </p:spPr>
          </p:sp>
          <p:sp>
            <p:nvSpPr>
              <p:cNvPr id="120" name="TextBox 6">
                <a:extLst>
                  <a:ext uri="{FF2B5EF4-FFF2-40B4-BE49-F238E27FC236}">
                    <a16:creationId xmlns:a16="http://schemas.microsoft.com/office/drawing/2014/main" id="{6E44E31A-46BB-4A9D-9035-E31816FBCBBD}"/>
                  </a:ext>
                </a:extLst>
              </p:cNvPr>
              <p:cNvSpPr txBox="1"/>
              <p:nvPr/>
            </p:nvSpPr>
            <p:spPr>
              <a:xfrm>
                <a:off x="1408898" y="1190739"/>
                <a:ext cx="3375812" cy="59343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催化技术</a:t>
                </a:r>
                <a:endParaRPr lang="en-US" sz="2000" b="1" dirty="0">
                  <a:solidFill>
                    <a:srgbClr val="FFFFFF">
                      <a:alpha val="100000"/>
                    </a:srgbClr>
                  </a:solidFill>
                  <a:latin typeface="+mn-ea"/>
                  <a:cs typeface="Microsoft Yahei"/>
                </a:endParaRPr>
              </a:p>
            </p:txBody>
          </p:sp>
          <p:sp>
            <p:nvSpPr>
              <p:cNvPr id="121" name="TextBox 5">
                <a:extLst>
                  <a:ext uri="{FF2B5EF4-FFF2-40B4-BE49-F238E27FC236}">
                    <a16:creationId xmlns:a16="http://schemas.microsoft.com/office/drawing/2014/main" id="{CBD83B6D-6E50-4CB7-A4D9-78D115CAB15C}"/>
                  </a:ext>
                </a:extLst>
              </p:cNvPr>
              <p:cNvSpPr txBox="1"/>
              <p:nvPr/>
            </p:nvSpPr>
            <p:spPr>
              <a:xfrm>
                <a:off x="1371068" y="1710046"/>
                <a:ext cx="3255153" cy="111742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含尘气体经过催化床层发生催化反应，使污染物转化为无害或易于处理的物质。</a:t>
                </a:r>
              </a:p>
            </p:txBody>
          </p:sp>
        </p:grpSp>
      </p:grpSp>
    </p:spTree>
    <p:extLst>
      <p:ext uri="{BB962C8B-B14F-4D97-AF65-F5344CB8AC3E}">
        <p14:creationId xmlns:p14="http://schemas.microsoft.com/office/powerpoint/2010/main" val="1746680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71" name="TextBox 10">
            <a:extLst>
              <a:ext uri="{FF2B5EF4-FFF2-40B4-BE49-F238E27FC236}">
                <a16:creationId xmlns:a16="http://schemas.microsoft.com/office/drawing/2014/main" id="{AB14FAA3-A65F-4850-BA69-83107134640E}"/>
              </a:ext>
            </a:extLst>
          </p:cNvPr>
          <p:cNvSpPr txBox="1"/>
          <p:nvPr/>
        </p:nvSpPr>
        <p:spPr>
          <a:xfrm>
            <a:off x="1510580" y="1447211"/>
            <a:ext cx="5395151" cy="457113"/>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大气污染防治技术</a:t>
            </a:r>
            <a:endParaRPr lang="en-US" sz="2800" b="1" dirty="0">
              <a:solidFill>
                <a:srgbClr val="2C4E8C"/>
              </a:solidFill>
              <a:latin typeface="+mn-ea"/>
              <a:cs typeface="Microsoft Yahei"/>
            </a:endParaRPr>
          </a:p>
        </p:txBody>
      </p:sp>
      <p:grpSp>
        <p:nvGrpSpPr>
          <p:cNvPr id="68" name="组合 67">
            <a:extLst>
              <a:ext uri="{FF2B5EF4-FFF2-40B4-BE49-F238E27FC236}">
                <a16:creationId xmlns:a16="http://schemas.microsoft.com/office/drawing/2014/main" id="{DD2CCBB9-AE62-4FD6-9F6D-A6FB9B971D87}"/>
              </a:ext>
            </a:extLst>
          </p:cNvPr>
          <p:cNvGrpSpPr/>
          <p:nvPr/>
        </p:nvGrpSpPr>
        <p:grpSpPr>
          <a:xfrm>
            <a:off x="560013" y="1275402"/>
            <a:ext cx="845690" cy="810236"/>
            <a:chOff x="4761432" y="1399458"/>
            <a:chExt cx="810236" cy="810236"/>
          </a:xfrm>
        </p:grpSpPr>
        <p:sp>
          <p:nvSpPr>
            <p:cNvPr id="69" name="AutoShape 13">
              <a:extLst>
                <a:ext uri="{FF2B5EF4-FFF2-40B4-BE49-F238E27FC236}">
                  <a16:creationId xmlns:a16="http://schemas.microsoft.com/office/drawing/2014/main" id="{1536DC21-1C77-4BAA-8BA0-EC702CC1CC18}"/>
                </a:ext>
              </a:extLst>
            </p:cNvPr>
            <p:cNvSpPr/>
            <p:nvPr/>
          </p:nvSpPr>
          <p:spPr>
            <a:xfrm>
              <a:off x="4761432" y="1399458"/>
              <a:ext cx="810236" cy="810236"/>
            </a:xfrm>
            <a:prstGeom prst="ellipse">
              <a:avLst/>
            </a:prstGeom>
            <a:solidFill>
              <a:schemeClr val="accent2">
                <a:alpha val="100000"/>
              </a:schemeClr>
            </a:solidFill>
            <a:ln/>
          </p:spPr>
        </p:sp>
        <p:sp>
          <p:nvSpPr>
            <p:cNvPr id="70" name="Freeform 16">
              <a:extLst>
                <a:ext uri="{FF2B5EF4-FFF2-40B4-BE49-F238E27FC236}">
                  <a16:creationId xmlns:a16="http://schemas.microsoft.com/office/drawing/2014/main" id="{E0E036B2-10D5-40B3-9FEF-51EDFADD27D5}"/>
                </a:ext>
              </a:extLst>
            </p:cNvPr>
            <p:cNvSpPr/>
            <p:nvPr/>
          </p:nvSpPr>
          <p:spPr>
            <a:xfrm>
              <a:off x="4970715" y="1571267"/>
              <a:ext cx="391670" cy="3916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grpSp>
      <p:grpSp>
        <p:nvGrpSpPr>
          <p:cNvPr id="28" name="组合 27">
            <a:extLst>
              <a:ext uri="{FF2B5EF4-FFF2-40B4-BE49-F238E27FC236}">
                <a16:creationId xmlns:a16="http://schemas.microsoft.com/office/drawing/2014/main" id="{CCB66B6B-CE08-4FBD-9C10-8BCCF9DAA2D3}"/>
              </a:ext>
            </a:extLst>
          </p:cNvPr>
          <p:cNvGrpSpPr/>
          <p:nvPr/>
        </p:nvGrpSpPr>
        <p:grpSpPr>
          <a:xfrm>
            <a:off x="504428" y="2792110"/>
            <a:ext cx="11325614" cy="3960506"/>
            <a:chOff x="504428" y="2802310"/>
            <a:chExt cx="11325614" cy="3960506"/>
          </a:xfrm>
        </p:grpSpPr>
        <p:pic>
          <p:nvPicPr>
            <p:cNvPr id="74" name="Picture 2">
              <a:extLst>
                <a:ext uri="{FF2B5EF4-FFF2-40B4-BE49-F238E27FC236}">
                  <a16:creationId xmlns:a16="http://schemas.microsoft.com/office/drawing/2014/main" id="{F4A62B4E-B0C2-415E-8E1D-811452793BD2}"/>
                </a:ext>
              </a:extLst>
            </p:cNvPr>
            <p:cNvPicPr>
              <a:picLocks noChangeAspect="1"/>
            </p:cNvPicPr>
            <p:nvPr/>
          </p:nvPicPr>
          <p:blipFill>
            <a:blip r:embed="rId3"/>
            <a:srcRect l="16667" r="16667"/>
            <a:stretch>
              <a:fillRect/>
            </a:stretch>
          </p:blipFill>
          <p:spPr>
            <a:xfrm>
              <a:off x="3111364" y="3030824"/>
              <a:ext cx="2476500" cy="2476500"/>
            </a:xfrm>
            <a:prstGeom prst="ellipse">
              <a:avLst/>
            </a:prstGeom>
          </p:spPr>
        </p:pic>
        <p:pic>
          <p:nvPicPr>
            <p:cNvPr id="75" name="Picture 3">
              <a:extLst>
                <a:ext uri="{FF2B5EF4-FFF2-40B4-BE49-F238E27FC236}">
                  <a16:creationId xmlns:a16="http://schemas.microsoft.com/office/drawing/2014/main" id="{38C9D30E-2911-4759-8A75-5456DA94CE12}"/>
                </a:ext>
              </a:extLst>
            </p:cNvPr>
            <p:cNvPicPr>
              <a:picLocks noChangeAspect="1"/>
            </p:cNvPicPr>
            <p:nvPr/>
          </p:nvPicPr>
          <p:blipFill>
            <a:blip r:embed="rId4"/>
            <a:srcRect l="16667" r="16667"/>
            <a:stretch>
              <a:fillRect/>
            </a:stretch>
          </p:blipFill>
          <p:spPr>
            <a:xfrm>
              <a:off x="5887652" y="3080025"/>
              <a:ext cx="2476500" cy="2476500"/>
            </a:xfrm>
            <a:prstGeom prst="ellipse">
              <a:avLst/>
            </a:prstGeom>
          </p:spPr>
        </p:pic>
        <p:grpSp>
          <p:nvGrpSpPr>
            <p:cNvPr id="76" name="Group 4">
              <a:extLst>
                <a:ext uri="{FF2B5EF4-FFF2-40B4-BE49-F238E27FC236}">
                  <a16:creationId xmlns:a16="http://schemas.microsoft.com/office/drawing/2014/main" id="{3DD3D368-C1C8-4E4F-A1B0-EBED012D63CA}"/>
                </a:ext>
              </a:extLst>
            </p:cNvPr>
            <p:cNvGrpSpPr/>
            <p:nvPr/>
          </p:nvGrpSpPr>
          <p:grpSpPr>
            <a:xfrm>
              <a:off x="3111364" y="3083171"/>
              <a:ext cx="665795" cy="665791"/>
              <a:chOff x="3352886" y="2107432"/>
              <a:chExt cx="665795" cy="665791"/>
            </a:xfrm>
          </p:grpSpPr>
          <p:sp>
            <p:nvSpPr>
              <p:cNvPr id="94" name="AutoShape 5">
                <a:extLst>
                  <a:ext uri="{FF2B5EF4-FFF2-40B4-BE49-F238E27FC236}">
                    <a16:creationId xmlns:a16="http://schemas.microsoft.com/office/drawing/2014/main" id="{CF5259BC-5F08-4530-AD04-63DB321D4AC2}"/>
                  </a:ext>
                </a:extLst>
              </p:cNvPr>
              <p:cNvSpPr/>
              <p:nvPr/>
            </p:nvSpPr>
            <p:spPr>
              <a:xfrm>
                <a:off x="3352886" y="2107432"/>
                <a:ext cx="665795" cy="665791"/>
              </a:xfrm>
              <a:prstGeom prst="ellipse">
                <a:avLst/>
              </a:prstGeom>
              <a:solidFill>
                <a:schemeClr val="accent1">
                  <a:alpha val="100000"/>
                </a:schemeClr>
              </a:solidFill>
              <a:ln w="28575">
                <a:solidFill>
                  <a:schemeClr val="accent1">
                    <a:alpha val="100000"/>
                    <a:lumMod val="60000"/>
                    <a:lumMod val="40000"/>
                  </a:schemeClr>
                </a:solidFill>
                <a:prstDash val="solid"/>
              </a:ln>
            </p:spPr>
          </p:sp>
          <p:sp>
            <p:nvSpPr>
              <p:cNvPr id="95" name="Freeform 6">
                <a:extLst>
                  <a:ext uri="{FF2B5EF4-FFF2-40B4-BE49-F238E27FC236}">
                    <a16:creationId xmlns:a16="http://schemas.microsoft.com/office/drawing/2014/main" id="{823691EB-F8D9-44C3-B34E-786CE7B7BB87}"/>
                  </a:ext>
                </a:extLst>
              </p:cNvPr>
              <p:cNvSpPr/>
              <p:nvPr/>
            </p:nvSpPr>
            <p:spPr>
              <a:xfrm>
                <a:off x="3532726" y="2292906"/>
                <a:ext cx="306115" cy="294843"/>
              </a:xfrm>
              <a:custGeom>
                <a:avLst/>
                <a:gdLst/>
                <a:ahLst/>
                <a:cxnLst/>
                <a:rect l="l" t="t" r="r" b="b"/>
                <a:pathLst>
                  <a:path w="6827" h="6827">
                    <a:moveTo>
                      <a:pt x="1263" y="5234"/>
                    </a:moveTo>
                    <a:cubicBezTo>
                      <a:pt x="1316" y="5493"/>
                      <a:pt x="1546" y="5689"/>
                      <a:pt x="1820" y="5689"/>
                    </a:cubicBezTo>
                    <a:cubicBezTo>
                      <a:pt x="2114" y="5689"/>
                      <a:pt x="2354" y="5464"/>
                      <a:pt x="2383" y="5178"/>
                    </a:cubicBezTo>
                    <a:lnTo>
                      <a:pt x="3568" y="4191"/>
                    </a:lnTo>
                    <a:cubicBezTo>
                      <a:pt x="3652" y="4401"/>
                      <a:pt x="3856" y="4551"/>
                      <a:pt x="4096" y="4551"/>
                    </a:cubicBezTo>
                    <a:cubicBezTo>
                      <a:pt x="4348" y="4551"/>
                      <a:pt x="4560" y="4385"/>
                      <a:pt x="4635" y="4157"/>
                    </a:cubicBezTo>
                    <a:lnTo>
                      <a:pt x="5696" y="4736"/>
                    </a:lnTo>
                    <a:cubicBezTo>
                      <a:pt x="5732" y="5016"/>
                      <a:pt x="5969" y="5234"/>
                      <a:pt x="6258" y="5234"/>
                    </a:cubicBezTo>
                    <a:cubicBezTo>
                      <a:pt x="6571" y="5234"/>
                      <a:pt x="6827" y="4979"/>
                      <a:pt x="6827" y="4665"/>
                    </a:cubicBezTo>
                    <a:cubicBezTo>
                      <a:pt x="6827" y="4351"/>
                      <a:pt x="6571" y="4096"/>
                      <a:pt x="6258" y="4096"/>
                    </a:cubicBezTo>
                    <a:cubicBezTo>
                      <a:pt x="6006" y="4096"/>
                      <a:pt x="5794" y="4262"/>
                      <a:pt x="5719" y="4490"/>
                    </a:cubicBezTo>
                    <a:lnTo>
                      <a:pt x="4658" y="3911"/>
                    </a:lnTo>
                    <a:cubicBezTo>
                      <a:pt x="4622" y="3631"/>
                      <a:pt x="4385" y="3413"/>
                      <a:pt x="4096" y="3413"/>
                    </a:cubicBezTo>
                    <a:cubicBezTo>
                      <a:pt x="3802" y="3413"/>
                      <a:pt x="3563" y="3638"/>
                      <a:pt x="3533" y="3924"/>
                    </a:cubicBezTo>
                    <a:lnTo>
                      <a:pt x="2348" y="4911"/>
                    </a:lnTo>
                    <a:cubicBezTo>
                      <a:pt x="2265" y="4701"/>
                      <a:pt x="2060" y="4551"/>
                      <a:pt x="1820" y="4551"/>
                    </a:cubicBezTo>
                    <a:cubicBezTo>
                      <a:pt x="1546" y="4551"/>
                      <a:pt x="1316" y="4747"/>
                      <a:pt x="1263" y="5006"/>
                    </a:cubicBezTo>
                    <a:lnTo>
                      <a:pt x="455" y="5006"/>
                    </a:lnTo>
                    <a:lnTo>
                      <a:pt x="455" y="4551"/>
                    </a:lnTo>
                    <a:lnTo>
                      <a:pt x="569" y="4551"/>
                    </a:lnTo>
                    <a:cubicBezTo>
                      <a:pt x="632" y="4551"/>
                      <a:pt x="683" y="4500"/>
                      <a:pt x="683" y="4437"/>
                    </a:cubicBezTo>
                    <a:cubicBezTo>
                      <a:pt x="683" y="4374"/>
                      <a:pt x="632" y="4324"/>
                      <a:pt x="569" y="4324"/>
                    </a:cubicBezTo>
                    <a:lnTo>
                      <a:pt x="455" y="4324"/>
                    </a:lnTo>
                    <a:lnTo>
                      <a:pt x="455" y="3982"/>
                    </a:lnTo>
                    <a:lnTo>
                      <a:pt x="569" y="3982"/>
                    </a:lnTo>
                    <a:cubicBezTo>
                      <a:pt x="632" y="3982"/>
                      <a:pt x="683" y="3931"/>
                      <a:pt x="683" y="3868"/>
                    </a:cubicBezTo>
                    <a:cubicBezTo>
                      <a:pt x="683" y="3806"/>
                      <a:pt x="632" y="3755"/>
                      <a:pt x="569" y="3755"/>
                    </a:cubicBezTo>
                    <a:lnTo>
                      <a:pt x="480" y="3755"/>
                    </a:lnTo>
                    <a:lnTo>
                      <a:pt x="1407" y="2416"/>
                    </a:lnTo>
                    <a:cubicBezTo>
                      <a:pt x="1494" y="2470"/>
                      <a:pt x="1596" y="2503"/>
                      <a:pt x="1707" y="2503"/>
                    </a:cubicBezTo>
                    <a:cubicBezTo>
                      <a:pt x="1888" y="2503"/>
                      <a:pt x="2048" y="2416"/>
                      <a:pt x="2152" y="2284"/>
                    </a:cubicBezTo>
                    <a:lnTo>
                      <a:pt x="2752" y="2584"/>
                    </a:lnTo>
                    <a:cubicBezTo>
                      <a:pt x="2740" y="2631"/>
                      <a:pt x="2731" y="2680"/>
                      <a:pt x="2731" y="2731"/>
                    </a:cubicBezTo>
                    <a:cubicBezTo>
                      <a:pt x="2731" y="3044"/>
                      <a:pt x="2986" y="3300"/>
                      <a:pt x="3300" y="3300"/>
                    </a:cubicBezTo>
                    <a:cubicBezTo>
                      <a:pt x="3613" y="3300"/>
                      <a:pt x="3868" y="3044"/>
                      <a:pt x="3868" y="2731"/>
                    </a:cubicBezTo>
                    <a:cubicBezTo>
                      <a:pt x="3868" y="2608"/>
                      <a:pt x="3829" y="2496"/>
                      <a:pt x="3763" y="2403"/>
                    </a:cubicBezTo>
                    <a:lnTo>
                      <a:pt x="4488" y="1055"/>
                    </a:lnTo>
                    <a:cubicBezTo>
                      <a:pt x="4574" y="1107"/>
                      <a:pt x="4672" y="1138"/>
                      <a:pt x="4779" y="1138"/>
                    </a:cubicBezTo>
                    <a:cubicBezTo>
                      <a:pt x="4891" y="1138"/>
                      <a:pt x="4995" y="1104"/>
                      <a:pt x="5083" y="1048"/>
                    </a:cubicBezTo>
                    <a:lnTo>
                      <a:pt x="5827" y="2004"/>
                    </a:lnTo>
                    <a:cubicBezTo>
                      <a:pt x="5829" y="2007"/>
                      <a:pt x="5833" y="2009"/>
                      <a:pt x="5836" y="2011"/>
                    </a:cubicBezTo>
                    <a:cubicBezTo>
                      <a:pt x="5745" y="2112"/>
                      <a:pt x="5689" y="2244"/>
                      <a:pt x="5689" y="2389"/>
                    </a:cubicBezTo>
                    <a:cubicBezTo>
                      <a:pt x="5689" y="2703"/>
                      <a:pt x="5944" y="2958"/>
                      <a:pt x="6258" y="2958"/>
                    </a:cubicBezTo>
                    <a:cubicBezTo>
                      <a:pt x="6571" y="2958"/>
                      <a:pt x="6827" y="2703"/>
                      <a:pt x="6827" y="2389"/>
                    </a:cubicBezTo>
                    <a:cubicBezTo>
                      <a:pt x="6827" y="2076"/>
                      <a:pt x="6571" y="1820"/>
                      <a:pt x="6258" y="1820"/>
                    </a:cubicBezTo>
                    <a:cubicBezTo>
                      <a:pt x="6170" y="1820"/>
                      <a:pt x="6087" y="1842"/>
                      <a:pt x="6013" y="1878"/>
                    </a:cubicBezTo>
                    <a:cubicBezTo>
                      <a:pt x="6010" y="1874"/>
                      <a:pt x="6010" y="1869"/>
                      <a:pt x="6006" y="1864"/>
                    </a:cubicBezTo>
                    <a:lnTo>
                      <a:pt x="5248" y="890"/>
                    </a:lnTo>
                    <a:cubicBezTo>
                      <a:pt x="5311" y="798"/>
                      <a:pt x="5348" y="688"/>
                      <a:pt x="5348" y="569"/>
                    </a:cubicBezTo>
                    <a:cubicBezTo>
                      <a:pt x="5348" y="255"/>
                      <a:pt x="5092" y="0"/>
                      <a:pt x="4779" y="0"/>
                    </a:cubicBezTo>
                    <a:cubicBezTo>
                      <a:pt x="4465" y="0"/>
                      <a:pt x="4210" y="255"/>
                      <a:pt x="4210" y="569"/>
                    </a:cubicBezTo>
                    <a:cubicBezTo>
                      <a:pt x="4210" y="691"/>
                      <a:pt x="4249" y="804"/>
                      <a:pt x="4315" y="897"/>
                    </a:cubicBezTo>
                    <a:lnTo>
                      <a:pt x="3590" y="2244"/>
                    </a:lnTo>
                    <a:cubicBezTo>
                      <a:pt x="3505" y="2193"/>
                      <a:pt x="3406" y="2162"/>
                      <a:pt x="3300" y="2162"/>
                    </a:cubicBezTo>
                    <a:cubicBezTo>
                      <a:pt x="3118" y="2162"/>
                      <a:pt x="2959" y="2248"/>
                      <a:pt x="2854" y="2381"/>
                    </a:cubicBezTo>
                    <a:lnTo>
                      <a:pt x="2254" y="2081"/>
                    </a:lnTo>
                    <a:cubicBezTo>
                      <a:pt x="2267" y="2034"/>
                      <a:pt x="2276" y="1985"/>
                      <a:pt x="2276" y="1934"/>
                    </a:cubicBezTo>
                    <a:cubicBezTo>
                      <a:pt x="2276" y="1621"/>
                      <a:pt x="2020" y="1365"/>
                      <a:pt x="1707" y="1365"/>
                    </a:cubicBezTo>
                    <a:cubicBezTo>
                      <a:pt x="1393" y="1365"/>
                      <a:pt x="1138" y="1621"/>
                      <a:pt x="1138" y="1934"/>
                    </a:cubicBezTo>
                    <a:cubicBezTo>
                      <a:pt x="1138" y="2054"/>
                      <a:pt x="1176" y="2166"/>
                      <a:pt x="1239" y="2257"/>
                    </a:cubicBezTo>
                    <a:lnTo>
                      <a:pt x="593" y="3191"/>
                    </a:lnTo>
                    <a:cubicBezTo>
                      <a:pt x="585" y="3189"/>
                      <a:pt x="578" y="3186"/>
                      <a:pt x="569" y="3186"/>
                    </a:cubicBezTo>
                    <a:lnTo>
                      <a:pt x="455" y="3186"/>
                    </a:lnTo>
                    <a:lnTo>
                      <a:pt x="455" y="2844"/>
                    </a:lnTo>
                    <a:lnTo>
                      <a:pt x="569" y="2844"/>
                    </a:lnTo>
                    <a:cubicBezTo>
                      <a:pt x="632" y="2844"/>
                      <a:pt x="683" y="2794"/>
                      <a:pt x="683" y="2731"/>
                    </a:cubicBezTo>
                    <a:cubicBezTo>
                      <a:pt x="683" y="2668"/>
                      <a:pt x="632" y="2617"/>
                      <a:pt x="569" y="2617"/>
                    </a:cubicBezTo>
                    <a:lnTo>
                      <a:pt x="455" y="2617"/>
                    </a:lnTo>
                    <a:lnTo>
                      <a:pt x="455" y="2276"/>
                    </a:lnTo>
                    <a:lnTo>
                      <a:pt x="569" y="2276"/>
                    </a:lnTo>
                    <a:cubicBezTo>
                      <a:pt x="632" y="2276"/>
                      <a:pt x="683" y="2225"/>
                      <a:pt x="683" y="2162"/>
                    </a:cubicBezTo>
                    <a:cubicBezTo>
                      <a:pt x="683" y="2099"/>
                      <a:pt x="632" y="2048"/>
                      <a:pt x="569" y="2048"/>
                    </a:cubicBezTo>
                    <a:lnTo>
                      <a:pt x="455" y="2048"/>
                    </a:lnTo>
                    <a:lnTo>
                      <a:pt x="455" y="1707"/>
                    </a:lnTo>
                    <a:lnTo>
                      <a:pt x="569" y="1707"/>
                    </a:lnTo>
                    <a:cubicBezTo>
                      <a:pt x="632" y="1707"/>
                      <a:pt x="683" y="1656"/>
                      <a:pt x="683" y="1593"/>
                    </a:cubicBezTo>
                    <a:cubicBezTo>
                      <a:pt x="683" y="1530"/>
                      <a:pt x="632" y="1479"/>
                      <a:pt x="569" y="1479"/>
                    </a:cubicBezTo>
                    <a:lnTo>
                      <a:pt x="455" y="1479"/>
                    </a:lnTo>
                    <a:lnTo>
                      <a:pt x="455" y="1138"/>
                    </a:lnTo>
                    <a:lnTo>
                      <a:pt x="569" y="1138"/>
                    </a:lnTo>
                    <a:cubicBezTo>
                      <a:pt x="632" y="1138"/>
                      <a:pt x="683" y="1087"/>
                      <a:pt x="683" y="1024"/>
                    </a:cubicBezTo>
                    <a:cubicBezTo>
                      <a:pt x="683" y="961"/>
                      <a:pt x="632" y="910"/>
                      <a:pt x="569" y="910"/>
                    </a:cubicBezTo>
                    <a:lnTo>
                      <a:pt x="455" y="910"/>
                    </a:lnTo>
                    <a:lnTo>
                      <a:pt x="455" y="569"/>
                    </a:lnTo>
                    <a:lnTo>
                      <a:pt x="569" y="569"/>
                    </a:lnTo>
                    <a:cubicBezTo>
                      <a:pt x="632" y="569"/>
                      <a:pt x="683" y="518"/>
                      <a:pt x="683" y="455"/>
                    </a:cubicBezTo>
                    <a:cubicBezTo>
                      <a:pt x="683" y="392"/>
                      <a:pt x="632" y="341"/>
                      <a:pt x="569" y="341"/>
                    </a:cubicBezTo>
                    <a:lnTo>
                      <a:pt x="455" y="341"/>
                    </a:lnTo>
                    <a:lnTo>
                      <a:pt x="455" y="114"/>
                    </a:lnTo>
                    <a:cubicBezTo>
                      <a:pt x="455" y="51"/>
                      <a:pt x="404" y="0"/>
                      <a:pt x="341" y="0"/>
                    </a:cubicBezTo>
                    <a:cubicBezTo>
                      <a:pt x="278" y="0"/>
                      <a:pt x="228" y="51"/>
                      <a:pt x="228" y="114"/>
                    </a:cubicBezTo>
                    <a:lnTo>
                      <a:pt x="228" y="341"/>
                    </a:lnTo>
                    <a:lnTo>
                      <a:pt x="114" y="341"/>
                    </a:lnTo>
                    <a:cubicBezTo>
                      <a:pt x="51" y="341"/>
                      <a:pt x="0" y="392"/>
                      <a:pt x="0" y="455"/>
                    </a:cubicBezTo>
                    <a:cubicBezTo>
                      <a:pt x="0" y="518"/>
                      <a:pt x="51" y="569"/>
                      <a:pt x="114" y="569"/>
                    </a:cubicBezTo>
                    <a:lnTo>
                      <a:pt x="228" y="569"/>
                    </a:lnTo>
                    <a:lnTo>
                      <a:pt x="228" y="910"/>
                    </a:lnTo>
                    <a:lnTo>
                      <a:pt x="114" y="910"/>
                    </a:lnTo>
                    <a:cubicBezTo>
                      <a:pt x="51" y="910"/>
                      <a:pt x="0" y="961"/>
                      <a:pt x="0" y="1024"/>
                    </a:cubicBezTo>
                    <a:cubicBezTo>
                      <a:pt x="0" y="1087"/>
                      <a:pt x="51" y="1138"/>
                      <a:pt x="114" y="1138"/>
                    </a:cubicBezTo>
                    <a:lnTo>
                      <a:pt x="228" y="1138"/>
                    </a:lnTo>
                    <a:lnTo>
                      <a:pt x="228" y="1479"/>
                    </a:lnTo>
                    <a:lnTo>
                      <a:pt x="114" y="1479"/>
                    </a:lnTo>
                    <a:cubicBezTo>
                      <a:pt x="51" y="1479"/>
                      <a:pt x="0" y="1530"/>
                      <a:pt x="0" y="1593"/>
                    </a:cubicBezTo>
                    <a:cubicBezTo>
                      <a:pt x="0" y="1656"/>
                      <a:pt x="51" y="1707"/>
                      <a:pt x="114" y="1707"/>
                    </a:cubicBezTo>
                    <a:lnTo>
                      <a:pt x="228" y="1707"/>
                    </a:lnTo>
                    <a:lnTo>
                      <a:pt x="228" y="2048"/>
                    </a:lnTo>
                    <a:lnTo>
                      <a:pt x="114" y="2048"/>
                    </a:lnTo>
                    <a:cubicBezTo>
                      <a:pt x="51" y="2048"/>
                      <a:pt x="0" y="2099"/>
                      <a:pt x="0" y="2162"/>
                    </a:cubicBezTo>
                    <a:cubicBezTo>
                      <a:pt x="0" y="2225"/>
                      <a:pt x="51" y="2276"/>
                      <a:pt x="114" y="2276"/>
                    </a:cubicBezTo>
                    <a:lnTo>
                      <a:pt x="228" y="2276"/>
                    </a:lnTo>
                    <a:lnTo>
                      <a:pt x="228" y="2617"/>
                    </a:lnTo>
                    <a:lnTo>
                      <a:pt x="114" y="2617"/>
                    </a:lnTo>
                    <a:cubicBezTo>
                      <a:pt x="51" y="2617"/>
                      <a:pt x="0" y="2668"/>
                      <a:pt x="0" y="2731"/>
                    </a:cubicBezTo>
                    <a:cubicBezTo>
                      <a:pt x="0" y="2794"/>
                      <a:pt x="51" y="2844"/>
                      <a:pt x="114" y="2844"/>
                    </a:cubicBezTo>
                    <a:lnTo>
                      <a:pt x="228" y="2844"/>
                    </a:lnTo>
                    <a:lnTo>
                      <a:pt x="228" y="3186"/>
                    </a:lnTo>
                    <a:lnTo>
                      <a:pt x="114" y="3186"/>
                    </a:lnTo>
                    <a:cubicBezTo>
                      <a:pt x="51" y="3186"/>
                      <a:pt x="0" y="3237"/>
                      <a:pt x="0" y="3300"/>
                    </a:cubicBezTo>
                    <a:cubicBezTo>
                      <a:pt x="0" y="3362"/>
                      <a:pt x="51" y="3413"/>
                      <a:pt x="114" y="3413"/>
                    </a:cubicBezTo>
                    <a:lnTo>
                      <a:pt x="228" y="3413"/>
                    </a:lnTo>
                    <a:lnTo>
                      <a:pt x="228" y="3755"/>
                    </a:lnTo>
                    <a:lnTo>
                      <a:pt x="114" y="3755"/>
                    </a:lnTo>
                    <a:cubicBezTo>
                      <a:pt x="51" y="3755"/>
                      <a:pt x="0" y="3806"/>
                      <a:pt x="0" y="3868"/>
                    </a:cubicBezTo>
                    <a:cubicBezTo>
                      <a:pt x="0" y="3931"/>
                      <a:pt x="51" y="3982"/>
                      <a:pt x="114" y="3982"/>
                    </a:cubicBezTo>
                    <a:lnTo>
                      <a:pt x="228" y="3982"/>
                    </a:lnTo>
                    <a:lnTo>
                      <a:pt x="228" y="4324"/>
                    </a:lnTo>
                    <a:lnTo>
                      <a:pt x="114" y="4324"/>
                    </a:lnTo>
                    <a:cubicBezTo>
                      <a:pt x="51" y="4324"/>
                      <a:pt x="0" y="4374"/>
                      <a:pt x="0" y="4437"/>
                    </a:cubicBezTo>
                    <a:cubicBezTo>
                      <a:pt x="0" y="4500"/>
                      <a:pt x="51" y="4551"/>
                      <a:pt x="114" y="4551"/>
                    </a:cubicBezTo>
                    <a:lnTo>
                      <a:pt x="228" y="4551"/>
                    </a:lnTo>
                    <a:lnTo>
                      <a:pt x="228" y="4892"/>
                    </a:lnTo>
                    <a:lnTo>
                      <a:pt x="114" y="4892"/>
                    </a:lnTo>
                    <a:cubicBezTo>
                      <a:pt x="51" y="4892"/>
                      <a:pt x="0" y="4943"/>
                      <a:pt x="0" y="5006"/>
                    </a:cubicBezTo>
                    <a:cubicBezTo>
                      <a:pt x="0" y="5069"/>
                      <a:pt x="51" y="5120"/>
                      <a:pt x="114" y="5120"/>
                    </a:cubicBezTo>
                    <a:lnTo>
                      <a:pt x="228" y="5120"/>
                    </a:lnTo>
                    <a:lnTo>
                      <a:pt x="228" y="5461"/>
                    </a:lnTo>
                    <a:lnTo>
                      <a:pt x="114" y="5461"/>
                    </a:lnTo>
                    <a:cubicBezTo>
                      <a:pt x="51" y="5461"/>
                      <a:pt x="0" y="5512"/>
                      <a:pt x="0" y="5575"/>
                    </a:cubicBezTo>
                    <a:cubicBezTo>
                      <a:pt x="0" y="5638"/>
                      <a:pt x="51" y="5689"/>
                      <a:pt x="114" y="5689"/>
                    </a:cubicBezTo>
                    <a:lnTo>
                      <a:pt x="228" y="5689"/>
                    </a:lnTo>
                    <a:lnTo>
                      <a:pt x="228" y="6030"/>
                    </a:lnTo>
                    <a:lnTo>
                      <a:pt x="114" y="6030"/>
                    </a:lnTo>
                    <a:cubicBezTo>
                      <a:pt x="51" y="6030"/>
                      <a:pt x="0" y="6081"/>
                      <a:pt x="0" y="6144"/>
                    </a:cubicBezTo>
                    <a:cubicBezTo>
                      <a:pt x="0" y="6207"/>
                      <a:pt x="51" y="6258"/>
                      <a:pt x="114" y="6258"/>
                    </a:cubicBezTo>
                    <a:lnTo>
                      <a:pt x="228" y="6258"/>
                    </a:lnTo>
                    <a:lnTo>
                      <a:pt x="228" y="6485"/>
                    </a:lnTo>
                    <a:cubicBezTo>
                      <a:pt x="228" y="6548"/>
                      <a:pt x="278" y="6599"/>
                      <a:pt x="341" y="6599"/>
                    </a:cubicBezTo>
                    <a:lnTo>
                      <a:pt x="683" y="6599"/>
                    </a:lnTo>
                    <a:lnTo>
                      <a:pt x="683" y="6713"/>
                    </a:lnTo>
                    <a:cubicBezTo>
                      <a:pt x="683" y="6776"/>
                      <a:pt x="734" y="6827"/>
                      <a:pt x="796" y="6827"/>
                    </a:cubicBezTo>
                    <a:cubicBezTo>
                      <a:pt x="859" y="6827"/>
                      <a:pt x="910" y="6776"/>
                      <a:pt x="910" y="6713"/>
                    </a:cubicBezTo>
                    <a:lnTo>
                      <a:pt x="910" y="6599"/>
                    </a:lnTo>
                    <a:lnTo>
                      <a:pt x="1252" y="6599"/>
                    </a:lnTo>
                    <a:lnTo>
                      <a:pt x="1252" y="6713"/>
                    </a:lnTo>
                    <a:cubicBezTo>
                      <a:pt x="1252" y="6776"/>
                      <a:pt x="1302" y="6827"/>
                      <a:pt x="1365" y="6827"/>
                    </a:cubicBezTo>
                    <a:cubicBezTo>
                      <a:pt x="1428" y="6827"/>
                      <a:pt x="1479" y="6776"/>
                      <a:pt x="1479" y="6713"/>
                    </a:cubicBezTo>
                    <a:lnTo>
                      <a:pt x="1479" y="6599"/>
                    </a:lnTo>
                    <a:lnTo>
                      <a:pt x="1820" y="6599"/>
                    </a:lnTo>
                    <a:lnTo>
                      <a:pt x="1820" y="6713"/>
                    </a:lnTo>
                    <a:cubicBezTo>
                      <a:pt x="1820" y="6776"/>
                      <a:pt x="1871" y="6827"/>
                      <a:pt x="1934" y="6827"/>
                    </a:cubicBezTo>
                    <a:cubicBezTo>
                      <a:pt x="1997" y="6827"/>
                      <a:pt x="2048" y="6776"/>
                      <a:pt x="2048" y="6713"/>
                    </a:cubicBezTo>
                    <a:lnTo>
                      <a:pt x="2048" y="6599"/>
                    </a:lnTo>
                    <a:lnTo>
                      <a:pt x="2389" y="6599"/>
                    </a:lnTo>
                    <a:lnTo>
                      <a:pt x="2389" y="6713"/>
                    </a:lnTo>
                    <a:cubicBezTo>
                      <a:pt x="2389" y="6776"/>
                      <a:pt x="2440" y="6827"/>
                      <a:pt x="2503" y="6827"/>
                    </a:cubicBezTo>
                    <a:cubicBezTo>
                      <a:pt x="2566" y="6827"/>
                      <a:pt x="2617" y="6776"/>
                      <a:pt x="2617" y="6713"/>
                    </a:cubicBezTo>
                    <a:lnTo>
                      <a:pt x="2617" y="6599"/>
                    </a:lnTo>
                    <a:lnTo>
                      <a:pt x="2958" y="6599"/>
                    </a:lnTo>
                    <a:lnTo>
                      <a:pt x="2958" y="6713"/>
                    </a:lnTo>
                    <a:cubicBezTo>
                      <a:pt x="2958" y="6776"/>
                      <a:pt x="3009" y="6827"/>
                      <a:pt x="3072" y="6827"/>
                    </a:cubicBezTo>
                    <a:cubicBezTo>
                      <a:pt x="3135" y="6827"/>
                      <a:pt x="3186" y="6776"/>
                      <a:pt x="3186" y="6713"/>
                    </a:cubicBezTo>
                    <a:lnTo>
                      <a:pt x="3186" y="6599"/>
                    </a:lnTo>
                    <a:lnTo>
                      <a:pt x="3527" y="6599"/>
                    </a:lnTo>
                    <a:lnTo>
                      <a:pt x="3527" y="6713"/>
                    </a:lnTo>
                    <a:cubicBezTo>
                      <a:pt x="3527" y="6776"/>
                      <a:pt x="3578" y="6827"/>
                      <a:pt x="3641" y="6827"/>
                    </a:cubicBezTo>
                    <a:cubicBezTo>
                      <a:pt x="3704" y="6827"/>
                      <a:pt x="3755" y="6776"/>
                      <a:pt x="3755" y="6713"/>
                    </a:cubicBezTo>
                    <a:lnTo>
                      <a:pt x="3755" y="6599"/>
                    </a:lnTo>
                    <a:lnTo>
                      <a:pt x="4096" y="6599"/>
                    </a:lnTo>
                    <a:lnTo>
                      <a:pt x="4096" y="6713"/>
                    </a:lnTo>
                    <a:cubicBezTo>
                      <a:pt x="4096" y="6776"/>
                      <a:pt x="4147" y="6827"/>
                      <a:pt x="4210" y="6827"/>
                    </a:cubicBezTo>
                    <a:cubicBezTo>
                      <a:pt x="4273" y="6827"/>
                      <a:pt x="4323" y="6776"/>
                      <a:pt x="4323" y="6713"/>
                    </a:cubicBezTo>
                    <a:lnTo>
                      <a:pt x="4323" y="6599"/>
                    </a:lnTo>
                    <a:lnTo>
                      <a:pt x="4665" y="6599"/>
                    </a:lnTo>
                    <a:lnTo>
                      <a:pt x="4665" y="6713"/>
                    </a:lnTo>
                    <a:cubicBezTo>
                      <a:pt x="4665" y="6776"/>
                      <a:pt x="4716" y="6827"/>
                      <a:pt x="4779" y="6827"/>
                    </a:cubicBezTo>
                    <a:cubicBezTo>
                      <a:pt x="4842" y="6827"/>
                      <a:pt x="4892" y="6776"/>
                      <a:pt x="4892" y="6713"/>
                    </a:cubicBezTo>
                    <a:lnTo>
                      <a:pt x="4892" y="6599"/>
                    </a:lnTo>
                    <a:lnTo>
                      <a:pt x="5234" y="6599"/>
                    </a:lnTo>
                    <a:lnTo>
                      <a:pt x="5234" y="6713"/>
                    </a:lnTo>
                    <a:cubicBezTo>
                      <a:pt x="5234" y="6776"/>
                      <a:pt x="5285" y="6827"/>
                      <a:pt x="5347" y="6827"/>
                    </a:cubicBezTo>
                    <a:cubicBezTo>
                      <a:pt x="5410" y="6827"/>
                      <a:pt x="5461" y="6776"/>
                      <a:pt x="5461" y="6713"/>
                    </a:cubicBezTo>
                    <a:lnTo>
                      <a:pt x="5461" y="6599"/>
                    </a:lnTo>
                    <a:lnTo>
                      <a:pt x="5803" y="6599"/>
                    </a:lnTo>
                    <a:lnTo>
                      <a:pt x="5803" y="6713"/>
                    </a:lnTo>
                    <a:cubicBezTo>
                      <a:pt x="5803" y="6776"/>
                      <a:pt x="5853" y="6827"/>
                      <a:pt x="5916" y="6827"/>
                    </a:cubicBezTo>
                    <a:cubicBezTo>
                      <a:pt x="5979" y="6827"/>
                      <a:pt x="6030" y="6776"/>
                      <a:pt x="6030" y="6713"/>
                    </a:cubicBezTo>
                    <a:lnTo>
                      <a:pt x="6030" y="6599"/>
                    </a:lnTo>
                    <a:lnTo>
                      <a:pt x="6371" y="6599"/>
                    </a:lnTo>
                    <a:lnTo>
                      <a:pt x="6371" y="6713"/>
                    </a:lnTo>
                    <a:cubicBezTo>
                      <a:pt x="6371" y="6776"/>
                      <a:pt x="6422" y="6827"/>
                      <a:pt x="6485" y="6827"/>
                    </a:cubicBezTo>
                    <a:cubicBezTo>
                      <a:pt x="6548" y="6827"/>
                      <a:pt x="6599" y="6776"/>
                      <a:pt x="6599" y="6713"/>
                    </a:cubicBezTo>
                    <a:lnTo>
                      <a:pt x="6599" y="6599"/>
                    </a:lnTo>
                    <a:lnTo>
                      <a:pt x="6713" y="6599"/>
                    </a:lnTo>
                    <a:cubicBezTo>
                      <a:pt x="6776" y="6599"/>
                      <a:pt x="6827" y="6548"/>
                      <a:pt x="6827" y="6485"/>
                    </a:cubicBezTo>
                    <a:cubicBezTo>
                      <a:pt x="6827" y="6422"/>
                      <a:pt x="6776" y="6372"/>
                      <a:pt x="6713" y="6372"/>
                    </a:cubicBezTo>
                    <a:lnTo>
                      <a:pt x="6599" y="6372"/>
                    </a:lnTo>
                    <a:lnTo>
                      <a:pt x="6599" y="6258"/>
                    </a:lnTo>
                    <a:cubicBezTo>
                      <a:pt x="6599" y="6195"/>
                      <a:pt x="6548" y="6144"/>
                      <a:pt x="6485" y="6144"/>
                    </a:cubicBezTo>
                    <a:cubicBezTo>
                      <a:pt x="6422" y="6144"/>
                      <a:pt x="6371" y="6195"/>
                      <a:pt x="6371" y="6258"/>
                    </a:cubicBezTo>
                    <a:lnTo>
                      <a:pt x="6371" y="6372"/>
                    </a:lnTo>
                    <a:lnTo>
                      <a:pt x="6030" y="6372"/>
                    </a:lnTo>
                    <a:lnTo>
                      <a:pt x="6030" y="6258"/>
                    </a:lnTo>
                    <a:cubicBezTo>
                      <a:pt x="6030" y="6195"/>
                      <a:pt x="5979" y="6144"/>
                      <a:pt x="5916" y="6144"/>
                    </a:cubicBezTo>
                    <a:cubicBezTo>
                      <a:pt x="5853" y="6144"/>
                      <a:pt x="5803" y="6195"/>
                      <a:pt x="5803" y="6258"/>
                    </a:cubicBezTo>
                    <a:lnTo>
                      <a:pt x="5803" y="6372"/>
                    </a:lnTo>
                    <a:lnTo>
                      <a:pt x="5461" y="6372"/>
                    </a:lnTo>
                    <a:lnTo>
                      <a:pt x="5461" y="6258"/>
                    </a:lnTo>
                    <a:cubicBezTo>
                      <a:pt x="5461" y="6195"/>
                      <a:pt x="5410" y="6144"/>
                      <a:pt x="5347" y="6144"/>
                    </a:cubicBezTo>
                    <a:cubicBezTo>
                      <a:pt x="5285" y="6144"/>
                      <a:pt x="5234" y="6195"/>
                      <a:pt x="5234" y="6258"/>
                    </a:cubicBezTo>
                    <a:lnTo>
                      <a:pt x="5234" y="6372"/>
                    </a:lnTo>
                    <a:lnTo>
                      <a:pt x="4892" y="6372"/>
                    </a:lnTo>
                    <a:lnTo>
                      <a:pt x="4892" y="6258"/>
                    </a:lnTo>
                    <a:cubicBezTo>
                      <a:pt x="4892" y="6195"/>
                      <a:pt x="4842" y="6144"/>
                      <a:pt x="4779" y="6144"/>
                    </a:cubicBezTo>
                    <a:cubicBezTo>
                      <a:pt x="4716" y="6144"/>
                      <a:pt x="4665" y="6195"/>
                      <a:pt x="4665" y="6258"/>
                    </a:cubicBezTo>
                    <a:lnTo>
                      <a:pt x="4665" y="6372"/>
                    </a:lnTo>
                    <a:lnTo>
                      <a:pt x="4323" y="6372"/>
                    </a:lnTo>
                    <a:lnTo>
                      <a:pt x="4323" y="6258"/>
                    </a:lnTo>
                    <a:cubicBezTo>
                      <a:pt x="4323" y="6195"/>
                      <a:pt x="4273" y="6144"/>
                      <a:pt x="4210" y="6144"/>
                    </a:cubicBezTo>
                    <a:cubicBezTo>
                      <a:pt x="4147" y="6144"/>
                      <a:pt x="4096" y="6195"/>
                      <a:pt x="4096" y="6258"/>
                    </a:cubicBezTo>
                    <a:lnTo>
                      <a:pt x="4096" y="6372"/>
                    </a:lnTo>
                    <a:lnTo>
                      <a:pt x="3755" y="6372"/>
                    </a:lnTo>
                    <a:lnTo>
                      <a:pt x="3755" y="6258"/>
                    </a:lnTo>
                    <a:cubicBezTo>
                      <a:pt x="3755" y="6195"/>
                      <a:pt x="3704" y="6144"/>
                      <a:pt x="3641" y="6144"/>
                    </a:cubicBezTo>
                    <a:cubicBezTo>
                      <a:pt x="3578" y="6144"/>
                      <a:pt x="3527" y="6195"/>
                      <a:pt x="3527" y="6258"/>
                    </a:cubicBezTo>
                    <a:lnTo>
                      <a:pt x="3527" y="6372"/>
                    </a:lnTo>
                    <a:lnTo>
                      <a:pt x="3186" y="6372"/>
                    </a:lnTo>
                    <a:lnTo>
                      <a:pt x="3186" y="6258"/>
                    </a:lnTo>
                    <a:cubicBezTo>
                      <a:pt x="3186" y="6195"/>
                      <a:pt x="3135" y="6144"/>
                      <a:pt x="3072" y="6144"/>
                    </a:cubicBezTo>
                    <a:cubicBezTo>
                      <a:pt x="3009" y="6144"/>
                      <a:pt x="2958" y="6195"/>
                      <a:pt x="2958" y="6258"/>
                    </a:cubicBezTo>
                    <a:lnTo>
                      <a:pt x="2958" y="6372"/>
                    </a:lnTo>
                    <a:lnTo>
                      <a:pt x="2617" y="6372"/>
                    </a:lnTo>
                    <a:lnTo>
                      <a:pt x="2617" y="6258"/>
                    </a:lnTo>
                    <a:cubicBezTo>
                      <a:pt x="2617" y="6195"/>
                      <a:pt x="2566" y="6144"/>
                      <a:pt x="2503" y="6144"/>
                    </a:cubicBezTo>
                    <a:cubicBezTo>
                      <a:pt x="2440" y="6144"/>
                      <a:pt x="2389" y="6195"/>
                      <a:pt x="2389" y="6258"/>
                    </a:cubicBezTo>
                    <a:lnTo>
                      <a:pt x="2389" y="6372"/>
                    </a:lnTo>
                    <a:lnTo>
                      <a:pt x="2048" y="6372"/>
                    </a:lnTo>
                    <a:lnTo>
                      <a:pt x="2048" y="6258"/>
                    </a:lnTo>
                    <a:cubicBezTo>
                      <a:pt x="2048" y="6195"/>
                      <a:pt x="1997" y="6144"/>
                      <a:pt x="1934" y="6144"/>
                    </a:cubicBezTo>
                    <a:cubicBezTo>
                      <a:pt x="1871" y="6144"/>
                      <a:pt x="1820" y="6195"/>
                      <a:pt x="1820" y="6258"/>
                    </a:cubicBezTo>
                    <a:lnTo>
                      <a:pt x="1820" y="6372"/>
                    </a:lnTo>
                    <a:lnTo>
                      <a:pt x="1479" y="6372"/>
                    </a:lnTo>
                    <a:lnTo>
                      <a:pt x="1479" y="6258"/>
                    </a:lnTo>
                    <a:cubicBezTo>
                      <a:pt x="1479" y="6195"/>
                      <a:pt x="1428" y="6144"/>
                      <a:pt x="1365" y="6144"/>
                    </a:cubicBezTo>
                    <a:cubicBezTo>
                      <a:pt x="1302" y="6144"/>
                      <a:pt x="1252" y="6195"/>
                      <a:pt x="1252" y="6258"/>
                    </a:cubicBezTo>
                    <a:lnTo>
                      <a:pt x="1252" y="6372"/>
                    </a:lnTo>
                    <a:lnTo>
                      <a:pt x="910" y="6372"/>
                    </a:lnTo>
                    <a:lnTo>
                      <a:pt x="910" y="6258"/>
                    </a:lnTo>
                    <a:cubicBezTo>
                      <a:pt x="910" y="6195"/>
                      <a:pt x="859" y="6144"/>
                      <a:pt x="796" y="6144"/>
                    </a:cubicBezTo>
                    <a:cubicBezTo>
                      <a:pt x="734" y="6144"/>
                      <a:pt x="683" y="6195"/>
                      <a:pt x="683" y="6258"/>
                    </a:cubicBezTo>
                    <a:lnTo>
                      <a:pt x="683" y="6372"/>
                    </a:lnTo>
                    <a:lnTo>
                      <a:pt x="455" y="6372"/>
                    </a:lnTo>
                    <a:lnTo>
                      <a:pt x="455" y="5234"/>
                    </a:lnTo>
                    <a:lnTo>
                      <a:pt x="1263" y="5234"/>
                    </a:lnTo>
                    <a:close/>
                  </a:path>
                </a:pathLst>
              </a:custGeom>
              <a:solidFill>
                <a:srgbClr val="FFFFFF">
                  <a:alpha val="100000"/>
                </a:srgbClr>
              </a:solidFill>
              <a:ln/>
            </p:spPr>
            <p:txBody>
              <a:bodyPr/>
              <a:lstStyle/>
              <a:p>
                <a:endParaRPr lang="zh-CN" altLang="en-US" dirty="0"/>
              </a:p>
            </p:txBody>
          </p:sp>
        </p:grpSp>
        <p:grpSp>
          <p:nvGrpSpPr>
            <p:cNvPr id="77" name="Group 7">
              <a:extLst>
                <a:ext uri="{FF2B5EF4-FFF2-40B4-BE49-F238E27FC236}">
                  <a16:creationId xmlns:a16="http://schemas.microsoft.com/office/drawing/2014/main" id="{5AB96687-AC77-41DD-AE3A-E3C767FF0B11}"/>
                </a:ext>
              </a:extLst>
            </p:cNvPr>
            <p:cNvGrpSpPr/>
            <p:nvPr/>
          </p:nvGrpSpPr>
          <p:grpSpPr>
            <a:xfrm>
              <a:off x="7706269" y="3103161"/>
              <a:ext cx="665795" cy="665791"/>
              <a:chOff x="8174522" y="2107432"/>
              <a:chExt cx="665795" cy="665791"/>
            </a:xfrm>
          </p:grpSpPr>
          <p:sp>
            <p:nvSpPr>
              <p:cNvPr id="92" name="AutoShape 8">
                <a:extLst>
                  <a:ext uri="{FF2B5EF4-FFF2-40B4-BE49-F238E27FC236}">
                    <a16:creationId xmlns:a16="http://schemas.microsoft.com/office/drawing/2014/main" id="{A9F83F3E-21C4-4723-8389-574449CC2630}"/>
                  </a:ext>
                </a:extLst>
              </p:cNvPr>
              <p:cNvSpPr/>
              <p:nvPr/>
            </p:nvSpPr>
            <p:spPr>
              <a:xfrm>
                <a:off x="8174522" y="2107432"/>
                <a:ext cx="665795" cy="665791"/>
              </a:xfrm>
              <a:prstGeom prst="ellipse">
                <a:avLst/>
              </a:prstGeom>
              <a:solidFill>
                <a:schemeClr val="accent1">
                  <a:alpha val="100000"/>
                </a:schemeClr>
              </a:solidFill>
              <a:ln w="28575">
                <a:solidFill>
                  <a:schemeClr val="accent1">
                    <a:alpha val="100000"/>
                    <a:lumMod val="60000"/>
                    <a:lumMod val="40000"/>
                  </a:schemeClr>
                </a:solidFill>
                <a:prstDash val="solid"/>
              </a:ln>
            </p:spPr>
          </p:sp>
          <p:sp>
            <p:nvSpPr>
              <p:cNvPr id="93" name="Freeform 9">
                <a:extLst>
                  <a:ext uri="{FF2B5EF4-FFF2-40B4-BE49-F238E27FC236}">
                    <a16:creationId xmlns:a16="http://schemas.microsoft.com/office/drawing/2014/main" id="{547C457C-A9A3-4C6F-8336-A5A1D61590A3}"/>
                  </a:ext>
                </a:extLst>
              </p:cNvPr>
              <p:cNvSpPr/>
              <p:nvPr/>
            </p:nvSpPr>
            <p:spPr>
              <a:xfrm>
                <a:off x="8354362" y="2273856"/>
                <a:ext cx="306115" cy="294843"/>
              </a:xfrm>
              <a:custGeom>
                <a:avLst/>
                <a:gdLst/>
                <a:ahLst/>
                <a:cxnLst/>
                <a:rect l="l" t="t" r="r" b="b"/>
                <a:pathLst>
                  <a:path w="6827" h="5912">
                    <a:moveTo>
                      <a:pt x="3413" y="0"/>
                    </a:moveTo>
                    <a:lnTo>
                      <a:pt x="0" y="5912"/>
                    </a:lnTo>
                    <a:lnTo>
                      <a:pt x="6827" y="5912"/>
                    </a:lnTo>
                    <a:lnTo>
                      <a:pt x="3413" y="0"/>
                    </a:lnTo>
                    <a:close/>
                    <a:moveTo>
                      <a:pt x="3413" y="972"/>
                    </a:moveTo>
                    <a:lnTo>
                      <a:pt x="4489" y="2835"/>
                    </a:lnTo>
                    <a:lnTo>
                      <a:pt x="2338" y="2835"/>
                    </a:lnTo>
                    <a:lnTo>
                      <a:pt x="3413" y="972"/>
                    </a:lnTo>
                    <a:close/>
                    <a:moveTo>
                      <a:pt x="842" y="5426"/>
                    </a:moveTo>
                    <a:lnTo>
                      <a:pt x="1917" y="3564"/>
                    </a:lnTo>
                    <a:lnTo>
                      <a:pt x="2993" y="5426"/>
                    </a:lnTo>
                    <a:lnTo>
                      <a:pt x="842" y="5426"/>
                    </a:lnTo>
                    <a:close/>
                    <a:moveTo>
                      <a:pt x="2338" y="3321"/>
                    </a:moveTo>
                    <a:lnTo>
                      <a:pt x="4489" y="3321"/>
                    </a:lnTo>
                    <a:lnTo>
                      <a:pt x="3413" y="5183"/>
                    </a:lnTo>
                    <a:lnTo>
                      <a:pt x="2338" y="3321"/>
                    </a:lnTo>
                    <a:close/>
                    <a:moveTo>
                      <a:pt x="4910" y="3564"/>
                    </a:moveTo>
                    <a:lnTo>
                      <a:pt x="5985" y="5426"/>
                    </a:lnTo>
                    <a:lnTo>
                      <a:pt x="3834" y="5426"/>
                    </a:lnTo>
                    <a:lnTo>
                      <a:pt x="4910" y="3564"/>
                    </a:lnTo>
                    <a:close/>
                  </a:path>
                </a:pathLst>
              </a:custGeom>
              <a:solidFill>
                <a:srgbClr val="FFFFFF">
                  <a:alpha val="100000"/>
                </a:srgbClr>
              </a:solidFill>
              <a:ln/>
            </p:spPr>
          </p:sp>
        </p:grpSp>
        <p:grpSp>
          <p:nvGrpSpPr>
            <p:cNvPr id="78" name="Group 10">
              <a:extLst>
                <a:ext uri="{FF2B5EF4-FFF2-40B4-BE49-F238E27FC236}">
                  <a16:creationId xmlns:a16="http://schemas.microsoft.com/office/drawing/2014/main" id="{B4D03087-21F8-476B-A796-71C3738CD2D1}"/>
                </a:ext>
              </a:extLst>
            </p:cNvPr>
            <p:cNvGrpSpPr/>
            <p:nvPr/>
          </p:nvGrpSpPr>
          <p:grpSpPr>
            <a:xfrm>
              <a:off x="4011226" y="5154039"/>
              <a:ext cx="665795" cy="665791"/>
              <a:chOff x="4252748" y="4178300"/>
              <a:chExt cx="665795" cy="665791"/>
            </a:xfrm>
          </p:grpSpPr>
          <p:sp>
            <p:nvSpPr>
              <p:cNvPr id="90" name="AutoShape 11">
                <a:extLst>
                  <a:ext uri="{FF2B5EF4-FFF2-40B4-BE49-F238E27FC236}">
                    <a16:creationId xmlns:a16="http://schemas.microsoft.com/office/drawing/2014/main" id="{CC0FE24C-FA09-4AEC-BFE6-62BC9216248A}"/>
                  </a:ext>
                </a:extLst>
              </p:cNvPr>
              <p:cNvSpPr/>
              <p:nvPr/>
            </p:nvSpPr>
            <p:spPr>
              <a:xfrm>
                <a:off x="4252748" y="4178300"/>
                <a:ext cx="665795" cy="665791"/>
              </a:xfrm>
              <a:prstGeom prst="ellipse">
                <a:avLst/>
              </a:prstGeom>
              <a:solidFill>
                <a:schemeClr val="accent1">
                  <a:alpha val="100000"/>
                </a:schemeClr>
              </a:solidFill>
              <a:ln w="28575">
                <a:solidFill>
                  <a:schemeClr val="accent1">
                    <a:alpha val="100000"/>
                    <a:lumMod val="60000"/>
                    <a:lumMod val="40000"/>
                  </a:schemeClr>
                </a:solidFill>
                <a:prstDash val="solid"/>
              </a:ln>
            </p:spPr>
          </p:sp>
          <p:sp>
            <p:nvSpPr>
              <p:cNvPr id="91" name="Freeform 12">
                <a:extLst>
                  <a:ext uri="{FF2B5EF4-FFF2-40B4-BE49-F238E27FC236}">
                    <a16:creationId xmlns:a16="http://schemas.microsoft.com/office/drawing/2014/main" id="{B843DE5D-6991-44DC-9E79-126D01D7C22C}"/>
                  </a:ext>
                </a:extLst>
              </p:cNvPr>
              <p:cNvSpPr/>
              <p:nvPr/>
            </p:nvSpPr>
            <p:spPr>
              <a:xfrm>
                <a:off x="4432588" y="4363773"/>
                <a:ext cx="306115" cy="294843"/>
              </a:xfrm>
              <a:custGeom>
                <a:avLst/>
                <a:gdLst/>
                <a:ahLst/>
                <a:cxnLst/>
                <a:rect l="l" t="t" r="r" b="b"/>
                <a:pathLst>
                  <a:path w="597921" h="598324">
                    <a:moveTo>
                      <a:pt x="297615" y="96957"/>
                    </a:moveTo>
                    <a:cubicBezTo>
                      <a:pt x="311959" y="96957"/>
                      <a:pt x="323434" y="108416"/>
                      <a:pt x="323434" y="122740"/>
                    </a:cubicBezTo>
                    <a:lnTo>
                      <a:pt x="323434" y="289852"/>
                    </a:lnTo>
                    <a:lnTo>
                      <a:pt x="462572" y="289852"/>
                    </a:lnTo>
                    <a:cubicBezTo>
                      <a:pt x="476438" y="289852"/>
                      <a:pt x="487913" y="301311"/>
                      <a:pt x="487913" y="315157"/>
                    </a:cubicBezTo>
                    <a:cubicBezTo>
                      <a:pt x="487913" y="329004"/>
                      <a:pt x="476438" y="340463"/>
                      <a:pt x="462572" y="340463"/>
                    </a:cubicBezTo>
                    <a:lnTo>
                      <a:pt x="297615" y="340463"/>
                    </a:lnTo>
                    <a:cubicBezTo>
                      <a:pt x="283749" y="340463"/>
                      <a:pt x="272274" y="329004"/>
                      <a:pt x="272274" y="315157"/>
                    </a:cubicBezTo>
                    <a:lnTo>
                      <a:pt x="272274" y="122740"/>
                    </a:lnTo>
                    <a:cubicBezTo>
                      <a:pt x="272274" y="108416"/>
                      <a:pt x="283749" y="96957"/>
                      <a:pt x="297615" y="96957"/>
                    </a:cubicBezTo>
                    <a:close/>
                    <a:moveTo>
                      <a:pt x="298127" y="0"/>
                    </a:moveTo>
                    <a:cubicBezTo>
                      <a:pt x="463564" y="0"/>
                      <a:pt x="597921" y="134181"/>
                      <a:pt x="597921" y="299401"/>
                    </a:cubicBezTo>
                    <a:cubicBezTo>
                      <a:pt x="597921" y="464143"/>
                      <a:pt x="463564" y="598324"/>
                      <a:pt x="298127" y="598324"/>
                    </a:cubicBezTo>
                    <a:cubicBezTo>
                      <a:pt x="188155" y="598324"/>
                      <a:pt x="87268" y="538635"/>
                      <a:pt x="35150" y="442177"/>
                    </a:cubicBezTo>
                    <a:cubicBezTo>
                      <a:pt x="33238" y="438835"/>
                      <a:pt x="32760" y="435492"/>
                      <a:pt x="34194" y="432149"/>
                    </a:cubicBezTo>
                    <a:cubicBezTo>
                      <a:pt x="35150" y="428807"/>
                      <a:pt x="37541" y="425942"/>
                      <a:pt x="40410" y="424509"/>
                    </a:cubicBezTo>
                    <a:lnTo>
                      <a:pt x="74836" y="407796"/>
                    </a:lnTo>
                    <a:cubicBezTo>
                      <a:pt x="81052" y="404931"/>
                      <a:pt x="88702" y="407319"/>
                      <a:pt x="91571" y="413049"/>
                    </a:cubicBezTo>
                    <a:cubicBezTo>
                      <a:pt x="133169" y="488018"/>
                      <a:pt x="212540" y="534815"/>
                      <a:pt x="298127" y="534815"/>
                    </a:cubicBezTo>
                    <a:cubicBezTo>
                      <a:pt x="428181" y="534815"/>
                      <a:pt x="534328" y="429284"/>
                      <a:pt x="534328" y="299401"/>
                    </a:cubicBezTo>
                    <a:cubicBezTo>
                      <a:pt x="534328" y="169517"/>
                      <a:pt x="428181" y="63509"/>
                      <a:pt x="298127" y="63509"/>
                    </a:cubicBezTo>
                    <a:cubicBezTo>
                      <a:pt x="242185" y="63509"/>
                      <a:pt x="187677" y="83565"/>
                      <a:pt x="145123" y="120333"/>
                    </a:cubicBezTo>
                    <a:lnTo>
                      <a:pt x="200587" y="142299"/>
                    </a:lnTo>
                    <a:cubicBezTo>
                      <a:pt x="204890" y="144209"/>
                      <a:pt x="207759" y="148029"/>
                      <a:pt x="208237" y="152327"/>
                    </a:cubicBezTo>
                    <a:cubicBezTo>
                      <a:pt x="208715" y="157102"/>
                      <a:pt x="207281" y="161399"/>
                      <a:pt x="203456" y="164265"/>
                    </a:cubicBezTo>
                    <a:lnTo>
                      <a:pt x="48060" y="285553"/>
                    </a:lnTo>
                    <a:cubicBezTo>
                      <a:pt x="44235" y="288418"/>
                      <a:pt x="39454" y="289373"/>
                      <a:pt x="35150" y="287463"/>
                    </a:cubicBezTo>
                    <a:cubicBezTo>
                      <a:pt x="31325" y="285553"/>
                      <a:pt x="27978" y="281733"/>
                      <a:pt x="27500" y="277435"/>
                    </a:cubicBezTo>
                    <a:lnTo>
                      <a:pt x="246" y="82132"/>
                    </a:lnTo>
                    <a:cubicBezTo>
                      <a:pt x="-710" y="77835"/>
                      <a:pt x="1203" y="73060"/>
                      <a:pt x="4550" y="70194"/>
                    </a:cubicBezTo>
                    <a:cubicBezTo>
                      <a:pt x="8375" y="67807"/>
                      <a:pt x="13156" y="66852"/>
                      <a:pt x="17459" y="68762"/>
                    </a:cubicBezTo>
                    <a:lnTo>
                      <a:pt x="80574" y="94070"/>
                    </a:lnTo>
                    <a:cubicBezTo>
                      <a:pt x="137472" y="33426"/>
                      <a:pt x="214931" y="0"/>
                      <a:pt x="298127" y="0"/>
                    </a:cubicBezTo>
                    <a:close/>
                  </a:path>
                </a:pathLst>
              </a:custGeom>
              <a:solidFill>
                <a:srgbClr val="FFFFFF">
                  <a:alpha val="100000"/>
                </a:srgbClr>
              </a:solidFill>
              <a:ln/>
            </p:spPr>
          </p:sp>
        </p:grpSp>
        <p:grpSp>
          <p:nvGrpSpPr>
            <p:cNvPr id="79" name="Group 13">
              <a:extLst>
                <a:ext uri="{FF2B5EF4-FFF2-40B4-BE49-F238E27FC236}">
                  <a16:creationId xmlns:a16="http://schemas.microsoft.com/office/drawing/2014/main" id="{19A27F4A-31E1-4C25-B5F4-E40378F4AF98}"/>
                </a:ext>
              </a:extLst>
            </p:cNvPr>
            <p:cNvGrpSpPr/>
            <p:nvPr/>
          </p:nvGrpSpPr>
          <p:grpSpPr>
            <a:xfrm>
              <a:off x="7125902" y="5154045"/>
              <a:ext cx="665795" cy="665791"/>
              <a:chOff x="7274660" y="4178300"/>
              <a:chExt cx="665795" cy="665791"/>
            </a:xfrm>
          </p:grpSpPr>
          <p:sp>
            <p:nvSpPr>
              <p:cNvPr id="88" name="AutoShape 14">
                <a:extLst>
                  <a:ext uri="{FF2B5EF4-FFF2-40B4-BE49-F238E27FC236}">
                    <a16:creationId xmlns:a16="http://schemas.microsoft.com/office/drawing/2014/main" id="{9ABFAD99-7BEE-4209-B7D8-CE0315936741}"/>
                  </a:ext>
                </a:extLst>
              </p:cNvPr>
              <p:cNvSpPr/>
              <p:nvPr/>
            </p:nvSpPr>
            <p:spPr>
              <a:xfrm>
                <a:off x="7274660" y="4178300"/>
                <a:ext cx="665795" cy="665791"/>
              </a:xfrm>
              <a:prstGeom prst="ellipse">
                <a:avLst/>
              </a:prstGeom>
              <a:solidFill>
                <a:schemeClr val="accent1">
                  <a:alpha val="100000"/>
                </a:schemeClr>
              </a:solidFill>
              <a:ln w="28575">
                <a:solidFill>
                  <a:schemeClr val="accent1">
                    <a:alpha val="100000"/>
                    <a:lumMod val="60000"/>
                    <a:lumMod val="40000"/>
                  </a:schemeClr>
                </a:solidFill>
                <a:prstDash val="solid"/>
              </a:ln>
            </p:spPr>
          </p:sp>
          <p:sp>
            <p:nvSpPr>
              <p:cNvPr id="89" name="Freeform 15">
                <a:extLst>
                  <a:ext uri="{FF2B5EF4-FFF2-40B4-BE49-F238E27FC236}">
                    <a16:creationId xmlns:a16="http://schemas.microsoft.com/office/drawing/2014/main" id="{AD8B336F-4D5F-4D7B-A7F6-98B7AB238624}"/>
                  </a:ext>
                </a:extLst>
              </p:cNvPr>
              <p:cNvSpPr/>
              <p:nvPr/>
            </p:nvSpPr>
            <p:spPr>
              <a:xfrm>
                <a:off x="7469003" y="4363774"/>
                <a:ext cx="306115" cy="294843"/>
              </a:xfrm>
              <a:custGeom>
                <a:avLst/>
                <a:gdLst/>
                <a:ahLst/>
                <a:cxnLst/>
                <a:rect l="l" t="t" r="r" b="b"/>
                <a:pathLst>
                  <a:path w="582235" h="606722">
                    <a:moveTo>
                      <a:pt x="0" y="404481"/>
                    </a:moveTo>
                    <a:lnTo>
                      <a:pt x="101261" y="404481"/>
                    </a:lnTo>
                    <a:lnTo>
                      <a:pt x="101261" y="606722"/>
                    </a:lnTo>
                    <a:lnTo>
                      <a:pt x="0" y="606722"/>
                    </a:lnTo>
                    <a:close/>
                    <a:moveTo>
                      <a:pt x="151927" y="328623"/>
                    </a:moveTo>
                    <a:lnTo>
                      <a:pt x="253188" y="328623"/>
                    </a:lnTo>
                    <a:lnTo>
                      <a:pt x="253188" y="606722"/>
                    </a:lnTo>
                    <a:lnTo>
                      <a:pt x="151927" y="606722"/>
                    </a:lnTo>
                    <a:close/>
                    <a:moveTo>
                      <a:pt x="303855" y="252766"/>
                    </a:moveTo>
                    <a:lnTo>
                      <a:pt x="405046" y="252766"/>
                    </a:lnTo>
                    <a:lnTo>
                      <a:pt x="405046" y="606722"/>
                    </a:lnTo>
                    <a:lnTo>
                      <a:pt x="303855" y="606722"/>
                    </a:lnTo>
                    <a:close/>
                    <a:moveTo>
                      <a:pt x="455711" y="202241"/>
                    </a:moveTo>
                    <a:lnTo>
                      <a:pt x="556972" y="202241"/>
                    </a:lnTo>
                    <a:lnTo>
                      <a:pt x="556972" y="606722"/>
                    </a:lnTo>
                    <a:lnTo>
                      <a:pt x="455711" y="606722"/>
                    </a:lnTo>
                    <a:close/>
                    <a:moveTo>
                      <a:pt x="455697" y="0"/>
                    </a:moveTo>
                    <a:lnTo>
                      <a:pt x="556785" y="0"/>
                    </a:lnTo>
                    <a:lnTo>
                      <a:pt x="556874" y="0"/>
                    </a:lnTo>
                    <a:lnTo>
                      <a:pt x="556963" y="0"/>
                    </a:lnTo>
                    <a:cubicBezTo>
                      <a:pt x="557230" y="0"/>
                      <a:pt x="557408" y="0"/>
                      <a:pt x="557675" y="0"/>
                    </a:cubicBezTo>
                    <a:cubicBezTo>
                      <a:pt x="558298" y="89"/>
                      <a:pt x="558832" y="89"/>
                      <a:pt x="559366" y="89"/>
                    </a:cubicBezTo>
                    <a:cubicBezTo>
                      <a:pt x="559811" y="178"/>
                      <a:pt x="560256" y="267"/>
                      <a:pt x="560611" y="267"/>
                    </a:cubicBezTo>
                    <a:cubicBezTo>
                      <a:pt x="561056" y="356"/>
                      <a:pt x="561412" y="444"/>
                      <a:pt x="561857" y="444"/>
                    </a:cubicBezTo>
                    <a:cubicBezTo>
                      <a:pt x="562302" y="533"/>
                      <a:pt x="562747" y="711"/>
                      <a:pt x="563192" y="800"/>
                    </a:cubicBezTo>
                    <a:cubicBezTo>
                      <a:pt x="563548" y="889"/>
                      <a:pt x="563904" y="978"/>
                      <a:pt x="564171" y="1067"/>
                    </a:cubicBezTo>
                    <a:cubicBezTo>
                      <a:pt x="564616" y="1156"/>
                      <a:pt x="565061" y="1333"/>
                      <a:pt x="565506" y="1511"/>
                    </a:cubicBezTo>
                    <a:cubicBezTo>
                      <a:pt x="565862" y="1600"/>
                      <a:pt x="566218" y="1778"/>
                      <a:pt x="566574" y="1867"/>
                    </a:cubicBezTo>
                    <a:cubicBezTo>
                      <a:pt x="566929" y="2044"/>
                      <a:pt x="567285" y="2222"/>
                      <a:pt x="567730" y="2400"/>
                    </a:cubicBezTo>
                    <a:cubicBezTo>
                      <a:pt x="568086" y="2578"/>
                      <a:pt x="568442" y="2755"/>
                      <a:pt x="568798" y="2933"/>
                    </a:cubicBezTo>
                    <a:cubicBezTo>
                      <a:pt x="569154" y="3111"/>
                      <a:pt x="569421" y="3289"/>
                      <a:pt x="569777" y="3467"/>
                    </a:cubicBezTo>
                    <a:cubicBezTo>
                      <a:pt x="570133" y="3733"/>
                      <a:pt x="570578" y="4000"/>
                      <a:pt x="570934" y="4178"/>
                    </a:cubicBezTo>
                    <a:cubicBezTo>
                      <a:pt x="571201" y="4444"/>
                      <a:pt x="571557" y="4622"/>
                      <a:pt x="571824" y="4800"/>
                    </a:cubicBezTo>
                    <a:cubicBezTo>
                      <a:pt x="572180" y="5155"/>
                      <a:pt x="572536" y="5422"/>
                      <a:pt x="572891" y="5689"/>
                    </a:cubicBezTo>
                    <a:cubicBezTo>
                      <a:pt x="573247" y="5955"/>
                      <a:pt x="573514" y="6222"/>
                      <a:pt x="573781" y="6489"/>
                    </a:cubicBezTo>
                    <a:cubicBezTo>
                      <a:pt x="574137" y="6755"/>
                      <a:pt x="574493" y="7022"/>
                      <a:pt x="574760" y="7289"/>
                    </a:cubicBezTo>
                    <a:cubicBezTo>
                      <a:pt x="575205" y="7733"/>
                      <a:pt x="575561" y="8178"/>
                      <a:pt x="575917" y="8533"/>
                    </a:cubicBezTo>
                    <a:cubicBezTo>
                      <a:pt x="576095" y="8711"/>
                      <a:pt x="576273" y="8889"/>
                      <a:pt x="576451" y="9066"/>
                    </a:cubicBezTo>
                    <a:cubicBezTo>
                      <a:pt x="576451" y="9155"/>
                      <a:pt x="576451" y="9155"/>
                      <a:pt x="576451" y="9155"/>
                    </a:cubicBezTo>
                    <a:cubicBezTo>
                      <a:pt x="576985" y="9777"/>
                      <a:pt x="577519" y="10489"/>
                      <a:pt x="577964" y="11200"/>
                    </a:cubicBezTo>
                    <a:cubicBezTo>
                      <a:pt x="577964" y="11200"/>
                      <a:pt x="578053" y="11289"/>
                      <a:pt x="578053" y="11289"/>
                    </a:cubicBezTo>
                    <a:cubicBezTo>
                      <a:pt x="578498" y="12000"/>
                      <a:pt x="578854" y="12622"/>
                      <a:pt x="579209" y="13244"/>
                    </a:cubicBezTo>
                    <a:cubicBezTo>
                      <a:pt x="579387" y="13600"/>
                      <a:pt x="579565" y="13955"/>
                      <a:pt x="579743" y="14222"/>
                    </a:cubicBezTo>
                    <a:cubicBezTo>
                      <a:pt x="579921" y="14666"/>
                      <a:pt x="580099" y="15111"/>
                      <a:pt x="580277" y="15555"/>
                    </a:cubicBezTo>
                    <a:cubicBezTo>
                      <a:pt x="580455" y="15911"/>
                      <a:pt x="580633" y="16266"/>
                      <a:pt x="580722" y="16711"/>
                    </a:cubicBezTo>
                    <a:cubicBezTo>
                      <a:pt x="580900" y="17066"/>
                      <a:pt x="581078" y="17422"/>
                      <a:pt x="581167" y="17866"/>
                    </a:cubicBezTo>
                    <a:cubicBezTo>
                      <a:pt x="581256" y="18311"/>
                      <a:pt x="581434" y="18755"/>
                      <a:pt x="581523" y="19199"/>
                    </a:cubicBezTo>
                    <a:cubicBezTo>
                      <a:pt x="581612" y="19555"/>
                      <a:pt x="581701" y="19910"/>
                      <a:pt x="581790" y="20266"/>
                    </a:cubicBezTo>
                    <a:cubicBezTo>
                      <a:pt x="581879" y="20977"/>
                      <a:pt x="582057" y="21777"/>
                      <a:pt x="582146" y="22488"/>
                    </a:cubicBezTo>
                    <a:cubicBezTo>
                      <a:pt x="582146" y="22577"/>
                      <a:pt x="582146" y="22666"/>
                      <a:pt x="582146" y="22666"/>
                    </a:cubicBezTo>
                    <a:cubicBezTo>
                      <a:pt x="582235" y="23555"/>
                      <a:pt x="582235" y="24355"/>
                      <a:pt x="582235" y="25244"/>
                    </a:cubicBezTo>
                    <a:lnTo>
                      <a:pt x="582235" y="126396"/>
                    </a:lnTo>
                    <a:cubicBezTo>
                      <a:pt x="582235" y="140351"/>
                      <a:pt x="570934" y="151728"/>
                      <a:pt x="556963" y="151728"/>
                    </a:cubicBezTo>
                    <a:cubicBezTo>
                      <a:pt x="542992" y="151728"/>
                      <a:pt x="531691" y="140351"/>
                      <a:pt x="531691" y="126396"/>
                    </a:cubicBezTo>
                    <a:lnTo>
                      <a:pt x="531691" y="79286"/>
                    </a:lnTo>
                    <a:lnTo>
                      <a:pt x="421260" y="171106"/>
                    </a:lnTo>
                    <a:cubicBezTo>
                      <a:pt x="410582" y="180083"/>
                      <a:pt x="394564" y="178572"/>
                      <a:pt x="385666" y="167906"/>
                    </a:cubicBezTo>
                    <a:cubicBezTo>
                      <a:pt x="376678" y="157150"/>
                      <a:pt x="378191" y="141240"/>
                      <a:pt x="388869" y="132262"/>
                    </a:cubicBezTo>
                    <a:lnTo>
                      <a:pt x="487020" y="50576"/>
                    </a:lnTo>
                    <a:lnTo>
                      <a:pt x="455697" y="50576"/>
                    </a:lnTo>
                    <a:cubicBezTo>
                      <a:pt x="441727" y="50576"/>
                      <a:pt x="430425" y="39288"/>
                      <a:pt x="430425" y="25244"/>
                    </a:cubicBezTo>
                    <a:cubicBezTo>
                      <a:pt x="430425" y="11289"/>
                      <a:pt x="441727" y="0"/>
                      <a:pt x="455697" y="0"/>
                    </a:cubicBezTo>
                    <a:close/>
                  </a:path>
                </a:pathLst>
              </a:custGeom>
              <a:solidFill>
                <a:srgbClr val="FFFFFF">
                  <a:alpha val="100000"/>
                </a:srgbClr>
              </a:solidFill>
              <a:ln/>
            </p:spPr>
          </p:sp>
        </p:grpSp>
        <p:sp>
          <p:nvSpPr>
            <p:cNvPr id="80" name="AutoShape 16">
              <a:extLst>
                <a:ext uri="{FF2B5EF4-FFF2-40B4-BE49-F238E27FC236}">
                  <a16:creationId xmlns:a16="http://schemas.microsoft.com/office/drawing/2014/main" id="{61AB079C-A447-4600-9358-7EFD95EC9640}"/>
                </a:ext>
              </a:extLst>
            </p:cNvPr>
            <p:cNvSpPr/>
            <p:nvPr/>
          </p:nvSpPr>
          <p:spPr>
            <a:xfrm>
              <a:off x="504428" y="2802310"/>
              <a:ext cx="2553871" cy="422629"/>
            </a:xfrm>
            <a:prstGeom prst="rect">
              <a:avLst/>
            </a:prstGeom>
            <a:noFill/>
            <a:ln/>
          </p:spPr>
          <p:txBody>
            <a:bodyPr vert="horz" wrap="square" lIns="91440" tIns="45720" rIns="91440" bIns="45720" rtlCol="0" anchor="t" anchorCtr="0">
              <a:noAutofit/>
            </a:bodyPr>
            <a:lstStyle/>
            <a:p>
              <a:pPr algn="r">
                <a:spcBef>
                  <a:spcPts val="270"/>
                </a:spcBef>
                <a:defRPr/>
              </a:pPr>
              <a:r>
                <a:rPr lang="zh-CN" altLang="en-US" sz="2000" b="1" dirty="0">
                  <a:solidFill>
                    <a:srgbClr val="2C4E8C"/>
                  </a:solidFill>
                  <a:latin typeface="+mn-ea"/>
                  <a:cs typeface="Times New Roman" panose="02020603050405020304" pitchFamily="18" charset="0"/>
                </a:rPr>
                <a:t>机械除尘</a:t>
              </a:r>
              <a:endParaRPr lang="en-US" sz="2000" dirty="0">
                <a:solidFill>
                  <a:srgbClr val="2C4E8C"/>
                </a:solidFill>
                <a:latin typeface="+mn-ea"/>
                <a:cs typeface="Times New Roman" panose="02020603050405020304" pitchFamily="18" charset="0"/>
              </a:endParaRPr>
            </a:p>
          </p:txBody>
        </p:sp>
        <p:sp>
          <p:nvSpPr>
            <p:cNvPr id="81" name="TextBox 42">
              <a:extLst>
                <a:ext uri="{FF2B5EF4-FFF2-40B4-BE49-F238E27FC236}">
                  <a16:creationId xmlns:a16="http://schemas.microsoft.com/office/drawing/2014/main" id="{3758B7BB-6856-4634-8F1E-BD23486FD53D}"/>
                </a:ext>
              </a:extLst>
            </p:cNvPr>
            <p:cNvSpPr txBox="1"/>
            <p:nvPr/>
          </p:nvSpPr>
          <p:spPr>
            <a:xfrm>
              <a:off x="586304" y="3258691"/>
              <a:ext cx="2553653" cy="1082789"/>
            </a:xfrm>
            <a:prstGeom prst="rect">
              <a:avLst/>
            </a:prstGeom>
            <a:ln/>
          </p:spPr>
          <p:txBody>
            <a:bodyPr vert="horz" wrap="square" lIns="91440" tIns="45720" rIns="91440" bIns="45720" rtlCol="0" anchor="t" anchorCtr="0">
              <a:noAutofit/>
            </a:bodyPr>
            <a:lstStyle/>
            <a:p>
              <a:pPr>
                <a:lnSpc>
                  <a:spcPct val="150000"/>
                </a:lnSpc>
                <a:spcBef>
                  <a:spcPts val="375"/>
                </a:spcBef>
              </a:pPr>
              <a:r>
                <a:rPr lang="zh-CN" altLang="en-US" sz="1600" b="1" dirty="0">
                  <a:solidFill>
                    <a:schemeClr val="dk1">
                      <a:alpha val="100000"/>
                    </a:schemeClr>
                  </a:solidFill>
                  <a:latin typeface="Times New Roman" panose="02020603050405020304" pitchFamily="18" charset="0"/>
                  <a:cs typeface="Times New Roman" panose="02020603050405020304" pitchFamily="18" charset="0"/>
                </a:rPr>
                <a:t>利用重力、惯性力或离心力等机械作用将颗粒物从烟气中分离出来。</a:t>
              </a:r>
            </a:p>
          </p:txBody>
        </p:sp>
        <p:sp>
          <p:nvSpPr>
            <p:cNvPr id="82" name="TextBox 43">
              <a:extLst>
                <a:ext uri="{FF2B5EF4-FFF2-40B4-BE49-F238E27FC236}">
                  <a16:creationId xmlns:a16="http://schemas.microsoft.com/office/drawing/2014/main" id="{8E087185-57B9-4897-A8E2-1AD89D4F5799}"/>
                </a:ext>
              </a:extLst>
            </p:cNvPr>
            <p:cNvSpPr txBox="1"/>
            <p:nvPr/>
          </p:nvSpPr>
          <p:spPr>
            <a:xfrm>
              <a:off x="8517488" y="3760377"/>
              <a:ext cx="2865995" cy="1082789"/>
            </a:xfrm>
            <a:prstGeom prst="rect">
              <a:avLst/>
            </a:prstGeom>
            <a:ln/>
          </p:spPr>
          <p:txBody>
            <a:bodyPr vert="horz" wrap="square" lIns="91440" tIns="45720" rIns="91440" bIns="45720" rtlCol="0" anchor="t" anchorCtr="0">
              <a:noAutofit/>
            </a:bodyPr>
            <a:lstStyle/>
            <a:p>
              <a:pPr>
                <a:lnSpc>
                  <a:spcPct val="150000"/>
                </a:lnSpc>
                <a:spcBef>
                  <a:spcPts val="375"/>
                </a:spcBef>
              </a:pPr>
              <a:r>
                <a:rPr lang="zh-CN" altLang="en-US" sz="1600" b="1" dirty="0">
                  <a:solidFill>
                    <a:schemeClr val="dk1">
                      <a:alpha val="100000"/>
                    </a:schemeClr>
                  </a:solidFill>
                  <a:latin typeface="Times New Roman" panose="02020603050405020304" pitchFamily="18" charset="0"/>
                  <a:cs typeface="Times New Roman" panose="02020603050405020304" pitchFamily="18" charset="0"/>
                </a:rPr>
                <a:t>利用高压电场使烟气中的颗粒物带电，然后在电场力的作用下将颗粒物从烟气中分离出来。</a:t>
              </a:r>
            </a:p>
          </p:txBody>
        </p:sp>
        <p:sp>
          <p:nvSpPr>
            <p:cNvPr id="83" name="TextBox 44">
              <a:extLst>
                <a:ext uri="{FF2B5EF4-FFF2-40B4-BE49-F238E27FC236}">
                  <a16:creationId xmlns:a16="http://schemas.microsoft.com/office/drawing/2014/main" id="{A6AC5E0F-DEBD-4000-B7A8-6CEAFAA3C228}"/>
                </a:ext>
              </a:extLst>
            </p:cNvPr>
            <p:cNvSpPr txBox="1"/>
            <p:nvPr/>
          </p:nvSpPr>
          <p:spPr>
            <a:xfrm>
              <a:off x="548134" y="5651359"/>
              <a:ext cx="3399339" cy="1082789"/>
            </a:xfrm>
            <a:prstGeom prst="rect">
              <a:avLst/>
            </a:prstGeom>
            <a:ln/>
          </p:spPr>
          <p:txBody>
            <a:bodyPr vert="horz" wrap="square" lIns="91440" tIns="45720" rIns="91440" bIns="45720" rtlCol="0" anchor="t" anchorCtr="0">
              <a:normAutofit/>
            </a:bodyPr>
            <a:lstStyle/>
            <a:p>
              <a:pPr>
                <a:lnSpc>
                  <a:spcPct val="150000"/>
                </a:lnSpc>
                <a:spcBef>
                  <a:spcPts val="375"/>
                </a:spcBef>
              </a:pPr>
              <a:r>
                <a:rPr lang="zh-CN" altLang="en-US" sz="1600" b="1" dirty="0">
                  <a:solidFill>
                    <a:schemeClr val="dk1">
                      <a:alpha val="100000"/>
                    </a:schemeClr>
                  </a:solidFill>
                  <a:latin typeface="Times New Roman" panose="02020603050405020304" pitchFamily="18" charset="0"/>
                  <a:cs typeface="Times New Roman" panose="02020603050405020304" pitchFamily="18" charset="0"/>
                </a:rPr>
                <a:t>使含尘烟气通过滤料，将颗粒物截留在滤料表面，从而达到除尘目的。</a:t>
              </a:r>
            </a:p>
          </p:txBody>
        </p:sp>
        <p:sp>
          <p:nvSpPr>
            <p:cNvPr id="84" name="TextBox 45">
              <a:extLst>
                <a:ext uri="{FF2B5EF4-FFF2-40B4-BE49-F238E27FC236}">
                  <a16:creationId xmlns:a16="http://schemas.microsoft.com/office/drawing/2014/main" id="{0410B76C-08B6-490A-84D9-F801D7632621}"/>
                </a:ext>
              </a:extLst>
            </p:cNvPr>
            <p:cNvSpPr txBox="1"/>
            <p:nvPr/>
          </p:nvSpPr>
          <p:spPr>
            <a:xfrm>
              <a:off x="7803756" y="5735327"/>
              <a:ext cx="4026286" cy="1027489"/>
            </a:xfrm>
            <a:prstGeom prst="rect">
              <a:avLst/>
            </a:prstGeom>
            <a:ln/>
          </p:spPr>
          <p:txBody>
            <a:bodyPr vert="horz" wrap="square" lIns="91440" tIns="45720" rIns="91440" bIns="45720" rtlCol="0" anchor="t" anchorCtr="0">
              <a:noAutofit/>
            </a:bodyPr>
            <a:lstStyle/>
            <a:p>
              <a:pPr>
                <a:lnSpc>
                  <a:spcPct val="150000"/>
                </a:lnSpc>
                <a:spcBef>
                  <a:spcPts val="375"/>
                </a:spcBef>
              </a:pPr>
              <a:r>
                <a:rPr lang="zh-CN" altLang="en-US" sz="1600" b="1" dirty="0">
                  <a:solidFill>
                    <a:schemeClr val="dk1">
                      <a:alpha val="100000"/>
                    </a:schemeClr>
                  </a:solidFill>
                  <a:latin typeface="Times New Roman" panose="02020603050405020304" pitchFamily="18" charset="0"/>
                  <a:cs typeface="Times New Roman" panose="02020603050405020304" pitchFamily="18" charset="0"/>
                </a:rPr>
                <a:t>通过水或其他液体与含尘烟气接触，利用液滴或液膜的粘附作用将颗粒物捕集下来。</a:t>
              </a:r>
            </a:p>
          </p:txBody>
        </p:sp>
        <p:sp>
          <p:nvSpPr>
            <p:cNvPr id="85" name="AutoShape 16">
              <a:extLst>
                <a:ext uri="{FF2B5EF4-FFF2-40B4-BE49-F238E27FC236}">
                  <a16:creationId xmlns:a16="http://schemas.microsoft.com/office/drawing/2014/main" id="{84A93599-22A5-4827-80DC-C84BC7BE301F}"/>
                </a:ext>
              </a:extLst>
            </p:cNvPr>
            <p:cNvSpPr/>
            <p:nvPr/>
          </p:nvSpPr>
          <p:spPr>
            <a:xfrm>
              <a:off x="1136212" y="5281848"/>
              <a:ext cx="2553871" cy="422629"/>
            </a:xfrm>
            <a:prstGeom prst="rect">
              <a:avLst/>
            </a:prstGeom>
            <a:noFill/>
            <a:ln/>
          </p:spPr>
          <p:txBody>
            <a:bodyPr vert="horz" wrap="square" lIns="91440" tIns="45720" rIns="91440" bIns="45720" rtlCol="0" anchor="t" anchorCtr="0">
              <a:noAutofit/>
            </a:bodyPr>
            <a:lstStyle/>
            <a:p>
              <a:pPr algn="r">
                <a:spcBef>
                  <a:spcPts val="270"/>
                </a:spcBef>
                <a:defRPr/>
              </a:pPr>
              <a:r>
                <a:rPr lang="zh-CN" altLang="en-US" sz="2000" b="1" dirty="0">
                  <a:solidFill>
                    <a:srgbClr val="2C4E8C"/>
                  </a:solidFill>
                  <a:latin typeface="+mn-ea"/>
                  <a:cs typeface="Times New Roman" panose="02020603050405020304" pitchFamily="18" charset="0"/>
                </a:rPr>
                <a:t>过滤除尘</a:t>
              </a:r>
              <a:endParaRPr lang="en-US" sz="2000" dirty="0">
                <a:solidFill>
                  <a:srgbClr val="2C4E8C"/>
                </a:solidFill>
                <a:latin typeface="+mn-ea"/>
                <a:cs typeface="Times New Roman" panose="02020603050405020304" pitchFamily="18" charset="0"/>
              </a:endParaRPr>
            </a:p>
          </p:txBody>
        </p:sp>
        <p:sp>
          <p:nvSpPr>
            <p:cNvPr id="86" name="AutoShape 16">
              <a:extLst>
                <a:ext uri="{FF2B5EF4-FFF2-40B4-BE49-F238E27FC236}">
                  <a16:creationId xmlns:a16="http://schemas.microsoft.com/office/drawing/2014/main" id="{FFDBABB4-E796-4C9F-82F9-5937C8EEFA43}"/>
                </a:ext>
              </a:extLst>
            </p:cNvPr>
            <p:cNvSpPr/>
            <p:nvPr/>
          </p:nvSpPr>
          <p:spPr>
            <a:xfrm>
              <a:off x="8112924" y="5296009"/>
              <a:ext cx="2553871" cy="422629"/>
            </a:xfrm>
            <a:prstGeom prst="rect">
              <a:avLst/>
            </a:prstGeom>
            <a:noFill/>
            <a:ln/>
          </p:spPr>
          <p:txBody>
            <a:bodyPr vert="horz" wrap="square" lIns="91440" tIns="45720" rIns="91440" bIns="45720" rtlCol="0" anchor="t" anchorCtr="0">
              <a:noAutofit/>
            </a:bodyPr>
            <a:lstStyle/>
            <a:p>
              <a:pPr>
                <a:spcBef>
                  <a:spcPts val="270"/>
                </a:spcBef>
                <a:defRPr/>
              </a:pPr>
              <a:r>
                <a:rPr lang="zh-CN" altLang="en-US" sz="2000" b="1" dirty="0">
                  <a:solidFill>
                    <a:srgbClr val="2C4E8C"/>
                  </a:solidFill>
                  <a:latin typeface="+mn-ea"/>
                  <a:cs typeface="Times New Roman" panose="02020603050405020304" pitchFamily="18" charset="0"/>
                </a:rPr>
                <a:t>湿式除尘</a:t>
              </a:r>
              <a:endParaRPr lang="en-US" sz="2000" dirty="0">
                <a:solidFill>
                  <a:srgbClr val="2C4E8C"/>
                </a:solidFill>
                <a:latin typeface="+mn-ea"/>
                <a:cs typeface="Times New Roman" panose="02020603050405020304" pitchFamily="18" charset="0"/>
              </a:endParaRPr>
            </a:p>
          </p:txBody>
        </p:sp>
        <p:sp>
          <p:nvSpPr>
            <p:cNvPr id="87" name="AutoShape 16">
              <a:extLst>
                <a:ext uri="{FF2B5EF4-FFF2-40B4-BE49-F238E27FC236}">
                  <a16:creationId xmlns:a16="http://schemas.microsoft.com/office/drawing/2014/main" id="{CCF3C525-5406-4CE1-9CE2-D581F7132A0C}"/>
                </a:ext>
              </a:extLst>
            </p:cNvPr>
            <p:cNvSpPr/>
            <p:nvPr/>
          </p:nvSpPr>
          <p:spPr>
            <a:xfrm>
              <a:off x="8517488" y="3256578"/>
              <a:ext cx="2553871" cy="422629"/>
            </a:xfrm>
            <a:prstGeom prst="rect">
              <a:avLst/>
            </a:prstGeom>
            <a:noFill/>
            <a:ln/>
          </p:spPr>
          <p:txBody>
            <a:bodyPr vert="horz" wrap="square" lIns="91440" tIns="45720" rIns="91440" bIns="45720" rtlCol="0" anchor="t" anchorCtr="0">
              <a:noAutofit/>
            </a:bodyPr>
            <a:lstStyle/>
            <a:p>
              <a:pPr>
                <a:spcBef>
                  <a:spcPts val="270"/>
                </a:spcBef>
                <a:defRPr/>
              </a:pPr>
              <a:r>
                <a:rPr lang="zh-CN" altLang="en-US" sz="2000" b="1" dirty="0">
                  <a:solidFill>
                    <a:srgbClr val="2C4E8C"/>
                  </a:solidFill>
                  <a:latin typeface="+mn-ea"/>
                  <a:cs typeface="Times New Roman" panose="02020603050405020304" pitchFamily="18" charset="0"/>
                </a:rPr>
                <a:t>电除尘</a:t>
              </a:r>
              <a:endParaRPr lang="en-US" sz="2000" dirty="0">
                <a:solidFill>
                  <a:srgbClr val="2C4E8C"/>
                </a:solidFill>
                <a:latin typeface="+mn-ea"/>
                <a:cs typeface="Times New Roman" panose="02020603050405020304" pitchFamily="18" charset="0"/>
              </a:endParaRPr>
            </a:p>
          </p:txBody>
        </p:sp>
      </p:grpSp>
      <p:sp>
        <p:nvSpPr>
          <p:cNvPr id="29" name="矩形 28">
            <a:extLst>
              <a:ext uri="{FF2B5EF4-FFF2-40B4-BE49-F238E27FC236}">
                <a16:creationId xmlns:a16="http://schemas.microsoft.com/office/drawing/2014/main" id="{1E4258F7-B7DF-4C7B-82F9-5179A0CF0BFD}"/>
              </a:ext>
            </a:extLst>
          </p:cNvPr>
          <p:cNvSpPr/>
          <p:nvPr/>
        </p:nvSpPr>
        <p:spPr>
          <a:xfrm>
            <a:off x="4410324" y="2081217"/>
            <a:ext cx="2954655" cy="562333"/>
          </a:xfrm>
          <a:prstGeom prst="rect">
            <a:avLst/>
          </a:prstGeom>
        </p:spPr>
        <p:txBody>
          <a:bodyPr wrap="none">
            <a:spAutoFit/>
          </a:bodyPr>
          <a:lstStyle/>
          <a:p>
            <a:pPr>
              <a:lnSpc>
                <a:spcPct val="140000"/>
              </a:lnSpc>
            </a:pPr>
            <a:r>
              <a:rPr lang="zh-CN" altLang="en-US" sz="2400" b="1" dirty="0">
                <a:solidFill>
                  <a:srgbClr val="C00000"/>
                </a:solidFill>
                <a:latin typeface="+mn-ea"/>
                <a:cs typeface="Microsoft Yahei"/>
              </a:rPr>
              <a:t>颗粒污染物治理技术</a:t>
            </a:r>
          </a:p>
        </p:txBody>
      </p:sp>
    </p:spTree>
    <p:extLst>
      <p:ext uri="{BB962C8B-B14F-4D97-AF65-F5344CB8AC3E}">
        <p14:creationId xmlns:p14="http://schemas.microsoft.com/office/powerpoint/2010/main" val="2532919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34" name="Rectangle 2">
            <a:extLst>
              <a:ext uri="{FF2B5EF4-FFF2-40B4-BE49-F238E27FC236}">
                <a16:creationId xmlns:a16="http://schemas.microsoft.com/office/drawing/2014/main" id="{09E8A73F-4146-42F3-A0BA-63DD555F549A}"/>
              </a:ext>
            </a:extLst>
          </p:cNvPr>
          <p:cNvSpPr txBox="1">
            <a:spLocks noChangeArrowheads="1"/>
          </p:cNvSpPr>
          <p:nvPr/>
        </p:nvSpPr>
        <p:spPr bwMode="auto">
          <a:xfrm>
            <a:off x="858671" y="1129047"/>
            <a:ext cx="4283484" cy="54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20000"/>
              </a:lnSpc>
              <a:spcBef>
                <a:spcPct val="40000"/>
              </a:spcBef>
              <a:buFont typeface="Wingdings" panose="05000000000000000000" pitchFamily="2" charset="2"/>
              <a:buNone/>
            </a:pPr>
            <a:r>
              <a:rPr lang="zh-CN" altLang="en-US" sz="2800" b="1" dirty="0">
                <a:solidFill>
                  <a:srgbClr val="C00000"/>
                </a:solidFill>
                <a:latin typeface="SimHei" panose="02010609060101010101" pitchFamily="49" charset="-122"/>
                <a:ea typeface="SimHei" panose="02010609060101010101" pitchFamily="49" charset="-122"/>
              </a:rPr>
              <a:t>汽车尾气排放主要污染物</a:t>
            </a:r>
          </a:p>
        </p:txBody>
      </p:sp>
      <p:grpSp>
        <p:nvGrpSpPr>
          <p:cNvPr id="43" name="组合 42">
            <a:extLst>
              <a:ext uri="{FF2B5EF4-FFF2-40B4-BE49-F238E27FC236}">
                <a16:creationId xmlns:a16="http://schemas.microsoft.com/office/drawing/2014/main" id="{AC47AA1A-82CF-48F1-9F3E-56F520ACECA1}"/>
              </a:ext>
            </a:extLst>
          </p:cNvPr>
          <p:cNvGrpSpPr/>
          <p:nvPr/>
        </p:nvGrpSpPr>
        <p:grpSpPr>
          <a:xfrm>
            <a:off x="1213617" y="2130049"/>
            <a:ext cx="8844783" cy="4464050"/>
            <a:chOff x="611188" y="2060575"/>
            <a:chExt cx="8353425" cy="4464050"/>
          </a:xfrm>
        </p:grpSpPr>
        <p:sp>
          <p:nvSpPr>
            <p:cNvPr id="44" name="AutoShape 5">
              <a:extLst>
                <a:ext uri="{FF2B5EF4-FFF2-40B4-BE49-F238E27FC236}">
                  <a16:creationId xmlns:a16="http://schemas.microsoft.com/office/drawing/2014/main" id="{E63B42D3-3D69-4E3F-9803-FBDE4CF97551}"/>
                </a:ext>
              </a:extLst>
            </p:cNvPr>
            <p:cNvSpPr>
              <a:spLocks/>
            </p:cNvSpPr>
            <p:nvPr/>
          </p:nvSpPr>
          <p:spPr bwMode="auto">
            <a:xfrm>
              <a:off x="611188" y="2276475"/>
              <a:ext cx="215900" cy="3384550"/>
            </a:xfrm>
            <a:prstGeom prst="leftBrace">
              <a:avLst>
                <a:gd name="adj1" fmla="val 130637"/>
                <a:gd name="adj2" fmla="val 50000"/>
              </a:avLst>
            </a:prstGeom>
            <a:noFill/>
            <a:ln w="539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600">
                <a:solidFill>
                  <a:schemeClr val="bg1"/>
                </a:solidFill>
                <a:latin typeface="Times New Roman" panose="02020603050405020304" pitchFamily="18" charset="0"/>
                <a:ea typeface="+mn-ea"/>
                <a:cs typeface="Times New Roman" panose="02020603050405020304" pitchFamily="18" charset="0"/>
              </a:endParaRPr>
            </a:p>
          </p:txBody>
        </p:sp>
        <p:sp>
          <p:nvSpPr>
            <p:cNvPr id="45" name="AutoShape 6">
              <a:extLst>
                <a:ext uri="{FF2B5EF4-FFF2-40B4-BE49-F238E27FC236}">
                  <a16:creationId xmlns:a16="http://schemas.microsoft.com/office/drawing/2014/main" id="{A7F4194C-AC44-45C0-9AF7-AB5E7D52B4F4}"/>
                </a:ext>
              </a:extLst>
            </p:cNvPr>
            <p:cNvSpPr>
              <a:spLocks noChangeArrowheads="1"/>
            </p:cNvSpPr>
            <p:nvPr/>
          </p:nvSpPr>
          <p:spPr bwMode="auto">
            <a:xfrm>
              <a:off x="1187450" y="2060575"/>
              <a:ext cx="2808288" cy="792163"/>
            </a:xfrm>
            <a:prstGeom prst="flowChartAlternateProcess">
              <a:avLst/>
            </a:prstGeom>
            <a:gradFill rotWithShape="1">
              <a:gsLst>
                <a:gs pos="0">
                  <a:schemeClr val="folHlink"/>
                </a:gs>
                <a:gs pos="50000">
                  <a:schemeClr val="bg1"/>
                </a:gs>
                <a:gs pos="100000">
                  <a:schemeClr val="folHlink"/>
                </a:gs>
              </a:gsLst>
              <a:lin ang="5400000" scaled="1"/>
            </a:gradFill>
            <a:ln w="9525">
              <a:solidFill>
                <a:schemeClr val="tx1"/>
              </a:solidFill>
              <a:miter lim="800000"/>
              <a:headEnd/>
              <a:tailEnd/>
            </a:ln>
            <a:effectLst/>
          </p:spPr>
          <p:txBody>
            <a:bodyPr wrap="none" anchor="ctr"/>
            <a:lstStyle/>
            <a:p>
              <a:pPr algn="ctr">
                <a:defRPr/>
              </a:pPr>
              <a:r>
                <a:rPr kumimoji="1" lang="zh-CN" altLang="en-US" sz="2800" b="1" dirty="0">
                  <a:latin typeface="Times New Roman" panose="02020603050405020304" pitchFamily="18" charset="0"/>
                  <a:cs typeface="Times New Roman" panose="02020603050405020304" pitchFamily="18" charset="0"/>
                </a:rPr>
                <a:t>一氧化碳（</a:t>
              </a:r>
              <a:r>
                <a:rPr kumimoji="1" lang="en-US" altLang="zh-CN" sz="2800" b="1" dirty="0">
                  <a:latin typeface="Times New Roman" panose="02020603050405020304" pitchFamily="18" charset="0"/>
                  <a:cs typeface="Times New Roman" panose="02020603050405020304" pitchFamily="18" charset="0"/>
                </a:rPr>
                <a:t>CO</a:t>
              </a:r>
              <a:r>
                <a:rPr kumimoji="1" lang="zh-CN" altLang="en-US" sz="2800" b="1" dirty="0">
                  <a:latin typeface="Times New Roman" panose="02020603050405020304" pitchFamily="18" charset="0"/>
                  <a:cs typeface="Times New Roman" panose="02020603050405020304" pitchFamily="18" charset="0"/>
                </a:rPr>
                <a:t>）</a:t>
              </a:r>
            </a:p>
          </p:txBody>
        </p:sp>
        <p:sp>
          <p:nvSpPr>
            <p:cNvPr id="46" name="AutoShape 7">
              <a:extLst>
                <a:ext uri="{FF2B5EF4-FFF2-40B4-BE49-F238E27FC236}">
                  <a16:creationId xmlns:a16="http://schemas.microsoft.com/office/drawing/2014/main" id="{7715B8E5-3EBE-4108-A3A4-001F1F7DB147}"/>
                </a:ext>
              </a:extLst>
            </p:cNvPr>
            <p:cNvSpPr>
              <a:spLocks noChangeArrowheads="1"/>
            </p:cNvSpPr>
            <p:nvPr/>
          </p:nvSpPr>
          <p:spPr bwMode="auto">
            <a:xfrm>
              <a:off x="1187450" y="2924175"/>
              <a:ext cx="3960813" cy="792163"/>
            </a:xfrm>
            <a:prstGeom prst="flowChartAlternateProcess">
              <a:avLst/>
            </a:prstGeom>
            <a:gradFill rotWithShape="1">
              <a:gsLst>
                <a:gs pos="0">
                  <a:schemeClr val="folHlink"/>
                </a:gs>
                <a:gs pos="50000">
                  <a:schemeClr val="bg1"/>
                </a:gs>
                <a:gs pos="100000">
                  <a:schemeClr val="folHlink"/>
                </a:gs>
              </a:gsLst>
              <a:lin ang="5400000" scaled="1"/>
            </a:gradFill>
            <a:ln w="9525">
              <a:solidFill>
                <a:schemeClr val="tx1"/>
              </a:solidFill>
              <a:miter lim="800000"/>
              <a:headEnd/>
              <a:tailEnd/>
            </a:ln>
            <a:effectLst/>
          </p:spPr>
          <p:txBody>
            <a:bodyPr wrap="none" anchor="ctr"/>
            <a:lstStyle/>
            <a:p>
              <a:pPr algn="ctr">
                <a:defRPr/>
              </a:pPr>
              <a:r>
                <a:rPr kumimoji="1" lang="zh-CN" altLang="en-US" sz="2800" b="1">
                  <a:latin typeface="Times New Roman" panose="02020603050405020304" pitchFamily="18" charset="0"/>
                  <a:cs typeface="Times New Roman" panose="02020603050405020304" pitchFamily="18" charset="0"/>
                </a:rPr>
                <a:t>碳氢化合物（</a:t>
              </a:r>
              <a:r>
                <a:rPr kumimoji="1" lang="en-US" altLang="zh-CN" sz="2800" b="1">
                  <a:latin typeface="Times New Roman" panose="02020603050405020304" pitchFamily="18" charset="0"/>
                  <a:cs typeface="Times New Roman" panose="02020603050405020304" pitchFamily="18" charset="0"/>
                </a:rPr>
                <a:t>HC</a:t>
              </a:r>
              <a:r>
                <a:rPr kumimoji="1" lang="zh-CN" altLang="en-US" sz="2800" b="1">
                  <a:latin typeface="Times New Roman" panose="02020603050405020304" pitchFamily="18" charset="0"/>
                  <a:cs typeface="Times New Roman" panose="02020603050405020304" pitchFamily="18" charset="0"/>
                </a:rPr>
                <a:t>）</a:t>
              </a:r>
            </a:p>
          </p:txBody>
        </p:sp>
        <p:sp>
          <p:nvSpPr>
            <p:cNvPr id="51" name="AutoShape 8">
              <a:extLst>
                <a:ext uri="{FF2B5EF4-FFF2-40B4-BE49-F238E27FC236}">
                  <a16:creationId xmlns:a16="http://schemas.microsoft.com/office/drawing/2014/main" id="{DD348EAA-E0DD-4911-97F5-6402D6C25CD5}"/>
                </a:ext>
              </a:extLst>
            </p:cNvPr>
            <p:cNvSpPr>
              <a:spLocks noChangeArrowheads="1"/>
            </p:cNvSpPr>
            <p:nvPr/>
          </p:nvSpPr>
          <p:spPr bwMode="auto">
            <a:xfrm>
              <a:off x="1187450" y="4005263"/>
              <a:ext cx="3097213" cy="792162"/>
            </a:xfrm>
            <a:prstGeom prst="flowChartAlternateProcess">
              <a:avLst/>
            </a:prstGeom>
            <a:gradFill rotWithShape="1">
              <a:gsLst>
                <a:gs pos="0">
                  <a:schemeClr val="folHlink"/>
                </a:gs>
                <a:gs pos="50000">
                  <a:schemeClr val="bg1"/>
                </a:gs>
                <a:gs pos="100000">
                  <a:schemeClr val="folHlink"/>
                </a:gs>
              </a:gsLst>
              <a:lin ang="5400000" scaled="1"/>
            </a:gradFill>
            <a:ln w="9525">
              <a:solidFill>
                <a:schemeClr val="tx1"/>
              </a:solidFill>
              <a:miter lim="800000"/>
              <a:headEnd/>
              <a:tailEnd/>
            </a:ln>
            <a:effectLst/>
          </p:spPr>
          <p:txBody>
            <a:bodyPr wrap="none" anchor="ctr"/>
            <a:lstStyle/>
            <a:p>
              <a:pPr algn="ctr">
                <a:defRPr/>
              </a:pPr>
              <a:r>
                <a:rPr kumimoji="1" lang="zh-CN" altLang="en-US" sz="2800" b="1">
                  <a:latin typeface="Times New Roman" panose="02020603050405020304" pitchFamily="18" charset="0"/>
                  <a:cs typeface="Times New Roman" panose="02020603050405020304" pitchFamily="18" charset="0"/>
                </a:rPr>
                <a:t>氮氧化物（</a:t>
              </a:r>
              <a:r>
                <a:rPr kumimoji="1" lang="en-US" altLang="zh-CN" sz="2800" b="1">
                  <a:latin typeface="Times New Roman" panose="02020603050405020304" pitchFamily="18" charset="0"/>
                  <a:cs typeface="Times New Roman" panose="02020603050405020304" pitchFamily="18" charset="0"/>
                </a:rPr>
                <a:t>NO</a:t>
              </a:r>
              <a:r>
                <a:rPr kumimoji="1" lang="en-US" altLang="zh-CN" sz="2800" b="1" baseline="-25000">
                  <a:latin typeface="Times New Roman" panose="02020603050405020304" pitchFamily="18" charset="0"/>
                  <a:cs typeface="Times New Roman" panose="02020603050405020304" pitchFamily="18" charset="0"/>
                </a:rPr>
                <a:t>X</a:t>
              </a:r>
              <a:r>
                <a:rPr kumimoji="1" lang="zh-CN" altLang="en-US" sz="2800" b="1">
                  <a:latin typeface="Times New Roman" panose="02020603050405020304" pitchFamily="18" charset="0"/>
                  <a:cs typeface="Times New Roman" panose="02020603050405020304" pitchFamily="18" charset="0"/>
                </a:rPr>
                <a:t>）</a:t>
              </a:r>
            </a:p>
          </p:txBody>
        </p:sp>
        <p:sp>
          <p:nvSpPr>
            <p:cNvPr id="52" name="AutoShape 9">
              <a:extLst>
                <a:ext uri="{FF2B5EF4-FFF2-40B4-BE49-F238E27FC236}">
                  <a16:creationId xmlns:a16="http://schemas.microsoft.com/office/drawing/2014/main" id="{F5F3AD72-2478-42CB-84F6-6F45C52E5CC7}"/>
                </a:ext>
              </a:extLst>
            </p:cNvPr>
            <p:cNvSpPr>
              <a:spLocks noChangeArrowheads="1"/>
            </p:cNvSpPr>
            <p:nvPr/>
          </p:nvSpPr>
          <p:spPr bwMode="auto">
            <a:xfrm>
              <a:off x="1331913" y="5013325"/>
              <a:ext cx="1800225" cy="792163"/>
            </a:xfrm>
            <a:prstGeom prst="flowChartAlternateProcess">
              <a:avLst/>
            </a:prstGeom>
            <a:gradFill rotWithShape="1">
              <a:gsLst>
                <a:gs pos="0">
                  <a:schemeClr val="folHlink"/>
                </a:gs>
                <a:gs pos="50000">
                  <a:schemeClr val="bg1"/>
                </a:gs>
                <a:gs pos="100000">
                  <a:schemeClr val="folHlink"/>
                </a:gs>
              </a:gsLst>
              <a:lin ang="5400000" scaled="1"/>
            </a:gradFill>
            <a:ln w="9525">
              <a:solidFill>
                <a:schemeClr val="tx1"/>
              </a:solidFill>
              <a:miter lim="800000"/>
              <a:headEnd/>
              <a:tailEnd/>
            </a:ln>
            <a:effectLst/>
          </p:spPr>
          <p:txBody>
            <a:bodyPr wrap="none" anchor="ctr"/>
            <a:lstStyle/>
            <a:p>
              <a:pPr algn="ctr">
                <a:defRPr/>
              </a:pPr>
              <a:r>
                <a:rPr kumimoji="1" lang="zh-CN" altLang="en-US" sz="2400" b="1">
                  <a:latin typeface="Times New Roman" panose="02020603050405020304" pitchFamily="18" charset="0"/>
                  <a:cs typeface="Times New Roman" panose="02020603050405020304" pitchFamily="18" charset="0"/>
                </a:rPr>
                <a:t>铅（</a:t>
              </a:r>
              <a:r>
                <a:rPr kumimoji="1" lang="en-US" altLang="zh-CN" sz="2400" b="1">
                  <a:latin typeface="Times New Roman" panose="02020603050405020304" pitchFamily="18" charset="0"/>
                  <a:cs typeface="Times New Roman" panose="02020603050405020304" pitchFamily="18" charset="0"/>
                </a:rPr>
                <a:t>Pb</a:t>
              </a:r>
              <a:r>
                <a:rPr kumimoji="1" lang="zh-CN" altLang="en-US" sz="2400" b="1">
                  <a:latin typeface="Times New Roman" panose="02020603050405020304" pitchFamily="18" charset="0"/>
                  <a:cs typeface="Times New Roman" panose="02020603050405020304" pitchFamily="18" charset="0"/>
                </a:rPr>
                <a:t>）</a:t>
              </a:r>
            </a:p>
          </p:txBody>
        </p:sp>
        <p:sp>
          <p:nvSpPr>
            <p:cNvPr id="53" name="AutoShape 10">
              <a:extLst>
                <a:ext uri="{FF2B5EF4-FFF2-40B4-BE49-F238E27FC236}">
                  <a16:creationId xmlns:a16="http://schemas.microsoft.com/office/drawing/2014/main" id="{34BD89E9-13B0-431A-93D9-C4BA4873CC7B}"/>
                </a:ext>
              </a:extLst>
            </p:cNvPr>
            <p:cNvSpPr>
              <a:spLocks noChangeArrowheads="1"/>
            </p:cNvSpPr>
            <p:nvPr/>
          </p:nvSpPr>
          <p:spPr bwMode="auto">
            <a:xfrm rot="2700000">
              <a:off x="5231607" y="3396456"/>
              <a:ext cx="647700" cy="325437"/>
            </a:xfrm>
            <a:prstGeom prst="rightArrow">
              <a:avLst>
                <a:gd name="adj1" fmla="val 50000"/>
                <a:gd name="adj2" fmla="val 49756"/>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mn-ea"/>
                <a:cs typeface="Times New Roman" panose="02020603050405020304" pitchFamily="18" charset="0"/>
              </a:endParaRPr>
            </a:p>
          </p:txBody>
        </p:sp>
        <p:sp>
          <p:nvSpPr>
            <p:cNvPr id="54" name="AutoShape 11">
              <a:extLst>
                <a:ext uri="{FF2B5EF4-FFF2-40B4-BE49-F238E27FC236}">
                  <a16:creationId xmlns:a16="http://schemas.microsoft.com/office/drawing/2014/main" id="{78AA17E4-1C58-4EF1-874D-B828E09D1ADF}"/>
                </a:ext>
              </a:extLst>
            </p:cNvPr>
            <p:cNvSpPr>
              <a:spLocks noChangeArrowheads="1"/>
            </p:cNvSpPr>
            <p:nvPr/>
          </p:nvSpPr>
          <p:spPr bwMode="auto">
            <a:xfrm rot="2700000">
              <a:off x="5362575" y="3892550"/>
              <a:ext cx="322263" cy="576263"/>
            </a:xfrm>
            <a:prstGeom prst="upArrow">
              <a:avLst>
                <a:gd name="adj1" fmla="val 50000"/>
                <a:gd name="adj2" fmla="val 44704"/>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mn-ea"/>
                <a:cs typeface="Times New Roman" panose="02020603050405020304" pitchFamily="18" charset="0"/>
              </a:endParaRPr>
            </a:p>
          </p:txBody>
        </p:sp>
        <p:sp>
          <p:nvSpPr>
            <p:cNvPr id="55" name="AutoShape 12">
              <a:extLst>
                <a:ext uri="{FF2B5EF4-FFF2-40B4-BE49-F238E27FC236}">
                  <a16:creationId xmlns:a16="http://schemas.microsoft.com/office/drawing/2014/main" id="{BADFA92D-8456-4915-B2DB-AA9B78462104}"/>
                </a:ext>
              </a:extLst>
            </p:cNvPr>
            <p:cNvSpPr>
              <a:spLocks noChangeArrowheads="1"/>
            </p:cNvSpPr>
            <p:nvPr/>
          </p:nvSpPr>
          <p:spPr bwMode="auto">
            <a:xfrm>
              <a:off x="5795963" y="3716338"/>
              <a:ext cx="1079500" cy="504825"/>
            </a:xfrm>
            <a:custGeom>
              <a:avLst/>
              <a:gdLst>
                <a:gd name="T0" fmla="*/ 809625 w 21600"/>
                <a:gd name="T1" fmla="*/ 0 h 21600"/>
                <a:gd name="T2" fmla="*/ 0 w 21600"/>
                <a:gd name="T3" fmla="*/ 252413 h 21600"/>
                <a:gd name="T4" fmla="*/ 809625 w 21600"/>
                <a:gd name="T5" fmla="*/ 504825 h 21600"/>
                <a:gd name="T6" fmla="*/ 1079500 w 21600"/>
                <a:gd name="T7" fmla="*/ 252413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mn-ea"/>
                <a:cs typeface="Times New Roman" panose="02020603050405020304" pitchFamily="18" charset="0"/>
              </a:endParaRPr>
            </a:p>
          </p:txBody>
        </p:sp>
        <p:sp>
          <p:nvSpPr>
            <p:cNvPr id="56" name="Text Box 13">
              <a:extLst>
                <a:ext uri="{FF2B5EF4-FFF2-40B4-BE49-F238E27FC236}">
                  <a16:creationId xmlns:a16="http://schemas.microsoft.com/office/drawing/2014/main" id="{3DC86C4A-2E86-42DE-9B61-C0BE20195BAA}"/>
                </a:ext>
              </a:extLst>
            </p:cNvPr>
            <p:cNvSpPr txBox="1">
              <a:spLocks noChangeArrowheads="1"/>
            </p:cNvSpPr>
            <p:nvPr/>
          </p:nvSpPr>
          <p:spPr bwMode="auto">
            <a:xfrm>
              <a:off x="6948488" y="3702050"/>
              <a:ext cx="2016125" cy="519113"/>
            </a:xfrm>
            <a:prstGeom prst="rect">
              <a:avLst/>
            </a:prstGeom>
            <a:gradFill rotWithShape="1">
              <a:gsLst>
                <a:gs pos="0">
                  <a:srgbClr val="00FF00"/>
                </a:gs>
                <a:gs pos="50000">
                  <a:schemeClr val="bg1"/>
                </a:gs>
                <a:gs pos="100000">
                  <a:srgbClr val="00FF00"/>
                </a:gs>
              </a:gsLst>
              <a:lin ang="5400000" scaled="1"/>
            </a:gradFill>
            <a:ln w="9525">
              <a:noFill/>
              <a:miter lim="800000"/>
              <a:headEnd/>
              <a:tailEnd/>
            </a:ln>
            <a:effectLst/>
          </p:spPr>
          <p:txBody>
            <a:bodyPr>
              <a:spAutoFit/>
            </a:bodyPr>
            <a:lstStyle/>
            <a:p>
              <a:pPr algn="ctr">
                <a:spcBef>
                  <a:spcPct val="50000"/>
                </a:spcBef>
                <a:defRPr/>
              </a:pPr>
              <a:r>
                <a:rPr lang="zh-CN" altLang="en-US" sz="2800" b="1">
                  <a:latin typeface="Times New Roman" panose="02020603050405020304" pitchFamily="18" charset="0"/>
                  <a:cs typeface="Times New Roman" panose="02020603050405020304" pitchFamily="18" charset="0"/>
                </a:rPr>
                <a:t>光化学烟雾</a:t>
              </a:r>
            </a:p>
          </p:txBody>
        </p:sp>
        <p:sp>
          <p:nvSpPr>
            <p:cNvPr id="57" name="AutoShape 14">
              <a:extLst>
                <a:ext uri="{FF2B5EF4-FFF2-40B4-BE49-F238E27FC236}">
                  <a16:creationId xmlns:a16="http://schemas.microsoft.com/office/drawing/2014/main" id="{F3374D3E-BED9-4886-A534-E6029D15A0C9}"/>
                </a:ext>
              </a:extLst>
            </p:cNvPr>
            <p:cNvSpPr>
              <a:spLocks noChangeArrowheads="1"/>
            </p:cNvSpPr>
            <p:nvPr/>
          </p:nvSpPr>
          <p:spPr bwMode="auto">
            <a:xfrm>
              <a:off x="3419475" y="4581525"/>
              <a:ext cx="5390710" cy="1943100"/>
            </a:xfrm>
            <a:prstGeom prst="wedgeEllipseCallout">
              <a:avLst>
                <a:gd name="adj1" fmla="val -55028"/>
                <a:gd name="adj2" fmla="val -9722"/>
              </a:avLst>
            </a:prstGeom>
            <a:solidFill>
              <a:schemeClr val="accent1"/>
            </a:solidFill>
            <a:ln w="9525">
              <a:solidFill>
                <a:schemeClr val="tx1"/>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000" b="1" dirty="0">
                  <a:solidFill>
                    <a:schemeClr val="bg1"/>
                  </a:solidFill>
                  <a:latin typeface="Times New Roman" panose="02020603050405020304" pitchFamily="18" charset="0"/>
                  <a:ea typeface="+mn-ea"/>
                  <a:cs typeface="Times New Roman" panose="02020603050405020304" pitchFamily="18" charset="0"/>
                </a:rPr>
                <a:t>铅进入人体，可大部分蓄积于人的骨骼中，损害骨骼造血系统和神经系统，引起临床症状为贫血、 末梢神经炎，出现运动和感觉异常。</a:t>
              </a:r>
            </a:p>
          </p:txBody>
        </p:sp>
      </p:grpSp>
    </p:spTree>
    <p:extLst>
      <p:ext uri="{BB962C8B-B14F-4D97-AF65-F5344CB8AC3E}">
        <p14:creationId xmlns:p14="http://schemas.microsoft.com/office/powerpoint/2010/main" val="1830269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34" name="Rectangle 2">
            <a:extLst>
              <a:ext uri="{FF2B5EF4-FFF2-40B4-BE49-F238E27FC236}">
                <a16:creationId xmlns:a16="http://schemas.microsoft.com/office/drawing/2014/main" id="{09E8A73F-4146-42F3-A0BA-63DD555F549A}"/>
              </a:ext>
            </a:extLst>
          </p:cNvPr>
          <p:cNvSpPr txBox="1">
            <a:spLocks noChangeArrowheads="1"/>
          </p:cNvSpPr>
          <p:nvPr/>
        </p:nvSpPr>
        <p:spPr bwMode="auto">
          <a:xfrm>
            <a:off x="858671" y="1129047"/>
            <a:ext cx="3840656" cy="54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20000"/>
              </a:lnSpc>
              <a:spcBef>
                <a:spcPct val="40000"/>
              </a:spcBef>
              <a:buFont typeface="Wingdings" panose="05000000000000000000" pitchFamily="2" charset="2"/>
              <a:buNone/>
            </a:pPr>
            <a:r>
              <a:rPr lang="zh-CN" altLang="en-US" sz="2800" b="1" dirty="0">
                <a:solidFill>
                  <a:srgbClr val="C00000"/>
                </a:solidFill>
                <a:latin typeface="SimHei" panose="02010609060101010101" pitchFamily="49" charset="-122"/>
                <a:ea typeface="SimHei" panose="02010609060101010101" pitchFamily="49" charset="-122"/>
              </a:rPr>
              <a:t>汽油车尾气净化技术</a:t>
            </a:r>
          </a:p>
        </p:txBody>
      </p:sp>
      <p:grpSp>
        <p:nvGrpSpPr>
          <p:cNvPr id="28" name="组合 27">
            <a:extLst>
              <a:ext uri="{FF2B5EF4-FFF2-40B4-BE49-F238E27FC236}">
                <a16:creationId xmlns:a16="http://schemas.microsoft.com/office/drawing/2014/main" id="{B09BF470-7899-4E42-ADEC-8EF4EF74BBEA}"/>
              </a:ext>
            </a:extLst>
          </p:cNvPr>
          <p:cNvGrpSpPr/>
          <p:nvPr/>
        </p:nvGrpSpPr>
        <p:grpSpPr>
          <a:xfrm>
            <a:off x="858671" y="1930901"/>
            <a:ext cx="10184892" cy="4260605"/>
            <a:chOff x="981837" y="1577724"/>
            <a:chExt cx="10184892" cy="4260605"/>
          </a:xfrm>
        </p:grpSpPr>
        <p:sp>
          <p:nvSpPr>
            <p:cNvPr id="35" name="AutoShape 2">
              <a:extLst>
                <a:ext uri="{FF2B5EF4-FFF2-40B4-BE49-F238E27FC236}">
                  <a16:creationId xmlns:a16="http://schemas.microsoft.com/office/drawing/2014/main" id="{E9D114C1-7797-492D-BBA3-F529E6AA72AE}"/>
                </a:ext>
              </a:extLst>
            </p:cNvPr>
            <p:cNvSpPr/>
            <p:nvPr/>
          </p:nvSpPr>
          <p:spPr>
            <a:xfrm>
              <a:off x="987133" y="1577724"/>
              <a:ext cx="3394996" cy="2116741"/>
            </a:xfrm>
            <a:prstGeom prst="rect">
              <a:avLst/>
            </a:prstGeom>
            <a:solidFill>
              <a:schemeClr val="accent1">
                <a:alpha val="100000"/>
              </a:schemeClr>
            </a:solidFill>
            <a:ln/>
          </p:spPr>
          <p:txBody>
            <a:bodyPr vert="horz" wrap="square" lIns="91440" tIns="45720" rIns="91440" bIns="45720" rtlCol="0" anchor="ctr" anchorCtr="0">
              <a:noAutofit/>
            </a:bodyPr>
            <a:lstStyle/>
            <a:p>
              <a:pPr algn="ctr">
                <a:defRPr/>
              </a:pPr>
              <a:r>
                <a:rPr lang="en-US" sz="2940">
                  <a:solidFill>
                    <a:srgbClr val="FFFFFF">
                      <a:alpha val="100000"/>
                    </a:srgbClr>
                  </a:solidFill>
                  <a:latin typeface="Calibri"/>
                  <a:ea typeface="Calibri"/>
                  <a:cs typeface="Calibri"/>
                </a:rPr>
                <a:t>    </a:t>
              </a:r>
              <a:endParaRPr lang="en-US" sz="1100"/>
            </a:p>
          </p:txBody>
        </p:sp>
        <p:sp>
          <p:nvSpPr>
            <p:cNvPr id="36" name="AutoShape 3">
              <a:extLst>
                <a:ext uri="{FF2B5EF4-FFF2-40B4-BE49-F238E27FC236}">
                  <a16:creationId xmlns:a16="http://schemas.microsoft.com/office/drawing/2014/main" id="{6E18E57E-97AC-4D45-A06B-9004C498F265}"/>
                </a:ext>
              </a:extLst>
            </p:cNvPr>
            <p:cNvSpPr/>
            <p:nvPr/>
          </p:nvSpPr>
          <p:spPr>
            <a:xfrm>
              <a:off x="4379738" y="3773359"/>
              <a:ext cx="3394996" cy="2064970"/>
            </a:xfrm>
            <a:prstGeom prst="rect">
              <a:avLst/>
            </a:prstGeom>
            <a:solidFill>
              <a:schemeClr val="accent1">
                <a:alpha val="100000"/>
              </a:schemeClr>
            </a:solidFill>
            <a:ln/>
          </p:spPr>
        </p:sp>
        <p:sp>
          <p:nvSpPr>
            <p:cNvPr id="37" name="AutoShape 4">
              <a:extLst>
                <a:ext uri="{FF2B5EF4-FFF2-40B4-BE49-F238E27FC236}">
                  <a16:creationId xmlns:a16="http://schemas.microsoft.com/office/drawing/2014/main" id="{46793C21-28D6-43A1-AC0B-747155057999}"/>
                </a:ext>
              </a:extLst>
            </p:cNvPr>
            <p:cNvSpPr/>
            <p:nvPr/>
          </p:nvSpPr>
          <p:spPr>
            <a:xfrm>
              <a:off x="7771733" y="1604867"/>
              <a:ext cx="3394996" cy="2116741"/>
            </a:xfrm>
            <a:prstGeom prst="rect">
              <a:avLst/>
            </a:prstGeom>
            <a:solidFill>
              <a:schemeClr val="accent1">
                <a:alpha val="100000"/>
              </a:schemeClr>
            </a:solidFill>
            <a:ln/>
          </p:spPr>
        </p:sp>
        <p:pic>
          <p:nvPicPr>
            <p:cNvPr id="38" name="Picture 5">
              <a:extLst>
                <a:ext uri="{FF2B5EF4-FFF2-40B4-BE49-F238E27FC236}">
                  <a16:creationId xmlns:a16="http://schemas.microsoft.com/office/drawing/2014/main" id="{E679690F-FC65-4439-B246-6B77D0EF45C6}"/>
                </a:ext>
              </a:extLst>
            </p:cNvPr>
            <p:cNvPicPr>
              <a:picLocks noChangeAspect="1"/>
            </p:cNvPicPr>
            <p:nvPr/>
          </p:nvPicPr>
          <p:blipFill>
            <a:blip r:embed="rId3"/>
            <a:srcRect t="2638" b="2638"/>
            <a:stretch>
              <a:fillRect/>
            </a:stretch>
          </p:blipFill>
          <p:spPr>
            <a:xfrm>
              <a:off x="981837" y="3694465"/>
              <a:ext cx="3394942" cy="2143864"/>
            </a:xfrm>
            <a:prstGeom prst="rect">
              <a:avLst/>
            </a:prstGeom>
          </p:spPr>
        </p:pic>
        <p:pic>
          <p:nvPicPr>
            <p:cNvPr id="39" name="Picture 6">
              <a:extLst>
                <a:ext uri="{FF2B5EF4-FFF2-40B4-BE49-F238E27FC236}">
                  <a16:creationId xmlns:a16="http://schemas.microsoft.com/office/drawing/2014/main" id="{1B703642-CA5B-422D-9ED6-A8045A0425D6}"/>
                </a:ext>
              </a:extLst>
            </p:cNvPr>
            <p:cNvPicPr>
              <a:picLocks noChangeAspect="1"/>
            </p:cNvPicPr>
            <p:nvPr/>
          </p:nvPicPr>
          <p:blipFill>
            <a:blip r:embed="rId4"/>
            <a:srcRect t="7901" b="7901"/>
            <a:stretch>
              <a:fillRect/>
            </a:stretch>
          </p:blipFill>
          <p:spPr>
            <a:xfrm>
              <a:off x="4376812" y="1577730"/>
              <a:ext cx="3394942" cy="2143864"/>
            </a:xfrm>
            <a:prstGeom prst="rect">
              <a:avLst/>
            </a:prstGeom>
          </p:spPr>
        </p:pic>
        <p:pic>
          <p:nvPicPr>
            <p:cNvPr id="40" name="Picture 7">
              <a:extLst>
                <a:ext uri="{FF2B5EF4-FFF2-40B4-BE49-F238E27FC236}">
                  <a16:creationId xmlns:a16="http://schemas.microsoft.com/office/drawing/2014/main" id="{4DF56F2E-7B55-4370-BF0A-FE2D6F5DE149}"/>
                </a:ext>
              </a:extLst>
            </p:cNvPr>
            <p:cNvPicPr>
              <a:picLocks noChangeAspect="1"/>
            </p:cNvPicPr>
            <p:nvPr/>
          </p:nvPicPr>
          <p:blipFill>
            <a:blip r:embed="rId5"/>
            <a:srcRect t="3567" b="3567"/>
            <a:stretch>
              <a:fillRect/>
            </a:stretch>
          </p:blipFill>
          <p:spPr>
            <a:xfrm>
              <a:off x="7771760" y="3694465"/>
              <a:ext cx="3394942" cy="2143864"/>
            </a:xfrm>
            <a:prstGeom prst="rect">
              <a:avLst/>
            </a:prstGeom>
          </p:spPr>
        </p:pic>
        <p:sp>
          <p:nvSpPr>
            <p:cNvPr id="41" name="TextBox 30">
              <a:extLst>
                <a:ext uri="{FF2B5EF4-FFF2-40B4-BE49-F238E27FC236}">
                  <a16:creationId xmlns:a16="http://schemas.microsoft.com/office/drawing/2014/main" id="{52F097E0-4E27-4A9F-8EBA-AE183E919E53}"/>
                </a:ext>
              </a:extLst>
            </p:cNvPr>
            <p:cNvSpPr txBox="1"/>
            <p:nvPr/>
          </p:nvSpPr>
          <p:spPr>
            <a:xfrm>
              <a:off x="981837" y="1604867"/>
              <a:ext cx="3394996" cy="490334"/>
            </a:xfrm>
            <a:prstGeom prst="rect">
              <a:avLst/>
            </a:prstGeom>
            <a:ln/>
          </p:spPr>
          <p:txBody>
            <a:bodyPr vert="horz" wrap="square" lIns="66008" tIns="33052" rIns="66008" bIns="33052" rtlCol="0" anchor="t" anchorCtr="0">
              <a:normAutofit/>
            </a:bodyPr>
            <a:lstStyle/>
            <a:p>
              <a:pPr>
                <a:lnSpc>
                  <a:spcPct val="150000"/>
                </a:lnSpc>
              </a:pPr>
              <a:r>
                <a:rPr lang="zh-CN" altLang="en-US" sz="2000" b="1" dirty="0">
                  <a:solidFill>
                    <a:srgbClr val="FFFDFD">
                      <a:alpha val="100000"/>
                    </a:srgbClr>
                  </a:solidFill>
                  <a:latin typeface="+mn-ea"/>
                  <a:cs typeface="Microsoft Yahei"/>
                </a:rPr>
                <a:t> 三元催化转化器</a:t>
              </a:r>
            </a:p>
          </p:txBody>
        </p:sp>
        <p:sp>
          <p:nvSpPr>
            <p:cNvPr id="42" name="TextBox 31">
              <a:extLst>
                <a:ext uri="{FF2B5EF4-FFF2-40B4-BE49-F238E27FC236}">
                  <a16:creationId xmlns:a16="http://schemas.microsoft.com/office/drawing/2014/main" id="{2844FCA7-5630-486E-84F7-D121B69462E7}"/>
                </a:ext>
              </a:extLst>
            </p:cNvPr>
            <p:cNvSpPr txBox="1"/>
            <p:nvPr/>
          </p:nvSpPr>
          <p:spPr>
            <a:xfrm>
              <a:off x="1000947" y="2199034"/>
              <a:ext cx="3286271" cy="1134063"/>
            </a:xfrm>
            <a:prstGeom prst="rect">
              <a:avLst/>
            </a:prstGeom>
            <a:ln/>
          </p:spPr>
          <p:txBody>
            <a:bodyPr vert="horz" wrap="square" lIns="66008" tIns="33052" rIns="66008" bIns="33052" rtlCol="0" anchor="ctr" anchorCtr="1">
              <a:noAutofit/>
            </a:bodyPr>
            <a:lstStyle/>
            <a:p>
              <a:pPr>
                <a:lnSpc>
                  <a:spcPct val="120000"/>
                </a:lnSpc>
              </a:pPr>
              <a:r>
                <a:rPr lang="zh-CN" altLang="en-US" sz="1600" dirty="0">
                  <a:solidFill>
                    <a:srgbClr val="FFFDFD">
                      <a:alpha val="100000"/>
                    </a:srgbClr>
                  </a:solidFill>
                  <a:latin typeface="Microsoft Yahei"/>
                  <a:ea typeface="Microsoft Yahei"/>
                  <a:cs typeface="Microsoft Yahei"/>
                </a:rPr>
                <a:t>利用催化剂将尾气中的一氧化碳、碳氢化合物和氮氧化物转化为无害气体。</a:t>
              </a:r>
            </a:p>
          </p:txBody>
        </p:sp>
        <p:sp>
          <p:nvSpPr>
            <p:cNvPr id="47" name="TextBox 6">
              <a:extLst>
                <a:ext uri="{FF2B5EF4-FFF2-40B4-BE49-F238E27FC236}">
                  <a16:creationId xmlns:a16="http://schemas.microsoft.com/office/drawing/2014/main" id="{0E3C5011-3223-43EF-8F67-409E80D953D9}"/>
                </a:ext>
              </a:extLst>
            </p:cNvPr>
            <p:cNvSpPr txBox="1"/>
            <p:nvPr/>
          </p:nvSpPr>
          <p:spPr>
            <a:xfrm>
              <a:off x="7771732" y="1577724"/>
              <a:ext cx="3375812" cy="59343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燃油蒸发控制系统</a:t>
              </a:r>
            </a:p>
          </p:txBody>
        </p:sp>
        <p:sp>
          <p:nvSpPr>
            <p:cNvPr id="48" name="TextBox 31">
              <a:extLst>
                <a:ext uri="{FF2B5EF4-FFF2-40B4-BE49-F238E27FC236}">
                  <a16:creationId xmlns:a16="http://schemas.microsoft.com/office/drawing/2014/main" id="{F6792DBE-A9AF-4935-9C25-468A474C7322}"/>
                </a:ext>
              </a:extLst>
            </p:cNvPr>
            <p:cNvSpPr txBox="1"/>
            <p:nvPr/>
          </p:nvSpPr>
          <p:spPr>
            <a:xfrm>
              <a:off x="7752547" y="2082630"/>
              <a:ext cx="3286271" cy="1134063"/>
            </a:xfrm>
            <a:prstGeom prst="rect">
              <a:avLst/>
            </a:prstGeom>
            <a:ln/>
          </p:spPr>
          <p:txBody>
            <a:bodyPr vert="horz" wrap="square" lIns="66008" tIns="33052" rIns="66008" bIns="33052" rtlCol="0" anchor="ctr" anchorCtr="1">
              <a:noAutofit/>
            </a:bodyPr>
            <a:lstStyle/>
            <a:p>
              <a:pPr>
                <a:lnSpc>
                  <a:spcPct val="120000"/>
                </a:lnSpc>
              </a:pPr>
              <a:r>
                <a:rPr lang="zh-CN" altLang="en-US" sz="1600" dirty="0">
                  <a:solidFill>
                    <a:srgbClr val="FFFDFD">
                      <a:alpha val="100000"/>
                    </a:srgbClr>
                  </a:solidFill>
                  <a:latin typeface="Microsoft Yahei"/>
                  <a:ea typeface="Microsoft Yahei"/>
                  <a:cs typeface="Microsoft Yahei"/>
                </a:rPr>
                <a:t>收集并处理燃油系统产生的燃油蒸气，防止其排入大气。</a:t>
              </a:r>
            </a:p>
          </p:txBody>
        </p:sp>
        <p:sp>
          <p:nvSpPr>
            <p:cNvPr id="49" name="TextBox 6">
              <a:extLst>
                <a:ext uri="{FF2B5EF4-FFF2-40B4-BE49-F238E27FC236}">
                  <a16:creationId xmlns:a16="http://schemas.microsoft.com/office/drawing/2014/main" id="{698694F0-13ED-45EB-93E3-EAF388AAB00A}"/>
                </a:ext>
              </a:extLst>
            </p:cNvPr>
            <p:cNvSpPr txBox="1"/>
            <p:nvPr/>
          </p:nvSpPr>
          <p:spPr>
            <a:xfrm>
              <a:off x="4372418" y="3721594"/>
              <a:ext cx="3375812" cy="59343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曲轴箱强制通风系统</a:t>
              </a:r>
            </a:p>
          </p:txBody>
        </p:sp>
        <p:sp>
          <p:nvSpPr>
            <p:cNvPr id="50" name="TextBox 31">
              <a:extLst>
                <a:ext uri="{FF2B5EF4-FFF2-40B4-BE49-F238E27FC236}">
                  <a16:creationId xmlns:a16="http://schemas.microsoft.com/office/drawing/2014/main" id="{8678E844-1560-4DAA-930A-B564525635AD}"/>
                </a:ext>
              </a:extLst>
            </p:cNvPr>
            <p:cNvSpPr txBox="1"/>
            <p:nvPr/>
          </p:nvSpPr>
          <p:spPr>
            <a:xfrm>
              <a:off x="4483982" y="4190717"/>
              <a:ext cx="3286271" cy="1134063"/>
            </a:xfrm>
            <a:prstGeom prst="rect">
              <a:avLst/>
            </a:prstGeom>
            <a:ln/>
          </p:spPr>
          <p:txBody>
            <a:bodyPr vert="horz" wrap="square" lIns="66008" tIns="33052" rIns="66008" bIns="33052" rtlCol="0" anchor="ctr" anchorCtr="1">
              <a:noAutofit/>
            </a:bodyPr>
            <a:lstStyle/>
            <a:p>
              <a:pPr>
                <a:lnSpc>
                  <a:spcPct val="120000"/>
                </a:lnSpc>
              </a:pPr>
              <a:r>
                <a:rPr lang="zh-CN" altLang="en-US" sz="1600" dirty="0">
                  <a:solidFill>
                    <a:srgbClr val="FFFDFD">
                      <a:alpha val="100000"/>
                    </a:srgbClr>
                  </a:solidFill>
                  <a:latin typeface="Microsoft Yahei"/>
                  <a:ea typeface="Microsoft Yahei"/>
                  <a:cs typeface="Microsoft Yahei"/>
                </a:rPr>
                <a:t>防止曲轴箱内的油气泄漏到大气中，减少污染。</a:t>
              </a:r>
            </a:p>
          </p:txBody>
        </p:sp>
      </p:grpSp>
    </p:spTree>
    <p:extLst>
      <p:ext uri="{BB962C8B-B14F-4D97-AF65-F5344CB8AC3E}">
        <p14:creationId xmlns:p14="http://schemas.microsoft.com/office/powerpoint/2010/main" val="3972087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34" name="Rectangle 2">
            <a:extLst>
              <a:ext uri="{FF2B5EF4-FFF2-40B4-BE49-F238E27FC236}">
                <a16:creationId xmlns:a16="http://schemas.microsoft.com/office/drawing/2014/main" id="{09E8A73F-4146-42F3-A0BA-63DD555F549A}"/>
              </a:ext>
            </a:extLst>
          </p:cNvPr>
          <p:cNvSpPr txBox="1">
            <a:spLocks noChangeArrowheads="1"/>
          </p:cNvSpPr>
          <p:nvPr/>
        </p:nvSpPr>
        <p:spPr bwMode="auto">
          <a:xfrm>
            <a:off x="858671" y="1129047"/>
            <a:ext cx="3840656" cy="54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20000"/>
              </a:lnSpc>
              <a:spcBef>
                <a:spcPct val="40000"/>
              </a:spcBef>
              <a:buFont typeface="Wingdings" panose="05000000000000000000" pitchFamily="2" charset="2"/>
              <a:buNone/>
            </a:pPr>
            <a:r>
              <a:rPr lang="zh-CN" altLang="en-US" sz="2800" b="1" dirty="0">
                <a:solidFill>
                  <a:srgbClr val="C00000"/>
                </a:solidFill>
                <a:latin typeface="SimHei" panose="02010609060101010101" pitchFamily="49" charset="-122"/>
                <a:ea typeface="SimHei" panose="02010609060101010101" pitchFamily="49" charset="-122"/>
              </a:rPr>
              <a:t>柴油车尾气净化技术</a:t>
            </a:r>
          </a:p>
        </p:txBody>
      </p:sp>
      <p:grpSp>
        <p:nvGrpSpPr>
          <p:cNvPr id="43" name="组合 42">
            <a:extLst>
              <a:ext uri="{FF2B5EF4-FFF2-40B4-BE49-F238E27FC236}">
                <a16:creationId xmlns:a16="http://schemas.microsoft.com/office/drawing/2014/main" id="{861F5FF4-459F-4FFD-851B-433A890B6D3F}"/>
              </a:ext>
            </a:extLst>
          </p:cNvPr>
          <p:cNvGrpSpPr/>
          <p:nvPr/>
        </p:nvGrpSpPr>
        <p:grpSpPr>
          <a:xfrm>
            <a:off x="1384610" y="1983327"/>
            <a:ext cx="6844632" cy="4378351"/>
            <a:chOff x="4913118" y="1538583"/>
            <a:chExt cx="6844632" cy="4378351"/>
          </a:xfrm>
        </p:grpSpPr>
        <p:sp>
          <p:nvSpPr>
            <p:cNvPr id="44" name="AutoShape 4">
              <a:extLst>
                <a:ext uri="{FF2B5EF4-FFF2-40B4-BE49-F238E27FC236}">
                  <a16:creationId xmlns:a16="http://schemas.microsoft.com/office/drawing/2014/main" id="{85B8B901-E5AE-4793-8A53-19F62C8C5E7B}"/>
                </a:ext>
              </a:extLst>
            </p:cNvPr>
            <p:cNvSpPr/>
            <p:nvPr/>
          </p:nvSpPr>
          <p:spPr>
            <a:xfrm>
              <a:off x="4935912" y="4902401"/>
              <a:ext cx="993758" cy="993758"/>
            </a:xfrm>
            <a:prstGeom prst="ellipse">
              <a:avLst/>
            </a:prstGeom>
            <a:solidFill>
              <a:schemeClr val="accent1">
                <a:alpha val="100000"/>
              </a:schemeClr>
            </a:solidFill>
            <a:ln/>
          </p:spPr>
        </p:sp>
        <p:sp>
          <p:nvSpPr>
            <p:cNvPr id="45" name="TextBox 5">
              <a:extLst>
                <a:ext uri="{FF2B5EF4-FFF2-40B4-BE49-F238E27FC236}">
                  <a16:creationId xmlns:a16="http://schemas.microsoft.com/office/drawing/2014/main" id="{BAC30744-4E43-4122-A5E9-7DEBB8656091}"/>
                </a:ext>
              </a:extLst>
            </p:cNvPr>
            <p:cNvSpPr txBox="1"/>
            <p:nvPr/>
          </p:nvSpPr>
          <p:spPr>
            <a:xfrm>
              <a:off x="4935912" y="5057904"/>
              <a:ext cx="964530" cy="639919"/>
            </a:xfrm>
            <a:prstGeom prst="rect">
              <a:avLst/>
            </a:prstGeom>
            <a:ln/>
          </p:spPr>
          <p:txBody>
            <a:bodyPr vert="horz" wrap="square" lIns="123825" tIns="123825" rIns="57150" bIns="123825" rtlCol="0" anchor="t" anchorCtr="0">
              <a:spAutoFit/>
            </a:bodyPr>
            <a:lstStyle/>
            <a:p>
              <a:pPr algn="ctr">
                <a:lnSpc>
                  <a:spcPct val="120000"/>
                </a:lnSpc>
              </a:pPr>
              <a:r>
                <a:rPr lang="en-US" sz="2325" b="1" dirty="0">
                  <a:solidFill>
                    <a:srgbClr val="FFFFFF">
                      <a:alpha val="100000"/>
                    </a:srgbClr>
                  </a:solidFill>
                  <a:latin typeface="+mn-ea"/>
                  <a:cs typeface="Microsoft Yahei"/>
                </a:rPr>
                <a:t>03</a:t>
              </a:r>
            </a:p>
          </p:txBody>
        </p:sp>
        <p:sp>
          <p:nvSpPr>
            <p:cNvPr id="46" name="TextBox 6">
              <a:extLst>
                <a:ext uri="{FF2B5EF4-FFF2-40B4-BE49-F238E27FC236}">
                  <a16:creationId xmlns:a16="http://schemas.microsoft.com/office/drawing/2014/main" id="{41EEC96C-157B-4B81-A340-675FDDC9A6CE}"/>
                </a:ext>
              </a:extLst>
            </p:cNvPr>
            <p:cNvSpPr txBox="1"/>
            <p:nvPr/>
          </p:nvSpPr>
          <p:spPr>
            <a:xfrm>
              <a:off x="6074570" y="4811284"/>
              <a:ext cx="5683179" cy="656846"/>
            </a:xfrm>
            <a:prstGeom prst="rect">
              <a:avLst/>
            </a:prstGeom>
            <a:ln/>
          </p:spPr>
          <p:txBody>
            <a:bodyPr vert="horz" wrap="square" lIns="123825" tIns="123825" rIns="57150" bIns="123825" rtlCol="0" anchor="t" anchorCtr="0">
              <a:spAutoFit/>
            </a:bodyPr>
            <a:lstStyle/>
            <a:p>
              <a:pPr>
                <a:lnSpc>
                  <a:spcPct val="150000"/>
                </a:lnSpc>
              </a:pPr>
              <a:r>
                <a:rPr lang="en-US" sz="2000" b="1" dirty="0" err="1">
                  <a:solidFill>
                    <a:schemeClr val="accent1">
                      <a:alpha val="100000"/>
                    </a:schemeClr>
                  </a:solidFill>
                  <a:latin typeface="+mn-ea"/>
                  <a:cs typeface="Microsoft Yahei"/>
                </a:rPr>
                <a:t>燃油改进和添加剂使用</a:t>
              </a:r>
              <a:endParaRPr lang="en-US" sz="2000" b="1" dirty="0">
                <a:solidFill>
                  <a:schemeClr val="accent1">
                    <a:alpha val="100000"/>
                  </a:schemeClr>
                </a:solidFill>
                <a:latin typeface="+mn-ea"/>
                <a:cs typeface="Microsoft Yahei"/>
              </a:endParaRPr>
            </a:p>
          </p:txBody>
        </p:sp>
        <p:sp>
          <p:nvSpPr>
            <p:cNvPr id="51" name="TextBox 7">
              <a:extLst>
                <a:ext uri="{FF2B5EF4-FFF2-40B4-BE49-F238E27FC236}">
                  <a16:creationId xmlns:a16="http://schemas.microsoft.com/office/drawing/2014/main" id="{75B5D83B-7A11-4A15-8C9A-3F7B5488872E}"/>
                </a:ext>
              </a:extLst>
            </p:cNvPr>
            <p:cNvSpPr txBox="1"/>
            <p:nvPr/>
          </p:nvSpPr>
          <p:spPr>
            <a:xfrm>
              <a:off x="6074571" y="5341007"/>
              <a:ext cx="5486256" cy="575927"/>
            </a:xfrm>
            <a:prstGeom prst="rect">
              <a:avLst/>
            </a:prstGeom>
            <a:ln/>
          </p:spPr>
          <p:txBody>
            <a:bodyPr vert="horz" wrap="square" lIns="123825" tIns="123825" rIns="57150" bIns="123825" rtlCol="0" anchor="t" anchorCtr="0">
              <a:spAutoFit/>
            </a:bodyPr>
            <a:lstStyle/>
            <a:p>
              <a:pPr>
                <a:lnSpc>
                  <a:spcPct val="150000"/>
                </a:lnSpc>
              </a:pPr>
              <a:r>
                <a:rPr lang="en-US" sz="1600" dirty="0" err="1">
                  <a:solidFill>
                    <a:schemeClr val="dk1">
                      <a:alpha val="100000"/>
                    </a:schemeClr>
                  </a:solidFill>
                  <a:latin typeface="+mn-ea"/>
                  <a:cs typeface="Microsoft Yahei"/>
                </a:rPr>
                <a:t>提高燃油质量</a:t>
              </a:r>
              <a:r>
                <a:rPr lang="en-US" sz="1500" dirty="0" err="1">
                  <a:solidFill>
                    <a:schemeClr val="dk1">
                      <a:alpha val="100000"/>
                    </a:schemeClr>
                  </a:solidFill>
                  <a:latin typeface="+mn-ea"/>
                  <a:cs typeface="Microsoft Yahei"/>
                </a:rPr>
                <a:t>，减少有害物质排放</a:t>
              </a:r>
              <a:r>
                <a:rPr lang="en-US" sz="1500" dirty="0">
                  <a:solidFill>
                    <a:schemeClr val="dk1">
                      <a:alpha val="100000"/>
                    </a:schemeClr>
                  </a:solidFill>
                  <a:latin typeface="+mn-ea"/>
                  <a:cs typeface="Microsoft Yahei"/>
                </a:rPr>
                <a:t>。</a:t>
              </a:r>
            </a:p>
          </p:txBody>
        </p:sp>
        <p:sp>
          <p:nvSpPr>
            <p:cNvPr id="52" name="AutoShape 8">
              <a:extLst>
                <a:ext uri="{FF2B5EF4-FFF2-40B4-BE49-F238E27FC236}">
                  <a16:creationId xmlns:a16="http://schemas.microsoft.com/office/drawing/2014/main" id="{C74A9246-EFC2-48AB-8F6E-F68FC7BBAD30}"/>
                </a:ext>
              </a:extLst>
            </p:cNvPr>
            <p:cNvSpPr/>
            <p:nvPr/>
          </p:nvSpPr>
          <p:spPr>
            <a:xfrm>
              <a:off x="4913118" y="1684223"/>
              <a:ext cx="993758" cy="993758"/>
            </a:xfrm>
            <a:prstGeom prst="ellipse">
              <a:avLst/>
            </a:prstGeom>
            <a:solidFill>
              <a:schemeClr val="accent1">
                <a:alpha val="100000"/>
              </a:schemeClr>
            </a:solidFill>
            <a:ln/>
          </p:spPr>
        </p:sp>
        <p:sp>
          <p:nvSpPr>
            <p:cNvPr id="53" name="TextBox 9">
              <a:extLst>
                <a:ext uri="{FF2B5EF4-FFF2-40B4-BE49-F238E27FC236}">
                  <a16:creationId xmlns:a16="http://schemas.microsoft.com/office/drawing/2014/main" id="{47016404-D62A-4B2E-AA7D-4BACB869FD42}"/>
                </a:ext>
              </a:extLst>
            </p:cNvPr>
            <p:cNvSpPr txBox="1"/>
            <p:nvPr/>
          </p:nvSpPr>
          <p:spPr>
            <a:xfrm>
              <a:off x="4913118" y="1861142"/>
              <a:ext cx="964530" cy="639919"/>
            </a:xfrm>
            <a:prstGeom prst="rect">
              <a:avLst/>
            </a:prstGeom>
            <a:ln/>
          </p:spPr>
          <p:txBody>
            <a:bodyPr vert="horz" wrap="square" lIns="123825" tIns="123825" rIns="57150" bIns="123825" rtlCol="0" anchor="ctr" anchorCtr="0">
              <a:spAutoFit/>
            </a:bodyPr>
            <a:lstStyle/>
            <a:p>
              <a:pPr algn="ctr">
                <a:lnSpc>
                  <a:spcPct val="120000"/>
                </a:lnSpc>
              </a:pPr>
              <a:r>
                <a:rPr lang="en-US" sz="2325" b="1">
                  <a:solidFill>
                    <a:srgbClr val="FFFFFF">
                      <a:alpha val="100000"/>
                    </a:srgbClr>
                  </a:solidFill>
                  <a:latin typeface="+mn-ea"/>
                  <a:cs typeface="Microsoft Yahei"/>
                </a:rPr>
                <a:t>01</a:t>
              </a:r>
            </a:p>
          </p:txBody>
        </p:sp>
        <p:sp>
          <p:nvSpPr>
            <p:cNvPr id="54" name="TextBox 10">
              <a:extLst>
                <a:ext uri="{FF2B5EF4-FFF2-40B4-BE49-F238E27FC236}">
                  <a16:creationId xmlns:a16="http://schemas.microsoft.com/office/drawing/2014/main" id="{4E71755C-FE30-4CE3-B773-63DA12BE44A4}"/>
                </a:ext>
              </a:extLst>
            </p:cNvPr>
            <p:cNvSpPr txBox="1"/>
            <p:nvPr/>
          </p:nvSpPr>
          <p:spPr>
            <a:xfrm>
              <a:off x="6074571" y="1538583"/>
              <a:ext cx="5683179" cy="656846"/>
            </a:xfrm>
            <a:prstGeom prst="rect">
              <a:avLst/>
            </a:prstGeom>
            <a:ln/>
          </p:spPr>
          <p:txBody>
            <a:bodyPr vert="horz" wrap="square" lIns="123825" tIns="123825" rIns="57150" bIns="123825" rtlCol="0" anchor="t" anchorCtr="0">
              <a:spAutoFit/>
            </a:bodyPr>
            <a:lstStyle/>
            <a:p>
              <a:pPr>
                <a:lnSpc>
                  <a:spcPct val="150000"/>
                </a:lnSpc>
              </a:pPr>
              <a:r>
                <a:rPr lang="en-US" sz="2000" b="1" dirty="0" err="1">
                  <a:solidFill>
                    <a:schemeClr val="accent1">
                      <a:alpha val="100000"/>
                    </a:schemeClr>
                  </a:solidFill>
                  <a:latin typeface="+mn-ea"/>
                  <a:cs typeface="Microsoft Yahei"/>
                </a:rPr>
                <a:t>颗粒捕集器</a:t>
              </a:r>
              <a:endParaRPr lang="en-US" sz="2000" b="1" dirty="0">
                <a:solidFill>
                  <a:schemeClr val="accent1">
                    <a:alpha val="100000"/>
                  </a:schemeClr>
                </a:solidFill>
                <a:latin typeface="+mn-ea"/>
                <a:cs typeface="Microsoft Yahei"/>
              </a:endParaRPr>
            </a:p>
          </p:txBody>
        </p:sp>
        <p:sp>
          <p:nvSpPr>
            <p:cNvPr id="55" name="TextBox 11">
              <a:extLst>
                <a:ext uri="{FF2B5EF4-FFF2-40B4-BE49-F238E27FC236}">
                  <a16:creationId xmlns:a16="http://schemas.microsoft.com/office/drawing/2014/main" id="{38674722-B44A-41A1-A6EB-8748F12AC0CB}"/>
                </a:ext>
              </a:extLst>
            </p:cNvPr>
            <p:cNvSpPr txBox="1"/>
            <p:nvPr/>
          </p:nvSpPr>
          <p:spPr>
            <a:xfrm>
              <a:off x="6074571" y="2122829"/>
              <a:ext cx="5486256" cy="575479"/>
            </a:xfrm>
            <a:prstGeom prst="rect">
              <a:avLst/>
            </a:prstGeom>
            <a:ln/>
          </p:spPr>
          <p:txBody>
            <a:bodyPr vert="horz" wrap="square" lIns="123825" tIns="123825" rIns="57150" bIns="123825" rtlCol="0" anchor="t" anchorCtr="0">
              <a:spAutoFit/>
            </a:bodyPr>
            <a:lstStyle/>
            <a:p>
              <a:pPr>
                <a:lnSpc>
                  <a:spcPct val="150000"/>
                </a:lnSpc>
              </a:pPr>
              <a:r>
                <a:rPr lang="en-US" sz="1600" dirty="0" err="1">
                  <a:solidFill>
                    <a:schemeClr val="dk1">
                      <a:alpha val="100000"/>
                    </a:schemeClr>
                  </a:solidFill>
                  <a:latin typeface="+mn-ea"/>
                  <a:cs typeface="Microsoft Yahei"/>
                </a:rPr>
                <a:t>捕捉尾气中的颗粒物，降低颗粒物排放</a:t>
              </a:r>
              <a:r>
                <a:rPr lang="en-US" sz="1600" dirty="0">
                  <a:solidFill>
                    <a:schemeClr val="dk1">
                      <a:alpha val="100000"/>
                    </a:schemeClr>
                  </a:solidFill>
                  <a:latin typeface="+mn-ea"/>
                  <a:cs typeface="Microsoft Yahei"/>
                </a:rPr>
                <a:t>。</a:t>
              </a:r>
            </a:p>
          </p:txBody>
        </p:sp>
        <p:sp>
          <p:nvSpPr>
            <p:cNvPr id="56" name="AutoShape 12">
              <a:extLst>
                <a:ext uri="{FF2B5EF4-FFF2-40B4-BE49-F238E27FC236}">
                  <a16:creationId xmlns:a16="http://schemas.microsoft.com/office/drawing/2014/main" id="{8692FD70-0FBB-45DF-B068-1F084C2B5B2E}"/>
                </a:ext>
              </a:extLst>
            </p:cNvPr>
            <p:cNvSpPr/>
            <p:nvPr/>
          </p:nvSpPr>
          <p:spPr>
            <a:xfrm>
              <a:off x="4935912" y="3284246"/>
              <a:ext cx="993758" cy="993758"/>
            </a:xfrm>
            <a:prstGeom prst="ellipse">
              <a:avLst/>
            </a:prstGeom>
            <a:solidFill>
              <a:schemeClr val="accent1">
                <a:alpha val="100000"/>
              </a:schemeClr>
            </a:solidFill>
            <a:ln/>
          </p:spPr>
        </p:sp>
        <p:sp>
          <p:nvSpPr>
            <p:cNvPr id="57" name="TextBox 13">
              <a:extLst>
                <a:ext uri="{FF2B5EF4-FFF2-40B4-BE49-F238E27FC236}">
                  <a16:creationId xmlns:a16="http://schemas.microsoft.com/office/drawing/2014/main" id="{7316A328-EC8B-45CC-99FE-43AD033DFA85}"/>
                </a:ext>
              </a:extLst>
            </p:cNvPr>
            <p:cNvSpPr txBox="1"/>
            <p:nvPr/>
          </p:nvSpPr>
          <p:spPr>
            <a:xfrm>
              <a:off x="4913118" y="3417294"/>
              <a:ext cx="964530" cy="639919"/>
            </a:xfrm>
            <a:prstGeom prst="rect">
              <a:avLst/>
            </a:prstGeom>
            <a:ln/>
          </p:spPr>
          <p:txBody>
            <a:bodyPr vert="horz" wrap="square" lIns="123825" tIns="123825" rIns="57150" bIns="123825" rtlCol="0" anchor="t" anchorCtr="0">
              <a:spAutoFit/>
            </a:bodyPr>
            <a:lstStyle/>
            <a:p>
              <a:pPr algn="ctr">
                <a:lnSpc>
                  <a:spcPct val="120000"/>
                </a:lnSpc>
              </a:pPr>
              <a:r>
                <a:rPr lang="en-US" sz="2325" b="1" dirty="0">
                  <a:solidFill>
                    <a:srgbClr val="FFFFFF">
                      <a:alpha val="100000"/>
                    </a:srgbClr>
                  </a:solidFill>
                  <a:latin typeface="+mn-ea"/>
                  <a:cs typeface="Microsoft Yahei"/>
                </a:rPr>
                <a:t>02</a:t>
              </a:r>
            </a:p>
          </p:txBody>
        </p:sp>
        <p:sp>
          <p:nvSpPr>
            <p:cNvPr id="58" name="TextBox 14">
              <a:extLst>
                <a:ext uri="{FF2B5EF4-FFF2-40B4-BE49-F238E27FC236}">
                  <a16:creationId xmlns:a16="http://schemas.microsoft.com/office/drawing/2014/main" id="{2FADCA3F-26DC-4D05-A184-8497387DA3BD}"/>
                </a:ext>
              </a:extLst>
            </p:cNvPr>
            <p:cNvSpPr txBox="1"/>
            <p:nvPr/>
          </p:nvSpPr>
          <p:spPr>
            <a:xfrm>
              <a:off x="6074571" y="3188965"/>
              <a:ext cx="5683179" cy="656846"/>
            </a:xfrm>
            <a:prstGeom prst="rect">
              <a:avLst/>
            </a:prstGeom>
            <a:ln/>
          </p:spPr>
          <p:txBody>
            <a:bodyPr vert="horz" wrap="square" lIns="123825" tIns="123825" rIns="57150" bIns="123825" rtlCol="0" anchor="t" anchorCtr="0">
              <a:spAutoFit/>
            </a:bodyPr>
            <a:lstStyle/>
            <a:p>
              <a:pPr>
                <a:lnSpc>
                  <a:spcPct val="150000"/>
                </a:lnSpc>
              </a:pPr>
              <a:r>
                <a:rPr lang="en-US" sz="2000" b="1" dirty="0" err="1">
                  <a:solidFill>
                    <a:schemeClr val="accent1">
                      <a:alpha val="100000"/>
                    </a:schemeClr>
                  </a:solidFill>
                  <a:latin typeface="+mn-ea"/>
                  <a:cs typeface="Microsoft Yahei"/>
                </a:rPr>
                <a:t>氮氧化物还原技术</a:t>
              </a:r>
              <a:endParaRPr lang="en-US" sz="2000" b="1" dirty="0">
                <a:solidFill>
                  <a:schemeClr val="accent1">
                    <a:alpha val="100000"/>
                  </a:schemeClr>
                </a:solidFill>
                <a:latin typeface="+mn-ea"/>
                <a:cs typeface="Microsoft Yahei"/>
              </a:endParaRPr>
            </a:p>
          </p:txBody>
        </p:sp>
        <p:sp>
          <p:nvSpPr>
            <p:cNvPr id="59" name="TextBox 15">
              <a:extLst>
                <a:ext uri="{FF2B5EF4-FFF2-40B4-BE49-F238E27FC236}">
                  <a16:creationId xmlns:a16="http://schemas.microsoft.com/office/drawing/2014/main" id="{2B4228DD-6E2E-4379-B178-8E1665593F64}"/>
                </a:ext>
              </a:extLst>
            </p:cNvPr>
            <p:cNvSpPr txBox="1"/>
            <p:nvPr/>
          </p:nvSpPr>
          <p:spPr>
            <a:xfrm>
              <a:off x="6074571" y="3666241"/>
              <a:ext cx="5486256" cy="575479"/>
            </a:xfrm>
            <a:prstGeom prst="rect">
              <a:avLst/>
            </a:prstGeom>
            <a:ln/>
          </p:spPr>
          <p:txBody>
            <a:bodyPr vert="horz" wrap="square" lIns="123825" tIns="123825" rIns="57150" bIns="123825" rtlCol="0" anchor="t" anchorCtr="0">
              <a:spAutoFit/>
            </a:bodyPr>
            <a:lstStyle/>
            <a:p>
              <a:pPr>
                <a:lnSpc>
                  <a:spcPct val="150000"/>
                </a:lnSpc>
              </a:pPr>
              <a:r>
                <a:rPr lang="en-US" sz="1600" dirty="0" err="1">
                  <a:solidFill>
                    <a:schemeClr val="dk1">
                      <a:alpha val="100000"/>
                    </a:schemeClr>
                  </a:solidFill>
                  <a:latin typeface="+mn-ea"/>
                  <a:cs typeface="Microsoft Yahei"/>
                </a:rPr>
                <a:t>通过催化剂将尾气中的氮氧化物还原为氮气和水蒸气</a:t>
              </a:r>
              <a:r>
                <a:rPr lang="en-US" sz="1600" dirty="0">
                  <a:solidFill>
                    <a:schemeClr val="dk1">
                      <a:alpha val="100000"/>
                    </a:schemeClr>
                  </a:solidFill>
                  <a:latin typeface="+mn-ea"/>
                  <a:cs typeface="Microsoft Yahei"/>
                </a:rPr>
                <a:t>。</a:t>
              </a:r>
            </a:p>
          </p:txBody>
        </p:sp>
      </p:grpSp>
      <p:sp>
        <p:nvSpPr>
          <p:cNvPr id="60" name="AutoShape 2">
            <a:extLst>
              <a:ext uri="{FF2B5EF4-FFF2-40B4-BE49-F238E27FC236}">
                <a16:creationId xmlns:a16="http://schemas.microsoft.com/office/drawing/2014/main" id="{312F7E7E-FBF9-4E19-A75B-F6E1D89F7EFC}"/>
              </a:ext>
            </a:extLst>
          </p:cNvPr>
          <p:cNvSpPr/>
          <p:nvPr/>
        </p:nvSpPr>
        <p:spPr>
          <a:xfrm>
            <a:off x="7557371" y="1941974"/>
            <a:ext cx="4135584" cy="4121353"/>
          </a:xfrm>
          <a:prstGeom prst="ellipse">
            <a:avLst/>
          </a:prstGeom>
          <a:blipFill>
            <a:blip r:embed="rId3"/>
            <a:stretch>
              <a:fillRect/>
            </a:stretch>
          </a:blipFill>
          <a:ln w="117475">
            <a:solidFill>
              <a:srgbClr val="4472C4"/>
            </a:solidFill>
          </a:ln>
        </p:spPr>
        <p:txBody>
          <a:bodyPr/>
          <a:lstStyle/>
          <a:p>
            <a:endParaRPr lang="zh-CN" altLang="en-US" dirty="0"/>
          </a:p>
        </p:txBody>
      </p:sp>
    </p:spTree>
    <p:extLst>
      <p:ext uri="{BB962C8B-B14F-4D97-AF65-F5344CB8AC3E}">
        <p14:creationId xmlns:p14="http://schemas.microsoft.com/office/powerpoint/2010/main" val="2187440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污染防治与修复技术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67" name="Group 9">
            <a:extLst>
              <a:ext uri="{FF2B5EF4-FFF2-40B4-BE49-F238E27FC236}">
                <a16:creationId xmlns:a16="http://schemas.microsoft.com/office/drawing/2014/main" id="{6F03009A-EF4F-4F94-A8D0-099CA415B3C5}"/>
              </a:ext>
            </a:extLst>
          </p:cNvPr>
          <p:cNvGrpSpPr/>
          <p:nvPr/>
        </p:nvGrpSpPr>
        <p:grpSpPr>
          <a:xfrm>
            <a:off x="1510581" y="1206641"/>
            <a:ext cx="10507919" cy="1474857"/>
            <a:chOff x="5925310" y="1577851"/>
            <a:chExt cx="8805554" cy="1307148"/>
          </a:xfrm>
        </p:grpSpPr>
        <p:sp>
          <p:nvSpPr>
            <p:cNvPr id="71" name="TextBox 10">
              <a:extLst>
                <a:ext uri="{FF2B5EF4-FFF2-40B4-BE49-F238E27FC236}">
                  <a16:creationId xmlns:a16="http://schemas.microsoft.com/office/drawing/2014/main" id="{AB14FAA3-A65F-4850-BA69-83107134640E}"/>
                </a:ext>
              </a:extLst>
            </p:cNvPr>
            <p:cNvSpPr txBox="1"/>
            <p:nvPr/>
          </p:nvSpPr>
          <p:spPr>
            <a:xfrm>
              <a:off x="5925310" y="1577851"/>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土壤污染防治与修复技术</a:t>
              </a:r>
            </a:p>
          </p:txBody>
        </p:sp>
        <p:sp>
          <p:nvSpPr>
            <p:cNvPr id="72" name="TextBox 11">
              <a:extLst>
                <a:ext uri="{FF2B5EF4-FFF2-40B4-BE49-F238E27FC236}">
                  <a16:creationId xmlns:a16="http://schemas.microsoft.com/office/drawing/2014/main" id="{1A67078A-B7EC-41F8-83FB-70E3E973497E}"/>
                </a:ext>
              </a:extLst>
            </p:cNvPr>
            <p:cNvSpPr txBox="1"/>
            <p:nvPr/>
          </p:nvSpPr>
          <p:spPr>
            <a:xfrm>
              <a:off x="5982796" y="2022450"/>
              <a:ext cx="8748068" cy="862549"/>
            </a:xfrm>
            <a:prstGeom prst="rect">
              <a:avLst/>
            </a:prstGeom>
            <a:ln/>
          </p:spPr>
          <p:txBody>
            <a:bodyPr vert="horz" wrap="square" lIns="114300" tIns="57150" rIns="114300" bIns="57150" rtlCol="0" anchor="t" anchorCtr="0">
              <a:spAutoFit/>
            </a:bodyPr>
            <a:lstStyle/>
            <a:p>
              <a:pPr>
                <a:lnSpc>
                  <a:spcPct val="120000"/>
                </a:lnSpc>
              </a:pPr>
              <a:r>
                <a:rPr lang="zh-CN" altLang="en-US" sz="2400" b="1" dirty="0">
                  <a:solidFill>
                    <a:schemeClr val="dk1">
                      <a:alpha val="100000"/>
                    </a:schemeClr>
                  </a:solidFill>
                  <a:latin typeface="+mn-ea"/>
                  <a:cs typeface="Microsoft Yahei"/>
                </a:rPr>
                <a:t>包括土壤污染调查评估、风险管控、修复治理等技术手段，用于保障土壤环境安全。</a:t>
              </a:r>
            </a:p>
          </p:txBody>
        </p:sp>
      </p:grpSp>
      <p:grpSp>
        <p:nvGrpSpPr>
          <p:cNvPr id="68" name="组合 67">
            <a:extLst>
              <a:ext uri="{FF2B5EF4-FFF2-40B4-BE49-F238E27FC236}">
                <a16:creationId xmlns:a16="http://schemas.microsoft.com/office/drawing/2014/main" id="{DD2CCBB9-AE62-4FD6-9F6D-A6FB9B971D87}"/>
              </a:ext>
            </a:extLst>
          </p:cNvPr>
          <p:cNvGrpSpPr/>
          <p:nvPr/>
        </p:nvGrpSpPr>
        <p:grpSpPr>
          <a:xfrm>
            <a:off x="560013" y="1275402"/>
            <a:ext cx="845690" cy="810236"/>
            <a:chOff x="4761432" y="1399458"/>
            <a:chExt cx="810236" cy="810236"/>
          </a:xfrm>
        </p:grpSpPr>
        <p:sp>
          <p:nvSpPr>
            <p:cNvPr id="69" name="AutoShape 13">
              <a:extLst>
                <a:ext uri="{FF2B5EF4-FFF2-40B4-BE49-F238E27FC236}">
                  <a16:creationId xmlns:a16="http://schemas.microsoft.com/office/drawing/2014/main" id="{1536DC21-1C77-4BAA-8BA0-EC702CC1CC18}"/>
                </a:ext>
              </a:extLst>
            </p:cNvPr>
            <p:cNvSpPr/>
            <p:nvPr/>
          </p:nvSpPr>
          <p:spPr>
            <a:xfrm>
              <a:off x="4761432" y="1399458"/>
              <a:ext cx="810236" cy="810236"/>
            </a:xfrm>
            <a:prstGeom prst="ellipse">
              <a:avLst/>
            </a:prstGeom>
            <a:solidFill>
              <a:schemeClr val="accent2">
                <a:alpha val="100000"/>
              </a:schemeClr>
            </a:solidFill>
            <a:ln/>
          </p:spPr>
        </p:sp>
        <p:sp>
          <p:nvSpPr>
            <p:cNvPr id="70" name="Freeform 16">
              <a:extLst>
                <a:ext uri="{FF2B5EF4-FFF2-40B4-BE49-F238E27FC236}">
                  <a16:creationId xmlns:a16="http://schemas.microsoft.com/office/drawing/2014/main" id="{E0E036B2-10D5-40B3-9FEF-51EDFADD27D5}"/>
                </a:ext>
              </a:extLst>
            </p:cNvPr>
            <p:cNvSpPr/>
            <p:nvPr/>
          </p:nvSpPr>
          <p:spPr>
            <a:xfrm>
              <a:off x="4970715" y="1571267"/>
              <a:ext cx="391670" cy="3916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grpSp>
      <p:grpSp>
        <p:nvGrpSpPr>
          <p:cNvPr id="114" name="组合 113">
            <a:extLst>
              <a:ext uri="{FF2B5EF4-FFF2-40B4-BE49-F238E27FC236}">
                <a16:creationId xmlns:a16="http://schemas.microsoft.com/office/drawing/2014/main" id="{877830B9-EC41-40C6-B32F-1E7B052E9291}"/>
              </a:ext>
            </a:extLst>
          </p:cNvPr>
          <p:cNvGrpSpPr/>
          <p:nvPr/>
        </p:nvGrpSpPr>
        <p:grpSpPr>
          <a:xfrm>
            <a:off x="4295547" y="2438042"/>
            <a:ext cx="3657600" cy="2249705"/>
            <a:chOff x="1268004" y="1141971"/>
            <a:chExt cx="3657600" cy="1959151"/>
          </a:xfrm>
        </p:grpSpPr>
        <p:sp>
          <p:nvSpPr>
            <p:cNvPr id="130" name="AutoShape 3">
              <a:extLst>
                <a:ext uri="{FF2B5EF4-FFF2-40B4-BE49-F238E27FC236}">
                  <a16:creationId xmlns:a16="http://schemas.microsoft.com/office/drawing/2014/main" id="{748C9DFA-0A01-480A-BB5E-3C42BD95147E}"/>
                </a:ext>
              </a:extLst>
            </p:cNvPr>
            <p:cNvSpPr/>
            <p:nvPr/>
          </p:nvSpPr>
          <p:spPr>
            <a:xfrm>
              <a:off x="1268004" y="1522658"/>
              <a:ext cx="3657600" cy="1578464"/>
            </a:xfrm>
            <a:prstGeom prst="rect">
              <a:avLst/>
            </a:prstGeom>
            <a:solidFill>
              <a:srgbClr val="4472C4"/>
            </a:solidFill>
            <a:ln/>
          </p:spPr>
        </p:sp>
        <p:sp>
          <p:nvSpPr>
            <p:cNvPr id="131" name="AutoShape 4">
              <a:extLst>
                <a:ext uri="{FF2B5EF4-FFF2-40B4-BE49-F238E27FC236}">
                  <a16:creationId xmlns:a16="http://schemas.microsoft.com/office/drawing/2014/main" id="{3C329420-1338-4C7C-8843-BE5811ACEE8F}"/>
                </a:ext>
              </a:extLst>
            </p:cNvPr>
            <p:cNvSpPr/>
            <p:nvPr/>
          </p:nvSpPr>
          <p:spPr>
            <a:xfrm>
              <a:off x="1268004" y="1141971"/>
              <a:ext cx="3657600" cy="719328"/>
            </a:xfrm>
            <a:prstGeom prst="roundRect">
              <a:avLst/>
            </a:prstGeom>
            <a:solidFill>
              <a:srgbClr val="4472C4"/>
            </a:solidFill>
            <a:ln/>
          </p:spPr>
        </p:sp>
        <p:sp>
          <p:nvSpPr>
            <p:cNvPr id="132" name="TextBox 6">
              <a:extLst>
                <a:ext uri="{FF2B5EF4-FFF2-40B4-BE49-F238E27FC236}">
                  <a16:creationId xmlns:a16="http://schemas.microsoft.com/office/drawing/2014/main" id="{87B7169E-72DB-4991-9E9F-2278254705E5}"/>
                </a:ext>
              </a:extLst>
            </p:cNvPr>
            <p:cNvSpPr txBox="1"/>
            <p:nvPr/>
          </p:nvSpPr>
          <p:spPr>
            <a:xfrm>
              <a:off x="1389983" y="1202228"/>
              <a:ext cx="3375812" cy="593432"/>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原位修复技术</a:t>
              </a:r>
              <a:endParaRPr lang="en-US" sz="2000" b="1" dirty="0">
                <a:solidFill>
                  <a:srgbClr val="FFFFFF">
                    <a:alpha val="100000"/>
                  </a:srgbClr>
                </a:solidFill>
                <a:latin typeface="+mn-ea"/>
                <a:cs typeface="Microsoft Yahei"/>
              </a:endParaRPr>
            </a:p>
          </p:txBody>
        </p:sp>
        <p:sp>
          <p:nvSpPr>
            <p:cNvPr id="133" name="TextBox 5">
              <a:extLst>
                <a:ext uri="{FF2B5EF4-FFF2-40B4-BE49-F238E27FC236}">
                  <a16:creationId xmlns:a16="http://schemas.microsoft.com/office/drawing/2014/main" id="{DF9E6814-CCDE-41AB-96EF-DF3E90B9BC93}"/>
                </a:ext>
              </a:extLst>
            </p:cNvPr>
            <p:cNvSpPr txBox="1"/>
            <p:nvPr/>
          </p:nvSpPr>
          <p:spPr>
            <a:xfrm>
              <a:off x="1291642" y="1613406"/>
              <a:ext cx="3554536" cy="1487716"/>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在污染土壤的现场进行修复，不移动受污染的土壤。包括热脱附、土壤气相抽提、机械通风等，其优点是经济有效，能够就地降解和减毒污染物，对深层次土壤污染也有修复能力。</a:t>
              </a:r>
            </a:p>
          </p:txBody>
        </p:sp>
      </p:grpSp>
      <p:grpSp>
        <p:nvGrpSpPr>
          <p:cNvPr id="115" name="组合 114">
            <a:extLst>
              <a:ext uri="{FF2B5EF4-FFF2-40B4-BE49-F238E27FC236}">
                <a16:creationId xmlns:a16="http://schemas.microsoft.com/office/drawing/2014/main" id="{BA708D0F-D713-461C-B7C5-EA5CC6A1DFB6}"/>
              </a:ext>
            </a:extLst>
          </p:cNvPr>
          <p:cNvGrpSpPr/>
          <p:nvPr/>
        </p:nvGrpSpPr>
        <p:grpSpPr>
          <a:xfrm>
            <a:off x="8374777" y="2438042"/>
            <a:ext cx="3657600" cy="2201169"/>
            <a:chOff x="1268004" y="1141971"/>
            <a:chExt cx="3657600" cy="1916884"/>
          </a:xfrm>
        </p:grpSpPr>
        <p:sp>
          <p:nvSpPr>
            <p:cNvPr id="126" name="AutoShape 3">
              <a:extLst>
                <a:ext uri="{FF2B5EF4-FFF2-40B4-BE49-F238E27FC236}">
                  <a16:creationId xmlns:a16="http://schemas.microsoft.com/office/drawing/2014/main" id="{863C192A-09AF-48B4-89DB-B73F6597EE3D}"/>
                </a:ext>
              </a:extLst>
            </p:cNvPr>
            <p:cNvSpPr/>
            <p:nvPr/>
          </p:nvSpPr>
          <p:spPr>
            <a:xfrm>
              <a:off x="1268004" y="1522658"/>
              <a:ext cx="3657600" cy="1536197"/>
            </a:xfrm>
            <a:prstGeom prst="rect">
              <a:avLst/>
            </a:prstGeom>
            <a:solidFill>
              <a:srgbClr val="4472C4"/>
            </a:solidFill>
            <a:ln/>
          </p:spPr>
        </p:sp>
        <p:sp>
          <p:nvSpPr>
            <p:cNvPr id="127" name="AutoShape 4">
              <a:extLst>
                <a:ext uri="{FF2B5EF4-FFF2-40B4-BE49-F238E27FC236}">
                  <a16:creationId xmlns:a16="http://schemas.microsoft.com/office/drawing/2014/main" id="{98D67471-04D4-4EE1-910E-5CD6C8DA405D}"/>
                </a:ext>
              </a:extLst>
            </p:cNvPr>
            <p:cNvSpPr/>
            <p:nvPr/>
          </p:nvSpPr>
          <p:spPr>
            <a:xfrm>
              <a:off x="1268004" y="1141971"/>
              <a:ext cx="3657600" cy="719328"/>
            </a:xfrm>
            <a:prstGeom prst="roundRect">
              <a:avLst/>
            </a:prstGeom>
            <a:solidFill>
              <a:srgbClr val="4472C4"/>
            </a:solidFill>
            <a:ln/>
          </p:spPr>
        </p:sp>
        <p:sp>
          <p:nvSpPr>
            <p:cNvPr id="128" name="TextBox 6">
              <a:extLst>
                <a:ext uri="{FF2B5EF4-FFF2-40B4-BE49-F238E27FC236}">
                  <a16:creationId xmlns:a16="http://schemas.microsoft.com/office/drawing/2014/main" id="{63C7C38B-D1D3-4AF4-AB2D-574A01F58387}"/>
                </a:ext>
              </a:extLst>
            </p:cNvPr>
            <p:cNvSpPr txBox="1"/>
            <p:nvPr/>
          </p:nvSpPr>
          <p:spPr>
            <a:xfrm>
              <a:off x="1408898" y="1190739"/>
              <a:ext cx="3375812" cy="516789"/>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物理修复技术</a:t>
              </a:r>
              <a:endParaRPr lang="en-US" sz="2000" b="1" dirty="0">
                <a:solidFill>
                  <a:srgbClr val="FFFFFF">
                    <a:alpha val="100000"/>
                  </a:srgbClr>
                </a:solidFill>
                <a:latin typeface="+mn-ea"/>
                <a:cs typeface="Microsoft Yahei"/>
              </a:endParaRPr>
            </a:p>
          </p:txBody>
        </p:sp>
        <p:sp>
          <p:nvSpPr>
            <p:cNvPr id="129" name="TextBox 5">
              <a:extLst>
                <a:ext uri="{FF2B5EF4-FFF2-40B4-BE49-F238E27FC236}">
                  <a16:creationId xmlns:a16="http://schemas.microsoft.com/office/drawing/2014/main" id="{AC761F1B-6320-4751-A6F0-D57E06189324}"/>
                </a:ext>
              </a:extLst>
            </p:cNvPr>
            <p:cNvSpPr txBox="1"/>
            <p:nvPr/>
          </p:nvSpPr>
          <p:spPr>
            <a:xfrm>
              <a:off x="1371068" y="1710046"/>
              <a:ext cx="3255153" cy="1230410"/>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利用物理过程去除或分离土壤中的污染物，包括客土法、玻璃化修复技术、热处理修复技术、电修复技术等</a:t>
              </a:r>
            </a:p>
          </p:txBody>
        </p:sp>
      </p:grpSp>
      <p:grpSp>
        <p:nvGrpSpPr>
          <p:cNvPr id="116" name="组合 115">
            <a:extLst>
              <a:ext uri="{FF2B5EF4-FFF2-40B4-BE49-F238E27FC236}">
                <a16:creationId xmlns:a16="http://schemas.microsoft.com/office/drawing/2014/main" id="{C75718B1-784F-4CD9-8B36-8AEF66FEE32E}"/>
              </a:ext>
            </a:extLst>
          </p:cNvPr>
          <p:cNvGrpSpPr/>
          <p:nvPr/>
        </p:nvGrpSpPr>
        <p:grpSpPr>
          <a:xfrm>
            <a:off x="8374777" y="4832900"/>
            <a:ext cx="3657600" cy="2014858"/>
            <a:chOff x="1268004" y="1141971"/>
            <a:chExt cx="3657600" cy="1685497"/>
          </a:xfrm>
        </p:grpSpPr>
        <p:sp>
          <p:nvSpPr>
            <p:cNvPr id="122" name="AutoShape 3">
              <a:extLst>
                <a:ext uri="{FF2B5EF4-FFF2-40B4-BE49-F238E27FC236}">
                  <a16:creationId xmlns:a16="http://schemas.microsoft.com/office/drawing/2014/main" id="{C8B22E96-DA36-4CBA-81AC-CD88714DDF42}"/>
                </a:ext>
              </a:extLst>
            </p:cNvPr>
            <p:cNvSpPr/>
            <p:nvPr/>
          </p:nvSpPr>
          <p:spPr>
            <a:xfrm>
              <a:off x="1268004" y="1522658"/>
              <a:ext cx="3657600" cy="1304810"/>
            </a:xfrm>
            <a:prstGeom prst="rect">
              <a:avLst/>
            </a:prstGeom>
            <a:solidFill>
              <a:srgbClr val="4472C4"/>
            </a:solidFill>
            <a:ln/>
          </p:spPr>
        </p:sp>
        <p:sp>
          <p:nvSpPr>
            <p:cNvPr id="123" name="AutoShape 4">
              <a:extLst>
                <a:ext uri="{FF2B5EF4-FFF2-40B4-BE49-F238E27FC236}">
                  <a16:creationId xmlns:a16="http://schemas.microsoft.com/office/drawing/2014/main" id="{F0BAC70D-022D-413B-89DD-CB3F3575DF7B}"/>
                </a:ext>
              </a:extLst>
            </p:cNvPr>
            <p:cNvSpPr/>
            <p:nvPr/>
          </p:nvSpPr>
          <p:spPr>
            <a:xfrm>
              <a:off x="1268004" y="1141971"/>
              <a:ext cx="3657600" cy="719328"/>
            </a:xfrm>
            <a:prstGeom prst="roundRect">
              <a:avLst/>
            </a:prstGeom>
            <a:solidFill>
              <a:srgbClr val="4472C4"/>
            </a:solidFill>
            <a:ln/>
          </p:spPr>
        </p:sp>
        <p:sp>
          <p:nvSpPr>
            <p:cNvPr id="124" name="TextBox 6">
              <a:extLst>
                <a:ext uri="{FF2B5EF4-FFF2-40B4-BE49-F238E27FC236}">
                  <a16:creationId xmlns:a16="http://schemas.microsoft.com/office/drawing/2014/main" id="{EF422384-4807-4AAB-8CFE-7D77B45FCA3E}"/>
                </a:ext>
              </a:extLst>
            </p:cNvPr>
            <p:cNvSpPr txBox="1"/>
            <p:nvPr/>
          </p:nvSpPr>
          <p:spPr>
            <a:xfrm>
              <a:off x="1408898" y="1190739"/>
              <a:ext cx="3375812" cy="516789"/>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化学修复技术</a:t>
              </a:r>
              <a:endParaRPr lang="en-US" sz="2000" b="1" dirty="0">
                <a:solidFill>
                  <a:srgbClr val="FFFFFF">
                    <a:alpha val="100000"/>
                  </a:srgbClr>
                </a:solidFill>
                <a:latin typeface="+mn-ea"/>
                <a:cs typeface="Microsoft Yahei"/>
              </a:endParaRPr>
            </a:p>
          </p:txBody>
        </p:sp>
        <p:sp>
          <p:nvSpPr>
            <p:cNvPr id="125" name="TextBox 5">
              <a:extLst>
                <a:ext uri="{FF2B5EF4-FFF2-40B4-BE49-F238E27FC236}">
                  <a16:creationId xmlns:a16="http://schemas.microsoft.com/office/drawing/2014/main" id="{EA45321B-BC27-45D3-9427-A2CD0FA64D0F}"/>
                </a:ext>
              </a:extLst>
            </p:cNvPr>
            <p:cNvSpPr txBox="1"/>
            <p:nvPr/>
          </p:nvSpPr>
          <p:spPr>
            <a:xfrm>
              <a:off x="1357191" y="1588499"/>
              <a:ext cx="3554536" cy="1230410"/>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通过化学物质改变土壤中污染物的存在形态或结合方式，降低其在环境中的可迁移性与生物可利用性，包括土壤固化稳定化、淋洗、氧化还原等。</a:t>
              </a:r>
            </a:p>
          </p:txBody>
        </p:sp>
      </p:grpSp>
      <p:grpSp>
        <p:nvGrpSpPr>
          <p:cNvPr id="117" name="组合 116">
            <a:extLst>
              <a:ext uri="{FF2B5EF4-FFF2-40B4-BE49-F238E27FC236}">
                <a16:creationId xmlns:a16="http://schemas.microsoft.com/office/drawing/2014/main" id="{5ECE20F8-73A5-4B96-9C1C-9648C520C900}"/>
              </a:ext>
            </a:extLst>
          </p:cNvPr>
          <p:cNvGrpSpPr/>
          <p:nvPr/>
        </p:nvGrpSpPr>
        <p:grpSpPr>
          <a:xfrm>
            <a:off x="468489" y="5328060"/>
            <a:ext cx="3657600" cy="1509467"/>
            <a:chOff x="1268004" y="1141971"/>
            <a:chExt cx="3657600" cy="1929799"/>
          </a:xfrm>
        </p:grpSpPr>
        <p:sp>
          <p:nvSpPr>
            <p:cNvPr id="118" name="AutoShape 3">
              <a:extLst>
                <a:ext uri="{FF2B5EF4-FFF2-40B4-BE49-F238E27FC236}">
                  <a16:creationId xmlns:a16="http://schemas.microsoft.com/office/drawing/2014/main" id="{A3854483-5E24-45C9-B3F0-5840AA50C0D0}"/>
                </a:ext>
              </a:extLst>
            </p:cNvPr>
            <p:cNvSpPr/>
            <p:nvPr/>
          </p:nvSpPr>
          <p:spPr>
            <a:xfrm>
              <a:off x="1268004" y="1522657"/>
              <a:ext cx="3657600" cy="1549113"/>
            </a:xfrm>
            <a:prstGeom prst="rect">
              <a:avLst/>
            </a:prstGeom>
            <a:solidFill>
              <a:srgbClr val="4472C4"/>
            </a:solidFill>
            <a:ln/>
          </p:spPr>
        </p:sp>
        <p:sp>
          <p:nvSpPr>
            <p:cNvPr id="119" name="AutoShape 4">
              <a:extLst>
                <a:ext uri="{FF2B5EF4-FFF2-40B4-BE49-F238E27FC236}">
                  <a16:creationId xmlns:a16="http://schemas.microsoft.com/office/drawing/2014/main" id="{55908281-A567-4FEC-A621-28896009F4AE}"/>
                </a:ext>
              </a:extLst>
            </p:cNvPr>
            <p:cNvSpPr/>
            <p:nvPr/>
          </p:nvSpPr>
          <p:spPr>
            <a:xfrm>
              <a:off x="1268004" y="1141971"/>
              <a:ext cx="3657600" cy="719328"/>
            </a:xfrm>
            <a:prstGeom prst="roundRect">
              <a:avLst/>
            </a:prstGeom>
            <a:solidFill>
              <a:srgbClr val="4472C4"/>
            </a:solidFill>
            <a:ln/>
          </p:spPr>
        </p:sp>
        <p:sp>
          <p:nvSpPr>
            <p:cNvPr id="120" name="TextBox 6">
              <a:extLst>
                <a:ext uri="{FF2B5EF4-FFF2-40B4-BE49-F238E27FC236}">
                  <a16:creationId xmlns:a16="http://schemas.microsoft.com/office/drawing/2014/main" id="{6E44E31A-46BB-4A9D-9035-E31816FBCBBD}"/>
                </a:ext>
              </a:extLst>
            </p:cNvPr>
            <p:cNvSpPr txBox="1"/>
            <p:nvPr/>
          </p:nvSpPr>
          <p:spPr>
            <a:xfrm>
              <a:off x="1408898" y="1208995"/>
              <a:ext cx="3375812" cy="516788"/>
            </a:xfrm>
            <a:prstGeom prst="rect">
              <a:avLst/>
            </a:prstGeom>
            <a:no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异位修复技术</a:t>
              </a:r>
              <a:endParaRPr lang="en-US" sz="2000" b="1" dirty="0">
                <a:solidFill>
                  <a:srgbClr val="FFFFFF">
                    <a:alpha val="100000"/>
                  </a:srgbClr>
                </a:solidFill>
                <a:latin typeface="+mn-ea"/>
                <a:cs typeface="Microsoft Yahei"/>
              </a:endParaRPr>
            </a:p>
          </p:txBody>
        </p:sp>
        <p:sp>
          <p:nvSpPr>
            <p:cNvPr id="121" name="TextBox 5">
              <a:extLst>
                <a:ext uri="{FF2B5EF4-FFF2-40B4-BE49-F238E27FC236}">
                  <a16:creationId xmlns:a16="http://schemas.microsoft.com/office/drawing/2014/main" id="{CBD83B6D-6E50-4CB7-A4D9-78D115CAB15C}"/>
                </a:ext>
              </a:extLst>
            </p:cNvPr>
            <p:cNvSpPr txBox="1"/>
            <p:nvPr/>
          </p:nvSpPr>
          <p:spPr>
            <a:xfrm>
              <a:off x="1373181" y="1843331"/>
              <a:ext cx="3255153" cy="715799"/>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将受污染的土壤挖掘出来，在原场址范围内或经过运输后再进行治理。</a:t>
              </a:r>
            </a:p>
          </p:txBody>
        </p:sp>
      </p:grpSp>
      <p:grpSp>
        <p:nvGrpSpPr>
          <p:cNvPr id="29" name="组合 28">
            <a:extLst>
              <a:ext uri="{FF2B5EF4-FFF2-40B4-BE49-F238E27FC236}">
                <a16:creationId xmlns:a16="http://schemas.microsoft.com/office/drawing/2014/main" id="{92D1C65D-A010-4AC8-8DAB-FB87A9BA3390}"/>
              </a:ext>
            </a:extLst>
          </p:cNvPr>
          <p:cNvGrpSpPr/>
          <p:nvPr/>
        </p:nvGrpSpPr>
        <p:grpSpPr>
          <a:xfrm>
            <a:off x="1137877" y="2854369"/>
            <a:ext cx="2318824" cy="2258145"/>
            <a:chOff x="642403" y="2893957"/>
            <a:chExt cx="3255152" cy="3756812"/>
          </a:xfrm>
        </p:grpSpPr>
        <p:sp>
          <p:nvSpPr>
            <p:cNvPr id="60" name="AutoShape 14">
              <a:extLst>
                <a:ext uri="{FF2B5EF4-FFF2-40B4-BE49-F238E27FC236}">
                  <a16:creationId xmlns:a16="http://schemas.microsoft.com/office/drawing/2014/main" id="{9DC82CB7-AC96-40CE-86D6-9981293D7240}"/>
                </a:ext>
              </a:extLst>
            </p:cNvPr>
            <p:cNvSpPr/>
            <p:nvPr/>
          </p:nvSpPr>
          <p:spPr>
            <a:xfrm>
              <a:off x="642403" y="2893957"/>
              <a:ext cx="3255152" cy="3756812"/>
            </a:xfrm>
            <a:prstGeom prst="rect">
              <a:avLst/>
            </a:prstGeom>
            <a:solidFill>
              <a:schemeClr val="accent1">
                <a:alpha val="94000"/>
              </a:schemeClr>
            </a:solidFill>
            <a:ln/>
          </p:spPr>
        </p:sp>
        <p:pic>
          <p:nvPicPr>
            <p:cNvPr id="28" name="图片 27">
              <a:extLst>
                <a:ext uri="{FF2B5EF4-FFF2-40B4-BE49-F238E27FC236}">
                  <a16:creationId xmlns:a16="http://schemas.microsoft.com/office/drawing/2014/main" id="{5729904F-C4ED-4E4D-B8B8-170608B62B94}"/>
                </a:ext>
              </a:extLst>
            </p:cNvPr>
            <p:cNvPicPr>
              <a:picLocks noChangeAspect="1"/>
            </p:cNvPicPr>
            <p:nvPr/>
          </p:nvPicPr>
          <p:blipFill rotWithShape="1">
            <a:blip r:embed="rId3"/>
            <a:srcRect t="2149"/>
            <a:stretch/>
          </p:blipFill>
          <p:spPr>
            <a:xfrm>
              <a:off x="642403" y="3034688"/>
              <a:ext cx="3244666" cy="3498634"/>
            </a:xfrm>
            <a:prstGeom prst="rect">
              <a:avLst/>
            </a:prstGeom>
          </p:spPr>
        </p:pic>
      </p:grpSp>
      <p:grpSp>
        <p:nvGrpSpPr>
          <p:cNvPr id="61" name="组合 60">
            <a:extLst>
              <a:ext uri="{FF2B5EF4-FFF2-40B4-BE49-F238E27FC236}">
                <a16:creationId xmlns:a16="http://schemas.microsoft.com/office/drawing/2014/main" id="{452BC005-68D8-4E30-AFBD-21394C11C7DB}"/>
              </a:ext>
            </a:extLst>
          </p:cNvPr>
          <p:cNvGrpSpPr/>
          <p:nvPr/>
        </p:nvGrpSpPr>
        <p:grpSpPr>
          <a:xfrm>
            <a:off x="4319185" y="4832900"/>
            <a:ext cx="3657600" cy="2014858"/>
            <a:chOff x="1268004" y="1141971"/>
            <a:chExt cx="3657600" cy="1695152"/>
          </a:xfrm>
        </p:grpSpPr>
        <p:sp>
          <p:nvSpPr>
            <p:cNvPr id="62" name="AutoShape 3">
              <a:extLst>
                <a:ext uri="{FF2B5EF4-FFF2-40B4-BE49-F238E27FC236}">
                  <a16:creationId xmlns:a16="http://schemas.microsoft.com/office/drawing/2014/main" id="{3AD45744-42C6-4A96-9BF3-680DCAD74AD7}"/>
                </a:ext>
              </a:extLst>
            </p:cNvPr>
            <p:cNvSpPr/>
            <p:nvPr/>
          </p:nvSpPr>
          <p:spPr>
            <a:xfrm>
              <a:off x="1268004" y="1522658"/>
              <a:ext cx="3657600" cy="1314465"/>
            </a:xfrm>
            <a:prstGeom prst="rect">
              <a:avLst/>
            </a:prstGeom>
            <a:solidFill>
              <a:srgbClr val="4472C4"/>
            </a:solidFill>
            <a:ln/>
          </p:spPr>
        </p:sp>
        <p:sp>
          <p:nvSpPr>
            <p:cNvPr id="63" name="AutoShape 4">
              <a:extLst>
                <a:ext uri="{FF2B5EF4-FFF2-40B4-BE49-F238E27FC236}">
                  <a16:creationId xmlns:a16="http://schemas.microsoft.com/office/drawing/2014/main" id="{4834C5F0-7078-487C-9557-F12D2C0501AD}"/>
                </a:ext>
              </a:extLst>
            </p:cNvPr>
            <p:cNvSpPr/>
            <p:nvPr/>
          </p:nvSpPr>
          <p:spPr>
            <a:xfrm>
              <a:off x="1268004" y="1141971"/>
              <a:ext cx="3657600" cy="719328"/>
            </a:xfrm>
            <a:prstGeom prst="roundRect">
              <a:avLst/>
            </a:prstGeom>
            <a:solidFill>
              <a:srgbClr val="4472C4"/>
            </a:solidFill>
            <a:ln/>
          </p:spPr>
        </p:sp>
        <p:sp>
          <p:nvSpPr>
            <p:cNvPr id="64" name="TextBox 6">
              <a:extLst>
                <a:ext uri="{FF2B5EF4-FFF2-40B4-BE49-F238E27FC236}">
                  <a16:creationId xmlns:a16="http://schemas.microsoft.com/office/drawing/2014/main" id="{5571CE6A-3856-40C3-B4D1-19D49D0E8493}"/>
                </a:ext>
              </a:extLst>
            </p:cNvPr>
            <p:cNvSpPr txBox="1"/>
            <p:nvPr/>
          </p:nvSpPr>
          <p:spPr>
            <a:xfrm>
              <a:off x="1408898" y="1192782"/>
              <a:ext cx="3375812" cy="516789"/>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2000" b="1" dirty="0">
                  <a:solidFill>
                    <a:srgbClr val="FFFFFF">
                      <a:alpha val="100000"/>
                    </a:srgbClr>
                  </a:solidFill>
                  <a:latin typeface="+mn-ea"/>
                  <a:cs typeface="Microsoft Yahei"/>
                </a:rPr>
                <a:t>生物修复技术</a:t>
              </a:r>
              <a:endParaRPr lang="en-US" sz="2000" b="1" dirty="0">
                <a:solidFill>
                  <a:srgbClr val="FFFFFF">
                    <a:alpha val="100000"/>
                  </a:srgbClr>
                </a:solidFill>
                <a:latin typeface="+mn-ea"/>
                <a:cs typeface="Microsoft Yahei"/>
              </a:endParaRPr>
            </a:p>
          </p:txBody>
        </p:sp>
        <p:sp>
          <p:nvSpPr>
            <p:cNvPr id="65" name="TextBox 5">
              <a:extLst>
                <a:ext uri="{FF2B5EF4-FFF2-40B4-BE49-F238E27FC236}">
                  <a16:creationId xmlns:a16="http://schemas.microsoft.com/office/drawing/2014/main" id="{0B7752D6-DCFD-4E33-BF3F-D67EE76178D9}"/>
                </a:ext>
              </a:extLst>
            </p:cNvPr>
            <p:cNvSpPr txBox="1"/>
            <p:nvPr/>
          </p:nvSpPr>
          <p:spPr>
            <a:xfrm>
              <a:off x="1367249" y="1564685"/>
              <a:ext cx="3554536" cy="1230410"/>
            </a:xfrm>
            <a:prstGeom prst="rect">
              <a:avLst/>
            </a:prstGeom>
            <a:solidFill>
              <a:srgbClr val="4472C4"/>
            </a:solidFill>
            <a:ln/>
          </p:spPr>
          <p:txBody>
            <a:bodyPr vert="horz" wrap="square" lIns="123825" tIns="123825" rIns="57150" bIns="123825" rtlCol="0" anchor="t" anchorCtr="0">
              <a:spAutoFit/>
            </a:bodyPr>
            <a:lstStyle/>
            <a:p>
              <a:pPr>
                <a:lnSpc>
                  <a:spcPct val="120000"/>
                </a:lnSpc>
              </a:pPr>
              <a:r>
                <a:rPr lang="zh-CN" altLang="en-US" sz="1600" b="1" dirty="0">
                  <a:solidFill>
                    <a:srgbClr val="FFFFFF">
                      <a:alpha val="100000"/>
                    </a:srgbClr>
                  </a:solidFill>
                  <a:latin typeface="+mn-ea"/>
                  <a:cs typeface="Microsoft Yahei"/>
                </a:rPr>
                <a:t>利用生物特有的分解有毒有害物质的能力来去除土壤中的污染物，包括微生物修复、植物修复、动物修复和生物联合修复等。</a:t>
              </a:r>
            </a:p>
          </p:txBody>
        </p:sp>
      </p:grpSp>
    </p:spTree>
    <p:extLst>
      <p:ext uri="{BB962C8B-B14F-4D97-AF65-F5344CB8AC3E}">
        <p14:creationId xmlns:p14="http://schemas.microsoft.com/office/powerpoint/2010/main" val="440888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a:extLst>
              <a:ext uri="{FF2B5EF4-FFF2-40B4-BE49-F238E27FC236}">
                <a16:creationId xmlns:a16="http://schemas.microsoft.com/office/drawing/2014/main" id="{8F165394-AF3A-4166-B4C3-67C8EB85D7D8}"/>
              </a:ext>
            </a:extLst>
          </p:cNvPr>
          <p:cNvPicPr>
            <a:picLocks noChangeAspect="1"/>
          </p:cNvPicPr>
          <p:nvPr/>
        </p:nvPicPr>
        <p:blipFill>
          <a:blip r:embed="rId3"/>
          <a:stretch>
            <a:fillRect/>
          </a:stretch>
        </p:blipFill>
        <p:spPr>
          <a:xfrm>
            <a:off x="357846" y="2381094"/>
            <a:ext cx="3648075" cy="3124200"/>
          </a:xfrm>
          <a:prstGeom prst="rect">
            <a:avLst/>
          </a:prstGeom>
        </p:spPr>
      </p:pic>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资源循环利用技术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29" name="组合 28">
            <a:extLst>
              <a:ext uri="{FF2B5EF4-FFF2-40B4-BE49-F238E27FC236}">
                <a16:creationId xmlns:a16="http://schemas.microsoft.com/office/drawing/2014/main" id="{C4A6FBFE-6D84-47F4-B617-38BDADA3ABE9}"/>
              </a:ext>
            </a:extLst>
          </p:cNvPr>
          <p:cNvGrpSpPr/>
          <p:nvPr/>
        </p:nvGrpSpPr>
        <p:grpSpPr>
          <a:xfrm>
            <a:off x="3808664" y="1630017"/>
            <a:ext cx="7323161" cy="4720184"/>
            <a:chOff x="1776544" y="1424656"/>
            <a:chExt cx="7323161" cy="4812140"/>
          </a:xfrm>
        </p:grpSpPr>
        <p:grpSp>
          <p:nvGrpSpPr>
            <p:cNvPr id="67" name="Group 9">
              <a:extLst>
                <a:ext uri="{FF2B5EF4-FFF2-40B4-BE49-F238E27FC236}">
                  <a16:creationId xmlns:a16="http://schemas.microsoft.com/office/drawing/2014/main" id="{6F03009A-EF4F-4F94-A8D0-099CA415B3C5}"/>
                </a:ext>
              </a:extLst>
            </p:cNvPr>
            <p:cNvGrpSpPr/>
            <p:nvPr/>
          </p:nvGrpSpPr>
          <p:grpSpPr>
            <a:xfrm>
              <a:off x="1829017" y="3070352"/>
              <a:ext cx="6881150" cy="1420150"/>
              <a:chOff x="5983990" y="1395017"/>
              <a:chExt cx="7695139" cy="1258662"/>
            </a:xfrm>
          </p:grpSpPr>
          <p:sp>
            <p:nvSpPr>
              <p:cNvPr id="71" name="TextBox 10">
                <a:extLst>
                  <a:ext uri="{FF2B5EF4-FFF2-40B4-BE49-F238E27FC236}">
                    <a16:creationId xmlns:a16="http://schemas.microsoft.com/office/drawing/2014/main" id="{AB14FAA3-A65F-4850-BA69-83107134640E}"/>
                  </a:ext>
                </a:extLst>
              </p:cNvPr>
              <p:cNvSpPr txBox="1"/>
              <p:nvPr/>
            </p:nvSpPr>
            <p:spPr>
              <a:xfrm>
                <a:off x="5983990" y="1395017"/>
                <a:ext cx="4521095"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废水资源化利用技术</a:t>
                </a:r>
              </a:p>
            </p:txBody>
          </p:sp>
          <p:sp>
            <p:nvSpPr>
              <p:cNvPr id="72" name="TextBox 11">
                <a:extLst>
                  <a:ext uri="{FF2B5EF4-FFF2-40B4-BE49-F238E27FC236}">
                    <a16:creationId xmlns:a16="http://schemas.microsoft.com/office/drawing/2014/main" id="{1A67078A-B7EC-41F8-83FB-70E3E973497E}"/>
                  </a:ext>
                </a:extLst>
              </p:cNvPr>
              <p:cNvSpPr txBox="1"/>
              <p:nvPr/>
            </p:nvSpPr>
            <p:spPr>
              <a:xfrm>
                <a:off x="6021413" y="1903465"/>
                <a:ext cx="7657716" cy="750214"/>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包括中水回用、海水淡化、雨水收集利用等技术手段，提高水资源利用效率。</a:t>
                </a:r>
              </a:p>
            </p:txBody>
          </p:sp>
        </p:grpSp>
        <p:grpSp>
          <p:nvGrpSpPr>
            <p:cNvPr id="37" name="Group 9">
              <a:extLst>
                <a:ext uri="{FF2B5EF4-FFF2-40B4-BE49-F238E27FC236}">
                  <a16:creationId xmlns:a16="http://schemas.microsoft.com/office/drawing/2014/main" id="{0A8A4520-F4C8-456F-9256-747A2E53BE5D}"/>
                </a:ext>
              </a:extLst>
            </p:cNvPr>
            <p:cNvGrpSpPr/>
            <p:nvPr/>
          </p:nvGrpSpPr>
          <p:grpSpPr>
            <a:xfrm>
              <a:off x="1776544" y="1424656"/>
              <a:ext cx="7031614" cy="1348109"/>
              <a:chOff x="5925310" y="1577851"/>
              <a:chExt cx="5892438" cy="1194813"/>
            </a:xfrm>
          </p:grpSpPr>
          <p:sp>
            <p:nvSpPr>
              <p:cNvPr id="38" name="TextBox 10">
                <a:extLst>
                  <a:ext uri="{FF2B5EF4-FFF2-40B4-BE49-F238E27FC236}">
                    <a16:creationId xmlns:a16="http://schemas.microsoft.com/office/drawing/2014/main" id="{2B50B84D-B0F9-457B-A3AF-E2A5113E19CD}"/>
                  </a:ext>
                </a:extLst>
              </p:cNvPr>
              <p:cNvSpPr txBox="1"/>
              <p:nvPr/>
            </p:nvSpPr>
            <p:spPr>
              <a:xfrm>
                <a:off x="5925310" y="1577851"/>
                <a:ext cx="4521094" cy="415807"/>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固体废物资源化利用技术</a:t>
                </a:r>
              </a:p>
            </p:txBody>
          </p:sp>
          <p:sp>
            <p:nvSpPr>
              <p:cNvPr id="39" name="TextBox 11">
                <a:extLst>
                  <a:ext uri="{FF2B5EF4-FFF2-40B4-BE49-F238E27FC236}">
                    <a16:creationId xmlns:a16="http://schemas.microsoft.com/office/drawing/2014/main" id="{91628E70-70BE-4C24-BE93-C7D161AD07AA}"/>
                  </a:ext>
                </a:extLst>
              </p:cNvPr>
              <p:cNvSpPr txBox="1"/>
              <p:nvPr/>
            </p:nvSpPr>
            <p:spPr>
              <a:xfrm>
                <a:off x="5982797" y="2022450"/>
                <a:ext cx="5834951" cy="750214"/>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包括垃圾分类、焚烧发电、生物处理等技术手段，实现固体废物的减量化、资源化和无害化。</a:t>
                </a:r>
              </a:p>
            </p:txBody>
          </p:sp>
        </p:grpSp>
        <p:grpSp>
          <p:nvGrpSpPr>
            <p:cNvPr id="40" name="Group 9">
              <a:extLst>
                <a:ext uri="{FF2B5EF4-FFF2-40B4-BE49-F238E27FC236}">
                  <a16:creationId xmlns:a16="http://schemas.microsoft.com/office/drawing/2014/main" id="{71962EE9-DC9D-4D8E-9A02-41E7EADCBF29}"/>
                </a:ext>
              </a:extLst>
            </p:cNvPr>
            <p:cNvGrpSpPr/>
            <p:nvPr/>
          </p:nvGrpSpPr>
          <p:grpSpPr>
            <a:xfrm>
              <a:off x="1862481" y="4783366"/>
              <a:ext cx="7237224" cy="1453430"/>
              <a:chOff x="5982796" y="1254192"/>
              <a:chExt cx="8057114" cy="1288158"/>
            </a:xfrm>
          </p:grpSpPr>
          <p:sp>
            <p:nvSpPr>
              <p:cNvPr id="41" name="TextBox 10">
                <a:extLst>
                  <a:ext uri="{FF2B5EF4-FFF2-40B4-BE49-F238E27FC236}">
                    <a16:creationId xmlns:a16="http://schemas.microsoft.com/office/drawing/2014/main" id="{4CF71677-8E43-400F-967B-2A69C9987890}"/>
                  </a:ext>
                </a:extLst>
              </p:cNvPr>
              <p:cNvSpPr txBox="1"/>
              <p:nvPr/>
            </p:nvSpPr>
            <p:spPr>
              <a:xfrm>
                <a:off x="5982796" y="1254192"/>
                <a:ext cx="4521093"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废气资源化利用技术</a:t>
                </a:r>
              </a:p>
            </p:txBody>
          </p:sp>
          <p:sp>
            <p:nvSpPr>
              <p:cNvPr id="42" name="TextBox 11">
                <a:extLst>
                  <a:ext uri="{FF2B5EF4-FFF2-40B4-BE49-F238E27FC236}">
                    <a16:creationId xmlns:a16="http://schemas.microsoft.com/office/drawing/2014/main" id="{ACD9879E-DFA0-4014-A4D9-E15D1BD7DF60}"/>
                  </a:ext>
                </a:extLst>
              </p:cNvPr>
              <p:cNvSpPr txBox="1"/>
              <p:nvPr/>
            </p:nvSpPr>
            <p:spPr>
              <a:xfrm>
                <a:off x="5982796" y="1792136"/>
                <a:ext cx="8057114" cy="750214"/>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包括余热回收、生物质能利用等技术手段，实现废气中有价值物质的回收利用。</a:t>
                </a:r>
              </a:p>
            </p:txBody>
          </p:sp>
        </p:grpSp>
      </p:grpSp>
    </p:spTree>
    <p:extLst>
      <p:ext uri="{BB962C8B-B14F-4D97-AF65-F5344CB8AC3E}">
        <p14:creationId xmlns:p14="http://schemas.microsoft.com/office/powerpoint/2010/main" val="2032659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资源循环利用技术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38" name="TextBox 10">
            <a:extLst>
              <a:ext uri="{FF2B5EF4-FFF2-40B4-BE49-F238E27FC236}">
                <a16:creationId xmlns:a16="http://schemas.microsoft.com/office/drawing/2014/main" id="{2B50B84D-B0F9-457B-A3AF-E2A5113E19CD}"/>
              </a:ext>
            </a:extLst>
          </p:cNvPr>
          <p:cNvSpPr txBox="1"/>
          <p:nvPr/>
        </p:nvSpPr>
        <p:spPr>
          <a:xfrm>
            <a:off x="504428" y="1205496"/>
            <a:ext cx="5395150" cy="460191"/>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固体废物资源化利用技术</a:t>
            </a:r>
          </a:p>
        </p:txBody>
      </p:sp>
      <p:sp>
        <p:nvSpPr>
          <p:cNvPr id="45" name="Rectangle 2">
            <a:extLst>
              <a:ext uri="{FF2B5EF4-FFF2-40B4-BE49-F238E27FC236}">
                <a16:creationId xmlns:a16="http://schemas.microsoft.com/office/drawing/2014/main" id="{8AA30842-BA2E-4902-8BC4-0856E0F43EBD}"/>
              </a:ext>
            </a:extLst>
          </p:cNvPr>
          <p:cNvSpPr txBox="1">
            <a:spLocks noChangeArrowheads="1"/>
          </p:cNvSpPr>
          <p:nvPr/>
        </p:nvSpPr>
        <p:spPr bwMode="auto">
          <a:xfrm>
            <a:off x="573666" y="1816179"/>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Wingdings" panose="05000000000000000000" pitchFamily="2" charset="2"/>
              <a:buNone/>
            </a:pPr>
            <a:r>
              <a:rPr lang="zh-CN" altLang="en-US" sz="2400" b="1" dirty="0">
                <a:solidFill>
                  <a:srgbClr val="C00000"/>
                </a:solidFill>
                <a:latin typeface="+mn-ea"/>
                <a:ea typeface="+mn-ea"/>
              </a:rPr>
              <a:t>固体废物的来源</a:t>
            </a:r>
          </a:p>
        </p:txBody>
      </p:sp>
      <p:sp>
        <p:nvSpPr>
          <p:cNvPr id="46" name="Rectangle 5">
            <a:extLst>
              <a:ext uri="{FF2B5EF4-FFF2-40B4-BE49-F238E27FC236}">
                <a16:creationId xmlns:a16="http://schemas.microsoft.com/office/drawing/2014/main" id="{AC0D02AA-389A-400C-96FA-4D23D557904C}"/>
              </a:ext>
            </a:extLst>
          </p:cNvPr>
          <p:cNvSpPr>
            <a:spLocks noChangeArrowheads="1"/>
          </p:cNvSpPr>
          <p:nvPr/>
        </p:nvSpPr>
        <p:spPr bwMode="auto">
          <a:xfrm>
            <a:off x="850715" y="2277844"/>
            <a:ext cx="4982812" cy="46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just" eaLnBrk="1" hangingPunct="1">
              <a:lnSpc>
                <a:spcPct val="130000"/>
              </a:lnSpc>
              <a:spcBef>
                <a:spcPct val="50000"/>
              </a:spcBef>
              <a:buClr>
                <a:srgbClr val="0000CC"/>
              </a:buClr>
              <a:buNone/>
            </a:pPr>
            <a:r>
              <a:rPr lang="zh-CN" altLang="en-US" sz="2000" b="1" dirty="0">
                <a:solidFill>
                  <a:srgbClr val="2C4E8C"/>
                </a:solidFill>
                <a:latin typeface="+mn-ea"/>
                <a:ea typeface="+mn-ea"/>
              </a:rPr>
              <a:t>固体废物主要产生于人类的生产和生活。</a:t>
            </a:r>
          </a:p>
        </p:txBody>
      </p:sp>
      <p:sp>
        <p:nvSpPr>
          <p:cNvPr id="47" name="Rectangle 2">
            <a:extLst>
              <a:ext uri="{FF2B5EF4-FFF2-40B4-BE49-F238E27FC236}">
                <a16:creationId xmlns:a16="http://schemas.microsoft.com/office/drawing/2014/main" id="{1202DE09-D1EA-4891-B816-2312E6E2EB51}"/>
              </a:ext>
            </a:extLst>
          </p:cNvPr>
          <p:cNvSpPr txBox="1">
            <a:spLocks noChangeArrowheads="1"/>
          </p:cNvSpPr>
          <p:nvPr/>
        </p:nvSpPr>
        <p:spPr bwMode="auto">
          <a:xfrm>
            <a:off x="573666" y="2738035"/>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Wingdings" panose="05000000000000000000" pitchFamily="2" charset="2"/>
              <a:buNone/>
            </a:pPr>
            <a:r>
              <a:rPr lang="zh-CN" altLang="en-US" sz="2400" b="1" dirty="0">
                <a:solidFill>
                  <a:srgbClr val="C00000"/>
                </a:solidFill>
                <a:latin typeface="+mn-ea"/>
                <a:ea typeface="+mn-ea"/>
              </a:rPr>
              <a:t>固体废物的分类</a:t>
            </a:r>
          </a:p>
        </p:txBody>
      </p:sp>
      <p:grpSp>
        <p:nvGrpSpPr>
          <p:cNvPr id="48" name="组合 21">
            <a:extLst>
              <a:ext uri="{FF2B5EF4-FFF2-40B4-BE49-F238E27FC236}">
                <a16:creationId xmlns:a16="http://schemas.microsoft.com/office/drawing/2014/main" id="{90B205E6-D559-4FAF-AD2E-4B75B02E89B8}"/>
              </a:ext>
            </a:extLst>
          </p:cNvPr>
          <p:cNvGrpSpPr>
            <a:grpSpLocks/>
          </p:cNvGrpSpPr>
          <p:nvPr/>
        </p:nvGrpSpPr>
        <p:grpSpPr bwMode="auto">
          <a:xfrm>
            <a:off x="1034066" y="3118039"/>
            <a:ext cx="10773621" cy="3494668"/>
            <a:chOff x="415230" y="2062877"/>
            <a:chExt cx="8850026" cy="3494668"/>
          </a:xfrm>
        </p:grpSpPr>
        <p:sp>
          <p:nvSpPr>
            <p:cNvPr id="50" name="Text Box 3">
              <a:extLst>
                <a:ext uri="{FF2B5EF4-FFF2-40B4-BE49-F238E27FC236}">
                  <a16:creationId xmlns:a16="http://schemas.microsoft.com/office/drawing/2014/main" id="{F16C7518-60FF-465C-8329-E48421A7FA2E}"/>
                </a:ext>
              </a:extLst>
            </p:cNvPr>
            <p:cNvSpPr txBox="1">
              <a:spLocks noChangeArrowheads="1"/>
            </p:cNvSpPr>
            <p:nvPr/>
          </p:nvSpPr>
          <p:spPr bwMode="auto">
            <a:xfrm>
              <a:off x="3633092" y="2062877"/>
              <a:ext cx="2379663" cy="402291"/>
            </a:xfrm>
            <a:prstGeom prst="rect">
              <a:avLst/>
            </a:prstGeom>
            <a:noFill/>
            <a:ln w="28575">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dirty="0">
                  <a:latin typeface="隶书" panose="02010509060101010101" pitchFamily="49" charset="-122"/>
                  <a:ea typeface="华文细黑" panose="02010600040101010101" pitchFamily="2" charset="-122"/>
                </a:rPr>
                <a:t>依据来源分类</a:t>
              </a:r>
            </a:p>
          </p:txBody>
        </p:sp>
        <p:sp>
          <p:nvSpPr>
            <p:cNvPr id="51" name="Text Box 4">
              <a:extLst>
                <a:ext uri="{FF2B5EF4-FFF2-40B4-BE49-F238E27FC236}">
                  <a16:creationId xmlns:a16="http://schemas.microsoft.com/office/drawing/2014/main" id="{B2AD5D63-A34E-48A2-B68E-BAE9409E701D}"/>
                </a:ext>
              </a:extLst>
            </p:cNvPr>
            <p:cNvSpPr txBox="1">
              <a:spLocks noChangeArrowheads="1"/>
            </p:cNvSpPr>
            <p:nvPr/>
          </p:nvSpPr>
          <p:spPr bwMode="auto">
            <a:xfrm>
              <a:off x="415230" y="3163908"/>
              <a:ext cx="1511300" cy="710067"/>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dirty="0">
                  <a:latin typeface="隶书" panose="02010509060101010101" pitchFamily="49" charset="-122"/>
                  <a:ea typeface="华文细黑" panose="02010600040101010101" pitchFamily="2" charset="-122"/>
                </a:rPr>
                <a:t>工业固体废物</a:t>
              </a:r>
            </a:p>
          </p:txBody>
        </p:sp>
        <p:sp>
          <p:nvSpPr>
            <p:cNvPr id="52" name="Text Box 5">
              <a:extLst>
                <a:ext uri="{FF2B5EF4-FFF2-40B4-BE49-F238E27FC236}">
                  <a16:creationId xmlns:a16="http://schemas.microsoft.com/office/drawing/2014/main" id="{A71A5E73-20DB-41D6-9F9A-E51B9EB84C71}"/>
                </a:ext>
              </a:extLst>
            </p:cNvPr>
            <p:cNvSpPr txBox="1">
              <a:spLocks noChangeArrowheads="1"/>
            </p:cNvSpPr>
            <p:nvPr/>
          </p:nvSpPr>
          <p:spPr bwMode="auto">
            <a:xfrm>
              <a:off x="2099567" y="3168670"/>
              <a:ext cx="1492250" cy="710067"/>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dirty="0">
                  <a:latin typeface="隶书" panose="02010509060101010101" pitchFamily="49" charset="-122"/>
                  <a:ea typeface="华文细黑" panose="02010600040101010101" pitchFamily="2" charset="-122"/>
                </a:rPr>
                <a:t>农业固体废物</a:t>
              </a:r>
            </a:p>
          </p:txBody>
        </p:sp>
        <p:sp>
          <p:nvSpPr>
            <p:cNvPr id="53" name="AutoShape 6">
              <a:extLst>
                <a:ext uri="{FF2B5EF4-FFF2-40B4-BE49-F238E27FC236}">
                  <a16:creationId xmlns:a16="http://schemas.microsoft.com/office/drawing/2014/main" id="{C5A30211-543E-4C85-92AC-4ACEC6567BC0}"/>
                </a:ext>
              </a:extLst>
            </p:cNvPr>
            <p:cNvSpPr>
              <a:spLocks/>
            </p:cNvSpPr>
            <p:nvPr/>
          </p:nvSpPr>
          <p:spPr bwMode="auto">
            <a:xfrm rot="5400000">
              <a:off x="4644330" y="-1034009"/>
              <a:ext cx="360362" cy="7704138"/>
            </a:xfrm>
            <a:prstGeom prst="leftBrace">
              <a:avLst>
                <a:gd name="adj1" fmla="val 178157"/>
                <a:gd name="adj2" fmla="val 50000"/>
              </a:avLst>
            </a:prstGeom>
            <a:noFill/>
            <a:ln w="317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000">
                <a:latin typeface="Arial" panose="020B0604020202020204" pitchFamily="34" charset="0"/>
              </a:endParaRPr>
            </a:p>
          </p:txBody>
        </p:sp>
        <p:sp>
          <p:nvSpPr>
            <p:cNvPr id="54" name="Text Box 7">
              <a:extLst>
                <a:ext uri="{FF2B5EF4-FFF2-40B4-BE49-F238E27FC236}">
                  <a16:creationId xmlns:a16="http://schemas.microsoft.com/office/drawing/2014/main" id="{D37BA2BA-D8C7-4611-94AD-9CEA8C8F65C0}"/>
                </a:ext>
              </a:extLst>
            </p:cNvPr>
            <p:cNvSpPr txBox="1">
              <a:spLocks noChangeArrowheads="1"/>
            </p:cNvSpPr>
            <p:nvPr/>
          </p:nvSpPr>
          <p:spPr bwMode="auto">
            <a:xfrm>
              <a:off x="2167036" y="4996033"/>
              <a:ext cx="1296987" cy="402291"/>
            </a:xfrm>
            <a:prstGeom prst="rect">
              <a:avLst/>
            </a:prstGeom>
            <a:noFill/>
            <a:ln w="28575">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ts val="0"/>
                </a:spcBef>
                <a:buFontTx/>
                <a:buNone/>
              </a:pPr>
              <a:r>
                <a:rPr kumimoji="1" lang="zh-CN" altLang="en-US" sz="2000" b="1" dirty="0">
                  <a:latin typeface="隶书" panose="02010509060101010101" pitchFamily="49" charset="-122"/>
                  <a:ea typeface="华文细黑" panose="02010600040101010101" pitchFamily="2" charset="-122"/>
                </a:rPr>
                <a:t>秸秆、畜便</a:t>
              </a:r>
            </a:p>
          </p:txBody>
        </p:sp>
        <p:sp>
          <p:nvSpPr>
            <p:cNvPr id="55" name="Text Box 8">
              <a:extLst>
                <a:ext uri="{FF2B5EF4-FFF2-40B4-BE49-F238E27FC236}">
                  <a16:creationId xmlns:a16="http://schemas.microsoft.com/office/drawing/2014/main" id="{3732927F-B183-4A4D-8590-E71A14033DE4}"/>
                </a:ext>
              </a:extLst>
            </p:cNvPr>
            <p:cNvSpPr txBox="1">
              <a:spLocks noChangeArrowheads="1"/>
            </p:cNvSpPr>
            <p:nvPr/>
          </p:nvSpPr>
          <p:spPr bwMode="auto">
            <a:xfrm>
              <a:off x="3936304" y="4979908"/>
              <a:ext cx="1235072" cy="402291"/>
            </a:xfrm>
            <a:prstGeom prst="rect">
              <a:avLst/>
            </a:prstGeom>
            <a:noFill/>
            <a:ln w="28575">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sz="2000" b="1" dirty="0">
                  <a:latin typeface="隶书" panose="02010509060101010101" pitchFamily="49" charset="-122"/>
                  <a:ea typeface="华文细黑" panose="02010600040101010101" pitchFamily="2" charset="-122"/>
                </a:rPr>
                <a:t>废石、尾矿</a:t>
              </a:r>
            </a:p>
          </p:txBody>
        </p:sp>
        <p:sp>
          <p:nvSpPr>
            <p:cNvPr id="56" name="Text Box 9">
              <a:extLst>
                <a:ext uri="{FF2B5EF4-FFF2-40B4-BE49-F238E27FC236}">
                  <a16:creationId xmlns:a16="http://schemas.microsoft.com/office/drawing/2014/main" id="{96AAAF9F-A7F4-4340-84F9-15B1DA8BDA23}"/>
                </a:ext>
              </a:extLst>
            </p:cNvPr>
            <p:cNvSpPr txBox="1">
              <a:spLocks noChangeArrowheads="1"/>
            </p:cNvSpPr>
            <p:nvPr/>
          </p:nvSpPr>
          <p:spPr bwMode="auto">
            <a:xfrm>
              <a:off x="5650805" y="4825454"/>
              <a:ext cx="1296987" cy="730250"/>
            </a:xfrm>
            <a:prstGeom prst="rect">
              <a:avLst/>
            </a:prstGeom>
            <a:noFill/>
            <a:ln w="28575">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sz="2000" b="1" dirty="0">
                  <a:latin typeface="隶书" panose="02010509060101010101" pitchFamily="49" charset="-122"/>
                  <a:ea typeface="华文细黑" panose="02010600040101010101" pitchFamily="2" charset="-122"/>
                </a:rPr>
                <a:t>放射性固体废物</a:t>
              </a:r>
            </a:p>
          </p:txBody>
        </p:sp>
        <p:sp>
          <p:nvSpPr>
            <p:cNvPr id="57" name="Text Box 10">
              <a:extLst>
                <a:ext uri="{FF2B5EF4-FFF2-40B4-BE49-F238E27FC236}">
                  <a16:creationId xmlns:a16="http://schemas.microsoft.com/office/drawing/2014/main" id="{0983B907-7EEE-43EA-B26C-AAD049319C17}"/>
                </a:ext>
              </a:extLst>
            </p:cNvPr>
            <p:cNvSpPr txBox="1">
              <a:spLocks noChangeArrowheads="1"/>
            </p:cNvSpPr>
            <p:nvPr/>
          </p:nvSpPr>
          <p:spPr bwMode="auto">
            <a:xfrm>
              <a:off x="7172271" y="4836112"/>
              <a:ext cx="2092985" cy="710067"/>
            </a:xfrm>
            <a:prstGeom prst="rect">
              <a:avLst/>
            </a:prstGeom>
            <a:solidFill>
              <a:srgbClr val="CCCC00"/>
            </a:solidFill>
            <a:ln w="28575">
              <a:solidFill>
                <a:srgbClr val="FFFF00"/>
              </a:solidFill>
              <a:miter lim="800000"/>
              <a:headEnd/>
              <a:tailEnd/>
            </a:ln>
          </p:spPr>
          <p:txBody>
            <a:bodyPr wrap="square"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sz="2000" b="1" dirty="0">
                  <a:latin typeface="隶书" panose="02010509060101010101" pitchFamily="49" charset="-122"/>
                  <a:ea typeface="华文细黑" panose="02010600040101010101" pitchFamily="2" charset="-122"/>
                </a:rPr>
                <a:t>生活垃圾、商业垃圾、城建渣土、粪便</a:t>
              </a:r>
            </a:p>
          </p:txBody>
        </p:sp>
        <p:sp>
          <p:nvSpPr>
            <p:cNvPr id="58" name="Text Box 11">
              <a:extLst>
                <a:ext uri="{FF2B5EF4-FFF2-40B4-BE49-F238E27FC236}">
                  <a16:creationId xmlns:a16="http://schemas.microsoft.com/office/drawing/2014/main" id="{694B9560-6293-4FE3-A16F-0824CF316D50}"/>
                </a:ext>
              </a:extLst>
            </p:cNvPr>
            <p:cNvSpPr txBox="1">
              <a:spLocks noChangeArrowheads="1"/>
            </p:cNvSpPr>
            <p:nvPr/>
          </p:nvSpPr>
          <p:spPr bwMode="auto">
            <a:xfrm>
              <a:off x="538260" y="4847478"/>
              <a:ext cx="1296988" cy="710067"/>
            </a:xfrm>
            <a:prstGeom prst="rect">
              <a:avLst/>
            </a:prstGeom>
            <a:noFill/>
            <a:ln w="28575">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ts val="0"/>
                </a:spcBef>
                <a:buFontTx/>
                <a:buNone/>
              </a:pPr>
              <a:r>
                <a:rPr kumimoji="1" lang="zh-CN" altLang="en-US" sz="2000" b="1" dirty="0">
                  <a:latin typeface="隶书" panose="02010509060101010101" pitchFamily="49" charset="-122"/>
                  <a:ea typeface="华文细黑" panose="02010600040101010101" pitchFamily="2" charset="-122"/>
                </a:rPr>
                <a:t>废渣、粉尘、碎屑、污泥</a:t>
              </a:r>
            </a:p>
          </p:txBody>
        </p:sp>
        <p:sp>
          <p:nvSpPr>
            <p:cNvPr id="59" name="Text Box 12">
              <a:extLst>
                <a:ext uri="{FF2B5EF4-FFF2-40B4-BE49-F238E27FC236}">
                  <a16:creationId xmlns:a16="http://schemas.microsoft.com/office/drawing/2014/main" id="{F3CE0096-D089-42A9-A1EC-EACBD5CB2C31}"/>
                </a:ext>
              </a:extLst>
            </p:cNvPr>
            <p:cNvSpPr txBox="1">
              <a:spLocks noChangeArrowheads="1"/>
            </p:cNvSpPr>
            <p:nvPr/>
          </p:nvSpPr>
          <p:spPr bwMode="auto">
            <a:xfrm>
              <a:off x="3799780" y="3168670"/>
              <a:ext cx="1511300" cy="710067"/>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a:latin typeface="隶书" panose="02010509060101010101" pitchFamily="49" charset="-122"/>
                  <a:ea typeface="华文细黑" panose="02010600040101010101" pitchFamily="2" charset="-122"/>
                </a:rPr>
                <a:t>矿物固体废物</a:t>
              </a:r>
            </a:p>
          </p:txBody>
        </p:sp>
        <p:sp>
          <p:nvSpPr>
            <p:cNvPr id="60" name="Text Box 13">
              <a:extLst>
                <a:ext uri="{FF2B5EF4-FFF2-40B4-BE49-F238E27FC236}">
                  <a16:creationId xmlns:a16="http://schemas.microsoft.com/office/drawing/2014/main" id="{CB84CB17-6BED-487C-A33E-DA34A8FB5C20}"/>
                </a:ext>
              </a:extLst>
            </p:cNvPr>
            <p:cNvSpPr txBox="1">
              <a:spLocks noChangeArrowheads="1"/>
            </p:cNvSpPr>
            <p:nvPr/>
          </p:nvSpPr>
          <p:spPr bwMode="auto">
            <a:xfrm>
              <a:off x="5526980" y="3192483"/>
              <a:ext cx="1636712" cy="710067"/>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a:latin typeface="隶书" panose="02010509060101010101" pitchFamily="49" charset="-122"/>
                  <a:ea typeface="华文细黑" panose="02010600040101010101" pitchFamily="2" charset="-122"/>
                </a:rPr>
                <a:t>放射性固体废物</a:t>
              </a:r>
            </a:p>
          </p:txBody>
        </p:sp>
        <p:sp>
          <p:nvSpPr>
            <p:cNvPr id="61" name="Text Box 14">
              <a:extLst>
                <a:ext uri="{FF2B5EF4-FFF2-40B4-BE49-F238E27FC236}">
                  <a16:creationId xmlns:a16="http://schemas.microsoft.com/office/drawing/2014/main" id="{027661BE-C35D-4297-A81C-BD6FE23AD7F8}"/>
                </a:ext>
              </a:extLst>
            </p:cNvPr>
            <p:cNvSpPr txBox="1">
              <a:spLocks noChangeArrowheads="1"/>
            </p:cNvSpPr>
            <p:nvPr/>
          </p:nvSpPr>
          <p:spPr bwMode="auto">
            <a:xfrm>
              <a:off x="7452617" y="3192483"/>
              <a:ext cx="1419225" cy="710067"/>
            </a:xfrm>
            <a:prstGeom prst="rect">
              <a:avLst/>
            </a:prstGeom>
            <a:solidFill>
              <a:srgbClr val="CCCC00"/>
            </a:solidFill>
            <a:ln w="28575">
              <a:solidFill>
                <a:srgbClr val="FF9900"/>
              </a:solidFill>
              <a:miter lim="800000"/>
              <a:headEnd/>
              <a:tailEnd/>
            </a:ln>
          </p:spPr>
          <p:txBody>
            <a:bodyPr lIns="90000" tIns="46800" rIns="90000" bIns="4680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a:latin typeface="隶书" panose="02010509060101010101" pitchFamily="49" charset="-122"/>
                  <a:ea typeface="华文细黑" panose="02010600040101010101" pitchFamily="2" charset="-122"/>
                </a:rPr>
                <a:t>城市固体废物</a:t>
              </a:r>
            </a:p>
          </p:txBody>
        </p:sp>
        <p:sp>
          <p:nvSpPr>
            <p:cNvPr id="62" name="Line 15">
              <a:extLst>
                <a:ext uri="{FF2B5EF4-FFF2-40B4-BE49-F238E27FC236}">
                  <a16:creationId xmlns:a16="http://schemas.microsoft.com/office/drawing/2014/main" id="{34E40F6C-5180-4B39-8EA6-A774881A4A01}"/>
                </a:ext>
              </a:extLst>
            </p:cNvPr>
            <p:cNvSpPr>
              <a:spLocks noChangeShapeType="1"/>
            </p:cNvSpPr>
            <p:nvPr/>
          </p:nvSpPr>
          <p:spPr bwMode="auto">
            <a:xfrm>
              <a:off x="1236760" y="3990429"/>
              <a:ext cx="0" cy="792162"/>
            </a:xfrm>
            <a:prstGeom prst="line">
              <a:avLst/>
            </a:prstGeom>
            <a:noFill/>
            <a:ln w="57150">
              <a:solidFill>
                <a:srgbClr val="4472C4"/>
              </a:solidFill>
              <a:miter lim="800000"/>
              <a:headEnd/>
              <a:tailEnd type="triangle" w="med" len="lg"/>
            </a:ln>
            <a:extLst>
              <a:ext uri="{909E8E84-426E-40DD-AFC4-6F175D3DCCD1}">
                <a14:hiddenFill xmlns:a14="http://schemas.microsoft.com/office/drawing/2010/main">
                  <a:noFill/>
                </a14:hiddenFill>
              </a:ext>
            </a:extLst>
          </p:spPr>
          <p:txBody>
            <a:bodyPr wrap="none"/>
            <a:lstStyle/>
            <a:p>
              <a:endParaRPr lang="zh-CN" altLang="en-US" sz="2000"/>
            </a:p>
          </p:txBody>
        </p:sp>
        <p:sp>
          <p:nvSpPr>
            <p:cNvPr id="63" name="Line 16">
              <a:extLst>
                <a:ext uri="{FF2B5EF4-FFF2-40B4-BE49-F238E27FC236}">
                  <a16:creationId xmlns:a16="http://schemas.microsoft.com/office/drawing/2014/main" id="{67DE27B8-F777-4D18-BCD9-19CC6970EF3E}"/>
                </a:ext>
              </a:extLst>
            </p:cNvPr>
            <p:cNvSpPr>
              <a:spLocks noChangeShapeType="1"/>
            </p:cNvSpPr>
            <p:nvPr/>
          </p:nvSpPr>
          <p:spPr bwMode="auto">
            <a:xfrm>
              <a:off x="2865536" y="3990429"/>
              <a:ext cx="0" cy="792162"/>
            </a:xfrm>
            <a:prstGeom prst="line">
              <a:avLst/>
            </a:prstGeom>
            <a:noFill/>
            <a:ln w="57150">
              <a:solidFill>
                <a:srgbClr val="4472C4"/>
              </a:solidFill>
              <a:miter lim="800000"/>
              <a:headEnd/>
              <a:tailEnd type="triangle" w="med" len="lg"/>
            </a:ln>
            <a:extLst>
              <a:ext uri="{909E8E84-426E-40DD-AFC4-6F175D3DCCD1}">
                <a14:hiddenFill xmlns:a14="http://schemas.microsoft.com/office/drawing/2010/main">
                  <a:noFill/>
                </a14:hiddenFill>
              </a:ext>
            </a:extLst>
          </p:spPr>
          <p:txBody>
            <a:bodyPr wrap="none"/>
            <a:lstStyle/>
            <a:p>
              <a:endParaRPr lang="zh-CN" altLang="en-US" sz="2000"/>
            </a:p>
          </p:txBody>
        </p:sp>
        <p:sp>
          <p:nvSpPr>
            <p:cNvPr id="64" name="Line 17">
              <a:extLst>
                <a:ext uri="{FF2B5EF4-FFF2-40B4-BE49-F238E27FC236}">
                  <a16:creationId xmlns:a16="http://schemas.microsoft.com/office/drawing/2014/main" id="{8978EE1E-4BB0-4223-99D0-347172C267EF}"/>
                </a:ext>
              </a:extLst>
            </p:cNvPr>
            <p:cNvSpPr>
              <a:spLocks noChangeShapeType="1"/>
            </p:cNvSpPr>
            <p:nvPr/>
          </p:nvSpPr>
          <p:spPr bwMode="auto">
            <a:xfrm>
              <a:off x="4578447" y="3990429"/>
              <a:ext cx="0" cy="792162"/>
            </a:xfrm>
            <a:prstGeom prst="line">
              <a:avLst/>
            </a:prstGeom>
            <a:noFill/>
            <a:ln w="57150">
              <a:solidFill>
                <a:srgbClr val="4472C4"/>
              </a:solidFill>
              <a:miter lim="800000"/>
              <a:headEnd/>
              <a:tailEnd type="triangle" w="med" len="lg"/>
            </a:ln>
            <a:extLst>
              <a:ext uri="{909E8E84-426E-40DD-AFC4-6F175D3DCCD1}">
                <a14:hiddenFill xmlns:a14="http://schemas.microsoft.com/office/drawing/2010/main">
                  <a:noFill/>
                </a14:hiddenFill>
              </a:ext>
            </a:extLst>
          </p:spPr>
          <p:txBody>
            <a:bodyPr wrap="none"/>
            <a:lstStyle/>
            <a:p>
              <a:endParaRPr lang="zh-CN" altLang="en-US" sz="2000"/>
            </a:p>
          </p:txBody>
        </p:sp>
        <p:sp>
          <p:nvSpPr>
            <p:cNvPr id="65" name="Line 18">
              <a:extLst>
                <a:ext uri="{FF2B5EF4-FFF2-40B4-BE49-F238E27FC236}">
                  <a16:creationId xmlns:a16="http://schemas.microsoft.com/office/drawing/2014/main" id="{3B052852-F338-40F8-BA8A-E6A04CC8F6B9}"/>
                </a:ext>
              </a:extLst>
            </p:cNvPr>
            <p:cNvSpPr>
              <a:spLocks noChangeShapeType="1"/>
            </p:cNvSpPr>
            <p:nvPr/>
          </p:nvSpPr>
          <p:spPr bwMode="auto">
            <a:xfrm>
              <a:off x="6345336" y="4033291"/>
              <a:ext cx="0" cy="792163"/>
            </a:xfrm>
            <a:prstGeom prst="line">
              <a:avLst/>
            </a:prstGeom>
            <a:noFill/>
            <a:ln w="57150">
              <a:solidFill>
                <a:srgbClr val="4472C4"/>
              </a:solidFill>
              <a:miter lim="800000"/>
              <a:headEnd/>
              <a:tailEnd type="triangle" w="med" len="lg"/>
            </a:ln>
            <a:extLst>
              <a:ext uri="{909E8E84-426E-40DD-AFC4-6F175D3DCCD1}">
                <a14:hiddenFill xmlns:a14="http://schemas.microsoft.com/office/drawing/2010/main">
                  <a:noFill/>
                </a14:hiddenFill>
              </a:ext>
            </a:extLst>
          </p:spPr>
          <p:txBody>
            <a:bodyPr wrap="none"/>
            <a:lstStyle/>
            <a:p>
              <a:endParaRPr lang="zh-CN" altLang="en-US" sz="2000"/>
            </a:p>
          </p:txBody>
        </p:sp>
        <p:sp>
          <p:nvSpPr>
            <p:cNvPr id="66" name="Line 19">
              <a:extLst>
                <a:ext uri="{FF2B5EF4-FFF2-40B4-BE49-F238E27FC236}">
                  <a16:creationId xmlns:a16="http://schemas.microsoft.com/office/drawing/2014/main" id="{38DF866D-4D3F-4E7D-BB9D-AFF7D826B910}"/>
                </a:ext>
              </a:extLst>
            </p:cNvPr>
            <p:cNvSpPr>
              <a:spLocks noChangeShapeType="1"/>
            </p:cNvSpPr>
            <p:nvPr/>
          </p:nvSpPr>
          <p:spPr bwMode="auto">
            <a:xfrm>
              <a:off x="8221760" y="4023766"/>
              <a:ext cx="0" cy="792163"/>
            </a:xfrm>
            <a:prstGeom prst="line">
              <a:avLst/>
            </a:prstGeom>
            <a:noFill/>
            <a:ln w="57150">
              <a:solidFill>
                <a:srgbClr val="4472C4"/>
              </a:solidFill>
              <a:miter lim="800000"/>
              <a:headEnd/>
              <a:tailEnd type="triangle" w="med" len="lg"/>
            </a:ln>
            <a:extLst>
              <a:ext uri="{909E8E84-426E-40DD-AFC4-6F175D3DCCD1}">
                <a14:hiddenFill xmlns:a14="http://schemas.microsoft.com/office/drawing/2010/main">
                  <a:noFill/>
                </a14:hiddenFill>
              </a:ext>
            </a:extLst>
          </p:spPr>
          <p:txBody>
            <a:bodyPr wrap="none"/>
            <a:lstStyle/>
            <a:p>
              <a:endParaRPr lang="zh-CN" altLang="en-US" sz="2000"/>
            </a:p>
          </p:txBody>
        </p:sp>
      </p:grpSp>
    </p:spTree>
    <p:extLst>
      <p:ext uri="{BB962C8B-B14F-4D97-AF65-F5344CB8AC3E}">
        <p14:creationId xmlns:p14="http://schemas.microsoft.com/office/powerpoint/2010/main" val="3923136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资源循环利用技术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38" name="TextBox 10">
            <a:extLst>
              <a:ext uri="{FF2B5EF4-FFF2-40B4-BE49-F238E27FC236}">
                <a16:creationId xmlns:a16="http://schemas.microsoft.com/office/drawing/2014/main" id="{2B50B84D-B0F9-457B-A3AF-E2A5113E19CD}"/>
              </a:ext>
            </a:extLst>
          </p:cNvPr>
          <p:cNvSpPr txBox="1"/>
          <p:nvPr/>
        </p:nvSpPr>
        <p:spPr>
          <a:xfrm>
            <a:off x="609605" y="1138320"/>
            <a:ext cx="5395150" cy="460191"/>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固体废物资源化利用工艺流程</a:t>
            </a:r>
          </a:p>
        </p:txBody>
      </p:sp>
      <p:grpSp>
        <p:nvGrpSpPr>
          <p:cNvPr id="67" name="组合 66">
            <a:extLst>
              <a:ext uri="{FF2B5EF4-FFF2-40B4-BE49-F238E27FC236}">
                <a16:creationId xmlns:a16="http://schemas.microsoft.com/office/drawing/2014/main" id="{EC45ED84-D2AC-46E9-8C0F-EC457B810574}"/>
              </a:ext>
            </a:extLst>
          </p:cNvPr>
          <p:cNvGrpSpPr/>
          <p:nvPr/>
        </p:nvGrpSpPr>
        <p:grpSpPr>
          <a:xfrm>
            <a:off x="1709600" y="1782723"/>
            <a:ext cx="7440613" cy="4780616"/>
            <a:chOff x="874713" y="1700213"/>
            <a:chExt cx="7440613" cy="4780616"/>
          </a:xfrm>
        </p:grpSpPr>
        <p:sp>
          <p:nvSpPr>
            <p:cNvPr id="68" name="Text Box 3">
              <a:extLst>
                <a:ext uri="{FF2B5EF4-FFF2-40B4-BE49-F238E27FC236}">
                  <a16:creationId xmlns:a16="http://schemas.microsoft.com/office/drawing/2014/main" id="{8FCEB169-6F1B-4264-92C2-F253EDFAC60A}"/>
                </a:ext>
              </a:extLst>
            </p:cNvPr>
            <p:cNvSpPr txBox="1">
              <a:spLocks noChangeArrowheads="1"/>
            </p:cNvSpPr>
            <p:nvPr/>
          </p:nvSpPr>
          <p:spPr bwMode="auto">
            <a:xfrm>
              <a:off x="881063" y="1700213"/>
              <a:ext cx="2025650" cy="402291"/>
            </a:xfrm>
            <a:prstGeom prst="rect">
              <a:avLst/>
            </a:prstGeom>
            <a:solidFill>
              <a:srgbClr val="800000"/>
            </a:solidFill>
            <a:ln w="38100">
              <a:solidFill>
                <a:srgbClr val="800000"/>
              </a:solidFill>
              <a:miter lim="800000"/>
              <a:headEnd/>
              <a:tailEnd/>
            </a:ln>
          </p:spPr>
          <p:txBody>
            <a:bodyPr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dirty="0">
                  <a:solidFill>
                    <a:schemeClr val="bg1"/>
                  </a:solidFill>
                  <a:latin typeface="+mn-ea"/>
                  <a:ea typeface="+mn-ea"/>
                </a:rPr>
                <a:t>固体废物</a:t>
              </a:r>
            </a:p>
          </p:txBody>
        </p:sp>
        <p:sp>
          <p:nvSpPr>
            <p:cNvPr id="69" name="Text Box 4">
              <a:extLst>
                <a:ext uri="{FF2B5EF4-FFF2-40B4-BE49-F238E27FC236}">
                  <a16:creationId xmlns:a16="http://schemas.microsoft.com/office/drawing/2014/main" id="{0A164BF3-7C47-4CA3-B726-363D3A8F141B}"/>
                </a:ext>
              </a:extLst>
            </p:cNvPr>
            <p:cNvSpPr txBox="1">
              <a:spLocks noChangeArrowheads="1"/>
            </p:cNvSpPr>
            <p:nvPr/>
          </p:nvSpPr>
          <p:spPr bwMode="auto">
            <a:xfrm>
              <a:off x="881063" y="2852738"/>
              <a:ext cx="2025650" cy="402291"/>
            </a:xfrm>
            <a:prstGeom prst="rect">
              <a:avLst/>
            </a:prstGeom>
            <a:solidFill>
              <a:srgbClr val="008000"/>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a:solidFill>
                    <a:schemeClr val="bg1"/>
                  </a:solidFill>
                  <a:latin typeface="+mn-ea"/>
                  <a:ea typeface="+mn-ea"/>
                </a:rPr>
                <a:t>分   类</a:t>
              </a:r>
            </a:p>
          </p:txBody>
        </p:sp>
        <p:sp>
          <p:nvSpPr>
            <p:cNvPr id="70" name="Text Box 5">
              <a:extLst>
                <a:ext uri="{FF2B5EF4-FFF2-40B4-BE49-F238E27FC236}">
                  <a16:creationId xmlns:a16="http://schemas.microsoft.com/office/drawing/2014/main" id="{47D4EF1F-44E3-44F6-BA2F-3C317F72F99A}"/>
                </a:ext>
              </a:extLst>
            </p:cNvPr>
            <p:cNvSpPr txBox="1">
              <a:spLocks noChangeArrowheads="1"/>
            </p:cNvSpPr>
            <p:nvPr/>
          </p:nvSpPr>
          <p:spPr bwMode="auto">
            <a:xfrm>
              <a:off x="874713" y="3917950"/>
              <a:ext cx="2027237" cy="402291"/>
            </a:xfrm>
            <a:prstGeom prst="rect">
              <a:avLst/>
            </a:prstGeom>
            <a:solidFill>
              <a:srgbClr val="339966"/>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a:solidFill>
                    <a:schemeClr val="bg1"/>
                  </a:solidFill>
                  <a:latin typeface="+mn-ea"/>
                  <a:ea typeface="+mn-ea"/>
                </a:rPr>
                <a:t>资源化利用</a:t>
              </a:r>
            </a:p>
          </p:txBody>
        </p:sp>
        <p:sp>
          <p:nvSpPr>
            <p:cNvPr id="71" name="Text Box 6">
              <a:extLst>
                <a:ext uri="{FF2B5EF4-FFF2-40B4-BE49-F238E27FC236}">
                  <a16:creationId xmlns:a16="http://schemas.microsoft.com/office/drawing/2014/main" id="{3C4E48A1-2333-4DAD-8DE1-CB0B0D369DEA}"/>
                </a:ext>
              </a:extLst>
            </p:cNvPr>
            <p:cNvSpPr txBox="1">
              <a:spLocks noChangeArrowheads="1"/>
            </p:cNvSpPr>
            <p:nvPr/>
          </p:nvSpPr>
          <p:spPr bwMode="auto">
            <a:xfrm>
              <a:off x="879475" y="4997450"/>
              <a:ext cx="2027238" cy="402291"/>
            </a:xfrm>
            <a:prstGeom prst="rect">
              <a:avLst/>
            </a:prstGeom>
            <a:solidFill>
              <a:srgbClr val="003366"/>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a:solidFill>
                    <a:schemeClr val="bg1"/>
                  </a:solidFill>
                  <a:latin typeface="+mn-ea"/>
                  <a:ea typeface="+mn-ea"/>
                </a:rPr>
                <a:t>灰渣处理</a:t>
              </a:r>
            </a:p>
          </p:txBody>
        </p:sp>
        <p:sp>
          <p:nvSpPr>
            <p:cNvPr id="72" name="Text Box 7">
              <a:extLst>
                <a:ext uri="{FF2B5EF4-FFF2-40B4-BE49-F238E27FC236}">
                  <a16:creationId xmlns:a16="http://schemas.microsoft.com/office/drawing/2014/main" id="{34D84017-A95F-4ADE-8A19-5E53A9C4B9B3}"/>
                </a:ext>
              </a:extLst>
            </p:cNvPr>
            <p:cNvSpPr txBox="1">
              <a:spLocks noChangeArrowheads="1"/>
            </p:cNvSpPr>
            <p:nvPr/>
          </p:nvSpPr>
          <p:spPr bwMode="auto">
            <a:xfrm>
              <a:off x="879475" y="6078538"/>
              <a:ext cx="2027238" cy="402291"/>
            </a:xfrm>
            <a:prstGeom prst="rect">
              <a:avLst/>
            </a:prstGeom>
            <a:solidFill>
              <a:srgbClr val="003300"/>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2000" b="1">
                  <a:solidFill>
                    <a:schemeClr val="bg1"/>
                  </a:solidFill>
                  <a:latin typeface="+mn-ea"/>
                  <a:ea typeface="+mn-ea"/>
                </a:rPr>
                <a:t>无害化堆埋</a:t>
              </a:r>
            </a:p>
          </p:txBody>
        </p:sp>
        <p:sp>
          <p:nvSpPr>
            <p:cNvPr id="73" name="Text Box 8">
              <a:extLst>
                <a:ext uri="{FF2B5EF4-FFF2-40B4-BE49-F238E27FC236}">
                  <a16:creationId xmlns:a16="http://schemas.microsoft.com/office/drawing/2014/main" id="{A7C6FBE4-F2BE-4C95-B79D-FBC91334EA93}"/>
                </a:ext>
              </a:extLst>
            </p:cNvPr>
            <p:cNvSpPr txBox="1">
              <a:spLocks noChangeArrowheads="1"/>
            </p:cNvSpPr>
            <p:nvPr/>
          </p:nvSpPr>
          <p:spPr bwMode="auto">
            <a:xfrm>
              <a:off x="3851275" y="2411413"/>
              <a:ext cx="4464050" cy="710067"/>
            </a:xfrm>
            <a:prstGeom prst="rect">
              <a:avLst/>
            </a:prstGeom>
            <a:solidFill>
              <a:srgbClr val="993366"/>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square"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sz="2000" b="1" dirty="0">
                  <a:solidFill>
                    <a:schemeClr val="bg1"/>
                  </a:solidFill>
                  <a:latin typeface="+mn-ea"/>
                  <a:ea typeface="+mn-ea"/>
                </a:rPr>
                <a:t>主要分离出金属、纸类、塑料、玻璃等</a:t>
              </a:r>
            </a:p>
          </p:txBody>
        </p:sp>
        <p:sp>
          <p:nvSpPr>
            <p:cNvPr id="74" name="Text Box 9">
              <a:extLst>
                <a:ext uri="{FF2B5EF4-FFF2-40B4-BE49-F238E27FC236}">
                  <a16:creationId xmlns:a16="http://schemas.microsoft.com/office/drawing/2014/main" id="{0BFB8B10-4F77-4717-A472-9E88F423D393}"/>
                </a:ext>
              </a:extLst>
            </p:cNvPr>
            <p:cNvSpPr txBox="1">
              <a:spLocks noChangeArrowheads="1"/>
            </p:cNvSpPr>
            <p:nvPr/>
          </p:nvSpPr>
          <p:spPr bwMode="auto">
            <a:xfrm>
              <a:off x="3851276" y="3706813"/>
              <a:ext cx="4464050" cy="710067"/>
            </a:xfrm>
            <a:prstGeom prst="rect">
              <a:avLst/>
            </a:prstGeom>
            <a:solidFill>
              <a:srgbClr val="000080"/>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square"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sz="2000" b="1">
                  <a:solidFill>
                    <a:schemeClr val="bg1"/>
                  </a:solidFill>
                  <a:latin typeface="+mn-ea"/>
                  <a:ea typeface="+mn-ea"/>
                </a:rPr>
                <a:t>焚烧发电供电供热、生产有机复合肥、沼气、饲料等</a:t>
              </a:r>
            </a:p>
          </p:txBody>
        </p:sp>
        <p:sp>
          <p:nvSpPr>
            <p:cNvPr id="75" name="Text Box 10">
              <a:extLst>
                <a:ext uri="{FF2B5EF4-FFF2-40B4-BE49-F238E27FC236}">
                  <a16:creationId xmlns:a16="http://schemas.microsoft.com/office/drawing/2014/main" id="{6FDD8AE4-DA1C-40F7-93F9-CE9EC196BAEC}"/>
                </a:ext>
              </a:extLst>
            </p:cNvPr>
            <p:cNvSpPr txBox="1">
              <a:spLocks noChangeArrowheads="1"/>
            </p:cNvSpPr>
            <p:nvPr/>
          </p:nvSpPr>
          <p:spPr bwMode="auto">
            <a:xfrm>
              <a:off x="3851276" y="4997450"/>
              <a:ext cx="4464050" cy="402291"/>
            </a:xfrm>
            <a:prstGeom prst="rect">
              <a:avLst/>
            </a:prstGeom>
            <a:solidFill>
              <a:srgbClr val="0000FF"/>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square"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sz="2000" b="1">
                  <a:solidFill>
                    <a:schemeClr val="bg1"/>
                  </a:solidFill>
                  <a:latin typeface="+mn-ea"/>
                  <a:ea typeface="+mn-ea"/>
                </a:rPr>
                <a:t>建材生产、公路路基土等</a:t>
              </a:r>
            </a:p>
          </p:txBody>
        </p:sp>
        <p:sp>
          <p:nvSpPr>
            <p:cNvPr id="76" name="Text Box 11">
              <a:extLst>
                <a:ext uri="{FF2B5EF4-FFF2-40B4-BE49-F238E27FC236}">
                  <a16:creationId xmlns:a16="http://schemas.microsoft.com/office/drawing/2014/main" id="{99EEB008-1427-4ECA-B813-C54C1F212FA0}"/>
                </a:ext>
              </a:extLst>
            </p:cNvPr>
            <p:cNvSpPr txBox="1">
              <a:spLocks noChangeArrowheads="1"/>
            </p:cNvSpPr>
            <p:nvPr/>
          </p:nvSpPr>
          <p:spPr bwMode="auto">
            <a:xfrm>
              <a:off x="3851276" y="6078538"/>
              <a:ext cx="4464050" cy="402291"/>
            </a:xfrm>
            <a:prstGeom prst="rect">
              <a:avLst/>
            </a:prstGeom>
            <a:solidFill>
              <a:srgbClr val="333399"/>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square"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sz="2000" b="1">
                  <a:solidFill>
                    <a:schemeClr val="bg1"/>
                  </a:solidFill>
                  <a:latin typeface="+mn-ea"/>
                  <a:ea typeface="+mn-ea"/>
                </a:rPr>
                <a:t>垃圾堆埋后，表面覆土绿化</a:t>
              </a:r>
            </a:p>
          </p:txBody>
        </p:sp>
        <p:sp>
          <p:nvSpPr>
            <p:cNvPr id="77" name="AutoShape 12">
              <a:extLst>
                <a:ext uri="{FF2B5EF4-FFF2-40B4-BE49-F238E27FC236}">
                  <a16:creationId xmlns:a16="http://schemas.microsoft.com/office/drawing/2014/main" id="{AA819CA9-827A-401B-AF6F-82651E8682FF}"/>
                </a:ext>
              </a:extLst>
            </p:cNvPr>
            <p:cNvSpPr>
              <a:spLocks noChangeArrowheads="1"/>
            </p:cNvSpPr>
            <p:nvPr/>
          </p:nvSpPr>
          <p:spPr bwMode="auto">
            <a:xfrm rot="5400000">
              <a:off x="1627187" y="2403476"/>
              <a:ext cx="576263" cy="322262"/>
            </a:xfrm>
            <a:prstGeom prst="notchedRightArrow">
              <a:avLst>
                <a:gd name="adj1" fmla="val 49176"/>
                <a:gd name="adj2" fmla="val 51419"/>
              </a:avLst>
            </a:prstGeom>
            <a:noFill/>
            <a:ln w="2857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000" b="1">
                <a:latin typeface="+mn-ea"/>
                <a:ea typeface="+mn-ea"/>
              </a:endParaRPr>
            </a:p>
          </p:txBody>
        </p:sp>
        <p:sp>
          <p:nvSpPr>
            <p:cNvPr id="78" name="AutoShape 13">
              <a:extLst>
                <a:ext uri="{FF2B5EF4-FFF2-40B4-BE49-F238E27FC236}">
                  <a16:creationId xmlns:a16="http://schemas.microsoft.com/office/drawing/2014/main" id="{CD68C0FF-367E-4534-90E3-07BDFA145686}"/>
                </a:ext>
              </a:extLst>
            </p:cNvPr>
            <p:cNvSpPr>
              <a:spLocks noChangeArrowheads="1"/>
            </p:cNvSpPr>
            <p:nvPr/>
          </p:nvSpPr>
          <p:spPr bwMode="auto">
            <a:xfrm rot="5400000">
              <a:off x="1695450" y="3486150"/>
              <a:ext cx="431800" cy="317500"/>
            </a:xfrm>
            <a:prstGeom prst="notchedRightArrow">
              <a:avLst>
                <a:gd name="adj1" fmla="val 49176"/>
                <a:gd name="adj2" fmla="val 39106"/>
              </a:avLst>
            </a:prstGeom>
            <a:noFill/>
            <a:ln w="2857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000" b="1">
                <a:latin typeface="+mn-ea"/>
                <a:ea typeface="+mn-ea"/>
              </a:endParaRPr>
            </a:p>
          </p:txBody>
        </p:sp>
        <p:sp>
          <p:nvSpPr>
            <p:cNvPr id="79" name="AutoShape 14">
              <a:extLst>
                <a:ext uri="{FF2B5EF4-FFF2-40B4-BE49-F238E27FC236}">
                  <a16:creationId xmlns:a16="http://schemas.microsoft.com/office/drawing/2014/main" id="{E8E0E0B1-4894-48C7-A0D4-8D1DEFA33D42}"/>
                </a:ext>
              </a:extLst>
            </p:cNvPr>
            <p:cNvSpPr>
              <a:spLocks noChangeArrowheads="1"/>
            </p:cNvSpPr>
            <p:nvPr/>
          </p:nvSpPr>
          <p:spPr bwMode="auto">
            <a:xfrm rot="5400000">
              <a:off x="1644650" y="4583113"/>
              <a:ext cx="523875" cy="336550"/>
            </a:xfrm>
            <a:prstGeom prst="notchedRightArrow">
              <a:avLst>
                <a:gd name="adj1" fmla="val 49176"/>
                <a:gd name="adj2" fmla="val 44760"/>
              </a:avLst>
            </a:prstGeom>
            <a:noFill/>
            <a:ln w="2857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000" b="1">
                <a:latin typeface="+mn-ea"/>
                <a:ea typeface="+mn-ea"/>
              </a:endParaRPr>
            </a:p>
          </p:txBody>
        </p:sp>
        <p:sp>
          <p:nvSpPr>
            <p:cNvPr id="80" name="AutoShape 15">
              <a:extLst>
                <a:ext uri="{FF2B5EF4-FFF2-40B4-BE49-F238E27FC236}">
                  <a16:creationId xmlns:a16="http://schemas.microsoft.com/office/drawing/2014/main" id="{5F52E829-99F0-4778-9C17-2B5A26B8F139}"/>
                </a:ext>
              </a:extLst>
            </p:cNvPr>
            <p:cNvSpPr>
              <a:spLocks noChangeArrowheads="1"/>
            </p:cNvSpPr>
            <p:nvPr/>
          </p:nvSpPr>
          <p:spPr bwMode="auto">
            <a:xfrm rot="5400000">
              <a:off x="1664494" y="5663407"/>
              <a:ext cx="484187" cy="336550"/>
            </a:xfrm>
            <a:prstGeom prst="notchedRightArrow">
              <a:avLst>
                <a:gd name="adj1" fmla="val 49176"/>
                <a:gd name="adj2" fmla="val 41369"/>
              </a:avLst>
            </a:prstGeom>
            <a:noFill/>
            <a:ln w="2857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000" b="1">
                <a:latin typeface="+mn-ea"/>
                <a:ea typeface="+mn-ea"/>
              </a:endParaRPr>
            </a:p>
          </p:txBody>
        </p:sp>
        <p:sp>
          <p:nvSpPr>
            <p:cNvPr id="81" name="AutoShape 16">
              <a:extLst>
                <a:ext uri="{FF2B5EF4-FFF2-40B4-BE49-F238E27FC236}">
                  <a16:creationId xmlns:a16="http://schemas.microsoft.com/office/drawing/2014/main" id="{9FCD69AD-2C8F-4A8C-9656-6AFD70466536}"/>
                </a:ext>
              </a:extLst>
            </p:cNvPr>
            <p:cNvSpPr>
              <a:spLocks noChangeArrowheads="1"/>
            </p:cNvSpPr>
            <p:nvPr/>
          </p:nvSpPr>
          <p:spPr bwMode="auto">
            <a:xfrm>
              <a:off x="2916238" y="6242050"/>
              <a:ext cx="935037" cy="2159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latin typeface="+mn-ea"/>
              </a:endParaRPr>
            </a:p>
          </p:txBody>
        </p:sp>
        <p:sp>
          <p:nvSpPr>
            <p:cNvPr id="82" name="AutoShape 17">
              <a:extLst>
                <a:ext uri="{FF2B5EF4-FFF2-40B4-BE49-F238E27FC236}">
                  <a16:creationId xmlns:a16="http://schemas.microsoft.com/office/drawing/2014/main" id="{1A1FF291-AC40-487C-AC29-1D11CDBCD8C8}"/>
                </a:ext>
              </a:extLst>
            </p:cNvPr>
            <p:cNvSpPr>
              <a:spLocks noChangeArrowheads="1"/>
            </p:cNvSpPr>
            <p:nvPr/>
          </p:nvSpPr>
          <p:spPr bwMode="auto">
            <a:xfrm>
              <a:off x="2916238" y="5157788"/>
              <a:ext cx="935037" cy="2159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latin typeface="+mn-ea"/>
              </a:endParaRPr>
            </a:p>
          </p:txBody>
        </p:sp>
        <p:sp>
          <p:nvSpPr>
            <p:cNvPr id="83" name="AutoShape 18">
              <a:extLst>
                <a:ext uri="{FF2B5EF4-FFF2-40B4-BE49-F238E27FC236}">
                  <a16:creationId xmlns:a16="http://schemas.microsoft.com/office/drawing/2014/main" id="{5153C839-EA38-4FDE-9C27-EFEF0C1DBED3}"/>
                </a:ext>
              </a:extLst>
            </p:cNvPr>
            <p:cNvSpPr>
              <a:spLocks noChangeArrowheads="1"/>
            </p:cNvSpPr>
            <p:nvPr/>
          </p:nvSpPr>
          <p:spPr bwMode="auto">
            <a:xfrm>
              <a:off x="2916238" y="4076700"/>
              <a:ext cx="935037" cy="2159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latin typeface="+mn-ea"/>
              </a:endParaRPr>
            </a:p>
          </p:txBody>
        </p:sp>
        <p:sp>
          <p:nvSpPr>
            <p:cNvPr id="84" name="AutoShape 19">
              <a:extLst>
                <a:ext uri="{FF2B5EF4-FFF2-40B4-BE49-F238E27FC236}">
                  <a16:creationId xmlns:a16="http://schemas.microsoft.com/office/drawing/2014/main" id="{17C4CF61-63B1-4830-863D-2B3CE708F934}"/>
                </a:ext>
              </a:extLst>
            </p:cNvPr>
            <p:cNvSpPr>
              <a:spLocks noChangeArrowheads="1"/>
            </p:cNvSpPr>
            <p:nvPr/>
          </p:nvSpPr>
          <p:spPr bwMode="auto">
            <a:xfrm rot="-1565820">
              <a:off x="2916238" y="2852738"/>
              <a:ext cx="935037" cy="2159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latin typeface="+mn-ea"/>
              </a:endParaRPr>
            </a:p>
          </p:txBody>
        </p:sp>
      </p:grpSp>
    </p:spTree>
    <p:extLst>
      <p:ext uri="{BB962C8B-B14F-4D97-AF65-F5344CB8AC3E}">
        <p14:creationId xmlns:p14="http://schemas.microsoft.com/office/powerpoint/2010/main" val="3960869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生态保护与恢复技术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67" name="Group 9">
            <a:extLst>
              <a:ext uri="{FF2B5EF4-FFF2-40B4-BE49-F238E27FC236}">
                <a16:creationId xmlns:a16="http://schemas.microsoft.com/office/drawing/2014/main" id="{6F03009A-EF4F-4F94-A8D0-099CA415B3C5}"/>
              </a:ext>
            </a:extLst>
          </p:cNvPr>
          <p:cNvGrpSpPr/>
          <p:nvPr/>
        </p:nvGrpSpPr>
        <p:grpSpPr>
          <a:xfrm>
            <a:off x="3062000" y="3331932"/>
            <a:ext cx="7566238" cy="962601"/>
            <a:chOff x="5925310" y="1577851"/>
            <a:chExt cx="8532751" cy="853142"/>
          </a:xfrm>
        </p:grpSpPr>
        <p:sp>
          <p:nvSpPr>
            <p:cNvPr id="71" name="TextBox 10">
              <a:extLst>
                <a:ext uri="{FF2B5EF4-FFF2-40B4-BE49-F238E27FC236}">
                  <a16:creationId xmlns:a16="http://schemas.microsoft.com/office/drawing/2014/main" id="{AB14FAA3-A65F-4850-BA69-83107134640E}"/>
                </a:ext>
              </a:extLst>
            </p:cNvPr>
            <p:cNvSpPr txBox="1"/>
            <p:nvPr/>
          </p:nvSpPr>
          <p:spPr>
            <a:xfrm>
              <a:off x="5925310" y="1577851"/>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生态工程技术</a:t>
              </a:r>
            </a:p>
          </p:txBody>
        </p:sp>
        <p:sp>
          <p:nvSpPr>
            <p:cNvPr id="72" name="TextBox 11">
              <a:extLst>
                <a:ext uri="{FF2B5EF4-FFF2-40B4-BE49-F238E27FC236}">
                  <a16:creationId xmlns:a16="http://schemas.microsoft.com/office/drawing/2014/main" id="{1A67078A-B7EC-41F8-83FB-70E3E973497E}"/>
                </a:ext>
              </a:extLst>
            </p:cNvPr>
            <p:cNvSpPr txBox="1"/>
            <p:nvPr/>
          </p:nvSpPr>
          <p:spPr>
            <a:xfrm>
              <a:off x="5982797" y="2022450"/>
              <a:ext cx="8475264" cy="408543"/>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运用生态学原理和方法设计建造的工程系统，用于解决生态环境保护与恢复中的问题。</a:t>
              </a:r>
            </a:p>
          </p:txBody>
        </p:sp>
      </p:grpSp>
      <p:grpSp>
        <p:nvGrpSpPr>
          <p:cNvPr id="28" name="组合 27">
            <a:extLst>
              <a:ext uri="{FF2B5EF4-FFF2-40B4-BE49-F238E27FC236}">
                <a16:creationId xmlns:a16="http://schemas.microsoft.com/office/drawing/2014/main" id="{F6B1456D-526B-4058-B9AE-744EB1696BE6}"/>
              </a:ext>
            </a:extLst>
          </p:cNvPr>
          <p:cNvGrpSpPr/>
          <p:nvPr/>
        </p:nvGrpSpPr>
        <p:grpSpPr>
          <a:xfrm>
            <a:off x="1314057" y="1599302"/>
            <a:ext cx="1153635" cy="1232261"/>
            <a:chOff x="539110" y="1488377"/>
            <a:chExt cx="1511760" cy="1373901"/>
          </a:xfrm>
          <a:solidFill>
            <a:srgbClr val="4472C4"/>
          </a:solidFill>
        </p:grpSpPr>
        <p:sp>
          <p:nvSpPr>
            <p:cNvPr id="34" name="Freeform 3">
              <a:extLst>
                <a:ext uri="{FF2B5EF4-FFF2-40B4-BE49-F238E27FC236}">
                  <a16:creationId xmlns:a16="http://schemas.microsoft.com/office/drawing/2014/main" id="{73F835EE-5C55-4355-9B20-D9B17BED8B7D}"/>
                </a:ext>
              </a:extLst>
            </p:cNvPr>
            <p:cNvSpPr/>
            <p:nvPr/>
          </p:nvSpPr>
          <p:spPr>
            <a:xfrm>
              <a:off x="539110" y="1488377"/>
              <a:ext cx="1511760" cy="1373901"/>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close/>
                </a:path>
              </a:pathLst>
            </a:custGeom>
            <a:grpFill/>
            <a:ln/>
          </p:spPr>
        </p:sp>
        <p:sp>
          <p:nvSpPr>
            <p:cNvPr id="35" name="TextBox 4">
              <a:extLst>
                <a:ext uri="{FF2B5EF4-FFF2-40B4-BE49-F238E27FC236}">
                  <a16:creationId xmlns:a16="http://schemas.microsoft.com/office/drawing/2014/main" id="{835B1775-FE2F-46CD-80A6-62C1614227A3}"/>
                </a:ext>
              </a:extLst>
            </p:cNvPr>
            <p:cNvSpPr txBox="1"/>
            <p:nvPr/>
          </p:nvSpPr>
          <p:spPr>
            <a:xfrm>
              <a:off x="782590" y="1621352"/>
              <a:ext cx="953268" cy="1138773"/>
            </a:xfrm>
            <a:prstGeom prst="rect">
              <a:avLst/>
            </a:prstGeom>
            <a:grpFill/>
            <a:ln/>
          </p:spPr>
          <p:txBody>
            <a:bodyPr vert="horz" wrap="square" lIns="123825" tIns="123825" rIns="57150" bIns="123825" rtlCol="0" anchor="t" anchorCtr="0">
              <a:spAutoFit/>
            </a:bodyPr>
            <a:lstStyle/>
            <a:p>
              <a:pPr algn="ctr"/>
              <a:r>
                <a:rPr lang="en-US" sz="5775" b="1" dirty="0">
                  <a:solidFill>
                    <a:srgbClr val="FFFFFF">
                      <a:alpha val="100000"/>
                    </a:srgbClr>
                  </a:solidFill>
                  <a:latin typeface="Microsoft Yahei"/>
                  <a:ea typeface="Microsoft Yahei"/>
                  <a:cs typeface="Microsoft Yahei"/>
                </a:rPr>
                <a:t>1</a:t>
              </a:r>
            </a:p>
          </p:txBody>
        </p:sp>
      </p:grpSp>
      <p:grpSp>
        <p:nvGrpSpPr>
          <p:cNvPr id="37" name="Group 9">
            <a:extLst>
              <a:ext uri="{FF2B5EF4-FFF2-40B4-BE49-F238E27FC236}">
                <a16:creationId xmlns:a16="http://schemas.microsoft.com/office/drawing/2014/main" id="{0A8A4520-F4C8-456F-9256-747A2E53BE5D}"/>
              </a:ext>
            </a:extLst>
          </p:cNvPr>
          <p:cNvGrpSpPr/>
          <p:nvPr/>
        </p:nvGrpSpPr>
        <p:grpSpPr>
          <a:xfrm>
            <a:off x="3037536" y="1619392"/>
            <a:ext cx="7208428" cy="1331934"/>
            <a:chOff x="5925310" y="1577851"/>
            <a:chExt cx="6633724" cy="1180477"/>
          </a:xfrm>
        </p:grpSpPr>
        <p:sp>
          <p:nvSpPr>
            <p:cNvPr id="38" name="TextBox 10">
              <a:extLst>
                <a:ext uri="{FF2B5EF4-FFF2-40B4-BE49-F238E27FC236}">
                  <a16:creationId xmlns:a16="http://schemas.microsoft.com/office/drawing/2014/main" id="{2B50B84D-B0F9-457B-A3AF-E2A5113E19CD}"/>
                </a:ext>
              </a:extLst>
            </p:cNvPr>
            <p:cNvSpPr txBox="1"/>
            <p:nvPr/>
          </p:nvSpPr>
          <p:spPr>
            <a:xfrm>
              <a:off x="5925310" y="1577851"/>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生态修复技术</a:t>
              </a:r>
            </a:p>
          </p:txBody>
        </p:sp>
        <p:sp>
          <p:nvSpPr>
            <p:cNvPr id="39" name="TextBox 11">
              <a:extLst>
                <a:ext uri="{FF2B5EF4-FFF2-40B4-BE49-F238E27FC236}">
                  <a16:creationId xmlns:a16="http://schemas.microsoft.com/office/drawing/2014/main" id="{91628E70-70BE-4C24-BE93-C7D161AD07AA}"/>
                </a:ext>
              </a:extLst>
            </p:cNvPr>
            <p:cNvSpPr txBox="1"/>
            <p:nvPr/>
          </p:nvSpPr>
          <p:spPr>
            <a:xfrm>
              <a:off x="5925310" y="2022450"/>
              <a:ext cx="6633724" cy="735878"/>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包括植被恢复、土壤改良、生物多样性保护等技术手段，用于改善受损生态系统的结构和功能。</a:t>
              </a:r>
            </a:p>
          </p:txBody>
        </p:sp>
      </p:grpSp>
      <p:grpSp>
        <p:nvGrpSpPr>
          <p:cNvPr id="40" name="Group 9">
            <a:extLst>
              <a:ext uri="{FF2B5EF4-FFF2-40B4-BE49-F238E27FC236}">
                <a16:creationId xmlns:a16="http://schemas.microsoft.com/office/drawing/2014/main" id="{71962EE9-DC9D-4D8E-9A02-41E7EADCBF29}"/>
              </a:ext>
            </a:extLst>
          </p:cNvPr>
          <p:cNvGrpSpPr/>
          <p:nvPr/>
        </p:nvGrpSpPr>
        <p:grpSpPr>
          <a:xfrm>
            <a:off x="3062000" y="5013627"/>
            <a:ext cx="7495770" cy="1296831"/>
            <a:chOff x="5947442" y="1608962"/>
            <a:chExt cx="8510619" cy="1149366"/>
          </a:xfrm>
        </p:grpSpPr>
        <p:sp>
          <p:nvSpPr>
            <p:cNvPr id="41" name="TextBox 10">
              <a:extLst>
                <a:ext uri="{FF2B5EF4-FFF2-40B4-BE49-F238E27FC236}">
                  <a16:creationId xmlns:a16="http://schemas.microsoft.com/office/drawing/2014/main" id="{4CF71677-8E43-400F-967B-2A69C9987890}"/>
                </a:ext>
              </a:extLst>
            </p:cNvPr>
            <p:cNvSpPr txBox="1"/>
            <p:nvPr/>
          </p:nvSpPr>
          <p:spPr>
            <a:xfrm>
              <a:off x="5947442" y="1608962"/>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自然保护区管理技术</a:t>
              </a:r>
            </a:p>
          </p:txBody>
        </p:sp>
        <p:sp>
          <p:nvSpPr>
            <p:cNvPr id="42" name="TextBox 11">
              <a:extLst>
                <a:ext uri="{FF2B5EF4-FFF2-40B4-BE49-F238E27FC236}">
                  <a16:creationId xmlns:a16="http://schemas.microsoft.com/office/drawing/2014/main" id="{ACD9879E-DFA0-4014-A4D9-E15D1BD7DF60}"/>
                </a:ext>
              </a:extLst>
            </p:cNvPr>
            <p:cNvSpPr txBox="1"/>
            <p:nvPr/>
          </p:nvSpPr>
          <p:spPr>
            <a:xfrm>
              <a:off x="5982797" y="2022450"/>
              <a:ext cx="8475264" cy="735878"/>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包括保护区规划、物种保护、生态监测等技术手段，用于保护和管理自然保护区内的生物多样性和生态环境。</a:t>
              </a:r>
            </a:p>
          </p:txBody>
        </p:sp>
      </p:grpSp>
      <p:grpSp>
        <p:nvGrpSpPr>
          <p:cNvPr id="43" name="组合 42">
            <a:extLst>
              <a:ext uri="{FF2B5EF4-FFF2-40B4-BE49-F238E27FC236}">
                <a16:creationId xmlns:a16="http://schemas.microsoft.com/office/drawing/2014/main" id="{EF3CF83F-EB78-4D1F-AE8A-B95E2027E8B4}"/>
              </a:ext>
            </a:extLst>
          </p:cNvPr>
          <p:cNvGrpSpPr/>
          <p:nvPr/>
        </p:nvGrpSpPr>
        <p:grpSpPr>
          <a:xfrm>
            <a:off x="1369642" y="3306197"/>
            <a:ext cx="1153635" cy="1232261"/>
            <a:chOff x="539110" y="1488377"/>
            <a:chExt cx="1511760" cy="1373901"/>
          </a:xfrm>
          <a:solidFill>
            <a:srgbClr val="4472C4"/>
          </a:solidFill>
        </p:grpSpPr>
        <p:sp>
          <p:nvSpPr>
            <p:cNvPr id="44" name="Freeform 3">
              <a:extLst>
                <a:ext uri="{FF2B5EF4-FFF2-40B4-BE49-F238E27FC236}">
                  <a16:creationId xmlns:a16="http://schemas.microsoft.com/office/drawing/2014/main" id="{965E4716-5539-4927-B143-04202B65B063}"/>
                </a:ext>
              </a:extLst>
            </p:cNvPr>
            <p:cNvSpPr/>
            <p:nvPr/>
          </p:nvSpPr>
          <p:spPr>
            <a:xfrm>
              <a:off x="539110" y="1488377"/>
              <a:ext cx="1511760" cy="1373901"/>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close/>
                </a:path>
              </a:pathLst>
            </a:custGeom>
            <a:grpFill/>
            <a:ln/>
          </p:spPr>
        </p:sp>
        <p:sp>
          <p:nvSpPr>
            <p:cNvPr id="45" name="TextBox 4">
              <a:extLst>
                <a:ext uri="{FF2B5EF4-FFF2-40B4-BE49-F238E27FC236}">
                  <a16:creationId xmlns:a16="http://schemas.microsoft.com/office/drawing/2014/main" id="{684B5BCF-8CEF-4BC3-AFEA-C7941214A507}"/>
                </a:ext>
              </a:extLst>
            </p:cNvPr>
            <p:cNvSpPr txBox="1"/>
            <p:nvPr/>
          </p:nvSpPr>
          <p:spPr>
            <a:xfrm>
              <a:off x="793491" y="1543479"/>
              <a:ext cx="953268" cy="1269667"/>
            </a:xfrm>
            <a:prstGeom prst="rect">
              <a:avLst/>
            </a:prstGeom>
            <a:grpFill/>
            <a:ln/>
          </p:spPr>
          <p:txBody>
            <a:bodyPr vert="horz" wrap="square" lIns="123825" tIns="123825" rIns="57150" bIns="123825" rtlCol="0" anchor="t" anchorCtr="0">
              <a:spAutoFit/>
            </a:bodyPr>
            <a:lstStyle/>
            <a:p>
              <a:pPr algn="ctr"/>
              <a:r>
                <a:rPr lang="en-US" sz="5775" b="1" dirty="0">
                  <a:solidFill>
                    <a:srgbClr val="FFFFFF">
                      <a:alpha val="100000"/>
                    </a:srgbClr>
                  </a:solidFill>
                  <a:latin typeface="Microsoft Yahei"/>
                  <a:ea typeface="Microsoft Yahei"/>
                  <a:cs typeface="Microsoft Yahei"/>
                </a:rPr>
                <a:t>2</a:t>
              </a:r>
            </a:p>
          </p:txBody>
        </p:sp>
      </p:grpSp>
      <p:grpSp>
        <p:nvGrpSpPr>
          <p:cNvPr id="46" name="组合 45">
            <a:extLst>
              <a:ext uri="{FF2B5EF4-FFF2-40B4-BE49-F238E27FC236}">
                <a16:creationId xmlns:a16="http://schemas.microsoft.com/office/drawing/2014/main" id="{84AF11BA-E639-41C2-BEDC-02460D3F3E37}"/>
              </a:ext>
            </a:extLst>
          </p:cNvPr>
          <p:cNvGrpSpPr/>
          <p:nvPr/>
        </p:nvGrpSpPr>
        <p:grpSpPr>
          <a:xfrm>
            <a:off x="1408402" y="5013627"/>
            <a:ext cx="1153635" cy="1232261"/>
            <a:chOff x="539110" y="1488377"/>
            <a:chExt cx="1511760" cy="1373901"/>
          </a:xfrm>
          <a:solidFill>
            <a:srgbClr val="4472C4"/>
          </a:solidFill>
        </p:grpSpPr>
        <p:sp>
          <p:nvSpPr>
            <p:cNvPr id="47" name="Freeform 3">
              <a:extLst>
                <a:ext uri="{FF2B5EF4-FFF2-40B4-BE49-F238E27FC236}">
                  <a16:creationId xmlns:a16="http://schemas.microsoft.com/office/drawing/2014/main" id="{D41F96F9-0459-4F09-A46B-05017E13818A}"/>
                </a:ext>
              </a:extLst>
            </p:cNvPr>
            <p:cNvSpPr/>
            <p:nvPr/>
          </p:nvSpPr>
          <p:spPr>
            <a:xfrm>
              <a:off x="539110" y="1488377"/>
              <a:ext cx="1511760" cy="1373901"/>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close/>
                </a:path>
              </a:pathLst>
            </a:custGeom>
            <a:grpFill/>
            <a:ln/>
          </p:spPr>
        </p:sp>
        <p:sp>
          <p:nvSpPr>
            <p:cNvPr id="48" name="TextBox 4">
              <a:extLst>
                <a:ext uri="{FF2B5EF4-FFF2-40B4-BE49-F238E27FC236}">
                  <a16:creationId xmlns:a16="http://schemas.microsoft.com/office/drawing/2014/main" id="{EC1B567A-1EB4-4E77-8592-A4BF323E8CD8}"/>
                </a:ext>
              </a:extLst>
            </p:cNvPr>
            <p:cNvSpPr txBox="1"/>
            <p:nvPr/>
          </p:nvSpPr>
          <p:spPr>
            <a:xfrm>
              <a:off x="785677" y="1579161"/>
              <a:ext cx="953268" cy="1269667"/>
            </a:xfrm>
            <a:prstGeom prst="rect">
              <a:avLst/>
            </a:prstGeom>
            <a:grpFill/>
            <a:ln/>
          </p:spPr>
          <p:txBody>
            <a:bodyPr vert="horz" wrap="square" lIns="123825" tIns="123825" rIns="57150" bIns="123825" rtlCol="0" anchor="t" anchorCtr="0">
              <a:spAutoFit/>
            </a:bodyPr>
            <a:lstStyle/>
            <a:p>
              <a:pPr algn="ctr"/>
              <a:r>
                <a:rPr lang="en-US" sz="5775" b="1" dirty="0">
                  <a:solidFill>
                    <a:srgbClr val="FFFFFF">
                      <a:alpha val="100000"/>
                    </a:srgbClr>
                  </a:solidFill>
                  <a:latin typeface="Microsoft Yahei"/>
                  <a:ea typeface="Microsoft Yahei"/>
                  <a:cs typeface="Microsoft Yahei"/>
                </a:rPr>
                <a:t>3</a:t>
              </a:r>
            </a:p>
          </p:txBody>
        </p:sp>
      </p:grpSp>
    </p:spTree>
    <p:extLst>
      <p:ext uri="{BB962C8B-B14F-4D97-AF65-F5344CB8AC3E}">
        <p14:creationId xmlns:p14="http://schemas.microsoft.com/office/powerpoint/2010/main" val="3373923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256157" y="2737047"/>
            <a:ext cx="7935844" cy="1048300"/>
          </a:xfrm>
          <a:prstGeom prst="rect">
            <a:avLst/>
          </a:prstGeom>
        </p:spPr>
        <p:txBody>
          <a:bodyPr vert="horz" wrap="square" lIns="114300" tIns="57150" rIns="114300" bIns="57150" rtlCol="0" anchor="t" anchorCtr="0">
            <a:spAutoFit/>
          </a:bodyPr>
          <a:lstStyle/>
          <a:p>
            <a:pPr lvl="0">
              <a:lnSpc>
                <a:spcPct val="120000"/>
              </a:lnSpc>
            </a:pPr>
            <a:r>
              <a:rPr lang="zh-CN" altLang="en-US" sz="5400" b="1" dirty="0">
                <a:solidFill>
                  <a:srgbClr val="2C4E8C"/>
                </a:solidFill>
                <a:latin typeface="等线" panose="02010600030101010101" pitchFamily="2" charset="-122"/>
                <a:cs typeface="Arial" panose="020B0604020202020204" pitchFamily="34" charset="0"/>
              </a:rPr>
              <a:t>案例分析与实践经验分享</a:t>
            </a:r>
          </a:p>
        </p:txBody>
      </p:sp>
      <p:sp>
        <p:nvSpPr>
          <p:cNvPr id="3" name="TextBox 3"/>
          <p:cNvSpPr txBox="1"/>
          <p:nvPr/>
        </p:nvSpPr>
        <p:spPr>
          <a:xfrm>
            <a:off x="1217733" y="3030076"/>
            <a:ext cx="2148230" cy="755271"/>
          </a:xfrm>
          <a:prstGeom prst="rect">
            <a:avLst/>
          </a:prstGeom>
        </p:spPr>
        <p:txBody>
          <a:bodyPr vert="horz" wrap="square" lIns="114300" tIns="57150" rIns="114300" bIns="57150" rtlCol="0" anchor="ctr" anchorCtr="0">
            <a:spAutoFit/>
          </a:bodyPr>
          <a:lstStyle/>
          <a:p>
            <a:pPr marL="0" marR="0" lvl="0" indent="0" algn="ctr" defTabSz="914400" rtl="0" eaLnBrk="1" fontAlgn="auto" latinLnBrk="0" hangingPunct="1">
              <a:lnSpc>
                <a:spcPct val="77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2C4E8C"/>
                </a:solidFill>
                <a:effectLst/>
                <a:uLnTx/>
                <a:uFillTx/>
                <a:latin typeface="Arial"/>
                <a:ea typeface="Arial"/>
                <a:cs typeface="Arial"/>
              </a:rPr>
              <a:t>04</a:t>
            </a:r>
          </a:p>
        </p:txBody>
      </p:sp>
    </p:spTree>
    <p:extLst>
      <p:ext uri="{BB962C8B-B14F-4D97-AF65-F5344CB8AC3E}">
        <p14:creationId xmlns:p14="http://schemas.microsoft.com/office/powerpoint/2010/main" val="1728873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2"/>
          <p:cNvCxnSpPr/>
          <p:nvPr/>
        </p:nvCxnSpPr>
        <p:spPr>
          <a:xfrm>
            <a:off x="1209188" y="1082466"/>
            <a:ext cx="0" cy="5775534"/>
          </a:xfrm>
          <a:prstGeom prst="line">
            <a:avLst/>
          </a:prstGeom>
          <a:ln w="19050">
            <a:solidFill>
              <a:schemeClr val="accent1"/>
            </a:solidFill>
            <a:prstDash val="solid"/>
            <a:headEnd type="oval"/>
            <a:tailEnd type="none"/>
          </a:ln>
        </p:spPr>
        <p:style>
          <a:lnRef idx="0">
            <a:schemeClr val="accent1"/>
          </a:lnRef>
          <a:fillRef idx="1">
            <a:schemeClr val="accent1"/>
          </a:fillRef>
          <a:effectRef idx="0">
            <a:schemeClr val="accent1"/>
          </a:effectRef>
          <a:fontRef idx="minor">
            <a:schemeClr val="lt1"/>
          </a:fontRef>
        </p:style>
      </p:cxnSp>
      <p:sp>
        <p:nvSpPr>
          <p:cNvPr id="3" name="AutoShape 3"/>
          <p:cNvSpPr/>
          <p:nvPr/>
        </p:nvSpPr>
        <p:spPr>
          <a:xfrm>
            <a:off x="873196" y="1332346"/>
            <a:ext cx="669478" cy="669478"/>
          </a:xfrm>
          <a:prstGeom prst="ellipse">
            <a:avLst/>
          </a:prstGeom>
          <a:solidFill>
            <a:schemeClr val="accent2">
              <a:alpha val="42000"/>
            </a:schemeClr>
          </a:solidFill>
          <a:ln/>
        </p:spPr>
      </p:sp>
      <p:sp>
        <p:nvSpPr>
          <p:cNvPr id="4" name="AutoShape 4"/>
          <p:cNvSpPr/>
          <p:nvPr/>
        </p:nvSpPr>
        <p:spPr>
          <a:xfrm>
            <a:off x="988282" y="1447432"/>
            <a:ext cx="439305" cy="439305"/>
          </a:xfrm>
          <a:prstGeom prst="ellipse">
            <a:avLst/>
          </a:prstGeom>
          <a:solidFill>
            <a:schemeClr val="accent1">
              <a:alpha val="100000"/>
            </a:schemeClr>
          </a:solidFill>
          <a:ln/>
        </p:spPr>
      </p:sp>
      <p:sp>
        <p:nvSpPr>
          <p:cNvPr id="5" name="AutoShape 5"/>
          <p:cNvSpPr/>
          <p:nvPr/>
        </p:nvSpPr>
        <p:spPr>
          <a:xfrm>
            <a:off x="2152036" y="1308906"/>
            <a:ext cx="9189734" cy="644550"/>
          </a:xfrm>
          <a:prstGeom prst="roundRect">
            <a:avLst/>
          </a:prstGeom>
          <a:solidFill>
            <a:srgbClr val="4472C4"/>
          </a:solidFill>
          <a:ln/>
        </p:spPr>
      </p:sp>
      <p:sp>
        <p:nvSpPr>
          <p:cNvPr id="6" name="AutoShape 6"/>
          <p:cNvSpPr/>
          <p:nvPr/>
        </p:nvSpPr>
        <p:spPr>
          <a:xfrm rot="-5400000">
            <a:off x="1919801" y="1473900"/>
            <a:ext cx="276816" cy="314563"/>
          </a:xfrm>
          <a:prstGeom prst="triangle">
            <a:avLst/>
          </a:prstGeom>
          <a:solidFill>
            <a:srgbClr val="4472C4"/>
          </a:solidFill>
          <a:ln/>
        </p:spPr>
      </p:sp>
      <p:sp>
        <p:nvSpPr>
          <p:cNvPr id="7" name="AutoShape 7"/>
          <p:cNvSpPr/>
          <p:nvPr/>
        </p:nvSpPr>
        <p:spPr>
          <a:xfrm>
            <a:off x="2152036" y="3067327"/>
            <a:ext cx="9189734" cy="644550"/>
          </a:xfrm>
          <a:prstGeom prst="roundRect">
            <a:avLst/>
          </a:prstGeom>
          <a:solidFill>
            <a:srgbClr val="4472C4"/>
          </a:solidFill>
          <a:ln/>
        </p:spPr>
      </p:sp>
      <p:sp>
        <p:nvSpPr>
          <p:cNvPr id="8" name="AutoShape 8"/>
          <p:cNvSpPr/>
          <p:nvPr/>
        </p:nvSpPr>
        <p:spPr>
          <a:xfrm rot="-5400000">
            <a:off x="1919801" y="3232320"/>
            <a:ext cx="276816" cy="314563"/>
          </a:xfrm>
          <a:prstGeom prst="triangle">
            <a:avLst/>
          </a:prstGeom>
          <a:solidFill>
            <a:srgbClr val="4472C4"/>
          </a:solidFill>
          <a:ln/>
        </p:spPr>
      </p:sp>
      <p:sp>
        <p:nvSpPr>
          <p:cNvPr id="9" name="AutoShape 9"/>
          <p:cNvSpPr/>
          <p:nvPr/>
        </p:nvSpPr>
        <p:spPr>
          <a:xfrm>
            <a:off x="2152036" y="4825747"/>
            <a:ext cx="9189734" cy="644550"/>
          </a:xfrm>
          <a:prstGeom prst="roundRect">
            <a:avLst/>
          </a:prstGeom>
          <a:solidFill>
            <a:srgbClr val="4472C4"/>
          </a:solidFill>
          <a:ln/>
        </p:spPr>
      </p:sp>
      <p:sp>
        <p:nvSpPr>
          <p:cNvPr id="10" name="AutoShape 10"/>
          <p:cNvSpPr/>
          <p:nvPr/>
        </p:nvSpPr>
        <p:spPr>
          <a:xfrm rot="-5400000">
            <a:off x="1919801" y="4990741"/>
            <a:ext cx="276816" cy="314563"/>
          </a:xfrm>
          <a:prstGeom prst="triangle">
            <a:avLst/>
          </a:prstGeom>
          <a:solidFill>
            <a:srgbClr val="4472C4"/>
          </a:solidFill>
          <a:ln/>
        </p:spPr>
      </p:sp>
      <p:sp>
        <p:nvSpPr>
          <p:cNvPr id="11" name="TextBox 11"/>
          <p:cNvSpPr txBox="1"/>
          <p:nvPr/>
        </p:nvSpPr>
        <p:spPr>
          <a:xfrm>
            <a:off x="2272111" y="1332346"/>
            <a:ext cx="8763000" cy="554392"/>
          </a:xfrm>
          <a:prstGeom prst="rect">
            <a:avLst/>
          </a:prstGeom>
          <a:ln/>
        </p:spPr>
        <p:txBody>
          <a:bodyPr vert="horz" wrap="square" lIns="0" tIns="0" rIns="0" bIns="0" rtlCol="0" anchor="ctr" anchorCtr="0">
            <a:normAutofit/>
          </a:bodyPr>
          <a:lstStyle/>
          <a:p>
            <a:pPr>
              <a:lnSpc>
                <a:spcPct val="150000"/>
              </a:lnSpc>
            </a:pPr>
            <a:r>
              <a:rPr lang="zh-CN" altLang="en-US" sz="2000" b="1" dirty="0">
                <a:solidFill>
                  <a:srgbClr val="FFFFFF">
                    <a:alpha val="100000"/>
                  </a:srgbClr>
                </a:solidFill>
                <a:latin typeface="+mn-ea"/>
                <a:cs typeface="Microsoft Yahei"/>
              </a:rPr>
              <a:t>河流污染治理</a:t>
            </a:r>
            <a:endParaRPr lang="en-US" sz="2000" b="1" dirty="0">
              <a:solidFill>
                <a:srgbClr val="FFFFFF">
                  <a:alpha val="100000"/>
                </a:srgbClr>
              </a:solidFill>
              <a:latin typeface="+mn-ea"/>
              <a:cs typeface="Microsoft Yahei"/>
            </a:endParaRPr>
          </a:p>
        </p:txBody>
      </p:sp>
      <p:sp>
        <p:nvSpPr>
          <p:cNvPr id="12" name="TextBox 12"/>
          <p:cNvSpPr txBox="1"/>
          <p:nvPr/>
        </p:nvSpPr>
        <p:spPr>
          <a:xfrm>
            <a:off x="2260628" y="2068171"/>
            <a:ext cx="8972550" cy="763780"/>
          </a:xfrm>
          <a:prstGeom prst="rect">
            <a:avLst/>
          </a:prstGeom>
          <a:ln/>
        </p:spPr>
        <p:txBody>
          <a:bodyPr vert="horz" wrap="square" lIns="0" tIns="0" rIns="0" bIns="0" rtlCol="0" anchor="t" anchorCtr="0">
            <a:normAutofit/>
          </a:bodyPr>
          <a:lstStyle/>
          <a:p>
            <a:pPr>
              <a:lnSpc>
                <a:spcPct val="140000"/>
              </a:lnSpc>
            </a:pPr>
            <a:r>
              <a:rPr lang="zh-CN" altLang="en-US" sz="1600" b="1" dirty="0">
                <a:solidFill>
                  <a:schemeClr val="dk1">
                    <a:alpha val="100000"/>
                  </a:schemeClr>
                </a:solidFill>
                <a:latin typeface="+mn-ea"/>
                <a:cs typeface="Microsoft Yahei"/>
              </a:rPr>
              <a:t>分析河流污染成因，查找污染源，如工业废水排放、生活污水直排等，采取治理措施，如建设污水处理厂、实施河道清淤等，并评估治理效果。</a:t>
            </a:r>
          </a:p>
        </p:txBody>
      </p:sp>
      <p:sp>
        <p:nvSpPr>
          <p:cNvPr id="15" name="TextBox 15"/>
          <p:cNvSpPr txBox="1"/>
          <p:nvPr/>
        </p:nvSpPr>
        <p:spPr>
          <a:xfrm>
            <a:off x="2329113" y="4825747"/>
            <a:ext cx="8766979" cy="644550"/>
          </a:xfrm>
          <a:prstGeom prst="rect">
            <a:avLst/>
          </a:prstGeom>
          <a:ln/>
        </p:spPr>
        <p:txBody>
          <a:bodyPr vert="horz" wrap="square" lIns="0" tIns="0" rIns="0" bIns="0" rtlCol="0" anchor="ctr" anchorCtr="0">
            <a:normAutofit/>
          </a:bodyPr>
          <a:lstStyle/>
          <a:p>
            <a:pPr>
              <a:lnSpc>
                <a:spcPct val="150000"/>
              </a:lnSpc>
            </a:pPr>
            <a:r>
              <a:rPr lang="en-US" sz="1800" b="1">
                <a:solidFill>
                  <a:srgbClr val="FFFFFF">
                    <a:alpha val="100000"/>
                  </a:srgbClr>
                </a:solidFill>
                <a:latin typeface="Microsoft Yahei"/>
                <a:ea typeface="Microsoft Yahei"/>
                <a:cs typeface="Microsoft Yahei"/>
              </a:rPr>
              <a:t>土壤污染治理</a:t>
            </a:r>
          </a:p>
        </p:txBody>
      </p:sp>
      <p:sp>
        <p:nvSpPr>
          <p:cNvPr id="17" name="AutoShape 17"/>
          <p:cNvSpPr/>
          <p:nvPr/>
        </p:nvSpPr>
        <p:spPr>
          <a:xfrm>
            <a:off x="873196" y="3067327"/>
            <a:ext cx="669478" cy="669478"/>
          </a:xfrm>
          <a:prstGeom prst="ellipse">
            <a:avLst/>
          </a:prstGeom>
          <a:solidFill>
            <a:schemeClr val="accent2">
              <a:alpha val="42000"/>
            </a:schemeClr>
          </a:solidFill>
          <a:ln/>
        </p:spPr>
      </p:sp>
      <p:sp>
        <p:nvSpPr>
          <p:cNvPr id="18" name="AutoShape 18"/>
          <p:cNvSpPr/>
          <p:nvPr/>
        </p:nvSpPr>
        <p:spPr>
          <a:xfrm>
            <a:off x="988282" y="3182413"/>
            <a:ext cx="439305" cy="439305"/>
          </a:xfrm>
          <a:prstGeom prst="ellipse">
            <a:avLst/>
          </a:prstGeom>
          <a:solidFill>
            <a:schemeClr val="accent1">
              <a:alpha val="100000"/>
            </a:schemeClr>
          </a:solidFill>
          <a:ln/>
        </p:spPr>
      </p:sp>
      <p:sp>
        <p:nvSpPr>
          <p:cNvPr id="19" name="AutoShape 19"/>
          <p:cNvSpPr/>
          <p:nvPr/>
        </p:nvSpPr>
        <p:spPr>
          <a:xfrm>
            <a:off x="873196" y="4825747"/>
            <a:ext cx="669478" cy="669478"/>
          </a:xfrm>
          <a:prstGeom prst="ellipse">
            <a:avLst/>
          </a:prstGeom>
          <a:solidFill>
            <a:schemeClr val="accent2">
              <a:alpha val="42000"/>
            </a:schemeClr>
          </a:solidFill>
          <a:ln/>
        </p:spPr>
      </p:sp>
      <p:sp>
        <p:nvSpPr>
          <p:cNvPr id="20" name="AutoShape 20"/>
          <p:cNvSpPr/>
          <p:nvPr/>
        </p:nvSpPr>
        <p:spPr>
          <a:xfrm>
            <a:off x="988282" y="4940833"/>
            <a:ext cx="439305" cy="439305"/>
          </a:xfrm>
          <a:prstGeom prst="ellipse">
            <a:avLst/>
          </a:prstGeom>
          <a:solidFill>
            <a:schemeClr val="accent1">
              <a:alpha val="100000"/>
            </a:schemeClr>
          </a:solidFill>
          <a:ln/>
        </p:spPr>
      </p:sp>
      <p:sp>
        <p:nvSpPr>
          <p:cNvPr id="44" name="TextBox 11">
            <a:extLst>
              <a:ext uri="{FF2B5EF4-FFF2-40B4-BE49-F238E27FC236}">
                <a16:creationId xmlns:a16="http://schemas.microsoft.com/office/drawing/2014/main" id="{C81CDB52-DAB2-405B-9962-DF844AC86C75}"/>
              </a:ext>
            </a:extLst>
          </p:cNvPr>
          <p:cNvSpPr txBox="1"/>
          <p:nvPr/>
        </p:nvSpPr>
        <p:spPr>
          <a:xfrm>
            <a:off x="2333092" y="3062603"/>
            <a:ext cx="8763000" cy="554392"/>
          </a:xfrm>
          <a:prstGeom prst="rect">
            <a:avLst/>
          </a:prstGeom>
          <a:ln/>
        </p:spPr>
        <p:txBody>
          <a:bodyPr vert="horz" wrap="square" lIns="0" tIns="0" rIns="0" bIns="0" rtlCol="0" anchor="ctr" anchorCtr="0">
            <a:normAutofit/>
          </a:bodyPr>
          <a:lstStyle/>
          <a:p>
            <a:pPr>
              <a:lnSpc>
                <a:spcPct val="150000"/>
              </a:lnSpc>
            </a:pPr>
            <a:r>
              <a:rPr lang="zh-CN" altLang="en-US" sz="2000" b="1" dirty="0">
                <a:solidFill>
                  <a:srgbClr val="FFFFFF">
                    <a:alpha val="100000"/>
                  </a:srgbClr>
                </a:solidFill>
                <a:latin typeface="+mn-ea"/>
                <a:cs typeface="Microsoft Yahei"/>
              </a:rPr>
              <a:t>大气污染治理</a:t>
            </a:r>
            <a:endParaRPr lang="en-US" sz="2000" b="1" dirty="0">
              <a:solidFill>
                <a:srgbClr val="FFFFFF">
                  <a:alpha val="100000"/>
                </a:srgbClr>
              </a:solidFill>
              <a:latin typeface="+mn-ea"/>
              <a:cs typeface="Microsoft Yahei"/>
            </a:endParaRPr>
          </a:p>
        </p:txBody>
      </p:sp>
      <p:sp>
        <p:nvSpPr>
          <p:cNvPr id="45" name="TextBox 12">
            <a:extLst>
              <a:ext uri="{FF2B5EF4-FFF2-40B4-BE49-F238E27FC236}">
                <a16:creationId xmlns:a16="http://schemas.microsoft.com/office/drawing/2014/main" id="{679406D4-399B-42DD-B797-F0A602EFB91B}"/>
              </a:ext>
            </a:extLst>
          </p:cNvPr>
          <p:cNvSpPr txBox="1"/>
          <p:nvPr/>
        </p:nvSpPr>
        <p:spPr>
          <a:xfrm>
            <a:off x="2226327" y="3883794"/>
            <a:ext cx="8972550" cy="763780"/>
          </a:xfrm>
          <a:prstGeom prst="rect">
            <a:avLst/>
          </a:prstGeom>
          <a:ln/>
        </p:spPr>
        <p:txBody>
          <a:bodyPr vert="horz" wrap="square" lIns="0" tIns="0" rIns="0" bIns="0" rtlCol="0" anchor="t" anchorCtr="0">
            <a:normAutofit/>
          </a:bodyPr>
          <a:lstStyle/>
          <a:p>
            <a:pPr>
              <a:lnSpc>
                <a:spcPct val="140000"/>
              </a:lnSpc>
            </a:pPr>
            <a:r>
              <a:rPr lang="en-US" altLang="zh-CN" sz="1600" b="1" dirty="0">
                <a:solidFill>
                  <a:schemeClr val="dk1">
                    <a:alpha val="100000"/>
                  </a:schemeClr>
                </a:solidFill>
                <a:latin typeface="+mn-ea"/>
                <a:cs typeface="Microsoft Yahei"/>
              </a:rPr>
              <a:t>针对大气污染问题，如雾霾、酸雨等，分析污染来源，如燃煤、汽车尾气等，提出治理策略，如推广清洁能源、加强工业废气治理等，并探讨治理过程中的挑战和解决方案。</a:t>
            </a:r>
          </a:p>
        </p:txBody>
      </p:sp>
      <p:sp>
        <p:nvSpPr>
          <p:cNvPr id="46" name="TextBox 12">
            <a:extLst>
              <a:ext uri="{FF2B5EF4-FFF2-40B4-BE49-F238E27FC236}">
                <a16:creationId xmlns:a16="http://schemas.microsoft.com/office/drawing/2014/main" id="{4297D8CC-2AA9-4B14-B7A7-2F0A24660DA8}"/>
              </a:ext>
            </a:extLst>
          </p:cNvPr>
          <p:cNvSpPr txBox="1"/>
          <p:nvPr/>
        </p:nvSpPr>
        <p:spPr>
          <a:xfrm>
            <a:off x="2215491" y="5761444"/>
            <a:ext cx="8972550" cy="763780"/>
          </a:xfrm>
          <a:prstGeom prst="rect">
            <a:avLst/>
          </a:prstGeom>
          <a:ln/>
        </p:spPr>
        <p:txBody>
          <a:bodyPr vert="horz" wrap="square" lIns="0" tIns="0" rIns="0" bIns="0" rtlCol="0" anchor="t" anchorCtr="0">
            <a:normAutofit/>
          </a:bodyPr>
          <a:lstStyle/>
          <a:p>
            <a:pPr>
              <a:lnSpc>
                <a:spcPct val="140000"/>
              </a:lnSpc>
            </a:pPr>
            <a:r>
              <a:rPr lang="zh-CN" altLang="en-US" sz="1600" b="1" dirty="0">
                <a:solidFill>
                  <a:schemeClr val="dk1">
                    <a:alpha val="100000"/>
                  </a:schemeClr>
                </a:solidFill>
                <a:latin typeface="+mn-ea"/>
                <a:cs typeface="Microsoft Yahei"/>
              </a:rPr>
              <a:t>分析土壤污染的类型和成因，如重金属污染、农药残留等，采取治理及修复技术，如土壤修复、植物修复等，并分析治理效果和适用范围。</a:t>
            </a:r>
            <a:endParaRPr lang="en-US" altLang="zh-CN" sz="1600" b="1" dirty="0">
              <a:solidFill>
                <a:schemeClr val="dk1">
                  <a:alpha val="100000"/>
                </a:schemeClr>
              </a:solidFill>
              <a:latin typeface="+mn-ea"/>
              <a:cs typeface="Microsoft Yahei"/>
            </a:endParaRPr>
          </a:p>
        </p:txBody>
      </p:sp>
      <p:grpSp>
        <p:nvGrpSpPr>
          <p:cNvPr id="47" name="组合 46">
            <a:extLst>
              <a:ext uri="{FF2B5EF4-FFF2-40B4-BE49-F238E27FC236}">
                <a16:creationId xmlns:a16="http://schemas.microsoft.com/office/drawing/2014/main" id="{64863EFB-D7C3-4B9E-87FC-477E62262BF4}"/>
              </a:ext>
            </a:extLst>
          </p:cNvPr>
          <p:cNvGrpSpPr/>
          <p:nvPr/>
        </p:nvGrpSpPr>
        <p:grpSpPr>
          <a:xfrm>
            <a:off x="159623" y="177840"/>
            <a:ext cx="11872754" cy="761297"/>
            <a:chOff x="222729" y="110880"/>
            <a:chExt cx="11872754" cy="761297"/>
          </a:xfrm>
        </p:grpSpPr>
        <p:grpSp>
          <p:nvGrpSpPr>
            <p:cNvPr id="48" name="组合 47">
              <a:extLst>
                <a:ext uri="{FF2B5EF4-FFF2-40B4-BE49-F238E27FC236}">
                  <a16:creationId xmlns:a16="http://schemas.microsoft.com/office/drawing/2014/main" id="{52F9AD46-81E1-4A6F-9751-8D8F51C0376E}"/>
                </a:ext>
              </a:extLst>
            </p:cNvPr>
            <p:cNvGrpSpPr/>
            <p:nvPr/>
          </p:nvGrpSpPr>
          <p:grpSpPr>
            <a:xfrm>
              <a:off x="222729" y="110880"/>
              <a:ext cx="11533332" cy="646331"/>
              <a:chOff x="443898" y="190992"/>
              <a:chExt cx="11533332" cy="646331"/>
            </a:xfrm>
          </p:grpSpPr>
          <p:sp>
            <p:nvSpPr>
              <p:cNvPr id="51" name="矩形 50">
                <a:extLst>
                  <a:ext uri="{FF2B5EF4-FFF2-40B4-BE49-F238E27FC236}">
                    <a16:creationId xmlns:a16="http://schemas.microsoft.com/office/drawing/2014/main" id="{59AC7DA6-4A9B-4827-95F1-C5EC5C601104}"/>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典型污染治理案例剖析</a:t>
                </a:r>
              </a:p>
            </p:txBody>
          </p:sp>
          <p:grpSp>
            <p:nvGrpSpPr>
              <p:cNvPr id="52" name="Group 6">
                <a:extLst>
                  <a:ext uri="{FF2B5EF4-FFF2-40B4-BE49-F238E27FC236}">
                    <a16:creationId xmlns:a16="http://schemas.microsoft.com/office/drawing/2014/main" id="{DF16855F-8CD4-4377-BCC4-A19A6A0F6564}"/>
                  </a:ext>
                </a:extLst>
              </p:cNvPr>
              <p:cNvGrpSpPr/>
              <p:nvPr/>
            </p:nvGrpSpPr>
            <p:grpSpPr>
              <a:xfrm>
                <a:off x="443898" y="303114"/>
                <a:ext cx="515576" cy="439821"/>
                <a:chOff x="454963" y="331168"/>
                <a:chExt cx="515576" cy="439821"/>
              </a:xfrm>
            </p:grpSpPr>
            <p:sp>
              <p:nvSpPr>
                <p:cNvPr id="53" name="AutoShape 7">
                  <a:extLst>
                    <a:ext uri="{FF2B5EF4-FFF2-40B4-BE49-F238E27FC236}">
                      <a16:creationId xmlns:a16="http://schemas.microsoft.com/office/drawing/2014/main" id="{551AAD29-7DA1-4A40-BF48-CB020B2D9126}"/>
                    </a:ext>
                  </a:extLst>
                </p:cNvPr>
                <p:cNvSpPr/>
                <p:nvPr/>
              </p:nvSpPr>
              <p:spPr>
                <a:xfrm>
                  <a:off x="454963" y="331168"/>
                  <a:ext cx="84147" cy="84147"/>
                </a:xfrm>
                <a:prstGeom prst="ellipse">
                  <a:avLst/>
                </a:prstGeom>
                <a:solidFill>
                  <a:schemeClr val="accent1">
                    <a:alpha val="100000"/>
                  </a:schemeClr>
                </a:solidFill>
              </p:spPr>
            </p:sp>
            <p:sp>
              <p:nvSpPr>
                <p:cNvPr id="54" name="AutoShape 8">
                  <a:extLst>
                    <a:ext uri="{FF2B5EF4-FFF2-40B4-BE49-F238E27FC236}">
                      <a16:creationId xmlns:a16="http://schemas.microsoft.com/office/drawing/2014/main" id="{B4C45589-B048-4A92-B890-770AB9609B36}"/>
                    </a:ext>
                  </a:extLst>
                </p:cNvPr>
                <p:cNvSpPr/>
                <p:nvPr/>
              </p:nvSpPr>
              <p:spPr>
                <a:xfrm>
                  <a:off x="575049" y="337743"/>
                  <a:ext cx="78137" cy="78137"/>
                </a:xfrm>
                <a:prstGeom prst="ellipse">
                  <a:avLst/>
                </a:prstGeom>
                <a:solidFill>
                  <a:schemeClr val="accent1">
                    <a:alpha val="80000"/>
                  </a:schemeClr>
                </a:solidFill>
              </p:spPr>
            </p:sp>
            <p:sp>
              <p:nvSpPr>
                <p:cNvPr id="55" name="AutoShape 9">
                  <a:extLst>
                    <a:ext uri="{FF2B5EF4-FFF2-40B4-BE49-F238E27FC236}">
                      <a16:creationId xmlns:a16="http://schemas.microsoft.com/office/drawing/2014/main" id="{5D911CB6-04BF-4BBB-BB49-7EF67F8157E1}"/>
                    </a:ext>
                  </a:extLst>
                </p:cNvPr>
                <p:cNvSpPr/>
                <p:nvPr/>
              </p:nvSpPr>
              <p:spPr>
                <a:xfrm>
                  <a:off x="689125" y="339460"/>
                  <a:ext cx="74704" cy="74704"/>
                </a:xfrm>
                <a:prstGeom prst="ellipse">
                  <a:avLst/>
                </a:prstGeom>
                <a:solidFill>
                  <a:schemeClr val="accent1">
                    <a:alpha val="60000"/>
                  </a:schemeClr>
                </a:solidFill>
              </p:spPr>
            </p:sp>
            <p:sp>
              <p:nvSpPr>
                <p:cNvPr id="56" name="AutoShape 10">
                  <a:extLst>
                    <a:ext uri="{FF2B5EF4-FFF2-40B4-BE49-F238E27FC236}">
                      <a16:creationId xmlns:a16="http://schemas.microsoft.com/office/drawing/2014/main" id="{1C2DD3AC-8AF5-4762-9404-4C232C7A53D8}"/>
                    </a:ext>
                  </a:extLst>
                </p:cNvPr>
                <p:cNvSpPr/>
                <p:nvPr/>
              </p:nvSpPr>
              <p:spPr>
                <a:xfrm>
                  <a:off x="799768" y="348430"/>
                  <a:ext cx="69238" cy="69238"/>
                </a:xfrm>
                <a:prstGeom prst="ellipse">
                  <a:avLst/>
                </a:prstGeom>
                <a:solidFill>
                  <a:schemeClr val="accent1">
                    <a:alpha val="40000"/>
                  </a:schemeClr>
                </a:solidFill>
              </p:spPr>
            </p:sp>
            <p:sp>
              <p:nvSpPr>
                <p:cNvPr id="57" name="AutoShape 11">
                  <a:extLst>
                    <a:ext uri="{FF2B5EF4-FFF2-40B4-BE49-F238E27FC236}">
                      <a16:creationId xmlns:a16="http://schemas.microsoft.com/office/drawing/2014/main" id="{97440141-7E5F-4DE7-8B2A-10657DD6B05B}"/>
                    </a:ext>
                  </a:extLst>
                </p:cNvPr>
                <p:cNvSpPr/>
                <p:nvPr/>
              </p:nvSpPr>
              <p:spPr>
                <a:xfrm>
                  <a:off x="904945" y="344297"/>
                  <a:ext cx="65594" cy="65594"/>
                </a:xfrm>
                <a:prstGeom prst="ellipse">
                  <a:avLst/>
                </a:prstGeom>
                <a:solidFill>
                  <a:schemeClr val="accent1">
                    <a:alpha val="20000"/>
                  </a:schemeClr>
                </a:solidFill>
              </p:spPr>
            </p:sp>
            <p:sp>
              <p:nvSpPr>
                <p:cNvPr id="58" name="AutoShape 12">
                  <a:extLst>
                    <a:ext uri="{FF2B5EF4-FFF2-40B4-BE49-F238E27FC236}">
                      <a16:creationId xmlns:a16="http://schemas.microsoft.com/office/drawing/2014/main" id="{DED86AB5-FB2D-433D-AA3A-3B0A9ECF4E7F}"/>
                    </a:ext>
                  </a:extLst>
                </p:cNvPr>
                <p:cNvSpPr/>
                <p:nvPr/>
              </p:nvSpPr>
              <p:spPr>
                <a:xfrm>
                  <a:off x="454963" y="448942"/>
                  <a:ext cx="84147" cy="84147"/>
                </a:xfrm>
                <a:prstGeom prst="ellipse">
                  <a:avLst/>
                </a:prstGeom>
                <a:solidFill>
                  <a:schemeClr val="accent1">
                    <a:alpha val="100000"/>
                  </a:schemeClr>
                </a:solidFill>
              </p:spPr>
            </p:sp>
            <p:sp>
              <p:nvSpPr>
                <p:cNvPr id="59" name="AutoShape 13">
                  <a:extLst>
                    <a:ext uri="{FF2B5EF4-FFF2-40B4-BE49-F238E27FC236}">
                      <a16:creationId xmlns:a16="http://schemas.microsoft.com/office/drawing/2014/main" id="{A2F596B1-5304-4B93-9BD6-83389BAFFF33}"/>
                    </a:ext>
                  </a:extLst>
                </p:cNvPr>
                <p:cNvSpPr/>
                <p:nvPr/>
              </p:nvSpPr>
              <p:spPr>
                <a:xfrm>
                  <a:off x="575049" y="455517"/>
                  <a:ext cx="78137" cy="78137"/>
                </a:xfrm>
                <a:prstGeom prst="ellipse">
                  <a:avLst/>
                </a:prstGeom>
                <a:solidFill>
                  <a:schemeClr val="accent1">
                    <a:alpha val="80000"/>
                  </a:schemeClr>
                </a:solidFill>
              </p:spPr>
            </p:sp>
            <p:sp>
              <p:nvSpPr>
                <p:cNvPr id="60" name="AutoShape 14">
                  <a:extLst>
                    <a:ext uri="{FF2B5EF4-FFF2-40B4-BE49-F238E27FC236}">
                      <a16:creationId xmlns:a16="http://schemas.microsoft.com/office/drawing/2014/main" id="{8EE1133E-55A4-40C2-AA2A-0BB10E98A8DC}"/>
                    </a:ext>
                  </a:extLst>
                </p:cNvPr>
                <p:cNvSpPr/>
                <p:nvPr/>
              </p:nvSpPr>
              <p:spPr>
                <a:xfrm>
                  <a:off x="689125" y="457233"/>
                  <a:ext cx="74704" cy="74704"/>
                </a:xfrm>
                <a:prstGeom prst="ellipse">
                  <a:avLst/>
                </a:prstGeom>
                <a:solidFill>
                  <a:schemeClr val="accent1">
                    <a:alpha val="60000"/>
                  </a:schemeClr>
                </a:solidFill>
              </p:spPr>
            </p:sp>
            <p:sp>
              <p:nvSpPr>
                <p:cNvPr id="61" name="AutoShape 15">
                  <a:extLst>
                    <a:ext uri="{FF2B5EF4-FFF2-40B4-BE49-F238E27FC236}">
                      <a16:creationId xmlns:a16="http://schemas.microsoft.com/office/drawing/2014/main" id="{F975FCFA-7685-4B4D-935C-D97BAAA195B9}"/>
                    </a:ext>
                  </a:extLst>
                </p:cNvPr>
                <p:cNvSpPr/>
                <p:nvPr/>
              </p:nvSpPr>
              <p:spPr>
                <a:xfrm>
                  <a:off x="799768" y="466203"/>
                  <a:ext cx="69238" cy="69238"/>
                </a:xfrm>
                <a:prstGeom prst="ellipse">
                  <a:avLst/>
                </a:prstGeom>
                <a:solidFill>
                  <a:schemeClr val="accent1">
                    <a:alpha val="40000"/>
                  </a:schemeClr>
                </a:solidFill>
              </p:spPr>
            </p:sp>
            <p:sp>
              <p:nvSpPr>
                <p:cNvPr id="62" name="AutoShape 16">
                  <a:extLst>
                    <a:ext uri="{FF2B5EF4-FFF2-40B4-BE49-F238E27FC236}">
                      <a16:creationId xmlns:a16="http://schemas.microsoft.com/office/drawing/2014/main" id="{20517D34-F9D0-4766-8E4E-45F9B436EE45}"/>
                    </a:ext>
                  </a:extLst>
                </p:cNvPr>
                <p:cNvSpPr/>
                <p:nvPr/>
              </p:nvSpPr>
              <p:spPr>
                <a:xfrm>
                  <a:off x="904945" y="462070"/>
                  <a:ext cx="65594" cy="65594"/>
                </a:xfrm>
                <a:prstGeom prst="ellipse">
                  <a:avLst/>
                </a:prstGeom>
                <a:solidFill>
                  <a:schemeClr val="accent1">
                    <a:alpha val="20000"/>
                  </a:schemeClr>
                </a:solidFill>
              </p:spPr>
            </p:sp>
            <p:sp>
              <p:nvSpPr>
                <p:cNvPr id="63" name="AutoShape 17">
                  <a:extLst>
                    <a:ext uri="{FF2B5EF4-FFF2-40B4-BE49-F238E27FC236}">
                      <a16:creationId xmlns:a16="http://schemas.microsoft.com/office/drawing/2014/main" id="{DF07E635-E9A8-43C1-BB68-FA7FD857CA87}"/>
                    </a:ext>
                  </a:extLst>
                </p:cNvPr>
                <p:cNvSpPr/>
                <p:nvPr/>
              </p:nvSpPr>
              <p:spPr>
                <a:xfrm>
                  <a:off x="454963" y="566715"/>
                  <a:ext cx="84147" cy="84147"/>
                </a:xfrm>
                <a:prstGeom prst="ellipse">
                  <a:avLst/>
                </a:prstGeom>
                <a:solidFill>
                  <a:schemeClr val="accent1">
                    <a:alpha val="100000"/>
                  </a:schemeClr>
                </a:solidFill>
              </p:spPr>
            </p:sp>
            <p:sp>
              <p:nvSpPr>
                <p:cNvPr id="64" name="AutoShape 18">
                  <a:extLst>
                    <a:ext uri="{FF2B5EF4-FFF2-40B4-BE49-F238E27FC236}">
                      <a16:creationId xmlns:a16="http://schemas.microsoft.com/office/drawing/2014/main" id="{7F50BC28-59B9-49B3-996F-3B93EBFDFF40}"/>
                    </a:ext>
                  </a:extLst>
                </p:cNvPr>
                <p:cNvSpPr/>
                <p:nvPr/>
              </p:nvSpPr>
              <p:spPr>
                <a:xfrm>
                  <a:off x="575049" y="573291"/>
                  <a:ext cx="78137" cy="78137"/>
                </a:xfrm>
                <a:prstGeom prst="ellipse">
                  <a:avLst/>
                </a:prstGeom>
                <a:solidFill>
                  <a:schemeClr val="accent1">
                    <a:alpha val="80000"/>
                  </a:schemeClr>
                </a:solidFill>
              </p:spPr>
            </p:sp>
            <p:sp>
              <p:nvSpPr>
                <p:cNvPr id="65" name="AutoShape 19">
                  <a:extLst>
                    <a:ext uri="{FF2B5EF4-FFF2-40B4-BE49-F238E27FC236}">
                      <a16:creationId xmlns:a16="http://schemas.microsoft.com/office/drawing/2014/main" id="{F2627861-3BCC-472E-9065-D234FAE9A35F}"/>
                    </a:ext>
                  </a:extLst>
                </p:cNvPr>
                <p:cNvSpPr/>
                <p:nvPr/>
              </p:nvSpPr>
              <p:spPr>
                <a:xfrm>
                  <a:off x="689125" y="575007"/>
                  <a:ext cx="74704" cy="74704"/>
                </a:xfrm>
                <a:prstGeom prst="ellipse">
                  <a:avLst/>
                </a:prstGeom>
                <a:solidFill>
                  <a:schemeClr val="accent1">
                    <a:alpha val="60000"/>
                  </a:schemeClr>
                </a:solidFill>
              </p:spPr>
            </p:sp>
            <p:sp>
              <p:nvSpPr>
                <p:cNvPr id="66" name="AutoShape 20">
                  <a:extLst>
                    <a:ext uri="{FF2B5EF4-FFF2-40B4-BE49-F238E27FC236}">
                      <a16:creationId xmlns:a16="http://schemas.microsoft.com/office/drawing/2014/main" id="{BADBFBBF-9169-4DB9-A76E-0D2B0F5BF638}"/>
                    </a:ext>
                  </a:extLst>
                </p:cNvPr>
                <p:cNvSpPr/>
                <p:nvPr/>
              </p:nvSpPr>
              <p:spPr>
                <a:xfrm>
                  <a:off x="799768" y="583977"/>
                  <a:ext cx="69238" cy="69238"/>
                </a:xfrm>
                <a:prstGeom prst="ellipse">
                  <a:avLst/>
                </a:prstGeom>
                <a:solidFill>
                  <a:schemeClr val="accent1">
                    <a:alpha val="40000"/>
                  </a:schemeClr>
                </a:solidFill>
              </p:spPr>
            </p:sp>
            <p:sp>
              <p:nvSpPr>
                <p:cNvPr id="67" name="AutoShape 21">
                  <a:extLst>
                    <a:ext uri="{FF2B5EF4-FFF2-40B4-BE49-F238E27FC236}">
                      <a16:creationId xmlns:a16="http://schemas.microsoft.com/office/drawing/2014/main" id="{58E9AC8D-9A0A-4BA4-8067-16CF8A789B34}"/>
                    </a:ext>
                  </a:extLst>
                </p:cNvPr>
                <p:cNvSpPr/>
                <p:nvPr/>
              </p:nvSpPr>
              <p:spPr>
                <a:xfrm>
                  <a:off x="904945" y="579844"/>
                  <a:ext cx="65594" cy="65594"/>
                </a:xfrm>
                <a:prstGeom prst="ellipse">
                  <a:avLst/>
                </a:prstGeom>
                <a:solidFill>
                  <a:schemeClr val="accent1">
                    <a:alpha val="20000"/>
                  </a:schemeClr>
                </a:solidFill>
              </p:spPr>
            </p:sp>
            <p:sp>
              <p:nvSpPr>
                <p:cNvPr id="68" name="AutoShape 22">
                  <a:extLst>
                    <a:ext uri="{FF2B5EF4-FFF2-40B4-BE49-F238E27FC236}">
                      <a16:creationId xmlns:a16="http://schemas.microsoft.com/office/drawing/2014/main" id="{7FA09028-9860-4B17-A267-24336DE2B2DD}"/>
                    </a:ext>
                  </a:extLst>
                </p:cNvPr>
                <p:cNvSpPr/>
                <p:nvPr/>
              </p:nvSpPr>
              <p:spPr>
                <a:xfrm>
                  <a:off x="454963" y="684489"/>
                  <a:ext cx="84147" cy="84147"/>
                </a:xfrm>
                <a:prstGeom prst="ellipse">
                  <a:avLst/>
                </a:prstGeom>
                <a:solidFill>
                  <a:schemeClr val="accent1">
                    <a:alpha val="100000"/>
                  </a:schemeClr>
                </a:solidFill>
              </p:spPr>
            </p:sp>
            <p:sp>
              <p:nvSpPr>
                <p:cNvPr id="69" name="AutoShape 23">
                  <a:extLst>
                    <a:ext uri="{FF2B5EF4-FFF2-40B4-BE49-F238E27FC236}">
                      <a16:creationId xmlns:a16="http://schemas.microsoft.com/office/drawing/2014/main" id="{D1DBB796-30FD-4E8B-926B-31C83F742699}"/>
                    </a:ext>
                  </a:extLst>
                </p:cNvPr>
                <p:cNvSpPr/>
                <p:nvPr/>
              </p:nvSpPr>
              <p:spPr>
                <a:xfrm>
                  <a:off x="575049" y="691064"/>
                  <a:ext cx="78137" cy="78137"/>
                </a:xfrm>
                <a:prstGeom prst="ellipse">
                  <a:avLst/>
                </a:prstGeom>
                <a:solidFill>
                  <a:schemeClr val="accent1">
                    <a:alpha val="80000"/>
                  </a:schemeClr>
                </a:solidFill>
              </p:spPr>
            </p:sp>
            <p:sp>
              <p:nvSpPr>
                <p:cNvPr id="70" name="AutoShape 24">
                  <a:extLst>
                    <a:ext uri="{FF2B5EF4-FFF2-40B4-BE49-F238E27FC236}">
                      <a16:creationId xmlns:a16="http://schemas.microsoft.com/office/drawing/2014/main" id="{459FE935-9A45-4054-BD8C-BC798AF769CB}"/>
                    </a:ext>
                  </a:extLst>
                </p:cNvPr>
                <p:cNvSpPr/>
                <p:nvPr/>
              </p:nvSpPr>
              <p:spPr>
                <a:xfrm>
                  <a:off x="689125" y="692781"/>
                  <a:ext cx="74704" cy="74704"/>
                </a:xfrm>
                <a:prstGeom prst="ellipse">
                  <a:avLst/>
                </a:prstGeom>
                <a:solidFill>
                  <a:schemeClr val="accent1">
                    <a:alpha val="60000"/>
                  </a:schemeClr>
                </a:solidFill>
              </p:spPr>
            </p:sp>
            <p:sp>
              <p:nvSpPr>
                <p:cNvPr id="71" name="AutoShape 25">
                  <a:extLst>
                    <a:ext uri="{FF2B5EF4-FFF2-40B4-BE49-F238E27FC236}">
                      <a16:creationId xmlns:a16="http://schemas.microsoft.com/office/drawing/2014/main" id="{46B901E9-69F6-4670-AE96-94CD64D343A6}"/>
                    </a:ext>
                  </a:extLst>
                </p:cNvPr>
                <p:cNvSpPr/>
                <p:nvPr/>
              </p:nvSpPr>
              <p:spPr>
                <a:xfrm>
                  <a:off x="799768" y="701751"/>
                  <a:ext cx="69238" cy="69238"/>
                </a:xfrm>
                <a:prstGeom prst="ellipse">
                  <a:avLst/>
                </a:prstGeom>
                <a:solidFill>
                  <a:schemeClr val="accent1">
                    <a:alpha val="40000"/>
                  </a:schemeClr>
                </a:solidFill>
              </p:spPr>
            </p:sp>
            <p:sp>
              <p:nvSpPr>
                <p:cNvPr id="72" name="AutoShape 26">
                  <a:extLst>
                    <a:ext uri="{FF2B5EF4-FFF2-40B4-BE49-F238E27FC236}">
                      <a16:creationId xmlns:a16="http://schemas.microsoft.com/office/drawing/2014/main" id="{37AED975-F241-470B-B0E1-19D820B9E721}"/>
                    </a:ext>
                  </a:extLst>
                </p:cNvPr>
                <p:cNvSpPr/>
                <p:nvPr/>
              </p:nvSpPr>
              <p:spPr>
                <a:xfrm>
                  <a:off x="904945" y="697618"/>
                  <a:ext cx="65594" cy="65594"/>
                </a:xfrm>
                <a:prstGeom prst="ellipse">
                  <a:avLst/>
                </a:prstGeom>
                <a:solidFill>
                  <a:schemeClr val="accent1">
                    <a:alpha val="20000"/>
                  </a:schemeClr>
                </a:solidFill>
              </p:spPr>
            </p:sp>
          </p:grpSp>
        </p:grpSp>
        <p:sp>
          <p:nvSpPr>
            <p:cNvPr id="49" name="平行四边形 48">
              <a:extLst>
                <a:ext uri="{FF2B5EF4-FFF2-40B4-BE49-F238E27FC236}">
                  <a16:creationId xmlns:a16="http://schemas.microsoft.com/office/drawing/2014/main" id="{7190EBA6-9BCD-45C8-A834-CF257D57943B}"/>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0" name="平行四边形 49">
              <a:extLst>
                <a:ext uri="{FF2B5EF4-FFF2-40B4-BE49-F238E27FC236}">
                  <a16:creationId xmlns:a16="http://schemas.microsoft.com/office/drawing/2014/main" id="{FFEEC8E8-8013-4497-87B2-869400E3CA89}"/>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3852" y="4838783"/>
            <a:ext cx="10266726" cy="1333500"/>
            <a:chOff x="1103852" y="4838783"/>
            <a:chExt cx="10266726" cy="1333500"/>
          </a:xfrm>
        </p:grpSpPr>
        <p:sp>
          <p:nvSpPr>
            <p:cNvPr id="3" name="AutoShape 3"/>
            <p:cNvSpPr/>
            <p:nvPr/>
          </p:nvSpPr>
          <p:spPr>
            <a:xfrm>
              <a:off x="2377205" y="4838783"/>
              <a:ext cx="8305833" cy="1333500"/>
            </a:xfrm>
            <a:prstGeom prst="rect">
              <a:avLst/>
            </a:prstGeom>
            <a:solidFill>
              <a:schemeClr val="accent1">
                <a:lumMod val="20000"/>
                <a:lumOff val="80000"/>
                <a:alpha val="100000"/>
              </a:schemeClr>
            </a:solidFill>
            <a:ln/>
          </p:spPr>
        </p:sp>
        <p:sp>
          <p:nvSpPr>
            <p:cNvPr id="4" name="Freeform 4"/>
            <p:cNvSpPr/>
            <p:nvPr/>
          </p:nvSpPr>
          <p:spPr>
            <a:xfrm rot="10800000">
              <a:off x="1103852" y="4838783"/>
              <a:ext cx="2210848" cy="1333500"/>
            </a:xfrm>
            <a:custGeom>
              <a:avLst/>
              <a:gdLst/>
              <a:ahLst/>
              <a:cxnLst/>
              <a:rect l="l" t="t"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alpha val="100000"/>
              </a:schemeClr>
            </a:solidFill>
            <a:ln/>
          </p:spPr>
        </p:sp>
        <p:sp>
          <p:nvSpPr>
            <p:cNvPr id="5" name="Freeform 5"/>
            <p:cNvSpPr/>
            <p:nvPr/>
          </p:nvSpPr>
          <p:spPr>
            <a:xfrm rot="10800000">
              <a:off x="9159730" y="4838783"/>
              <a:ext cx="2210848" cy="1333500"/>
            </a:xfrm>
            <a:custGeom>
              <a:avLst/>
              <a:gdLst/>
              <a:ahLst/>
              <a:cxnLst/>
              <a:rect l="l" t="t"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lumMod val="20000"/>
                <a:lumOff val="80000"/>
                <a:alpha val="100000"/>
              </a:schemeClr>
            </a:solidFill>
            <a:ln/>
          </p:spPr>
        </p:sp>
      </p:grpSp>
      <p:grpSp>
        <p:nvGrpSpPr>
          <p:cNvPr id="6" name="Group 6"/>
          <p:cNvGrpSpPr/>
          <p:nvPr/>
        </p:nvGrpSpPr>
        <p:grpSpPr>
          <a:xfrm>
            <a:off x="1031730" y="3081147"/>
            <a:ext cx="10266726" cy="1333500"/>
            <a:chOff x="1031730" y="3081147"/>
            <a:chExt cx="10266726" cy="1333500"/>
          </a:xfrm>
        </p:grpSpPr>
        <p:sp>
          <p:nvSpPr>
            <p:cNvPr id="7" name="AutoShape 7"/>
            <p:cNvSpPr/>
            <p:nvPr/>
          </p:nvSpPr>
          <p:spPr>
            <a:xfrm>
              <a:off x="2305083" y="3081147"/>
              <a:ext cx="8305833" cy="1333500"/>
            </a:xfrm>
            <a:prstGeom prst="rect">
              <a:avLst/>
            </a:prstGeom>
            <a:solidFill>
              <a:schemeClr val="accent1">
                <a:lumMod val="20000"/>
                <a:lumOff val="80000"/>
                <a:alpha val="100000"/>
              </a:schemeClr>
            </a:solidFill>
            <a:ln/>
          </p:spPr>
        </p:sp>
        <p:sp>
          <p:nvSpPr>
            <p:cNvPr id="8" name="Freeform 8"/>
            <p:cNvSpPr/>
            <p:nvPr/>
          </p:nvSpPr>
          <p:spPr>
            <a:xfrm rot="10800000">
              <a:off x="1031730" y="3081147"/>
              <a:ext cx="2210848" cy="1333500"/>
            </a:xfrm>
            <a:custGeom>
              <a:avLst/>
              <a:gdLst/>
              <a:ahLst/>
              <a:cxnLst/>
              <a:rect l="l" t="t"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lumMod val="20000"/>
                <a:lumOff val="80000"/>
                <a:alpha val="100000"/>
              </a:schemeClr>
            </a:solidFill>
            <a:ln/>
          </p:spPr>
        </p:sp>
        <p:sp>
          <p:nvSpPr>
            <p:cNvPr id="9" name="Freeform 9"/>
            <p:cNvSpPr/>
            <p:nvPr/>
          </p:nvSpPr>
          <p:spPr>
            <a:xfrm rot="10800000">
              <a:off x="9087608" y="3081147"/>
              <a:ext cx="2210848" cy="1333500"/>
            </a:xfrm>
            <a:custGeom>
              <a:avLst/>
              <a:gdLst/>
              <a:ahLst/>
              <a:cxnLst/>
              <a:rect l="l" t="t"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alpha val="100000"/>
              </a:schemeClr>
            </a:solidFill>
            <a:ln/>
          </p:spPr>
        </p:sp>
      </p:grpSp>
      <p:grpSp>
        <p:nvGrpSpPr>
          <p:cNvPr id="10" name="Group 10"/>
          <p:cNvGrpSpPr/>
          <p:nvPr/>
        </p:nvGrpSpPr>
        <p:grpSpPr>
          <a:xfrm>
            <a:off x="1103852" y="1348302"/>
            <a:ext cx="10266726" cy="1333500"/>
            <a:chOff x="1103852" y="1348302"/>
            <a:chExt cx="10266726" cy="1333500"/>
          </a:xfrm>
        </p:grpSpPr>
        <p:sp>
          <p:nvSpPr>
            <p:cNvPr id="11" name="AutoShape 11"/>
            <p:cNvSpPr/>
            <p:nvPr/>
          </p:nvSpPr>
          <p:spPr>
            <a:xfrm>
              <a:off x="2377205" y="1348302"/>
              <a:ext cx="8305833" cy="1333500"/>
            </a:xfrm>
            <a:prstGeom prst="rect">
              <a:avLst/>
            </a:prstGeom>
            <a:solidFill>
              <a:schemeClr val="accent1">
                <a:lumMod val="20000"/>
                <a:lumOff val="80000"/>
                <a:alpha val="100000"/>
              </a:schemeClr>
            </a:solidFill>
            <a:ln/>
          </p:spPr>
        </p:sp>
        <p:sp>
          <p:nvSpPr>
            <p:cNvPr id="12" name="Freeform 12"/>
            <p:cNvSpPr/>
            <p:nvPr/>
          </p:nvSpPr>
          <p:spPr>
            <a:xfrm rot="10800000">
              <a:off x="1103852" y="1348302"/>
              <a:ext cx="2210848" cy="1333500"/>
            </a:xfrm>
            <a:custGeom>
              <a:avLst/>
              <a:gdLst/>
              <a:ahLst/>
              <a:cxnLst/>
              <a:rect l="l" t="t"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alpha val="100000"/>
              </a:schemeClr>
            </a:solidFill>
            <a:ln/>
          </p:spPr>
        </p:sp>
        <p:sp>
          <p:nvSpPr>
            <p:cNvPr id="13" name="Freeform 13"/>
            <p:cNvSpPr/>
            <p:nvPr/>
          </p:nvSpPr>
          <p:spPr>
            <a:xfrm rot="10800000">
              <a:off x="9159730" y="1348302"/>
              <a:ext cx="2210848" cy="1333500"/>
            </a:xfrm>
            <a:custGeom>
              <a:avLst/>
              <a:gdLst/>
              <a:ahLst/>
              <a:cxnLst/>
              <a:rect l="l" t="t"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lumMod val="20000"/>
                <a:lumOff val="80000"/>
                <a:alpha val="100000"/>
              </a:schemeClr>
            </a:solidFill>
            <a:ln/>
          </p:spPr>
        </p:sp>
      </p:grpSp>
      <p:grpSp>
        <p:nvGrpSpPr>
          <p:cNvPr id="14" name="Group 14"/>
          <p:cNvGrpSpPr/>
          <p:nvPr/>
        </p:nvGrpSpPr>
        <p:grpSpPr>
          <a:xfrm>
            <a:off x="9997333" y="3400044"/>
            <a:ext cx="685705" cy="695706"/>
            <a:chOff x="9997333" y="3400044"/>
            <a:chExt cx="685705" cy="695706"/>
          </a:xfrm>
        </p:grpSpPr>
        <p:sp>
          <p:nvSpPr>
            <p:cNvPr id="15" name="Freeform 15"/>
            <p:cNvSpPr/>
            <p:nvPr/>
          </p:nvSpPr>
          <p:spPr>
            <a:xfrm>
              <a:off x="10034290" y="3847243"/>
              <a:ext cx="87725" cy="163068"/>
            </a:xfrm>
            <a:custGeom>
              <a:avLst/>
              <a:gdLst/>
              <a:ahLst/>
              <a:cxnLst/>
              <a:rect l="l" t="t" r="r" b="b"/>
              <a:pathLst>
                <a:path w="118" h="218">
                  <a:moveTo>
                    <a:pt x="0" y="183"/>
                  </a:moveTo>
                  <a:cubicBezTo>
                    <a:pt x="0" y="200"/>
                    <a:pt x="8" y="217"/>
                    <a:pt x="25" y="217"/>
                  </a:cubicBezTo>
                  <a:cubicBezTo>
                    <a:pt x="84" y="217"/>
                    <a:pt x="84" y="217"/>
                    <a:pt x="84" y="217"/>
                  </a:cubicBezTo>
                  <a:cubicBezTo>
                    <a:pt x="100" y="217"/>
                    <a:pt x="117" y="200"/>
                    <a:pt x="117" y="183"/>
                  </a:cubicBezTo>
                  <a:cubicBezTo>
                    <a:pt x="117" y="0"/>
                    <a:pt x="117" y="0"/>
                    <a:pt x="117" y="0"/>
                  </a:cubicBezTo>
                  <a:cubicBezTo>
                    <a:pt x="17" y="91"/>
                    <a:pt x="17" y="91"/>
                    <a:pt x="17" y="91"/>
                  </a:cubicBezTo>
                  <a:cubicBezTo>
                    <a:pt x="0" y="75"/>
                    <a:pt x="0" y="75"/>
                    <a:pt x="0" y="75"/>
                  </a:cubicBezTo>
                  <a:lnTo>
                    <a:pt x="0" y="183"/>
                  </a:lnTo>
                  <a:close/>
                  <a:moveTo>
                    <a:pt x="0" y="183"/>
                  </a:moveTo>
                  <a:lnTo>
                    <a:pt x="0" y="183"/>
                  </a:lnTo>
                  <a:close/>
                </a:path>
              </a:pathLst>
            </a:custGeom>
            <a:solidFill>
              <a:srgbClr val="FFFFFF">
                <a:alpha val="100000"/>
              </a:srgbClr>
            </a:solidFill>
            <a:ln/>
          </p:spPr>
        </p:sp>
        <p:sp>
          <p:nvSpPr>
            <p:cNvPr id="16" name="Freeform 16"/>
            <p:cNvSpPr/>
            <p:nvPr/>
          </p:nvSpPr>
          <p:spPr>
            <a:xfrm>
              <a:off x="10177260" y="3757422"/>
              <a:ext cx="87725" cy="252984"/>
            </a:xfrm>
            <a:custGeom>
              <a:avLst/>
              <a:gdLst/>
              <a:ahLst/>
              <a:cxnLst/>
              <a:rect l="l" t="t" r="r" b="b"/>
              <a:pathLst>
                <a:path w="118" h="336">
                  <a:moveTo>
                    <a:pt x="0" y="301"/>
                  </a:moveTo>
                  <a:cubicBezTo>
                    <a:pt x="0" y="318"/>
                    <a:pt x="17" y="335"/>
                    <a:pt x="34" y="335"/>
                  </a:cubicBezTo>
                  <a:cubicBezTo>
                    <a:pt x="84" y="335"/>
                    <a:pt x="84" y="335"/>
                    <a:pt x="84" y="335"/>
                  </a:cubicBezTo>
                  <a:cubicBezTo>
                    <a:pt x="101" y="335"/>
                    <a:pt x="117" y="318"/>
                    <a:pt x="117" y="301"/>
                  </a:cubicBezTo>
                  <a:cubicBezTo>
                    <a:pt x="117" y="76"/>
                    <a:pt x="117" y="76"/>
                    <a:pt x="117" y="76"/>
                  </a:cubicBezTo>
                  <a:cubicBezTo>
                    <a:pt x="42" y="0"/>
                    <a:pt x="42" y="0"/>
                    <a:pt x="42" y="0"/>
                  </a:cubicBezTo>
                  <a:cubicBezTo>
                    <a:pt x="0" y="42"/>
                    <a:pt x="0" y="42"/>
                    <a:pt x="0" y="42"/>
                  </a:cubicBezTo>
                  <a:lnTo>
                    <a:pt x="0" y="301"/>
                  </a:lnTo>
                  <a:close/>
                  <a:moveTo>
                    <a:pt x="0" y="301"/>
                  </a:moveTo>
                  <a:lnTo>
                    <a:pt x="0" y="301"/>
                  </a:lnTo>
                  <a:close/>
                </a:path>
              </a:pathLst>
            </a:custGeom>
            <a:solidFill>
              <a:srgbClr val="FFFFFF">
                <a:alpha val="100000"/>
              </a:srgbClr>
            </a:solidFill>
            <a:ln/>
          </p:spPr>
        </p:sp>
        <p:sp>
          <p:nvSpPr>
            <p:cNvPr id="17" name="Freeform 17"/>
            <p:cNvSpPr/>
            <p:nvPr/>
          </p:nvSpPr>
          <p:spPr>
            <a:xfrm>
              <a:off x="10320231" y="3757422"/>
              <a:ext cx="87725" cy="252984"/>
            </a:xfrm>
            <a:custGeom>
              <a:avLst/>
              <a:gdLst/>
              <a:ahLst/>
              <a:cxnLst/>
              <a:rect l="l" t="t" r="r" b="b"/>
              <a:pathLst>
                <a:path w="118" h="336">
                  <a:moveTo>
                    <a:pt x="92" y="335"/>
                  </a:moveTo>
                  <a:cubicBezTo>
                    <a:pt x="108" y="335"/>
                    <a:pt x="117" y="318"/>
                    <a:pt x="117" y="301"/>
                  </a:cubicBezTo>
                  <a:cubicBezTo>
                    <a:pt x="117" y="0"/>
                    <a:pt x="117" y="0"/>
                    <a:pt x="117" y="0"/>
                  </a:cubicBezTo>
                  <a:cubicBezTo>
                    <a:pt x="0" y="118"/>
                    <a:pt x="0" y="118"/>
                    <a:pt x="0" y="118"/>
                  </a:cubicBezTo>
                  <a:cubicBezTo>
                    <a:pt x="0" y="301"/>
                    <a:pt x="0" y="301"/>
                    <a:pt x="0" y="301"/>
                  </a:cubicBezTo>
                  <a:cubicBezTo>
                    <a:pt x="0" y="318"/>
                    <a:pt x="16" y="335"/>
                    <a:pt x="33" y="335"/>
                  </a:cubicBezTo>
                  <a:lnTo>
                    <a:pt x="92" y="335"/>
                  </a:lnTo>
                  <a:close/>
                  <a:moveTo>
                    <a:pt x="92" y="335"/>
                  </a:moveTo>
                  <a:lnTo>
                    <a:pt x="92" y="335"/>
                  </a:lnTo>
                  <a:close/>
                </a:path>
              </a:pathLst>
            </a:custGeom>
            <a:solidFill>
              <a:srgbClr val="FFFFFF">
                <a:alpha val="100000"/>
              </a:srgbClr>
            </a:solidFill>
            <a:ln/>
          </p:spPr>
        </p:sp>
        <p:sp>
          <p:nvSpPr>
            <p:cNvPr id="18" name="Freeform 18"/>
            <p:cNvSpPr/>
            <p:nvPr/>
          </p:nvSpPr>
          <p:spPr>
            <a:xfrm>
              <a:off x="10459962" y="3670840"/>
              <a:ext cx="94202" cy="342805"/>
            </a:xfrm>
            <a:custGeom>
              <a:avLst/>
              <a:gdLst/>
              <a:ahLst/>
              <a:cxnLst/>
              <a:rect l="l" t="t" r="r" b="b"/>
              <a:pathLst>
                <a:path w="126" h="452">
                  <a:moveTo>
                    <a:pt x="0" y="41"/>
                  </a:moveTo>
                  <a:cubicBezTo>
                    <a:pt x="0" y="417"/>
                    <a:pt x="0" y="417"/>
                    <a:pt x="0" y="417"/>
                  </a:cubicBezTo>
                  <a:cubicBezTo>
                    <a:pt x="0" y="434"/>
                    <a:pt x="17" y="451"/>
                    <a:pt x="33" y="451"/>
                  </a:cubicBezTo>
                  <a:cubicBezTo>
                    <a:pt x="92" y="451"/>
                    <a:pt x="92" y="451"/>
                    <a:pt x="92" y="451"/>
                  </a:cubicBezTo>
                  <a:cubicBezTo>
                    <a:pt x="109" y="451"/>
                    <a:pt x="125" y="434"/>
                    <a:pt x="125" y="417"/>
                  </a:cubicBezTo>
                  <a:cubicBezTo>
                    <a:pt x="125" y="66"/>
                    <a:pt x="125" y="66"/>
                    <a:pt x="125" y="66"/>
                  </a:cubicBezTo>
                  <a:cubicBezTo>
                    <a:pt x="50" y="0"/>
                    <a:pt x="50" y="0"/>
                    <a:pt x="50" y="0"/>
                  </a:cubicBezTo>
                  <a:lnTo>
                    <a:pt x="0" y="41"/>
                  </a:lnTo>
                  <a:close/>
                  <a:moveTo>
                    <a:pt x="0" y="41"/>
                  </a:moveTo>
                  <a:lnTo>
                    <a:pt x="0" y="41"/>
                  </a:lnTo>
                  <a:close/>
                </a:path>
              </a:pathLst>
            </a:custGeom>
            <a:solidFill>
              <a:srgbClr val="FFFFFF">
                <a:alpha val="100000"/>
              </a:srgbClr>
            </a:solidFill>
            <a:ln/>
          </p:spPr>
        </p:sp>
        <p:sp>
          <p:nvSpPr>
            <p:cNvPr id="19" name="Freeform 19"/>
            <p:cNvSpPr/>
            <p:nvPr/>
          </p:nvSpPr>
          <p:spPr>
            <a:xfrm>
              <a:off x="10011525" y="3517678"/>
              <a:ext cx="536162" cy="342805"/>
            </a:xfrm>
            <a:custGeom>
              <a:avLst/>
              <a:gdLst/>
              <a:ahLst/>
              <a:cxnLst/>
              <a:rect l="l" t="t" r="r" b="b"/>
              <a:pathLst>
                <a:path w="728" h="452">
                  <a:moveTo>
                    <a:pt x="234" y="284"/>
                  </a:moveTo>
                  <a:cubicBezTo>
                    <a:pt x="250" y="267"/>
                    <a:pt x="276" y="267"/>
                    <a:pt x="292" y="284"/>
                  </a:cubicBezTo>
                  <a:cubicBezTo>
                    <a:pt x="359" y="351"/>
                    <a:pt x="359" y="351"/>
                    <a:pt x="359" y="351"/>
                  </a:cubicBezTo>
                  <a:cubicBezTo>
                    <a:pt x="376" y="368"/>
                    <a:pt x="384" y="368"/>
                    <a:pt x="401" y="368"/>
                  </a:cubicBezTo>
                  <a:cubicBezTo>
                    <a:pt x="418" y="368"/>
                    <a:pt x="426" y="368"/>
                    <a:pt x="434" y="351"/>
                  </a:cubicBezTo>
                  <a:cubicBezTo>
                    <a:pt x="660" y="134"/>
                    <a:pt x="660" y="134"/>
                    <a:pt x="660" y="134"/>
                  </a:cubicBezTo>
                  <a:cubicBezTo>
                    <a:pt x="694" y="167"/>
                    <a:pt x="694" y="167"/>
                    <a:pt x="694" y="167"/>
                  </a:cubicBezTo>
                  <a:cubicBezTo>
                    <a:pt x="702" y="175"/>
                    <a:pt x="710" y="175"/>
                    <a:pt x="710" y="175"/>
                  </a:cubicBezTo>
                  <a:cubicBezTo>
                    <a:pt x="719" y="175"/>
                    <a:pt x="727" y="167"/>
                    <a:pt x="727" y="159"/>
                  </a:cubicBezTo>
                  <a:cubicBezTo>
                    <a:pt x="727" y="33"/>
                    <a:pt x="727" y="33"/>
                    <a:pt x="727" y="33"/>
                  </a:cubicBezTo>
                  <a:cubicBezTo>
                    <a:pt x="727" y="25"/>
                    <a:pt x="727" y="16"/>
                    <a:pt x="719" y="8"/>
                  </a:cubicBezTo>
                  <a:cubicBezTo>
                    <a:pt x="710" y="0"/>
                    <a:pt x="702" y="0"/>
                    <a:pt x="694" y="0"/>
                  </a:cubicBezTo>
                  <a:cubicBezTo>
                    <a:pt x="568" y="0"/>
                    <a:pt x="568" y="0"/>
                    <a:pt x="568" y="0"/>
                  </a:cubicBezTo>
                  <a:cubicBezTo>
                    <a:pt x="560" y="0"/>
                    <a:pt x="551" y="0"/>
                    <a:pt x="551" y="8"/>
                  </a:cubicBezTo>
                  <a:cubicBezTo>
                    <a:pt x="543" y="16"/>
                    <a:pt x="551" y="25"/>
                    <a:pt x="551" y="33"/>
                  </a:cubicBezTo>
                  <a:cubicBezTo>
                    <a:pt x="585" y="58"/>
                    <a:pt x="585" y="58"/>
                    <a:pt x="585" y="58"/>
                  </a:cubicBezTo>
                  <a:cubicBezTo>
                    <a:pt x="426" y="217"/>
                    <a:pt x="426" y="217"/>
                    <a:pt x="426" y="217"/>
                  </a:cubicBezTo>
                  <a:cubicBezTo>
                    <a:pt x="426" y="225"/>
                    <a:pt x="409" y="225"/>
                    <a:pt x="401" y="225"/>
                  </a:cubicBezTo>
                  <a:cubicBezTo>
                    <a:pt x="393" y="225"/>
                    <a:pt x="376" y="225"/>
                    <a:pt x="368" y="217"/>
                  </a:cubicBezTo>
                  <a:cubicBezTo>
                    <a:pt x="292" y="142"/>
                    <a:pt x="292" y="142"/>
                    <a:pt x="292" y="142"/>
                  </a:cubicBezTo>
                  <a:cubicBezTo>
                    <a:pt x="276" y="125"/>
                    <a:pt x="250" y="125"/>
                    <a:pt x="234" y="142"/>
                  </a:cubicBezTo>
                  <a:cubicBezTo>
                    <a:pt x="8" y="359"/>
                    <a:pt x="8" y="359"/>
                    <a:pt x="8" y="359"/>
                  </a:cubicBezTo>
                  <a:cubicBezTo>
                    <a:pt x="0" y="368"/>
                    <a:pt x="0" y="384"/>
                    <a:pt x="0" y="393"/>
                  </a:cubicBezTo>
                  <a:cubicBezTo>
                    <a:pt x="0" y="410"/>
                    <a:pt x="0" y="418"/>
                    <a:pt x="8" y="426"/>
                  </a:cubicBezTo>
                  <a:cubicBezTo>
                    <a:pt x="25" y="435"/>
                    <a:pt x="25" y="435"/>
                    <a:pt x="25" y="435"/>
                  </a:cubicBezTo>
                  <a:cubicBezTo>
                    <a:pt x="41" y="451"/>
                    <a:pt x="67" y="451"/>
                    <a:pt x="83" y="435"/>
                  </a:cubicBezTo>
                  <a:lnTo>
                    <a:pt x="234" y="284"/>
                  </a:lnTo>
                  <a:close/>
                  <a:moveTo>
                    <a:pt x="234" y="284"/>
                  </a:moveTo>
                  <a:lnTo>
                    <a:pt x="234" y="284"/>
                  </a:lnTo>
                  <a:close/>
                </a:path>
              </a:pathLst>
            </a:custGeom>
            <a:solidFill>
              <a:srgbClr val="FFFFFF">
                <a:alpha val="100000"/>
              </a:srgbClr>
            </a:solidFill>
            <a:ln/>
          </p:spPr>
        </p:sp>
        <p:sp>
          <p:nvSpPr>
            <p:cNvPr id="20" name="Freeform 20"/>
            <p:cNvSpPr/>
            <p:nvPr/>
          </p:nvSpPr>
          <p:spPr>
            <a:xfrm>
              <a:off x="9997333" y="3400044"/>
              <a:ext cx="685705" cy="695706"/>
            </a:xfrm>
            <a:custGeom>
              <a:avLst/>
              <a:gdLst/>
              <a:ahLst/>
              <a:cxnLst/>
              <a:rect l="l" t="t" r="r" b="b"/>
              <a:pathLst>
                <a:path w="929" h="921">
                  <a:moveTo>
                    <a:pt x="887" y="0"/>
                  </a:moveTo>
                  <a:cubicBezTo>
                    <a:pt x="862" y="0"/>
                    <a:pt x="836" y="26"/>
                    <a:pt x="836" y="50"/>
                  </a:cubicBezTo>
                  <a:cubicBezTo>
                    <a:pt x="836" y="837"/>
                    <a:pt x="836" y="837"/>
                    <a:pt x="836" y="837"/>
                  </a:cubicBezTo>
                  <a:cubicBezTo>
                    <a:pt x="51" y="837"/>
                    <a:pt x="51" y="837"/>
                    <a:pt x="51" y="837"/>
                  </a:cubicBezTo>
                  <a:cubicBezTo>
                    <a:pt x="26" y="837"/>
                    <a:pt x="0" y="853"/>
                    <a:pt x="0" y="878"/>
                  </a:cubicBezTo>
                  <a:cubicBezTo>
                    <a:pt x="0" y="903"/>
                    <a:pt x="26" y="920"/>
                    <a:pt x="51" y="920"/>
                  </a:cubicBezTo>
                  <a:cubicBezTo>
                    <a:pt x="887" y="920"/>
                    <a:pt x="887" y="920"/>
                    <a:pt x="887" y="920"/>
                  </a:cubicBezTo>
                  <a:cubicBezTo>
                    <a:pt x="912" y="920"/>
                    <a:pt x="928" y="903"/>
                    <a:pt x="928" y="878"/>
                  </a:cubicBezTo>
                  <a:cubicBezTo>
                    <a:pt x="928" y="50"/>
                    <a:pt x="928" y="50"/>
                    <a:pt x="928" y="50"/>
                  </a:cubicBezTo>
                  <a:cubicBezTo>
                    <a:pt x="928" y="26"/>
                    <a:pt x="903" y="0"/>
                    <a:pt x="887" y="0"/>
                  </a:cubicBezTo>
                  <a:close/>
                  <a:moveTo>
                    <a:pt x="887" y="0"/>
                  </a:moveTo>
                  <a:lnTo>
                    <a:pt x="887" y="0"/>
                  </a:lnTo>
                  <a:close/>
                </a:path>
              </a:pathLst>
            </a:custGeom>
            <a:solidFill>
              <a:srgbClr val="FFFFFF">
                <a:alpha val="100000"/>
              </a:srgbClr>
            </a:solidFill>
            <a:ln/>
          </p:spPr>
        </p:sp>
      </p:grpSp>
      <p:sp>
        <p:nvSpPr>
          <p:cNvPr id="21" name="Freeform 21"/>
          <p:cNvSpPr/>
          <p:nvPr/>
        </p:nvSpPr>
        <p:spPr>
          <a:xfrm>
            <a:off x="1935480" y="1646434"/>
            <a:ext cx="719895" cy="555403"/>
          </a:xfrm>
          <a:custGeom>
            <a:avLst/>
            <a:gdLst/>
            <a:ahLst/>
            <a:cxnLst/>
            <a:rect l="l" t="t" r="r" b="b"/>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rgbClr val="FFFFFF">
              <a:alpha val="100000"/>
            </a:srgbClr>
          </a:solidFill>
          <a:ln/>
        </p:spPr>
      </p:sp>
      <p:sp>
        <p:nvSpPr>
          <p:cNvPr id="22" name="Freeform 22"/>
          <p:cNvSpPr/>
          <p:nvPr/>
        </p:nvSpPr>
        <p:spPr>
          <a:xfrm>
            <a:off x="1975414" y="5261363"/>
            <a:ext cx="613870" cy="613870"/>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sp>
        <p:nvSpPr>
          <p:cNvPr id="45" name="TextBox 45"/>
          <p:cNvSpPr txBox="1"/>
          <p:nvPr/>
        </p:nvSpPr>
        <p:spPr>
          <a:xfrm>
            <a:off x="3314700" y="5303594"/>
            <a:ext cx="7382690" cy="863070"/>
          </a:xfrm>
          <a:prstGeom prst="rect">
            <a:avLst/>
          </a:prstGeom>
          <a:ln/>
        </p:spPr>
        <p:txBody>
          <a:bodyPr vert="horz" wrap="square" lIns="66008" tIns="33052" rIns="66008" bIns="33052" rtlCol="0" anchor="ctr" anchorCtr="0">
            <a:normAutofit/>
          </a:bodyPr>
          <a:lstStyle/>
          <a:p>
            <a:pPr algn="l">
              <a:lnSpc>
                <a:spcPct val="186000"/>
              </a:lnSpc>
            </a:pPr>
            <a:r>
              <a:rPr lang="en-US" sz="1275" dirty="0">
                <a:solidFill>
                  <a:srgbClr val="000000">
                    <a:alpha val="100000"/>
                  </a:srgbClr>
                </a:solidFill>
                <a:latin typeface="Microsoft Yahei"/>
                <a:ea typeface="Microsoft Yahei"/>
                <a:cs typeface="Microsoft Yahei"/>
              </a:rPr>
              <a:t>阐述绿色发展的理念和实践，如循环经济、绿色能源等，总结在推动经济可持续发展的同时保护生态环境的成功经验，并探讨如何在全球范围内推广绿色发展模式。</a:t>
            </a:r>
          </a:p>
        </p:txBody>
      </p:sp>
      <p:sp>
        <p:nvSpPr>
          <p:cNvPr id="46" name="TextBox 46"/>
          <p:cNvSpPr txBox="1"/>
          <p:nvPr/>
        </p:nvSpPr>
        <p:spPr>
          <a:xfrm>
            <a:off x="3314700" y="4838783"/>
            <a:ext cx="7382690" cy="490334"/>
          </a:xfrm>
          <a:prstGeom prst="rect">
            <a:avLst/>
          </a:prstGeom>
          <a:ln/>
        </p:spPr>
        <p:txBody>
          <a:bodyPr vert="horz" wrap="square" lIns="66008" tIns="33052" rIns="66008" bIns="33052" rtlCol="0" anchor="b" anchorCtr="0">
            <a:normAutofit/>
          </a:bodyPr>
          <a:lstStyle/>
          <a:p>
            <a:pPr algn="l">
              <a:lnSpc>
                <a:spcPct val="150000"/>
              </a:lnSpc>
            </a:pPr>
            <a:r>
              <a:rPr lang="en-US" sz="1725" b="1">
                <a:solidFill>
                  <a:schemeClr val="accent1">
                    <a:alpha val="100000"/>
                  </a:schemeClr>
                </a:solidFill>
                <a:latin typeface="Microsoft Yahei"/>
                <a:ea typeface="Microsoft Yahei"/>
                <a:cs typeface="Microsoft Yahei"/>
              </a:rPr>
              <a:t>绿色发展与可持续发展</a:t>
            </a:r>
          </a:p>
        </p:txBody>
      </p:sp>
      <p:sp>
        <p:nvSpPr>
          <p:cNvPr id="47" name="TextBox 47"/>
          <p:cNvSpPr txBox="1"/>
          <p:nvPr/>
        </p:nvSpPr>
        <p:spPr>
          <a:xfrm>
            <a:off x="3456760" y="1771107"/>
            <a:ext cx="7382690" cy="863070"/>
          </a:xfrm>
          <a:prstGeom prst="rect">
            <a:avLst/>
          </a:prstGeom>
          <a:ln/>
        </p:spPr>
        <p:txBody>
          <a:bodyPr vert="horz" wrap="square" lIns="66008" tIns="33052" rIns="66008" bIns="33052" rtlCol="0" anchor="ctr" anchorCtr="0">
            <a:normAutofit/>
          </a:bodyPr>
          <a:lstStyle/>
          <a:p>
            <a:pPr algn="l">
              <a:lnSpc>
                <a:spcPct val="186000"/>
              </a:lnSpc>
            </a:pPr>
            <a:r>
              <a:rPr lang="en-US" sz="1275" dirty="0" err="1">
                <a:solidFill>
                  <a:srgbClr val="000000">
                    <a:alpha val="100000"/>
                  </a:srgbClr>
                </a:solidFill>
                <a:latin typeface="Microsoft Yahei"/>
                <a:ea typeface="Microsoft Yahei"/>
                <a:cs typeface="Microsoft Yahei"/>
              </a:rPr>
              <a:t>介绍自然保护区的设立背景、保护目标和管理措施，总结成功保护珍稀濒危物种、维护生态系统平衡的经验，并探讨如何推广应用到其他区域</a:t>
            </a:r>
            <a:r>
              <a:rPr lang="en-US" sz="1275" dirty="0">
                <a:solidFill>
                  <a:srgbClr val="000000">
                    <a:alpha val="100000"/>
                  </a:srgbClr>
                </a:solidFill>
                <a:latin typeface="Microsoft Yahei"/>
                <a:ea typeface="Microsoft Yahei"/>
                <a:cs typeface="Microsoft Yahei"/>
              </a:rPr>
              <a:t>。</a:t>
            </a:r>
          </a:p>
        </p:txBody>
      </p:sp>
      <p:sp>
        <p:nvSpPr>
          <p:cNvPr id="48" name="TextBox 48"/>
          <p:cNvSpPr txBox="1"/>
          <p:nvPr/>
        </p:nvSpPr>
        <p:spPr>
          <a:xfrm>
            <a:off x="3456760" y="1395927"/>
            <a:ext cx="7293402" cy="490334"/>
          </a:xfrm>
          <a:prstGeom prst="rect">
            <a:avLst/>
          </a:prstGeom>
          <a:ln/>
        </p:spPr>
        <p:txBody>
          <a:bodyPr vert="horz" wrap="square" lIns="66008" tIns="33052" rIns="66008" bIns="33052" rtlCol="0" anchor="ctr" anchorCtr="0">
            <a:normAutofit/>
          </a:bodyPr>
          <a:lstStyle/>
          <a:p>
            <a:pPr algn="l">
              <a:lnSpc>
                <a:spcPct val="150000"/>
              </a:lnSpc>
            </a:pPr>
            <a:r>
              <a:rPr lang="en-US" sz="1725" b="1">
                <a:solidFill>
                  <a:schemeClr val="accent1">
                    <a:alpha val="100000"/>
                  </a:schemeClr>
                </a:solidFill>
                <a:latin typeface="Microsoft Yahei"/>
                <a:ea typeface="Microsoft Yahei"/>
                <a:cs typeface="Microsoft Yahei"/>
              </a:rPr>
              <a:t>自然保护区建设与管理</a:t>
            </a:r>
          </a:p>
        </p:txBody>
      </p:sp>
      <p:sp>
        <p:nvSpPr>
          <p:cNvPr id="49" name="TextBox 49"/>
          <p:cNvSpPr txBox="1"/>
          <p:nvPr/>
        </p:nvSpPr>
        <p:spPr>
          <a:xfrm>
            <a:off x="1704918" y="3545958"/>
            <a:ext cx="7382690" cy="863070"/>
          </a:xfrm>
          <a:prstGeom prst="rect">
            <a:avLst/>
          </a:prstGeom>
          <a:ln/>
        </p:spPr>
        <p:txBody>
          <a:bodyPr vert="horz" wrap="square" lIns="66008" tIns="33052" rIns="66008" bIns="33052" rtlCol="0" anchor="ctr" anchorCtr="0">
            <a:normAutofit/>
          </a:bodyPr>
          <a:lstStyle/>
          <a:p>
            <a:pPr algn="l">
              <a:lnSpc>
                <a:spcPct val="186000"/>
              </a:lnSpc>
            </a:pPr>
            <a:r>
              <a:rPr lang="en-US" sz="1275" dirty="0">
                <a:solidFill>
                  <a:srgbClr val="000000">
                    <a:alpha val="100000"/>
                  </a:srgbClr>
                </a:solidFill>
                <a:latin typeface="Microsoft Yahei"/>
                <a:ea typeface="Microsoft Yahei"/>
                <a:cs typeface="Microsoft Yahei"/>
              </a:rPr>
              <a:t>分析生态退化原因，如过度开发、气候变化等，介绍生态恢复与重建的技术和方法，如植被恢复、水土保持等，并总结成功恢复生态系统功能和生物多样性的经验。</a:t>
            </a:r>
          </a:p>
        </p:txBody>
      </p:sp>
      <p:sp>
        <p:nvSpPr>
          <p:cNvPr id="50" name="TextBox 50"/>
          <p:cNvSpPr txBox="1"/>
          <p:nvPr/>
        </p:nvSpPr>
        <p:spPr>
          <a:xfrm>
            <a:off x="1704918" y="3081147"/>
            <a:ext cx="7382690" cy="490334"/>
          </a:xfrm>
          <a:prstGeom prst="rect">
            <a:avLst/>
          </a:prstGeom>
          <a:ln/>
        </p:spPr>
        <p:txBody>
          <a:bodyPr vert="horz" wrap="square" lIns="66008" tIns="33052" rIns="66008" bIns="33052" rtlCol="0" anchor="b" anchorCtr="0">
            <a:normAutofit/>
          </a:bodyPr>
          <a:lstStyle/>
          <a:p>
            <a:pPr algn="l">
              <a:lnSpc>
                <a:spcPct val="150000"/>
              </a:lnSpc>
            </a:pPr>
            <a:r>
              <a:rPr lang="en-US" sz="1725" b="1">
                <a:solidFill>
                  <a:schemeClr val="accent1">
                    <a:alpha val="100000"/>
                  </a:schemeClr>
                </a:solidFill>
                <a:latin typeface="Microsoft Yahei"/>
                <a:ea typeface="Microsoft Yahei"/>
                <a:cs typeface="Microsoft Yahei"/>
              </a:rPr>
              <a:t>生态恢复与重建</a:t>
            </a:r>
          </a:p>
        </p:txBody>
      </p:sp>
      <p:grpSp>
        <p:nvGrpSpPr>
          <p:cNvPr id="51" name="组合 50">
            <a:extLst>
              <a:ext uri="{FF2B5EF4-FFF2-40B4-BE49-F238E27FC236}">
                <a16:creationId xmlns:a16="http://schemas.microsoft.com/office/drawing/2014/main" id="{42E8A42A-3AB7-4F49-924B-EEF9AB911109}"/>
              </a:ext>
            </a:extLst>
          </p:cNvPr>
          <p:cNvGrpSpPr/>
          <p:nvPr/>
        </p:nvGrpSpPr>
        <p:grpSpPr>
          <a:xfrm>
            <a:off x="159623" y="177840"/>
            <a:ext cx="11872754" cy="761297"/>
            <a:chOff x="222729" y="110880"/>
            <a:chExt cx="11872754" cy="761297"/>
          </a:xfrm>
        </p:grpSpPr>
        <p:grpSp>
          <p:nvGrpSpPr>
            <p:cNvPr id="52" name="组合 51">
              <a:extLst>
                <a:ext uri="{FF2B5EF4-FFF2-40B4-BE49-F238E27FC236}">
                  <a16:creationId xmlns:a16="http://schemas.microsoft.com/office/drawing/2014/main" id="{DFBB043A-76B9-4B10-A44D-A9AE0BCB1A96}"/>
                </a:ext>
              </a:extLst>
            </p:cNvPr>
            <p:cNvGrpSpPr/>
            <p:nvPr/>
          </p:nvGrpSpPr>
          <p:grpSpPr>
            <a:xfrm>
              <a:off x="222729" y="110880"/>
              <a:ext cx="11533332" cy="646331"/>
              <a:chOff x="443898" y="190992"/>
              <a:chExt cx="11533332" cy="646331"/>
            </a:xfrm>
          </p:grpSpPr>
          <p:sp>
            <p:nvSpPr>
              <p:cNvPr id="55" name="矩形 54">
                <a:extLst>
                  <a:ext uri="{FF2B5EF4-FFF2-40B4-BE49-F238E27FC236}">
                    <a16:creationId xmlns:a16="http://schemas.microsoft.com/office/drawing/2014/main" id="{8C23CAF4-4F90-45EF-A2C2-91C15ACC6A66}"/>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典型污染治理案例剖析</a:t>
                </a:r>
              </a:p>
            </p:txBody>
          </p:sp>
          <p:grpSp>
            <p:nvGrpSpPr>
              <p:cNvPr id="56" name="Group 6">
                <a:extLst>
                  <a:ext uri="{FF2B5EF4-FFF2-40B4-BE49-F238E27FC236}">
                    <a16:creationId xmlns:a16="http://schemas.microsoft.com/office/drawing/2014/main" id="{83EC0B15-03E6-4EF8-928D-56E968DACC3E}"/>
                  </a:ext>
                </a:extLst>
              </p:cNvPr>
              <p:cNvGrpSpPr/>
              <p:nvPr/>
            </p:nvGrpSpPr>
            <p:grpSpPr>
              <a:xfrm>
                <a:off x="443898" y="303114"/>
                <a:ext cx="515576" cy="439821"/>
                <a:chOff x="454963" y="331168"/>
                <a:chExt cx="515576" cy="439821"/>
              </a:xfrm>
            </p:grpSpPr>
            <p:sp>
              <p:nvSpPr>
                <p:cNvPr id="57" name="AutoShape 7">
                  <a:extLst>
                    <a:ext uri="{FF2B5EF4-FFF2-40B4-BE49-F238E27FC236}">
                      <a16:creationId xmlns:a16="http://schemas.microsoft.com/office/drawing/2014/main" id="{D49E09CF-9E11-4B45-BB17-24B6BA5556EB}"/>
                    </a:ext>
                  </a:extLst>
                </p:cNvPr>
                <p:cNvSpPr/>
                <p:nvPr/>
              </p:nvSpPr>
              <p:spPr>
                <a:xfrm>
                  <a:off x="454963" y="331168"/>
                  <a:ext cx="84147" cy="84147"/>
                </a:xfrm>
                <a:prstGeom prst="ellipse">
                  <a:avLst/>
                </a:prstGeom>
                <a:solidFill>
                  <a:schemeClr val="accent1">
                    <a:alpha val="100000"/>
                  </a:schemeClr>
                </a:solidFill>
              </p:spPr>
            </p:sp>
            <p:sp>
              <p:nvSpPr>
                <p:cNvPr id="58" name="AutoShape 8">
                  <a:extLst>
                    <a:ext uri="{FF2B5EF4-FFF2-40B4-BE49-F238E27FC236}">
                      <a16:creationId xmlns:a16="http://schemas.microsoft.com/office/drawing/2014/main" id="{AC91DBFA-A183-47A8-BC49-19C565025777}"/>
                    </a:ext>
                  </a:extLst>
                </p:cNvPr>
                <p:cNvSpPr/>
                <p:nvPr/>
              </p:nvSpPr>
              <p:spPr>
                <a:xfrm>
                  <a:off x="575049" y="337743"/>
                  <a:ext cx="78137" cy="78137"/>
                </a:xfrm>
                <a:prstGeom prst="ellipse">
                  <a:avLst/>
                </a:prstGeom>
                <a:solidFill>
                  <a:schemeClr val="accent1">
                    <a:alpha val="80000"/>
                  </a:schemeClr>
                </a:solidFill>
              </p:spPr>
            </p:sp>
            <p:sp>
              <p:nvSpPr>
                <p:cNvPr id="59" name="AutoShape 9">
                  <a:extLst>
                    <a:ext uri="{FF2B5EF4-FFF2-40B4-BE49-F238E27FC236}">
                      <a16:creationId xmlns:a16="http://schemas.microsoft.com/office/drawing/2014/main" id="{BAE914C0-3DBF-4EC1-B485-05B932FA671F}"/>
                    </a:ext>
                  </a:extLst>
                </p:cNvPr>
                <p:cNvSpPr/>
                <p:nvPr/>
              </p:nvSpPr>
              <p:spPr>
                <a:xfrm>
                  <a:off x="689125" y="339460"/>
                  <a:ext cx="74704" cy="74704"/>
                </a:xfrm>
                <a:prstGeom prst="ellipse">
                  <a:avLst/>
                </a:prstGeom>
                <a:solidFill>
                  <a:schemeClr val="accent1">
                    <a:alpha val="60000"/>
                  </a:schemeClr>
                </a:solidFill>
              </p:spPr>
            </p:sp>
            <p:sp>
              <p:nvSpPr>
                <p:cNvPr id="60" name="AutoShape 10">
                  <a:extLst>
                    <a:ext uri="{FF2B5EF4-FFF2-40B4-BE49-F238E27FC236}">
                      <a16:creationId xmlns:a16="http://schemas.microsoft.com/office/drawing/2014/main" id="{3ED10B67-3AB8-41D8-AC29-01C3752F8BF1}"/>
                    </a:ext>
                  </a:extLst>
                </p:cNvPr>
                <p:cNvSpPr/>
                <p:nvPr/>
              </p:nvSpPr>
              <p:spPr>
                <a:xfrm>
                  <a:off x="799768" y="348430"/>
                  <a:ext cx="69238" cy="69238"/>
                </a:xfrm>
                <a:prstGeom prst="ellipse">
                  <a:avLst/>
                </a:prstGeom>
                <a:solidFill>
                  <a:schemeClr val="accent1">
                    <a:alpha val="40000"/>
                  </a:schemeClr>
                </a:solidFill>
              </p:spPr>
            </p:sp>
            <p:sp>
              <p:nvSpPr>
                <p:cNvPr id="61" name="AutoShape 11">
                  <a:extLst>
                    <a:ext uri="{FF2B5EF4-FFF2-40B4-BE49-F238E27FC236}">
                      <a16:creationId xmlns:a16="http://schemas.microsoft.com/office/drawing/2014/main" id="{84A1F9AE-B9FD-49AD-AA5B-A89553B0309F}"/>
                    </a:ext>
                  </a:extLst>
                </p:cNvPr>
                <p:cNvSpPr/>
                <p:nvPr/>
              </p:nvSpPr>
              <p:spPr>
                <a:xfrm>
                  <a:off x="904945" y="344297"/>
                  <a:ext cx="65594" cy="65594"/>
                </a:xfrm>
                <a:prstGeom prst="ellipse">
                  <a:avLst/>
                </a:prstGeom>
                <a:solidFill>
                  <a:schemeClr val="accent1">
                    <a:alpha val="20000"/>
                  </a:schemeClr>
                </a:solidFill>
              </p:spPr>
            </p:sp>
            <p:sp>
              <p:nvSpPr>
                <p:cNvPr id="62" name="AutoShape 12">
                  <a:extLst>
                    <a:ext uri="{FF2B5EF4-FFF2-40B4-BE49-F238E27FC236}">
                      <a16:creationId xmlns:a16="http://schemas.microsoft.com/office/drawing/2014/main" id="{935CC55E-7B6A-489E-B1F1-AD3CD795A0EA}"/>
                    </a:ext>
                  </a:extLst>
                </p:cNvPr>
                <p:cNvSpPr/>
                <p:nvPr/>
              </p:nvSpPr>
              <p:spPr>
                <a:xfrm>
                  <a:off x="454963" y="448942"/>
                  <a:ext cx="84147" cy="84147"/>
                </a:xfrm>
                <a:prstGeom prst="ellipse">
                  <a:avLst/>
                </a:prstGeom>
                <a:solidFill>
                  <a:schemeClr val="accent1">
                    <a:alpha val="100000"/>
                  </a:schemeClr>
                </a:solidFill>
              </p:spPr>
            </p:sp>
            <p:sp>
              <p:nvSpPr>
                <p:cNvPr id="63" name="AutoShape 13">
                  <a:extLst>
                    <a:ext uri="{FF2B5EF4-FFF2-40B4-BE49-F238E27FC236}">
                      <a16:creationId xmlns:a16="http://schemas.microsoft.com/office/drawing/2014/main" id="{BD7418E3-B10A-4EA3-975D-5C80343C83BC}"/>
                    </a:ext>
                  </a:extLst>
                </p:cNvPr>
                <p:cNvSpPr/>
                <p:nvPr/>
              </p:nvSpPr>
              <p:spPr>
                <a:xfrm>
                  <a:off x="575049" y="455517"/>
                  <a:ext cx="78137" cy="78137"/>
                </a:xfrm>
                <a:prstGeom prst="ellipse">
                  <a:avLst/>
                </a:prstGeom>
                <a:solidFill>
                  <a:schemeClr val="accent1">
                    <a:alpha val="80000"/>
                  </a:schemeClr>
                </a:solidFill>
              </p:spPr>
            </p:sp>
            <p:sp>
              <p:nvSpPr>
                <p:cNvPr id="64" name="AutoShape 14">
                  <a:extLst>
                    <a:ext uri="{FF2B5EF4-FFF2-40B4-BE49-F238E27FC236}">
                      <a16:creationId xmlns:a16="http://schemas.microsoft.com/office/drawing/2014/main" id="{0CF9E41A-CD4B-4DBA-962C-4BFA57E675B9}"/>
                    </a:ext>
                  </a:extLst>
                </p:cNvPr>
                <p:cNvSpPr/>
                <p:nvPr/>
              </p:nvSpPr>
              <p:spPr>
                <a:xfrm>
                  <a:off x="689125" y="457233"/>
                  <a:ext cx="74704" cy="74704"/>
                </a:xfrm>
                <a:prstGeom prst="ellipse">
                  <a:avLst/>
                </a:prstGeom>
                <a:solidFill>
                  <a:schemeClr val="accent1">
                    <a:alpha val="60000"/>
                  </a:schemeClr>
                </a:solidFill>
              </p:spPr>
            </p:sp>
            <p:sp>
              <p:nvSpPr>
                <p:cNvPr id="65" name="AutoShape 15">
                  <a:extLst>
                    <a:ext uri="{FF2B5EF4-FFF2-40B4-BE49-F238E27FC236}">
                      <a16:creationId xmlns:a16="http://schemas.microsoft.com/office/drawing/2014/main" id="{9892BD13-DB61-4851-BA25-841DEEC2D1AA}"/>
                    </a:ext>
                  </a:extLst>
                </p:cNvPr>
                <p:cNvSpPr/>
                <p:nvPr/>
              </p:nvSpPr>
              <p:spPr>
                <a:xfrm>
                  <a:off x="799768" y="466203"/>
                  <a:ext cx="69238" cy="69238"/>
                </a:xfrm>
                <a:prstGeom prst="ellipse">
                  <a:avLst/>
                </a:prstGeom>
                <a:solidFill>
                  <a:schemeClr val="accent1">
                    <a:alpha val="40000"/>
                  </a:schemeClr>
                </a:solidFill>
              </p:spPr>
            </p:sp>
            <p:sp>
              <p:nvSpPr>
                <p:cNvPr id="66" name="AutoShape 16">
                  <a:extLst>
                    <a:ext uri="{FF2B5EF4-FFF2-40B4-BE49-F238E27FC236}">
                      <a16:creationId xmlns:a16="http://schemas.microsoft.com/office/drawing/2014/main" id="{1B56CE37-D2D5-4A7D-ACA6-230678CBDAA4}"/>
                    </a:ext>
                  </a:extLst>
                </p:cNvPr>
                <p:cNvSpPr/>
                <p:nvPr/>
              </p:nvSpPr>
              <p:spPr>
                <a:xfrm>
                  <a:off x="904945" y="462070"/>
                  <a:ext cx="65594" cy="65594"/>
                </a:xfrm>
                <a:prstGeom prst="ellipse">
                  <a:avLst/>
                </a:prstGeom>
                <a:solidFill>
                  <a:schemeClr val="accent1">
                    <a:alpha val="20000"/>
                  </a:schemeClr>
                </a:solidFill>
              </p:spPr>
            </p:sp>
            <p:sp>
              <p:nvSpPr>
                <p:cNvPr id="67" name="AutoShape 17">
                  <a:extLst>
                    <a:ext uri="{FF2B5EF4-FFF2-40B4-BE49-F238E27FC236}">
                      <a16:creationId xmlns:a16="http://schemas.microsoft.com/office/drawing/2014/main" id="{41FB0F5C-061D-4DE6-BF5C-0AEEE62F2DC0}"/>
                    </a:ext>
                  </a:extLst>
                </p:cNvPr>
                <p:cNvSpPr/>
                <p:nvPr/>
              </p:nvSpPr>
              <p:spPr>
                <a:xfrm>
                  <a:off x="454963" y="566715"/>
                  <a:ext cx="84147" cy="84147"/>
                </a:xfrm>
                <a:prstGeom prst="ellipse">
                  <a:avLst/>
                </a:prstGeom>
                <a:solidFill>
                  <a:schemeClr val="accent1">
                    <a:alpha val="100000"/>
                  </a:schemeClr>
                </a:solidFill>
              </p:spPr>
            </p:sp>
            <p:sp>
              <p:nvSpPr>
                <p:cNvPr id="68" name="AutoShape 18">
                  <a:extLst>
                    <a:ext uri="{FF2B5EF4-FFF2-40B4-BE49-F238E27FC236}">
                      <a16:creationId xmlns:a16="http://schemas.microsoft.com/office/drawing/2014/main" id="{F2AB0C05-A3FD-4B2F-A2E6-02ED038DE4A6}"/>
                    </a:ext>
                  </a:extLst>
                </p:cNvPr>
                <p:cNvSpPr/>
                <p:nvPr/>
              </p:nvSpPr>
              <p:spPr>
                <a:xfrm>
                  <a:off x="575049" y="573291"/>
                  <a:ext cx="78137" cy="78137"/>
                </a:xfrm>
                <a:prstGeom prst="ellipse">
                  <a:avLst/>
                </a:prstGeom>
                <a:solidFill>
                  <a:schemeClr val="accent1">
                    <a:alpha val="80000"/>
                  </a:schemeClr>
                </a:solidFill>
              </p:spPr>
            </p:sp>
            <p:sp>
              <p:nvSpPr>
                <p:cNvPr id="69" name="AutoShape 19">
                  <a:extLst>
                    <a:ext uri="{FF2B5EF4-FFF2-40B4-BE49-F238E27FC236}">
                      <a16:creationId xmlns:a16="http://schemas.microsoft.com/office/drawing/2014/main" id="{3A40CA96-4C0E-48FB-BE1F-E12E586265AF}"/>
                    </a:ext>
                  </a:extLst>
                </p:cNvPr>
                <p:cNvSpPr/>
                <p:nvPr/>
              </p:nvSpPr>
              <p:spPr>
                <a:xfrm>
                  <a:off x="689125" y="575007"/>
                  <a:ext cx="74704" cy="74704"/>
                </a:xfrm>
                <a:prstGeom prst="ellipse">
                  <a:avLst/>
                </a:prstGeom>
                <a:solidFill>
                  <a:schemeClr val="accent1">
                    <a:alpha val="60000"/>
                  </a:schemeClr>
                </a:solidFill>
              </p:spPr>
            </p:sp>
            <p:sp>
              <p:nvSpPr>
                <p:cNvPr id="70" name="AutoShape 20">
                  <a:extLst>
                    <a:ext uri="{FF2B5EF4-FFF2-40B4-BE49-F238E27FC236}">
                      <a16:creationId xmlns:a16="http://schemas.microsoft.com/office/drawing/2014/main" id="{B93A8477-D463-4863-B894-A34BB1D5344F}"/>
                    </a:ext>
                  </a:extLst>
                </p:cNvPr>
                <p:cNvSpPr/>
                <p:nvPr/>
              </p:nvSpPr>
              <p:spPr>
                <a:xfrm>
                  <a:off x="799768" y="583977"/>
                  <a:ext cx="69238" cy="69238"/>
                </a:xfrm>
                <a:prstGeom prst="ellipse">
                  <a:avLst/>
                </a:prstGeom>
                <a:solidFill>
                  <a:schemeClr val="accent1">
                    <a:alpha val="40000"/>
                  </a:schemeClr>
                </a:solidFill>
              </p:spPr>
            </p:sp>
            <p:sp>
              <p:nvSpPr>
                <p:cNvPr id="71" name="AutoShape 21">
                  <a:extLst>
                    <a:ext uri="{FF2B5EF4-FFF2-40B4-BE49-F238E27FC236}">
                      <a16:creationId xmlns:a16="http://schemas.microsoft.com/office/drawing/2014/main" id="{D4BDB9B8-0AAE-4A0E-AFBF-2FC79CD09689}"/>
                    </a:ext>
                  </a:extLst>
                </p:cNvPr>
                <p:cNvSpPr/>
                <p:nvPr/>
              </p:nvSpPr>
              <p:spPr>
                <a:xfrm>
                  <a:off x="904945" y="579844"/>
                  <a:ext cx="65594" cy="65594"/>
                </a:xfrm>
                <a:prstGeom prst="ellipse">
                  <a:avLst/>
                </a:prstGeom>
                <a:solidFill>
                  <a:schemeClr val="accent1">
                    <a:alpha val="20000"/>
                  </a:schemeClr>
                </a:solidFill>
              </p:spPr>
            </p:sp>
            <p:sp>
              <p:nvSpPr>
                <p:cNvPr id="72" name="AutoShape 22">
                  <a:extLst>
                    <a:ext uri="{FF2B5EF4-FFF2-40B4-BE49-F238E27FC236}">
                      <a16:creationId xmlns:a16="http://schemas.microsoft.com/office/drawing/2014/main" id="{E1FC935B-0357-49BC-A49D-8D63DF35C547}"/>
                    </a:ext>
                  </a:extLst>
                </p:cNvPr>
                <p:cNvSpPr/>
                <p:nvPr/>
              </p:nvSpPr>
              <p:spPr>
                <a:xfrm>
                  <a:off x="454963" y="684489"/>
                  <a:ext cx="84147" cy="84147"/>
                </a:xfrm>
                <a:prstGeom prst="ellipse">
                  <a:avLst/>
                </a:prstGeom>
                <a:solidFill>
                  <a:schemeClr val="accent1">
                    <a:alpha val="100000"/>
                  </a:schemeClr>
                </a:solidFill>
              </p:spPr>
            </p:sp>
            <p:sp>
              <p:nvSpPr>
                <p:cNvPr id="73" name="AutoShape 23">
                  <a:extLst>
                    <a:ext uri="{FF2B5EF4-FFF2-40B4-BE49-F238E27FC236}">
                      <a16:creationId xmlns:a16="http://schemas.microsoft.com/office/drawing/2014/main" id="{6CAD368F-725B-458C-8233-DD539A4C3294}"/>
                    </a:ext>
                  </a:extLst>
                </p:cNvPr>
                <p:cNvSpPr/>
                <p:nvPr/>
              </p:nvSpPr>
              <p:spPr>
                <a:xfrm>
                  <a:off x="575049" y="691064"/>
                  <a:ext cx="78137" cy="78137"/>
                </a:xfrm>
                <a:prstGeom prst="ellipse">
                  <a:avLst/>
                </a:prstGeom>
                <a:solidFill>
                  <a:schemeClr val="accent1">
                    <a:alpha val="80000"/>
                  </a:schemeClr>
                </a:solidFill>
              </p:spPr>
            </p:sp>
            <p:sp>
              <p:nvSpPr>
                <p:cNvPr id="74" name="AutoShape 24">
                  <a:extLst>
                    <a:ext uri="{FF2B5EF4-FFF2-40B4-BE49-F238E27FC236}">
                      <a16:creationId xmlns:a16="http://schemas.microsoft.com/office/drawing/2014/main" id="{E4DA6273-7831-4599-A730-9EABD2EB1149}"/>
                    </a:ext>
                  </a:extLst>
                </p:cNvPr>
                <p:cNvSpPr/>
                <p:nvPr/>
              </p:nvSpPr>
              <p:spPr>
                <a:xfrm>
                  <a:off x="689125" y="692781"/>
                  <a:ext cx="74704" cy="74704"/>
                </a:xfrm>
                <a:prstGeom prst="ellipse">
                  <a:avLst/>
                </a:prstGeom>
                <a:solidFill>
                  <a:schemeClr val="accent1">
                    <a:alpha val="60000"/>
                  </a:schemeClr>
                </a:solidFill>
              </p:spPr>
            </p:sp>
            <p:sp>
              <p:nvSpPr>
                <p:cNvPr id="75" name="AutoShape 25">
                  <a:extLst>
                    <a:ext uri="{FF2B5EF4-FFF2-40B4-BE49-F238E27FC236}">
                      <a16:creationId xmlns:a16="http://schemas.microsoft.com/office/drawing/2014/main" id="{4E13B9FD-6468-4B71-A66F-7842BAB48DDB}"/>
                    </a:ext>
                  </a:extLst>
                </p:cNvPr>
                <p:cNvSpPr/>
                <p:nvPr/>
              </p:nvSpPr>
              <p:spPr>
                <a:xfrm>
                  <a:off x="799768" y="701751"/>
                  <a:ext cx="69238" cy="69238"/>
                </a:xfrm>
                <a:prstGeom prst="ellipse">
                  <a:avLst/>
                </a:prstGeom>
                <a:solidFill>
                  <a:schemeClr val="accent1">
                    <a:alpha val="40000"/>
                  </a:schemeClr>
                </a:solidFill>
              </p:spPr>
            </p:sp>
            <p:sp>
              <p:nvSpPr>
                <p:cNvPr id="76" name="AutoShape 26">
                  <a:extLst>
                    <a:ext uri="{FF2B5EF4-FFF2-40B4-BE49-F238E27FC236}">
                      <a16:creationId xmlns:a16="http://schemas.microsoft.com/office/drawing/2014/main" id="{6971DFF6-E0C0-4933-BA2B-EEF1085AD916}"/>
                    </a:ext>
                  </a:extLst>
                </p:cNvPr>
                <p:cNvSpPr/>
                <p:nvPr/>
              </p:nvSpPr>
              <p:spPr>
                <a:xfrm>
                  <a:off x="904945" y="697618"/>
                  <a:ext cx="65594" cy="65594"/>
                </a:xfrm>
                <a:prstGeom prst="ellipse">
                  <a:avLst/>
                </a:prstGeom>
                <a:solidFill>
                  <a:schemeClr val="accent1">
                    <a:alpha val="20000"/>
                  </a:schemeClr>
                </a:solidFill>
              </p:spPr>
            </p:sp>
          </p:grpSp>
        </p:grpSp>
        <p:sp>
          <p:nvSpPr>
            <p:cNvPr id="53" name="平行四边形 52">
              <a:extLst>
                <a:ext uri="{FF2B5EF4-FFF2-40B4-BE49-F238E27FC236}">
                  <a16:creationId xmlns:a16="http://schemas.microsoft.com/office/drawing/2014/main" id="{51390D75-16D2-4AE0-A748-C40F4FCC7F9B}"/>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4" name="平行四边形 53">
              <a:extLst>
                <a:ext uri="{FF2B5EF4-FFF2-40B4-BE49-F238E27FC236}">
                  <a16:creationId xmlns:a16="http://schemas.microsoft.com/office/drawing/2014/main" id="{6DB854A8-5B60-40DA-973C-E0775F4A07ED}"/>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256157" y="2737047"/>
            <a:ext cx="7935844" cy="1048300"/>
          </a:xfrm>
          <a:prstGeom prst="rect">
            <a:avLst/>
          </a:prstGeom>
        </p:spPr>
        <p:txBody>
          <a:bodyPr vert="horz" wrap="square" lIns="114300" tIns="57150" rIns="114300" bIns="57150" rtlCol="0" anchor="t" anchorCtr="0">
            <a:spAutoFit/>
          </a:bodyPr>
          <a:lstStyle/>
          <a:p>
            <a:pPr lvl="0">
              <a:lnSpc>
                <a:spcPct val="120000"/>
              </a:lnSpc>
            </a:pPr>
            <a:r>
              <a:rPr lang="zh-CN" altLang="en-US" sz="5400" b="1" dirty="0">
                <a:solidFill>
                  <a:srgbClr val="2C4E8C"/>
                </a:solidFill>
                <a:latin typeface="等线" panose="02010600030101010101" pitchFamily="2" charset="-122"/>
                <a:cs typeface="Arial" panose="020B0604020202020204" pitchFamily="34" charset="0"/>
              </a:rPr>
              <a:t>科技创新与产业发展趋势</a:t>
            </a:r>
          </a:p>
        </p:txBody>
      </p:sp>
      <p:sp>
        <p:nvSpPr>
          <p:cNvPr id="3" name="TextBox 3"/>
          <p:cNvSpPr txBox="1"/>
          <p:nvPr/>
        </p:nvSpPr>
        <p:spPr>
          <a:xfrm>
            <a:off x="1217733" y="3030076"/>
            <a:ext cx="2148230" cy="755271"/>
          </a:xfrm>
          <a:prstGeom prst="rect">
            <a:avLst/>
          </a:prstGeom>
        </p:spPr>
        <p:txBody>
          <a:bodyPr vert="horz" wrap="square" lIns="114300" tIns="57150" rIns="114300" bIns="57150" rtlCol="0" anchor="ctr" anchorCtr="0">
            <a:spAutoFit/>
          </a:bodyPr>
          <a:lstStyle/>
          <a:p>
            <a:pPr marL="0" marR="0" lvl="0" indent="0" algn="ctr" defTabSz="914400" rtl="0" eaLnBrk="1" fontAlgn="auto" latinLnBrk="0" hangingPunct="1">
              <a:lnSpc>
                <a:spcPct val="77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2C4E8C"/>
                </a:solidFill>
                <a:effectLst/>
                <a:uLnTx/>
                <a:uFillTx/>
                <a:latin typeface="Arial"/>
                <a:ea typeface="Arial"/>
                <a:cs typeface="Arial"/>
              </a:rPr>
              <a:t>05</a:t>
            </a:r>
          </a:p>
        </p:txBody>
      </p:sp>
    </p:spTree>
    <p:extLst>
      <p:ext uri="{BB962C8B-B14F-4D97-AF65-F5344CB8AC3E}">
        <p14:creationId xmlns:p14="http://schemas.microsoft.com/office/powerpoint/2010/main" val="3634274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科技创新推动环境保护进步</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67" name="Group 9">
            <a:extLst>
              <a:ext uri="{FF2B5EF4-FFF2-40B4-BE49-F238E27FC236}">
                <a16:creationId xmlns:a16="http://schemas.microsoft.com/office/drawing/2014/main" id="{6F03009A-EF4F-4F94-A8D0-099CA415B3C5}"/>
              </a:ext>
            </a:extLst>
          </p:cNvPr>
          <p:cNvGrpSpPr/>
          <p:nvPr/>
        </p:nvGrpSpPr>
        <p:grpSpPr>
          <a:xfrm>
            <a:off x="699663" y="3405486"/>
            <a:ext cx="7566238" cy="962601"/>
            <a:chOff x="5925310" y="1577851"/>
            <a:chExt cx="8532751" cy="853142"/>
          </a:xfrm>
        </p:grpSpPr>
        <p:sp>
          <p:nvSpPr>
            <p:cNvPr id="71" name="TextBox 10">
              <a:extLst>
                <a:ext uri="{FF2B5EF4-FFF2-40B4-BE49-F238E27FC236}">
                  <a16:creationId xmlns:a16="http://schemas.microsoft.com/office/drawing/2014/main" id="{AB14FAA3-A65F-4850-BA69-83107134640E}"/>
                </a:ext>
              </a:extLst>
            </p:cNvPr>
            <p:cNvSpPr txBox="1"/>
            <p:nvPr/>
          </p:nvSpPr>
          <p:spPr>
            <a:xfrm>
              <a:off x="5925310" y="1577851"/>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清洁能源技术推广</a:t>
              </a:r>
            </a:p>
          </p:txBody>
        </p:sp>
        <p:sp>
          <p:nvSpPr>
            <p:cNvPr id="72" name="TextBox 11">
              <a:extLst>
                <a:ext uri="{FF2B5EF4-FFF2-40B4-BE49-F238E27FC236}">
                  <a16:creationId xmlns:a16="http://schemas.microsoft.com/office/drawing/2014/main" id="{1A67078A-B7EC-41F8-83FB-70E3E973497E}"/>
                </a:ext>
              </a:extLst>
            </p:cNvPr>
            <p:cNvSpPr txBox="1"/>
            <p:nvPr/>
          </p:nvSpPr>
          <p:spPr>
            <a:xfrm>
              <a:off x="5982797" y="2022450"/>
              <a:ext cx="8475264" cy="408543"/>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如太阳能、风能等可再生能源的利用，降低碳排放。</a:t>
              </a:r>
            </a:p>
          </p:txBody>
        </p:sp>
      </p:grpSp>
      <p:grpSp>
        <p:nvGrpSpPr>
          <p:cNvPr id="37" name="Group 9">
            <a:extLst>
              <a:ext uri="{FF2B5EF4-FFF2-40B4-BE49-F238E27FC236}">
                <a16:creationId xmlns:a16="http://schemas.microsoft.com/office/drawing/2014/main" id="{0A8A4520-F4C8-456F-9256-747A2E53BE5D}"/>
              </a:ext>
            </a:extLst>
          </p:cNvPr>
          <p:cNvGrpSpPr/>
          <p:nvPr/>
        </p:nvGrpSpPr>
        <p:grpSpPr>
          <a:xfrm>
            <a:off x="675199" y="1692945"/>
            <a:ext cx="7208428" cy="962601"/>
            <a:chOff x="5925310" y="1577851"/>
            <a:chExt cx="6633724" cy="853142"/>
          </a:xfrm>
        </p:grpSpPr>
        <p:sp>
          <p:nvSpPr>
            <p:cNvPr id="38" name="TextBox 10">
              <a:extLst>
                <a:ext uri="{FF2B5EF4-FFF2-40B4-BE49-F238E27FC236}">
                  <a16:creationId xmlns:a16="http://schemas.microsoft.com/office/drawing/2014/main" id="{2B50B84D-B0F9-457B-A3AF-E2A5113E19CD}"/>
                </a:ext>
              </a:extLst>
            </p:cNvPr>
            <p:cNvSpPr txBox="1"/>
            <p:nvPr/>
          </p:nvSpPr>
          <p:spPr>
            <a:xfrm>
              <a:off x="5925310" y="1577851"/>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新型环保材料研发</a:t>
              </a:r>
            </a:p>
          </p:txBody>
        </p:sp>
        <p:sp>
          <p:nvSpPr>
            <p:cNvPr id="39" name="TextBox 11">
              <a:extLst>
                <a:ext uri="{FF2B5EF4-FFF2-40B4-BE49-F238E27FC236}">
                  <a16:creationId xmlns:a16="http://schemas.microsoft.com/office/drawing/2014/main" id="{91628E70-70BE-4C24-BE93-C7D161AD07AA}"/>
                </a:ext>
              </a:extLst>
            </p:cNvPr>
            <p:cNvSpPr txBox="1"/>
            <p:nvPr/>
          </p:nvSpPr>
          <p:spPr>
            <a:xfrm>
              <a:off x="5925310" y="2022450"/>
              <a:ext cx="6633724" cy="408543"/>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例如可降解塑料、高效过滤材料等，减少环境污染。</a:t>
              </a:r>
            </a:p>
          </p:txBody>
        </p:sp>
      </p:grpSp>
      <p:grpSp>
        <p:nvGrpSpPr>
          <p:cNvPr id="40" name="Group 9">
            <a:extLst>
              <a:ext uri="{FF2B5EF4-FFF2-40B4-BE49-F238E27FC236}">
                <a16:creationId xmlns:a16="http://schemas.microsoft.com/office/drawing/2014/main" id="{71962EE9-DC9D-4D8E-9A02-41E7EADCBF29}"/>
              </a:ext>
            </a:extLst>
          </p:cNvPr>
          <p:cNvGrpSpPr/>
          <p:nvPr/>
        </p:nvGrpSpPr>
        <p:grpSpPr>
          <a:xfrm>
            <a:off x="699663" y="5087182"/>
            <a:ext cx="7495770" cy="927499"/>
            <a:chOff x="5947442" y="1608962"/>
            <a:chExt cx="8510619" cy="822031"/>
          </a:xfrm>
        </p:grpSpPr>
        <p:sp>
          <p:nvSpPr>
            <p:cNvPr id="41" name="TextBox 10">
              <a:extLst>
                <a:ext uri="{FF2B5EF4-FFF2-40B4-BE49-F238E27FC236}">
                  <a16:creationId xmlns:a16="http://schemas.microsoft.com/office/drawing/2014/main" id="{4CF71677-8E43-400F-967B-2A69C9987890}"/>
                </a:ext>
              </a:extLst>
            </p:cNvPr>
            <p:cNvSpPr txBox="1"/>
            <p:nvPr/>
          </p:nvSpPr>
          <p:spPr>
            <a:xfrm>
              <a:off x="5947442" y="1608962"/>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智能化环保设备研发</a:t>
              </a:r>
            </a:p>
          </p:txBody>
        </p:sp>
        <p:sp>
          <p:nvSpPr>
            <p:cNvPr id="42" name="TextBox 11">
              <a:extLst>
                <a:ext uri="{FF2B5EF4-FFF2-40B4-BE49-F238E27FC236}">
                  <a16:creationId xmlns:a16="http://schemas.microsoft.com/office/drawing/2014/main" id="{ACD9879E-DFA0-4014-A4D9-E15D1BD7DF60}"/>
                </a:ext>
              </a:extLst>
            </p:cNvPr>
            <p:cNvSpPr txBox="1"/>
            <p:nvPr/>
          </p:nvSpPr>
          <p:spPr>
            <a:xfrm>
              <a:off x="5982797" y="2022450"/>
              <a:ext cx="8475264" cy="408543"/>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运用物联网、大数据等技术提升环保设备性能。</a:t>
              </a:r>
            </a:p>
          </p:txBody>
        </p:sp>
      </p:grpSp>
      <p:grpSp>
        <p:nvGrpSpPr>
          <p:cNvPr id="49" name="组合 48">
            <a:extLst>
              <a:ext uri="{FF2B5EF4-FFF2-40B4-BE49-F238E27FC236}">
                <a16:creationId xmlns:a16="http://schemas.microsoft.com/office/drawing/2014/main" id="{81DCAD2F-B02A-4508-B10D-7A260EE531A3}"/>
              </a:ext>
            </a:extLst>
          </p:cNvPr>
          <p:cNvGrpSpPr/>
          <p:nvPr/>
        </p:nvGrpSpPr>
        <p:grpSpPr>
          <a:xfrm>
            <a:off x="7062759" y="1394780"/>
            <a:ext cx="4378603" cy="4478524"/>
            <a:chOff x="6921648" y="1482987"/>
            <a:chExt cx="4378603" cy="4478524"/>
          </a:xfrm>
        </p:grpSpPr>
        <p:sp>
          <p:nvSpPr>
            <p:cNvPr id="50" name="AutoShape 2">
              <a:extLst>
                <a:ext uri="{FF2B5EF4-FFF2-40B4-BE49-F238E27FC236}">
                  <a16:creationId xmlns:a16="http://schemas.microsoft.com/office/drawing/2014/main" id="{377E38C9-8A55-42AC-8624-84D966DFAB61}"/>
                </a:ext>
              </a:extLst>
            </p:cNvPr>
            <p:cNvSpPr/>
            <p:nvPr/>
          </p:nvSpPr>
          <p:spPr>
            <a:xfrm>
              <a:off x="7150141" y="2021983"/>
              <a:ext cx="3939528" cy="3939528"/>
            </a:xfrm>
            <a:prstGeom prst="ellipse">
              <a:avLst/>
            </a:prstGeom>
            <a:solidFill>
              <a:schemeClr val="accent2">
                <a:lumMod val="60000"/>
                <a:lumOff val="40000"/>
                <a:alpha val="100000"/>
              </a:schemeClr>
            </a:solidFill>
            <a:ln/>
          </p:spPr>
        </p:sp>
        <p:pic>
          <p:nvPicPr>
            <p:cNvPr id="51" name="Picture 9">
              <a:extLst>
                <a:ext uri="{FF2B5EF4-FFF2-40B4-BE49-F238E27FC236}">
                  <a16:creationId xmlns:a16="http://schemas.microsoft.com/office/drawing/2014/main" id="{8F96C370-5F0A-4A59-A67E-BB5AF0FA2EA7}"/>
                </a:ext>
              </a:extLst>
            </p:cNvPr>
            <p:cNvPicPr>
              <a:picLocks noChangeAspect="1"/>
            </p:cNvPicPr>
            <p:nvPr/>
          </p:nvPicPr>
          <p:blipFill>
            <a:blip r:embed="rId3"/>
            <a:srcRect l="16667" r="16667"/>
            <a:stretch>
              <a:fillRect/>
            </a:stretch>
          </p:blipFill>
          <p:spPr>
            <a:xfrm>
              <a:off x="7676035" y="2524948"/>
              <a:ext cx="2887741" cy="2887741"/>
            </a:xfrm>
            <a:prstGeom prst="ellipse">
              <a:avLst/>
            </a:prstGeom>
          </p:spPr>
        </p:pic>
        <p:sp>
          <p:nvSpPr>
            <p:cNvPr id="52" name="AutoShape 10">
              <a:extLst>
                <a:ext uri="{FF2B5EF4-FFF2-40B4-BE49-F238E27FC236}">
                  <a16:creationId xmlns:a16="http://schemas.microsoft.com/office/drawing/2014/main" id="{3AEDD5CA-E29D-4DEF-A0B5-6D99E3DFA3D2}"/>
                </a:ext>
              </a:extLst>
            </p:cNvPr>
            <p:cNvSpPr/>
            <p:nvPr/>
          </p:nvSpPr>
          <p:spPr>
            <a:xfrm>
              <a:off x="8663168" y="1482987"/>
              <a:ext cx="913476" cy="913476"/>
            </a:xfrm>
            <a:prstGeom prst="ellipse">
              <a:avLst/>
            </a:prstGeom>
            <a:solidFill>
              <a:schemeClr val="accent2">
                <a:alpha val="100000"/>
              </a:schemeClr>
            </a:solidFill>
            <a:ln/>
          </p:spPr>
        </p:sp>
        <p:sp>
          <p:nvSpPr>
            <p:cNvPr id="53" name="AutoShape 11">
              <a:extLst>
                <a:ext uri="{FF2B5EF4-FFF2-40B4-BE49-F238E27FC236}">
                  <a16:creationId xmlns:a16="http://schemas.microsoft.com/office/drawing/2014/main" id="{CF4A8833-30FA-40B6-9616-1F91666B548B}"/>
                </a:ext>
              </a:extLst>
            </p:cNvPr>
            <p:cNvSpPr/>
            <p:nvPr/>
          </p:nvSpPr>
          <p:spPr>
            <a:xfrm>
              <a:off x="6921648" y="4618441"/>
              <a:ext cx="913476" cy="913476"/>
            </a:xfrm>
            <a:prstGeom prst="ellipse">
              <a:avLst/>
            </a:prstGeom>
            <a:solidFill>
              <a:schemeClr val="accent2">
                <a:alpha val="100000"/>
              </a:schemeClr>
            </a:solidFill>
            <a:ln/>
          </p:spPr>
        </p:sp>
        <p:sp>
          <p:nvSpPr>
            <p:cNvPr id="54" name="AutoShape 12">
              <a:extLst>
                <a:ext uri="{FF2B5EF4-FFF2-40B4-BE49-F238E27FC236}">
                  <a16:creationId xmlns:a16="http://schemas.microsoft.com/office/drawing/2014/main" id="{8D640E23-98AA-49B1-AEEA-196DE7021C2F}"/>
                </a:ext>
              </a:extLst>
            </p:cNvPr>
            <p:cNvSpPr/>
            <p:nvPr/>
          </p:nvSpPr>
          <p:spPr>
            <a:xfrm>
              <a:off x="10386775" y="4618441"/>
              <a:ext cx="913476" cy="913476"/>
            </a:xfrm>
            <a:prstGeom prst="ellipse">
              <a:avLst/>
            </a:prstGeom>
            <a:solidFill>
              <a:schemeClr val="accent2">
                <a:alpha val="100000"/>
              </a:schemeClr>
            </a:solidFill>
            <a:ln/>
          </p:spPr>
        </p:sp>
        <p:sp>
          <p:nvSpPr>
            <p:cNvPr id="55" name="Freeform 13">
              <a:extLst>
                <a:ext uri="{FF2B5EF4-FFF2-40B4-BE49-F238E27FC236}">
                  <a16:creationId xmlns:a16="http://schemas.microsoft.com/office/drawing/2014/main" id="{C7BA2D19-140C-4B17-B4D0-B26B04F07C21}"/>
                </a:ext>
              </a:extLst>
            </p:cNvPr>
            <p:cNvSpPr/>
            <p:nvPr/>
          </p:nvSpPr>
          <p:spPr>
            <a:xfrm>
              <a:off x="8906663" y="1691796"/>
              <a:ext cx="426486" cy="426486"/>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rgbClr val="FFFFFF">
                <a:alpha val="100000"/>
              </a:srgbClr>
            </a:solidFill>
            <a:ln/>
          </p:spPr>
        </p:sp>
        <p:sp>
          <p:nvSpPr>
            <p:cNvPr id="56" name="Freeform 14">
              <a:extLst>
                <a:ext uri="{FF2B5EF4-FFF2-40B4-BE49-F238E27FC236}">
                  <a16:creationId xmlns:a16="http://schemas.microsoft.com/office/drawing/2014/main" id="{B61AB6A6-0DE6-4576-B1D3-971050B533C7}"/>
                </a:ext>
              </a:extLst>
            </p:cNvPr>
            <p:cNvSpPr/>
            <p:nvPr/>
          </p:nvSpPr>
          <p:spPr>
            <a:xfrm>
              <a:off x="10639092" y="4837698"/>
              <a:ext cx="426194" cy="426194"/>
            </a:xfrm>
            <a:custGeom>
              <a:avLst/>
              <a:gdLst/>
              <a:ahLst/>
              <a:cxnLst/>
              <a:rect l="l" t="t" r="r" b="b"/>
              <a:pathLst>
                <a:path w="304800" h="304800">
                  <a:moveTo>
                    <a:pt x="152400" y="190500"/>
                  </a:moveTo>
                  <a:cubicBezTo>
                    <a:pt x="152400" y="169459"/>
                    <a:pt x="169459" y="152400"/>
                    <a:pt x="190500" y="152400"/>
                  </a:cubicBezTo>
                  <a:cubicBezTo>
                    <a:pt x="211541" y="152400"/>
                    <a:pt x="228600" y="169459"/>
                    <a:pt x="228600" y="190500"/>
                  </a:cubicBezTo>
                  <a:cubicBezTo>
                    <a:pt x="228600" y="211541"/>
                    <a:pt x="211541" y="228600"/>
                    <a:pt x="190500" y="228600"/>
                  </a:cubicBezTo>
                  <a:cubicBezTo>
                    <a:pt x="169459" y="228600"/>
                    <a:pt x="152400" y="211541"/>
                    <a:pt x="152400" y="190500"/>
                  </a:cubicBezTo>
                  <a:close/>
                  <a:moveTo>
                    <a:pt x="266700" y="76200"/>
                  </a:moveTo>
                  <a:lnTo>
                    <a:pt x="235372" y="12925"/>
                  </a:lnTo>
                  <a:cubicBezTo>
                    <a:pt x="232801" y="5410"/>
                    <a:pt x="225695" y="0"/>
                    <a:pt x="217284" y="0"/>
                  </a:cubicBezTo>
                  <a:lnTo>
                    <a:pt x="164973" y="0"/>
                  </a:lnTo>
                  <a:cubicBezTo>
                    <a:pt x="156467" y="0"/>
                    <a:pt x="149295" y="5544"/>
                    <a:pt x="146837" y="13192"/>
                  </a:cubicBezTo>
                  <a:lnTo>
                    <a:pt x="114338" y="76200"/>
                  </a:lnTo>
                  <a:lnTo>
                    <a:pt x="38100" y="76200"/>
                  </a:lnTo>
                  <a:cubicBezTo>
                    <a:pt x="17059" y="76200"/>
                    <a:pt x="0" y="93259"/>
                    <a:pt x="0" y="114300"/>
                  </a:cubicBezTo>
                  <a:lnTo>
                    <a:pt x="0" y="304800"/>
                  </a:lnTo>
                  <a:lnTo>
                    <a:pt x="304800" y="304800"/>
                  </a:lnTo>
                  <a:lnTo>
                    <a:pt x="304800" y="114300"/>
                  </a:lnTo>
                  <a:cubicBezTo>
                    <a:pt x="304800" y="93259"/>
                    <a:pt x="287760" y="76200"/>
                    <a:pt x="266700" y="76200"/>
                  </a:cubicBezTo>
                  <a:close/>
                  <a:moveTo>
                    <a:pt x="57150" y="152400"/>
                  </a:moveTo>
                  <a:cubicBezTo>
                    <a:pt x="46625" y="152400"/>
                    <a:pt x="38100" y="143875"/>
                    <a:pt x="38100" y="133350"/>
                  </a:cubicBezTo>
                  <a:cubicBezTo>
                    <a:pt x="38100" y="122825"/>
                    <a:pt x="46625" y="114300"/>
                    <a:pt x="57150" y="114300"/>
                  </a:cubicBezTo>
                  <a:cubicBezTo>
                    <a:pt x="67675" y="114300"/>
                    <a:pt x="76200" y="122825"/>
                    <a:pt x="76200" y="133350"/>
                  </a:cubicBezTo>
                  <a:cubicBezTo>
                    <a:pt x="76200" y="143875"/>
                    <a:pt x="67675" y="152400"/>
                    <a:pt x="57150" y="152400"/>
                  </a:cubicBezTo>
                  <a:close/>
                  <a:moveTo>
                    <a:pt x="190500" y="266700"/>
                  </a:moveTo>
                  <a:cubicBezTo>
                    <a:pt x="148419" y="266700"/>
                    <a:pt x="114300" y="232581"/>
                    <a:pt x="114300" y="190500"/>
                  </a:cubicBezTo>
                  <a:cubicBezTo>
                    <a:pt x="114300" y="148419"/>
                    <a:pt x="148419" y="114300"/>
                    <a:pt x="190500" y="114300"/>
                  </a:cubicBezTo>
                  <a:cubicBezTo>
                    <a:pt x="232581" y="114300"/>
                    <a:pt x="266700" y="148419"/>
                    <a:pt x="266700" y="190500"/>
                  </a:cubicBezTo>
                  <a:cubicBezTo>
                    <a:pt x="266700" y="232581"/>
                    <a:pt x="232581" y="266700"/>
                    <a:pt x="190500" y="266700"/>
                  </a:cubicBezTo>
                  <a:close/>
                </a:path>
              </a:pathLst>
            </a:custGeom>
            <a:solidFill>
              <a:srgbClr val="FFFFFF">
                <a:alpha val="100000"/>
              </a:srgbClr>
            </a:solidFill>
            <a:ln/>
          </p:spPr>
        </p:sp>
        <p:sp>
          <p:nvSpPr>
            <p:cNvPr id="57" name="Freeform 15">
              <a:extLst>
                <a:ext uri="{FF2B5EF4-FFF2-40B4-BE49-F238E27FC236}">
                  <a16:creationId xmlns:a16="http://schemas.microsoft.com/office/drawing/2014/main" id="{ABF44380-C149-4D33-99FA-E2C4251EC7D9}"/>
                </a:ext>
              </a:extLst>
            </p:cNvPr>
            <p:cNvSpPr/>
            <p:nvPr/>
          </p:nvSpPr>
          <p:spPr>
            <a:xfrm>
              <a:off x="7137949" y="4833774"/>
              <a:ext cx="482811" cy="482811"/>
            </a:xfrm>
            <a:custGeom>
              <a:avLst/>
              <a:gdLst/>
              <a:ahLst/>
              <a:cxnLst/>
              <a:rect l="l" t="t" r="r" b="b"/>
              <a:pathLst>
                <a:path w="304800" h="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FFFFF">
                <a:alpha val="100000"/>
              </a:srgbClr>
            </a:solidFill>
            <a:ln/>
          </p:spPr>
        </p:sp>
      </p:grpSp>
    </p:spTree>
    <p:extLst>
      <p:ext uri="{BB962C8B-B14F-4D97-AF65-F5344CB8AC3E}">
        <p14:creationId xmlns:p14="http://schemas.microsoft.com/office/powerpoint/2010/main" val="526559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科技创新在环保领域应用前景</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30" name="组合 29">
            <a:extLst>
              <a:ext uri="{FF2B5EF4-FFF2-40B4-BE49-F238E27FC236}">
                <a16:creationId xmlns:a16="http://schemas.microsoft.com/office/drawing/2014/main" id="{BD41A945-ED61-425C-B955-7CC198382D68}"/>
              </a:ext>
            </a:extLst>
          </p:cNvPr>
          <p:cNvGrpSpPr/>
          <p:nvPr/>
        </p:nvGrpSpPr>
        <p:grpSpPr>
          <a:xfrm>
            <a:off x="1634399" y="1838719"/>
            <a:ext cx="8483816" cy="4346133"/>
            <a:chOff x="1634399" y="1838719"/>
            <a:chExt cx="8483816" cy="4346133"/>
          </a:xfrm>
        </p:grpSpPr>
        <p:grpSp>
          <p:nvGrpSpPr>
            <p:cNvPr id="29" name="组合 28">
              <a:extLst>
                <a:ext uri="{FF2B5EF4-FFF2-40B4-BE49-F238E27FC236}">
                  <a16:creationId xmlns:a16="http://schemas.microsoft.com/office/drawing/2014/main" id="{5626399B-621F-4630-A775-CD902F65B591}"/>
                </a:ext>
              </a:extLst>
            </p:cNvPr>
            <p:cNvGrpSpPr/>
            <p:nvPr/>
          </p:nvGrpSpPr>
          <p:grpSpPr>
            <a:xfrm>
              <a:off x="1634399" y="1838719"/>
              <a:ext cx="8483816" cy="4346133"/>
              <a:chOff x="1410017" y="1878475"/>
              <a:chExt cx="8483816" cy="4346133"/>
            </a:xfrm>
          </p:grpSpPr>
          <p:sp>
            <p:nvSpPr>
              <p:cNvPr id="71" name="TextBox 10">
                <a:extLst>
                  <a:ext uri="{FF2B5EF4-FFF2-40B4-BE49-F238E27FC236}">
                    <a16:creationId xmlns:a16="http://schemas.microsoft.com/office/drawing/2014/main" id="{AB14FAA3-A65F-4850-BA69-83107134640E}"/>
                  </a:ext>
                </a:extLst>
              </p:cNvPr>
              <p:cNvSpPr txBox="1"/>
              <p:nvPr/>
            </p:nvSpPr>
            <p:spPr>
              <a:xfrm>
                <a:off x="2900685" y="3339366"/>
                <a:ext cx="6993148" cy="1153906"/>
              </a:xfrm>
              <a:prstGeom prst="rect">
                <a:avLst/>
              </a:prstGeom>
              <a:ln/>
            </p:spPr>
            <p:txBody>
              <a:bodyPr vert="horz" wrap="square" lIns="114300" tIns="57150" rIns="114300" bIns="57150" rtlCol="0" anchor="t" anchorCtr="0">
                <a:spAutoFit/>
              </a:bodyPr>
              <a:lstStyle/>
              <a:p>
                <a:pPr>
                  <a:lnSpc>
                    <a:spcPct val="125000"/>
                  </a:lnSpc>
                </a:pPr>
                <a:r>
                  <a:rPr lang="zh-CN" altLang="en-US" sz="2800" b="1" dirty="0">
                    <a:solidFill>
                      <a:srgbClr val="2C4E8C"/>
                    </a:solidFill>
                    <a:latin typeface="+mn-ea"/>
                    <a:cs typeface="Microsoft Yahei"/>
                  </a:rPr>
                  <a:t>未来环保领域将出现更多创新技术和产品，满足日益严格的环保要求。</a:t>
                </a:r>
              </a:p>
            </p:txBody>
          </p:sp>
          <p:sp>
            <p:nvSpPr>
              <p:cNvPr id="38" name="TextBox 10">
                <a:extLst>
                  <a:ext uri="{FF2B5EF4-FFF2-40B4-BE49-F238E27FC236}">
                    <a16:creationId xmlns:a16="http://schemas.microsoft.com/office/drawing/2014/main" id="{2B50B84D-B0F9-457B-A3AF-E2A5113E19CD}"/>
                  </a:ext>
                </a:extLst>
              </p:cNvPr>
              <p:cNvSpPr txBox="1"/>
              <p:nvPr/>
            </p:nvSpPr>
            <p:spPr>
              <a:xfrm>
                <a:off x="2900685" y="2105117"/>
                <a:ext cx="6993148" cy="460191"/>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科技创新将推动环保产业实现跨越式发展。</a:t>
                </a:r>
              </a:p>
            </p:txBody>
          </p:sp>
          <p:sp>
            <p:nvSpPr>
              <p:cNvPr id="41" name="TextBox 10">
                <a:extLst>
                  <a:ext uri="{FF2B5EF4-FFF2-40B4-BE49-F238E27FC236}">
                    <a16:creationId xmlns:a16="http://schemas.microsoft.com/office/drawing/2014/main" id="{4CF71677-8E43-400F-967B-2A69C9987890}"/>
                  </a:ext>
                </a:extLst>
              </p:cNvPr>
              <p:cNvSpPr txBox="1"/>
              <p:nvPr/>
            </p:nvSpPr>
            <p:spPr>
              <a:xfrm>
                <a:off x="2900685" y="5070702"/>
                <a:ext cx="6773401" cy="1153906"/>
              </a:xfrm>
              <a:prstGeom prst="rect">
                <a:avLst/>
              </a:prstGeom>
              <a:ln/>
            </p:spPr>
            <p:txBody>
              <a:bodyPr vert="horz" wrap="square" lIns="114300" tIns="57150" rIns="114300" bIns="57150" rtlCol="0" anchor="t" anchorCtr="0">
                <a:spAutoFit/>
              </a:bodyPr>
              <a:lstStyle/>
              <a:p>
                <a:pPr>
                  <a:lnSpc>
                    <a:spcPct val="125000"/>
                  </a:lnSpc>
                </a:pPr>
                <a:r>
                  <a:rPr lang="zh-CN" altLang="en-US" sz="2800" b="1" dirty="0">
                    <a:solidFill>
                      <a:srgbClr val="2C4E8C"/>
                    </a:solidFill>
                    <a:latin typeface="+mn-ea"/>
                    <a:cs typeface="Microsoft Yahei"/>
                  </a:rPr>
                  <a:t>科技创新将助力环保产业实现可持续发展，为建设美丽中国贡献力量。</a:t>
                </a:r>
              </a:p>
            </p:txBody>
          </p:sp>
          <p:sp>
            <p:nvSpPr>
              <p:cNvPr id="59" name="AutoShape 11">
                <a:extLst>
                  <a:ext uri="{FF2B5EF4-FFF2-40B4-BE49-F238E27FC236}">
                    <a16:creationId xmlns:a16="http://schemas.microsoft.com/office/drawing/2014/main" id="{73532768-0D85-4F29-9423-5D869E61FCCA}"/>
                  </a:ext>
                </a:extLst>
              </p:cNvPr>
              <p:cNvSpPr/>
              <p:nvPr/>
            </p:nvSpPr>
            <p:spPr>
              <a:xfrm>
                <a:off x="1410017" y="3534696"/>
                <a:ext cx="913476" cy="913476"/>
              </a:xfrm>
              <a:prstGeom prst="ellipse">
                <a:avLst/>
              </a:prstGeom>
              <a:solidFill>
                <a:srgbClr val="4472C4"/>
              </a:solidFill>
              <a:ln/>
            </p:spPr>
          </p:sp>
          <p:sp>
            <p:nvSpPr>
              <p:cNvPr id="60" name="AutoShape 12">
                <a:extLst>
                  <a:ext uri="{FF2B5EF4-FFF2-40B4-BE49-F238E27FC236}">
                    <a16:creationId xmlns:a16="http://schemas.microsoft.com/office/drawing/2014/main" id="{5CEDD380-84F0-4BCF-8068-88F952025159}"/>
                  </a:ext>
                </a:extLst>
              </p:cNvPr>
              <p:cNvSpPr/>
              <p:nvPr/>
            </p:nvSpPr>
            <p:spPr>
              <a:xfrm>
                <a:off x="1457021" y="5190917"/>
                <a:ext cx="913476" cy="913476"/>
              </a:xfrm>
              <a:prstGeom prst="ellipse">
                <a:avLst/>
              </a:prstGeom>
              <a:solidFill>
                <a:srgbClr val="4472C4"/>
              </a:solidFill>
              <a:ln/>
            </p:spPr>
          </p:sp>
          <p:grpSp>
            <p:nvGrpSpPr>
              <p:cNvPr id="28" name="组合 27">
                <a:extLst>
                  <a:ext uri="{FF2B5EF4-FFF2-40B4-BE49-F238E27FC236}">
                    <a16:creationId xmlns:a16="http://schemas.microsoft.com/office/drawing/2014/main" id="{31F8243C-BB46-4B14-8FC3-DADB8FDBCE7B}"/>
                  </a:ext>
                </a:extLst>
              </p:cNvPr>
              <p:cNvGrpSpPr/>
              <p:nvPr/>
            </p:nvGrpSpPr>
            <p:grpSpPr>
              <a:xfrm>
                <a:off x="1410017" y="1878475"/>
                <a:ext cx="913476" cy="913476"/>
                <a:chOff x="760660" y="1692945"/>
                <a:chExt cx="913476" cy="913476"/>
              </a:xfrm>
              <a:solidFill>
                <a:srgbClr val="4472C4"/>
              </a:solidFill>
            </p:grpSpPr>
            <p:sp>
              <p:nvSpPr>
                <p:cNvPr id="58" name="AutoShape 10">
                  <a:extLst>
                    <a:ext uri="{FF2B5EF4-FFF2-40B4-BE49-F238E27FC236}">
                      <a16:creationId xmlns:a16="http://schemas.microsoft.com/office/drawing/2014/main" id="{3FF83D8F-DF49-4F3D-AAD9-AB07DCEF3D2E}"/>
                    </a:ext>
                  </a:extLst>
                </p:cNvPr>
                <p:cNvSpPr/>
                <p:nvPr/>
              </p:nvSpPr>
              <p:spPr>
                <a:xfrm>
                  <a:off x="760660" y="1692945"/>
                  <a:ext cx="913476" cy="913476"/>
                </a:xfrm>
                <a:prstGeom prst="ellipse">
                  <a:avLst/>
                </a:prstGeom>
                <a:grpFill/>
                <a:ln/>
              </p:spPr>
            </p:sp>
            <p:sp>
              <p:nvSpPr>
                <p:cNvPr id="61" name="Freeform 13">
                  <a:extLst>
                    <a:ext uri="{FF2B5EF4-FFF2-40B4-BE49-F238E27FC236}">
                      <a16:creationId xmlns:a16="http://schemas.microsoft.com/office/drawing/2014/main" id="{92495FFE-F95C-42CF-BADD-E4C7218DEB5D}"/>
                    </a:ext>
                  </a:extLst>
                </p:cNvPr>
                <p:cNvSpPr/>
                <p:nvPr/>
              </p:nvSpPr>
              <p:spPr>
                <a:xfrm>
                  <a:off x="985042" y="1921501"/>
                  <a:ext cx="426486" cy="426486"/>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chemeClr val="bg1"/>
                </a:solidFill>
                <a:ln/>
              </p:spPr>
            </p:sp>
          </p:grpSp>
          <p:sp>
            <p:nvSpPr>
              <p:cNvPr id="63" name="Freeform 15">
                <a:extLst>
                  <a:ext uri="{FF2B5EF4-FFF2-40B4-BE49-F238E27FC236}">
                    <a16:creationId xmlns:a16="http://schemas.microsoft.com/office/drawing/2014/main" id="{0CA84037-16FF-4883-98E8-38FFF756EBB9}"/>
                  </a:ext>
                </a:extLst>
              </p:cNvPr>
              <p:cNvSpPr/>
              <p:nvPr/>
            </p:nvSpPr>
            <p:spPr>
              <a:xfrm>
                <a:off x="1627752" y="3738322"/>
                <a:ext cx="482811" cy="484100"/>
              </a:xfrm>
              <a:custGeom>
                <a:avLst/>
                <a:gdLst/>
                <a:ahLst/>
                <a:cxnLst/>
                <a:rect l="l" t="t" r="r" b="b"/>
                <a:pathLst>
                  <a:path w="304800" h="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FFFFF">
                  <a:alpha val="100000"/>
                </a:srgbClr>
              </a:solidFill>
              <a:ln/>
            </p:spPr>
          </p:sp>
        </p:grpSp>
        <p:sp>
          <p:nvSpPr>
            <p:cNvPr id="45" name="Freeform 5">
              <a:extLst>
                <a:ext uri="{FF2B5EF4-FFF2-40B4-BE49-F238E27FC236}">
                  <a16:creationId xmlns:a16="http://schemas.microsoft.com/office/drawing/2014/main" id="{3B090F14-A9A7-47C4-8C77-9EEE77638421}"/>
                </a:ext>
              </a:extLst>
            </p:cNvPr>
            <p:cNvSpPr/>
            <p:nvPr/>
          </p:nvSpPr>
          <p:spPr>
            <a:xfrm>
              <a:off x="1865527" y="5365145"/>
              <a:ext cx="534050" cy="485508"/>
            </a:xfrm>
            <a:custGeom>
              <a:avLst/>
              <a:gdLst/>
              <a:ahLst/>
              <a:cxnLst/>
              <a:rect l="l" t="t" r="r" b="b"/>
              <a:pathLst>
                <a:path w="304800" h="304800">
                  <a:moveTo>
                    <a:pt x="257299" y="240773"/>
                  </a:moveTo>
                  <a:lnTo>
                    <a:pt x="257299" y="258156"/>
                  </a:lnTo>
                  <a:lnTo>
                    <a:pt x="47501" y="258156"/>
                  </a:lnTo>
                  <a:lnTo>
                    <a:pt x="47501" y="240773"/>
                  </a:lnTo>
                  <a:cubicBezTo>
                    <a:pt x="47501" y="240773"/>
                    <a:pt x="43015" y="231162"/>
                    <a:pt x="67361" y="208112"/>
                  </a:cubicBezTo>
                  <a:cubicBezTo>
                    <a:pt x="91688" y="185071"/>
                    <a:pt x="88487" y="125511"/>
                    <a:pt x="88487" y="85173"/>
                  </a:cubicBezTo>
                  <a:cubicBezTo>
                    <a:pt x="88487" y="44834"/>
                    <a:pt x="145142" y="43977"/>
                    <a:pt x="145142" y="43977"/>
                  </a:cubicBezTo>
                  <a:lnTo>
                    <a:pt x="147085" y="43977"/>
                  </a:lnTo>
                  <a:cubicBezTo>
                    <a:pt x="147085" y="43996"/>
                    <a:pt x="147085" y="43701"/>
                    <a:pt x="147085" y="37424"/>
                  </a:cubicBezTo>
                  <a:cubicBezTo>
                    <a:pt x="147085" y="33395"/>
                    <a:pt x="133560" y="18802"/>
                    <a:pt x="133560" y="18802"/>
                  </a:cubicBezTo>
                  <a:lnTo>
                    <a:pt x="133360" y="9973"/>
                  </a:lnTo>
                  <a:lnTo>
                    <a:pt x="171555" y="9973"/>
                  </a:lnTo>
                  <a:lnTo>
                    <a:pt x="171298" y="19136"/>
                  </a:lnTo>
                  <a:cubicBezTo>
                    <a:pt x="171298" y="19136"/>
                    <a:pt x="156639" y="33719"/>
                    <a:pt x="156639" y="38014"/>
                  </a:cubicBezTo>
                  <a:cubicBezTo>
                    <a:pt x="156639" y="42167"/>
                    <a:pt x="156639" y="43558"/>
                    <a:pt x="156639" y="43967"/>
                  </a:cubicBezTo>
                  <a:lnTo>
                    <a:pt x="159658" y="43967"/>
                  </a:lnTo>
                  <a:cubicBezTo>
                    <a:pt x="159658" y="43967"/>
                    <a:pt x="216313" y="44825"/>
                    <a:pt x="216313" y="85163"/>
                  </a:cubicBezTo>
                  <a:cubicBezTo>
                    <a:pt x="216313" y="125501"/>
                    <a:pt x="213112" y="185071"/>
                    <a:pt x="237449" y="208121"/>
                  </a:cubicBezTo>
                  <a:cubicBezTo>
                    <a:pt x="261785" y="231172"/>
                    <a:pt x="257299" y="240773"/>
                    <a:pt x="257299" y="240773"/>
                  </a:cubicBezTo>
                  <a:close/>
                  <a:moveTo>
                    <a:pt x="176327" y="267367"/>
                  </a:moveTo>
                  <a:cubicBezTo>
                    <a:pt x="176327" y="280559"/>
                    <a:pt x="165640" y="294827"/>
                    <a:pt x="152457" y="294827"/>
                  </a:cubicBezTo>
                  <a:cubicBezTo>
                    <a:pt x="139275" y="294827"/>
                    <a:pt x="128588" y="280559"/>
                    <a:pt x="128588" y="267367"/>
                  </a:cubicBezTo>
                  <a:cubicBezTo>
                    <a:pt x="128588" y="267662"/>
                    <a:pt x="176327" y="267062"/>
                    <a:pt x="176327" y="267367"/>
                  </a:cubicBezTo>
                  <a:close/>
                </a:path>
              </a:pathLst>
            </a:custGeom>
            <a:solidFill>
              <a:srgbClr val="FFFFFF">
                <a:alpha val="100000"/>
              </a:srgbClr>
            </a:solidFill>
            <a:ln/>
          </p:spPr>
        </p:sp>
      </p:grpSp>
    </p:spTree>
    <p:extLst>
      <p:ext uri="{BB962C8B-B14F-4D97-AF65-F5344CB8AC3E}">
        <p14:creationId xmlns:p14="http://schemas.microsoft.com/office/powerpoint/2010/main" val="26215693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A3E510-5712-4398-87DE-C3FCA12AB82E}"/>
              </a:ext>
            </a:extLst>
          </p:cNvPr>
          <p:cNvGrpSpPr/>
          <p:nvPr/>
        </p:nvGrpSpPr>
        <p:grpSpPr>
          <a:xfrm>
            <a:off x="159623" y="177840"/>
            <a:ext cx="11872754" cy="761297"/>
            <a:chOff x="222729" y="110880"/>
            <a:chExt cx="11872754" cy="761297"/>
          </a:xfrm>
        </p:grpSpPr>
        <p:grpSp>
          <p:nvGrpSpPr>
            <p:cNvPr id="3" name="组合 2">
              <a:extLst>
                <a:ext uri="{FF2B5EF4-FFF2-40B4-BE49-F238E27FC236}">
                  <a16:creationId xmlns:a16="http://schemas.microsoft.com/office/drawing/2014/main" id="{B3966EA2-80FC-48F1-BD76-76342AFF7A33}"/>
                </a:ext>
              </a:extLst>
            </p:cNvPr>
            <p:cNvGrpSpPr/>
            <p:nvPr/>
          </p:nvGrpSpPr>
          <p:grpSpPr>
            <a:xfrm>
              <a:off x="222729" y="110880"/>
              <a:ext cx="11533332" cy="646331"/>
              <a:chOff x="443898" y="190992"/>
              <a:chExt cx="11533332" cy="646331"/>
            </a:xfrm>
          </p:grpSpPr>
          <p:sp>
            <p:nvSpPr>
              <p:cNvPr id="6" name="矩形 5">
                <a:extLst>
                  <a:ext uri="{FF2B5EF4-FFF2-40B4-BE49-F238E27FC236}">
                    <a16:creationId xmlns:a16="http://schemas.microsoft.com/office/drawing/2014/main" id="{5B6FFAF2-C1C9-4F1C-A341-40F295AECDE7}"/>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未来环保产业发展趋势预测</a:t>
                </a:r>
              </a:p>
            </p:txBody>
          </p:sp>
          <p:grpSp>
            <p:nvGrpSpPr>
              <p:cNvPr id="7" name="Group 6">
                <a:extLst>
                  <a:ext uri="{FF2B5EF4-FFF2-40B4-BE49-F238E27FC236}">
                    <a16:creationId xmlns:a16="http://schemas.microsoft.com/office/drawing/2014/main" id="{F3DBCA82-F1AE-4A4F-8F2F-27152B9781A1}"/>
                  </a:ext>
                </a:extLst>
              </p:cNvPr>
              <p:cNvGrpSpPr/>
              <p:nvPr/>
            </p:nvGrpSpPr>
            <p:grpSpPr>
              <a:xfrm>
                <a:off x="443898" y="303114"/>
                <a:ext cx="515576" cy="439821"/>
                <a:chOff x="454963" y="331168"/>
                <a:chExt cx="515576" cy="439821"/>
              </a:xfrm>
            </p:grpSpPr>
            <p:sp>
              <p:nvSpPr>
                <p:cNvPr id="8" name="AutoShape 7">
                  <a:extLst>
                    <a:ext uri="{FF2B5EF4-FFF2-40B4-BE49-F238E27FC236}">
                      <a16:creationId xmlns:a16="http://schemas.microsoft.com/office/drawing/2014/main" id="{D8201323-C062-4B49-A613-780D4E3F6038}"/>
                    </a:ext>
                  </a:extLst>
                </p:cNvPr>
                <p:cNvSpPr/>
                <p:nvPr/>
              </p:nvSpPr>
              <p:spPr>
                <a:xfrm>
                  <a:off x="454963" y="331168"/>
                  <a:ext cx="84147" cy="84147"/>
                </a:xfrm>
                <a:prstGeom prst="ellipse">
                  <a:avLst/>
                </a:prstGeom>
                <a:solidFill>
                  <a:schemeClr val="accent1">
                    <a:alpha val="100000"/>
                  </a:schemeClr>
                </a:solidFill>
              </p:spPr>
            </p:sp>
            <p:sp>
              <p:nvSpPr>
                <p:cNvPr id="9" name="AutoShape 8">
                  <a:extLst>
                    <a:ext uri="{FF2B5EF4-FFF2-40B4-BE49-F238E27FC236}">
                      <a16:creationId xmlns:a16="http://schemas.microsoft.com/office/drawing/2014/main" id="{5DAC34BD-7994-4621-B0DB-976025B0BCA6}"/>
                    </a:ext>
                  </a:extLst>
                </p:cNvPr>
                <p:cNvSpPr/>
                <p:nvPr/>
              </p:nvSpPr>
              <p:spPr>
                <a:xfrm>
                  <a:off x="575049" y="337743"/>
                  <a:ext cx="78137" cy="78137"/>
                </a:xfrm>
                <a:prstGeom prst="ellipse">
                  <a:avLst/>
                </a:prstGeom>
                <a:solidFill>
                  <a:schemeClr val="accent1">
                    <a:alpha val="80000"/>
                  </a:schemeClr>
                </a:solidFill>
              </p:spPr>
            </p:sp>
            <p:sp>
              <p:nvSpPr>
                <p:cNvPr id="10" name="AutoShape 9">
                  <a:extLst>
                    <a:ext uri="{FF2B5EF4-FFF2-40B4-BE49-F238E27FC236}">
                      <a16:creationId xmlns:a16="http://schemas.microsoft.com/office/drawing/2014/main" id="{F97712AC-3246-4C36-A5A9-D40563A88D41}"/>
                    </a:ext>
                  </a:extLst>
                </p:cNvPr>
                <p:cNvSpPr/>
                <p:nvPr/>
              </p:nvSpPr>
              <p:spPr>
                <a:xfrm>
                  <a:off x="689125" y="339460"/>
                  <a:ext cx="74704" cy="74704"/>
                </a:xfrm>
                <a:prstGeom prst="ellipse">
                  <a:avLst/>
                </a:prstGeom>
                <a:solidFill>
                  <a:schemeClr val="accent1">
                    <a:alpha val="60000"/>
                  </a:schemeClr>
                </a:solidFill>
              </p:spPr>
            </p:sp>
            <p:sp>
              <p:nvSpPr>
                <p:cNvPr id="11" name="AutoShape 10">
                  <a:extLst>
                    <a:ext uri="{FF2B5EF4-FFF2-40B4-BE49-F238E27FC236}">
                      <a16:creationId xmlns:a16="http://schemas.microsoft.com/office/drawing/2014/main" id="{69C3F62B-F46D-4B3C-9ED4-05189DCAD3DD}"/>
                    </a:ext>
                  </a:extLst>
                </p:cNvPr>
                <p:cNvSpPr/>
                <p:nvPr/>
              </p:nvSpPr>
              <p:spPr>
                <a:xfrm>
                  <a:off x="799768" y="348430"/>
                  <a:ext cx="69238" cy="69238"/>
                </a:xfrm>
                <a:prstGeom prst="ellipse">
                  <a:avLst/>
                </a:prstGeom>
                <a:solidFill>
                  <a:schemeClr val="accent1">
                    <a:alpha val="40000"/>
                  </a:schemeClr>
                </a:solidFill>
              </p:spPr>
            </p:sp>
            <p:sp>
              <p:nvSpPr>
                <p:cNvPr id="12" name="AutoShape 11">
                  <a:extLst>
                    <a:ext uri="{FF2B5EF4-FFF2-40B4-BE49-F238E27FC236}">
                      <a16:creationId xmlns:a16="http://schemas.microsoft.com/office/drawing/2014/main" id="{C0144812-F443-4F0A-8151-BE5AE2D3C256}"/>
                    </a:ext>
                  </a:extLst>
                </p:cNvPr>
                <p:cNvSpPr/>
                <p:nvPr/>
              </p:nvSpPr>
              <p:spPr>
                <a:xfrm>
                  <a:off x="904945" y="344297"/>
                  <a:ext cx="65594" cy="65594"/>
                </a:xfrm>
                <a:prstGeom prst="ellipse">
                  <a:avLst/>
                </a:prstGeom>
                <a:solidFill>
                  <a:schemeClr val="accent1">
                    <a:alpha val="20000"/>
                  </a:schemeClr>
                </a:solidFill>
              </p:spPr>
            </p:sp>
            <p:sp>
              <p:nvSpPr>
                <p:cNvPr id="13" name="AutoShape 12">
                  <a:extLst>
                    <a:ext uri="{FF2B5EF4-FFF2-40B4-BE49-F238E27FC236}">
                      <a16:creationId xmlns:a16="http://schemas.microsoft.com/office/drawing/2014/main" id="{1AB5384C-AFC8-4A93-9082-B39EEDC9BD3C}"/>
                    </a:ext>
                  </a:extLst>
                </p:cNvPr>
                <p:cNvSpPr/>
                <p:nvPr/>
              </p:nvSpPr>
              <p:spPr>
                <a:xfrm>
                  <a:off x="454963" y="448942"/>
                  <a:ext cx="84147" cy="84147"/>
                </a:xfrm>
                <a:prstGeom prst="ellipse">
                  <a:avLst/>
                </a:prstGeom>
                <a:solidFill>
                  <a:schemeClr val="accent1">
                    <a:alpha val="100000"/>
                  </a:schemeClr>
                </a:solidFill>
              </p:spPr>
            </p:sp>
            <p:sp>
              <p:nvSpPr>
                <p:cNvPr id="14" name="AutoShape 13">
                  <a:extLst>
                    <a:ext uri="{FF2B5EF4-FFF2-40B4-BE49-F238E27FC236}">
                      <a16:creationId xmlns:a16="http://schemas.microsoft.com/office/drawing/2014/main" id="{3E1E71DD-ED8F-4811-B74E-AD878BA242F1}"/>
                    </a:ext>
                  </a:extLst>
                </p:cNvPr>
                <p:cNvSpPr/>
                <p:nvPr/>
              </p:nvSpPr>
              <p:spPr>
                <a:xfrm>
                  <a:off x="575049" y="455517"/>
                  <a:ext cx="78137" cy="78137"/>
                </a:xfrm>
                <a:prstGeom prst="ellipse">
                  <a:avLst/>
                </a:prstGeom>
                <a:solidFill>
                  <a:schemeClr val="accent1">
                    <a:alpha val="80000"/>
                  </a:schemeClr>
                </a:solidFill>
              </p:spPr>
            </p:sp>
            <p:sp>
              <p:nvSpPr>
                <p:cNvPr id="15" name="AutoShape 14">
                  <a:extLst>
                    <a:ext uri="{FF2B5EF4-FFF2-40B4-BE49-F238E27FC236}">
                      <a16:creationId xmlns:a16="http://schemas.microsoft.com/office/drawing/2014/main" id="{F06A742D-8510-4953-BC27-62409AA11D95}"/>
                    </a:ext>
                  </a:extLst>
                </p:cNvPr>
                <p:cNvSpPr/>
                <p:nvPr/>
              </p:nvSpPr>
              <p:spPr>
                <a:xfrm>
                  <a:off x="689125" y="457233"/>
                  <a:ext cx="74704" cy="74704"/>
                </a:xfrm>
                <a:prstGeom prst="ellipse">
                  <a:avLst/>
                </a:prstGeom>
                <a:solidFill>
                  <a:schemeClr val="accent1">
                    <a:alpha val="60000"/>
                  </a:schemeClr>
                </a:solidFill>
              </p:spPr>
            </p:sp>
            <p:sp>
              <p:nvSpPr>
                <p:cNvPr id="16" name="AutoShape 15">
                  <a:extLst>
                    <a:ext uri="{FF2B5EF4-FFF2-40B4-BE49-F238E27FC236}">
                      <a16:creationId xmlns:a16="http://schemas.microsoft.com/office/drawing/2014/main" id="{9EA1B722-D18B-4D32-8AC2-2D69CF2D46E4}"/>
                    </a:ext>
                  </a:extLst>
                </p:cNvPr>
                <p:cNvSpPr/>
                <p:nvPr/>
              </p:nvSpPr>
              <p:spPr>
                <a:xfrm>
                  <a:off x="799768" y="466203"/>
                  <a:ext cx="69238" cy="69238"/>
                </a:xfrm>
                <a:prstGeom prst="ellipse">
                  <a:avLst/>
                </a:prstGeom>
                <a:solidFill>
                  <a:schemeClr val="accent1">
                    <a:alpha val="40000"/>
                  </a:schemeClr>
                </a:solidFill>
              </p:spPr>
            </p:sp>
            <p:sp>
              <p:nvSpPr>
                <p:cNvPr id="17" name="AutoShape 16">
                  <a:extLst>
                    <a:ext uri="{FF2B5EF4-FFF2-40B4-BE49-F238E27FC236}">
                      <a16:creationId xmlns:a16="http://schemas.microsoft.com/office/drawing/2014/main" id="{34184613-B7D1-4C95-948B-C729945E3808}"/>
                    </a:ext>
                  </a:extLst>
                </p:cNvPr>
                <p:cNvSpPr/>
                <p:nvPr/>
              </p:nvSpPr>
              <p:spPr>
                <a:xfrm>
                  <a:off x="904945" y="462070"/>
                  <a:ext cx="65594" cy="65594"/>
                </a:xfrm>
                <a:prstGeom prst="ellipse">
                  <a:avLst/>
                </a:prstGeom>
                <a:solidFill>
                  <a:schemeClr val="accent1">
                    <a:alpha val="20000"/>
                  </a:schemeClr>
                </a:solidFill>
              </p:spPr>
            </p:sp>
            <p:sp>
              <p:nvSpPr>
                <p:cNvPr id="18" name="AutoShape 17">
                  <a:extLst>
                    <a:ext uri="{FF2B5EF4-FFF2-40B4-BE49-F238E27FC236}">
                      <a16:creationId xmlns:a16="http://schemas.microsoft.com/office/drawing/2014/main" id="{9386AAAA-6214-40AD-A24E-1B088ACDD039}"/>
                    </a:ext>
                  </a:extLst>
                </p:cNvPr>
                <p:cNvSpPr/>
                <p:nvPr/>
              </p:nvSpPr>
              <p:spPr>
                <a:xfrm>
                  <a:off x="454963" y="566715"/>
                  <a:ext cx="84147" cy="84147"/>
                </a:xfrm>
                <a:prstGeom prst="ellipse">
                  <a:avLst/>
                </a:prstGeom>
                <a:solidFill>
                  <a:schemeClr val="accent1">
                    <a:alpha val="100000"/>
                  </a:schemeClr>
                </a:solidFill>
              </p:spPr>
            </p:sp>
            <p:sp>
              <p:nvSpPr>
                <p:cNvPr id="19" name="AutoShape 18">
                  <a:extLst>
                    <a:ext uri="{FF2B5EF4-FFF2-40B4-BE49-F238E27FC236}">
                      <a16:creationId xmlns:a16="http://schemas.microsoft.com/office/drawing/2014/main" id="{D70C995B-D5BA-4699-8F1E-29195767323B}"/>
                    </a:ext>
                  </a:extLst>
                </p:cNvPr>
                <p:cNvSpPr/>
                <p:nvPr/>
              </p:nvSpPr>
              <p:spPr>
                <a:xfrm>
                  <a:off x="575049" y="573291"/>
                  <a:ext cx="78137" cy="78137"/>
                </a:xfrm>
                <a:prstGeom prst="ellipse">
                  <a:avLst/>
                </a:prstGeom>
                <a:solidFill>
                  <a:schemeClr val="accent1">
                    <a:alpha val="80000"/>
                  </a:schemeClr>
                </a:solidFill>
              </p:spPr>
            </p:sp>
            <p:sp>
              <p:nvSpPr>
                <p:cNvPr id="20" name="AutoShape 19">
                  <a:extLst>
                    <a:ext uri="{FF2B5EF4-FFF2-40B4-BE49-F238E27FC236}">
                      <a16:creationId xmlns:a16="http://schemas.microsoft.com/office/drawing/2014/main" id="{07B7B352-DCBA-4543-81CC-C17D5EBE4D69}"/>
                    </a:ext>
                  </a:extLst>
                </p:cNvPr>
                <p:cNvSpPr/>
                <p:nvPr/>
              </p:nvSpPr>
              <p:spPr>
                <a:xfrm>
                  <a:off x="689125" y="575007"/>
                  <a:ext cx="74704" cy="74704"/>
                </a:xfrm>
                <a:prstGeom prst="ellipse">
                  <a:avLst/>
                </a:prstGeom>
                <a:solidFill>
                  <a:schemeClr val="accent1">
                    <a:alpha val="60000"/>
                  </a:schemeClr>
                </a:solidFill>
              </p:spPr>
            </p:sp>
            <p:sp>
              <p:nvSpPr>
                <p:cNvPr id="21" name="AutoShape 20">
                  <a:extLst>
                    <a:ext uri="{FF2B5EF4-FFF2-40B4-BE49-F238E27FC236}">
                      <a16:creationId xmlns:a16="http://schemas.microsoft.com/office/drawing/2014/main" id="{60927328-B167-4E34-9EDD-26A61AA8B4CD}"/>
                    </a:ext>
                  </a:extLst>
                </p:cNvPr>
                <p:cNvSpPr/>
                <p:nvPr/>
              </p:nvSpPr>
              <p:spPr>
                <a:xfrm>
                  <a:off x="799768" y="583977"/>
                  <a:ext cx="69238" cy="69238"/>
                </a:xfrm>
                <a:prstGeom prst="ellipse">
                  <a:avLst/>
                </a:prstGeom>
                <a:solidFill>
                  <a:schemeClr val="accent1">
                    <a:alpha val="40000"/>
                  </a:schemeClr>
                </a:solidFill>
              </p:spPr>
            </p:sp>
            <p:sp>
              <p:nvSpPr>
                <p:cNvPr id="22" name="AutoShape 21">
                  <a:extLst>
                    <a:ext uri="{FF2B5EF4-FFF2-40B4-BE49-F238E27FC236}">
                      <a16:creationId xmlns:a16="http://schemas.microsoft.com/office/drawing/2014/main" id="{5ECFDAD5-2054-4BBB-A4E2-FAD7F948ED17}"/>
                    </a:ext>
                  </a:extLst>
                </p:cNvPr>
                <p:cNvSpPr/>
                <p:nvPr/>
              </p:nvSpPr>
              <p:spPr>
                <a:xfrm>
                  <a:off x="904945" y="579844"/>
                  <a:ext cx="65594" cy="65594"/>
                </a:xfrm>
                <a:prstGeom prst="ellipse">
                  <a:avLst/>
                </a:prstGeom>
                <a:solidFill>
                  <a:schemeClr val="accent1">
                    <a:alpha val="20000"/>
                  </a:schemeClr>
                </a:solidFill>
              </p:spPr>
            </p:sp>
            <p:sp>
              <p:nvSpPr>
                <p:cNvPr id="23" name="AutoShape 22">
                  <a:extLst>
                    <a:ext uri="{FF2B5EF4-FFF2-40B4-BE49-F238E27FC236}">
                      <a16:creationId xmlns:a16="http://schemas.microsoft.com/office/drawing/2014/main" id="{23D427D9-E01F-49F4-9E41-A4B4B3A1A5D8}"/>
                    </a:ext>
                  </a:extLst>
                </p:cNvPr>
                <p:cNvSpPr/>
                <p:nvPr/>
              </p:nvSpPr>
              <p:spPr>
                <a:xfrm>
                  <a:off x="454963" y="684489"/>
                  <a:ext cx="84147" cy="84147"/>
                </a:xfrm>
                <a:prstGeom prst="ellipse">
                  <a:avLst/>
                </a:prstGeom>
                <a:solidFill>
                  <a:schemeClr val="accent1">
                    <a:alpha val="100000"/>
                  </a:schemeClr>
                </a:solidFill>
              </p:spPr>
            </p:sp>
            <p:sp>
              <p:nvSpPr>
                <p:cNvPr id="24" name="AutoShape 23">
                  <a:extLst>
                    <a:ext uri="{FF2B5EF4-FFF2-40B4-BE49-F238E27FC236}">
                      <a16:creationId xmlns:a16="http://schemas.microsoft.com/office/drawing/2014/main" id="{431B8CFE-6514-47C8-AECC-69E1FAA801DC}"/>
                    </a:ext>
                  </a:extLst>
                </p:cNvPr>
                <p:cNvSpPr/>
                <p:nvPr/>
              </p:nvSpPr>
              <p:spPr>
                <a:xfrm>
                  <a:off x="575049" y="691064"/>
                  <a:ext cx="78137" cy="78137"/>
                </a:xfrm>
                <a:prstGeom prst="ellipse">
                  <a:avLst/>
                </a:prstGeom>
                <a:solidFill>
                  <a:schemeClr val="accent1">
                    <a:alpha val="80000"/>
                  </a:schemeClr>
                </a:solidFill>
              </p:spPr>
            </p:sp>
            <p:sp>
              <p:nvSpPr>
                <p:cNvPr id="25" name="AutoShape 24">
                  <a:extLst>
                    <a:ext uri="{FF2B5EF4-FFF2-40B4-BE49-F238E27FC236}">
                      <a16:creationId xmlns:a16="http://schemas.microsoft.com/office/drawing/2014/main" id="{342CBB23-40BE-48A0-8339-7C961247C571}"/>
                    </a:ext>
                  </a:extLst>
                </p:cNvPr>
                <p:cNvSpPr/>
                <p:nvPr/>
              </p:nvSpPr>
              <p:spPr>
                <a:xfrm>
                  <a:off x="689125" y="692781"/>
                  <a:ext cx="74704" cy="74704"/>
                </a:xfrm>
                <a:prstGeom prst="ellipse">
                  <a:avLst/>
                </a:prstGeom>
                <a:solidFill>
                  <a:schemeClr val="accent1">
                    <a:alpha val="60000"/>
                  </a:schemeClr>
                </a:solidFill>
              </p:spPr>
            </p:sp>
            <p:sp>
              <p:nvSpPr>
                <p:cNvPr id="26" name="AutoShape 25">
                  <a:extLst>
                    <a:ext uri="{FF2B5EF4-FFF2-40B4-BE49-F238E27FC236}">
                      <a16:creationId xmlns:a16="http://schemas.microsoft.com/office/drawing/2014/main" id="{992FD943-4CB4-4153-BC4A-192EA0793FBC}"/>
                    </a:ext>
                  </a:extLst>
                </p:cNvPr>
                <p:cNvSpPr/>
                <p:nvPr/>
              </p:nvSpPr>
              <p:spPr>
                <a:xfrm>
                  <a:off x="799768" y="701751"/>
                  <a:ext cx="69238" cy="69238"/>
                </a:xfrm>
                <a:prstGeom prst="ellipse">
                  <a:avLst/>
                </a:prstGeom>
                <a:solidFill>
                  <a:schemeClr val="accent1">
                    <a:alpha val="40000"/>
                  </a:schemeClr>
                </a:solidFill>
              </p:spPr>
            </p:sp>
            <p:sp>
              <p:nvSpPr>
                <p:cNvPr id="27" name="AutoShape 26">
                  <a:extLst>
                    <a:ext uri="{FF2B5EF4-FFF2-40B4-BE49-F238E27FC236}">
                      <a16:creationId xmlns:a16="http://schemas.microsoft.com/office/drawing/2014/main" id="{C7FBFA92-20E3-4A71-BBD6-9D9C6BE6C894}"/>
                    </a:ext>
                  </a:extLst>
                </p:cNvPr>
                <p:cNvSpPr/>
                <p:nvPr/>
              </p:nvSpPr>
              <p:spPr>
                <a:xfrm>
                  <a:off x="904945" y="697618"/>
                  <a:ext cx="65594" cy="65594"/>
                </a:xfrm>
                <a:prstGeom prst="ellipse">
                  <a:avLst/>
                </a:prstGeom>
                <a:solidFill>
                  <a:schemeClr val="accent1">
                    <a:alpha val="20000"/>
                  </a:schemeClr>
                </a:solidFill>
              </p:spPr>
            </p:sp>
          </p:grpSp>
        </p:grpSp>
        <p:sp>
          <p:nvSpPr>
            <p:cNvPr id="4" name="平行四边形 3">
              <a:extLst>
                <a:ext uri="{FF2B5EF4-FFF2-40B4-BE49-F238E27FC236}">
                  <a16:creationId xmlns:a16="http://schemas.microsoft.com/office/drawing/2014/main" id="{2C9CE962-A9D9-4A2D-B876-30D1649189C3}"/>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平行四边形 4">
              <a:extLst>
                <a:ext uri="{FF2B5EF4-FFF2-40B4-BE49-F238E27FC236}">
                  <a16:creationId xmlns:a16="http://schemas.microsoft.com/office/drawing/2014/main" id="{9EB304FF-9CB2-4DAB-B8DF-FEB81F2E51CF}"/>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grpSp>
        <p:nvGrpSpPr>
          <p:cNvPr id="30" name="组合 29">
            <a:extLst>
              <a:ext uri="{FF2B5EF4-FFF2-40B4-BE49-F238E27FC236}">
                <a16:creationId xmlns:a16="http://schemas.microsoft.com/office/drawing/2014/main" id="{212515E4-557A-4E53-BF02-FC4929D495B4}"/>
              </a:ext>
            </a:extLst>
          </p:cNvPr>
          <p:cNvGrpSpPr/>
          <p:nvPr/>
        </p:nvGrpSpPr>
        <p:grpSpPr>
          <a:xfrm>
            <a:off x="1773742" y="1878475"/>
            <a:ext cx="9777826" cy="4609274"/>
            <a:chOff x="1773742" y="1878475"/>
            <a:chExt cx="9777826" cy="4609274"/>
          </a:xfrm>
        </p:grpSpPr>
        <p:grpSp>
          <p:nvGrpSpPr>
            <p:cNvPr id="29" name="组合 28">
              <a:extLst>
                <a:ext uri="{FF2B5EF4-FFF2-40B4-BE49-F238E27FC236}">
                  <a16:creationId xmlns:a16="http://schemas.microsoft.com/office/drawing/2014/main" id="{5626399B-621F-4630-A775-CD902F65B591}"/>
                </a:ext>
              </a:extLst>
            </p:cNvPr>
            <p:cNvGrpSpPr/>
            <p:nvPr/>
          </p:nvGrpSpPr>
          <p:grpSpPr>
            <a:xfrm>
              <a:off x="1773742" y="1878475"/>
              <a:ext cx="9777826" cy="4609274"/>
              <a:chOff x="1410017" y="1878475"/>
              <a:chExt cx="9777826" cy="4609274"/>
            </a:xfrm>
          </p:grpSpPr>
          <p:grpSp>
            <p:nvGrpSpPr>
              <p:cNvPr id="67" name="Group 9">
                <a:extLst>
                  <a:ext uri="{FF2B5EF4-FFF2-40B4-BE49-F238E27FC236}">
                    <a16:creationId xmlns:a16="http://schemas.microsoft.com/office/drawing/2014/main" id="{6F03009A-EF4F-4F94-A8D0-099CA415B3C5}"/>
                  </a:ext>
                </a:extLst>
              </p:cNvPr>
              <p:cNvGrpSpPr/>
              <p:nvPr/>
            </p:nvGrpSpPr>
            <p:grpSpPr>
              <a:xfrm>
                <a:off x="2839965" y="3593538"/>
                <a:ext cx="8306993" cy="1701266"/>
                <a:chOff x="5925310" y="1577851"/>
                <a:chExt cx="9368130" cy="1507812"/>
              </a:xfrm>
            </p:grpSpPr>
            <p:sp>
              <p:nvSpPr>
                <p:cNvPr id="71" name="TextBox 10">
                  <a:extLst>
                    <a:ext uri="{FF2B5EF4-FFF2-40B4-BE49-F238E27FC236}">
                      <a16:creationId xmlns:a16="http://schemas.microsoft.com/office/drawing/2014/main" id="{AB14FAA3-A65F-4850-BA69-83107134640E}"/>
                    </a:ext>
                  </a:extLst>
                </p:cNvPr>
                <p:cNvSpPr txBox="1"/>
                <p:nvPr/>
              </p:nvSpPr>
              <p:spPr>
                <a:xfrm>
                  <a:off x="5925310" y="1577851"/>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技术创新</a:t>
                  </a:r>
                </a:p>
              </p:txBody>
            </p:sp>
            <p:sp>
              <p:nvSpPr>
                <p:cNvPr id="72" name="TextBox 11">
                  <a:extLst>
                    <a:ext uri="{FF2B5EF4-FFF2-40B4-BE49-F238E27FC236}">
                      <a16:creationId xmlns:a16="http://schemas.microsoft.com/office/drawing/2014/main" id="{1A67078A-B7EC-41F8-83FB-70E3E973497E}"/>
                    </a:ext>
                  </a:extLst>
                </p:cNvPr>
                <p:cNvSpPr txBox="1"/>
                <p:nvPr/>
              </p:nvSpPr>
              <p:spPr>
                <a:xfrm>
                  <a:off x="5982797" y="2022450"/>
                  <a:ext cx="9310643" cy="1063213"/>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技术创新将成为环保产业发展的核心驱动力。研发先进设备，如高效除尘、脱硫、脱硝设备，有效去除污染物，改善环境质量。</a:t>
                  </a:r>
                </a:p>
                <a:p>
                  <a:pPr>
                    <a:lnSpc>
                      <a:spcPct val="120000"/>
                    </a:lnSpc>
                  </a:pPr>
                  <a:endParaRPr lang="zh-CN" altLang="en-US" sz="2000" b="1" dirty="0">
                    <a:solidFill>
                      <a:schemeClr val="dk1">
                        <a:alpha val="100000"/>
                      </a:schemeClr>
                    </a:solidFill>
                    <a:latin typeface="+mn-ea"/>
                    <a:cs typeface="Microsoft Yahei"/>
                  </a:endParaRPr>
                </a:p>
              </p:txBody>
            </p:sp>
          </p:grpSp>
          <p:grpSp>
            <p:nvGrpSpPr>
              <p:cNvPr id="37" name="Group 9">
                <a:extLst>
                  <a:ext uri="{FF2B5EF4-FFF2-40B4-BE49-F238E27FC236}">
                    <a16:creationId xmlns:a16="http://schemas.microsoft.com/office/drawing/2014/main" id="{0A8A4520-F4C8-456F-9256-747A2E53BE5D}"/>
                  </a:ext>
                </a:extLst>
              </p:cNvPr>
              <p:cNvGrpSpPr/>
              <p:nvPr/>
            </p:nvGrpSpPr>
            <p:grpSpPr>
              <a:xfrm>
                <a:off x="2839964" y="1914365"/>
                <a:ext cx="8113355" cy="1331934"/>
                <a:chOff x="5925309" y="1577851"/>
                <a:chExt cx="7466504" cy="1180477"/>
              </a:xfrm>
            </p:grpSpPr>
            <p:sp>
              <p:nvSpPr>
                <p:cNvPr id="38" name="TextBox 10">
                  <a:extLst>
                    <a:ext uri="{FF2B5EF4-FFF2-40B4-BE49-F238E27FC236}">
                      <a16:creationId xmlns:a16="http://schemas.microsoft.com/office/drawing/2014/main" id="{2B50B84D-B0F9-457B-A3AF-E2A5113E19CD}"/>
                    </a:ext>
                  </a:extLst>
                </p:cNvPr>
                <p:cNvSpPr txBox="1"/>
                <p:nvPr/>
              </p:nvSpPr>
              <p:spPr>
                <a:xfrm>
                  <a:off x="5925310" y="1577851"/>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绿色环保</a:t>
                  </a:r>
                </a:p>
              </p:txBody>
            </p:sp>
            <p:sp>
              <p:nvSpPr>
                <p:cNvPr id="39" name="TextBox 11">
                  <a:extLst>
                    <a:ext uri="{FF2B5EF4-FFF2-40B4-BE49-F238E27FC236}">
                      <a16:creationId xmlns:a16="http://schemas.microsoft.com/office/drawing/2014/main" id="{91628E70-70BE-4C24-BE93-C7D161AD07AA}"/>
                    </a:ext>
                  </a:extLst>
                </p:cNvPr>
                <p:cNvSpPr txBox="1"/>
                <p:nvPr/>
              </p:nvSpPr>
              <p:spPr>
                <a:xfrm>
                  <a:off x="5925309" y="2022450"/>
                  <a:ext cx="7466504" cy="735878"/>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绿色环保理念深入人心，环保产业将持续发展。研究和开发如高效吸附材料、催化材料、生物材料等，提高污染治理效率，降低治理成本。</a:t>
                  </a:r>
                </a:p>
              </p:txBody>
            </p:sp>
          </p:grpSp>
          <p:grpSp>
            <p:nvGrpSpPr>
              <p:cNvPr id="40" name="Group 9">
                <a:extLst>
                  <a:ext uri="{FF2B5EF4-FFF2-40B4-BE49-F238E27FC236}">
                    <a16:creationId xmlns:a16="http://schemas.microsoft.com/office/drawing/2014/main" id="{71962EE9-DC9D-4D8E-9A02-41E7EADCBF29}"/>
                  </a:ext>
                </a:extLst>
              </p:cNvPr>
              <p:cNvGrpSpPr/>
              <p:nvPr/>
            </p:nvGrpSpPr>
            <p:grpSpPr>
              <a:xfrm>
                <a:off x="2900686" y="5190917"/>
                <a:ext cx="8287157" cy="1296832"/>
                <a:chOff x="5947442" y="1608962"/>
                <a:chExt cx="9409152" cy="1149366"/>
              </a:xfrm>
            </p:grpSpPr>
            <p:sp>
              <p:nvSpPr>
                <p:cNvPr id="41" name="TextBox 10">
                  <a:extLst>
                    <a:ext uri="{FF2B5EF4-FFF2-40B4-BE49-F238E27FC236}">
                      <a16:creationId xmlns:a16="http://schemas.microsoft.com/office/drawing/2014/main" id="{4CF71677-8E43-400F-967B-2A69C9987890}"/>
                    </a:ext>
                  </a:extLst>
                </p:cNvPr>
                <p:cNvSpPr txBox="1"/>
                <p:nvPr/>
              </p:nvSpPr>
              <p:spPr>
                <a:xfrm>
                  <a:off x="5947442" y="1608962"/>
                  <a:ext cx="4521094" cy="405134"/>
                </a:xfrm>
                <a:prstGeom prst="rect">
                  <a:avLst/>
                </a:prstGeom>
                <a:ln/>
              </p:spPr>
              <p:txBody>
                <a:bodyPr vert="horz" wrap="square" lIns="114300" tIns="57150" rIns="114300" bIns="57150" rtlCol="0" anchor="t" anchorCtr="0">
                  <a:spAutoFit/>
                </a:bodyPr>
                <a:lstStyle/>
                <a:p>
                  <a:pPr>
                    <a:lnSpc>
                      <a:spcPct val="77000"/>
                    </a:lnSpc>
                  </a:pPr>
                  <a:r>
                    <a:rPr lang="zh-CN" altLang="en-US" sz="2800" b="1" dirty="0">
                      <a:solidFill>
                        <a:srgbClr val="2C4E8C"/>
                      </a:solidFill>
                      <a:latin typeface="+mn-ea"/>
                      <a:cs typeface="Microsoft Yahei"/>
                    </a:rPr>
                    <a:t>环保产业</a:t>
                  </a:r>
                </a:p>
              </p:txBody>
            </p:sp>
            <p:sp>
              <p:nvSpPr>
                <p:cNvPr id="42" name="TextBox 11">
                  <a:extLst>
                    <a:ext uri="{FF2B5EF4-FFF2-40B4-BE49-F238E27FC236}">
                      <a16:creationId xmlns:a16="http://schemas.microsoft.com/office/drawing/2014/main" id="{ACD9879E-DFA0-4014-A4D9-E15D1BD7DF60}"/>
                    </a:ext>
                  </a:extLst>
                </p:cNvPr>
                <p:cNvSpPr txBox="1"/>
                <p:nvPr/>
              </p:nvSpPr>
              <p:spPr>
                <a:xfrm>
                  <a:off x="5982797" y="2022450"/>
                  <a:ext cx="9373797" cy="735878"/>
                </a:xfrm>
                <a:prstGeom prst="rect">
                  <a:avLst/>
                </a:prstGeom>
                <a:ln/>
              </p:spPr>
              <p:txBody>
                <a:bodyPr vert="horz" wrap="square" lIns="114300" tIns="57150" rIns="114300" bIns="57150" rtlCol="0" anchor="t" anchorCtr="0">
                  <a:spAutoFit/>
                </a:bodyPr>
                <a:lstStyle/>
                <a:p>
                  <a:pPr>
                    <a:lnSpc>
                      <a:spcPct val="120000"/>
                    </a:lnSpc>
                  </a:pPr>
                  <a:r>
                    <a:rPr lang="zh-CN" altLang="en-US" sz="2000" b="1" dirty="0">
                      <a:solidFill>
                        <a:schemeClr val="dk1">
                          <a:alpha val="100000"/>
                        </a:schemeClr>
                      </a:solidFill>
                      <a:latin typeface="+mn-ea"/>
                      <a:cs typeface="Microsoft Yahei"/>
                    </a:rPr>
                    <a:t>环保产业将向智能化、高效化、专业化方向发展。减少环境污染物的产生和排放，保护生态环境。</a:t>
                  </a:r>
                </a:p>
              </p:txBody>
            </p:sp>
          </p:grpSp>
          <p:sp>
            <p:nvSpPr>
              <p:cNvPr id="59" name="AutoShape 11">
                <a:extLst>
                  <a:ext uri="{FF2B5EF4-FFF2-40B4-BE49-F238E27FC236}">
                    <a16:creationId xmlns:a16="http://schemas.microsoft.com/office/drawing/2014/main" id="{73532768-0D85-4F29-9423-5D869E61FCCA}"/>
                  </a:ext>
                </a:extLst>
              </p:cNvPr>
              <p:cNvSpPr/>
              <p:nvPr/>
            </p:nvSpPr>
            <p:spPr>
              <a:xfrm>
                <a:off x="1410017" y="3534696"/>
                <a:ext cx="913476" cy="913476"/>
              </a:xfrm>
              <a:prstGeom prst="ellipse">
                <a:avLst/>
              </a:prstGeom>
              <a:solidFill>
                <a:srgbClr val="4472C4"/>
              </a:solidFill>
              <a:ln/>
            </p:spPr>
          </p:sp>
          <p:sp>
            <p:nvSpPr>
              <p:cNvPr id="60" name="AutoShape 12">
                <a:extLst>
                  <a:ext uri="{FF2B5EF4-FFF2-40B4-BE49-F238E27FC236}">
                    <a16:creationId xmlns:a16="http://schemas.microsoft.com/office/drawing/2014/main" id="{5CEDD380-84F0-4BCF-8068-88F952025159}"/>
                  </a:ext>
                </a:extLst>
              </p:cNvPr>
              <p:cNvSpPr/>
              <p:nvPr/>
            </p:nvSpPr>
            <p:spPr>
              <a:xfrm>
                <a:off x="1457021" y="5190917"/>
                <a:ext cx="913476" cy="913476"/>
              </a:xfrm>
              <a:prstGeom prst="ellipse">
                <a:avLst/>
              </a:prstGeom>
              <a:solidFill>
                <a:srgbClr val="4472C4"/>
              </a:solidFill>
              <a:ln/>
            </p:spPr>
          </p:sp>
          <p:grpSp>
            <p:nvGrpSpPr>
              <p:cNvPr id="28" name="组合 27">
                <a:extLst>
                  <a:ext uri="{FF2B5EF4-FFF2-40B4-BE49-F238E27FC236}">
                    <a16:creationId xmlns:a16="http://schemas.microsoft.com/office/drawing/2014/main" id="{31F8243C-BB46-4B14-8FC3-DADB8FDBCE7B}"/>
                  </a:ext>
                </a:extLst>
              </p:cNvPr>
              <p:cNvGrpSpPr/>
              <p:nvPr/>
            </p:nvGrpSpPr>
            <p:grpSpPr>
              <a:xfrm>
                <a:off x="1410017" y="1878475"/>
                <a:ext cx="913476" cy="913476"/>
                <a:chOff x="760660" y="1692945"/>
                <a:chExt cx="913476" cy="913476"/>
              </a:xfrm>
              <a:solidFill>
                <a:srgbClr val="4472C4"/>
              </a:solidFill>
            </p:grpSpPr>
            <p:sp>
              <p:nvSpPr>
                <p:cNvPr id="58" name="AutoShape 10">
                  <a:extLst>
                    <a:ext uri="{FF2B5EF4-FFF2-40B4-BE49-F238E27FC236}">
                      <a16:creationId xmlns:a16="http://schemas.microsoft.com/office/drawing/2014/main" id="{3FF83D8F-DF49-4F3D-AAD9-AB07DCEF3D2E}"/>
                    </a:ext>
                  </a:extLst>
                </p:cNvPr>
                <p:cNvSpPr/>
                <p:nvPr/>
              </p:nvSpPr>
              <p:spPr>
                <a:xfrm>
                  <a:off x="760660" y="1692945"/>
                  <a:ext cx="913476" cy="913476"/>
                </a:xfrm>
                <a:prstGeom prst="ellipse">
                  <a:avLst/>
                </a:prstGeom>
                <a:grpFill/>
                <a:ln/>
              </p:spPr>
            </p:sp>
            <p:sp>
              <p:nvSpPr>
                <p:cNvPr id="61" name="Freeform 13">
                  <a:extLst>
                    <a:ext uri="{FF2B5EF4-FFF2-40B4-BE49-F238E27FC236}">
                      <a16:creationId xmlns:a16="http://schemas.microsoft.com/office/drawing/2014/main" id="{92495FFE-F95C-42CF-BADD-E4C7218DEB5D}"/>
                    </a:ext>
                  </a:extLst>
                </p:cNvPr>
                <p:cNvSpPr/>
                <p:nvPr/>
              </p:nvSpPr>
              <p:spPr>
                <a:xfrm>
                  <a:off x="985042" y="1921501"/>
                  <a:ext cx="426486" cy="426486"/>
                </a:xfrm>
                <a:custGeom>
                  <a:avLst/>
                  <a:gdLst/>
                  <a:ahLst/>
                  <a:cxnLst/>
                  <a:rect l="l" t="t" r="r" b="b"/>
                  <a:pathLst>
                    <a:path w="304800" h="304800">
                      <a:moveTo>
                        <a:pt x="0" y="91440"/>
                      </a:moveTo>
                      <a:lnTo>
                        <a:pt x="152400" y="0"/>
                      </a:lnTo>
                      <a:lnTo>
                        <a:pt x="304800" y="91440"/>
                      </a:lnTo>
                      <a:lnTo>
                        <a:pt x="304800" y="121920"/>
                      </a:lnTo>
                      <a:lnTo>
                        <a:pt x="0" y="121920"/>
                      </a:lnTo>
                      <a:lnTo>
                        <a:pt x="0" y="91440"/>
                      </a:lnTo>
                      <a:close/>
                      <a:moveTo>
                        <a:pt x="0" y="274320"/>
                      </a:moveTo>
                      <a:lnTo>
                        <a:pt x="304800" y="274320"/>
                      </a:lnTo>
                      <a:lnTo>
                        <a:pt x="304800" y="304800"/>
                      </a:lnTo>
                      <a:lnTo>
                        <a:pt x="0" y="304800"/>
                      </a:lnTo>
                      <a:lnTo>
                        <a:pt x="0" y="274320"/>
                      </a:lnTo>
                      <a:close/>
                      <a:moveTo>
                        <a:pt x="30480" y="243840"/>
                      </a:moveTo>
                      <a:lnTo>
                        <a:pt x="274320" y="243840"/>
                      </a:lnTo>
                      <a:lnTo>
                        <a:pt x="274320" y="274320"/>
                      </a:lnTo>
                      <a:lnTo>
                        <a:pt x="30480" y="274320"/>
                      </a:lnTo>
                      <a:lnTo>
                        <a:pt x="30480" y="243840"/>
                      </a:lnTo>
                      <a:close/>
                      <a:moveTo>
                        <a:pt x="30480" y="121920"/>
                      </a:moveTo>
                      <a:lnTo>
                        <a:pt x="91440" y="121920"/>
                      </a:lnTo>
                      <a:lnTo>
                        <a:pt x="91440" y="243840"/>
                      </a:lnTo>
                      <a:lnTo>
                        <a:pt x="30480" y="243840"/>
                      </a:lnTo>
                      <a:lnTo>
                        <a:pt x="30480" y="121920"/>
                      </a:lnTo>
                      <a:close/>
                      <a:moveTo>
                        <a:pt x="121920" y="121920"/>
                      </a:moveTo>
                      <a:lnTo>
                        <a:pt x="182880" y="121920"/>
                      </a:lnTo>
                      <a:lnTo>
                        <a:pt x="182880" y="243840"/>
                      </a:lnTo>
                      <a:lnTo>
                        <a:pt x="121920" y="243840"/>
                      </a:lnTo>
                      <a:lnTo>
                        <a:pt x="121920" y="121920"/>
                      </a:lnTo>
                      <a:close/>
                      <a:moveTo>
                        <a:pt x="213360" y="121920"/>
                      </a:moveTo>
                      <a:lnTo>
                        <a:pt x="274320" y="121920"/>
                      </a:lnTo>
                      <a:lnTo>
                        <a:pt x="274320" y="243840"/>
                      </a:lnTo>
                      <a:lnTo>
                        <a:pt x="213360" y="243840"/>
                      </a:lnTo>
                      <a:lnTo>
                        <a:pt x="213360" y="121920"/>
                      </a:lnTo>
                      <a:close/>
                    </a:path>
                  </a:pathLst>
                </a:custGeom>
                <a:solidFill>
                  <a:schemeClr val="bg1"/>
                </a:solidFill>
                <a:ln/>
              </p:spPr>
            </p:sp>
          </p:grpSp>
          <p:sp>
            <p:nvSpPr>
              <p:cNvPr id="63" name="Freeform 15">
                <a:extLst>
                  <a:ext uri="{FF2B5EF4-FFF2-40B4-BE49-F238E27FC236}">
                    <a16:creationId xmlns:a16="http://schemas.microsoft.com/office/drawing/2014/main" id="{0CA84037-16FF-4883-98E8-38FFF756EBB9}"/>
                  </a:ext>
                </a:extLst>
              </p:cNvPr>
              <p:cNvSpPr/>
              <p:nvPr/>
            </p:nvSpPr>
            <p:spPr>
              <a:xfrm>
                <a:off x="1606236" y="3738322"/>
                <a:ext cx="482811" cy="484100"/>
              </a:xfrm>
              <a:custGeom>
                <a:avLst/>
                <a:gdLst/>
                <a:ahLst/>
                <a:cxnLst/>
                <a:rect l="l" t="t" r="r" b="b"/>
                <a:pathLst>
                  <a:path w="304800" h="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FFFFF">
                  <a:alpha val="100000"/>
                </a:srgbClr>
              </a:solidFill>
              <a:ln/>
            </p:spPr>
          </p:sp>
        </p:grpSp>
        <p:sp>
          <p:nvSpPr>
            <p:cNvPr id="64" name="Freeform 5">
              <a:extLst>
                <a:ext uri="{FF2B5EF4-FFF2-40B4-BE49-F238E27FC236}">
                  <a16:creationId xmlns:a16="http://schemas.microsoft.com/office/drawing/2014/main" id="{FA7C9A1E-DB20-4E3D-A6B9-A969A6A3075F}"/>
                </a:ext>
              </a:extLst>
            </p:cNvPr>
            <p:cNvSpPr/>
            <p:nvPr/>
          </p:nvSpPr>
          <p:spPr>
            <a:xfrm>
              <a:off x="1981164" y="5414702"/>
              <a:ext cx="534050" cy="485508"/>
            </a:xfrm>
            <a:custGeom>
              <a:avLst/>
              <a:gdLst/>
              <a:ahLst/>
              <a:cxnLst/>
              <a:rect l="l" t="t" r="r" b="b"/>
              <a:pathLst>
                <a:path w="304800" h="304800">
                  <a:moveTo>
                    <a:pt x="257299" y="240773"/>
                  </a:moveTo>
                  <a:lnTo>
                    <a:pt x="257299" y="258156"/>
                  </a:lnTo>
                  <a:lnTo>
                    <a:pt x="47501" y="258156"/>
                  </a:lnTo>
                  <a:lnTo>
                    <a:pt x="47501" y="240773"/>
                  </a:lnTo>
                  <a:cubicBezTo>
                    <a:pt x="47501" y="240773"/>
                    <a:pt x="43015" y="231162"/>
                    <a:pt x="67361" y="208112"/>
                  </a:cubicBezTo>
                  <a:cubicBezTo>
                    <a:pt x="91688" y="185071"/>
                    <a:pt x="88487" y="125511"/>
                    <a:pt x="88487" y="85173"/>
                  </a:cubicBezTo>
                  <a:cubicBezTo>
                    <a:pt x="88487" y="44834"/>
                    <a:pt x="145142" y="43977"/>
                    <a:pt x="145142" y="43977"/>
                  </a:cubicBezTo>
                  <a:lnTo>
                    <a:pt x="147085" y="43977"/>
                  </a:lnTo>
                  <a:cubicBezTo>
                    <a:pt x="147085" y="43996"/>
                    <a:pt x="147085" y="43701"/>
                    <a:pt x="147085" y="37424"/>
                  </a:cubicBezTo>
                  <a:cubicBezTo>
                    <a:pt x="147085" y="33395"/>
                    <a:pt x="133560" y="18802"/>
                    <a:pt x="133560" y="18802"/>
                  </a:cubicBezTo>
                  <a:lnTo>
                    <a:pt x="133360" y="9973"/>
                  </a:lnTo>
                  <a:lnTo>
                    <a:pt x="171555" y="9973"/>
                  </a:lnTo>
                  <a:lnTo>
                    <a:pt x="171298" y="19136"/>
                  </a:lnTo>
                  <a:cubicBezTo>
                    <a:pt x="171298" y="19136"/>
                    <a:pt x="156639" y="33719"/>
                    <a:pt x="156639" y="38014"/>
                  </a:cubicBezTo>
                  <a:cubicBezTo>
                    <a:pt x="156639" y="42167"/>
                    <a:pt x="156639" y="43558"/>
                    <a:pt x="156639" y="43967"/>
                  </a:cubicBezTo>
                  <a:lnTo>
                    <a:pt x="159658" y="43967"/>
                  </a:lnTo>
                  <a:cubicBezTo>
                    <a:pt x="159658" y="43967"/>
                    <a:pt x="216313" y="44825"/>
                    <a:pt x="216313" y="85163"/>
                  </a:cubicBezTo>
                  <a:cubicBezTo>
                    <a:pt x="216313" y="125501"/>
                    <a:pt x="213112" y="185071"/>
                    <a:pt x="237449" y="208121"/>
                  </a:cubicBezTo>
                  <a:cubicBezTo>
                    <a:pt x="261785" y="231172"/>
                    <a:pt x="257299" y="240773"/>
                    <a:pt x="257299" y="240773"/>
                  </a:cubicBezTo>
                  <a:close/>
                  <a:moveTo>
                    <a:pt x="176327" y="267367"/>
                  </a:moveTo>
                  <a:cubicBezTo>
                    <a:pt x="176327" y="280559"/>
                    <a:pt x="165640" y="294827"/>
                    <a:pt x="152457" y="294827"/>
                  </a:cubicBezTo>
                  <a:cubicBezTo>
                    <a:pt x="139275" y="294827"/>
                    <a:pt x="128588" y="280559"/>
                    <a:pt x="128588" y="267367"/>
                  </a:cubicBezTo>
                  <a:cubicBezTo>
                    <a:pt x="128588" y="267662"/>
                    <a:pt x="176327" y="267062"/>
                    <a:pt x="176327" y="267367"/>
                  </a:cubicBezTo>
                  <a:close/>
                </a:path>
              </a:pathLst>
            </a:custGeom>
            <a:solidFill>
              <a:srgbClr val="FFFFFF">
                <a:alpha val="100000"/>
              </a:srgbClr>
            </a:solidFill>
            <a:ln/>
          </p:spPr>
        </p:sp>
      </p:grpSp>
    </p:spTree>
    <p:extLst>
      <p:ext uri="{BB962C8B-B14F-4D97-AF65-F5344CB8AC3E}">
        <p14:creationId xmlns:p14="http://schemas.microsoft.com/office/powerpoint/2010/main" val="2316143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50940" y="1500214"/>
            <a:ext cx="1609344" cy="1609344"/>
          </a:xfrm>
          <a:prstGeom prst="ellipse">
            <a:avLst/>
          </a:prstGeom>
          <a:solidFill>
            <a:schemeClr val="accent1">
              <a:alpha val="100000"/>
            </a:schemeClr>
          </a:solidFill>
          <a:ln/>
        </p:spPr>
      </p:sp>
      <p:sp>
        <p:nvSpPr>
          <p:cNvPr id="3" name="AutoShape 3"/>
          <p:cNvSpPr/>
          <p:nvPr/>
        </p:nvSpPr>
        <p:spPr>
          <a:xfrm>
            <a:off x="1085171" y="1500214"/>
            <a:ext cx="1609344" cy="1609344"/>
          </a:xfrm>
          <a:prstGeom prst="ellipse">
            <a:avLst/>
          </a:prstGeom>
          <a:solidFill>
            <a:schemeClr val="accent2">
              <a:alpha val="100000"/>
            </a:schemeClr>
          </a:solidFill>
          <a:ln/>
        </p:spPr>
      </p:sp>
      <p:sp>
        <p:nvSpPr>
          <p:cNvPr id="4" name="AutoShape 4"/>
          <p:cNvSpPr/>
          <p:nvPr/>
        </p:nvSpPr>
        <p:spPr>
          <a:xfrm>
            <a:off x="9382477" y="1500214"/>
            <a:ext cx="1609344" cy="1609344"/>
          </a:xfrm>
          <a:prstGeom prst="ellipse">
            <a:avLst/>
          </a:prstGeom>
          <a:solidFill>
            <a:schemeClr val="accent1">
              <a:alpha val="100000"/>
            </a:schemeClr>
          </a:solidFill>
          <a:ln/>
        </p:spPr>
      </p:sp>
      <p:sp>
        <p:nvSpPr>
          <p:cNvPr id="5" name="AutoShape 5"/>
          <p:cNvSpPr/>
          <p:nvPr/>
        </p:nvSpPr>
        <p:spPr>
          <a:xfrm>
            <a:off x="6616708" y="1500214"/>
            <a:ext cx="1609344" cy="1609344"/>
          </a:xfrm>
          <a:prstGeom prst="ellipse">
            <a:avLst/>
          </a:prstGeom>
          <a:solidFill>
            <a:schemeClr val="accent2">
              <a:alpha val="100000"/>
            </a:schemeClr>
          </a:solidFill>
          <a:ln/>
        </p:spPr>
      </p:sp>
      <p:sp>
        <p:nvSpPr>
          <p:cNvPr id="14" name="Freeform 14"/>
          <p:cNvSpPr/>
          <p:nvPr/>
        </p:nvSpPr>
        <p:spPr>
          <a:xfrm>
            <a:off x="1551674" y="1945132"/>
            <a:ext cx="676339" cy="719509"/>
          </a:xfrm>
          <a:custGeom>
            <a:avLst/>
            <a:gdLst/>
            <a:ahLst/>
            <a:cxnLst/>
            <a:rect l="l" t="t" r="r" b="b"/>
            <a:pathLst>
              <a:path w="304800" h="304800">
                <a:moveTo>
                  <a:pt x="45720" y="91440"/>
                </a:moveTo>
                <a:cubicBezTo>
                  <a:pt x="45720" y="74676"/>
                  <a:pt x="59436" y="60960"/>
                  <a:pt x="76200" y="60960"/>
                </a:cubicBezTo>
                <a:lnTo>
                  <a:pt x="198120" y="60960"/>
                </a:lnTo>
                <a:lnTo>
                  <a:pt x="259080" y="0"/>
                </a:lnTo>
                <a:lnTo>
                  <a:pt x="289560" y="0"/>
                </a:lnTo>
                <a:lnTo>
                  <a:pt x="289560" y="243840"/>
                </a:lnTo>
                <a:lnTo>
                  <a:pt x="259080" y="243840"/>
                </a:lnTo>
                <a:lnTo>
                  <a:pt x="198120" y="182880"/>
                </a:lnTo>
                <a:lnTo>
                  <a:pt x="76200" y="182880"/>
                </a:lnTo>
                <a:cubicBezTo>
                  <a:pt x="59369" y="182880"/>
                  <a:pt x="45720" y="169231"/>
                  <a:pt x="45720" y="152400"/>
                </a:cubicBezTo>
                <a:lnTo>
                  <a:pt x="45720" y="152400"/>
                </a:lnTo>
                <a:lnTo>
                  <a:pt x="15240" y="152400"/>
                </a:lnTo>
                <a:lnTo>
                  <a:pt x="15240" y="91440"/>
                </a:lnTo>
                <a:lnTo>
                  <a:pt x="45720" y="91440"/>
                </a:lnTo>
                <a:close/>
                <a:moveTo>
                  <a:pt x="167640" y="228600"/>
                </a:moveTo>
                <a:lnTo>
                  <a:pt x="167640" y="304800"/>
                </a:lnTo>
                <a:lnTo>
                  <a:pt x="121920" y="304800"/>
                </a:lnTo>
                <a:lnTo>
                  <a:pt x="96469" y="228600"/>
                </a:lnTo>
                <a:lnTo>
                  <a:pt x="76200" y="228600"/>
                </a:lnTo>
                <a:lnTo>
                  <a:pt x="76200" y="198120"/>
                </a:lnTo>
                <a:lnTo>
                  <a:pt x="198120" y="198120"/>
                </a:lnTo>
                <a:lnTo>
                  <a:pt x="198120" y="228600"/>
                </a:lnTo>
                <a:lnTo>
                  <a:pt x="167640" y="228600"/>
                </a:lnTo>
                <a:close/>
              </a:path>
            </a:pathLst>
          </a:custGeom>
          <a:solidFill>
            <a:srgbClr val="FFFFFF">
              <a:alpha val="100000"/>
            </a:srgbClr>
          </a:solidFill>
          <a:ln/>
        </p:spPr>
      </p:sp>
      <p:sp>
        <p:nvSpPr>
          <p:cNvPr id="15" name="Freeform 15"/>
          <p:cNvSpPr/>
          <p:nvPr/>
        </p:nvSpPr>
        <p:spPr>
          <a:xfrm>
            <a:off x="4217981" y="1867256"/>
            <a:ext cx="875262" cy="875262"/>
          </a:xfrm>
          <a:custGeom>
            <a:avLst/>
            <a:gdLst/>
            <a:ahLst/>
            <a:cxnLst/>
            <a:rect l="l" t="t" r="r" b="b"/>
            <a:pathLst>
              <a:path w="304800" h="304800">
                <a:moveTo>
                  <a:pt x="261518" y="97841"/>
                </a:moveTo>
                <a:cubicBezTo>
                  <a:pt x="249460" y="74143"/>
                  <a:pt x="230657" y="55340"/>
                  <a:pt x="207655" y="43605"/>
                </a:cubicBezTo>
                <a:lnTo>
                  <a:pt x="206959" y="43282"/>
                </a:lnTo>
                <a:lnTo>
                  <a:pt x="186538" y="84277"/>
                </a:lnTo>
                <a:cubicBezTo>
                  <a:pt x="201292" y="91802"/>
                  <a:pt x="212998" y="103508"/>
                  <a:pt x="220323" y="117834"/>
                </a:cubicBezTo>
                <a:lnTo>
                  <a:pt x="220523" y="118262"/>
                </a:lnTo>
                <a:lnTo>
                  <a:pt x="261518" y="97841"/>
                </a:lnTo>
                <a:close/>
                <a:moveTo>
                  <a:pt x="261518" y="206959"/>
                </a:moveTo>
                <a:lnTo>
                  <a:pt x="220523" y="186538"/>
                </a:lnTo>
                <a:cubicBezTo>
                  <a:pt x="212998" y="201292"/>
                  <a:pt x="201292" y="212998"/>
                  <a:pt x="186966" y="220323"/>
                </a:cubicBezTo>
                <a:lnTo>
                  <a:pt x="186538" y="220523"/>
                </a:lnTo>
                <a:lnTo>
                  <a:pt x="206959" y="261518"/>
                </a:lnTo>
                <a:cubicBezTo>
                  <a:pt x="230657" y="249460"/>
                  <a:pt x="249460" y="230657"/>
                  <a:pt x="261195" y="207655"/>
                </a:cubicBezTo>
                <a:lnTo>
                  <a:pt x="261518" y="206959"/>
                </a:lnTo>
                <a:close/>
                <a:moveTo>
                  <a:pt x="97841" y="43282"/>
                </a:moveTo>
                <a:cubicBezTo>
                  <a:pt x="74143" y="55340"/>
                  <a:pt x="55340" y="74143"/>
                  <a:pt x="43605" y="97145"/>
                </a:cubicBezTo>
                <a:lnTo>
                  <a:pt x="43282" y="97841"/>
                </a:lnTo>
                <a:lnTo>
                  <a:pt x="84277" y="118262"/>
                </a:lnTo>
                <a:cubicBezTo>
                  <a:pt x="91802" y="103508"/>
                  <a:pt x="103508" y="91802"/>
                  <a:pt x="117834" y="84477"/>
                </a:cubicBezTo>
                <a:lnTo>
                  <a:pt x="118262" y="84277"/>
                </a:lnTo>
                <a:lnTo>
                  <a:pt x="97841" y="43282"/>
                </a:lnTo>
                <a:close/>
                <a:moveTo>
                  <a:pt x="43282" y="206959"/>
                </a:moveTo>
                <a:cubicBezTo>
                  <a:pt x="55340" y="230657"/>
                  <a:pt x="74143" y="249460"/>
                  <a:pt x="97145" y="261195"/>
                </a:cubicBezTo>
                <a:lnTo>
                  <a:pt x="97841" y="261518"/>
                </a:lnTo>
                <a:lnTo>
                  <a:pt x="118262" y="220523"/>
                </a:lnTo>
                <a:cubicBezTo>
                  <a:pt x="103508" y="212998"/>
                  <a:pt x="91802" y="201292"/>
                  <a:pt x="84477" y="186966"/>
                </a:cubicBezTo>
                <a:lnTo>
                  <a:pt x="84277" y="186538"/>
                </a:lnTo>
                <a:lnTo>
                  <a:pt x="43282" y="206959"/>
                </a:lnTo>
                <a:close/>
                <a:moveTo>
                  <a:pt x="152400" y="304800"/>
                </a:moveTo>
                <a:cubicBezTo>
                  <a:pt x="68228" y="304800"/>
                  <a:pt x="0" y="236572"/>
                  <a:pt x="0" y="152400"/>
                </a:cubicBezTo>
                <a:cubicBezTo>
                  <a:pt x="0" y="68228"/>
                  <a:pt x="68228" y="0"/>
                  <a:pt x="152400" y="0"/>
                </a:cubicBezTo>
                <a:lnTo>
                  <a:pt x="152400" y="0"/>
                </a:lnTo>
                <a:cubicBezTo>
                  <a:pt x="236572" y="0"/>
                  <a:pt x="304800" y="68228"/>
                  <a:pt x="304800" y="152400"/>
                </a:cubicBezTo>
                <a:cubicBezTo>
                  <a:pt x="304800" y="236572"/>
                  <a:pt x="236572" y="304800"/>
                  <a:pt x="152400" y="304800"/>
                </a:cubicBezTo>
                <a:lnTo>
                  <a:pt x="152400" y="304800"/>
                </a:lnTo>
                <a:close/>
                <a:moveTo>
                  <a:pt x="152400" y="198120"/>
                </a:moveTo>
                <a:cubicBezTo>
                  <a:pt x="177651" y="198120"/>
                  <a:pt x="198120" y="177651"/>
                  <a:pt x="198120" y="152400"/>
                </a:cubicBezTo>
                <a:cubicBezTo>
                  <a:pt x="198120" y="127149"/>
                  <a:pt x="177651" y="106680"/>
                  <a:pt x="152400" y="106680"/>
                </a:cubicBezTo>
                <a:lnTo>
                  <a:pt x="152400" y="106680"/>
                </a:lnTo>
                <a:cubicBezTo>
                  <a:pt x="127149" y="106680"/>
                  <a:pt x="106680" y="127149"/>
                  <a:pt x="106680" y="152400"/>
                </a:cubicBezTo>
                <a:cubicBezTo>
                  <a:pt x="106680" y="177651"/>
                  <a:pt x="127149" y="198120"/>
                  <a:pt x="152400" y="198120"/>
                </a:cubicBezTo>
                <a:lnTo>
                  <a:pt x="152400" y="198120"/>
                </a:lnTo>
                <a:close/>
              </a:path>
            </a:pathLst>
          </a:custGeom>
          <a:solidFill>
            <a:srgbClr val="FFFFFF">
              <a:alpha val="100000"/>
            </a:srgbClr>
          </a:solidFill>
          <a:ln/>
        </p:spPr>
      </p:sp>
      <p:sp>
        <p:nvSpPr>
          <p:cNvPr id="16" name="Freeform 16"/>
          <p:cNvSpPr/>
          <p:nvPr/>
        </p:nvSpPr>
        <p:spPr>
          <a:xfrm>
            <a:off x="6838497" y="1841557"/>
            <a:ext cx="884044" cy="884044"/>
          </a:xfrm>
          <a:custGeom>
            <a:avLst/>
            <a:gdLst/>
            <a:ahLst/>
            <a:cxnLst/>
            <a:rect l="l" t="t" r="r" b="b"/>
            <a:pathLst>
              <a:path w="304800" h="304800">
                <a:moveTo>
                  <a:pt x="310886" y="167269"/>
                </a:moveTo>
                <a:cubicBezTo>
                  <a:pt x="310886" y="167269"/>
                  <a:pt x="267148" y="122672"/>
                  <a:pt x="206873" y="122672"/>
                </a:cubicBezTo>
                <a:cubicBezTo>
                  <a:pt x="147980" y="122672"/>
                  <a:pt x="89764" y="167269"/>
                  <a:pt x="89764" y="167269"/>
                </a:cubicBezTo>
                <a:lnTo>
                  <a:pt x="57064" y="153619"/>
                </a:lnTo>
                <a:lnTo>
                  <a:pt x="57064" y="193662"/>
                </a:lnTo>
                <a:cubicBezTo>
                  <a:pt x="62217" y="195415"/>
                  <a:pt x="65989" y="200158"/>
                  <a:pt x="65989" y="205902"/>
                </a:cubicBezTo>
                <a:cubicBezTo>
                  <a:pt x="65989" y="211703"/>
                  <a:pt x="62141" y="216456"/>
                  <a:pt x="56912" y="218170"/>
                </a:cubicBezTo>
                <a:lnTo>
                  <a:pt x="66580" y="245135"/>
                </a:lnTo>
                <a:lnTo>
                  <a:pt x="38043" y="245135"/>
                </a:lnTo>
                <a:lnTo>
                  <a:pt x="47796" y="217942"/>
                </a:lnTo>
                <a:cubicBezTo>
                  <a:pt x="43110" y="215951"/>
                  <a:pt x="39834" y="211322"/>
                  <a:pt x="39834" y="205902"/>
                </a:cubicBezTo>
                <a:cubicBezTo>
                  <a:pt x="39834" y="200597"/>
                  <a:pt x="43015" y="196082"/>
                  <a:pt x="47558" y="194024"/>
                </a:cubicBezTo>
                <a:lnTo>
                  <a:pt x="47558" y="149647"/>
                </a:lnTo>
                <a:lnTo>
                  <a:pt x="0" y="129816"/>
                </a:lnTo>
                <a:lnTo>
                  <a:pt x="209255" y="35890"/>
                </a:lnTo>
                <a:lnTo>
                  <a:pt x="401241" y="130997"/>
                </a:lnTo>
                <a:lnTo>
                  <a:pt x="310886" y="167269"/>
                </a:lnTo>
                <a:close/>
                <a:moveTo>
                  <a:pt x="204492" y="145266"/>
                </a:moveTo>
                <a:cubicBezTo>
                  <a:pt x="265128" y="145266"/>
                  <a:pt x="294846" y="177365"/>
                  <a:pt x="294846" y="177365"/>
                </a:cubicBezTo>
                <a:lnTo>
                  <a:pt x="294846" y="243945"/>
                </a:lnTo>
                <a:cubicBezTo>
                  <a:pt x="294846" y="243945"/>
                  <a:pt x="263938" y="268910"/>
                  <a:pt x="199739" y="268910"/>
                </a:cubicBezTo>
                <a:cubicBezTo>
                  <a:pt x="135541" y="268910"/>
                  <a:pt x="114138" y="243945"/>
                  <a:pt x="114138" y="243945"/>
                </a:cubicBezTo>
                <a:lnTo>
                  <a:pt x="114138" y="177365"/>
                </a:lnTo>
                <a:cubicBezTo>
                  <a:pt x="114138" y="177365"/>
                  <a:pt x="143856" y="145266"/>
                  <a:pt x="204492" y="145266"/>
                </a:cubicBezTo>
                <a:close/>
                <a:moveTo>
                  <a:pt x="203302" y="254641"/>
                </a:moveTo>
                <a:cubicBezTo>
                  <a:pt x="245326" y="254641"/>
                  <a:pt x="279397" y="246116"/>
                  <a:pt x="279397" y="235620"/>
                </a:cubicBezTo>
                <a:cubicBezTo>
                  <a:pt x="279397" y="225123"/>
                  <a:pt x="245326" y="216599"/>
                  <a:pt x="203302" y="216599"/>
                </a:cubicBezTo>
                <a:cubicBezTo>
                  <a:pt x="161277" y="216599"/>
                  <a:pt x="127216" y="225123"/>
                  <a:pt x="127216" y="235620"/>
                </a:cubicBezTo>
                <a:cubicBezTo>
                  <a:pt x="127216" y="246116"/>
                  <a:pt x="161277" y="254641"/>
                  <a:pt x="203302" y="254641"/>
                </a:cubicBezTo>
                <a:close/>
              </a:path>
            </a:pathLst>
          </a:custGeom>
          <a:solidFill>
            <a:srgbClr val="FFFFFF">
              <a:alpha val="100000"/>
            </a:srgbClr>
          </a:solidFill>
          <a:ln/>
        </p:spPr>
      </p:sp>
      <p:sp>
        <p:nvSpPr>
          <p:cNvPr id="17" name="Freeform 17"/>
          <p:cNvSpPr/>
          <p:nvPr/>
        </p:nvSpPr>
        <p:spPr>
          <a:xfrm>
            <a:off x="9781268" y="1899006"/>
            <a:ext cx="811761" cy="811761"/>
          </a:xfrm>
          <a:custGeom>
            <a:avLst/>
            <a:gdLst/>
            <a:ahLst/>
            <a:cxnLst/>
            <a:rect l="l" t="t" r="r" b="b"/>
            <a:pathLst>
              <a:path w="304800" h="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FFFFF">
              <a:alpha val="100000"/>
            </a:srgbClr>
          </a:solidFill>
          <a:ln/>
        </p:spPr>
      </p:sp>
      <p:grpSp>
        <p:nvGrpSpPr>
          <p:cNvPr id="40" name="组合 39">
            <a:extLst>
              <a:ext uri="{FF2B5EF4-FFF2-40B4-BE49-F238E27FC236}">
                <a16:creationId xmlns:a16="http://schemas.microsoft.com/office/drawing/2014/main" id="{BA8BED95-3C4C-40E7-AB30-3A2EA6E752DA}"/>
              </a:ext>
            </a:extLst>
          </p:cNvPr>
          <p:cNvGrpSpPr/>
          <p:nvPr/>
        </p:nvGrpSpPr>
        <p:grpSpPr>
          <a:xfrm>
            <a:off x="159623" y="177840"/>
            <a:ext cx="11872754" cy="761297"/>
            <a:chOff x="222729" y="110880"/>
            <a:chExt cx="11872754" cy="761297"/>
          </a:xfrm>
        </p:grpSpPr>
        <p:grpSp>
          <p:nvGrpSpPr>
            <p:cNvPr id="41" name="组合 40">
              <a:extLst>
                <a:ext uri="{FF2B5EF4-FFF2-40B4-BE49-F238E27FC236}">
                  <a16:creationId xmlns:a16="http://schemas.microsoft.com/office/drawing/2014/main" id="{0BA61FA8-2AC7-436C-A6CC-08A35817AFA5}"/>
                </a:ext>
              </a:extLst>
            </p:cNvPr>
            <p:cNvGrpSpPr/>
            <p:nvPr/>
          </p:nvGrpSpPr>
          <p:grpSpPr>
            <a:xfrm>
              <a:off x="222729" y="110880"/>
              <a:ext cx="11533332" cy="646331"/>
              <a:chOff x="443898" y="190992"/>
              <a:chExt cx="11533332" cy="646331"/>
            </a:xfrm>
          </p:grpSpPr>
          <p:sp>
            <p:nvSpPr>
              <p:cNvPr id="44" name="矩形 43">
                <a:extLst>
                  <a:ext uri="{FF2B5EF4-FFF2-40B4-BE49-F238E27FC236}">
                    <a16:creationId xmlns:a16="http://schemas.microsoft.com/office/drawing/2014/main" id="{9BC5923E-8B9B-42A8-860B-D5A01F2D14DE}"/>
                  </a:ext>
                </a:extLst>
              </p:cNvPr>
              <p:cNvSpPr/>
              <p:nvPr/>
            </p:nvSpPr>
            <p:spPr>
              <a:xfrm>
                <a:off x="1134990" y="190992"/>
                <a:ext cx="10842240" cy="646331"/>
              </a:xfrm>
              <a:prstGeom prst="rect">
                <a:avLst/>
              </a:prstGeom>
              <a:noFill/>
            </p:spPr>
            <p:txBody>
              <a:bodyPr wrap="square">
                <a:spAutoFit/>
              </a:bodyPr>
              <a:lstStyle/>
              <a:p>
                <a:r>
                  <a:rPr lang="zh-CN" altLang="en-US" sz="3600" b="1" dirty="0">
                    <a:solidFill>
                      <a:srgbClr val="2C4E8C"/>
                    </a:solidFill>
                    <a:latin typeface="+mn-ea"/>
                  </a:rPr>
                  <a:t>提高环境治理效果对策建议</a:t>
                </a:r>
              </a:p>
            </p:txBody>
          </p:sp>
          <p:grpSp>
            <p:nvGrpSpPr>
              <p:cNvPr id="45" name="Group 6">
                <a:extLst>
                  <a:ext uri="{FF2B5EF4-FFF2-40B4-BE49-F238E27FC236}">
                    <a16:creationId xmlns:a16="http://schemas.microsoft.com/office/drawing/2014/main" id="{7D4D1489-73F2-4EBC-982F-5B98E0637B2D}"/>
                  </a:ext>
                </a:extLst>
              </p:cNvPr>
              <p:cNvGrpSpPr/>
              <p:nvPr/>
            </p:nvGrpSpPr>
            <p:grpSpPr>
              <a:xfrm>
                <a:off x="443898" y="303114"/>
                <a:ext cx="515576" cy="439821"/>
                <a:chOff x="454963" y="331168"/>
                <a:chExt cx="515576" cy="439821"/>
              </a:xfrm>
            </p:grpSpPr>
            <p:sp>
              <p:nvSpPr>
                <p:cNvPr id="46" name="AutoShape 7">
                  <a:extLst>
                    <a:ext uri="{FF2B5EF4-FFF2-40B4-BE49-F238E27FC236}">
                      <a16:creationId xmlns:a16="http://schemas.microsoft.com/office/drawing/2014/main" id="{1537FC54-25F3-4614-8441-7C89D097AFD2}"/>
                    </a:ext>
                  </a:extLst>
                </p:cNvPr>
                <p:cNvSpPr/>
                <p:nvPr/>
              </p:nvSpPr>
              <p:spPr>
                <a:xfrm>
                  <a:off x="454963" y="331168"/>
                  <a:ext cx="84147" cy="84147"/>
                </a:xfrm>
                <a:prstGeom prst="ellipse">
                  <a:avLst/>
                </a:prstGeom>
                <a:solidFill>
                  <a:schemeClr val="accent1">
                    <a:alpha val="100000"/>
                  </a:schemeClr>
                </a:solidFill>
              </p:spPr>
            </p:sp>
            <p:sp>
              <p:nvSpPr>
                <p:cNvPr id="47" name="AutoShape 8">
                  <a:extLst>
                    <a:ext uri="{FF2B5EF4-FFF2-40B4-BE49-F238E27FC236}">
                      <a16:creationId xmlns:a16="http://schemas.microsoft.com/office/drawing/2014/main" id="{B981B070-F17C-4FD7-9735-66E1F7BE4E54}"/>
                    </a:ext>
                  </a:extLst>
                </p:cNvPr>
                <p:cNvSpPr/>
                <p:nvPr/>
              </p:nvSpPr>
              <p:spPr>
                <a:xfrm>
                  <a:off x="575049" y="337743"/>
                  <a:ext cx="78137" cy="78137"/>
                </a:xfrm>
                <a:prstGeom prst="ellipse">
                  <a:avLst/>
                </a:prstGeom>
                <a:solidFill>
                  <a:schemeClr val="accent1">
                    <a:alpha val="80000"/>
                  </a:schemeClr>
                </a:solidFill>
              </p:spPr>
            </p:sp>
            <p:sp>
              <p:nvSpPr>
                <p:cNvPr id="48" name="AutoShape 9">
                  <a:extLst>
                    <a:ext uri="{FF2B5EF4-FFF2-40B4-BE49-F238E27FC236}">
                      <a16:creationId xmlns:a16="http://schemas.microsoft.com/office/drawing/2014/main" id="{7ACBDCCC-CFBC-4F0D-9CAB-914145C51DB9}"/>
                    </a:ext>
                  </a:extLst>
                </p:cNvPr>
                <p:cNvSpPr/>
                <p:nvPr/>
              </p:nvSpPr>
              <p:spPr>
                <a:xfrm>
                  <a:off x="689125" y="339460"/>
                  <a:ext cx="74704" cy="74704"/>
                </a:xfrm>
                <a:prstGeom prst="ellipse">
                  <a:avLst/>
                </a:prstGeom>
                <a:solidFill>
                  <a:schemeClr val="accent1">
                    <a:alpha val="60000"/>
                  </a:schemeClr>
                </a:solidFill>
              </p:spPr>
            </p:sp>
            <p:sp>
              <p:nvSpPr>
                <p:cNvPr id="49" name="AutoShape 10">
                  <a:extLst>
                    <a:ext uri="{FF2B5EF4-FFF2-40B4-BE49-F238E27FC236}">
                      <a16:creationId xmlns:a16="http://schemas.microsoft.com/office/drawing/2014/main" id="{2132739C-FEA3-41CA-907E-D797F09D5156}"/>
                    </a:ext>
                  </a:extLst>
                </p:cNvPr>
                <p:cNvSpPr/>
                <p:nvPr/>
              </p:nvSpPr>
              <p:spPr>
                <a:xfrm>
                  <a:off x="799768" y="348430"/>
                  <a:ext cx="69238" cy="69238"/>
                </a:xfrm>
                <a:prstGeom prst="ellipse">
                  <a:avLst/>
                </a:prstGeom>
                <a:solidFill>
                  <a:schemeClr val="accent1">
                    <a:alpha val="40000"/>
                  </a:schemeClr>
                </a:solidFill>
              </p:spPr>
            </p:sp>
            <p:sp>
              <p:nvSpPr>
                <p:cNvPr id="50" name="AutoShape 11">
                  <a:extLst>
                    <a:ext uri="{FF2B5EF4-FFF2-40B4-BE49-F238E27FC236}">
                      <a16:creationId xmlns:a16="http://schemas.microsoft.com/office/drawing/2014/main" id="{2E00A6FF-1126-45B3-B6EE-5968F64A9C57}"/>
                    </a:ext>
                  </a:extLst>
                </p:cNvPr>
                <p:cNvSpPr/>
                <p:nvPr/>
              </p:nvSpPr>
              <p:spPr>
                <a:xfrm>
                  <a:off x="904945" y="344297"/>
                  <a:ext cx="65594" cy="65594"/>
                </a:xfrm>
                <a:prstGeom prst="ellipse">
                  <a:avLst/>
                </a:prstGeom>
                <a:solidFill>
                  <a:schemeClr val="accent1">
                    <a:alpha val="20000"/>
                  </a:schemeClr>
                </a:solidFill>
              </p:spPr>
            </p:sp>
            <p:sp>
              <p:nvSpPr>
                <p:cNvPr id="51" name="AutoShape 12">
                  <a:extLst>
                    <a:ext uri="{FF2B5EF4-FFF2-40B4-BE49-F238E27FC236}">
                      <a16:creationId xmlns:a16="http://schemas.microsoft.com/office/drawing/2014/main" id="{8ABE57DD-4308-42DD-8460-701A14782D03}"/>
                    </a:ext>
                  </a:extLst>
                </p:cNvPr>
                <p:cNvSpPr/>
                <p:nvPr/>
              </p:nvSpPr>
              <p:spPr>
                <a:xfrm>
                  <a:off x="454963" y="448942"/>
                  <a:ext cx="84147" cy="84147"/>
                </a:xfrm>
                <a:prstGeom prst="ellipse">
                  <a:avLst/>
                </a:prstGeom>
                <a:solidFill>
                  <a:schemeClr val="accent1">
                    <a:alpha val="100000"/>
                  </a:schemeClr>
                </a:solidFill>
              </p:spPr>
            </p:sp>
            <p:sp>
              <p:nvSpPr>
                <p:cNvPr id="52" name="AutoShape 13">
                  <a:extLst>
                    <a:ext uri="{FF2B5EF4-FFF2-40B4-BE49-F238E27FC236}">
                      <a16:creationId xmlns:a16="http://schemas.microsoft.com/office/drawing/2014/main" id="{8FD38BFB-218F-4EA8-AAE3-38DA88B58D33}"/>
                    </a:ext>
                  </a:extLst>
                </p:cNvPr>
                <p:cNvSpPr/>
                <p:nvPr/>
              </p:nvSpPr>
              <p:spPr>
                <a:xfrm>
                  <a:off x="575049" y="455517"/>
                  <a:ext cx="78137" cy="78137"/>
                </a:xfrm>
                <a:prstGeom prst="ellipse">
                  <a:avLst/>
                </a:prstGeom>
                <a:solidFill>
                  <a:schemeClr val="accent1">
                    <a:alpha val="80000"/>
                  </a:schemeClr>
                </a:solidFill>
              </p:spPr>
            </p:sp>
            <p:sp>
              <p:nvSpPr>
                <p:cNvPr id="53" name="AutoShape 14">
                  <a:extLst>
                    <a:ext uri="{FF2B5EF4-FFF2-40B4-BE49-F238E27FC236}">
                      <a16:creationId xmlns:a16="http://schemas.microsoft.com/office/drawing/2014/main" id="{98207DA9-E2D7-44E2-AE2C-7620605A6BEC}"/>
                    </a:ext>
                  </a:extLst>
                </p:cNvPr>
                <p:cNvSpPr/>
                <p:nvPr/>
              </p:nvSpPr>
              <p:spPr>
                <a:xfrm>
                  <a:off x="689125" y="457233"/>
                  <a:ext cx="74704" cy="74704"/>
                </a:xfrm>
                <a:prstGeom prst="ellipse">
                  <a:avLst/>
                </a:prstGeom>
                <a:solidFill>
                  <a:schemeClr val="accent1">
                    <a:alpha val="60000"/>
                  </a:schemeClr>
                </a:solidFill>
              </p:spPr>
            </p:sp>
            <p:sp>
              <p:nvSpPr>
                <p:cNvPr id="54" name="AutoShape 15">
                  <a:extLst>
                    <a:ext uri="{FF2B5EF4-FFF2-40B4-BE49-F238E27FC236}">
                      <a16:creationId xmlns:a16="http://schemas.microsoft.com/office/drawing/2014/main" id="{AB14A817-D20C-43A8-B1F1-C687C8A5B90F}"/>
                    </a:ext>
                  </a:extLst>
                </p:cNvPr>
                <p:cNvSpPr/>
                <p:nvPr/>
              </p:nvSpPr>
              <p:spPr>
                <a:xfrm>
                  <a:off x="799768" y="466203"/>
                  <a:ext cx="69238" cy="69238"/>
                </a:xfrm>
                <a:prstGeom prst="ellipse">
                  <a:avLst/>
                </a:prstGeom>
                <a:solidFill>
                  <a:schemeClr val="accent1">
                    <a:alpha val="40000"/>
                  </a:schemeClr>
                </a:solidFill>
              </p:spPr>
            </p:sp>
            <p:sp>
              <p:nvSpPr>
                <p:cNvPr id="55" name="AutoShape 16">
                  <a:extLst>
                    <a:ext uri="{FF2B5EF4-FFF2-40B4-BE49-F238E27FC236}">
                      <a16:creationId xmlns:a16="http://schemas.microsoft.com/office/drawing/2014/main" id="{206D5909-FA59-428C-895A-978B1FB5F17D}"/>
                    </a:ext>
                  </a:extLst>
                </p:cNvPr>
                <p:cNvSpPr/>
                <p:nvPr/>
              </p:nvSpPr>
              <p:spPr>
                <a:xfrm>
                  <a:off x="904945" y="462070"/>
                  <a:ext cx="65594" cy="65594"/>
                </a:xfrm>
                <a:prstGeom prst="ellipse">
                  <a:avLst/>
                </a:prstGeom>
                <a:solidFill>
                  <a:schemeClr val="accent1">
                    <a:alpha val="20000"/>
                  </a:schemeClr>
                </a:solidFill>
              </p:spPr>
            </p:sp>
            <p:sp>
              <p:nvSpPr>
                <p:cNvPr id="56" name="AutoShape 17">
                  <a:extLst>
                    <a:ext uri="{FF2B5EF4-FFF2-40B4-BE49-F238E27FC236}">
                      <a16:creationId xmlns:a16="http://schemas.microsoft.com/office/drawing/2014/main" id="{52B0895F-456D-4446-B4DF-661A5609882C}"/>
                    </a:ext>
                  </a:extLst>
                </p:cNvPr>
                <p:cNvSpPr/>
                <p:nvPr/>
              </p:nvSpPr>
              <p:spPr>
                <a:xfrm>
                  <a:off x="454963" y="566715"/>
                  <a:ext cx="84147" cy="84147"/>
                </a:xfrm>
                <a:prstGeom prst="ellipse">
                  <a:avLst/>
                </a:prstGeom>
                <a:solidFill>
                  <a:schemeClr val="accent1">
                    <a:alpha val="100000"/>
                  </a:schemeClr>
                </a:solidFill>
              </p:spPr>
            </p:sp>
            <p:sp>
              <p:nvSpPr>
                <p:cNvPr id="57" name="AutoShape 18">
                  <a:extLst>
                    <a:ext uri="{FF2B5EF4-FFF2-40B4-BE49-F238E27FC236}">
                      <a16:creationId xmlns:a16="http://schemas.microsoft.com/office/drawing/2014/main" id="{89BB2E3B-1B2F-4511-AF9E-DA9E94467A32}"/>
                    </a:ext>
                  </a:extLst>
                </p:cNvPr>
                <p:cNvSpPr/>
                <p:nvPr/>
              </p:nvSpPr>
              <p:spPr>
                <a:xfrm>
                  <a:off x="575049" y="573291"/>
                  <a:ext cx="78137" cy="78137"/>
                </a:xfrm>
                <a:prstGeom prst="ellipse">
                  <a:avLst/>
                </a:prstGeom>
                <a:solidFill>
                  <a:schemeClr val="accent1">
                    <a:alpha val="80000"/>
                  </a:schemeClr>
                </a:solidFill>
              </p:spPr>
            </p:sp>
            <p:sp>
              <p:nvSpPr>
                <p:cNvPr id="58" name="AutoShape 19">
                  <a:extLst>
                    <a:ext uri="{FF2B5EF4-FFF2-40B4-BE49-F238E27FC236}">
                      <a16:creationId xmlns:a16="http://schemas.microsoft.com/office/drawing/2014/main" id="{19C6B94C-8FE0-4ED6-AB2B-AB95E5ABADEE}"/>
                    </a:ext>
                  </a:extLst>
                </p:cNvPr>
                <p:cNvSpPr/>
                <p:nvPr/>
              </p:nvSpPr>
              <p:spPr>
                <a:xfrm>
                  <a:off x="689125" y="575007"/>
                  <a:ext cx="74704" cy="74704"/>
                </a:xfrm>
                <a:prstGeom prst="ellipse">
                  <a:avLst/>
                </a:prstGeom>
                <a:solidFill>
                  <a:schemeClr val="accent1">
                    <a:alpha val="60000"/>
                  </a:schemeClr>
                </a:solidFill>
              </p:spPr>
            </p:sp>
            <p:sp>
              <p:nvSpPr>
                <p:cNvPr id="59" name="AutoShape 20">
                  <a:extLst>
                    <a:ext uri="{FF2B5EF4-FFF2-40B4-BE49-F238E27FC236}">
                      <a16:creationId xmlns:a16="http://schemas.microsoft.com/office/drawing/2014/main" id="{3A89AF97-7B6D-4AD9-AB11-F788BFA1CE22}"/>
                    </a:ext>
                  </a:extLst>
                </p:cNvPr>
                <p:cNvSpPr/>
                <p:nvPr/>
              </p:nvSpPr>
              <p:spPr>
                <a:xfrm>
                  <a:off x="799768" y="583977"/>
                  <a:ext cx="69238" cy="69238"/>
                </a:xfrm>
                <a:prstGeom prst="ellipse">
                  <a:avLst/>
                </a:prstGeom>
                <a:solidFill>
                  <a:schemeClr val="accent1">
                    <a:alpha val="40000"/>
                  </a:schemeClr>
                </a:solidFill>
              </p:spPr>
            </p:sp>
            <p:sp>
              <p:nvSpPr>
                <p:cNvPr id="60" name="AutoShape 21">
                  <a:extLst>
                    <a:ext uri="{FF2B5EF4-FFF2-40B4-BE49-F238E27FC236}">
                      <a16:creationId xmlns:a16="http://schemas.microsoft.com/office/drawing/2014/main" id="{A4A2CC3A-208F-4376-A8E8-F77967952E66}"/>
                    </a:ext>
                  </a:extLst>
                </p:cNvPr>
                <p:cNvSpPr/>
                <p:nvPr/>
              </p:nvSpPr>
              <p:spPr>
                <a:xfrm>
                  <a:off x="904945" y="579844"/>
                  <a:ext cx="65594" cy="65594"/>
                </a:xfrm>
                <a:prstGeom prst="ellipse">
                  <a:avLst/>
                </a:prstGeom>
                <a:solidFill>
                  <a:schemeClr val="accent1">
                    <a:alpha val="20000"/>
                  </a:schemeClr>
                </a:solidFill>
              </p:spPr>
            </p:sp>
            <p:sp>
              <p:nvSpPr>
                <p:cNvPr id="61" name="AutoShape 22">
                  <a:extLst>
                    <a:ext uri="{FF2B5EF4-FFF2-40B4-BE49-F238E27FC236}">
                      <a16:creationId xmlns:a16="http://schemas.microsoft.com/office/drawing/2014/main" id="{85EDC1CD-C589-4046-91D1-52B17DE45B3E}"/>
                    </a:ext>
                  </a:extLst>
                </p:cNvPr>
                <p:cNvSpPr/>
                <p:nvPr/>
              </p:nvSpPr>
              <p:spPr>
                <a:xfrm>
                  <a:off x="454963" y="684489"/>
                  <a:ext cx="84147" cy="84147"/>
                </a:xfrm>
                <a:prstGeom prst="ellipse">
                  <a:avLst/>
                </a:prstGeom>
                <a:solidFill>
                  <a:schemeClr val="accent1">
                    <a:alpha val="100000"/>
                  </a:schemeClr>
                </a:solidFill>
              </p:spPr>
            </p:sp>
            <p:sp>
              <p:nvSpPr>
                <p:cNvPr id="62" name="AutoShape 23">
                  <a:extLst>
                    <a:ext uri="{FF2B5EF4-FFF2-40B4-BE49-F238E27FC236}">
                      <a16:creationId xmlns:a16="http://schemas.microsoft.com/office/drawing/2014/main" id="{739D683E-6844-4EB2-A56B-B0038B646F22}"/>
                    </a:ext>
                  </a:extLst>
                </p:cNvPr>
                <p:cNvSpPr/>
                <p:nvPr/>
              </p:nvSpPr>
              <p:spPr>
                <a:xfrm>
                  <a:off x="575049" y="691064"/>
                  <a:ext cx="78137" cy="78137"/>
                </a:xfrm>
                <a:prstGeom prst="ellipse">
                  <a:avLst/>
                </a:prstGeom>
                <a:solidFill>
                  <a:schemeClr val="accent1">
                    <a:alpha val="80000"/>
                  </a:schemeClr>
                </a:solidFill>
              </p:spPr>
            </p:sp>
            <p:sp>
              <p:nvSpPr>
                <p:cNvPr id="63" name="AutoShape 24">
                  <a:extLst>
                    <a:ext uri="{FF2B5EF4-FFF2-40B4-BE49-F238E27FC236}">
                      <a16:creationId xmlns:a16="http://schemas.microsoft.com/office/drawing/2014/main" id="{2708542D-7FBA-4CDC-866E-601ECAFA9A67}"/>
                    </a:ext>
                  </a:extLst>
                </p:cNvPr>
                <p:cNvSpPr/>
                <p:nvPr/>
              </p:nvSpPr>
              <p:spPr>
                <a:xfrm>
                  <a:off x="689125" y="692781"/>
                  <a:ext cx="74704" cy="74704"/>
                </a:xfrm>
                <a:prstGeom prst="ellipse">
                  <a:avLst/>
                </a:prstGeom>
                <a:solidFill>
                  <a:schemeClr val="accent1">
                    <a:alpha val="60000"/>
                  </a:schemeClr>
                </a:solidFill>
              </p:spPr>
            </p:sp>
            <p:sp>
              <p:nvSpPr>
                <p:cNvPr id="64" name="AutoShape 25">
                  <a:extLst>
                    <a:ext uri="{FF2B5EF4-FFF2-40B4-BE49-F238E27FC236}">
                      <a16:creationId xmlns:a16="http://schemas.microsoft.com/office/drawing/2014/main" id="{53E70651-4E63-4EBC-8BE8-0AE479C3BAAD}"/>
                    </a:ext>
                  </a:extLst>
                </p:cNvPr>
                <p:cNvSpPr/>
                <p:nvPr/>
              </p:nvSpPr>
              <p:spPr>
                <a:xfrm>
                  <a:off x="799768" y="701751"/>
                  <a:ext cx="69238" cy="69238"/>
                </a:xfrm>
                <a:prstGeom prst="ellipse">
                  <a:avLst/>
                </a:prstGeom>
                <a:solidFill>
                  <a:schemeClr val="accent1">
                    <a:alpha val="40000"/>
                  </a:schemeClr>
                </a:solidFill>
              </p:spPr>
            </p:sp>
            <p:sp>
              <p:nvSpPr>
                <p:cNvPr id="65" name="AutoShape 26">
                  <a:extLst>
                    <a:ext uri="{FF2B5EF4-FFF2-40B4-BE49-F238E27FC236}">
                      <a16:creationId xmlns:a16="http://schemas.microsoft.com/office/drawing/2014/main" id="{96995A99-3AE3-4F0A-9F52-7FF2549A270C}"/>
                    </a:ext>
                  </a:extLst>
                </p:cNvPr>
                <p:cNvSpPr/>
                <p:nvPr/>
              </p:nvSpPr>
              <p:spPr>
                <a:xfrm>
                  <a:off x="904945" y="697618"/>
                  <a:ext cx="65594" cy="65594"/>
                </a:xfrm>
                <a:prstGeom prst="ellipse">
                  <a:avLst/>
                </a:prstGeom>
                <a:solidFill>
                  <a:schemeClr val="accent1">
                    <a:alpha val="20000"/>
                  </a:schemeClr>
                </a:solidFill>
              </p:spPr>
            </p:sp>
          </p:grpSp>
        </p:grpSp>
        <p:sp>
          <p:nvSpPr>
            <p:cNvPr id="42" name="平行四边形 41">
              <a:extLst>
                <a:ext uri="{FF2B5EF4-FFF2-40B4-BE49-F238E27FC236}">
                  <a16:creationId xmlns:a16="http://schemas.microsoft.com/office/drawing/2014/main" id="{A1A951BD-E586-431A-BD56-DFBFF7B22CAB}"/>
                </a:ext>
              </a:extLst>
            </p:cNvPr>
            <p:cNvSpPr/>
            <p:nvPr/>
          </p:nvSpPr>
          <p:spPr>
            <a:xfrm rot="10800000">
              <a:off x="473439" y="776360"/>
              <a:ext cx="3224804"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43" name="平行四边形 42">
              <a:extLst>
                <a:ext uri="{FF2B5EF4-FFF2-40B4-BE49-F238E27FC236}">
                  <a16:creationId xmlns:a16="http://schemas.microsoft.com/office/drawing/2014/main" id="{243CE1A5-8481-4260-A2AF-568F702BDFCD}"/>
                </a:ext>
              </a:extLst>
            </p:cNvPr>
            <p:cNvSpPr/>
            <p:nvPr/>
          </p:nvSpPr>
          <p:spPr>
            <a:xfrm rot="10800000">
              <a:off x="3701534" y="776360"/>
              <a:ext cx="8393949"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sp>
        <p:nvSpPr>
          <p:cNvPr id="66" name="TextBox 6">
            <a:extLst>
              <a:ext uri="{FF2B5EF4-FFF2-40B4-BE49-F238E27FC236}">
                <a16:creationId xmlns:a16="http://schemas.microsoft.com/office/drawing/2014/main" id="{14407C4B-A8C5-4FF7-9B96-B978BEA669EB}"/>
              </a:ext>
            </a:extLst>
          </p:cNvPr>
          <p:cNvSpPr txBox="1"/>
          <p:nvPr/>
        </p:nvSpPr>
        <p:spPr>
          <a:xfrm>
            <a:off x="715690" y="3382812"/>
            <a:ext cx="2482200" cy="588110"/>
          </a:xfrm>
          <a:prstGeom prst="rect">
            <a:avLst/>
          </a:prstGeom>
          <a:ln/>
        </p:spPr>
        <p:txBody>
          <a:bodyPr vert="horz" wrap="square" lIns="123825" tIns="123825" rIns="57150" bIns="123825" rtlCol="0" anchor="t" anchorCtr="0">
            <a:spAutoFit/>
          </a:bodyPr>
          <a:lstStyle/>
          <a:p>
            <a:pPr algn="ctr">
              <a:lnSpc>
                <a:spcPct val="120000"/>
              </a:lnSpc>
            </a:pPr>
            <a:r>
              <a:rPr lang="zh-CN" altLang="en-US" sz="2000" b="1" dirty="0">
                <a:solidFill>
                  <a:srgbClr val="2C4E8C"/>
                </a:solidFill>
                <a:latin typeface="+mn-ea"/>
                <a:cs typeface="Microsoft Yahei"/>
              </a:rPr>
              <a:t>加强科技创新与研发</a:t>
            </a:r>
            <a:endParaRPr lang="en-US" sz="2000" b="1" dirty="0">
              <a:solidFill>
                <a:srgbClr val="2C4E8C"/>
              </a:solidFill>
              <a:latin typeface="+mn-ea"/>
              <a:cs typeface="Microsoft Yahei"/>
            </a:endParaRPr>
          </a:p>
        </p:txBody>
      </p:sp>
      <p:sp>
        <p:nvSpPr>
          <p:cNvPr id="67" name="TextBox 6">
            <a:extLst>
              <a:ext uri="{FF2B5EF4-FFF2-40B4-BE49-F238E27FC236}">
                <a16:creationId xmlns:a16="http://schemas.microsoft.com/office/drawing/2014/main" id="{289ED92F-88E5-492B-A949-19F5BF72CB92}"/>
              </a:ext>
            </a:extLst>
          </p:cNvPr>
          <p:cNvSpPr txBox="1"/>
          <p:nvPr/>
        </p:nvSpPr>
        <p:spPr>
          <a:xfrm>
            <a:off x="6200910" y="3375310"/>
            <a:ext cx="2482200" cy="964944"/>
          </a:xfrm>
          <a:prstGeom prst="rect">
            <a:avLst/>
          </a:prstGeom>
          <a:ln/>
        </p:spPr>
        <p:txBody>
          <a:bodyPr vert="horz" wrap="square" lIns="123825" tIns="123825" rIns="57150" bIns="123825" rtlCol="0" anchor="t" anchorCtr="0">
            <a:spAutoFit/>
          </a:bodyPr>
          <a:lstStyle/>
          <a:p>
            <a:pPr algn="ctr">
              <a:lnSpc>
                <a:spcPct val="120000"/>
              </a:lnSpc>
            </a:pPr>
            <a:r>
              <a:rPr lang="zh-CN" altLang="en-US" sz="2000" b="1" dirty="0">
                <a:solidFill>
                  <a:srgbClr val="2C4E8C"/>
                </a:solidFill>
                <a:latin typeface="+mn-ea"/>
                <a:cs typeface="Microsoft Yahei"/>
              </a:rPr>
              <a:t>推动多元共治与公众参与</a:t>
            </a:r>
          </a:p>
        </p:txBody>
      </p:sp>
      <p:sp>
        <p:nvSpPr>
          <p:cNvPr id="68" name="TextBox 6">
            <a:extLst>
              <a:ext uri="{FF2B5EF4-FFF2-40B4-BE49-F238E27FC236}">
                <a16:creationId xmlns:a16="http://schemas.microsoft.com/office/drawing/2014/main" id="{A4C748DC-ACD1-49E7-AE0A-2C483084C4FB}"/>
              </a:ext>
            </a:extLst>
          </p:cNvPr>
          <p:cNvSpPr txBox="1"/>
          <p:nvPr/>
        </p:nvSpPr>
        <p:spPr>
          <a:xfrm>
            <a:off x="8970848" y="3375310"/>
            <a:ext cx="2482200" cy="595612"/>
          </a:xfrm>
          <a:prstGeom prst="rect">
            <a:avLst/>
          </a:prstGeom>
          <a:ln/>
        </p:spPr>
        <p:txBody>
          <a:bodyPr vert="horz" wrap="square" lIns="123825" tIns="123825" rIns="57150" bIns="123825" rtlCol="0" anchor="t" anchorCtr="0">
            <a:spAutoFit/>
          </a:bodyPr>
          <a:lstStyle/>
          <a:p>
            <a:pPr algn="ctr">
              <a:lnSpc>
                <a:spcPct val="120000"/>
              </a:lnSpc>
            </a:pPr>
            <a:r>
              <a:rPr lang="zh-CN" altLang="en-US" sz="2000" b="1" dirty="0">
                <a:solidFill>
                  <a:srgbClr val="2C4E8C"/>
                </a:solidFill>
                <a:latin typeface="+mn-ea"/>
                <a:cs typeface="Microsoft Yahei"/>
              </a:rPr>
              <a:t>加强国际合作与交流</a:t>
            </a:r>
          </a:p>
        </p:txBody>
      </p:sp>
      <p:sp>
        <p:nvSpPr>
          <p:cNvPr id="69" name="TextBox 6">
            <a:extLst>
              <a:ext uri="{FF2B5EF4-FFF2-40B4-BE49-F238E27FC236}">
                <a16:creationId xmlns:a16="http://schemas.microsoft.com/office/drawing/2014/main" id="{9B888673-B3F1-4062-80C2-F7956B2EF197}"/>
              </a:ext>
            </a:extLst>
          </p:cNvPr>
          <p:cNvSpPr txBox="1"/>
          <p:nvPr/>
        </p:nvSpPr>
        <p:spPr>
          <a:xfrm>
            <a:off x="3485628" y="3375310"/>
            <a:ext cx="2482200" cy="964944"/>
          </a:xfrm>
          <a:prstGeom prst="rect">
            <a:avLst/>
          </a:prstGeom>
          <a:ln/>
        </p:spPr>
        <p:txBody>
          <a:bodyPr vert="horz" wrap="square" lIns="123825" tIns="123825" rIns="57150" bIns="123825" rtlCol="0" anchor="t" anchorCtr="0">
            <a:spAutoFit/>
          </a:bodyPr>
          <a:lstStyle/>
          <a:p>
            <a:pPr algn="ctr">
              <a:lnSpc>
                <a:spcPct val="120000"/>
              </a:lnSpc>
            </a:pPr>
            <a:r>
              <a:rPr lang="zh-CN" altLang="en-US" sz="2000" b="1" dirty="0">
                <a:solidFill>
                  <a:srgbClr val="2C4E8C"/>
                </a:solidFill>
                <a:latin typeface="+mn-ea"/>
                <a:cs typeface="Microsoft Yahei"/>
              </a:rPr>
              <a:t>完善政策法规与标准体系</a:t>
            </a:r>
          </a:p>
        </p:txBody>
      </p:sp>
      <p:sp>
        <p:nvSpPr>
          <p:cNvPr id="70" name="矩形 69">
            <a:extLst>
              <a:ext uri="{FF2B5EF4-FFF2-40B4-BE49-F238E27FC236}">
                <a16:creationId xmlns:a16="http://schemas.microsoft.com/office/drawing/2014/main" id="{7DFD6F91-455F-46B9-A624-741EF90EF673}"/>
              </a:ext>
            </a:extLst>
          </p:cNvPr>
          <p:cNvSpPr/>
          <p:nvPr/>
        </p:nvSpPr>
        <p:spPr>
          <a:xfrm>
            <a:off x="675199" y="4340254"/>
            <a:ext cx="2634913" cy="1609095"/>
          </a:xfrm>
          <a:prstGeom prst="rect">
            <a:avLst/>
          </a:prstGeom>
        </p:spPr>
        <p:txBody>
          <a:bodyPr wrap="square">
            <a:spAutoFit/>
          </a:bodyPr>
          <a:lstStyle/>
          <a:p>
            <a:pPr>
              <a:lnSpc>
                <a:spcPct val="125000"/>
              </a:lnSpc>
            </a:pPr>
            <a:r>
              <a:rPr lang="zh-CN" altLang="en-US" sz="1600" b="1" dirty="0">
                <a:solidFill>
                  <a:schemeClr val="dk1">
                    <a:alpha val="100000"/>
                  </a:schemeClr>
                </a:solidFill>
                <a:latin typeface="+mn-ea"/>
                <a:cs typeface="Microsoft Yahei"/>
              </a:rPr>
              <a:t>提出加强环境科技创新和研发的重要性，包括提高污染治理技术、开发环保新材料等，以提升环境治理效果和降低成本。</a:t>
            </a:r>
            <a:endParaRPr lang="en-US" altLang="zh-CN" sz="1600" b="1" dirty="0">
              <a:solidFill>
                <a:schemeClr val="dk1">
                  <a:alpha val="100000"/>
                </a:schemeClr>
              </a:solidFill>
              <a:latin typeface="+mn-ea"/>
              <a:cs typeface="Microsoft Yahei"/>
            </a:endParaRPr>
          </a:p>
        </p:txBody>
      </p:sp>
      <p:sp>
        <p:nvSpPr>
          <p:cNvPr id="71" name="矩形 70">
            <a:extLst>
              <a:ext uri="{FF2B5EF4-FFF2-40B4-BE49-F238E27FC236}">
                <a16:creationId xmlns:a16="http://schemas.microsoft.com/office/drawing/2014/main" id="{33A18B14-5554-4546-A490-E377DA3CFACF}"/>
              </a:ext>
            </a:extLst>
          </p:cNvPr>
          <p:cNvSpPr/>
          <p:nvPr/>
        </p:nvSpPr>
        <p:spPr>
          <a:xfrm>
            <a:off x="9058042" y="4247031"/>
            <a:ext cx="2634913" cy="1916871"/>
          </a:xfrm>
          <a:prstGeom prst="rect">
            <a:avLst/>
          </a:prstGeom>
        </p:spPr>
        <p:txBody>
          <a:bodyPr wrap="square">
            <a:spAutoFit/>
          </a:bodyPr>
          <a:lstStyle/>
          <a:p>
            <a:pPr>
              <a:lnSpc>
                <a:spcPct val="125000"/>
              </a:lnSpc>
            </a:pPr>
            <a:r>
              <a:rPr lang="zh-CN" altLang="en-US" sz="1600" b="1" dirty="0">
                <a:solidFill>
                  <a:schemeClr val="dk1">
                    <a:alpha val="100000"/>
                  </a:schemeClr>
                </a:solidFill>
                <a:latin typeface="+mn-ea"/>
                <a:cs typeface="Microsoft Yahei"/>
              </a:rPr>
              <a:t>提出加强国际合作与交流的重要性，包括分享经验、引进先进技术和管理模式等，以共同应对全球环境问题，推动全球环境治理体系不断完善和发展。</a:t>
            </a:r>
          </a:p>
        </p:txBody>
      </p:sp>
      <p:sp>
        <p:nvSpPr>
          <p:cNvPr id="72" name="矩形 71">
            <a:extLst>
              <a:ext uri="{FF2B5EF4-FFF2-40B4-BE49-F238E27FC236}">
                <a16:creationId xmlns:a16="http://schemas.microsoft.com/office/drawing/2014/main" id="{49EB01A2-E96C-4C8E-A1A3-924266973F02}"/>
              </a:ext>
            </a:extLst>
          </p:cNvPr>
          <p:cNvSpPr/>
          <p:nvPr/>
        </p:nvSpPr>
        <p:spPr>
          <a:xfrm>
            <a:off x="6264286" y="4300007"/>
            <a:ext cx="2634913" cy="1916871"/>
          </a:xfrm>
          <a:prstGeom prst="rect">
            <a:avLst/>
          </a:prstGeom>
        </p:spPr>
        <p:txBody>
          <a:bodyPr wrap="square">
            <a:spAutoFit/>
          </a:bodyPr>
          <a:lstStyle/>
          <a:p>
            <a:pPr>
              <a:lnSpc>
                <a:spcPct val="125000"/>
              </a:lnSpc>
            </a:pPr>
            <a:r>
              <a:rPr lang="zh-CN" altLang="en-US" sz="1600" b="1" dirty="0">
                <a:solidFill>
                  <a:schemeClr val="dk1">
                    <a:alpha val="100000"/>
                  </a:schemeClr>
                </a:solidFill>
                <a:latin typeface="+mn-ea"/>
                <a:cs typeface="Microsoft Yahei"/>
              </a:rPr>
              <a:t>强调多元共治和公众参与在环境治理中的重要性，包括政府、企业、社会组织和公众等各方共同参与、协同治理，形成合力推动环境治理工作取得更好成效。</a:t>
            </a:r>
          </a:p>
        </p:txBody>
      </p:sp>
      <p:sp>
        <p:nvSpPr>
          <p:cNvPr id="73" name="矩形 72">
            <a:extLst>
              <a:ext uri="{FF2B5EF4-FFF2-40B4-BE49-F238E27FC236}">
                <a16:creationId xmlns:a16="http://schemas.microsoft.com/office/drawing/2014/main" id="{DCD6E812-E87C-4A91-835A-79CB955E4DBE}"/>
              </a:ext>
            </a:extLst>
          </p:cNvPr>
          <p:cNvSpPr/>
          <p:nvPr/>
        </p:nvSpPr>
        <p:spPr>
          <a:xfrm>
            <a:off x="3485628" y="4315088"/>
            <a:ext cx="2634913" cy="1609095"/>
          </a:xfrm>
          <a:prstGeom prst="rect">
            <a:avLst/>
          </a:prstGeom>
        </p:spPr>
        <p:txBody>
          <a:bodyPr wrap="square">
            <a:spAutoFit/>
          </a:bodyPr>
          <a:lstStyle/>
          <a:p>
            <a:pPr>
              <a:lnSpc>
                <a:spcPct val="125000"/>
              </a:lnSpc>
            </a:pPr>
            <a:r>
              <a:rPr lang="zh-CN" altLang="en-US" sz="1600" b="1" dirty="0">
                <a:solidFill>
                  <a:schemeClr val="dk1">
                    <a:alpha val="100000"/>
                  </a:schemeClr>
                </a:solidFill>
                <a:latin typeface="+mn-ea"/>
                <a:cs typeface="Microsoft Yahei"/>
              </a:rPr>
              <a:t>建议完善环境政策法规和标准体系，明确各方责任和义务，加大执法力度和惩罚力度，形成有效的约束和激励机制。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5842742" y="2781525"/>
            <a:ext cx="2638650" cy="920893"/>
          </a:xfrm>
          <a:prstGeom prst="rect">
            <a:avLst/>
          </a:prstGeom>
        </p:spPr>
        <p:txBody>
          <a:bodyPr vert="horz" wrap="square" lIns="114300" tIns="57150" rIns="114300" bIns="57150" rtlCol="0" anchor="ctr" anchorCtr="0">
            <a:spAutoFit/>
          </a:bodyPr>
          <a:lstStyle/>
          <a:p>
            <a:pPr marL="0" marR="0" lvl="0" indent="0" algn="ctr" defTabSz="914400" rtl="0" eaLnBrk="1" fontAlgn="auto" latinLnBrk="0" hangingPunct="1">
              <a:lnSpc>
                <a:spcPct val="77000"/>
              </a:lnSpc>
              <a:spcBef>
                <a:spcPts val="0"/>
              </a:spcBef>
              <a:spcAft>
                <a:spcPts val="0"/>
              </a:spcAft>
              <a:buClrTx/>
              <a:buSzTx/>
              <a:buFontTx/>
              <a:buNone/>
              <a:tabLst/>
              <a:defRPr/>
            </a:pPr>
            <a:r>
              <a:rPr kumimoji="0" lang="zh-CN" altLang="en-US" sz="6600" b="1" i="0" u="none" strike="noStrike" kern="1200" cap="none" spc="0" normalizeH="0" baseline="0" noProof="0" dirty="0">
                <a:ln>
                  <a:noFill/>
                </a:ln>
                <a:solidFill>
                  <a:srgbClr val="2C4E8C"/>
                </a:solidFill>
                <a:effectLst/>
                <a:uLnTx/>
                <a:uFillTx/>
                <a:latin typeface="+mn-ea"/>
                <a:cs typeface="Arial"/>
              </a:rPr>
              <a:t>谢谢！</a:t>
            </a:r>
            <a:endParaRPr kumimoji="0" lang="en-US" sz="6600" b="1" i="0" u="none" strike="noStrike" kern="1200" cap="none" spc="0" normalizeH="0" baseline="0" noProof="0" dirty="0">
              <a:ln>
                <a:noFill/>
              </a:ln>
              <a:solidFill>
                <a:srgbClr val="2C4E8C"/>
              </a:solidFill>
              <a:effectLst/>
              <a:uLnTx/>
              <a:uFillTx/>
              <a:latin typeface="+mn-ea"/>
              <a:cs typeface="Arial"/>
            </a:endParaRPr>
          </a:p>
        </p:txBody>
      </p:sp>
    </p:spTree>
    <p:extLst>
      <p:ext uri="{BB962C8B-B14F-4D97-AF65-F5344CB8AC3E}">
        <p14:creationId xmlns:p14="http://schemas.microsoft.com/office/powerpoint/2010/main" val="13572352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3083</TotalTime>
  <Words>2659</Words>
  <Application>Microsoft Office PowerPoint</Application>
  <PresentationFormat>宽屏</PresentationFormat>
  <Paragraphs>445</Paragraphs>
  <Slides>40</Slides>
  <Notes>30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40</vt:i4>
      </vt:variant>
    </vt:vector>
  </HeadingPairs>
  <TitlesOfParts>
    <vt:vector size="56" baseType="lpstr">
      <vt:lpstr>Microsoft Yahei</vt:lpstr>
      <vt:lpstr>等线</vt:lpstr>
      <vt:lpstr>等线 Light</vt:lpstr>
      <vt:lpstr>SimHei</vt:lpstr>
      <vt:lpstr>SimHei</vt:lpstr>
      <vt:lpstr>华文细黑</vt:lpstr>
      <vt:lpstr>隶书</vt:lpstr>
      <vt:lpstr>宋体</vt:lpstr>
      <vt:lpstr>微软雅黑</vt:lpstr>
      <vt:lpstr>Arial</vt:lpstr>
      <vt:lpstr>Calibri</vt:lpstr>
      <vt:lpstr>Symbol</vt:lpstr>
      <vt:lpstr>Times New Roman</vt:lpstr>
      <vt:lpstr>Wingdings</vt:lpstr>
      <vt:lpstr>Wingdings 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suny</dc:creator>
  <cp:lastModifiedBy>suny</cp:lastModifiedBy>
  <cp:revision>328</cp:revision>
  <dcterms:created xsi:type="dcterms:W3CDTF">2024-01-23T05:44:53Z</dcterms:created>
  <dcterms:modified xsi:type="dcterms:W3CDTF">2024-03-14T00:28:37Z</dcterms:modified>
</cp:coreProperties>
</file>