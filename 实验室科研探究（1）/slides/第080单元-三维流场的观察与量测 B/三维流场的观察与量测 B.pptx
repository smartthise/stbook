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51"/>
  </p:notesMasterIdLst>
  <p:sldIdLst>
    <p:sldId id="256" r:id="rId2"/>
    <p:sldId id="296" r:id="rId3"/>
    <p:sldId id="343" r:id="rId4"/>
    <p:sldId id="354" r:id="rId5"/>
    <p:sldId id="346" r:id="rId6"/>
    <p:sldId id="347" r:id="rId7"/>
    <p:sldId id="348" r:id="rId8"/>
    <p:sldId id="362" r:id="rId9"/>
    <p:sldId id="363" r:id="rId10"/>
    <p:sldId id="364" r:id="rId11"/>
    <p:sldId id="365" r:id="rId12"/>
    <p:sldId id="366" r:id="rId13"/>
    <p:sldId id="373" r:id="rId14"/>
    <p:sldId id="367" r:id="rId15"/>
    <p:sldId id="368" r:id="rId16"/>
    <p:sldId id="369" r:id="rId17"/>
    <p:sldId id="370" r:id="rId18"/>
    <p:sldId id="371" r:id="rId19"/>
    <p:sldId id="372" r:id="rId20"/>
    <p:sldId id="357" r:id="rId21"/>
    <p:sldId id="349" r:id="rId22"/>
    <p:sldId id="356" r:id="rId23"/>
    <p:sldId id="355" r:id="rId24"/>
    <p:sldId id="345" r:id="rId25"/>
    <p:sldId id="303" r:id="rId26"/>
    <p:sldId id="304" r:id="rId27"/>
    <p:sldId id="307" r:id="rId28"/>
    <p:sldId id="308" r:id="rId29"/>
    <p:sldId id="309" r:id="rId30"/>
    <p:sldId id="310" r:id="rId31"/>
    <p:sldId id="298" r:id="rId32"/>
    <p:sldId id="325" r:id="rId33"/>
    <p:sldId id="326" r:id="rId34"/>
    <p:sldId id="327" r:id="rId35"/>
    <p:sldId id="328" r:id="rId36"/>
    <p:sldId id="329" r:id="rId37"/>
    <p:sldId id="359" r:id="rId38"/>
    <p:sldId id="360" r:id="rId39"/>
    <p:sldId id="361" r:id="rId40"/>
    <p:sldId id="266" r:id="rId41"/>
    <p:sldId id="286" r:id="rId42"/>
    <p:sldId id="287" r:id="rId43"/>
    <p:sldId id="288" r:id="rId44"/>
    <p:sldId id="330" r:id="rId45"/>
    <p:sldId id="331" r:id="rId46"/>
    <p:sldId id="358" r:id="rId47"/>
    <p:sldId id="374" r:id="rId48"/>
    <p:sldId id="333" r:id="rId49"/>
    <p:sldId id="285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697F0-C74E-4C51-B23D-E31AECEDD214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BB3CE-EFDB-4E0C-970F-96C8FF2BD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641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3.jpeg"/><Relationship Id="rId7" Type="http://schemas.openxmlformats.org/officeDocument/2006/relationships/image" Target="../media/image10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755651" y="0"/>
            <a:ext cx="10521949" cy="6821488"/>
            <a:chOff x="0" y="0"/>
            <a:chExt cx="4971" cy="4297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5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35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35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35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35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>
              <a:off x="35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35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" name="未知"/>
            <p:cNvSpPr>
              <a:spLocks/>
            </p:cNvSpPr>
            <p:nvPr/>
          </p:nvSpPr>
          <p:spPr bwMode="auto">
            <a:xfrm>
              <a:off x="35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35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" name="未知"/>
            <p:cNvSpPr>
              <a:spLocks/>
            </p:cNvSpPr>
            <p:nvPr/>
          </p:nvSpPr>
          <p:spPr bwMode="auto">
            <a:xfrm>
              <a:off x="35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5" name="未知"/>
            <p:cNvSpPr>
              <a:spLocks/>
            </p:cNvSpPr>
            <p:nvPr/>
          </p:nvSpPr>
          <p:spPr bwMode="auto">
            <a:xfrm>
              <a:off x="35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5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480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8" name="未知"/>
            <p:cNvSpPr>
              <a:spLocks/>
            </p:cNvSpPr>
            <p:nvPr/>
          </p:nvSpPr>
          <p:spPr bwMode="auto">
            <a:xfrm>
              <a:off x="480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9" name="未知"/>
            <p:cNvSpPr>
              <a:spLocks/>
            </p:cNvSpPr>
            <p:nvPr/>
          </p:nvSpPr>
          <p:spPr bwMode="auto">
            <a:xfrm>
              <a:off x="480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0" name="未知"/>
            <p:cNvSpPr>
              <a:spLocks/>
            </p:cNvSpPr>
            <p:nvPr/>
          </p:nvSpPr>
          <p:spPr bwMode="auto">
            <a:xfrm>
              <a:off x="480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1" name="未知"/>
            <p:cNvSpPr>
              <a:spLocks/>
            </p:cNvSpPr>
            <p:nvPr/>
          </p:nvSpPr>
          <p:spPr bwMode="auto">
            <a:xfrm>
              <a:off x="480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2" name="未知"/>
            <p:cNvSpPr>
              <a:spLocks/>
            </p:cNvSpPr>
            <p:nvPr/>
          </p:nvSpPr>
          <p:spPr bwMode="auto">
            <a:xfrm>
              <a:off x="480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3" name="未知"/>
            <p:cNvSpPr>
              <a:spLocks/>
            </p:cNvSpPr>
            <p:nvPr/>
          </p:nvSpPr>
          <p:spPr bwMode="auto">
            <a:xfrm>
              <a:off x="480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4" name="未知"/>
            <p:cNvSpPr>
              <a:spLocks/>
            </p:cNvSpPr>
            <p:nvPr/>
          </p:nvSpPr>
          <p:spPr bwMode="auto">
            <a:xfrm>
              <a:off x="480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5" name="未知"/>
            <p:cNvSpPr>
              <a:spLocks/>
            </p:cNvSpPr>
            <p:nvPr/>
          </p:nvSpPr>
          <p:spPr bwMode="auto">
            <a:xfrm>
              <a:off x="480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" name="未知"/>
            <p:cNvSpPr>
              <a:spLocks/>
            </p:cNvSpPr>
            <p:nvPr/>
          </p:nvSpPr>
          <p:spPr bwMode="auto">
            <a:xfrm>
              <a:off x="480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7" name="未知"/>
            <p:cNvSpPr>
              <a:spLocks/>
            </p:cNvSpPr>
            <p:nvPr/>
          </p:nvSpPr>
          <p:spPr bwMode="auto">
            <a:xfrm>
              <a:off x="480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480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930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0" name="未知"/>
            <p:cNvSpPr>
              <a:spLocks/>
            </p:cNvSpPr>
            <p:nvPr/>
          </p:nvSpPr>
          <p:spPr bwMode="auto">
            <a:xfrm>
              <a:off x="930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" name="未知"/>
            <p:cNvSpPr>
              <a:spLocks/>
            </p:cNvSpPr>
            <p:nvPr/>
          </p:nvSpPr>
          <p:spPr bwMode="auto">
            <a:xfrm>
              <a:off x="930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2" name="未知"/>
            <p:cNvSpPr>
              <a:spLocks/>
            </p:cNvSpPr>
            <p:nvPr/>
          </p:nvSpPr>
          <p:spPr bwMode="auto">
            <a:xfrm>
              <a:off x="930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930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930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930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6" name="未知"/>
            <p:cNvSpPr>
              <a:spLocks/>
            </p:cNvSpPr>
            <p:nvPr/>
          </p:nvSpPr>
          <p:spPr bwMode="auto">
            <a:xfrm>
              <a:off x="930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7" name="未知"/>
            <p:cNvSpPr>
              <a:spLocks/>
            </p:cNvSpPr>
            <p:nvPr/>
          </p:nvSpPr>
          <p:spPr bwMode="auto">
            <a:xfrm>
              <a:off x="930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8" name="未知"/>
            <p:cNvSpPr>
              <a:spLocks/>
            </p:cNvSpPr>
            <p:nvPr/>
          </p:nvSpPr>
          <p:spPr bwMode="auto">
            <a:xfrm>
              <a:off x="930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9" name="未知"/>
            <p:cNvSpPr>
              <a:spLocks/>
            </p:cNvSpPr>
            <p:nvPr/>
          </p:nvSpPr>
          <p:spPr bwMode="auto">
            <a:xfrm>
              <a:off x="930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930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375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2" name="未知"/>
            <p:cNvSpPr>
              <a:spLocks/>
            </p:cNvSpPr>
            <p:nvPr/>
          </p:nvSpPr>
          <p:spPr bwMode="auto">
            <a:xfrm>
              <a:off x="1375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3" name="未知"/>
            <p:cNvSpPr>
              <a:spLocks/>
            </p:cNvSpPr>
            <p:nvPr/>
          </p:nvSpPr>
          <p:spPr bwMode="auto">
            <a:xfrm>
              <a:off x="1375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4" name="未知"/>
            <p:cNvSpPr>
              <a:spLocks/>
            </p:cNvSpPr>
            <p:nvPr/>
          </p:nvSpPr>
          <p:spPr bwMode="auto">
            <a:xfrm>
              <a:off x="1375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5" name="未知"/>
            <p:cNvSpPr>
              <a:spLocks/>
            </p:cNvSpPr>
            <p:nvPr/>
          </p:nvSpPr>
          <p:spPr bwMode="auto">
            <a:xfrm>
              <a:off x="1375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6" name="未知"/>
            <p:cNvSpPr>
              <a:spLocks/>
            </p:cNvSpPr>
            <p:nvPr/>
          </p:nvSpPr>
          <p:spPr bwMode="auto">
            <a:xfrm>
              <a:off x="1375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7" name="未知"/>
            <p:cNvSpPr>
              <a:spLocks/>
            </p:cNvSpPr>
            <p:nvPr/>
          </p:nvSpPr>
          <p:spPr bwMode="auto">
            <a:xfrm>
              <a:off x="1375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8" name="未知"/>
            <p:cNvSpPr>
              <a:spLocks/>
            </p:cNvSpPr>
            <p:nvPr/>
          </p:nvSpPr>
          <p:spPr bwMode="auto">
            <a:xfrm>
              <a:off x="1375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9" name="未知"/>
            <p:cNvSpPr>
              <a:spLocks/>
            </p:cNvSpPr>
            <p:nvPr/>
          </p:nvSpPr>
          <p:spPr bwMode="auto">
            <a:xfrm>
              <a:off x="1375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0" name="未知"/>
            <p:cNvSpPr>
              <a:spLocks/>
            </p:cNvSpPr>
            <p:nvPr/>
          </p:nvSpPr>
          <p:spPr bwMode="auto">
            <a:xfrm>
              <a:off x="1375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1" name="未知"/>
            <p:cNvSpPr>
              <a:spLocks/>
            </p:cNvSpPr>
            <p:nvPr/>
          </p:nvSpPr>
          <p:spPr bwMode="auto">
            <a:xfrm>
              <a:off x="1375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1375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1820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4" name="未知"/>
            <p:cNvSpPr>
              <a:spLocks/>
            </p:cNvSpPr>
            <p:nvPr/>
          </p:nvSpPr>
          <p:spPr bwMode="auto">
            <a:xfrm>
              <a:off x="1820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5" name="未知"/>
            <p:cNvSpPr>
              <a:spLocks/>
            </p:cNvSpPr>
            <p:nvPr/>
          </p:nvSpPr>
          <p:spPr bwMode="auto">
            <a:xfrm>
              <a:off x="1820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6" name="未知"/>
            <p:cNvSpPr>
              <a:spLocks/>
            </p:cNvSpPr>
            <p:nvPr/>
          </p:nvSpPr>
          <p:spPr bwMode="auto">
            <a:xfrm>
              <a:off x="1820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7" name="未知"/>
            <p:cNvSpPr>
              <a:spLocks/>
            </p:cNvSpPr>
            <p:nvPr/>
          </p:nvSpPr>
          <p:spPr bwMode="auto">
            <a:xfrm>
              <a:off x="1820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8" name="未知"/>
            <p:cNvSpPr>
              <a:spLocks/>
            </p:cNvSpPr>
            <p:nvPr/>
          </p:nvSpPr>
          <p:spPr bwMode="auto">
            <a:xfrm>
              <a:off x="1820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9" name="未知"/>
            <p:cNvSpPr>
              <a:spLocks/>
            </p:cNvSpPr>
            <p:nvPr/>
          </p:nvSpPr>
          <p:spPr bwMode="auto">
            <a:xfrm>
              <a:off x="1820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0" name="未知"/>
            <p:cNvSpPr>
              <a:spLocks/>
            </p:cNvSpPr>
            <p:nvPr/>
          </p:nvSpPr>
          <p:spPr bwMode="auto">
            <a:xfrm>
              <a:off x="1820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1" name="未知"/>
            <p:cNvSpPr>
              <a:spLocks/>
            </p:cNvSpPr>
            <p:nvPr/>
          </p:nvSpPr>
          <p:spPr bwMode="auto">
            <a:xfrm>
              <a:off x="1820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2" name="未知"/>
            <p:cNvSpPr>
              <a:spLocks/>
            </p:cNvSpPr>
            <p:nvPr/>
          </p:nvSpPr>
          <p:spPr bwMode="auto">
            <a:xfrm>
              <a:off x="1820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3" name="未知"/>
            <p:cNvSpPr>
              <a:spLocks/>
            </p:cNvSpPr>
            <p:nvPr/>
          </p:nvSpPr>
          <p:spPr bwMode="auto">
            <a:xfrm>
              <a:off x="1820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1820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227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6" name="未知"/>
            <p:cNvSpPr>
              <a:spLocks/>
            </p:cNvSpPr>
            <p:nvPr/>
          </p:nvSpPr>
          <p:spPr bwMode="auto">
            <a:xfrm>
              <a:off x="227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7" name="未知"/>
            <p:cNvSpPr>
              <a:spLocks/>
            </p:cNvSpPr>
            <p:nvPr/>
          </p:nvSpPr>
          <p:spPr bwMode="auto">
            <a:xfrm>
              <a:off x="227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8" name="未知"/>
            <p:cNvSpPr>
              <a:spLocks/>
            </p:cNvSpPr>
            <p:nvPr/>
          </p:nvSpPr>
          <p:spPr bwMode="auto">
            <a:xfrm>
              <a:off x="227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9" name="未知"/>
            <p:cNvSpPr>
              <a:spLocks/>
            </p:cNvSpPr>
            <p:nvPr/>
          </p:nvSpPr>
          <p:spPr bwMode="auto">
            <a:xfrm>
              <a:off x="227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0" name="未知"/>
            <p:cNvSpPr>
              <a:spLocks/>
            </p:cNvSpPr>
            <p:nvPr/>
          </p:nvSpPr>
          <p:spPr bwMode="auto">
            <a:xfrm>
              <a:off x="227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1" name="未知"/>
            <p:cNvSpPr>
              <a:spLocks/>
            </p:cNvSpPr>
            <p:nvPr/>
          </p:nvSpPr>
          <p:spPr bwMode="auto">
            <a:xfrm>
              <a:off x="227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2" name="未知"/>
            <p:cNvSpPr>
              <a:spLocks/>
            </p:cNvSpPr>
            <p:nvPr/>
          </p:nvSpPr>
          <p:spPr bwMode="auto">
            <a:xfrm>
              <a:off x="227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3" name="未知"/>
            <p:cNvSpPr>
              <a:spLocks/>
            </p:cNvSpPr>
            <p:nvPr/>
          </p:nvSpPr>
          <p:spPr bwMode="auto">
            <a:xfrm>
              <a:off x="227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4" name="未知"/>
            <p:cNvSpPr>
              <a:spLocks/>
            </p:cNvSpPr>
            <p:nvPr/>
          </p:nvSpPr>
          <p:spPr bwMode="auto">
            <a:xfrm>
              <a:off x="227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5" name="未知"/>
            <p:cNvSpPr>
              <a:spLocks/>
            </p:cNvSpPr>
            <p:nvPr/>
          </p:nvSpPr>
          <p:spPr bwMode="auto">
            <a:xfrm>
              <a:off x="227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27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2716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8" name="未知"/>
            <p:cNvSpPr>
              <a:spLocks/>
            </p:cNvSpPr>
            <p:nvPr/>
          </p:nvSpPr>
          <p:spPr bwMode="auto">
            <a:xfrm>
              <a:off x="2716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9" name="未知"/>
            <p:cNvSpPr>
              <a:spLocks/>
            </p:cNvSpPr>
            <p:nvPr/>
          </p:nvSpPr>
          <p:spPr bwMode="auto">
            <a:xfrm>
              <a:off x="2716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0" name="未知"/>
            <p:cNvSpPr>
              <a:spLocks/>
            </p:cNvSpPr>
            <p:nvPr/>
          </p:nvSpPr>
          <p:spPr bwMode="auto">
            <a:xfrm>
              <a:off x="2716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1" name="未知"/>
            <p:cNvSpPr>
              <a:spLocks/>
            </p:cNvSpPr>
            <p:nvPr/>
          </p:nvSpPr>
          <p:spPr bwMode="auto">
            <a:xfrm>
              <a:off x="2716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2" name="未知"/>
            <p:cNvSpPr>
              <a:spLocks/>
            </p:cNvSpPr>
            <p:nvPr/>
          </p:nvSpPr>
          <p:spPr bwMode="auto">
            <a:xfrm>
              <a:off x="2716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3" name="未知"/>
            <p:cNvSpPr>
              <a:spLocks/>
            </p:cNvSpPr>
            <p:nvPr/>
          </p:nvSpPr>
          <p:spPr bwMode="auto">
            <a:xfrm>
              <a:off x="2716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4" name="未知"/>
            <p:cNvSpPr>
              <a:spLocks/>
            </p:cNvSpPr>
            <p:nvPr/>
          </p:nvSpPr>
          <p:spPr bwMode="auto">
            <a:xfrm>
              <a:off x="2716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5" name="未知"/>
            <p:cNvSpPr>
              <a:spLocks/>
            </p:cNvSpPr>
            <p:nvPr/>
          </p:nvSpPr>
          <p:spPr bwMode="auto">
            <a:xfrm>
              <a:off x="2716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6" name="未知"/>
            <p:cNvSpPr>
              <a:spLocks/>
            </p:cNvSpPr>
            <p:nvPr/>
          </p:nvSpPr>
          <p:spPr bwMode="auto">
            <a:xfrm>
              <a:off x="2716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7" name="未知"/>
            <p:cNvSpPr>
              <a:spLocks/>
            </p:cNvSpPr>
            <p:nvPr/>
          </p:nvSpPr>
          <p:spPr bwMode="auto">
            <a:xfrm>
              <a:off x="2716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2716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316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0" name="未知"/>
            <p:cNvSpPr>
              <a:spLocks/>
            </p:cNvSpPr>
            <p:nvPr/>
          </p:nvSpPr>
          <p:spPr bwMode="auto">
            <a:xfrm>
              <a:off x="316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1" name="未知"/>
            <p:cNvSpPr>
              <a:spLocks/>
            </p:cNvSpPr>
            <p:nvPr/>
          </p:nvSpPr>
          <p:spPr bwMode="auto">
            <a:xfrm>
              <a:off x="316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2" name="未知"/>
            <p:cNvSpPr>
              <a:spLocks/>
            </p:cNvSpPr>
            <p:nvPr/>
          </p:nvSpPr>
          <p:spPr bwMode="auto">
            <a:xfrm>
              <a:off x="316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3" name="未知"/>
            <p:cNvSpPr>
              <a:spLocks/>
            </p:cNvSpPr>
            <p:nvPr/>
          </p:nvSpPr>
          <p:spPr bwMode="auto">
            <a:xfrm>
              <a:off x="316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4" name="未知"/>
            <p:cNvSpPr>
              <a:spLocks/>
            </p:cNvSpPr>
            <p:nvPr/>
          </p:nvSpPr>
          <p:spPr bwMode="auto">
            <a:xfrm>
              <a:off x="316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5" name="未知"/>
            <p:cNvSpPr>
              <a:spLocks/>
            </p:cNvSpPr>
            <p:nvPr/>
          </p:nvSpPr>
          <p:spPr bwMode="auto">
            <a:xfrm>
              <a:off x="316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6" name="未知"/>
            <p:cNvSpPr>
              <a:spLocks/>
            </p:cNvSpPr>
            <p:nvPr/>
          </p:nvSpPr>
          <p:spPr bwMode="auto">
            <a:xfrm>
              <a:off x="316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7" name="未知"/>
            <p:cNvSpPr>
              <a:spLocks/>
            </p:cNvSpPr>
            <p:nvPr/>
          </p:nvSpPr>
          <p:spPr bwMode="auto">
            <a:xfrm>
              <a:off x="316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8" name="未知"/>
            <p:cNvSpPr>
              <a:spLocks/>
            </p:cNvSpPr>
            <p:nvPr/>
          </p:nvSpPr>
          <p:spPr bwMode="auto">
            <a:xfrm>
              <a:off x="316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9" name="未知"/>
            <p:cNvSpPr>
              <a:spLocks/>
            </p:cNvSpPr>
            <p:nvPr/>
          </p:nvSpPr>
          <p:spPr bwMode="auto">
            <a:xfrm>
              <a:off x="316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316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361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2" name="未知"/>
            <p:cNvSpPr>
              <a:spLocks/>
            </p:cNvSpPr>
            <p:nvPr/>
          </p:nvSpPr>
          <p:spPr bwMode="auto">
            <a:xfrm>
              <a:off x="361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" name="未知"/>
            <p:cNvSpPr>
              <a:spLocks/>
            </p:cNvSpPr>
            <p:nvPr/>
          </p:nvSpPr>
          <p:spPr bwMode="auto">
            <a:xfrm>
              <a:off x="361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" name="未知"/>
            <p:cNvSpPr>
              <a:spLocks/>
            </p:cNvSpPr>
            <p:nvPr/>
          </p:nvSpPr>
          <p:spPr bwMode="auto">
            <a:xfrm>
              <a:off x="361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" name="未知"/>
            <p:cNvSpPr>
              <a:spLocks/>
            </p:cNvSpPr>
            <p:nvPr/>
          </p:nvSpPr>
          <p:spPr bwMode="auto">
            <a:xfrm>
              <a:off x="361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" name="未知"/>
            <p:cNvSpPr>
              <a:spLocks/>
            </p:cNvSpPr>
            <p:nvPr/>
          </p:nvSpPr>
          <p:spPr bwMode="auto">
            <a:xfrm>
              <a:off x="361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" name="未知"/>
            <p:cNvSpPr>
              <a:spLocks/>
            </p:cNvSpPr>
            <p:nvPr/>
          </p:nvSpPr>
          <p:spPr bwMode="auto">
            <a:xfrm>
              <a:off x="361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" name="未知"/>
            <p:cNvSpPr>
              <a:spLocks/>
            </p:cNvSpPr>
            <p:nvPr/>
          </p:nvSpPr>
          <p:spPr bwMode="auto">
            <a:xfrm>
              <a:off x="361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" name="未知"/>
            <p:cNvSpPr>
              <a:spLocks/>
            </p:cNvSpPr>
            <p:nvPr/>
          </p:nvSpPr>
          <p:spPr bwMode="auto">
            <a:xfrm>
              <a:off x="361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" name="未知"/>
            <p:cNvSpPr>
              <a:spLocks/>
            </p:cNvSpPr>
            <p:nvPr/>
          </p:nvSpPr>
          <p:spPr bwMode="auto">
            <a:xfrm>
              <a:off x="361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" name="未知"/>
            <p:cNvSpPr>
              <a:spLocks/>
            </p:cNvSpPr>
            <p:nvPr/>
          </p:nvSpPr>
          <p:spPr bwMode="auto">
            <a:xfrm>
              <a:off x="361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361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4056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" name="未知"/>
            <p:cNvSpPr>
              <a:spLocks/>
            </p:cNvSpPr>
            <p:nvPr/>
          </p:nvSpPr>
          <p:spPr bwMode="auto">
            <a:xfrm>
              <a:off x="4056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" name="未知"/>
            <p:cNvSpPr>
              <a:spLocks/>
            </p:cNvSpPr>
            <p:nvPr/>
          </p:nvSpPr>
          <p:spPr bwMode="auto">
            <a:xfrm>
              <a:off x="4056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" name="未知"/>
            <p:cNvSpPr>
              <a:spLocks/>
            </p:cNvSpPr>
            <p:nvPr/>
          </p:nvSpPr>
          <p:spPr bwMode="auto">
            <a:xfrm>
              <a:off x="4056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7" name="未知"/>
            <p:cNvSpPr>
              <a:spLocks/>
            </p:cNvSpPr>
            <p:nvPr/>
          </p:nvSpPr>
          <p:spPr bwMode="auto">
            <a:xfrm>
              <a:off x="4056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8" name="未知"/>
            <p:cNvSpPr>
              <a:spLocks/>
            </p:cNvSpPr>
            <p:nvPr/>
          </p:nvSpPr>
          <p:spPr bwMode="auto">
            <a:xfrm>
              <a:off x="4056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9" name="未知"/>
            <p:cNvSpPr>
              <a:spLocks/>
            </p:cNvSpPr>
            <p:nvPr/>
          </p:nvSpPr>
          <p:spPr bwMode="auto">
            <a:xfrm>
              <a:off x="4056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0" name="未知"/>
            <p:cNvSpPr>
              <a:spLocks/>
            </p:cNvSpPr>
            <p:nvPr/>
          </p:nvSpPr>
          <p:spPr bwMode="auto">
            <a:xfrm>
              <a:off x="4056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1" name="未知"/>
            <p:cNvSpPr>
              <a:spLocks/>
            </p:cNvSpPr>
            <p:nvPr/>
          </p:nvSpPr>
          <p:spPr bwMode="auto">
            <a:xfrm>
              <a:off x="4056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2" name="未知"/>
            <p:cNvSpPr>
              <a:spLocks/>
            </p:cNvSpPr>
            <p:nvPr/>
          </p:nvSpPr>
          <p:spPr bwMode="auto">
            <a:xfrm>
              <a:off x="4056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3" name="未知"/>
            <p:cNvSpPr>
              <a:spLocks/>
            </p:cNvSpPr>
            <p:nvPr/>
          </p:nvSpPr>
          <p:spPr bwMode="auto">
            <a:xfrm>
              <a:off x="4056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4056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450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6" name="未知"/>
            <p:cNvSpPr>
              <a:spLocks/>
            </p:cNvSpPr>
            <p:nvPr/>
          </p:nvSpPr>
          <p:spPr bwMode="auto">
            <a:xfrm>
              <a:off x="450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7" name="未知"/>
            <p:cNvSpPr>
              <a:spLocks/>
            </p:cNvSpPr>
            <p:nvPr/>
          </p:nvSpPr>
          <p:spPr bwMode="auto">
            <a:xfrm>
              <a:off x="450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8" name="未知"/>
            <p:cNvSpPr>
              <a:spLocks/>
            </p:cNvSpPr>
            <p:nvPr/>
          </p:nvSpPr>
          <p:spPr bwMode="auto">
            <a:xfrm>
              <a:off x="450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29" name="未知"/>
            <p:cNvSpPr>
              <a:spLocks/>
            </p:cNvSpPr>
            <p:nvPr/>
          </p:nvSpPr>
          <p:spPr bwMode="auto">
            <a:xfrm>
              <a:off x="450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0" name="未知"/>
            <p:cNvSpPr>
              <a:spLocks/>
            </p:cNvSpPr>
            <p:nvPr/>
          </p:nvSpPr>
          <p:spPr bwMode="auto">
            <a:xfrm>
              <a:off x="450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1" name="未知"/>
            <p:cNvSpPr>
              <a:spLocks/>
            </p:cNvSpPr>
            <p:nvPr/>
          </p:nvSpPr>
          <p:spPr bwMode="auto">
            <a:xfrm>
              <a:off x="450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2" name="未知"/>
            <p:cNvSpPr>
              <a:spLocks/>
            </p:cNvSpPr>
            <p:nvPr/>
          </p:nvSpPr>
          <p:spPr bwMode="auto">
            <a:xfrm>
              <a:off x="450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3" name="未知"/>
            <p:cNvSpPr>
              <a:spLocks/>
            </p:cNvSpPr>
            <p:nvPr/>
          </p:nvSpPr>
          <p:spPr bwMode="auto">
            <a:xfrm>
              <a:off x="450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4" name="未知"/>
            <p:cNvSpPr>
              <a:spLocks/>
            </p:cNvSpPr>
            <p:nvPr/>
          </p:nvSpPr>
          <p:spPr bwMode="auto">
            <a:xfrm>
              <a:off x="450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5" name="未知"/>
            <p:cNvSpPr>
              <a:spLocks/>
            </p:cNvSpPr>
            <p:nvPr/>
          </p:nvSpPr>
          <p:spPr bwMode="auto">
            <a:xfrm>
              <a:off x="450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6" name="Rectangle 135"/>
            <p:cNvSpPr>
              <a:spLocks noChangeArrowheads="1"/>
            </p:cNvSpPr>
            <p:nvPr/>
          </p:nvSpPr>
          <p:spPr bwMode="auto">
            <a:xfrm>
              <a:off x="450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7" name="Rectangle 136"/>
            <p:cNvSpPr>
              <a:spLocks noChangeArrowheads="1"/>
            </p:cNvSpPr>
            <p:nvPr/>
          </p:nvSpPr>
          <p:spPr bwMode="auto">
            <a:xfrm>
              <a:off x="495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8" name="未知"/>
            <p:cNvSpPr>
              <a:spLocks/>
            </p:cNvSpPr>
            <p:nvPr/>
          </p:nvSpPr>
          <p:spPr bwMode="auto">
            <a:xfrm>
              <a:off x="495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9" name="未知"/>
            <p:cNvSpPr>
              <a:spLocks/>
            </p:cNvSpPr>
            <p:nvPr/>
          </p:nvSpPr>
          <p:spPr bwMode="auto">
            <a:xfrm>
              <a:off x="495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0" name="未知"/>
            <p:cNvSpPr>
              <a:spLocks/>
            </p:cNvSpPr>
            <p:nvPr/>
          </p:nvSpPr>
          <p:spPr bwMode="auto">
            <a:xfrm>
              <a:off x="495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1" name="未知"/>
            <p:cNvSpPr>
              <a:spLocks/>
            </p:cNvSpPr>
            <p:nvPr/>
          </p:nvSpPr>
          <p:spPr bwMode="auto">
            <a:xfrm>
              <a:off x="495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2" name="未知"/>
            <p:cNvSpPr>
              <a:spLocks/>
            </p:cNvSpPr>
            <p:nvPr/>
          </p:nvSpPr>
          <p:spPr bwMode="auto">
            <a:xfrm>
              <a:off x="495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3" name="未知"/>
            <p:cNvSpPr>
              <a:spLocks/>
            </p:cNvSpPr>
            <p:nvPr/>
          </p:nvSpPr>
          <p:spPr bwMode="auto">
            <a:xfrm>
              <a:off x="495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4" name="未知"/>
            <p:cNvSpPr>
              <a:spLocks/>
            </p:cNvSpPr>
            <p:nvPr/>
          </p:nvSpPr>
          <p:spPr bwMode="auto">
            <a:xfrm>
              <a:off x="495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5" name="未知"/>
            <p:cNvSpPr>
              <a:spLocks/>
            </p:cNvSpPr>
            <p:nvPr/>
          </p:nvSpPr>
          <p:spPr bwMode="auto">
            <a:xfrm>
              <a:off x="495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6" name="未知"/>
            <p:cNvSpPr>
              <a:spLocks/>
            </p:cNvSpPr>
            <p:nvPr/>
          </p:nvSpPr>
          <p:spPr bwMode="auto">
            <a:xfrm>
              <a:off x="495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7" name="未知"/>
            <p:cNvSpPr>
              <a:spLocks/>
            </p:cNvSpPr>
            <p:nvPr/>
          </p:nvSpPr>
          <p:spPr bwMode="auto">
            <a:xfrm>
              <a:off x="495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8" name="Rectangle 147"/>
            <p:cNvSpPr>
              <a:spLocks noChangeArrowheads="1"/>
            </p:cNvSpPr>
            <p:nvPr/>
          </p:nvSpPr>
          <p:spPr bwMode="auto">
            <a:xfrm>
              <a:off x="495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49" name="未知"/>
            <p:cNvSpPr>
              <a:spLocks/>
            </p:cNvSpPr>
            <p:nvPr/>
          </p:nvSpPr>
          <p:spPr bwMode="auto">
            <a:xfrm>
              <a:off x="0" y="3281"/>
              <a:ext cx="20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</p:grpSp>
      <p:pic>
        <p:nvPicPr>
          <p:cNvPr id="150" name="Picture 149" descr="1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867" y="804864"/>
            <a:ext cx="5808133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1" name="Group 152"/>
          <p:cNvGrpSpPr>
            <a:grpSpLocks/>
          </p:cNvGrpSpPr>
          <p:nvPr/>
        </p:nvGrpSpPr>
        <p:grpSpPr bwMode="auto">
          <a:xfrm>
            <a:off x="1" y="0"/>
            <a:ext cx="7632700" cy="4076700"/>
            <a:chOff x="0" y="0"/>
            <a:chExt cx="3424" cy="2483"/>
          </a:xfrm>
        </p:grpSpPr>
        <p:pic>
          <p:nvPicPr>
            <p:cNvPr id="152" name="Picture 153" descr="02_02"/>
            <p:cNvPicPr>
              <a:picLocks noChangeArrowheads="1"/>
            </p:cNvPicPr>
            <p:nvPr userDrawn="1"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424" cy="1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" name="Picture 154" descr="02_12"/>
            <p:cNvPicPr>
              <a:picLocks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" y="1076"/>
              <a:ext cx="593" cy="1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4" name="Group 155"/>
          <p:cNvGrpSpPr>
            <a:grpSpLocks/>
          </p:cNvGrpSpPr>
          <p:nvPr/>
        </p:nvGrpSpPr>
        <p:grpSpPr bwMode="auto">
          <a:xfrm>
            <a:off x="5884333" y="3328988"/>
            <a:ext cx="6307667" cy="3529012"/>
            <a:chOff x="0" y="0"/>
            <a:chExt cx="2980" cy="2223"/>
          </a:xfrm>
        </p:grpSpPr>
        <p:pic>
          <p:nvPicPr>
            <p:cNvPr id="155" name="Picture 156" descr="02_16"/>
            <p:cNvPicPr>
              <a:picLocks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1" y="0"/>
              <a:ext cx="540" cy="1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6" name="Picture 157" descr="02_27"/>
            <p:cNvPicPr>
              <a:picLocks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6" y="1278"/>
              <a:ext cx="101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7" name="Picture 158" descr="02_29"/>
            <p:cNvPicPr>
              <a:picLocks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4" y="1455"/>
              <a:ext cx="101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8" name="Picture 159" descr="02_33"/>
            <p:cNvPicPr>
              <a:picLocks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15"/>
              <a:ext cx="2436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59" name="Picture 160" descr="62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"/>
            <a:ext cx="5232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1102784" y="2205038"/>
            <a:ext cx="10363200" cy="1143000"/>
          </a:xfrm>
        </p:spPr>
        <p:txBody>
          <a:bodyPr/>
          <a:lstStyle>
            <a:lvl1pPr>
              <a:defRPr>
                <a:ea typeface="华文新魏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199" name="Rectangle 151"/>
          <p:cNvSpPr>
            <a:spLocks noGrp="1" noChangeArrowheads="1"/>
          </p:cNvSpPr>
          <p:nvPr>
            <p:ph type="subTitle" idx="1"/>
          </p:nvPr>
        </p:nvSpPr>
        <p:spPr>
          <a:xfrm>
            <a:off x="527051" y="4149725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rgbClr val="80007E"/>
                </a:solidFill>
              </a:defRPr>
            </a:lvl1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160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995834" y="6381751"/>
            <a:ext cx="3052233" cy="404813"/>
          </a:xfrm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2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15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91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9667" y="1628775"/>
            <a:ext cx="53340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6867" y="1628775"/>
            <a:ext cx="53340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4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1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5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9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50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12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16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8685" y="228600"/>
            <a:ext cx="2846916" cy="58991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7934" y="228600"/>
            <a:ext cx="8337551" cy="58991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66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7933" y="228600"/>
            <a:ext cx="11387667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19667" y="1628775"/>
            <a:ext cx="5334000" cy="44989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6867" y="1628775"/>
            <a:ext cx="5334000" cy="44989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980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教学课件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0"/>
          <a:ext cx="12192000" cy="500064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66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5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032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b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工程流体力学</a:t>
                      </a:r>
                      <a:endParaRPr lang="zh-CN" altLang="en-US" sz="14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 marL="0" marR="0" marT="0" marB="0" anchor="b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marT="45722" marB="45722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32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3366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Engineering</a:t>
                      </a:r>
                      <a:r>
                        <a:rPr lang="zh-CN" altLang="en-US" sz="1400" b="1" dirty="0" smtClean="0">
                          <a:solidFill>
                            <a:srgbClr val="3366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400" b="1" dirty="0" smtClean="0">
                          <a:solidFill>
                            <a:srgbClr val="3366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Fluid</a:t>
                      </a:r>
                      <a:r>
                        <a:rPr lang="zh-CN" altLang="en-US" sz="1400" b="1" dirty="0" smtClean="0">
                          <a:solidFill>
                            <a:srgbClr val="3366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400" b="1" dirty="0" smtClean="0">
                          <a:solidFill>
                            <a:srgbClr val="3366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Mechanics</a:t>
                      </a:r>
                      <a:endParaRPr lang="zh-CN" altLang="en-US" sz="1400" b="1" dirty="0">
                        <a:solidFill>
                          <a:srgbClr val="3366C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图片 7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392" t="7854" r="23428" b="5235"/>
          <a:stretch>
            <a:fillRect/>
          </a:stretch>
        </p:blipFill>
        <p:spPr bwMode="auto">
          <a:xfrm>
            <a:off x="77565" y="33868"/>
            <a:ext cx="516827" cy="428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cxnSp>
        <p:nvCxnSpPr>
          <p:cNvPr id="7" name="直接连接符 6"/>
          <p:cNvCxnSpPr/>
          <p:nvPr userDrawn="1"/>
        </p:nvCxnSpPr>
        <p:spPr>
          <a:xfrm rot="5400000">
            <a:off x="3161507" y="3491177"/>
            <a:ext cx="5868988" cy="4233"/>
          </a:xfrm>
          <a:prstGeom prst="line">
            <a:avLst/>
          </a:prstGeom>
          <a:ln w="12700" cmpd="sng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85709" y="522000"/>
            <a:ext cx="5707200" cy="5940000"/>
          </a:xfrm>
        </p:spPr>
        <p:txBody>
          <a:bodyPr/>
          <a:lstStyle>
            <a:lvl1pPr marL="0" indent="0" algn="ct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800" baseline="0">
                <a:latin typeface="Times New Roman" pitchFamily="18" charset="0"/>
                <a:ea typeface="黑体" pitchFamily="2" charset="-122"/>
              </a:defRPr>
            </a:lvl1pPr>
            <a:lvl2pPr marL="0" indent="60840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aseline="0">
                <a:latin typeface="Times New Roman" pitchFamily="18" charset="0"/>
                <a:ea typeface="黑体" pitchFamily="2" charset="-122"/>
              </a:defRPr>
            </a:lvl2pPr>
            <a:lvl3pPr marL="0" indent="6084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aseline="0">
                <a:latin typeface="Times New Roman" pitchFamily="18" charset="0"/>
                <a:ea typeface="黑体" pitchFamily="2" charset="-122"/>
              </a:defRPr>
            </a:lvl3pPr>
            <a:lvl4pPr marL="0" indent="6084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latin typeface="Times New Roman" pitchFamily="18" charset="0"/>
                <a:ea typeface="+mn-ea"/>
              </a:defRPr>
            </a:lvl4pPr>
            <a:lvl5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latin typeface="Times New Roman" pitchFamily="18" charset="0"/>
                <a:ea typeface="+mn-e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800" y="522000"/>
            <a:ext cx="5707200" cy="5940000"/>
          </a:xfrm>
        </p:spPr>
        <p:txBody>
          <a:bodyPr/>
          <a:lstStyle>
            <a:lvl1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800" b="0" baseline="0">
                <a:latin typeface="Times New Roman" pitchFamily="18" charset="0"/>
                <a:ea typeface="黑体" pitchFamily="2" charset="-122"/>
              </a:defRPr>
            </a:lvl1pPr>
            <a:lvl2pPr marL="0" indent="6084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2400" b="1" kern="1200" baseline="0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  <a:cs typeface="+mn-cs"/>
              </a:defRPr>
            </a:lvl2pPr>
            <a:lvl3pPr marL="0" indent="6084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2400" b="0" kern="1200" baseline="0" dirty="0" smtClean="0">
                <a:solidFill>
                  <a:srgbClr val="006600"/>
                </a:solidFill>
                <a:latin typeface="Times New Roman" pitchFamily="18" charset="0"/>
                <a:ea typeface="黑体" pitchFamily="2" charset="-122"/>
                <a:cs typeface="+mn-cs"/>
              </a:defRPr>
            </a:lvl3pPr>
            <a:lvl4pPr marL="0" indent="6084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2400" b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2400" b="1" kern="1200" baseline="0" dirty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7" name="标题 46"/>
          <p:cNvSpPr>
            <a:spLocks noGrp="1"/>
          </p:cNvSpPr>
          <p:nvPr>
            <p:ph type="title"/>
          </p:nvPr>
        </p:nvSpPr>
        <p:spPr>
          <a:xfrm>
            <a:off x="4512000" y="3958"/>
            <a:ext cx="7680000" cy="49608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defRPr sz="2400" b="1">
                <a:solidFill>
                  <a:srgbClr val="7030A0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0533" y="6494463"/>
            <a:ext cx="1151467" cy="360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3A1ADC0A-EF3C-4210-B18A-2197ECF0CEAD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839634" y="6492876"/>
            <a:ext cx="4512733" cy="360363"/>
          </a:xfrm>
        </p:spPr>
        <p:txBody>
          <a:bodyPr/>
          <a:lstStyle>
            <a:lvl1pPr>
              <a:defRPr baseline="0">
                <a:solidFill>
                  <a:srgbClr val="7030A0"/>
                </a:solidFill>
                <a:latin typeface="Brush Script MT" pitchFamily="66" charset="0"/>
                <a:ea typeface="华文行楷" pitchFamily="2" charset="-122"/>
              </a:defRPr>
            </a:lvl1pPr>
          </a:lstStyle>
          <a:p>
            <a:pPr>
              <a:defRPr/>
            </a:pPr>
            <a:r>
              <a:t>HEUJ&amp;F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1" y="6492876"/>
            <a:ext cx="3238500" cy="360363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>
              <a:defRPr/>
            </a:pPr>
            <a:fld id="{6E68C76C-8541-4341-B211-A222072C1A7B}" type="datetime1">
              <a:rPr lang="zh-CN" altLang="en-US"/>
              <a:pPr>
                <a:defRPr/>
              </a:pPr>
              <a:t>2020/3/16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184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755651" y="0"/>
            <a:ext cx="10521949" cy="6821488"/>
            <a:chOff x="0" y="0"/>
            <a:chExt cx="4971" cy="4297"/>
          </a:xfrm>
        </p:grpSpPr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35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" name="未知"/>
            <p:cNvSpPr>
              <a:spLocks/>
            </p:cNvSpPr>
            <p:nvPr/>
          </p:nvSpPr>
          <p:spPr bwMode="auto">
            <a:xfrm>
              <a:off x="35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29" name="未知"/>
            <p:cNvSpPr>
              <a:spLocks/>
            </p:cNvSpPr>
            <p:nvPr/>
          </p:nvSpPr>
          <p:spPr bwMode="auto">
            <a:xfrm>
              <a:off x="35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" name="未知"/>
            <p:cNvSpPr>
              <a:spLocks/>
            </p:cNvSpPr>
            <p:nvPr/>
          </p:nvSpPr>
          <p:spPr bwMode="auto">
            <a:xfrm>
              <a:off x="35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5" name="未知"/>
            <p:cNvSpPr>
              <a:spLocks/>
            </p:cNvSpPr>
            <p:nvPr/>
          </p:nvSpPr>
          <p:spPr bwMode="auto">
            <a:xfrm>
              <a:off x="35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35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35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35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35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6" name="未知"/>
            <p:cNvSpPr>
              <a:spLocks/>
            </p:cNvSpPr>
            <p:nvPr/>
          </p:nvSpPr>
          <p:spPr bwMode="auto">
            <a:xfrm>
              <a:off x="35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7" name="未知"/>
            <p:cNvSpPr>
              <a:spLocks/>
            </p:cNvSpPr>
            <p:nvPr/>
          </p:nvSpPr>
          <p:spPr bwMode="auto">
            <a:xfrm>
              <a:off x="35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8" name="Rectangle 14"/>
            <p:cNvSpPr>
              <a:spLocks noChangeArrowheads="1"/>
            </p:cNvSpPr>
            <p:nvPr/>
          </p:nvSpPr>
          <p:spPr bwMode="auto">
            <a:xfrm>
              <a:off x="35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9" name="Rectangle 15"/>
            <p:cNvSpPr>
              <a:spLocks noChangeArrowheads="1"/>
            </p:cNvSpPr>
            <p:nvPr/>
          </p:nvSpPr>
          <p:spPr bwMode="auto">
            <a:xfrm>
              <a:off x="480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0" name="未知"/>
            <p:cNvSpPr>
              <a:spLocks/>
            </p:cNvSpPr>
            <p:nvPr/>
          </p:nvSpPr>
          <p:spPr bwMode="auto">
            <a:xfrm>
              <a:off x="480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1" name="未知"/>
            <p:cNvSpPr>
              <a:spLocks/>
            </p:cNvSpPr>
            <p:nvPr/>
          </p:nvSpPr>
          <p:spPr bwMode="auto">
            <a:xfrm>
              <a:off x="480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2" name="未知"/>
            <p:cNvSpPr>
              <a:spLocks/>
            </p:cNvSpPr>
            <p:nvPr/>
          </p:nvSpPr>
          <p:spPr bwMode="auto">
            <a:xfrm>
              <a:off x="480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3" name="未知"/>
            <p:cNvSpPr>
              <a:spLocks/>
            </p:cNvSpPr>
            <p:nvPr/>
          </p:nvSpPr>
          <p:spPr bwMode="auto">
            <a:xfrm>
              <a:off x="480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4" name="未知"/>
            <p:cNvSpPr>
              <a:spLocks/>
            </p:cNvSpPr>
            <p:nvPr/>
          </p:nvSpPr>
          <p:spPr bwMode="auto">
            <a:xfrm>
              <a:off x="480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5" name="未知"/>
            <p:cNvSpPr>
              <a:spLocks/>
            </p:cNvSpPr>
            <p:nvPr/>
          </p:nvSpPr>
          <p:spPr bwMode="auto">
            <a:xfrm>
              <a:off x="480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6" name="未知"/>
            <p:cNvSpPr>
              <a:spLocks/>
            </p:cNvSpPr>
            <p:nvPr/>
          </p:nvSpPr>
          <p:spPr bwMode="auto">
            <a:xfrm>
              <a:off x="480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7" name="未知"/>
            <p:cNvSpPr>
              <a:spLocks/>
            </p:cNvSpPr>
            <p:nvPr/>
          </p:nvSpPr>
          <p:spPr bwMode="auto">
            <a:xfrm>
              <a:off x="480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8" name="未知"/>
            <p:cNvSpPr>
              <a:spLocks/>
            </p:cNvSpPr>
            <p:nvPr/>
          </p:nvSpPr>
          <p:spPr bwMode="auto">
            <a:xfrm>
              <a:off x="480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9" name="未知"/>
            <p:cNvSpPr>
              <a:spLocks/>
            </p:cNvSpPr>
            <p:nvPr/>
          </p:nvSpPr>
          <p:spPr bwMode="auto">
            <a:xfrm>
              <a:off x="480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0" name="Rectangle 26"/>
            <p:cNvSpPr>
              <a:spLocks noChangeArrowheads="1"/>
            </p:cNvSpPr>
            <p:nvPr/>
          </p:nvSpPr>
          <p:spPr bwMode="auto">
            <a:xfrm>
              <a:off x="480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1" name="Rectangle 27"/>
            <p:cNvSpPr>
              <a:spLocks noChangeArrowheads="1"/>
            </p:cNvSpPr>
            <p:nvPr/>
          </p:nvSpPr>
          <p:spPr bwMode="auto">
            <a:xfrm>
              <a:off x="930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2" name="未知"/>
            <p:cNvSpPr>
              <a:spLocks/>
            </p:cNvSpPr>
            <p:nvPr/>
          </p:nvSpPr>
          <p:spPr bwMode="auto">
            <a:xfrm>
              <a:off x="930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3" name="未知"/>
            <p:cNvSpPr>
              <a:spLocks/>
            </p:cNvSpPr>
            <p:nvPr/>
          </p:nvSpPr>
          <p:spPr bwMode="auto">
            <a:xfrm>
              <a:off x="930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4" name="未知"/>
            <p:cNvSpPr>
              <a:spLocks/>
            </p:cNvSpPr>
            <p:nvPr/>
          </p:nvSpPr>
          <p:spPr bwMode="auto">
            <a:xfrm>
              <a:off x="930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5" name="未知"/>
            <p:cNvSpPr>
              <a:spLocks/>
            </p:cNvSpPr>
            <p:nvPr/>
          </p:nvSpPr>
          <p:spPr bwMode="auto">
            <a:xfrm>
              <a:off x="930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6" name="未知"/>
            <p:cNvSpPr>
              <a:spLocks/>
            </p:cNvSpPr>
            <p:nvPr/>
          </p:nvSpPr>
          <p:spPr bwMode="auto">
            <a:xfrm>
              <a:off x="930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7" name="未知"/>
            <p:cNvSpPr>
              <a:spLocks/>
            </p:cNvSpPr>
            <p:nvPr/>
          </p:nvSpPr>
          <p:spPr bwMode="auto">
            <a:xfrm>
              <a:off x="930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8" name="未知"/>
            <p:cNvSpPr>
              <a:spLocks/>
            </p:cNvSpPr>
            <p:nvPr/>
          </p:nvSpPr>
          <p:spPr bwMode="auto">
            <a:xfrm>
              <a:off x="930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9" name="未知"/>
            <p:cNvSpPr>
              <a:spLocks/>
            </p:cNvSpPr>
            <p:nvPr/>
          </p:nvSpPr>
          <p:spPr bwMode="auto">
            <a:xfrm>
              <a:off x="930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0" name="未知"/>
            <p:cNvSpPr>
              <a:spLocks/>
            </p:cNvSpPr>
            <p:nvPr/>
          </p:nvSpPr>
          <p:spPr bwMode="auto">
            <a:xfrm>
              <a:off x="930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1" name="未知"/>
            <p:cNvSpPr>
              <a:spLocks/>
            </p:cNvSpPr>
            <p:nvPr/>
          </p:nvSpPr>
          <p:spPr bwMode="auto">
            <a:xfrm>
              <a:off x="930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2" name="Rectangle 38"/>
            <p:cNvSpPr>
              <a:spLocks noChangeArrowheads="1"/>
            </p:cNvSpPr>
            <p:nvPr/>
          </p:nvSpPr>
          <p:spPr bwMode="auto">
            <a:xfrm>
              <a:off x="930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3" name="Rectangle 39"/>
            <p:cNvSpPr>
              <a:spLocks noChangeArrowheads="1"/>
            </p:cNvSpPr>
            <p:nvPr/>
          </p:nvSpPr>
          <p:spPr bwMode="auto">
            <a:xfrm>
              <a:off x="1375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4" name="未知"/>
            <p:cNvSpPr>
              <a:spLocks/>
            </p:cNvSpPr>
            <p:nvPr/>
          </p:nvSpPr>
          <p:spPr bwMode="auto">
            <a:xfrm>
              <a:off x="1375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5" name="未知"/>
            <p:cNvSpPr>
              <a:spLocks/>
            </p:cNvSpPr>
            <p:nvPr/>
          </p:nvSpPr>
          <p:spPr bwMode="auto">
            <a:xfrm>
              <a:off x="1375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6" name="未知"/>
            <p:cNvSpPr>
              <a:spLocks/>
            </p:cNvSpPr>
            <p:nvPr/>
          </p:nvSpPr>
          <p:spPr bwMode="auto">
            <a:xfrm>
              <a:off x="1375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7" name="未知"/>
            <p:cNvSpPr>
              <a:spLocks/>
            </p:cNvSpPr>
            <p:nvPr/>
          </p:nvSpPr>
          <p:spPr bwMode="auto">
            <a:xfrm>
              <a:off x="1375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8" name="未知"/>
            <p:cNvSpPr>
              <a:spLocks/>
            </p:cNvSpPr>
            <p:nvPr/>
          </p:nvSpPr>
          <p:spPr bwMode="auto">
            <a:xfrm>
              <a:off x="1375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69" name="未知"/>
            <p:cNvSpPr>
              <a:spLocks/>
            </p:cNvSpPr>
            <p:nvPr/>
          </p:nvSpPr>
          <p:spPr bwMode="auto">
            <a:xfrm>
              <a:off x="1375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0" name="未知"/>
            <p:cNvSpPr>
              <a:spLocks/>
            </p:cNvSpPr>
            <p:nvPr/>
          </p:nvSpPr>
          <p:spPr bwMode="auto">
            <a:xfrm>
              <a:off x="1375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1" name="未知"/>
            <p:cNvSpPr>
              <a:spLocks/>
            </p:cNvSpPr>
            <p:nvPr/>
          </p:nvSpPr>
          <p:spPr bwMode="auto">
            <a:xfrm>
              <a:off x="1375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2" name="未知"/>
            <p:cNvSpPr>
              <a:spLocks/>
            </p:cNvSpPr>
            <p:nvPr/>
          </p:nvSpPr>
          <p:spPr bwMode="auto">
            <a:xfrm>
              <a:off x="1375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3" name="未知"/>
            <p:cNvSpPr>
              <a:spLocks/>
            </p:cNvSpPr>
            <p:nvPr/>
          </p:nvSpPr>
          <p:spPr bwMode="auto">
            <a:xfrm>
              <a:off x="1375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4" name="Rectangle 50"/>
            <p:cNvSpPr>
              <a:spLocks noChangeArrowheads="1"/>
            </p:cNvSpPr>
            <p:nvPr/>
          </p:nvSpPr>
          <p:spPr bwMode="auto">
            <a:xfrm>
              <a:off x="1375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5" name="Rectangle 51"/>
            <p:cNvSpPr>
              <a:spLocks noChangeArrowheads="1"/>
            </p:cNvSpPr>
            <p:nvPr/>
          </p:nvSpPr>
          <p:spPr bwMode="auto">
            <a:xfrm>
              <a:off x="1820" y="0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6" name="未知"/>
            <p:cNvSpPr>
              <a:spLocks/>
            </p:cNvSpPr>
            <p:nvPr/>
          </p:nvSpPr>
          <p:spPr bwMode="auto">
            <a:xfrm>
              <a:off x="1820" y="202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7" name="未知"/>
            <p:cNvSpPr>
              <a:spLocks/>
            </p:cNvSpPr>
            <p:nvPr/>
          </p:nvSpPr>
          <p:spPr bwMode="auto">
            <a:xfrm>
              <a:off x="1820" y="607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8" name="未知"/>
            <p:cNvSpPr>
              <a:spLocks/>
            </p:cNvSpPr>
            <p:nvPr/>
          </p:nvSpPr>
          <p:spPr bwMode="auto">
            <a:xfrm>
              <a:off x="1820" y="101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79" name="未知"/>
            <p:cNvSpPr>
              <a:spLocks/>
            </p:cNvSpPr>
            <p:nvPr/>
          </p:nvSpPr>
          <p:spPr bwMode="auto">
            <a:xfrm>
              <a:off x="1820" y="141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0" name="未知"/>
            <p:cNvSpPr>
              <a:spLocks/>
            </p:cNvSpPr>
            <p:nvPr/>
          </p:nvSpPr>
          <p:spPr bwMode="auto">
            <a:xfrm>
              <a:off x="1820" y="182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1" name="未知"/>
            <p:cNvSpPr>
              <a:spLocks/>
            </p:cNvSpPr>
            <p:nvPr/>
          </p:nvSpPr>
          <p:spPr bwMode="auto">
            <a:xfrm>
              <a:off x="1820" y="2224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2" name="未知"/>
            <p:cNvSpPr>
              <a:spLocks/>
            </p:cNvSpPr>
            <p:nvPr/>
          </p:nvSpPr>
          <p:spPr bwMode="auto">
            <a:xfrm>
              <a:off x="1820" y="2629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3" name="未知"/>
            <p:cNvSpPr>
              <a:spLocks/>
            </p:cNvSpPr>
            <p:nvPr/>
          </p:nvSpPr>
          <p:spPr bwMode="auto">
            <a:xfrm>
              <a:off x="1820" y="303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4" name="未知"/>
            <p:cNvSpPr>
              <a:spLocks/>
            </p:cNvSpPr>
            <p:nvPr/>
          </p:nvSpPr>
          <p:spPr bwMode="auto">
            <a:xfrm>
              <a:off x="1820" y="3438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5" name="未知"/>
            <p:cNvSpPr>
              <a:spLocks/>
            </p:cNvSpPr>
            <p:nvPr/>
          </p:nvSpPr>
          <p:spPr bwMode="auto">
            <a:xfrm>
              <a:off x="1820" y="384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6" name="Rectangle 62"/>
            <p:cNvSpPr>
              <a:spLocks noChangeArrowheads="1"/>
            </p:cNvSpPr>
            <p:nvPr/>
          </p:nvSpPr>
          <p:spPr bwMode="auto">
            <a:xfrm>
              <a:off x="1820" y="4246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7" name="Rectangle 63"/>
            <p:cNvSpPr>
              <a:spLocks noChangeArrowheads="1"/>
            </p:cNvSpPr>
            <p:nvPr/>
          </p:nvSpPr>
          <p:spPr bwMode="auto">
            <a:xfrm>
              <a:off x="227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8" name="未知"/>
            <p:cNvSpPr>
              <a:spLocks/>
            </p:cNvSpPr>
            <p:nvPr/>
          </p:nvSpPr>
          <p:spPr bwMode="auto">
            <a:xfrm>
              <a:off x="227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89" name="未知"/>
            <p:cNvSpPr>
              <a:spLocks/>
            </p:cNvSpPr>
            <p:nvPr/>
          </p:nvSpPr>
          <p:spPr bwMode="auto">
            <a:xfrm>
              <a:off x="227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0" name="未知"/>
            <p:cNvSpPr>
              <a:spLocks/>
            </p:cNvSpPr>
            <p:nvPr/>
          </p:nvSpPr>
          <p:spPr bwMode="auto">
            <a:xfrm>
              <a:off x="227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1" name="未知"/>
            <p:cNvSpPr>
              <a:spLocks/>
            </p:cNvSpPr>
            <p:nvPr/>
          </p:nvSpPr>
          <p:spPr bwMode="auto">
            <a:xfrm>
              <a:off x="227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2" name="未知"/>
            <p:cNvSpPr>
              <a:spLocks/>
            </p:cNvSpPr>
            <p:nvPr/>
          </p:nvSpPr>
          <p:spPr bwMode="auto">
            <a:xfrm>
              <a:off x="227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3" name="未知"/>
            <p:cNvSpPr>
              <a:spLocks/>
            </p:cNvSpPr>
            <p:nvPr/>
          </p:nvSpPr>
          <p:spPr bwMode="auto">
            <a:xfrm>
              <a:off x="227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4" name="未知"/>
            <p:cNvSpPr>
              <a:spLocks/>
            </p:cNvSpPr>
            <p:nvPr/>
          </p:nvSpPr>
          <p:spPr bwMode="auto">
            <a:xfrm>
              <a:off x="227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5" name="未知"/>
            <p:cNvSpPr>
              <a:spLocks/>
            </p:cNvSpPr>
            <p:nvPr/>
          </p:nvSpPr>
          <p:spPr bwMode="auto">
            <a:xfrm>
              <a:off x="227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6" name="未知"/>
            <p:cNvSpPr>
              <a:spLocks/>
            </p:cNvSpPr>
            <p:nvPr/>
          </p:nvSpPr>
          <p:spPr bwMode="auto">
            <a:xfrm>
              <a:off x="227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7" name="未知"/>
            <p:cNvSpPr>
              <a:spLocks/>
            </p:cNvSpPr>
            <p:nvPr/>
          </p:nvSpPr>
          <p:spPr bwMode="auto">
            <a:xfrm>
              <a:off x="227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8" name="Rectangle 74"/>
            <p:cNvSpPr>
              <a:spLocks noChangeArrowheads="1"/>
            </p:cNvSpPr>
            <p:nvPr/>
          </p:nvSpPr>
          <p:spPr bwMode="auto">
            <a:xfrm>
              <a:off x="227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99" name="Rectangle 75"/>
            <p:cNvSpPr>
              <a:spLocks noChangeArrowheads="1"/>
            </p:cNvSpPr>
            <p:nvPr/>
          </p:nvSpPr>
          <p:spPr bwMode="auto">
            <a:xfrm>
              <a:off x="2716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0" name="未知"/>
            <p:cNvSpPr>
              <a:spLocks/>
            </p:cNvSpPr>
            <p:nvPr/>
          </p:nvSpPr>
          <p:spPr bwMode="auto">
            <a:xfrm>
              <a:off x="2716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1" name="未知"/>
            <p:cNvSpPr>
              <a:spLocks/>
            </p:cNvSpPr>
            <p:nvPr/>
          </p:nvSpPr>
          <p:spPr bwMode="auto">
            <a:xfrm>
              <a:off x="2716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2" name="未知"/>
            <p:cNvSpPr>
              <a:spLocks/>
            </p:cNvSpPr>
            <p:nvPr/>
          </p:nvSpPr>
          <p:spPr bwMode="auto">
            <a:xfrm>
              <a:off x="2716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3" name="未知"/>
            <p:cNvSpPr>
              <a:spLocks/>
            </p:cNvSpPr>
            <p:nvPr/>
          </p:nvSpPr>
          <p:spPr bwMode="auto">
            <a:xfrm>
              <a:off x="2716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4" name="未知"/>
            <p:cNvSpPr>
              <a:spLocks/>
            </p:cNvSpPr>
            <p:nvPr/>
          </p:nvSpPr>
          <p:spPr bwMode="auto">
            <a:xfrm>
              <a:off x="2716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5" name="未知"/>
            <p:cNvSpPr>
              <a:spLocks/>
            </p:cNvSpPr>
            <p:nvPr/>
          </p:nvSpPr>
          <p:spPr bwMode="auto">
            <a:xfrm>
              <a:off x="2716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6" name="未知"/>
            <p:cNvSpPr>
              <a:spLocks/>
            </p:cNvSpPr>
            <p:nvPr/>
          </p:nvSpPr>
          <p:spPr bwMode="auto">
            <a:xfrm>
              <a:off x="2716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7" name="未知"/>
            <p:cNvSpPr>
              <a:spLocks/>
            </p:cNvSpPr>
            <p:nvPr/>
          </p:nvSpPr>
          <p:spPr bwMode="auto">
            <a:xfrm>
              <a:off x="2716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8" name="未知"/>
            <p:cNvSpPr>
              <a:spLocks/>
            </p:cNvSpPr>
            <p:nvPr/>
          </p:nvSpPr>
          <p:spPr bwMode="auto">
            <a:xfrm>
              <a:off x="2716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09" name="未知"/>
            <p:cNvSpPr>
              <a:spLocks/>
            </p:cNvSpPr>
            <p:nvPr/>
          </p:nvSpPr>
          <p:spPr bwMode="auto">
            <a:xfrm>
              <a:off x="2716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0" name="Rectangle 86"/>
            <p:cNvSpPr>
              <a:spLocks noChangeArrowheads="1"/>
            </p:cNvSpPr>
            <p:nvPr/>
          </p:nvSpPr>
          <p:spPr bwMode="auto">
            <a:xfrm>
              <a:off x="2716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1" name="Rectangle 87"/>
            <p:cNvSpPr>
              <a:spLocks noChangeArrowheads="1"/>
            </p:cNvSpPr>
            <p:nvPr/>
          </p:nvSpPr>
          <p:spPr bwMode="auto">
            <a:xfrm>
              <a:off x="316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2" name="未知"/>
            <p:cNvSpPr>
              <a:spLocks/>
            </p:cNvSpPr>
            <p:nvPr/>
          </p:nvSpPr>
          <p:spPr bwMode="auto">
            <a:xfrm>
              <a:off x="316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3" name="未知"/>
            <p:cNvSpPr>
              <a:spLocks/>
            </p:cNvSpPr>
            <p:nvPr/>
          </p:nvSpPr>
          <p:spPr bwMode="auto">
            <a:xfrm>
              <a:off x="316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4" name="未知"/>
            <p:cNvSpPr>
              <a:spLocks/>
            </p:cNvSpPr>
            <p:nvPr/>
          </p:nvSpPr>
          <p:spPr bwMode="auto">
            <a:xfrm>
              <a:off x="316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5" name="未知"/>
            <p:cNvSpPr>
              <a:spLocks/>
            </p:cNvSpPr>
            <p:nvPr/>
          </p:nvSpPr>
          <p:spPr bwMode="auto">
            <a:xfrm>
              <a:off x="316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6" name="未知"/>
            <p:cNvSpPr>
              <a:spLocks/>
            </p:cNvSpPr>
            <p:nvPr/>
          </p:nvSpPr>
          <p:spPr bwMode="auto">
            <a:xfrm>
              <a:off x="316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7" name="未知"/>
            <p:cNvSpPr>
              <a:spLocks/>
            </p:cNvSpPr>
            <p:nvPr/>
          </p:nvSpPr>
          <p:spPr bwMode="auto">
            <a:xfrm>
              <a:off x="316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8" name="未知"/>
            <p:cNvSpPr>
              <a:spLocks/>
            </p:cNvSpPr>
            <p:nvPr/>
          </p:nvSpPr>
          <p:spPr bwMode="auto">
            <a:xfrm>
              <a:off x="316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19" name="未知"/>
            <p:cNvSpPr>
              <a:spLocks/>
            </p:cNvSpPr>
            <p:nvPr/>
          </p:nvSpPr>
          <p:spPr bwMode="auto">
            <a:xfrm>
              <a:off x="316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0" name="未知"/>
            <p:cNvSpPr>
              <a:spLocks/>
            </p:cNvSpPr>
            <p:nvPr/>
          </p:nvSpPr>
          <p:spPr bwMode="auto">
            <a:xfrm>
              <a:off x="316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1" name="未知"/>
            <p:cNvSpPr>
              <a:spLocks/>
            </p:cNvSpPr>
            <p:nvPr/>
          </p:nvSpPr>
          <p:spPr bwMode="auto">
            <a:xfrm>
              <a:off x="316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2" name="Rectangle 98"/>
            <p:cNvSpPr>
              <a:spLocks noChangeArrowheads="1"/>
            </p:cNvSpPr>
            <p:nvPr/>
          </p:nvSpPr>
          <p:spPr bwMode="auto">
            <a:xfrm>
              <a:off x="316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3" name="Rectangle 99"/>
            <p:cNvSpPr>
              <a:spLocks noChangeArrowheads="1"/>
            </p:cNvSpPr>
            <p:nvPr/>
          </p:nvSpPr>
          <p:spPr bwMode="auto">
            <a:xfrm>
              <a:off x="361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4" name="未知"/>
            <p:cNvSpPr>
              <a:spLocks/>
            </p:cNvSpPr>
            <p:nvPr/>
          </p:nvSpPr>
          <p:spPr bwMode="auto">
            <a:xfrm>
              <a:off x="361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5" name="未知"/>
            <p:cNvSpPr>
              <a:spLocks/>
            </p:cNvSpPr>
            <p:nvPr/>
          </p:nvSpPr>
          <p:spPr bwMode="auto">
            <a:xfrm>
              <a:off x="361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6" name="未知"/>
            <p:cNvSpPr>
              <a:spLocks/>
            </p:cNvSpPr>
            <p:nvPr/>
          </p:nvSpPr>
          <p:spPr bwMode="auto">
            <a:xfrm>
              <a:off x="361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7" name="未知"/>
            <p:cNvSpPr>
              <a:spLocks/>
            </p:cNvSpPr>
            <p:nvPr/>
          </p:nvSpPr>
          <p:spPr bwMode="auto">
            <a:xfrm>
              <a:off x="361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8" name="未知"/>
            <p:cNvSpPr>
              <a:spLocks/>
            </p:cNvSpPr>
            <p:nvPr/>
          </p:nvSpPr>
          <p:spPr bwMode="auto">
            <a:xfrm>
              <a:off x="361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29" name="未知"/>
            <p:cNvSpPr>
              <a:spLocks/>
            </p:cNvSpPr>
            <p:nvPr/>
          </p:nvSpPr>
          <p:spPr bwMode="auto">
            <a:xfrm>
              <a:off x="361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0" name="未知"/>
            <p:cNvSpPr>
              <a:spLocks/>
            </p:cNvSpPr>
            <p:nvPr/>
          </p:nvSpPr>
          <p:spPr bwMode="auto">
            <a:xfrm>
              <a:off x="361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1" name="未知"/>
            <p:cNvSpPr>
              <a:spLocks/>
            </p:cNvSpPr>
            <p:nvPr/>
          </p:nvSpPr>
          <p:spPr bwMode="auto">
            <a:xfrm>
              <a:off x="361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2" name="未知"/>
            <p:cNvSpPr>
              <a:spLocks/>
            </p:cNvSpPr>
            <p:nvPr/>
          </p:nvSpPr>
          <p:spPr bwMode="auto">
            <a:xfrm>
              <a:off x="361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3" name="未知"/>
            <p:cNvSpPr>
              <a:spLocks/>
            </p:cNvSpPr>
            <p:nvPr/>
          </p:nvSpPr>
          <p:spPr bwMode="auto">
            <a:xfrm>
              <a:off x="361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4" name="Rectangle 110"/>
            <p:cNvSpPr>
              <a:spLocks noChangeArrowheads="1"/>
            </p:cNvSpPr>
            <p:nvPr/>
          </p:nvSpPr>
          <p:spPr bwMode="auto">
            <a:xfrm>
              <a:off x="361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5" name="Rectangle 111"/>
            <p:cNvSpPr>
              <a:spLocks noChangeArrowheads="1"/>
            </p:cNvSpPr>
            <p:nvPr/>
          </p:nvSpPr>
          <p:spPr bwMode="auto">
            <a:xfrm>
              <a:off x="4056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6" name="未知"/>
            <p:cNvSpPr>
              <a:spLocks/>
            </p:cNvSpPr>
            <p:nvPr/>
          </p:nvSpPr>
          <p:spPr bwMode="auto">
            <a:xfrm>
              <a:off x="4056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7" name="未知"/>
            <p:cNvSpPr>
              <a:spLocks/>
            </p:cNvSpPr>
            <p:nvPr/>
          </p:nvSpPr>
          <p:spPr bwMode="auto">
            <a:xfrm>
              <a:off x="4056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8" name="未知"/>
            <p:cNvSpPr>
              <a:spLocks/>
            </p:cNvSpPr>
            <p:nvPr/>
          </p:nvSpPr>
          <p:spPr bwMode="auto">
            <a:xfrm>
              <a:off x="4056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39" name="未知"/>
            <p:cNvSpPr>
              <a:spLocks/>
            </p:cNvSpPr>
            <p:nvPr/>
          </p:nvSpPr>
          <p:spPr bwMode="auto">
            <a:xfrm>
              <a:off x="4056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0" name="未知"/>
            <p:cNvSpPr>
              <a:spLocks/>
            </p:cNvSpPr>
            <p:nvPr/>
          </p:nvSpPr>
          <p:spPr bwMode="auto">
            <a:xfrm>
              <a:off x="4056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1" name="未知"/>
            <p:cNvSpPr>
              <a:spLocks/>
            </p:cNvSpPr>
            <p:nvPr/>
          </p:nvSpPr>
          <p:spPr bwMode="auto">
            <a:xfrm>
              <a:off x="4056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2" name="未知"/>
            <p:cNvSpPr>
              <a:spLocks/>
            </p:cNvSpPr>
            <p:nvPr/>
          </p:nvSpPr>
          <p:spPr bwMode="auto">
            <a:xfrm>
              <a:off x="4056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3" name="未知"/>
            <p:cNvSpPr>
              <a:spLocks/>
            </p:cNvSpPr>
            <p:nvPr/>
          </p:nvSpPr>
          <p:spPr bwMode="auto">
            <a:xfrm>
              <a:off x="4056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4" name="未知"/>
            <p:cNvSpPr>
              <a:spLocks/>
            </p:cNvSpPr>
            <p:nvPr/>
          </p:nvSpPr>
          <p:spPr bwMode="auto">
            <a:xfrm>
              <a:off x="4056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5" name="未知"/>
            <p:cNvSpPr>
              <a:spLocks/>
            </p:cNvSpPr>
            <p:nvPr/>
          </p:nvSpPr>
          <p:spPr bwMode="auto">
            <a:xfrm>
              <a:off x="4056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6" name="Rectangle 122"/>
            <p:cNvSpPr>
              <a:spLocks noChangeArrowheads="1"/>
            </p:cNvSpPr>
            <p:nvPr/>
          </p:nvSpPr>
          <p:spPr bwMode="auto">
            <a:xfrm>
              <a:off x="4056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7" name="Rectangle 123"/>
            <p:cNvSpPr>
              <a:spLocks noChangeArrowheads="1"/>
            </p:cNvSpPr>
            <p:nvPr/>
          </p:nvSpPr>
          <p:spPr bwMode="auto">
            <a:xfrm>
              <a:off x="450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8" name="未知"/>
            <p:cNvSpPr>
              <a:spLocks/>
            </p:cNvSpPr>
            <p:nvPr/>
          </p:nvSpPr>
          <p:spPr bwMode="auto">
            <a:xfrm>
              <a:off x="450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49" name="未知"/>
            <p:cNvSpPr>
              <a:spLocks/>
            </p:cNvSpPr>
            <p:nvPr/>
          </p:nvSpPr>
          <p:spPr bwMode="auto">
            <a:xfrm>
              <a:off x="450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0" name="未知"/>
            <p:cNvSpPr>
              <a:spLocks/>
            </p:cNvSpPr>
            <p:nvPr/>
          </p:nvSpPr>
          <p:spPr bwMode="auto">
            <a:xfrm>
              <a:off x="450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1" name="未知"/>
            <p:cNvSpPr>
              <a:spLocks/>
            </p:cNvSpPr>
            <p:nvPr/>
          </p:nvSpPr>
          <p:spPr bwMode="auto">
            <a:xfrm>
              <a:off x="450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2" name="未知"/>
            <p:cNvSpPr>
              <a:spLocks/>
            </p:cNvSpPr>
            <p:nvPr/>
          </p:nvSpPr>
          <p:spPr bwMode="auto">
            <a:xfrm>
              <a:off x="450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3" name="未知"/>
            <p:cNvSpPr>
              <a:spLocks/>
            </p:cNvSpPr>
            <p:nvPr/>
          </p:nvSpPr>
          <p:spPr bwMode="auto">
            <a:xfrm>
              <a:off x="450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4" name="未知"/>
            <p:cNvSpPr>
              <a:spLocks/>
            </p:cNvSpPr>
            <p:nvPr/>
          </p:nvSpPr>
          <p:spPr bwMode="auto">
            <a:xfrm>
              <a:off x="450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5" name="未知"/>
            <p:cNvSpPr>
              <a:spLocks/>
            </p:cNvSpPr>
            <p:nvPr/>
          </p:nvSpPr>
          <p:spPr bwMode="auto">
            <a:xfrm>
              <a:off x="450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6" name="未知"/>
            <p:cNvSpPr>
              <a:spLocks/>
            </p:cNvSpPr>
            <p:nvPr/>
          </p:nvSpPr>
          <p:spPr bwMode="auto">
            <a:xfrm>
              <a:off x="450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7" name="未知"/>
            <p:cNvSpPr>
              <a:spLocks/>
            </p:cNvSpPr>
            <p:nvPr/>
          </p:nvSpPr>
          <p:spPr bwMode="auto">
            <a:xfrm>
              <a:off x="450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8" name="Rectangle 134"/>
            <p:cNvSpPr>
              <a:spLocks noChangeArrowheads="1"/>
            </p:cNvSpPr>
            <p:nvPr/>
          </p:nvSpPr>
          <p:spPr bwMode="auto">
            <a:xfrm>
              <a:off x="450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59" name="Rectangle 135"/>
            <p:cNvSpPr>
              <a:spLocks noChangeArrowheads="1"/>
            </p:cNvSpPr>
            <p:nvPr/>
          </p:nvSpPr>
          <p:spPr bwMode="auto">
            <a:xfrm>
              <a:off x="4951" y="0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0" name="未知"/>
            <p:cNvSpPr>
              <a:spLocks/>
            </p:cNvSpPr>
            <p:nvPr/>
          </p:nvSpPr>
          <p:spPr bwMode="auto">
            <a:xfrm>
              <a:off x="4951" y="202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1" name="未知"/>
            <p:cNvSpPr>
              <a:spLocks/>
            </p:cNvSpPr>
            <p:nvPr/>
          </p:nvSpPr>
          <p:spPr bwMode="auto">
            <a:xfrm>
              <a:off x="4951" y="607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2" name="未知"/>
            <p:cNvSpPr>
              <a:spLocks/>
            </p:cNvSpPr>
            <p:nvPr/>
          </p:nvSpPr>
          <p:spPr bwMode="auto">
            <a:xfrm>
              <a:off x="4951" y="101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3" name="未知"/>
            <p:cNvSpPr>
              <a:spLocks/>
            </p:cNvSpPr>
            <p:nvPr/>
          </p:nvSpPr>
          <p:spPr bwMode="auto">
            <a:xfrm>
              <a:off x="4951" y="141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4" name="未知"/>
            <p:cNvSpPr>
              <a:spLocks/>
            </p:cNvSpPr>
            <p:nvPr/>
          </p:nvSpPr>
          <p:spPr bwMode="auto">
            <a:xfrm>
              <a:off x="4951" y="182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5" name="未知"/>
            <p:cNvSpPr>
              <a:spLocks/>
            </p:cNvSpPr>
            <p:nvPr/>
          </p:nvSpPr>
          <p:spPr bwMode="auto">
            <a:xfrm>
              <a:off x="4951" y="2224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6" name="未知"/>
            <p:cNvSpPr>
              <a:spLocks/>
            </p:cNvSpPr>
            <p:nvPr/>
          </p:nvSpPr>
          <p:spPr bwMode="auto">
            <a:xfrm>
              <a:off x="4951" y="2629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7" name="未知"/>
            <p:cNvSpPr>
              <a:spLocks/>
            </p:cNvSpPr>
            <p:nvPr/>
          </p:nvSpPr>
          <p:spPr bwMode="auto">
            <a:xfrm>
              <a:off x="4951" y="303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8" name="未知"/>
            <p:cNvSpPr>
              <a:spLocks/>
            </p:cNvSpPr>
            <p:nvPr/>
          </p:nvSpPr>
          <p:spPr bwMode="auto">
            <a:xfrm>
              <a:off x="4951" y="3438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69" name="未知"/>
            <p:cNvSpPr>
              <a:spLocks/>
            </p:cNvSpPr>
            <p:nvPr/>
          </p:nvSpPr>
          <p:spPr bwMode="auto">
            <a:xfrm>
              <a:off x="4951" y="384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70" name="Rectangle 146"/>
            <p:cNvSpPr>
              <a:spLocks noChangeArrowheads="1"/>
            </p:cNvSpPr>
            <p:nvPr/>
          </p:nvSpPr>
          <p:spPr bwMode="auto">
            <a:xfrm>
              <a:off x="4951" y="4246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171" name="未知"/>
            <p:cNvSpPr>
              <a:spLocks/>
            </p:cNvSpPr>
            <p:nvPr/>
          </p:nvSpPr>
          <p:spPr bwMode="auto">
            <a:xfrm>
              <a:off x="0" y="3281"/>
              <a:ext cx="20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</p:grpSp>
      <p:sp>
        <p:nvSpPr>
          <p:cNvPr id="1027" name="Rectangle 148"/>
          <p:cNvSpPr>
            <a:spLocks noGrp="1" noChangeArrowheads="1"/>
          </p:cNvSpPr>
          <p:nvPr>
            <p:ph type="title"/>
          </p:nvPr>
        </p:nvSpPr>
        <p:spPr bwMode="auto">
          <a:xfrm>
            <a:off x="397933" y="228600"/>
            <a:ext cx="1138766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14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667" y="1628775"/>
            <a:ext cx="1087120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74" name="Rectangle 15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95834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45F089F6-4735-40E9-9E00-4CEF753B9EA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30" name="Picture 151" descr="xbhs"/>
          <p:cNvPicPr>
            <a:picLocks noChangeAspect="1" noChangeArrowheads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6305"/>
          <a:stretch>
            <a:fillRect/>
          </a:stretch>
        </p:blipFill>
        <p:spPr bwMode="auto">
          <a:xfrm>
            <a:off x="334434" y="4005264"/>
            <a:ext cx="86571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152" descr="xbhs"/>
          <p:cNvPicPr>
            <a:picLocks noChangeAspect="1" noChangeArrowheads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6305"/>
          <a:stretch>
            <a:fillRect/>
          </a:stretch>
        </p:blipFill>
        <p:spPr bwMode="auto">
          <a:xfrm>
            <a:off x="1295400" y="3429001"/>
            <a:ext cx="86571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53" descr="xbhs"/>
          <p:cNvPicPr>
            <a:picLocks noChangeAspect="1" noChangeArrowheads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6305"/>
          <a:stretch>
            <a:fillRect/>
          </a:stretch>
        </p:blipFill>
        <p:spPr bwMode="auto">
          <a:xfrm>
            <a:off x="1295400" y="4652964"/>
            <a:ext cx="86571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54" descr="xbhs"/>
          <p:cNvPicPr>
            <a:picLocks noChangeAspect="1" noChangeArrowheads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6305"/>
          <a:stretch>
            <a:fillRect/>
          </a:stretch>
        </p:blipFill>
        <p:spPr bwMode="auto">
          <a:xfrm>
            <a:off x="334434" y="5373689"/>
            <a:ext cx="86571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55" descr="xbhs"/>
          <p:cNvPicPr>
            <a:picLocks noChangeAspect="1" noChangeArrowheads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6305"/>
          <a:stretch>
            <a:fillRect/>
          </a:stretch>
        </p:blipFill>
        <p:spPr bwMode="auto">
          <a:xfrm>
            <a:off x="1295400" y="6043614"/>
            <a:ext cx="86571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56" descr="02_02"/>
          <p:cNvPicPr>
            <a:picLocks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5826126"/>
            <a:ext cx="43688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52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70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7E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8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Blip>
          <a:blip r:embed="rId19"/>
        </a:buBlip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anose="05020102010507070707" pitchFamily="18" charset="2"/>
        <a:buBlip>
          <a:blip r:embed="rId18"/>
        </a:buBlip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Blip>
          <a:blip r:embed="rId19"/>
        </a:buBlip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 2" panose="05020102010507070707" pitchFamily="18" charset="2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4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baike.baidu.com/item/CTA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b="1" dirty="0" smtClean="0">
                <a:solidFill>
                  <a:srgbClr val="000090"/>
                </a:solidFill>
                <a:latin typeface="黑体" pitchFamily="49" charset="-122"/>
                <a:ea typeface="黑体" pitchFamily="49" charset="-122"/>
              </a:rPr>
              <a:t>三维</a:t>
            </a:r>
            <a:r>
              <a:rPr lang="zh-CN" altLang="en-US" sz="4400" b="1" dirty="0" smtClean="0">
                <a:solidFill>
                  <a:srgbClr val="000090"/>
                </a:solidFill>
                <a:latin typeface="黑体" pitchFamily="49" charset="-122"/>
                <a:ea typeface="黑体" pitchFamily="49" charset="-122"/>
              </a:rPr>
              <a:t>流场的观察与量测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910080" y="3883401"/>
            <a:ext cx="9875520" cy="1752600"/>
          </a:xfrm>
        </p:spPr>
        <p:txBody>
          <a:bodyPr>
            <a:normAutofit/>
          </a:bodyPr>
          <a:lstStyle/>
          <a:p>
            <a:pPr algn="r"/>
            <a:r>
              <a:rPr lang="zh-CN" altLang="en-US" sz="4800" dirty="0" smtClean="0"/>
              <a:t>孔</a:t>
            </a:r>
            <a:r>
              <a:rPr lang="zh-CN" altLang="en-US" sz="4800" dirty="0"/>
              <a:t>庆</a:t>
            </a:r>
            <a:r>
              <a:rPr lang="zh-CN" altLang="en-US" sz="4800" dirty="0" smtClean="0"/>
              <a:t>蓉</a:t>
            </a:r>
            <a:endParaRPr lang="en-US" altLang="zh-CN" sz="4800" dirty="0" smtClean="0"/>
          </a:p>
          <a:p>
            <a:pPr algn="r"/>
            <a:r>
              <a:rPr lang="en-US" altLang="zh-CN" sz="4800" dirty="0" smtClean="0"/>
              <a:t>2020</a:t>
            </a:r>
            <a:r>
              <a:rPr lang="zh-CN" altLang="en-US" sz="4800" dirty="0" smtClean="0"/>
              <a:t>年</a:t>
            </a:r>
            <a:r>
              <a:rPr lang="en-US" altLang="zh-CN" sz="4800" dirty="0" smtClean="0"/>
              <a:t>3</a:t>
            </a:r>
            <a:r>
              <a:rPr lang="zh-CN" altLang="en-US" sz="4800" dirty="0" smtClean="0"/>
              <a:t>月</a:t>
            </a:r>
            <a:r>
              <a:rPr lang="en-US" altLang="zh-CN" sz="4800" dirty="0" smtClean="0"/>
              <a:t>9</a:t>
            </a:r>
            <a:r>
              <a:rPr lang="zh-CN" altLang="en-US" sz="4800" dirty="0" smtClean="0"/>
              <a:t>日</a:t>
            </a:r>
            <a:endParaRPr lang="zh-CN" altLang="en-US" sz="4800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61466"/>
            <a:ext cx="827856" cy="760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 descr="C:\Users\think\AppData\Local\Temp\mx3C1B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480" y="361467"/>
            <a:ext cx="1993829" cy="76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715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什么是流体？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667" y="1628775"/>
            <a:ext cx="6720224" cy="4498975"/>
          </a:xfrm>
        </p:spPr>
        <p:txBody>
          <a:bodyPr/>
          <a:lstStyle/>
          <a:p>
            <a:r>
              <a:rPr lang="zh-CN" altLang="zh-CN" dirty="0"/>
              <a:t>流体是液体和气体的统称，由液体分子和气体分子组成，分子之间有一定距离</a:t>
            </a:r>
            <a:r>
              <a:rPr lang="zh-CN" altLang="zh-CN" dirty="0" smtClean="0"/>
              <a:t>。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852" y="800099"/>
            <a:ext cx="4210846" cy="28852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189" y="3527425"/>
            <a:ext cx="6858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什么是流场？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0363" y="3075709"/>
            <a:ext cx="9720503" cy="3052041"/>
          </a:xfrm>
        </p:spPr>
        <p:txBody>
          <a:bodyPr/>
          <a:lstStyle/>
          <a:p>
            <a:pPr marL="0" indent="0">
              <a:spcBef>
                <a:spcPct val="50000"/>
              </a:spcBef>
              <a:buNone/>
            </a:pPr>
            <a:r>
              <a:rPr lang="zh-CN" altLang="en-US" sz="3600" b="1" dirty="0" smtClean="0"/>
              <a:t>   流场</a:t>
            </a:r>
            <a:r>
              <a:rPr lang="zh-CN" altLang="en-US" sz="3600" b="1" dirty="0"/>
              <a:t>：流体流动的全部范围叫流场，或连续介质模型描述的流体叫流场，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dirty="0" smtClean="0"/>
              <a:t>             流体</a:t>
            </a:r>
            <a:r>
              <a:rPr lang="zh-CN" altLang="en-US" dirty="0"/>
              <a:t>的速度、压强、温度、密度、浓度等属性都可看做时间和空间的连续函数，从而可以利用数学上连续函数的方法来定量描述。</a:t>
            </a:r>
          </a:p>
        </p:txBody>
      </p:sp>
      <p:sp>
        <p:nvSpPr>
          <p:cNvPr id="4" name="矩形 3"/>
          <p:cNvSpPr/>
          <p:nvPr/>
        </p:nvSpPr>
        <p:spPr>
          <a:xfrm>
            <a:off x="706583" y="1607128"/>
            <a:ext cx="7910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u="sng" dirty="0"/>
              <a:t>流动性是流体的基本物理属性。 流动性是指流体在剪切力作用下发生连续变形、平衡破坏、产生流动，或者说流体在静止时不能承受任何剪切力。 易流动性还表现在流体不能承受拉力。</a:t>
            </a:r>
            <a:endParaRPr lang="zh-CN" altLang="en-US" u="sng" dirty="0"/>
          </a:p>
        </p:txBody>
      </p:sp>
    </p:spTree>
    <p:extLst>
      <p:ext uri="{BB962C8B-B14F-4D97-AF65-F5344CB8AC3E}">
        <p14:creationId xmlns:p14="http://schemas.microsoft.com/office/powerpoint/2010/main" val="144176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600" dirty="0" smtClean="0"/>
              <a:t>流线 </a:t>
            </a:r>
            <a:endParaRPr lang="zh-CN" altLang="en-US" sz="3600" dirty="0"/>
          </a:p>
        </p:txBody>
      </p:sp>
      <p:sp>
        <p:nvSpPr>
          <p:cNvPr id="829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828800" y="1557338"/>
            <a:ext cx="8540750" cy="38862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流线是在同一瞬时流场中连续的不同位置质点的流动方向线。即某时刻在流场中所画的一条曲线，在这条曲线上任一点的切线方向就是该点上流体质点的速度方向。 </a:t>
            </a:r>
          </a:p>
        </p:txBody>
      </p:sp>
      <p:pic>
        <p:nvPicPr>
          <p:cNvPr id="82948" name="Picture 4" descr="untitled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3429001"/>
            <a:ext cx="3240088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7175500" y="6021388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zh-CN" sz="2400"/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7319964" y="609282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/>
              <a:t>图</a:t>
            </a:r>
            <a:r>
              <a:rPr lang="en-US" altLang="zh-CN" sz="2400"/>
              <a:t>2.4   </a:t>
            </a:r>
            <a:r>
              <a:rPr lang="zh-CN" altLang="en-US" sz="2400"/>
              <a:t>流线 </a:t>
            </a:r>
          </a:p>
        </p:txBody>
      </p:sp>
    </p:spTree>
    <p:extLst>
      <p:ext uri="{BB962C8B-B14F-4D97-AF65-F5344CB8AC3E}">
        <p14:creationId xmlns:p14="http://schemas.microsoft.com/office/powerpoint/2010/main" val="66750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7" grpId="0" build="p"/>
      <p:bldP spid="829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飞机和汽车的周围流场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79" y="2176752"/>
            <a:ext cx="3875957" cy="3443084"/>
          </a:xfrm>
          <a:prstGeom prst="rect">
            <a:avLst/>
          </a:prstGeom>
        </p:spPr>
      </p:pic>
      <p:pic>
        <p:nvPicPr>
          <p:cNvPr id="8" name="内容占位符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7" y="2259273"/>
            <a:ext cx="5334000" cy="336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053667" y="1628775"/>
            <a:ext cx="5537200" cy="4498975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606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大气层的台风流场分布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19667" y="5153891"/>
            <a:ext cx="5334000" cy="973859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66" y="1781175"/>
            <a:ext cx="5552600" cy="3119438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256867" y="5153891"/>
            <a:ext cx="5334000" cy="973859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3188" y="1779665"/>
            <a:ext cx="4622450" cy="3179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19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螺旋桨和水轮机的内部流场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38" y="2315871"/>
            <a:ext cx="5334000" cy="3124782"/>
          </a:xfr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88" y="2210666"/>
            <a:ext cx="4094157" cy="307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2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zh-CN" altLang="en-US" b="1"/>
              <a:t>伯努利简介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458200" cy="5181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                            尼尔．伯努利，</a:t>
            </a:r>
            <a:r>
              <a:rPr lang="en-US" altLang="zh-CN" sz="2800">
                <a:solidFill>
                  <a:srgbClr val="000000"/>
                </a:solidFill>
              </a:rPr>
              <a:t>1700</a:t>
            </a:r>
            <a:r>
              <a:rPr lang="zh-CN" altLang="en-US" sz="2800">
                <a:solidFill>
                  <a:srgbClr val="000000"/>
                </a:solidFill>
              </a:rPr>
              <a:t>年</a:t>
            </a:r>
            <a:r>
              <a:rPr lang="en-US" altLang="zh-CN" sz="2800">
                <a:solidFill>
                  <a:srgbClr val="000000"/>
                </a:solidFill>
              </a:rPr>
              <a:t>1</a:t>
            </a:r>
            <a:r>
              <a:rPr lang="zh-CN" altLang="en-US" sz="2800">
                <a:solidFill>
                  <a:srgbClr val="000000"/>
                </a:solidFill>
              </a:rPr>
              <a:t>月</a:t>
            </a:r>
            <a:r>
              <a:rPr lang="en-US" altLang="zh-CN" sz="2800">
                <a:solidFill>
                  <a:srgbClr val="000000"/>
                </a:solidFill>
              </a:rPr>
              <a:t>29</a:t>
            </a:r>
            <a:r>
              <a:rPr lang="zh-CN" altLang="en-US" sz="2800">
                <a:solidFill>
                  <a:srgbClr val="000000"/>
                </a:solidFill>
              </a:rPr>
              <a:t>日生</a:t>
            </a:r>
            <a:br>
              <a:rPr lang="zh-CN" altLang="en-US" sz="2800">
                <a:solidFill>
                  <a:srgbClr val="000000"/>
                </a:solidFill>
              </a:rPr>
            </a:br>
            <a:r>
              <a:rPr lang="zh-CN" altLang="en-US" sz="2800">
                <a:solidFill>
                  <a:srgbClr val="000000"/>
                </a:solidFill>
              </a:rPr>
              <a:t>                    于尼德兰的格罗宁根。</a:t>
            </a:r>
            <a:r>
              <a:rPr lang="en-US" altLang="zh-CN" sz="2800">
                <a:solidFill>
                  <a:srgbClr val="000000"/>
                </a:solidFill>
              </a:rPr>
              <a:t>1724</a:t>
            </a:r>
            <a:r>
              <a:rPr lang="zh-CN" altLang="en-US" sz="2800">
                <a:solidFill>
                  <a:srgbClr val="000000"/>
                </a:solidFill>
              </a:rPr>
              <a:t>年，尼尔</a:t>
            </a:r>
            <a:br>
              <a:rPr lang="zh-CN" altLang="en-US" sz="2800">
                <a:solidFill>
                  <a:srgbClr val="000000"/>
                </a:solidFill>
              </a:rPr>
            </a:br>
            <a:r>
              <a:rPr lang="zh-CN" altLang="en-US" sz="2800">
                <a:solidFill>
                  <a:srgbClr val="000000"/>
                </a:solidFill>
              </a:rPr>
              <a:t>                    获得有关微积分方程的重要成果，从而</a:t>
            </a:r>
            <a:br>
              <a:rPr lang="zh-CN" altLang="en-US" sz="2800">
                <a:solidFill>
                  <a:srgbClr val="000000"/>
                </a:solidFill>
              </a:rPr>
            </a:br>
            <a:r>
              <a:rPr lang="zh-CN" altLang="en-US" sz="2800">
                <a:solidFill>
                  <a:srgbClr val="000000"/>
                </a:solidFill>
              </a:rPr>
              <a:t>                    轰动欧洲科学界。他著名的</a:t>
            </a:r>
            <a:r>
              <a:rPr lang="en-US" altLang="zh-CN" sz="2800">
                <a:solidFill>
                  <a:srgbClr val="000000"/>
                </a:solidFill>
              </a:rPr>
              <a:t>《</a:t>
            </a:r>
            <a:r>
              <a:rPr lang="zh-CN" altLang="en-US" sz="2800">
                <a:solidFill>
                  <a:srgbClr val="000000"/>
                </a:solidFill>
              </a:rPr>
              <a:t>流体力学</a:t>
            </a:r>
            <a:br>
              <a:rPr lang="zh-CN" altLang="en-US" sz="2800">
                <a:solidFill>
                  <a:srgbClr val="000000"/>
                </a:solidFill>
              </a:rPr>
            </a:br>
            <a:r>
              <a:rPr lang="zh-CN" altLang="en-US" sz="2800">
                <a:solidFill>
                  <a:srgbClr val="000000"/>
                </a:solidFill>
              </a:rPr>
              <a:t>                    </a:t>
            </a:r>
            <a:r>
              <a:rPr lang="en-US" altLang="zh-CN" sz="2800">
                <a:solidFill>
                  <a:srgbClr val="000000"/>
                </a:solidFill>
              </a:rPr>
              <a:t>》</a:t>
            </a:r>
            <a:r>
              <a:rPr lang="zh-CN" altLang="en-US" sz="2800">
                <a:solidFill>
                  <a:srgbClr val="000000"/>
                </a:solidFill>
              </a:rPr>
              <a:t>一书影响深远。他同时是气体动力学</a:t>
            </a:r>
            <a:br>
              <a:rPr lang="zh-CN" altLang="en-US" sz="2800">
                <a:solidFill>
                  <a:srgbClr val="000000"/>
                </a:solidFill>
              </a:rPr>
            </a:br>
            <a:r>
              <a:rPr lang="zh-CN" altLang="en-US" sz="2800">
                <a:solidFill>
                  <a:srgbClr val="000000"/>
                </a:solidFill>
              </a:rPr>
              <a:t>                   专家。</a:t>
            </a: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endParaRPr lang="zh-CN" altLang="en-US" sz="28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　　</a:t>
            </a:r>
            <a:r>
              <a:rPr lang="en-US" altLang="zh-CN" sz="2800">
                <a:solidFill>
                  <a:srgbClr val="000000"/>
                </a:solidFill>
              </a:rPr>
              <a:t>1726</a:t>
            </a:r>
            <a:r>
              <a:rPr lang="zh-CN" altLang="en-US" sz="2800">
                <a:solidFill>
                  <a:srgbClr val="000000"/>
                </a:solidFill>
              </a:rPr>
              <a:t>年，伯努利通过无数次实验，发现了</a:t>
            </a: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800">
                <a:solidFill>
                  <a:srgbClr val="000000"/>
                </a:solidFill>
              </a:rPr>
              <a:t>边界层表面效应</a:t>
            </a: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>
                <a:solidFill>
                  <a:srgbClr val="000000"/>
                </a:solidFill>
              </a:rPr>
              <a:t>：流体速度加快时。物体与流体接触的界面上的压力会减小，反之压力会增加。为纪念这位科学家的贡献，这一发现被称为</a:t>
            </a: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800">
                <a:solidFill>
                  <a:srgbClr val="000000"/>
                </a:solidFill>
              </a:rPr>
              <a:t>伯努利效应</a:t>
            </a: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>
                <a:solidFill>
                  <a:srgbClr val="000000"/>
                </a:solidFill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        伯努利效应适用于包括气体在内的一切流体。 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9" y="404814"/>
            <a:ext cx="2363787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629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990600"/>
            <a:ext cx="7772400" cy="1143000"/>
          </a:xfrm>
          <a:noFill/>
          <a:ln/>
        </p:spPr>
        <p:txBody>
          <a:bodyPr/>
          <a:lstStyle/>
          <a:p>
            <a:r>
              <a:rPr lang="zh-CN" altLang="en-US" sz="6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压强跟流速的关系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2743200"/>
            <a:ext cx="8229600" cy="1905000"/>
          </a:xfrm>
          <a:noFill/>
          <a:ln/>
        </p:spPr>
        <p:txBody>
          <a:bodyPr/>
          <a:lstStyle/>
          <a:p>
            <a:r>
              <a:rPr lang="zh-CN" altLang="en-US" sz="5400">
                <a:solidFill>
                  <a:srgbClr val="000000"/>
                </a:solidFill>
              </a:rPr>
              <a:t>流速大的地方</a:t>
            </a:r>
            <a:r>
              <a:rPr lang="en-US" altLang="zh-CN" sz="540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5400">
                <a:solidFill>
                  <a:srgbClr val="000000"/>
                </a:solidFill>
              </a:rPr>
              <a:t>压强小</a:t>
            </a:r>
          </a:p>
          <a:p>
            <a:r>
              <a:rPr lang="zh-CN" altLang="en-US" sz="5400">
                <a:solidFill>
                  <a:srgbClr val="000000"/>
                </a:solidFill>
              </a:rPr>
              <a:t>流速小的地方</a:t>
            </a:r>
            <a:r>
              <a:rPr lang="en-US" altLang="zh-CN" sz="540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5400">
                <a:solidFill>
                  <a:srgbClr val="000000"/>
                </a:solidFill>
              </a:rPr>
              <a:t>压强大</a:t>
            </a:r>
          </a:p>
        </p:txBody>
      </p:sp>
    </p:spTree>
    <p:extLst>
      <p:ext uri="{BB962C8B-B14F-4D97-AF65-F5344CB8AC3E}">
        <p14:creationId xmlns:p14="http://schemas.microsoft.com/office/powerpoint/2010/main" val="8402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3581400" cy="914400"/>
          </a:xfrm>
        </p:spPr>
        <p:txBody>
          <a:bodyPr/>
          <a:lstStyle/>
          <a:p>
            <a:r>
              <a:rPr lang="zh-CN" altLang="en-US" sz="36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应用－</a:t>
            </a:r>
            <a:r>
              <a:rPr lang="en-US" altLang="zh-CN" sz="36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14400"/>
            <a:ext cx="8290560" cy="68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4400" dirty="0" smtClean="0">
                <a:solidFill>
                  <a:srgbClr val="000000"/>
                </a:solidFill>
              </a:rPr>
              <a:t>并排行驶的轮船</a:t>
            </a:r>
            <a:r>
              <a:rPr lang="zh-CN" altLang="en-US" sz="4400" dirty="0">
                <a:solidFill>
                  <a:srgbClr val="000000"/>
                </a:solidFill>
              </a:rPr>
              <a:t>为什么会相撞</a:t>
            </a:r>
            <a:r>
              <a:rPr lang="en-US" altLang="zh-CN" sz="4400" dirty="0">
                <a:solidFill>
                  <a:srgbClr val="000000"/>
                </a:solidFill>
              </a:rPr>
              <a:t>?</a:t>
            </a:r>
            <a:endParaRPr lang="en-US" altLang="zh-CN" sz="3400" dirty="0">
              <a:solidFill>
                <a:srgbClr val="000000"/>
              </a:solidFill>
            </a:endParaRPr>
          </a:p>
        </p:txBody>
      </p:sp>
      <p:pic>
        <p:nvPicPr>
          <p:cNvPr id="11268" name="Picture 4" descr="msotw9_temp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752601"/>
            <a:ext cx="556260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362200" y="4572001"/>
            <a:ext cx="7010400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zh-CN" sz="3400">
                <a:solidFill>
                  <a:srgbClr val="000000"/>
                </a:solidFill>
                <a:latin typeface="Times New Roman" panose="02020603050405020304" pitchFamily="18" charset="0"/>
              </a:rPr>
              <a:t>两船之间的水流流速大，压强小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zh-CN" sz="3400">
                <a:solidFill>
                  <a:srgbClr val="000000"/>
                </a:solidFill>
                <a:latin typeface="Times New Roman" panose="02020603050405020304" pitchFamily="18" charset="0"/>
              </a:rPr>
              <a:t>两船外侧的水流流速小，压强大</a:t>
            </a:r>
          </a:p>
        </p:txBody>
      </p:sp>
    </p:spTree>
    <p:extLst>
      <p:ext uri="{BB962C8B-B14F-4D97-AF65-F5344CB8AC3E}">
        <p14:creationId xmlns:p14="http://schemas.microsoft.com/office/powerpoint/2010/main" val="364657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404813"/>
            <a:ext cx="3657600" cy="914400"/>
          </a:xfrm>
        </p:spPr>
        <p:txBody>
          <a:bodyPr/>
          <a:lstStyle/>
          <a:p>
            <a:r>
              <a:rPr lang="zh-CN" altLang="en-US" sz="36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应用－</a:t>
            </a:r>
            <a:r>
              <a:rPr lang="en-US" altLang="zh-CN" sz="36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0" y="1943100"/>
            <a:ext cx="6172200" cy="144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4400" dirty="0">
                <a:solidFill>
                  <a:srgbClr val="000000"/>
                </a:solidFill>
              </a:rPr>
              <a:t>吹不开纸的原因</a:t>
            </a:r>
          </a:p>
          <a:p>
            <a:pPr>
              <a:lnSpc>
                <a:spcPct val="90000"/>
              </a:lnSpc>
            </a:pPr>
            <a:r>
              <a:rPr lang="zh-CN" altLang="en-US" sz="4400" dirty="0" smtClean="0">
                <a:solidFill>
                  <a:srgbClr val="000000"/>
                </a:solidFill>
              </a:rPr>
              <a:t>乒乓球</a:t>
            </a:r>
            <a:r>
              <a:rPr lang="zh-CN" altLang="en-US" sz="4400" dirty="0">
                <a:solidFill>
                  <a:srgbClr val="000000"/>
                </a:solidFill>
              </a:rPr>
              <a:t>吹不落的</a:t>
            </a:r>
            <a:r>
              <a:rPr lang="zh-CN" altLang="en-US" sz="4400" dirty="0" smtClean="0">
                <a:solidFill>
                  <a:srgbClr val="000000"/>
                </a:solidFill>
              </a:rPr>
              <a:t>秘密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74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27432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4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小实验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8" y="2205039"/>
            <a:ext cx="4876800" cy="28082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sz="4000" b="1">
                <a:solidFill>
                  <a:srgbClr val="000000"/>
                </a:solidFill>
              </a:rPr>
              <a:t>吹不开的纸</a:t>
            </a:r>
          </a:p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endParaRPr lang="zh-CN" altLang="en-US" sz="4000" b="1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endParaRPr lang="zh-CN" altLang="en-US" sz="4000" b="1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sz="4000" b="1">
                <a:solidFill>
                  <a:srgbClr val="000000"/>
                </a:solidFill>
              </a:rPr>
              <a:t>吹不落的乒乓球</a:t>
            </a:r>
          </a:p>
          <a:p>
            <a:pPr>
              <a:lnSpc>
                <a:spcPct val="90000"/>
              </a:lnSpc>
              <a:buClrTx/>
              <a:buFont typeface="Wingdings" panose="05000000000000000000" pitchFamily="2" charset="2"/>
              <a:buNone/>
            </a:pPr>
            <a:endParaRPr lang="zh-CN" altLang="en-US" sz="4000" b="1">
              <a:solidFill>
                <a:srgbClr val="000000"/>
              </a:solidFill>
            </a:endParaRPr>
          </a:p>
        </p:txBody>
      </p:sp>
      <p:pic>
        <p:nvPicPr>
          <p:cNvPr id="8196" name="Picture 4" descr="吹乒乓球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5" y="3860800"/>
            <a:ext cx="2819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 descr="吹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5" y="333376"/>
            <a:ext cx="2819400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489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5" t="14842" r="925" b="25792"/>
          <a:stretch>
            <a:fillRect/>
          </a:stretch>
        </p:blipFill>
        <p:spPr bwMode="auto">
          <a:xfrm>
            <a:off x="2927350" y="4221163"/>
            <a:ext cx="69850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003.jpg"/>
          <p:cNvPicPr>
            <a:picLocks noChangeAspect="1"/>
          </p:cNvPicPr>
          <p:nvPr/>
        </p:nvPicPr>
        <p:blipFill rotWithShape="1">
          <a:blip r:embed="rId3" cstate="print">
            <a:lum bright="7000"/>
          </a:blip>
          <a:srcRect t="65936"/>
          <a:stretch/>
        </p:blipFill>
        <p:spPr>
          <a:xfrm>
            <a:off x="485566" y="295980"/>
            <a:ext cx="2257634" cy="32562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484" name="标题 1"/>
          <p:cNvSpPr>
            <a:spLocks noGrp="1"/>
          </p:cNvSpPr>
          <p:nvPr>
            <p:ph type="title"/>
          </p:nvPr>
        </p:nvSpPr>
        <p:spPr>
          <a:xfrm>
            <a:off x="2989263" y="41276"/>
            <a:ext cx="8229600" cy="928687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飞机为什么升起来</a:t>
            </a:r>
            <a:endParaRPr lang="zh-CN" altLang="en-US" dirty="0" smtClean="0">
              <a:latin typeface="宋体" panose="02010600030101010101" pitchFamily="2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524001" y="642938"/>
            <a:ext cx="8340725" cy="74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70C0"/>
              </a:buClr>
              <a:buFont typeface="Wingdings" pitchFamily="2" charset="2"/>
              <a:buChar char="Ø"/>
              <a:defRPr/>
            </a:pPr>
            <a:r>
              <a:rPr lang="zh-CN" altLang="en-US" sz="2400" kern="0" dirty="0">
                <a:latin typeface="宋体" pitchFamily="2" charset="-122"/>
              </a:rPr>
              <a:t>飞机升力的</a:t>
            </a:r>
            <a:r>
              <a:rPr lang="zh-CN" altLang="en-US" sz="2400" kern="0" dirty="0" smtClean="0">
                <a:latin typeface="宋体" pitchFamily="2" charset="-122"/>
              </a:rPr>
              <a:t>产生</a:t>
            </a:r>
            <a:endParaRPr lang="en-US" altLang="zh-CN" sz="2400" kern="0" dirty="0">
              <a:latin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altLang="zh-CN" sz="2400" kern="0" dirty="0">
                <a:latin typeface="宋体" pitchFamily="2" charset="-122"/>
              </a:rPr>
              <a:t>      </a:t>
            </a:r>
          </a:p>
          <a:p>
            <a:pPr marL="342900" indent="-342900">
              <a:spcBef>
                <a:spcPct val="20000"/>
              </a:spcBef>
              <a:buClr>
                <a:srgbClr val="0070C0"/>
              </a:buClr>
              <a:defRPr/>
            </a:pPr>
            <a:endParaRPr lang="en-US" altLang="zh-CN" sz="3600" kern="0" dirty="0"/>
          </a:p>
        </p:txBody>
      </p:sp>
      <p:sp>
        <p:nvSpPr>
          <p:cNvPr id="20486" name="矩形 7"/>
          <p:cNvSpPr>
            <a:spLocks noChangeArrowheads="1"/>
          </p:cNvSpPr>
          <p:nvPr/>
        </p:nvSpPr>
        <p:spPr bwMode="auto">
          <a:xfrm>
            <a:off x="2024063" y="1214439"/>
            <a:ext cx="50800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宋体" panose="02010600030101010101" pitchFamily="2" charset="-122"/>
              </a:rPr>
              <a:t> 飞机的应用：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lvl="1" eaLnBrk="1" hangingPunct="1">
              <a:buClr>
                <a:srgbClr val="0070C0"/>
              </a:buClr>
            </a:pPr>
            <a:r>
              <a:rPr lang="en-US" altLang="zh-CN" sz="2000" dirty="0">
                <a:latin typeface="Calibri" panose="020F0502020204030204" pitchFamily="34" charset="0"/>
              </a:rPr>
              <a:t>           </a:t>
            </a:r>
            <a:r>
              <a:rPr lang="zh-CN" altLang="zh-CN" sz="2000" dirty="0">
                <a:latin typeface="Calibri" panose="020F0502020204030204" pitchFamily="34" charset="0"/>
              </a:rPr>
              <a:t>这个原理也被应用于飞机的机翼。飞机的主翼在安装时，相对于气流的运动方向成一定角度，这个角度被称为</a:t>
            </a:r>
            <a:r>
              <a:rPr lang="zh-CN" altLang="zh-CN" sz="2000" b="1" dirty="0">
                <a:latin typeface="Calibri" panose="020F0502020204030204" pitchFamily="34" charset="0"/>
              </a:rPr>
              <a:t>迎角</a:t>
            </a:r>
            <a:r>
              <a:rPr lang="zh-CN" altLang="zh-CN" sz="2000" dirty="0">
                <a:latin typeface="Calibri" panose="020F0502020204030204" pitchFamily="34" charset="0"/>
              </a:rPr>
              <a:t>。机翼的下侧面的气流因此向下偏转，上侧面的气流沿着翼面流动，最终向斜下方向流出。这样，机翼的上下面的气流都是向下偏转，受其反作用力，机翼获得了升力 。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0487" name="图片 9" descr="http://hiphotos.baidu.com/8121/pic/item/ba43ebcd16467b510eb345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63" y="1628776"/>
            <a:ext cx="3313112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231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7772400" cy="1143000"/>
          </a:xfrm>
          <a:noFill/>
          <a:ln/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思考－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914400"/>
            <a:ext cx="8610600" cy="1295400"/>
          </a:xfrm>
          <a:noFill/>
          <a:ln/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        讨论为什么乒乓球中的上旋球的飞行弧线比不转球的飞行弧线低</a:t>
            </a:r>
          </a:p>
        </p:txBody>
      </p:sp>
      <p:pic>
        <p:nvPicPr>
          <p:cNvPr id="13316" name="Picture 4" descr="msotw9_temp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989139"/>
            <a:ext cx="5308600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4456114"/>
            <a:ext cx="5948362" cy="240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38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7772400" cy="1143000"/>
          </a:xfrm>
          <a:noFill/>
          <a:ln/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思考－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066800"/>
            <a:ext cx="7772400" cy="1143000"/>
          </a:xfrm>
          <a:noFill/>
          <a:ln/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试解释演示喷雾器的原理</a:t>
            </a:r>
          </a:p>
        </p:txBody>
      </p:sp>
      <p:pic>
        <p:nvPicPr>
          <p:cNvPr id="14340" name="Picture 4" descr="msotw9_temp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2852739"/>
            <a:ext cx="3311525" cy="303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 descr="image0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2133601"/>
            <a:ext cx="4311650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7542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550" y="341313"/>
            <a:ext cx="27432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其它应用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598614"/>
            <a:ext cx="7848600" cy="4638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</a:rPr>
              <a:t>靠近高速行驶的列车</a:t>
            </a:r>
          </a:p>
          <a:p>
            <a:r>
              <a:rPr lang="zh-CN" altLang="en-US" b="1" dirty="0">
                <a:solidFill>
                  <a:srgbClr val="000000"/>
                </a:solidFill>
              </a:rPr>
              <a:t>湍急的江河里游泳</a:t>
            </a:r>
          </a:p>
          <a:p>
            <a:r>
              <a:rPr lang="zh-CN" altLang="en-US" b="1" dirty="0">
                <a:solidFill>
                  <a:srgbClr val="000000"/>
                </a:solidFill>
              </a:rPr>
              <a:t>水柱的吸力</a:t>
            </a:r>
          </a:p>
          <a:p>
            <a:r>
              <a:rPr lang="zh-CN" altLang="en-US" b="1" dirty="0">
                <a:solidFill>
                  <a:srgbClr val="000000"/>
                </a:solidFill>
              </a:rPr>
              <a:t>鸡蛋的</a:t>
            </a:r>
            <a:r>
              <a:rPr lang="zh-CN" altLang="en-US" b="1" dirty="0" smtClean="0">
                <a:solidFill>
                  <a:srgbClr val="000000"/>
                </a:solidFill>
              </a:rPr>
              <a:t>浮沉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273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76425" y="549275"/>
            <a:ext cx="8540750" cy="1143000"/>
          </a:xfrm>
        </p:spPr>
        <p:txBody>
          <a:bodyPr/>
          <a:lstStyle/>
          <a:p>
            <a:r>
              <a:rPr lang="en-US" altLang="zh-CN" sz="4000" dirty="0" smtClean="0">
                <a:solidFill>
                  <a:schemeClr val="tx1"/>
                </a:solidFill>
              </a:rPr>
              <a:t> </a:t>
            </a:r>
            <a:r>
              <a:rPr lang="zh-CN" altLang="en-US" sz="4000" dirty="0">
                <a:solidFill>
                  <a:schemeClr val="tx1"/>
                </a:solidFill>
              </a:rPr>
              <a:t>连续介质、质点、微团、控制体</a:t>
            </a:r>
          </a:p>
        </p:txBody>
      </p:sp>
      <p:sp>
        <p:nvSpPr>
          <p:cNvPr id="17414" name="Rectangle 6"/>
          <p:cNvSpPr>
            <a:spLocks noGrp="1" noRot="1" noChangeArrowheads="1"/>
          </p:cNvSpPr>
          <p:nvPr>
            <p:ph type="body" idx="1"/>
          </p:nvPr>
        </p:nvSpPr>
        <p:spPr>
          <a:xfrm>
            <a:off x="1825625" y="1600201"/>
            <a:ext cx="8540750" cy="4498975"/>
          </a:xfrm>
          <a:noFill/>
          <a:ln/>
        </p:spPr>
        <p:txBody>
          <a:bodyPr/>
          <a:lstStyle/>
          <a:p>
            <a:r>
              <a:rPr lang="en-US" altLang="zh-CN" b="1" dirty="0" smtClean="0"/>
              <a:t> </a:t>
            </a:r>
            <a:r>
              <a:rPr lang="zh-CN" altLang="en-US" b="1" dirty="0"/>
              <a:t>连续介质及流体质点</a:t>
            </a:r>
            <a:r>
              <a:rPr lang="en-US" altLang="zh-CN" b="1" dirty="0"/>
              <a:t>:</a:t>
            </a:r>
            <a:br>
              <a:rPr lang="en-US" altLang="zh-CN" b="1" dirty="0"/>
            </a:br>
            <a:r>
              <a:rPr lang="zh-CN" altLang="en-US" b="1" dirty="0"/>
              <a:t>连续介质</a:t>
            </a:r>
            <a:r>
              <a:rPr lang="en-US" altLang="zh-CN" b="1" dirty="0"/>
              <a:t>:</a:t>
            </a:r>
            <a:r>
              <a:rPr lang="zh-CN" altLang="en-US" b="1" dirty="0"/>
              <a:t>从流体的宏观特性出发，流体充满的空间里是有大量的没有间隙存在的流体质点组成的。 </a:t>
            </a:r>
          </a:p>
          <a:p>
            <a:r>
              <a:rPr lang="zh-CN" altLang="en-US" sz="2800" b="1" dirty="0"/>
              <a:t>流体质点：在连续介质内对某一点取得极小，但却包含有足够多的分子（宏观：足够小；微观：足够大。），使其不失去连续介质的特性而有确定的物理值。 </a:t>
            </a:r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3" y="5013326"/>
            <a:ext cx="2519362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470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标题 1"/>
          <p:cNvSpPr>
            <a:spLocks noGrp="1"/>
          </p:cNvSpPr>
          <p:nvPr>
            <p:ph type="title" idx="4294967295"/>
          </p:nvPr>
        </p:nvSpPr>
        <p:spPr>
          <a:xfrm>
            <a:off x="1981200" y="0"/>
            <a:ext cx="8229600" cy="1123950"/>
          </a:xfrm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00"/>
                </a:solidFill>
              </a:rPr>
              <a:t>流体及其性质</a:t>
            </a:r>
            <a:r>
              <a:rPr lang="en-US" altLang="zh-CN" smtClean="0">
                <a:solidFill>
                  <a:srgbClr val="000000"/>
                </a:solidFill>
              </a:rPr>
              <a:t> </a:t>
            </a:r>
            <a:endParaRPr lang="zh-CN" altLang="en-US" smtClean="0"/>
          </a:p>
        </p:txBody>
      </p:sp>
      <p:sp>
        <p:nvSpPr>
          <p:cNvPr id="10244" name="内容占位符 2"/>
          <p:cNvSpPr>
            <a:spLocks noGrp="1"/>
          </p:cNvSpPr>
          <p:nvPr>
            <p:ph idx="4294967295"/>
          </p:nvPr>
        </p:nvSpPr>
        <p:spPr>
          <a:xfrm>
            <a:off x="1992313" y="836613"/>
            <a:ext cx="8229600" cy="647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</a:rPr>
              <a:t>流体的粘性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u"/>
            </a:pPr>
            <a:endParaRPr lang="en-US" altLang="zh-CN" sz="1600" dirty="0">
              <a:latin typeface="宋体" panose="02010600030101010101" pitchFamily="2" charset="-122"/>
            </a:endParaRPr>
          </a:p>
          <a:p>
            <a:pPr lvl="1" eaLnBrk="1" hangingPunct="1">
              <a:buClr>
                <a:srgbClr val="0070C0"/>
              </a:buClr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</a:rPr>
              <a:t>      </a:t>
            </a:r>
          </a:p>
          <a:p>
            <a:pPr eaLnBrk="1" hangingPunct="1">
              <a:buClr>
                <a:srgbClr val="0070C0"/>
              </a:buClr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sp>
        <p:nvSpPr>
          <p:cNvPr id="10245" name="矩形 11"/>
          <p:cNvSpPr>
            <a:spLocks noChangeArrowheads="1"/>
          </p:cNvSpPr>
          <p:nvPr/>
        </p:nvSpPr>
        <p:spPr bwMode="auto">
          <a:xfrm>
            <a:off x="2063751" y="1412876"/>
            <a:ext cx="84248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宋体" panose="02010600030101010101" pitchFamily="2" charset="-122"/>
              </a:rPr>
              <a:t> 实验：</a:t>
            </a:r>
            <a:r>
              <a:rPr lang="zh-CN" altLang="zh-CN" sz="2000" dirty="0">
                <a:latin typeface="宋体" panose="02010600030101010101" pitchFamily="2" charset="-122"/>
              </a:rPr>
              <a:t>准备两个纸杯，在靠近底部开孔并各插入一支吸管，将其中一支吸管剪短。往两只杯子里倒入同量的水，使水同时从吸管中流出。短吸管的杯子里的水会较早流完。如果撤掉那个有短吸管的杯子，再找一个纸杯，将两支口径较细、与粗吸管长度一致的吸管插到纸杯上，那么，哪只杯子里的水先流完呢？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10246" name="矩形 13"/>
          <p:cNvSpPr>
            <a:spLocks noChangeArrowheads="1"/>
          </p:cNvSpPr>
          <p:nvPr/>
        </p:nvSpPr>
        <p:spPr bwMode="auto">
          <a:xfrm>
            <a:off x="7464426" y="3284539"/>
            <a:ext cx="2989263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2000">
                <a:latin typeface="宋体" panose="02010600030101010101" pitchFamily="2" charset="-122"/>
              </a:rPr>
              <a:t> 流体的</a:t>
            </a:r>
            <a:r>
              <a:rPr lang="zh-CN" altLang="en-US" sz="2000" b="1">
                <a:latin typeface="宋体" panose="02010600030101010101" pitchFamily="2" charset="-122"/>
              </a:rPr>
              <a:t>粘性</a:t>
            </a:r>
            <a:r>
              <a:rPr lang="zh-CN" altLang="en-US" sz="2000">
                <a:latin typeface="宋体" panose="02010600030101010101" pitchFamily="2" charset="-122"/>
              </a:rPr>
              <a:t>是</a:t>
            </a:r>
            <a:r>
              <a:rPr kumimoji="1" lang="zh-CN" altLang="en-US" sz="2000">
                <a:latin typeface="宋体" panose="02010600030101010101" pitchFamily="2" charset="-122"/>
              </a:rPr>
              <a:t>流体流动时，流体内部质点间或流层间因相对运动而产生内摩擦力，以抵抗其相对运动的性质。</a:t>
            </a:r>
          </a:p>
          <a:p>
            <a:pPr lvl="1" eaLnBrk="1" hangingPunct="1">
              <a:buClr>
                <a:srgbClr val="0070C0"/>
              </a:buClr>
            </a:pPr>
            <a:endParaRPr lang="en-US" altLang="zh-CN" sz="2000">
              <a:latin typeface="宋体" panose="02010600030101010101" pitchFamily="2" charset="-122"/>
            </a:endParaRPr>
          </a:p>
        </p:txBody>
      </p:sp>
      <p:grpSp>
        <p:nvGrpSpPr>
          <p:cNvPr id="10247" name="组合 14"/>
          <p:cNvGrpSpPr>
            <a:grpSpLocks/>
          </p:cNvGrpSpPr>
          <p:nvPr/>
        </p:nvGrpSpPr>
        <p:grpSpPr bwMode="auto">
          <a:xfrm>
            <a:off x="2208213" y="3429001"/>
            <a:ext cx="5670550" cy="2530475"/>
            <a:chOff x="971600" y="2492896"/>
            <a:chExt cx="5670376" cy="2529918"/>
          </a:xfrm>
        </p:grpSpPr>
        <p:pic>
          <p:nvPicPr>
            <p:cNvPr id="1024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90"/>
            <a:stretch>
              <a:fillRect/>
            </a:stretch>
          </p:blipFill>
          <p:spPr bwMode="auto">
            <a:xfrm>
              <a:off x="971600" y="2492896"/>
              <a:ext cx="4824536" cy="2529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9" name="矩形 10"/>
            <p:cNvSpPr>
              <a:spLocks noChangeArrowheads="1"/>
            </p:cNvSpPr>
            <p:nvPr/>
          </p:nvSpPr>
          <p:spPr bwMode="auto">
            <a:xfrm>
              <a:off x="5219620" y="2564318"/>
              <a:ext cx="1422356" cy="953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1400">
                  <a:latin typeface="宋体" panose="02010600030101010101" pitchFamily="2" charset="-122"/>
                </a:rPr>
                <a:t>两支细的吸管截面积之和与一支粗吸管的截面积相等</a:t>
              </a:r>
              <a:endParaRPr lang="zh-CN" altLang="en-US" sz="1400"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584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2092036" y="1717612"/>
            <a:ext cx="8469601" cy="2914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9366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92175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7156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 smtClean="0">
                <a:latin typeface="Tahoma" panose="020B0604030504040204" pitchFamily="34" charset="0"/>
              </a:rPr>
              <a:t>流体</a:t>
            </a:r>
            <a:r>
              <a:rPr lang="zh-CN" altLang="en-US" sz="2400" b="1" dirty="0">
                <a:latin typeface="Tahoma" panose="020B0604030504040204" pitchFamily="34" charset="0"/>
              </a:rPr>
              <a:t>微团</a:t>
            </a:r>
            <a:r>
              <a:rPr lang="en-US" altLang="zh-CN" sz="2400" b="1" dirty="0"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latin typeface="Tahoma" panose="020B0604030504040204" pitchFamily="34" charset="0"/>
              </a:rPr>
              <a:t>元体、微元体</a:t>
            </a:r>
            <a:r>
              <a:rPr lang="en-US" altLang="zh-CN" sz="2400" b="1" dirty="0">
                <a:latin typeface="Tahoma" panose="020B0604030504040204" pitchFamily="34" charset="0"/>
              </a:rPr>
              <a:t>)</a:t>
            </a:r>
            <a:r>
              <a:rPr lang="zh-CN" altLang="en-US" sz="2400" b="1" dirty="0">
                <a:latin typeface="Tahoma" panose="020B0604030504040204" pitchFamily="34" charset="0"/>
              </a:rPr>
              <a:t>：由质点组成、比质点稍大的流体单元，均性特征。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 微团：建立微分方程，微分解法。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 控制体：流场中某一确定的空间区域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               由微团组成，非均性特征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       控制体建立积分方程，积分解法或近似积分解法。 </a:t>
            </a:r>
          </a:p>
        </p:txBody>
      </p:sp>
      <p:sp>
        <p:nvSpPr>
          <p:cNvPr id="2" name="矩形 1"/>
          <p:cNvSpPr/>
          <p:nvPr/>
        </p:nvSpPr>
        <p:spPr>
          <a:xfrm>
            <a:off x="2533338" y="519545"/>
            <a:ext cx="478186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b="1" dirty="0">
                <a:latin typeface="Tahoma" panose="020B0604030504040204" pitchFamily="34" charset="0"/>
              </a:rPr>
              <a:t>流体微团及控制体</a:t>
            </a:r>
          </a:p>
        </p:txBody>
      </p:sp>
    </p:spTree>
    <p:extLst>
      <p:ext uri="{BB962C8B-B14F-4D97-AF65-F5344CB8AC3E}">
        <p14:creationId xmlns:p14="http://schemas.microsoft.com/office/powerpoint/2010/main" val="371860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0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流场是否变化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恒定流场                      </a:t>
            </a:r>
            <a:endParaRPr lang="en-US" altLang="zh-CN" dirty="0" smtClean="0"/>
          </a:p>
          <a:p>
            <a:r>
              <a:rPr lang="zh-CN" altLang="en-US" dirty="0" smtClean="0"/>
              <a:t>非恒定流场</a:t>
            </a:r>
            <a:endParaRPr lang="zh-CN" altLang="en-US" dirty="0"/>
          </a:p>
        </p:txBody>
      </p:sp>
      <p:pic>
        <p:nvPicPr>
          <p:cNvPr id="4" name="Picture 8" descr="untitled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615" y="2886509"/>
            <a:ext cx="6516687" cy="165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242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521" y="2342718"/>
            <a:ext cx="34290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584" y="1833130"/>
            <a:ext cx="43434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有风的时候烟形成的流场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71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 indent="608013"/>
            <a:r>
              <a:rPr lang="zh-CN" altLang="en-US" dirty="0">
                <a:ea typeface="黑体" panose="02010609060101010101" pitchFamily="49" charset="-122"/>
              </a:rPr>
              <a:t>迹线和流线的</a:t>
            </a:r>
            <a:r>
              <a:rPr lang="zh-CN" altLang="en-US" dirty="0" smtClean="0">
                <a:ea typeface="黑体" panose="02010609060101010101" pitchFamily="49" charset="-122"/>
              </a:rPr>
              <a:t>差别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3" indent="608013">
              <a:spcBef>
                <a:spcPct val="0"/>
              </a:spcBef>
            </a:pPr>
            <a:r>
              <a:rPr lang="zh-CN" altLang="en-US" dirty="0"/>
              <a:t>迹线是同一流体质点在不同时刻的位移曲线，与</a:t>
            </a:r>
            <a:r>
              <a:rPr lang="en-US" altLang="zh-CN" dirty="0"/>
              <a:t>Lagrange</a:t>
            </a:r>
            <a:r>
              <a:rPr lang="zh-CN" altLang="en-US" dirty="0"/>
              <a:t>观点对应。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3" indent="0">
              <a:spcBef>
                <a:spcPct val="0"/>
              </a:spcBef>
              <a:buNone/>
            </a:pPr>
            <a:r>
              <a:rPr lang="zh-CN" altLang="en-US" dirty="0"/>
              <a:t>流线是同一时刻、不同流体质点速度向量的包络线，与</a:t>
            </a:r>
            <a:r>
              <a:rPr lang="en-US" altLang="zh-CN" dirty="0"/>
              <a:t>Euler</a:t>
            </a:r>
            <a:r>
              <a:rPr lang="zh-CN" altLang="en-US" dirty="0"/>
              <a:t>观点对应。 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592" y="4308547"/>
            <a:ext cx="2428875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7667" y="3661064"/>
            <a:ext cx="3214687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638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216000" r="-12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584" name="内容占位符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indent="608013">
              <a:spcBef>
                <a:spcPct val="0"/>
              </a:spcBef>
            </a:pPr>
            <a:r>
              <a:rPr lang="zh-CN" altLang="en-US" dirty="0">
                <a:ea typeface="黑体" panose="02010609060101010101" pitchFamily="49" charset="-122"/>
              </a:rPr>
              <a:t>流线的几个性质：</a:t>
            </a:r>
          </a:p>
        </p:txBody>
      </p:sp>
      <p:sp>
        <p:nvSpPr>
          <p:cNvPr id="24578" name="内容占位符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3" indent="608013">
              <a:spcBef>
                <a:spcPct val="0"/>
              </a:spcBef>
            </a:pPr>
            <a:r>
              <a:rPr lang="zh-CN" altLang="en-US" dirty="0" smtClean="0"/>
              <a:t>⑴</a:t>
            </a:r>
            <a:r>
              <a:rPr lang="zh-CN" altLang="en-US" dirty="0"/>
              <a:t>在定常流动中，流线不随时间改变其位置和形状，流线、迹线和串线重合。</a:t>
            </a:r>
            <a:endParaRPr lang="en-US" altLang="zh-CN" dirty="0"/>
          </a:p>
          <a:p>
            <a:pPr lvl="3" indent="608013">
              <a:spcBef>
                <a:spcPct val="0"/>
              </a:spcBef>
            </a:pPr>
            <a:r>
              <a:rPr lang="zh-CN" altLang="en-US" dirty="0"/>
              <a:t>⑵在非定常流动中，由于各空间点上速度随时间变化，流线的形状和位置是在不停地变化的。</a:t>
            </a:r>
            <a:endParaRPr lang="en-US" altLang="zh-CN" dirty="0"/>
          </a:p>
          <a:p>
            <a:pPr lvl="3" indent="608013">
              <a:spcBef>
                <a:spcPct val="0"/>
              </a:spcBef>
            </a:pPr>
            <a:r>
              <a:rPr lang="zh-CN" altLang="en-US" dirty="0"/>
              <a:t>⑶流线不能折转和彼此相交，只能平滑过渡（奇点除外）。奇点有速度为零或无限大两种。</a:t>
            </a:r>
            <a:endParaRPr lang="en-US" altLang="zh-CN" dirty="0"/>
          </a:p>
          <a:p>
            <a:pPr lvl="3" indent="608013">
              <a:spcBef>
                <a:spcPct val="0"/>
              </a:spcBef>
            </a:pPr>
            <a:r>
              <a:rPr lang="zh-CN" altLang="en-US" dirty="0"/>
              <a:t>⑷流线密集的地方流动速度大，流线稀疏的地方流动速度小。</a:t>
            </a:r>
            <a:endParaRPr lang="en-US" altLang="zh-CN" dirty="0"/>
          </a:p>
          <a:p>
            <a:pPr lvl="3" indent="608013">
              <a:spcBef>
                <a:spcPct val="0"/>
              </a:spcBef>
            </a:pPr>
            <a:r>
              <a:rPr lang="zh-CN" altLang="en-US" dirty="0"/>
              <a:t>⑸每一空间点均有流线通过，由这些流线构成流谱。</a:t>
            </a:r>
          </a:p>
          <a:p>
            <a:pPr>
              <a:spcBef>
                <a:spcPct val="0"/>
              </a:spcBef>
            </a:pP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lnSpc>
                <a:spcPct val="120000"/>
              </a:lnSpc>
              <a:buFont typeface="Arial" panose="020B0604020202020204" pitchFamily="34" charset="0"/>
              <a:buChar char="•"/>
              <a:defRPr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algn="just" eaLnBrk="0" hangingPunct="0">
              <a:lnSpc>
                <a:spcPct val="120000"/>
              </a:lnSpc>
              <a:buFont typeface="Arial" panose="020B0604020202020204" pitchFamily="34" charset="0"/>
              <a:buChar char="–"/>
              <a:defRPr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algn="just" eaLnBrk="0" hangingPunct="0">
              <a:lnSpc>
                <a:spcPct val="120000"/>
              </a:lnSpc>
              <a:buFont typeface="Arial" panose="020B0604020202020204" pitchFamily="34" charset="0"/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algn="just" eaLnBrk="0" hangingPunct="0">
              <a:lnSpc>
                <a:spcPct val="120000"/>
              </a:lnSpc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algn="just" eaLnBrk="0" hangingPunct="0">
              <a:lnSpc>
                <a:spcPct val="120000"/>
              </a:lnSpc>
              <a:buFont typeface="Arial" panose="020B0604020202020204" pitchFamily="34" charset="0"/>
              <a:buChar char="»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buFontTx/>
              <a:buNone/>
            </a:pPr>
            <a:fld id="{FFC3BD19-521A-4FC4-9871-458DC8C26DE6}" type="slidenum">
              <a:rPr lang="en-US" altLang="zh-CN" sz="2000"/>
              <a:pPr algn="r" eaLnBrk="1" hangingPunct="1">
                <a:lnSpc>
                  <a:spcPct val="100000"/>
                </a:lnSpc>
                <a:buFontTx/>
                <a:buNone/>
              </a:pPr>
              <a:t>23</a:t>
            </a:fld>
            <a:endParaRPr lang="en-US" altLang="zh-CN" sz="20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92875"/>
            <a:ext cx="4511675" cy="360363"/>
          </a:xfrm>
        </p:spPr>
        <p:txBody>
          <a:bodyPr/>
          <a:lstStyle/>
          <a:p>
            <a:pPr>
              <a:defRPr/>
            </a:pPr>
            <a:r>
              <a:rPr smtClean="0"/>
              <a:t>HEUJ&amp;F</a:t>
            </a:r>
            <a:endParaRPr/>
          </a:p>
        </p:txBody>
      </p:sp>
      <p:pic>
        <p:nvPicPr>
          <p:cNvPr id="245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3500439"/>
            <a:ext cx="2909888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6" descr="props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53250" y="642938"/>
            <a:ext cx="2928938" cy="262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082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流场的维数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197915"/>
            <a:ext cx="6053667" cy="2459685"/>
          </a:xfrm>
        </p:spPr>
        <p:txBody>
          <a:bodyPr/>
          <a:lstStyle/>
          <a:p>
            <a:pPr lvl="1" indent="0">
              <a:spcBef>
                <a:spcPct val="0"/>
              </a:spcBef>
              <a:buNone/>
            </a:pPr>
            <a:r>
              <a:rPr lang="zh-CN" altLang="en-US" dirty="0" smtClean="0">
                <a:ea typeface="黑体" panose="02010609060101010101" pitchFamily="49" charset="-122"/>
              </a:rPr>
              <a:t>流场分类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2" indent="608013">
              <a:spcBef>
                <a:spcPct val="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三维流场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3" indent="0">
              <a:spcBef>
                <a:spcPct val="0"/>
              </a:spcBef>
              <a:buNone/>
            </a:pPr>
            <a:r>
              <a:rPr lang="zh-CN" altLang="en-US" sz="2000" dirty="0" smtClean="0"/>
              <a:t>具有三个坐标自变量的流场。</a:t>
            </a:r>
            <a:endParaRPr lang="en-US" altLang="zh-CN" sz="2000" dirty="0" smtClean="0"/>
          </a:p>
          <a:p>
            <a:pPr lvl="2" indent="608013">
              <a:spcBef>
                <a:spcPct val="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二维流场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3" indent="0">
              <a:spcBef>
                <a:spcPct val="0"/>
              </a:spcBef>
              <a:buNone/>
            </a:pPr>
            <a:r>
              <a:rPr lang="zh-CN" altLang="en-US" sz="2000" dirty="0" smtClean="0"/>
              <a:t>具有二个坐标自变量的流场。</a:t>
            </a:r>
            <a:endParaRPr lang="en-US" altLang="zh-CN" sz="2000" dirty="0" smtClean="0"/>
          </a:p>
          <a:p>
            <a:pPr lvl="2" indent="608013">
              <a:spcBef>
                <a:spcPct val="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一维流场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3" indent="0">
              <a:spcBef>
                <a:spcPct val="0"/>
              </a:spcBef>
              <a:buNone/>
            </a:pPr>
            <a:r>
              <a:rPr lang="zh-CN" altLang="en-US" sz="2000" dirty="0" smtClean="0"/>
              <a:t>具有一个坐标自变量的流场。</a:t>
            </a:r>
            <a:endParaRPr lang="en-US" altLang="zh-CN" sz="2000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9"/>
          <p:cNvSpPr txBox="1">
            <a:spLocks/>
          </p:cNvSpPr>
          <p:nvPr/>
        </p:nvSpPr>
        <p:spPr bwMode="auto">
          <a:xfrm>
            <a:off x="7381287" y="2570163"/>
            <a:ext cx="538691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Blip>
                <a:blip r:embed="rId2"/>
              </a:buBlip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zh-CN" altLang="en-US" kern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三维流动→二维流动</a:t>
            </a:r>
            <a:endParaRPr kumimoji="1" lang="zh-CN" altLang="en-US" kern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文本占位符 11"/>
          <p:cNvSpPr txBox="1">
            <a:spLocks/>
          </p:cNvSpPr>
          <p:nvPr/>
        </p:nvSpPr>
        <p:spPr>
          <a:xfrm>
            <a:off x="7185506" y="5149170"/>
            <a:ext cx="5389033" cy="63976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1" lang="zh-CN" altLang="en-US" kern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二维流动→一维流动</a:t>
            </a:r>
            <a:endParaRPr kumimoji="1" lang="zh-CN" altLang="en-US" kern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8" name="Picture 18" descr="030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3"/>
          <a:stretch>
            <a:fillRect/>
          </a:stretch>
        </p:blipFill>
        <p:spPr bwMode="auto">
          <a:xfrm>
            <a:off x="7381287" y="1197915"/>
            <a:ext cx="3599584" cy="131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 descr="030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506" y="3362850"/>
            <a:ext cx="3404226" cy="157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1089506" y="437601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3" indent="0">
              <a:spcBef>
                <a:spcPct val="0"/>
              </a:spcBef>
              <a:buNone/>
            </a:pPr>
            <a:r>
              <a:rPr lang="zh-CN" altLang="en-US" sz="2000" dirty="0"/>
              <a:t>对于工程实际问题，在满足精度要求的情况下，将三维流动简化为二维、甚至一维流动，可以使求解过程尽可能简化。</a:t>
            </a:r>
          </a:p>
        </p:txBody>
      </p:sp>
    </p:spTree>
    <p:extLst>
      <p:ext uri="{BB962C8B-B14F-4D97-AF65-F5344CB8AC3E}">
        <p14:creationId xmlns:p14="http://schemas.microsoft.com/office/powerpoint/2010/main" val="28784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2198688" y="404813"/>
            <a:ext cx="7497762" cy="1143000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      </a:t>
            </a:r>
            <a:r>
              <a:rPr lang="zh-CN" altLang="en-US" b="1" dirty="0" smtClean="0">
                <a:solidFill>
                  <a:schemeClr val="tx1"/>
                </a:solidFill>
              </a:rPr>
              <a:t>流体</a:t>
            </a:r>
            <a:r>
              <a:rPr lang="zh-CN" altLang="en-US" b="1" dirty="0">
                <a:solidFill>
                  <a:schemeClr val="tx1"/>
                </a:solidFill>
              </a:rPr>
              <a:t>运动的研究方法</a:t>
            </a:r>
          </a:p>
        </p:txBody>
      </p:sp>
      <p:grpSp>
        <p:nvGrpSpPr>
          <p:cNvPr id="57349" name="Group 5"/>
          <p:cNvGrpSpPr>
            <a:grpSpLocks/>
          </p:cNvGrpSpPr>
          <p:nvPr/>
        </p:nvGrpSpPr>
        <p:grpSpPr bwMode="auto">
          <a:xfrm>
            <a:off x="1524000" y="1341439"/>
            <a:ext cx="8762600" cy="1582737"/>
            <a:chOff x="5" y="1076"/>
            <a:chExt cx="4289" cy="426"/>
          </a:xfrm>
        </p:grpSpPr>
        <p:sp>
          <p:nvSpPr>
            <p:cNvPr id="57350" name="Rectangle 6"/>
            <p:cNvSpPr>
              <a:spLocks noChangeArrowheads="1"/>
            </p:cNvSpPr>
            <p:nvPr/>
          </p:nvSpPr>
          <p:spPr bwMode="auto">
            <a:xfrm>
              <a:off x="5" y="1237"/>
              <a:ext cx="692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r>
                <a:rPr lang="zh-CN" altLang="en-US" b="1" dirty="0" smtClean="0">
                  <a:latin typeface="Tahoma" panose="020B0604030504040204" pitchFamily="34" charset="0"/>
                </a:rPr>
                <a:t>流场</a:t>
              </a:r>
              <a:r>
                <a:rPr lang="zh-CN" altLang="en-US" b="1" dirty="0">
                  <a:latin typeface="Tahoma" panose="020B0604030504040204" pitchFamily="34" charset="0"/>
                </a:rPr>
                <a:t>的定义 </a:t>
              </a:r>
            </a:p>
          </p:txBody>
        </p:sp>
        <p:sp>
          <p:nvSpPr>
            <p:cNvPr id="57351" name="AutoShape 7"/>
            <p:cNvSpPr>
              <a:spLocks noChangeAspect="1" noChangeArrowheads="1" noTextEdit="1"/>
            </p:cNvSpPr>
            <p:nvPr/>
          </p:nvSpPr>
          <p:spPr bwMode="auto">
            <a:xfrm>
              <a:off x="1150" y="1076"/>
              <a:ext cx="2961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2" name="Rectangle 8"/>
            <p:cNvSpPr>
              <a:spLocks noChangeArrowheads="1"/>
            </p:cNvSpPr>
            <p:nvPr/>
          </p:nvSpPr>
          <p:spPr bwMode="auto">
            <a:xfrm>
              <a:off x="1169" y="1327"/>
              <a:ext cx="65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100">
                  <a:latin typeface="Symbol" panose="05050102010706020507" pitchFamily="18" charset="2"/>
                </a:rPr>
                <a:t>î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57353" name="Rectangle 9"/>
            <p:cNvSpPr>
              <a:spLocks noChangeArrowheads="1"/>
            </p:cNvSpPr>
            <p:nvPr/>
          </p:nvSpPr>
          <p:spPr bwMode="auto">
            <a:xfrm>
              <a:off x="1169" y="1209"/>
              <a:ext cx="65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100">
                  <a:latin typeface="Symbol" panose="05050102010706020507" pitchFamily="18" charset="2"/>
                </a:rPr>
                <a:t>í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57354" name="Rectangle 10"/>
            <p:cNvSpPr>
              <a:spLocks noChangeArrowheads="1"/>
            </p:cNvSpPr>
            <p:nvPr/>
          </p:nvSpPr>
          <p:spPr bwMode="auto">
            <a:xfrm>
              <a:off x="1169" y="1090"/>
              <a:ext cx="65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100">
                  <a:latin typeface="Symbol" panose="05050102010706020507" pitchFamily="18" charset="2"/>
                </a:rPr>
                <a:t>ì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57355" name="Rectangle 11"/>
            <p:cNvSpPr>
              <a:spLocks noChangeArrowheads="1"/>
            </p:cNvSpPr>
            <p:nvPr/>
          </p:nvSpPr>
          <p:spPr bwMode="auto">
            <a:xfrm>
              <a:off x="2701" y="1317"/>
              <a:ext cx="159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zh-CN" altLang="en-US" sz="2100" b="1">
                  <a:latin typeface="宋体" panose="02010600030101010101" pitchFamily="2" charset="-122"/>
                </a:rPr>
                <a:t>团运动所构成的空间。    </a:t>
              </a: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356" name="Rectangle 12"/>
            <p:cNvSpPr>
              <a:spLocks noChangeArrowheads="1"/>
            </p:cNvSpPr>
            <p:nvPr/>
          </p:nvSpPr>
          <p:spPr bwMode="auto">
            <a:xfrm>
              <a:off x="1219" y="1317"/>
              <a:ext cx="137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zh-CN" altLang="en-US" sz="2100" b="1">
                  <a:latin typeface="宋体" panose="02010600030101010101" pitchFamily="2" charset="-122"/>
                </a:rPr>
                <a:t>由无数多流体质点或微</a:t>
              </a: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357" name="Rectangle 13"/>
            <p:cNvSpPr>
              <a:spLocks noChangeArrowheads="1"/>
            </p:cNvSpPr>
            <p:nvPr/>
          </p:nvSpPr>
          <p:spPr bwMode="auto">
            <a:xfrm>
              <a:off x="1237" y="1105"/>
              <a:ext cx="159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zh-CN" altLang="en-US" sz="2100" b="1">
                  <a:latin typeface="宋体" panose="02010600030101010101" pitchFamily="2" charset="-122"/>
                </a:rPr>
                <a:t>流体运动的全部范围。    </a:t>
              </a: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4225636" y="2924176"/>
            <a:ext cx="55422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运动参数”：用以表示流体运动的一切物理量（如速度、加速度、密度、重度、压力和粘性力等）</a:t>
            </a: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1847851" y="4551364"/>
            <a:ext cx="8569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/>
              <a:t>流体动力学：研究流体质点在流场所占有的空间的一切点上，运动参数随着时间和空间位置的分布和连续变化的规律。</a:t>
            </a:r>
          </a:p>
        </p:txBody>
      </p:sp>
    </p:spTree>
    <p:extLst>
      <p:ext uri="{BB962C8B-B14F-4D97-AF65-F5344CB8AC3E}">
        <p14:creationId xmlns:p14="http://schemas.microsoft.com/office/powerpoint/2010/main" val="307950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8" grpId="0"/>
      <p:bldP spid="5735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2063751" y="631825"/>
            <a:ext cx="50403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3600" b="1">
                <a:latin typeface="Tahoma" panose="020B0604030504040204" pitchFamily="34" charset="0"/>
              </a:rPr>
              <a:t>⒉ </a:t>
            </a:r>
            <a:r>
              <a:rPr lang="zh-CN" altLang="en-US" sz="3600" b="1">
                <a:latin typeface="Tahoma" panose="020B0604030504040204" pitchFamily="34" charset="0"/>
              </a:rPr>
              <a:t>流场的研究方法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2208214" y="1268413"/>
            <a:ext cx="66246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/>
              <a:t>拉格朗日法、欧拉法 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2135188" y="1916113"/>
            <a:ext cx="46085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/>
              <a:t>1)  </a:t>
            </a:r>
            <a:r>
              <a:rPr lang="zh-CN" altLang="en-US" b="1"/>
              <a:t>拉格朗日法</a:t>
            </a: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1919289" y="2565401"/>
            <a:ext cx="8137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/>
              <a:t>基本原理：是力学中质点运动描述方法在流体力学中的推广。它研究流场中个别流体质点在不同的时间其位置、流速、压力的变化。 </a:t>
            </a: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1919289" y="3789364"/>
            <a:ext cx="8353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/>
              <a:t>即把流体细分为大量的流体质点，着眼于流体质点运动的描述，设法描述出每个质点自始至终的运动状态。所有质点的运动规律知道后，整个流场的运动规律就清楚了。 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1992313" y="5157789"/>
            <a:ext cx="8064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/>
              <a:t>特点：分析流体各个质点的运动，来研究整个流体的运动。 </a:t>
            </a:r>
          </a:p>
        </p:txBody>
      </p:sp>
    </p:spTree>
    <p:extLst>
      <p:ext uri="{BB962C8B-B14F-4D97-AF65-F5344CB8AC3E}">
        <p14:creationId xmlns:p14="http://schemas.microsoft.com/office/powerpoint/2010/main" val="101272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20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7" grpId="0"/>
      <p:bldP spid="59399" grpId="0"/>
      <p:bldP spid="59400" grpId="0"/>
      <p:bldP spid="59402" grpId="0"/>
      <p:bldP spid="59403" grpId="0"/>
      <p:bldP spid="5940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欧拉法 </a:t>
            </a:r>
            <a:endParaRPr lang="zh-CN" altLang="en-US" dirty="0"/>
          </a:p>
        </p:txBody>
      </p:sp>
      <p:sp>
        <p:nvSpPr>
          <p:cNvPr id="624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847850" y="1700213"/>
            <a:ext cx="8540750" cy="38862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它不是着眼于流场中某个质点的运动行为，而是整个流场的运动状态。即：</a:t>
            </a:r>
            <a:r>
              <a:rPr lang="zh-CN" altLang="en-US" dirty="0">
                <a:solidFill>
                  <a:srgbClr val="FF0066"/>
                </a:solidFill>
              </a:rPr>
              <a:t>研究整个流场内不同空间位置上，各个流体质点的运动参量随时间的变化。 </a:t>
            </a:r>
          </a:p>
        </p:txBody>
      </p:sp>
      <p:pic>
        <p:nvPicPr>
          <p:cNvPr id="62468" name="Picture 4" descr="j00900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050" y="3789363"/>
            <a:ext cx="2014538" cy="250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69" name="Picture 5" descr="j00903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4076701"/>
            <a:ext cx="2698750" cy="230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70" name="Picture 6" descr="j008854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9" y="476251"/>
            <a:ext cx="50641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74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6246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1847850" y="2924175"/>
            <a:ext cx="835183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400"/>
              <a:t>同一瞬间，各个不同位置上流体质点的参量特征（即整个流场的特征）。 </a:t>
            </a:r>
          </a:p>
          <a:p>
            <a:pPr algn="l"/>
            <a:r>
              <a:rPr lang="en-US" altLang="zh-CN" sz="2400"/>
              <a:t>V=Fv</a:t>
            </a:r>
            <a:r>
              <a:rPr lang="zh-CN" altLang="en-US" sz="2400"/>
              <a:t>（</a:t>
            </a:r>
            <a:r>
              <a:rPr lang="en-US" altLang="zh-CN" sz="2400"/>
              <a:t>x</a:t>
            </a:r>
            <a:r>
              <a:rPr lang="zh-CN" altLang="en-US" sz="2400"/>
              <a:t>，</a:t>
            </a:r>
            <a:r>
              <a:rPr lang="en-US" altLang="zh-CN" sz="2400"/>
              <a:t>y</a:t>
            </a:r>
            <a:r>
              <a:rPr lang="zh-CN" altLang="en-US" sz="2400"/>
              <a:t>，</a:t>
            </a:r>
            <a:r>
              <a:rPr lang="en-US" altLang="zh-CN" sz="2400"/>
              <a:t>z</a:t>
            </a:r>
            <a:r>
              <a:rPr lang="zh-CN" altLang="en-US" sz="2400"/>
              <a:t>，</a:t>
            </a:r>
            <a:r>
              <a:rPr lang="en-US" altLang="zh-CN" sz="2400"/>
              <a:t>t</a:t>
            </a:r>
            <a:r>
              <a:rPr lang="zh-CN" altLang="en-US" sz="2400"/>
              <a:t>）  整个流场中的速度分布</a:t>
            </a:r>
            <a:r>
              <a:rPr lang="en-US" altLang="zh-CN" sz="2400"/>
              <a:t>——</a:t>
            </a:r>
            <a:r>
              <a:rPr lang="zh-CN" altLang="en-US" sz="2400"/>
              <a:t>速度场； </a:t>
            </a:r>
          </a:p>
          <a:p>
            <a:pPr algn="l"/>
            <a:r>
              <a:rPr lang="en-US" altLang="zh-CN" sz="2400"/>
              <a:t>P=Fp</a:t>
            </a:r>
            <a:r>
              <a:rPr lang="zh-CN" altLang="en-US" sz="2400"/>
              <a:t>（</a:t>
            </a:r>
            <a:r>
              <a:rPr lang="en-US" altLang="zh-CN" sz="2400"/>
              <a:t>x</a:t>
            </a:r>
            <a:r>
              <a:rPr lang="zh-CN" altLang="en-US" sz="2400"/>
              <a:t>，</a:t>
            </a:r>
            <a:r>
              <a:rPr lang="en-US" altLang="zh-CN" sz="2400"/>
              <a:t>y</a:t>
            </a:r>
            <a:r>
              <a:rPr lang="zh-CN" altLang="en-US" sz="2400"/>
              <a:t>，</a:t>
            </a:r>
            <a:r>
              <a:rPr lang="en-US" altLang="zh-CN" sz="2400"/>
              <a:t>z</a:t>
            </a:r>
            <a:r>
              <a:rPr lang="zh-CN" altLang="en-US" sz="2400"/>
              <a:t>，</a:t>
            </a:r>
            <a:r>
              <a:rPr lang="en-US" altLang="zh-CN" sz="2400"/>
              <a:t>t</a:t>
            </a:r>
            <a:r>
              <a:rPr lang="zh-CN" altLang="en-US" sz="2400"/>
              <a:t>）  整个流场中的压力分布</a:t>
            </a:r>
            <a:r>
              <a:rPr lang="en-US" altLang="zh-CN" sz="2400"/>
              <a:t>——</a:t>
            </a:r>
            <a:r>
              <a:rPr lang="zh-CN" altLang="en-US" sz="2400"/>
              <a:t>压力场； </a:t>
            </a:r>
          </a:p>
          <a:p>
            <a:pPr algn="l"/>
            <a:r>
              <a:rPr lang="en-US" altLang="zh-CN" sz="2400"/>
              <a:t>ρ=Fρ</a:t>
            </a:r>
            <a:r>
              <a:rPr lang="zh-CN" altLang="en-US" sz="2400"/>
              <a:t>（</a:t>
            </a:r>
            <a:r>
              <a:rPr lang="en-US" altLang="zh-CN" sz="2400"/>
              <a:t>x</a:t>
            </a:r>
            <a:r>
              <a:rPr lang="zh-CN" altLang="en-US" sz="2400"/>
              <a:t>，</a:t>
            </a:r>
            <a:r>
              <a:rPr lang="en-US" altLang="zh-CN" sz="2400"/>
              <a:t>y</a:t>
            </a:r>
            <a:r>
              <a:rPr lang="zh-CN" altLang="en-US" sz="2400"/>
              <a:t>，</a:t>
            </a:r>
            <a:r>
              <a:rPr lang="en-US" altLang="zh-CN" sz="2400"/>
              <a:t>z</a:t>
            </a:r>
            <a:r>
              <a:rPr lang="zh-CN" altLang="en-US" sz="2400"/>
              <a:t>，</a:t>
            </a:r>
            <a:r>
              <a:rPr lang="en-US" altLang="zh-CN" sz="2400"/>
              <a:t>t</a:t>
            </a:r>
            <a:r>
              <a:rPr lang="zh-CN" altLang="en-US" sz="2400"/>
              <a:t>） 整个流场中的密度分布</a:t>
            </a:r>
            <a:r>
              <a:rPr lang="en-US" altLang="zh-CN" sz="2400"/>
              <a:t>——</a:t>
            </a:r>
            <a:r>
              <a:rPr lang="zh-CN" altLang="en-US" sz="2400"/>
              <a:t>密度场； </a:t>
            </a:r>
          </a:p>
          <a:p>
            <a:pPr algn="l"/>
            <a:r>
              <a:rPr lang="en-US" altLang="zh-CN" sz="2400"/>
              <a:t>T=Ft</a:t>
            </a:r>
            <a:r>
              <a:rPr lang="zh-CN" altLang="en-US" sz="2400"/>
              <a:t>（</a:t>
            </a:r>
            <a:r>
              <a:rPr lang="en-US" altLang="zh-CN" sz="2400"/>
              <a:t>x</a:t>
            </a:r>
            <a:r>
              <a:rPr lang="zh-CN" altLang="en-US" sz="2400"/>
              <a:t>，</a:t>
            </a:r>
            <a:r>
              <a:rPr lang="en-US" altLang="zh-CN" sz="2400"/>
              <a:t>y</a:t>
            </a:r>
            <a:r>
              <a:rPr lang="zh-CN" altLang="en-US" sz="2400"/>
              <a:t>，</a:t>
            </a:r>
            <a:r>
              <a:rPr lang="en-US" altLang="zh-CN" sz="2400"/>
              <a:t>z</a:t>
            </a:r>
            <a:r>
              <a:rPr lang="zh-CN" altLang="en-US" sz="2400"/>
              <a:t>，</a:t>
            </a:r>
            <a:r>
              <a:rPr lang="en-US" altLang="zh-CN" sz="2400"/>
              <a:t>t</a:t>
            </a:r>
            <a:r>
              <a:rPr lang="zh-CN" altLang="en-US" sz="2400"/>
              <a:t>）   整个流场中的温度分布</a:t>
            </a:r>
            <a:r>
              <a:rPr lang="en-US" altLang="zh-CN" sz="2400"/>
              <a:t>——</a:t>
            </a:r>
            <a:r>
              <a:rPr lang="zh-CN" altLang="en-US" sz="2400"/>
              <a:t>温度场； </a:t>
            </a:r>
          </a:p>
          <a:p>
            <a:pPr algn="l"/>
            <a:r>
              <a:rPr lang="en-US" altLang="zh-CN" sz="2400"/>
              <a:t>C=Fc</a:t>
            </a:r>
            <a:r>
              <a:rPr lang="zh-CN" altLang="en-US" sz="2400"/>
              <a:t>（</a:t>
            </a:r>
            <a:r>
              <a:rPr lang="en-US" altLang="zh-CN" sz="2400"/>
              <a:t>x</a:t>
            </a:r>
            <a:r>
              <a:rPr lang="zh-CN" altLang="en-US" sz="2400"/>
              <a:t>，</a:t>
            </a:r>
            <a:r>
              <a:rPr lang="en-US" altLang="zh-CN" sz="2400"/>
              <a:t>y</a:t>
            </a:r>
            <a:r>
              <a:rPr lang="zh-CN" altLang="en-US" sz="2400"/>
              <a:t>，</a:t>
            </a:r>
            <a:r>
              <a:rPr lang="en-US" altLang="zh-CN" sz="2400"/>
              <a:t>z</a:t>
            </a:r>
            <a:r>
              <a:rPr lang="zh-CN" altLang="en-US" sz="2400"/>
              <a:t>，</a:t>
            </a:r>
            <a:r>
              <a:rPr lang="en-US" altLang="zh-CN" sz="2400"/>
              <a:t>t</a:t>
            </a:r>
            <a:r>
              <a:rPr lang="zh-CN" altLang="en-US" sz="2400"/>
              <a:t>）   整个流场中的浓度分布</a:t>
            </a:r>
            <a:r>
              <a:rPr lang="en-US" altLang="zh-CN" sz="2400"/>
              <a:t>——</a:t>
            </a:r>
            <a:r>
              <a:rPr lang="zh-CN" altLang="en-US" sz="2400"/>
              <a:t>浓度场。 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1774825" y="1412876"/>
            <a:ext cx="8280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/>
              <a:t>不同空间位置有 （</a:t>
            </a:r>
            <a:r>
              <a:rPr lang="en-US" altLang="zh-CN"/>
              <a:t>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，</a:t>
            </a:r>
            <a:r>
              <a:rPr lang="en-US" altLang="zh-CN"/>
              <a:t>z</a:t>
            </a:r>
            <a:r>
              <a:rPr lang="zh-CN" altLang="en-US"/>
              <a:t>）；运动参量有 </a:t>
            </a:r>
            <a:r>
              <a:rPr lang="en-US" altLang="zh-CN"/>
              <a:t>V</a:t>
            </a:r>
            <a:r>
              <a:rPr lang="zh-CN" altLang="en-US"/>
              <a:t>、</a:t>
            </a:r>
            <a:r>
              <a:rPr lang="en-US" altLang="zh-CN"/>
              <a:t>P</a:t>
            </a:r>
            <a:r>
              <a:rPr lang="zh-CN" altLang="en-US"/>
              <a:t>、</a:t>
            </a:r>
            <a:r>
              <a:rPr lang="en-US" altLang="zh-CN"/>
              <a:t>T</a:t>
            </a:r>
            <a:r>
              <a:rPr lang="zh-CN" altLang="en-US"/>
              <a:t>、</a:t>
            </a:r>
            <a:r>
              <a:rPr lang="en-US" altLang="zh-CN"/>
              <a:t>ρ</a:t>
            </a:r>
            <a:r>
              <a:rPr lang="zh-CN" altLang="en-US"/>
              <a:t>；时间</a:t>
            </a:r>
            <a:r>
              <a:rPr lang="en-US" altLang="zh-CN"/>
              <a:t>t</a:t>
            </a:r>
            <a:r>
              <a:rPr lang="zh-CN" altLang="en-US"/>
              <a:t>；对某个空间位置来说，不同时间可能为不同质点所占据，以欧拉法所表示的流场： </a:t>
            </a:r>
          </a:p>
        </p:txBody>
      </p:sp>
    </p:spTree>
    <p:extLst>
      <p:ext uri="{BB962C8B-B14F-4D97-AF65-F5344CB8AC3E}">
        <p14:creationId xmlns:p14="http://schemas.microsoft.com/office/powerpoint/2010/main" val="290844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/>
      <p:bldP spid="6349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9" name="Group 7"/>
          <p:cNvGrpSpPr>
            <a:grpSpLocks/>
          </p:cNvGrpSpPr>
          <p:nvPr/>
        </p:nvGrpSpPr>
        <p:grpSpPr bwMode="auto">
          <a:xfrm>
            <a:off x="1919288" y="836613"/>
            <a:ext cx="8280400" cy="2206624"/>
            <a:chOff x="431" y="527"/>
            <a:chExt cx="5034" cy="1390"/>
          </a:xfrm>
        </p:grpSpPr>
        <p:sp>
          <p:nvSpPr>
            <p:cNvPr id="64516" name="Rectangle 4"/>
            <p:cNvSpPr>
              <a:spLocks noChangeArrowheads="1"/>
            </p:cNvSpPr>
            <p:nvPr/>
          </p:nvSpPr>
          <p:spPr bwMode="auto">
            <a:xfrm>
              <a:off x="431" y="527"/>
              <a:ext cx="5034" cy="131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64517" name="Text Box 5"/>
            <p:cNvSpPr txBox="1">
              <a:spLocks noChangeArrowheads="1"/>
            </p:cNvSpPr>
            <p:nvPr/>
          </p:nvSpPr>
          <p:spPr bwMode="auto">
            <a:xfrm>
              <a:off x="521" y="618"/>
              <a:ext cx="4854" cy="1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3200"/>
                <a:t>由于连续介质概念成立，所以描述流场内流体质点运动参量（</a:t>
              </a:r>
              <a:r>
                <a:rPr lang="en-US" altLang="zh-CN" sz="3200"/>
                <a:t>V</a:t>
              </a:r>
              <a:r>
                <a:rPr lang="zh-CN" altLang="en-US" sz="3200"/>
                <a:t>、</a:t>
              </a:r>
              <a:r>
                <a:rPr lang="en-US" altLang="zh-CN" sz="3200"/>
                <a:t>P</a:t>
              </a:r>
              <a:r>
                <a:rPr lang="zh-CN" altLang="en-US" sz="3200"/>
                <a:t>、</a:t>
              </a:r>
              <a:r>
                <a:rPr lang="en-US" altLang="zh-CN" sz="3200"/>
                <a:t>ρ</a:t>
              </a:r>
              <a:r>
                <a:rPr lang="zh-CN" altLang="en-US" sz="3200"/>
                <a:t>、</a:t>
              </a:r>
              <a:r>
                <a:rPr lang="en-US" altLang="zh-CN" sz="3200"/>
                <a:t>T</a:t>
              </a:r>
              <a:r>
                <a:rPr lang="zh-CN" altLang="en-US" sz="3200"/>
                <a:t>、</a:t>
              </a:r>
              <a:r>
                <a:rPr lang="en-US" altLang="zh-CN" sz="3200"/>
                <a:t>C</a:t>
              </a:r>
              <a:r>
                <a:rPr lang="zh-CN" altLang="en-US" sz="3200"/>
                <a:t>），对空间坐标（</a:t>
              </a:r>
              <a:r>
                <a:rPr lang="en-US" altLang="zh-CN" sz="3200"/>
                <a:t>x</a:t>
              </a:r>
              <a:r>
                <a:rPr lang="zh-CN" altLang="en-US" sz="3200"/>
                <a:t>，</a:t>
              </a:r>
              <a:r>
                <a:rPr lang="en-US" altLang="zh-CN" sz="3200"/>
                <a:t>y</a:t>
              </a:r>
              <a:r>
                <a:rPr lang="zh-CN" altLang="en-US" sz="3200"/>
                <a:t>，</a:t>
              </a:r>
              <a:r>
                <a:rPr lang="en-US" altLang="zh-CN" sz="3200"/>
                <a:t>z</a:t>
              </a:r>
              <a:r>
                <a:rPr lang="zh-CN" altLang="en-US" sz="3200"/>
                <a:t>）和时间（</a:t>
              </a:r>
              <a:r>
                <a:rPr lang="en-US" altLang="zh-CN" sz="3200"/>
                <a:t>t</a:t>
              </a:r>
              <a:r>
                <a:rPr lang="zh-CN" altLang="en-US" sz="3200"/>
                <a:t>）的函数也是连续函数。 </a:t>
              </a:r>
            </a:p>
          </p:txBody>
        </p:sp>
      </p:grp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2341418" y="3284538"/>
            <a:ext cx="75709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可以写成：</a:t>
            </a:r>
            <a:r>
              <a:rPr lang="en-US" altLang="zh-CN" sz="2400" dirty="0"/>
              <a:t>X=f</a:t>
            </a:r>
            <a:r>
              <a:rPr lang="zh-CN" altLang="en-US" sz="2400" dirty="0"/>
              <a:t>（</a:t>
            </a:r>
            <a:r>
              <a:rPr lang="en-US" altLang="zh-CN" sz="2400" dirty="0"/>
              <a:t>x</a:t>
            </a:r>
            <a:r>
              <a:rPr lang="zh-CN" altLang="en-US" sz="2400" dirty="0"/>
              <a:t>，</a:t>
            </a:r>
            <a:r>
              <a:rPr lang="en-US" altLang="zh-CN" sz="2400" dirty="0"/>
              <a:t>y</a:t>
            </a:r>
            <a:r>
              <a:rPr lang="zh-CN" altLang="en-US" sz="2400" dirty="0"/>
              <a:t>，</a:t>
            </a:r>
            <a:r>
              <a:rPr lang="en-US" altLang="zh-CN" sz="2400" dirty="0"/>
              <a:t>z</a:t>
            </a:r>
            <a:r>
              <a:rPr lang="zh-CN" altLang="en-US" sz="2400" dirty="0"/>
              <a:t>，</a:t>
            </a:r>
            <a:r>
              <a:rPr lang="en-US" altLang="zh-CN" sz="2400" dirty="0"/>
              <a:t>t</a:t>
            </a:r>
            <a:r>
              <a:rPr lang="zh-CN" altLang="en-US" sz="2400" dirty="0"/>
              <a:t>） </a:t>
            </a:r>
          </a:p>
          <a:p>
            <a:pPr algn="l"/>
            <a:r>
              <a:rPr lang="zh-CN" altLang="en-US" sz="2400" dirty="0"/>
              <a:t>与</a:t>
            </a:r>
            <a:r>
              <a:rPr lang="en-US" altLang="zh-CN" sz="2400" dirty="0"/>
              <a:t>t</a:t>
            </a:r>
            <a:r>
              <a:rPr lang="zh-CN" altLang="en-US" sz="2400" dirty="0"/>
              <a:t>无关时，称稳定场（或定常场）； </a:t>
            </a:r>
          </a:p>
          <a:p>
            <a:pPr algn="l"/>
            <a:r>
              <a:rPr lang="zh-CN" altLang="en-US" sz="2400" dirty="0"/>
              <a:t>与</a:t>
            </a:r>
            <a:r>
              <a:rPr lang="en-US" altLang="zh-CN" sz="2400" dirty="0"/>
              <a:t>t</a:t>
            </a:r>
            <a:r>
              <a:rPr lang="zh-CN" altLang="en-US" sz="2400" dirty="0"/>
              <a:t>有关时，称不稳定场（或不定常场）； </a:t>
            </a:r>
          </a:p>
          <a:p>
            <a:pPr algn="l"/>
            <a:r>
              <a:rPr lang="zh-CN" altLang="en-US" sz="2400" dirty="0"/>
              <a:t>与（</a:t>
            </a:r>
            <a:r>
              <a:rPr lang="en-US" altLang="zh-CN" sz="2400" dirty="0"/>
              <a:t>x</a:t>
            </a:r>
            <a:r>
              <a:rPr lang="zh-CN" altLang="en-US" sz="2400" dirty="0"/>
              <a:t>，</a:t>
            </a:r>
            <a:r>
              <a:rPr lang="en-US" altLang="zh-CN" sz="2400" dirty="0"/>
              <a:t>y</a:t>
            </a:r>
            <a:r>
              <a:rPr lang="zh-CN" altLang="en-US" sz="2400" dirty="0"/>
              <a:t>，</a:t>
            </a:r>
            <a:r>
              <a:rPr lang="en-US" altLang="zh-CN" sz="2400" dirty="0"/>
              <a:t>z</a:t>
            </a:r>
            <a:r>
              <a:rPr lang="zh-CN" altLang="en-US" sz="2400" dirty="0"/>
              <a:t>）无关，均值场； </a:t>
            </a:r>
          </a:p>
          <a:p>
            <a:pPr algn="l"/>
            <a:r>
              <a:rPr lang="zh-CN" altLang="en-US" sz="2400" dirty="0"/>
              <a:t>与（</a:t>
            </a:r>
            <a:r>
              <a:rPr lang="en-US" altLang="zh-CN" sz="2400" dirty="0"/>
              <a:t>x</a:t>
            </a:r>
            <a:r>
              <a:rPr lang="zh-CN" altLang="en-US" sz="2400" dirty="0"/>
              <a:t>，</a:t>
            </a:r>
            <a:r>
              <a:rPr lang="en-US" altLang="zh-CN" sz="2400" dirty="0"/>
              <a:t>y</a:t>
            </a:r>
            <a:r>
              <a:rPr lang="zh-CN" altLang="en-US" sz="2400" dirty="0"/>
              <a:t>，</a:t>
            </a:r>
            <a:r>
              <a:rPr lang="en-US" altLang="zh-CN" sz="2400" dirty="0"/>
              <a:t>z</a:t>
            </a:r>
            <a:r>
              <a:rPr lang="zh-CN" altLang="en-US" sz="2400" dirty="0"/>
              <a:t>）有关，非均值场。 </a:t>
            </a:r>
          </a:p>
        </p:txBody>
      </p:sp>
    </p:spTree>
    <p:extLst>
      <p:ext uri="{BB962C8B-B14F-4D97-AF65-F5344CB8AC3E}">
        <p14:creationId xmlns:p14="http://schemas.microsoft.com/office/powerpoint/2010/main" val="375665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919288" y="692150"/>
            <a:ext cx="8064500" cy="3886200"/>
          </a:xfrm>
        </p:spPr>
        <p:txBody>
          <a:bodyPr/>
          <a:lstStyle/>
          <a:p>
            <a:r>
              <a:rPr lang="zh-CN" altLang="en-US" sz="2800"/>
              <a:t>在流体力学中，一般用欧拉法描述流体运动。流体运动可表示为速度场，在直角坐标系中，</a:t>
            </a:r>
            <a:r>
              <a:rPr lang="en-US" altLang="zh-CN" sz="2800"/>
              <a:t>x,y,z</a:t>
            </a:r>
            <a:r>
              <a:rPr lang="zh-CN" altLang="en-US" sz="2800"/>
              <a:t>三个坐标轴方向的速度分量为： </a:t>
            </a:r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9" y="2276475"/>
            <a:ext cx="3024187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562" name="Group 26"/>
          <p:cNvGrpSpPr>
            <a:grpSpLocks/>
          </p:cNvGrpSpPr>
          <p:nvPr/>
        </p:nvGrpSpPr>
        <p:grpSpPr bwMode="auto">
          <a:xfrm>
            <a:off x="2063750" y="4076700"/>
            <a:ext cx="6840538" cy="958850"/>
            <a:chOff x="68" y="2568"/>
            <a:chExt cx="4309" cy="604"/>
          </a:xfrm>
        </p:grpSpPr>
        <p:sp>
          <p:nvSpPr>
            <p:cNvPr id="65541" name="Text Box 5"/>
            <p:cNvSpPr txBox="1">
              <a:spLocks noChangeArrowheads="1"/>
            </p:cNvSpPr>
            <p:nvPr/>
          </p:nvSpPr>
          <p:spPr bwMode="auto">
            <a:xfrm>
              <a:off x="68" y="2750"/>
              <a:ext cx="358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/>
                <a:t>流体质点的加速度为： </a:t>
              </a:r>
            </a:p>
          </p:txBody>
        </p:sp>
        <p:pic>
          <p:nvPicPr>
            <p:cNvPr id="65542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568"/>
              <a:ext cx="1497" cy="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5563" name="Group 27"/>
          <p:cNvGrpSpPr>
            <a:grpSpLocks/>
          </p:cNvGrpSpPr>
          <p:nvPr/>
        </p:nvGrpSpPr>
        <p:grpSpPr bwMode="auto">
          <a:xfrm>
            <a:off x="2063750" y="5013325"/>
            <a:ext cx="8064500" cy="1511300"/>
            <a:chOff x="340" y="3158"/>
            <a:chExt cx="5080" cy="952"/>
          </a:xfrm>
        </p:grpSpPr>
        <p:sp>
          <p:nvSpPr>
            <p:cNvPr id="65551" name="Rectangle 15"/>
            <p:cNvSpPr>
              <a:spLocks noChangeArrowheads="1"/>
            </p:cNvSpPr>
            <p:nvPr/>
          </p:nvSpPr>
          <p:spPr bwMode="auto">
            <a:xfrm>
              <a:off x="340" y="3158"/>
              <a:ext cx="5080" cy="95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graphicFrame>
          <p:nvGraphicFramePr>
            <p:cNvPr id="65558" name="Object 22"/>
            <p:cNvGraphicFramePr>
              <a:graphicFrameLocks noChangeAspect="1"/>
            </p:cNvGraphicFramePr>
            <p:nvPr/>
          </p:nvGraphicFramePr>
          <p:xfrm>
            <a:off x="340" y="3249"/>
            <a:ext cx="4898" cy="8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文档" r:id="rId5" imgW="5828380" imgH="771868" progId="Word.Document.8">
                    <p:embed/>
                  </p:oleObj>
                </mc:Choice>
                <mc:Fallback>
                  <p:oleObj name="文档" r:id="rId5" imgW="5828380" imgH="771868" progId="Word.Document.8">
                    <p:embed/>
                    <p:pic>
                      <p:nvPicPr>
                        <p:cNvPr id="65558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44472"/>
                        <a:stretch>
                          <a:fillRect/>
                        </a:stretch>
                      </p:blipFill>
                      <p:spPr bwMode="auto">
                        <a:xfrm>
                          <a:off x="340" y="3249"/>
                          <a:ext cx="4898" cy="8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5561" name="Picture 25" descr="j021769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89" y="2205038"/>
            <a:ext cx="1747837" cy="169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89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流场的量测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Particle Image Velocimetry</a:t>
            </a:r>
            <a:r>
              <a:rPr lang="zh-CN" altLang="zh-CN" dirty="0"/>
              <a:t>，简称</a:t>
            </a:r>
            <a:r>
              <a:rPr lang="en-US" altLang="zh-CN" dirty="0"/>
              <a:t>PIV</a:t>
            </a:r>
            <a:r>
              <a:rPr lang="zh-CN" altLang="zh-CN" dirty="0"/>
              <a:t>，又称粒子图像测速法，是七十年代末发展起来的一种瞬态、多点、无接触式的激光流体力学测速方法。近几十年来得到了不断完善与发展，</a:t>
            </a:r>
            <a:r>
              <a:rPr lang="en-US" altLang="zh-CN" dirty="0"/>
              <a:t>PIV</a:t>
            </a:r>
            <a:r>
              <a:rPr lang="zh-CN" altLang="zh-CN" dirty="0"/>
              <a:t>技术的特点是超出了单点测速技术（如</a:t>
            </a:r>
            <a:r>
              <a:rPr lang="en-US" altLang="zh-CN" dirty="0">
                <a:hlinkClick r:id="rId2"/>
              </a:rPr>
              <a:t>CTA</a:t>
            </a:r>
            <a:r>
              <a:rPr lang="zh-CN" altLang="zh-CN" dirty="0"/>
              <a:t>、</a:t>
            </a:r>
            <a:r>
              <a:rPr lang="en-US" altLang="zh-CN" dirty="0"/>
              <a:t>LDA</a:t>
            </a:r>
            <a:r>
              <a:rPr lang="zh-CN" altLang="zh-CN" dirty="0"/>
              <a:t>）的局限性，能在同一瞬态记录下大量空间点上的速度分布信息，并可提供丰富的流场空间结构以及流动特性。</a:t>
            </a:r>
          </a:p>
        </p:txBody>
      </p:sp>
    </p:spTree>
    <p:extLst>
      <p:ext uri="{BB962C8B-B14F-4D97-AF65-F5344CB8AC3E}">
        <p14:creationId xmlns:p14="http://schemas.microsoft.com/office/powerpoint/2010/main" val="3402537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solidFill>
                  <a:srgbClr val="CC0000"/>
                </a:solidFill>
              </a:rPr>
              <a:t>粒子</a:t>
            </a:r>
            <a:r>
              <a:rPr lang="zh-CN" altLang="en-US" b="0" dirty="0">
                <a:solidFill>
                  <a:srgbClr val="CC0000"/>
                </a:solidFill>
              </a:rPr>
              <a:t>图像测速技术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5562600" cy="5667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）三维粒子成像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1981200" y="2057401"/>
            <a:ext cx="86868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1</a:t>
            </a:r>
            <a:r>
              <a:rPr lang="en-US" altLang="zh-CN"/>
              <a:t>. </a:t>
            </a:r>
            <a:r>
              <a:rPr lang="en-US" altLang="zh-CN" sz="2400"/>
              <a:t>3D</a:t>
            </a:r>
            <a:r>
              <a:rPr lang="zh-CN" altLang="en-US" sz="2400"/>
              <a:t>一</a:t>
            </a:r>
            <a:r>
              <a:rPr lang="en-US" altLang="zh-CN" sz="2400"/>
              <a:t>SCPIV</a:t>
            </a:r>
          </a:p>
          <a:p>
            <a:r>
              <a:rPr lang="en-US" altLang="zh-CN" sz="2400"/>
              <a:t>       (3Dnimensional </a:t>
            </a:r>
            <a:r>
              <a:rPr lang="en-US" altLang="zh-CN" sz="2400">
                <a:solidFill>
                  <a:srgbClr val="CC0000"/>
                </a:solidFill>
              </a:rPr>
              <a:t>single Camera</a:t>
            </a:r>
            <a:r>
              <a:rPr lang="en-US" altLang="zh-CN" sz="2400"/>
              <a:t> Particle Image Velocimetry)</a:t>
            </a:r>
          </a:p>
          <a:p>
            <a:r>
              <a:rPr lang="zh-CN" altLang="en-US" sz="3600"/>
              <a:t>散焦现象</a:t>
            </a:r>
            <a:r>
              <a:rPr lang="en-US" altLang="zh-CN" sz="3600"/>
              <a:t>:</a:t>
            </a:r>
          </a:p>
          <a:p>
            <a:endParaRPr lang="en-US" altLang="zh-CN" sz="3600"/>
          </a:p>
        </p:txBody>
      </p:sp>
      <p:pic>
        <p:nvPicPr>
          <p:cNvPr id="5427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429001"/>
            <a:ext cx="7315200" cy="290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1752601" y="5715001"/>
            <a:ext cx="6399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将模糊效果量化就可以得到被测粒子的沿光轴方向的深度信息</a:t>
            </a:r>
          </a:p>
        </p:txBody>
      </p:sp>
    </p:spTree>
    <p:extLst>
      <p:ext uri="{BB962C8B-B14F-4D97-AF65-F5344CB8AC3E}">
        <p14:creationId xmlns:p14="http://schemas.microsoft.com/office/powerpoint/2010/main" val="154157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solidFill>
                  <a:srgbClr val="CC0000"/>
                </a:solidFill>
              </a:rPr>
              <a:t>粒子</a:t>
            </a:r>
            <a:r>
              <a:rPr lang="zh-CN" altLang="en-US" b="0" dirty="0">
                <a:solidFill>
                  <a:srgbClr val="CC0000"/>
                </a:solidFill>
              </a:rPr>
              <a:t>图像测速技术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2438401" y="2136776"/>
            <a:ext cx="72130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2. 3D</a:t>
            </a:r>
            <a:r>
              <a:rPr lang="zh-CN" altLang="en-US" sz="2400"/>
              <a:t>一</a:t>
            </a:r>
            <a:r>
              <a:rPr lang="en-US" altLang="zh-CN" sz="2400"/>
              <a:t>VPTV (volumetric particle tracking veloeimetry)</a:t>
            </a:r>
          </a:p>
          <a:p>
            <a:r>
              <a:rPr lang="zh-CN" altLang="en-US" sz="2400"/>
              <a:t>典型布置方法：两个相机和两光轴</a:t>
            </a:r>
          </a:p>
          <a:p>
            <a:endParaRPr lang="en-US" altLang="zh-CN" sz="2400"/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2209800" y="1524001"/>
            <a:ext cx="3227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）三维粒子成像</a:t>
            </a:r>
          </a:p>
        </p:txBody>
      </p:sp>
      <p:pic>
        <p:nvPicPr>
          <p:cNvPr id="5735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200400"/>
            <a:ext cx="76962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4648200" y="5715000"/>
            <a:ext cx="2317750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/>
              <a:t>透视成像原理</a:t>
            </a:r>
          </a:p>
          <a:p>
            <a:endParaRPr lang="en-US" altLang="zh-CN"/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7924800" y="4038601"/>
            <a:ext cx="109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光学中心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8458200" y="5181601"/>
            <a:ext cx="109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相机胶片</a:t>
            </a:r>
          </a:p>
        </p:txBody>
      </p:sp>
    </p:spTree>
    <p:extLst>
      <p:ext uri="{BB962C8B-B14F-4D97-AF65-F5344CB8AC3E}">
        <p14:creationId xmlns:p14="http://schemas.microsoft.com/office/powerpoint/2010/main" val="68729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solidFill>
                  <a:srgbClr val="CC0000"/>
                </a:solidFill>
              </a:rPr>
              <a:t>粒子</a:t>
            </a:r>
            <a:r>
              <a:rPr lang="zh-CN" altLang="en-US" b="0" dirty="0">
                <a:solidFill>
                  <a:srgbClr val="CC0000"/>
                </a:solidFill>
              </a:rPr>
              <a:t>图像测速技术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2209800" y="1524000"/>
            <a:ext cx="7086600" cy="122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）三维粒子成像</a:t>
            </a:r>
            <a:r>
              <a:rPr lang="zh-CN" altLang="en-US"/>
              <a:t>典型布置方法：两个相机和两光轴</a:t>
            </a:r>
          </a:p>
          <a:p>
            <a:endParaRPr lang="zh-CN" altLang="en-US"/>
          </a:p>
          <a:p>
            <a:endParaRPr lang="en-US" altLang="zh-CN" sz="2800" b="1"/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2438401" y="2136776"/>
            <a:ext cx="721306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2. 3D</a:t>
            </a:r>
            <a:r>
              <a:rPr lang="zh-CN" altLang="en-US" sz="2400"/>
              <a:t>一</a:t>
            </a:r>
            <a:r>
              <a:rPr lang="en-US" altLang="zh-CN" sz="2400"/>
              <a:t>VPTV (volumetric particle tracking veloeimetry)</a:t>
            </a:r>
          </a:p>
          <a:p>
            <a:endParaRPr lang="en-US" altLang="zh-CN" sz="2400"/>
          </a:p>
        </p:txBody>
      </p:sp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90800"/>
            <a:ext cx="8686800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4648200" y="6126164"/>
            <a:ext cx="262255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两个相机和两光轴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468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solidFill>
                  <a:srgbClr val="CC0000"/>
                </a:solidFill>
              </a:rPr>
              <a:t>粒子</a:t>
            </a:r>
            <a:r>
              <a:rPr lang="zh-CN" altLang="en-US" b="0" dirty="0">
                <a:solidFill>
                  <a:srgbClr val="CC0000"/>
                </a:solidFill>
              </a:rPr>
              <a:t>图像测速技术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5562600" cy="566738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）三维粒子成像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2438400" y="1981201"/>
            <a:ext cx="61963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3.</a:t>
            </a:r>
            <a:r>
              <a:rPr lang="zh-CN" altLang="en-US" sz="2400"/>
              <a:t>数字全息粒子图像测速</a:t>
            </a:r>
            <a:r>
              <a:rPr lang="en-US" altLang="zh-CN" sz="2400"/>
              <a:t>DHPIV</a:t>
            </a:r>
          </a:p>
          <a:p>
            <a:r>
              <a:rPr lang="en-US" altLang="zh-CN" sz="2400"/>
              <a:t>(Digital Holography Particle Image Velocimetry</a:t>
            </a:r>
            <a:r>
              <a:rPr lang="en-US" altLang="zh-CN"/>
              <a:t>)</a:t>
            </a:r>
          </a:p>
          <a:p>
            <a:endParaRPr lang="en-US" altLang="zh-CN" sz="2400"/>
          </a:p>
        </p:txBody>
      </p:sp>
      <p:pic>
        <p:nvPicPr>
          <p:cNvPr id="563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971801"/>
            <a:ext cx="6934200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6096000" y="2971801"/>
            <a:ext cx="2698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瞬时空间场全息干涉条纹</a:t>
            </a:r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7315200" y="5867401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同轴式</a:t>
            </a:r>
          </a:p>
        </p:txBody>
      </p:sp>
    </p:spTree>
    <p:extLst>
      <p:ext uri="{BB962C8B-B14F-4D97-AF65-F5344CB8AC3E}">
        <p14:creationId xmlns:p14="http://schemas.microsoft.com/office/powerpoint/2010/main" val="21793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solidFill>
                  <a:srgbClr val="CC0000"/>
                </a:solidFill>
              </a:rPr>
              <a:t>粒子</a:t>
            </a:r>
            <a:r>
              <a:rPr lang="zh-CN" altLang="en-US" b="0" dirty="0">
                <a:solidFill>
                  <a:srgbClr val="CC0000"/>
                </a:solidFill>
              </a:rPr>
              <a:t>图像测速技术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5562600" cy="566738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）三维粒子成像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2362200" y="2057400"/>
            <a:ext cx="62484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3.</a:t>
            </a:r>
            <a:r>
              <a:rPr lang="zh-CN" altLang="en-US" sz="2400"/>
              <a:t>数字全息粒子图像测速</a:t>
            </a:r>
            <a:r>
              <a:rPr lang="en-US" altLang="zh-CN" sz="2400"/>
              <a:t>DHPIV</a:t>
            </a:r>
          </a:p>
          <a:p>
            <a:endParaRPr lang="en-US" altLang="zh-CN"/>
          </a:p>
          <a:p>
            <a:endParaRPr lang="en-US" altLang="zh-CN" sz="2400"/>
          </a:p>
        </p:txBody>
      </p:sp>
      <p:pic>
        <p:nvPicPr>
          <p:cNvPr id="604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14601"/>
            <a:ext cx="5562600" cy="394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7620000" y="5105401"/>
            <a:ext cx="269875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技术难点：</a:t>
            </a:r>
          </a:p>
          <a:p>
            <a:r>
              <a:rPr lang="zh-CN" altLang="en-US"/>
              <a:t>定位精度与空间分辨率</a:t>
            </a:r>
          </a:p>
          <a:p>
            <a:r>
              <a:rPr lang="zh-CN" altLang="en-US"/>
              <a:t>信噪比问题</a:t>
            </a:r>
          </a:p>
          <a:p>
            <a:r>
              <a:rPr lang="zh-CN" altLang="en-US"/>
              <a:t>数字全息图像的快速重建</a:t>
            </a:r>
          </a:p>
          <a:p>
            <a:r>
              <a:rPr lang="zh-CN" altLang="en-US"/>
              <a:t>再现的数理方法等问题</a:t>
            </a:r>
            <a:r>
              <a:rPr lang="en-US" altLang="zh-CN"/>
              <a:t>.</a:t>
            </a:r>
          </a:p>
        </p:txBody>
      </p:sp>
      <p:sp>
        <p:nvSpPr>
          <p:cNvPr id="60424" name="Text Box 8"/>
          <p:cNvSpPr txBox="1">
            <a:spLocks noChangeArrowheads="1"/>
          </p:cNvSpPr>
          <p:nvPr/>
        </p:nvSpPr>
        <p:spPr bwMode="auto">
          <a:xfrm>
            <a:off x="6172200" y="5867401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同轴式</a:t>
            </a:r>
          </a:p>
        </p:txBody>
      </p:sp>
    </p:spTree>
    <p:extLst>
      <p:ext uri="{BB962C8B-B14F-4D97-AF65-F5344CB8AC3E}">
        <p14:creationId xmlns:p14="http://schemas.microsoft.com/office/powerpoint/2010/main" val="7807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系统的连接方式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80" y="1942584"/>
            <a:ext cx="475456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5"/>
          <a:stretch>
            <a:fillRect/>
          </a:stretch>
        </p:blipFill>
        <p:spPr bwMode="auto">
          <a:xfrm>
            <a:off x="6547261" y="1371600"/>
            <a:ext cx="3468745" cy="400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494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zh-CN" altLang="en-US" dirty="0"/>
              <a:t>同步器输出图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667" y="5565381"/>
            <a:ext cx="10871200" cy="562369"/>
          </a:xfrm>
        </p:spPr>
        <p:txBody>
          <a:bodyPr/>
          <a:lstStyle/>
          <a:p>
            <a:pPr marL="0" indent="0" algn="ctr">
              <a:buNone/>
            </a:pP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61" y="1828800"/>
            <a:ext cx="4473485" cy="321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152" y="1828800"/>
            <a:ext cx="4399974" cy="327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413416" y="1371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6744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相机的连接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667" y="1628775"/>
            <a:ext cx="5694988" cy="4425661"/>
          </a:xfrm>
        </p:spPr>
        <p:txBody>
          <a:bodyPr/>
          <a:lstStyle/>
          <a:p>
            <a:r>
              <a:rPr lang="zh-CN" altLang="zh-CN" dirty="0"/>
              <a:t>相机通过白色宽数据线连接电脑，用一黑色圆头线同时连接相机电源和同步器，其中同步线连接线接同步器输出端</a:t>
            </a:r>
            <a:r>
              <a:rPr lang="en-US" altLang="zh-CN" dirty="0"/>
              <a:t>5</a:t>
            </a:r>
            <a:r>
              <a:rPr lang="zh-CN" altLang="zh-CN" dirty="0"/>
              <a:t>（</a:t>
            </a:r>
            <a:r>
              <a:rPr lang="en-US" altLang="zh-CN" dirty="0"/>
              <a:t>OUT5</a:t>
            </a:r>
            <a:r>
              <a:rPr lang="zh-CN" altLang="zh-CN" dirty="0"/>
              <a:t>）和</a:t>
            </a:r>
            <a:r>
              <a:rPr lang="en-US" altLang="zh-CN" dirty="0"/>
              <a:t>6</a:t>
            </a:r>
            <a:r>
              <a:rPr lang="zh-CN" altLang="zh-CN" dirty="0"/>
              <a:t>（</a:t>
            </a:r>
            <a:r>
              <a:rPr lang="en-US" altLang="zh-CN" dirty="0"/>
              <a:t>OUT6</a:t>
            </a:r>
            <a:r>
              <a:rPr lang="zh-CN" altLang="zh-CN" dirty="0"/>
              <a:t>），默认为</a:t>
            </a:r>
            <a:r>
              <a:rPr lang="en-US" altLang="zh-CN" dirty="0"/>
              <a:t>5</a:t>
            </a:r>
            <a:r>
              <a:rPr lang="zh-CN" altLang="zh-CN" dirty="0"/>
              <a:t>（</a:t>
            </a:r>
            <a:r>
              <a:rPr lang="en-US" altLang="zh-CN" dirty="0"/>
              <a:t>OUT5</a:t>
            </a:r>
            <a:r>
              <a:rPr lang="zh-CN" altLang="zh-CN" dirty="0"/>
              <a:t>）。连接相机电源。连接方法见下图：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5"/>
          <a:stretch>
            <a:fillRect/>
          </a:stretch>
        </p:blipFill>
        <p:spPr bwMode="auto">
          <a:xfrm>
            <a:off x="7487805" y="3066617"/>
            <a:ext cx="237807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01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采集到的照片进行后处理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去背景</a:t>
            </a:r>
            <a:r>
              <a:rPr lang="zh-CN" altLang="en-US" dirty="0"/>
              <a:t>前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 smtClean="0"/>
              <a:t>去背景后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" name="内容占位符 9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7811" y="2505075"/>
            <a:ext cx="3551965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内容占位符 1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31252" y="2505075"/>
            <a:ext cx="3574858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635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矢量图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0682" y="1628775"/>
            <a:ext cx="5010185" cy="4498975"/>
          </a:xfrm>
        </p:spPr>
        <p:txBody>
          <a:bodyPr/>
          <a:lstStyle/>
          <a:p>
            <a:r>
              <a:rPr lang="zh-CN" altLang="zh-CN" dirty="0"/>
              <a:t>用去除背景的粒子图片做互相关处理得到流场的矢量</a:t>
            </a:r>
            <a:r>
              <a:rPr lang="zh-CN" altLang="zh-CN" dirty="0" smtClean="0"/>
              <a:t>图</a:t>
            </a:r>
            <a:endParaRPr lang="en-US" altLang="zh-CN" dirty="0" smtClean="0"/>
          </a:p>
          <a:p>
            <a:r>
              <a:rPr lang="zh-CN" altLang="zh-CN" dirty="0"/>
              <a:t>蓝色箭头代表由互相关计算出的矢量，绿色箭头代表由差值增补的矢量。</a:t>
            </a:r>
            <a:r>
              <a:rPr lang="zh-CN" altLang="zh-CN" b="1" dirty="0"/>
              <a:t>在需要观测的区域</a:t>
            </a:r>
            <a:r>
              <a:rPr lang="zh-CN" altLang="zh-CN" dirty="0"/>
              <a:t>，蓝色箭头数量越多越好。</a:t>
            </a:r>
            <a:endParaRPr lang="zh-CN" altLang="en-US" dirty="0"/>
          </a:p>
        </p:txBody>
      </p:sp>
      <p:pic>
        <p:nvPicPr>
          <p:cNvPr id="4" name="内容占位符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58599" y="1628775"/>
            <a:ext cx="421799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316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矢量图的初步处理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27817" y="1628775"/>
            <a:ext cx="4563050" cy="4498975"/>
          </a:xfrm>
        </p:spPr>
        <p:txBody>
          <a:bodyPr/>
          <a:lstStyle/>
          <a:p>
            <a:r>
              <a:rPr lang="zh-CN" altLang="zh-CN" dirty="0"/>
              <a:t>在弹出的窗口中用鼠标框出中心部分矢量密集的区域然后点</a:t>
            </a:r>
            <a:r>
              <a:rPr lang="en-US" altLang="zh-CN" dirty="0"/>
              <a:t>OK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556" y="1949631"/>
            <a:ext cx="5762625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429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去除错误矢量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0466" y="1628775"/>
            <a:ext cx="4680401" cy="4498975"/>
          </a:xfrm>
        </p:spPr>
        <p:txBody>
          <a:bodyPr/>
          <a:lstStyle/>
          <a:p>
            <a:r>
              <a:rPr lang="zh-CN" altLang="zh-CN" dirty="0"/>
              <a:t>软件会把偏离中心区域的矢量标记为错误矢量（红色箭头）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48481" y="1780175"/>
            <a:ext cx="4427269" cy="41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966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去除拐点并使矢量平滑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36837" y="2923082"/>
            <a:ext cx="4954030" cy="320466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所得到的矢量图中所有矢量都被替代为周围矢量的均值，这样会使矢量图看起来更</a:t>
            </a:r>
            <a:r>
              <a:rPr lang="zh-CN" altLang="zh-CN" dirty="0" smtClean="0"/>
              <a:t>平滑</a:t>
            </a:r>
            <a:endParaRPr lang="zh-CN" altLang="zh-CN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54243" y="1191718"/>
            <a:ext cx="4726284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5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平滑的矢量图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85456" y="2117725"/>
            <a:ext cx="3267508" cy="263461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980709" y="2193289"/>
            <a:ext cx="2590800" cy="262255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8042276" y="2193289"/>
            <a:ext cx="2400300" cy="255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9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三维矢量图合成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166" y="1371600"/>
            <a:ext cx="10871200" cy="4498975"/>
          </a:xfrm>
        </p:spPr>
        <p:txBody>
          <a:bodyPr/>
          <a:lstStyle/>
          <a:p>
            <a:r>
              <a:rPr lang="zh-CN" altLang="zh-CN" dirty="0"/>
              <a:t>分别用空格选中两个相机的标定文件盒两个相机的矢量图，并在其中一个矢量图上右键选择</a:t>
            </a:r>
            <a:r>
              <a:rPr lang="en-US" altLang="zh-CN" dirty="0"/>
              <a:t>Analyze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49573" y="2724785"/>
            <a:ext cx="5274310" cy="413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18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84075" y="1371600"/>
            <a:ext cx="7991445" cy="94460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在第二个相机所拍到的照片中做同样的操作</a:t>
            </a: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2602532" y="2986904"/>
            <a:ext cx="5705445" cy="944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kern="0" dirty="0" smtClean="0"/>
              <a:t>使用</a:t>
            </a:r>
            <a:r>
              <a:rPr lang="en-US" altLang="zh-CN" kern="0" dirty="0" smtClean="0"/>
              <a:t>mask</a:t>
            </a:r>
            <a:r>
              <a:rPr lang="zh-CN" altLang="en-US" kern="0" dirty="0" smtClean="0"/>
              <a:t>功能去掉无关区域</a:t>
            </a:r>
            <a:endParaRPr lang="zh-CN" altLang="en-US" kern="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689773" y="4476205"/>
            <a:ext cx="3298856" cy="944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zh-CN" dirty="0"/>
              <a:t>三维矢量图合成</a:t>
            </a:r>
            <a:endParaRPr lang="zh-CN" altLang="en-US" kern="0" dirty="0"/>
          </a:p>
        </p:txBody>
      </p:sp>
      <p:sp>
        <p:nvSpPr>
          <p:cNvPr id="6" name="下箭头 5"/>
          <p:cNvSpPr/>
          <p:nvPr/>
        </p:nvSpPr>
        <p:spPr bwMode="auto">
          <a:xfrm>
            <a:off x="5455254" y="2242254"/>
            <a:ext cx="122586" cy="566260"/>
          </a:xfrm>
          <a:prstGeom prst="down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下箭头 8"/>
          <p:cNvSpPr/>
          <p:nvPr/>
        </p:nvSpPr>
        <p:spPr bwMode="auto">
          <a:xfrm>
            <a:off x="6091766" y="2270489"/>
            <a:ext cx="47777" cy="45719"/>
          </a:xfrm>
          <a:prstGeom prst="down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下箭头 9"/>
          <p:cNvSpPr/>
          <p:nvPr/>
        </p:nvSpPr>
        <p:spPr bwMode="auto">
          <a:xfrm>
            <a:off x="5409535" y="2242254"/>
            <a:ext cx="45719" cy="45719"/>
          </a:xfrm>
          <a:prstGeom prst="down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下箭头 11"/>
          <p:cNvSpPr/>
          <p:nvPr/>
        </p:nvSpPr>
        <p:spPr bwMode="auto">
          <a:xfrm>
            <a:off x="4348934" y="2265113"/>
            <a:ext cx="742345" cy="523399"/>
          </a:xfrm>
          <a:prstGeom prst="down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343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矢量统计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9805" y="1628775"/>
            <a:ext cx="4981061" cy="4498975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（不建议用于非稳态流场）</a:t>
            </a:r>
          </a:p>
          <a:p>
            <a:r>
              <a:rPr lang="zh-CN" altLang="zh-CN" dirty="0"/>
              <a:t>对于稳定流场，可以使用</a:t>
            </a:r>
            <a:r>
              <a:rPr lang="en-US" altLang="zh-CN" dirty="0"/>
              <a:t>Vector Statistics</a:t>
            </a:r>
            <a:r>
              <a:rPr lang="zh-CN" altLang="zh-CN" dirty="0"/>
              <a:t>功能反应流场的总体趋势，消除随机误差。对于观察湍流则不适用。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121" name="图片 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949" y="1371600"/>
            <a:ext cx="391477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849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910080" y="2132856"/>
            <a:ext cx="9875520" cy="1752600"/>
          </a:xfrm>
        </p:spPr>
        <p:txBody>
          <a:bodyPr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616914" y="2253172"/>
            <a:ext cx="5976664" cy="2400657"/>
          </a:xfrm>
          <a:prstGeom prst="rect">
            <a:avLst/>
          </a:prstGeom>
          <a:noFill/>
        </p:spPr>
        <p:txBody>
          <a:bodyPr vert="horz"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0" b="1" spc="50" dirty="0" smtClean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姚体" pitchFamily="2" charset="-122"/>
                <a:ea typeface="方正姚体" pitchFamily="2" charset="-122"/>
              </a:rPr>
              <a:t>谢 谢</a:t>
            </a:r>
            <a:endParaRPr lang="zh-CN" altLang="en-US" sz="15000" b="1" spc="50" dirty="0">
              <a:ln w="11430"/>
              <a:solidFill>
                <a:srgbClr val="7030A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方正姚体" pitchFamily="2" charset="-122"/>
              <a:ea typeface="方正姚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311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清华">
  <a:themeElements>
    <a:clrScheme name="清华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清华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清华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清华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辅导员评优答辩_李钟顺</Template>
  <TotalTime>20209</TotalTime>
  <Words>2077</Words>
  <Application>Microsoft Office PowerPoint</Application>
  <PresentationFormat>宽屏</PresentationFormat>
  <Paragraphs>183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6" baseType="lpstr">
      <vt:lpstr>等线</vt:lpstr>
      <vt:lpstr>方正姚体</vt:lpstr>
      <vt:lpstr>黑体</vt:lpstr>
      <vt:lpstr>华文行楷</vt:lpstr>
      <vt:lpstr>华文新魏</vt:lpstr>
      <vt:lpstr>楷体_GB2312</vt:lpstr>
      <vt:lpstr>宋体</vt:lpstr>
      <vt:lpstr>Arial</vt:lpstr>
      <vt:lpstr>Brush Script MT</vt:lpstr>
      <vt:lpstr>Calibri</vt:lpstr>
      <vt:lpstr>Symbol</vt:lpstr>
      <vt:lpstr>Tahoma</vt:lpstr>
      <vt:lpstr>Times New Roman</vt:lpstr>
      <vt:lpstr>Wingdings</vt:lpstr>
      <vt:lpstr>Wingdings 2</vt:lpstr>
      <vt:lpstr>清华</vt:lpstr>
      <vt:lpstr>文档</vt:lpstr>
      <vt:lpstr>三维流场的观察与量测</vt:lpstr>
      <vt:lpstr>什么是流体？</vt:lpstr>
      <vt:lpstr>什么是流场？</vt:lpstr>
      <vt:lpstr>流线 </vt:lpstr>
      <vt:lpstr>飞机和汽车的周围流场</vt:lpstr>
      <vt:lpstr>大气层的台风流场分布</vt:lpstr>
      <vt:lpstr>螺旋桨和水轮机的内部流场</vt:lpstr>
      <vt:lpstr>伯努利简介</vt:lpstr>
      <vt:lpstr>压强跟流速的关系</vt:lpstr>
      <vt:lpstr>应用－1</vt:lpstr>
      <vt:lpstr>应用－2</vt:lpstr>
      <vt:lpstr>小实验</vt:lpstr>
      <vt:lpstr>飞机为什么升起来</vt:lpstr>
      <vt:lpstr>思考－1</vt:lpstr>
      <vt:lpstr>思考－2</vt:lpstr>
      <vt:lpstr>其它应用</vt:lpstr>
      <vt:lpstr> 连续介质、质点、微团、控制体</vt:lpstr>
      <vt:lpstr>流体及其性质 </vt:lpstr>
      <vt:lpstr>PowerPoint 演示文稿</vt:lpstr>
      <vt:lpstr>流场是否变化</vt:lpstr>
      <vt:lpstr>有风的时候烟形成的流场</vt:lpstr>
      <vt:lpstr>迹线和流线的差别</vt:lpstr>
      <vt:lpstr>PowerPoint 演示文稿</vt:lpstr>
      <vt:lpstr>流场的维数</vt:lpstr>
      <vt:lpstr>              流体运动的研究方法</vt:lpstr>
      <vt:lpstr>PowerPoint 演示文稿</vt:lpstr>
      <vt:lpstr>欧拉法 </vt:lpstr>
      <vt:lpstr>PowerPoint 演示文稿</vt:lpstr>
      <vt:lpstr>PowerPoint 演示文稿</vt:lpstr>
      <vt:lpstr>PowerPoint 演示文稿</vt:lpstr>
      <vt:lpstr>流场的量测</vt:lpstr>
      <vt:lpstr>粒子图像测速技术</vt:lpstr>
      <vt:lpstr>粒子图像测速技术</vt:lpstr>
      <vt:lpstr>粒子图像测速技术</vt:lpstr>
      <vt:lpstr>粒子图像测速技术</vt:lpstr>
      <vt:lpstr>粒子图像测速技术</vt:lpstr>
      <vt:lpstr>系统的连接方式</vt:lpstr>
      <vt:lpstr>同步器输出图</vt:lpstr>
      <vt:lpstr>相机的连接</vt:lpstr>
      <vt:lpstr>采集到的照片进行后处理</vt:lpstr>
      <vt:lpstr>矢量图</vt:lpstr>
      <vt:lpstr>矢量图的初步处理</vt:lpstr>
      <vt:lpstr>去除错误矢量</vt:lpstr>
      <vt:lpstr>去除拐点并使矢量平滑</vt:lpstr>
      <vt:lpstr>平滑的矢量图</vt:lpstr>
      <vt:lpstr>三维矢量图合成</vt:lpstr>
      <vt:lpstr>PowerPoint 演示文稿</vt:lpstr>
      <vt:lpstr>矢量统计</vt:lpstr>
      <vt:lpstr>PowerPoint 演示文稿</vt:lpstr>
    </vt:vector>
  </TitlesOfParts>
  <Company>微软公司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Kqr88</cp:lastModifiedBy>
  <cp:revision>269</cp:revision>
  <dcterms:created xsi:type="dcterms:W3CDTF">2018-04-03T05:40:08Z</dcterms:created>
  <dcterms:modified xsi:type="dcterms:W3CDTF">2020-03-16T12:22:33Z</dcterms:modified>
</cp:coreProperties>
</file>