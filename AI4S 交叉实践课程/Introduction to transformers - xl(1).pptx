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5"/>
  </p:notesMasterIdLst>
  <p:sldIdLst>
    <p:sldId id="556" r:id="rId2"/>
    <p:sldId id="557" r:id="rId3"/>
    <p:sldId id="558" r:id="rId4"/>
    <p:sldId id="559" r:id="rId5"/>
    <p:sldId id="561" r:id="rId6"/>
    <p:sldId id="562" r:id="rId7"/>
    <p:sldId id="563" r:id="rId8"/>
    <p:sldId id="695" r:id="rId9"/>
    <p:sldId id="564" r:id="rId10"/>
    <p:sldId id="565" r:id="rId11"/>
    <p:sldId id="566" r:id="rId12"/>
    <p:sldId id="567" r:id="rId13"/>
    <p:sldId id="568" r:id="rId14"/>
    <p:sldId id="569" r:id="rId15"/>
    <p:sldId id="570" r:id="rId16"/>
    <p:sldId id="571" r:id="rId17"/>
    <p:sldId id="572" r:id="rId18"/>
    <p:sldId id="573" r:id="rId19"/>
    <p:sldId id="574" r:id="rId20"/>
    <p:sldId id="575" r:id="rId21"/>
    <p:sldId id="576" r:id="rId22"/>
    <p:sldId id="577" r:id="rId23"/>
    <p:sldId id="578" r:id="rId24"/>
    <p:sldId id="579" r:id="rId25"/>
    <p:sldId id="580" r:id="rId26"/>
    <p:sldId id="581" r:id="rId27"/>
    <p:sldId id="582" r:id="rId28"/>
    <p:sldId id="583" r:id="rId29"/>
    <p:sldId id="585" r:id="rId30"/>
    <p:sldId id="586" r:id="rId31"/>
    <p:sldId id="587" r:id="rId32"/>
    <p:sldId id="588" r:id="rId33"/>
    <p:sldId id="589" r:id="rId34"/>
    <p:sldId id="590" r:id="rId35"/>
    <p:sldId id="591" r:id="rId36"/>
    <p:sldId id="592" r:id="rId37"/>
    <p:sldId id="593" r:id="rId38"/>
    <p:sldId id="595" r:id="rId39"/>
    <p:sldId id="596" r:id="rId40"/>
    <p:sldId id="597" r:id="rId41"/>
    <p:sldId id="598" r:id="rId42"/>
    <p:sldId id="594" r:id="rId43"/>
    <p:sldId id="600" r:id="rId44"/>
    <p:sldId id="601" r:id="rId45"/>
    <p:sldId id="602" r:id="rId46"/>
    <p:sldId id="603" r:id="rId47"/>
    <p:sldId id="604" r:id="rId48"/>
    <p:sldId id="605" r:id="rId49"/>
    <p:sldId id="606" r:id="rId50"/>
    <p:sldId id="607" r:id="rId51"/>
    <p:sldId id="608" r:id="rId52"/>
    <p:sldId id="609" r:id="rId53"/>
    <p:sldId id="610" r:id="rId54"/>
    <p:sldId id="611" r:id="rId55"/>
    <p:sldId id="612" r:id="rId56"/>
    <p:sldId id="613" r:id="rId57"/>
    <p:sldId id="614" r:id="rId58"/>
    <p:sldId id="615" r:id="rId59"/>
    <p:sldId id="616" r:id="rId60"/>
    <p:sldId id="617" r:id="rId61"/>
    <p:sldId id="618" r:id="rId62"/>
    <p:sldId id="619" r:id="rId63"/>
    <p:sldId id="620" r:id="rId64"/>
    <p:sldId id="621" r:id="rId65"/>
    <p:sldId id="622" r:id="rId66"/>
    <p:sldId id="623" r:id="rId67"/>
    <p:sldId id="624" r:id="rId68"/>
    <p:sldId id="625" r:id="rId69"/>
    <p:sldId id="626" r:id="rId70"/>
    <p:sldId id="627" r:id="rId71"/>
    <p:sldId id="628" r:id="rId72"/>
    <p:sldId id="629" r:id="rId73"/>
    <p:sldId id="630" r:id="rId74"/>
    <p:sldId id="631" r:id="rId75"/>
    <p:sldId id="632" r:id="rId76"/>
    <p:sldId id="633" r:id="rId77"/>
    <p:sldId id="636" r:id="rId78"/>
    <p:sldId id="638" r:id="rId79"/>
    <p:sldId id="639" r:id="rId80"/>
    <p:sldId id="696" r:id="rId81"/>
    <p:sldId id="697" r:id="rId82"/>
    <p:sldId id="698" r:id="rId83"/>
    <p:sldId id="699" r:id="rId84"/>
    <p:sldId id="642" r:id="rId85"/>
    <p:sldId id="643" r:id="rId86"/>
    <p:sldId id="705" r:id="rId87"/>
    <p:sldId id="645" r:id="rId88"/>
    <p:sldId id="700" r:id="rId89"/>
    <p:sldId id="701" r:id="rId90"/>
    <p:sldId id="702" r:id="rId91"/>
    <p:sldId id="703" r:id="rId92"/>
    <p:sldId id="704" r:id="rId93"/>
    <p:sldId id="651" r:id="rId94"/>
    <p:sldId id="652" r:id="rId95"/>
    <p:sldId id="653" r:id="rId96"/>
    <p:sldId id="654" r:id="rId97"/>
    <p:sldId id="655" r:id="rId98"/>
    <p:sldId id="656" r:id="rId99"/>
    <p:sldId id="657" r:id="rId100"/>
    <p:sldId id="658" r:id="rId101"/>
    <p:sldId id="659" r:id="rId102"/>
    <p:sldId id="660" r:id="rId103"/>
    <p:sldId id="661" r:id="rId104"/>
    <p:sldId id="662" r:id="rId105"/>
    <p:sldId id="663" r:id="rId106"/>
    <p:sldId id="664" r:id="rId107"/>
    <p:sldId id="665" r:id="rId108"/>
    <p:sldId id="666" r:id="rId109"/>
    <p:sldId id="667" r:id="rId110"/>
    <p:sldId id="668" r:id="rId111"/>
    <p:sldId id="669" r:id="rId112"/>
    <p:sldId id="670" r:id="rId113"/>
    <p:sldId id="671" r:id="rId114"/>
    <p:sldId id="672" r:id="rId115"/>
    <p:sldId id="673" r:id="rId116"/>
    <p:sldId id="674" r:id="rId117"/>
    <p:sldId id="675" r:id="rId118"/>
    <p:sldId id="676" r:id="rId119"/>
    <p:sldId id="677" r:id="rId120"/>
    <p:sldId id="678" r:id="rId121"/>
    <p:sldId id="679" r:id="rId122"/>
    <p:sldId id="680" r:id="rId123"/>
    <p:sldId id="681" r:id="rId124"/>
    <p:sldId id="682" r:id="rId125"/>
    <p:sldId id="683" r:id="rId126"/>
    <p:sldId id="684" r:id="rId127"/>
    <p:sldId id="685" r:id="rId128"/>
    <p:sldId id="687" r:id="rId129"/>
    <p:sldId id="690" r:id="rId130"/>
    <p:sldId id="691" r:id="rId131"/>
    <p:sldId id="692" r:id="rId132"/>
    <p:sldId id="693" r:id="rId133"/>
    <p:sldId id="694" r:id="rId1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86"/>
    <p:restoredTop sz="96715"/>
  </p:normalViewPr>
  <p:slideViewPr>
    <p:cSldViewPr snapToGrid="0" snapToObjects="1">
      <p:cViewPr>
        <p:scale>
          <a:sx n="130" d="100"/>
          <a:sy n="130" d="100"/>
        </p:scale>
        <p:origin x="83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00" Type="http://schemas.openxmlformats.org/officeDocument/2006/relationships/slide" Target="slides/slide99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notesMaster" Target="notesMasters/notesMaster1.xml"/><Relationship Id="rId136" Type="http://schemas.openxmlformats.org/officeDocument/2006/relationships/presProps" Target="presProps.xml"/><Relationship Id="rId137" Type="http://schemas.openxmlformats.org/officeDocument/2006/relationships/viewProps" Target="viewProps.xml"/><Relationship Id="rId138" Type="http://schemas.openxmlformats.org/officeDocument/2006/relationships/theme" Target="theme/theme1.xml"/><Relationship Id="rId13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9F684-1991-8F44-A972-937FA7676E1C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A06B71-06AF-3C4F-B676-3A435FF3C2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Continuous</a:t>
            </a:r>
            <a:r>
              <a:rPr kumimoji="1" lang="zh-CN" altLang="en-US" baseline="0" dirty="0"/>
              <a:t> </a:t>
            </a:r>
            <a:r>
              <a:rPr kumimoji="1" lang="en-US" altLang="zh-CN" baseline="0" dirty="0"/>
              <a:t>bag</a:t>
            </a:r>
            <a:r>
              <a:rPr kumimoji="1" lang="zh-CN" altLang="en-US" baseline="0" dirty="0"/>
              <a:t> </a:t>
            </a:r>
            <a:r>
              <a:rPr kumimoji="1" lang="en-US" altLang="zh-CN" baseline="0" dirty="0"/>
              <a:t>of</a:t>
            </a:r>
            <a:r>
              <a:rPr kumimoji="1" lang="zh-CN" altLang="en-US" baseline="0" dirty="0"/>
              <a:t> </a:t>
            </a:r>
            <a:r>
              <a:rPr kumimoji="1" lang="en-US" altLang="zh-CN" baseline="0" dirty="0"/>
              <a:t>words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06B71-06AF-3C4F-B676-3A435FF3C2D0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/>
              <a:t>1.</a:t>
            </a:r>
            <a:r>
              <a:rPr kumimoji="1" lang="zh-CN" altLang="en-US" dirty="0"/>
              <a:t>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chose the sinusoidal version because it may allow the model to extrapolate to sequence lengths longer than the ones encountered during training 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06B71-06AF-3C4F-B676-3A435FF3C2D0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+mn-ea"/>
              </a:rPr>
              <a:t>Though the creators of GPT-3 took some measures to avoid the training and test data overlaps but a bug in the filtering caused some of the data to leak</a:t>
            </a:r>
            <a:endParaRPr lang="zh-CN" altLang="en-US" dirty="0">
              <a:latin typeface="+mn-ea"/>
            </a:endParaRP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06B71-06AF-3C4F-B676-3A435FF3C2D0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7CF38-A427-4CBA-A341-C2D7E64AF67F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long sequence </a:t>
            </a:r>
            <a:r>
              <a:rPr lang="zh-CN" altLang="en-US" dirty="0"/>
              <a:t>讲起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7F60A-1B38-4087-850A-2FA463E92D4D}" type="slidenum">
              <a:rPr lang="zh-CN" altLang="en-US" smtClean="0"/>
              <a:t>96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7F60A-1B38-4087-850A-2FA463E92D4D}" type="slidenum">
              <a:rPr lang="zh-CN" altLang="en-US" smtClean="0"/>
              <a:t>99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 dual memory system, spatial memory and episodic memory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7F60A-1B38-4087-850A-2FA463E92D4D}" type="slidenum">
              <a:rPr lang="zh-CN" altLang="en-US" smtClean="0"/>
              <a:t>103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34DAE-8B09-4D9E-8C8A-52EB1E4D2181}" type="slidenum">
              <a:rPr lang="zh-CN" altLang="en-US" smtClean="0"/>
              <a:t>104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F4581-BF64-2A4C-A38D-71ABCBA6D6AC}" type="slidenum">
              <a:rPr kumimoji="1" lang="zh-CN" altLang="en-US" smtClean="0"/>
              <a:t>109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7F60A-1B38-4087-850A-2FA463E92D4D}" type="slidenum">
              <a:rPr lang="zh-CN" altLang="en-US" smtClean="0"/>
              <a:t>110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7F60A-1B38-4087-850A-2FA463E92D4D}" type="slidenum">
              <a:rPr lang="zh-CN" altLang="en-US" smtClean="0"/>
              <a:t>112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Novelty or surprisal information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7F60A-1B38-4087-850A-2FA463E92D4D}" type="slidenum">
              <a:rPr lang="zh-CN" altLang="en-US" smtClean="0"/>
              <a:t>113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7F60A-1B38-4087-850A-2FA463E92D4D}" type="slidenum">
              <a:rPr lang="zh-CN" altLang="en-US" smtClean="0"/>
              <a:t>116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3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7A78-FD74-8343-9EBE-26A017290770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E73D-7C44-5B48-92E9-0BE59934F8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7A78-FD74-8343-9EBE-26A017290770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E73D-7C44-5B48-92E9-0BE59934F8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7A78-FD74-8343-9EBE-26A017290770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E73D-7C44-5B48-92E9-0BE59934F8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7A78-FD74-8343-9EBE-26A017290770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E73D-7C44-5B48-92E9-0BE59934F8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7A78-FD74-8343-9EBE-26A017290770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E73D-7C44-5B48-92E9-0BE59934F8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7A78-FD74-8343-9EBE-26A017290770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E73D-7C44-5B48-92E9-0BE59934F8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7A78-FD74-8343-9EBE-26A017290770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E73D-7C44-5B48-92E9-0BE59934F8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7A78-FD74-8343-9EBE-26A017290770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E73D-7C44-5B48-92E9-0BE59934F8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7A78-FD74-8343-9EBE-26A017290770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E73D-7C44-5B48-92E9-0BE59934F8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7A78-FD74-8343-9EBE-26A017290770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E73D-7C44-5B48-92E9-0BE59934F8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7A78-FD74-8343-9EBE-26A017290770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9E73D-7C44-5B48-92E9-0BE59934F8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B0736D-2861-41E3-9DCB-BCE53876B01F}" type="datetime1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8FDCA-5F31-45C2-9228-1965BA17AD8A}" type="slidenum">
              <a:rPr lang="zh-CN" altLang="en-US" smtClean="0"/>
              <a:t>‹#›</a:t>
            </a:fld>
            <a:r>
              <a:rPr lang="en-US" altLang="zh-CN" dirty="0"/>
              <a:t> / 26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160655"/>
            <a:ext cx="10515600" cy="614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900430"/>
            <a:ext cx="10515600" cy="5276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87A78-FD74-8343-9EBE-26A017290770}" type="datetimeFigureOut">
              <a:rPr kumimoji="1" lang="zh-CN" altLang="en-US" smtClean="0"/>
              <a:t>2026/7/1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9E73D-7C44-5B48-92E9-0BE59934F8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4" Type="http://schemas.openxmlformats.org/officeDocument/2006/relationships/image" Target="../media/image3.tiff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tiff"/><Relationship Id="rId3" Type="http://schemas.openxmlformats.org/officeDocument/2006/relationships/image" Target="../media/image9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4" Type="http://schemas.openxmlformats.org/officeDocument/2006/relationships/image" Target="../media/image38.png"/><Relationship Id="rId5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tif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GI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tif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tiff"/><Relationship Id="rId4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3" Type="http://schemas.openxmlformats.org/officeDocument/2006/relationships/image" Target="../media/image92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image" Target="../media/image102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3" Type="http://schemas.openxmlformats.org/officeDocument/2006/relationships/image" Target="../media/image103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6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4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eg"/><Relationship Id="rId4" Type="http://schemas.openxmlformats.org/officeDocument/2006/relationships/image" Target="../media/image117.png"/><Relationship Id="rId5" Type="http://schemas.openxmlformats.org/officeDocument/2006/relationships/image" Target="../media/image118.jpeg"/><Relationship Id="rId6" Type="http://schemas.openxmlformats.org/officeDocument/2006/relationships/image" Target="../media/image119.jpeg"/><Relationship Id="rId7" Type="http://schemas.openxmlformats.org/officeDocument/2006/relationships/image" Target="../media/image120.jpeg"/><Relationship Id="rId8" Type="http://schemas.openxmlformats.org/officeDocument/2006/relationships/image" Target="../media/image121.tiff"/><Relationship Id="rId9" Type="http://schemas.openxmlformats.org/officeDocument/2006/relationships/image" Target="../media/image122.tiff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5.jpe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0.jpeg"/><Relationship Id="rId3" Type="http://schemas.openxmlformats.org/officeDocument/2006/relationships/image" Target="../media/image123.tif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4" Type="http://schemas.openxmlformats.org/officeDocument/2006/relationships/image" Target="../media/image123.tiff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Relationship Id="rId8" Type="http://schemas.openxmlformats.org/officeDocument/2006/relationships/image" Target="../media/image136.png"/><Relationship Id="rId9" Type="http://schemas.openxmlformats.org/officeDocument/2006/relationships/image" Target="../media/image137.png"/><Relationship Id="rId10" Type="http://schemas.openxmlformats.org/officeDocument/2006/relationships/image" Target="../media/image138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0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Relationship Id="rId6" Type="http://schemas.openxmlformats.org/officeDocument/2006/relationships/image" Target="../media/image150.png"/><Relationship Id="rId7" Type="http://schemas.openxmlformats.org/officeDocument/2006/relationships/image" Target="../media/image151.png"/><Relationship Id="rId8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6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53.png"/><Relationship Id="rId1" Type="http://schemas.openxmlformats.org/officeDocument/2006/relationships/tags" Target="../tags/tag1.xml"/><Relationship Id="rId2" Type="http://schemas.openxmlformats.org/officeDocument/2006/relationships/tags" Target="../tags/tag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Relationship Id="rId6" Type="http://schemas.openxmlformats.org/officeDocument/2006/relationships/image" Target="../media/image154.png"/><Relationship Id="rId7" Type="http://schemas.openxmlformats.org/officeDocument/2006/relationships/image" Target="../media/image155.png"/><Relationship Id="rId8" Type="http://schemas.openxmlformats.org/officeDocument/2006/relationships/image" Target="../media/image156.png"/><Relationship Id="rId1" Type="http://schemas.openxmlformats.org/officeDocument/2006/relationships/tags" Target="../tags/tag4.xml"/><Relationship Id="rId2" Type="http://schemas.openxmlformats.org/officeDocument/2006/relationships/tags" Target="../tags/tag5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4" Type="http://schemas.openxmlformats.org/officeDocument/2006/relationships/slideLayout" Target="../slideLayouts/slideLayout2.xml"/><Relationship Id="rId5" Type="http://schemas.openxmlformats.org/officeDocument/2006/relationships/image" Target="../media/image157.png"/><Relationship Id="rId6" Type="http://schemas.openxmlformats.org/officeDocument/2006/relationships/image" Target="../media/image158.png"/><Relationship Id="rId1" Type="http://schemas.openxmlformats.org/officeDocument/2006/relationships/tags" Target="../tags/tag7.xml"/><Relationship Id="rId2" Type="http://schemas.openxmlformats.org/officeDocument/2006/relationships/tags" Target="../tags/tag8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4" Type="http://schemas.openxmlformats.org/officeDocument/2006/relationships/slideLayout" Target="../slideLayouts/slideLayout2.xml"/><Relationship Id="rId5" Type="http://schemas.openxmlformats.org/officeDocument/2006/relationships/image" Target="../media/image159.png"/><Relationship Id="rId6" Type="http://schemas.openxmlformats.org/officeDocument/2006/relationships/image" Target="../media/image114.png"/><Relationship Id="rId1" Type="http://schemas.openxmlformats.org/officeDocument/2006/relationships/tags" Target="../tags/tag10.xml"/><Relationship Id="rId2" Type="http://schemas.openxmlformats.org/officeDocument/2006/relationships/tags" Target="../tags/tag1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4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6" Type="http://schemas.openxmlformats.org/officeDocument/2006/relationships/image" Target="../media/image161.png"/><Relationship Id="rId7" Type="http://schemas.openxmlformats.org/officeDocument/2006/relationships/image" Target="../media/image162.png"/><Relationship Id="rId8" Type="http://schemas.openxmlformats.org/officeDocument/2006/relationships/image" Target="../media/image163.png"/><Relationship Id="rId9" Type="http://schemas.openxmlformats.org/officeDocument/2006/relationships/image" Target="../media/image164.png"/><Relationship Id="rId10" Type="http://schemas.openxmlformats.org/officeDocument/2006/relationships/image" Target="../media/image165.png"/><Relationship Id="rId1" Type="http://schemas.openxmlformats.org/officeDocument/2006/relationships/tags" Target="../tags/tag13.xml"/><Relationship Id="rId2" Type="http://schemas.openxmlformats.org/officeDocument/2006/relationships/tags" Target="../tags/tag1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6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4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0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4" Type="http://schemas.openxmlformats.org/officeDocument/2006/relationships/image" Target="../media/image173.png"/><Relationship Id="rId5" Type="http://schemas.openxmlformats.org/officeDocument/2006/relationships/image" Target="../media/image174.png"/><Relationship Id="rId6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6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7.png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tiff"/><Relationship Id="rId4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4" Type="http://schemas.openxmlformats.org/officeDocument/2006/relationships/image" Target="../media/image181.png"/><Relationship Id="rId5" Type="http://schemas.openxmlformats.org/officeDocument/2006/relationships/image" Target="../media/image182.GI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3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4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4.png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4" Type="http://schemas.openxmlformats.org/officeDocument/2006/relationships/image" Target="../media/image189.png"/><Relationship Id="rId5" Type="http://schemas.openxmlformats.org/officeDocument/2006/relationships/image" Target="../media/image190.png"/><Relationship Id="rId6" Type="http://schemas.openxmlformats.org/officeDocument/2006/relationships/image" Target="../media/image191.png"/><Relationship Id="rId7" Type="http://schemas.openxmlformats.org/officeDocument/2006/relationships/image" Target="../media/image192.png"/><Relationship Id="rId8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7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4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6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4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4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0.png"/><Relationship Id="rId3" Type="http://schemas.openxmlformats.org/officeDocument/2006/relationships/image" Target="../media/image201.png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2.png"/><Relationship Id="rId3" Type="http://schemas.openxmlformats.org/officeDocument/2006/relationships/image" Target="../media/image198.png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3.png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4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4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5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4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7.png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9.png"/><Relationship Id="rId3" Type="http://schemas.openxmlformats.org/officeDocument/2006/relationships/image" Target="../media/image210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4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1.png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3.png"/><Relationship Id="rId3" Type="http://schemas.openxmlformats.org/officeDocument/2006/relationships/image" Target="../media/image214.png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5.png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6.png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7.png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4" Type="http://schemas.openxmlformats.org/officeDocument/2006/relationships/image" Target="../media/image220.png"/><Relationship Id="rId5" Type="http://schemas.openxmlformats.org/officeDocument/2006/relationships/image" Target="../media/image221.png"/><Relationship Id="rId6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8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4" Type="http://schemas.openxmlformats.org/officeDocument/2006/relationships/image" Target="../media/image22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3.png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6.png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752090"/>
            <a:ext cx="9144000" cy="97282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kumimoji="1" lang="zh-CN" altLang="en-US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kumimoji="1" lang="zh-CN" altLang="en-US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kumimoji="1" lang="zh-CN" altLang="en-US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transformers and SSM</a:t>
            </a:r>
            <a:endParaRPr kumimoji="1" lang="zh-CN" altLang="en-US" sz="4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753860" y="4361180"/>
            <a:ext cx="4653915" cy="1000125"/>
          </a:xfrm>
        </p:spPr>
        <p:txBody>
          <a:bodyPr/>
          <a:lstStyle/>
          <a:p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Xiaolong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Zou</a:t>
            </a:r>
          </a:p>
          <a:p>
            <a:r>
              <a:rPr kumimoji="1"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2026.06.30</a:t>
            </a:r>
            <a:endParaRPr kumimoji="1"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Transformer Architecture</a:t>
            </a:r>
          </a:p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Structured State Space Models</a:t>
            </a:r>
          </a:p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Transformers, SSM and Neuroscience</a:t>
            </a:r>
          </a:p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Neuroscience-Inspired New Architectures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556573" y="3366496"/>
            <a:ext cx="1135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Alphafold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545" y="4053205"/>
            <a:ext cx="3684905" cy="23799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516" y="975019"/>
            <a:ext cx="3857847" cy="21603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79" y="3735828"/>
            <a:ext cx="5316722" cy="275616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145229" y="3338398"/>
            <a:ext cx="2616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Auto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speech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recognition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145229" y="402703"/>
            <a:ext cx="3026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Natural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161" y="872764"/>
            <a:ext cx="3969777" cy="2175959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940730" y="442083"/>
            <a:ext cx="5844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recognition,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detection,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segmentation,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generation..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2514" y="259464"/>
            <a:ext cx="595035" cy="5355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 panose="020B06030201020202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54553" y="865110"/>
            <a:ext cx="4549416" cy="1170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Franklin Gothic Medium" panose="020B0603020102020204" charset="0"/>
                <a:ea typeface="微软雅黑" panose="020B0503020204020204" charset="-122"/>
                <a:cs typeface="黑体" panose="02010609060101010101" charset="-122"/>
              </a:rPr>
              <a:t>Transformer</a:t>
            </a:r>
            <a:r>
              <a:rPr lang="zh-CN" altLang="en-US" sz="2000" b="1" dirty="0">
                <a:latin typeface="Franklin Gothic Medium" panose="020B0603020102020204" charset="0"/>
                <a:ea typeface="微软雅黑" panose="020B0503020204020204" charset="-122"/>
                <a:cs typeface="黑体" panose="02010609060101010101" charset="-122"/>
              </a:rPr>
              <a:t> 架构奠定了当前以大语言模型为代表的生成式人工智能基础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222" y="3140541"/>
            <a:ext cx="3320745" cy="1886685"/>
          </a:xfrm>
          <a:prstGeom prst="rect">
            <a:avLst/>
          </a:prstGeom>
          <a:effectLst>
            <a:outerShdw blurRad="241300" dist="50800" dir="1422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8" name="文本框 7"/>
          <p:cNvSpPr txBox="1"/>
          <p:nvPr/>
        </p:nvSpPr>
        <p:spPr>
          <a:xfrm>
            <a:off x="2781928" y="5220846"/>
            <a:ext cx="114173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 err="1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微软雅黑" panose="020B0503020204020204" charset="-122"/>
              </a:rPr>
              <a:t>NeurIPS</a:t>
            </a:r>
            <a:r>
              <a:rPr kumimoji="1" lang="en-US" altLang="zh-CN" sz="1200" b="1" dirty="0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kumimoji="1" lang="zh-CN" altLang="en-US" sz="1200" b="1" dirty="0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1200" b="1" dirty="0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微软雅黑" panose="020B0503020204020204" charset="-122"/>
              </a:rPr>
              <a:t>2017</a:t>
            </a:r>
            <a:endParaRPr kumimoji="1" lang="zh-CN" altLang="en-US" sz="1200" b="1" dirty="0">
              <a:solidFill>
                <a:schemeClr val="bg1">
                  <a:lumMod val="50000"/>
                </a:schemeClr>
              </a:solidFill>
              <a:latin typeface="Franklin Gothic Medium" panose="020B06030201020202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" name="组 28"/>
          <p:cNvGrpSpPr/>
          <p:nvPr/>
        </p:nvGrpSpPr>
        <p:grpSpPr>
          <a:xfrm>
            <a:off x="6271709" y="1091391"/>
            <a:ext cx="4905486" cy="5227493"/>
            <a:chOff x="6271708" y="1022700"/>
            <a:chExt cx="4905486" cy="5227493"/>
          </a:xfrm>
        </p:grpSpPr>
        <p:grpSp>
          <p:nvGrpSpPr>
            <p:cNvPr id="10" name="Google Shape;212;p39"/>
            <p:cNvGrpSpPr/>
            <p:nvPr/>
          </p:nvGrpSpPr>
          <p:grpSpPr>
            <a:xfrm>
              <a:off x="6693176" y="1022700"/>
              <a:ext cx="4094300" cy="861172"/>
              <a:chOff x="3562350" y="909418"/>
              <a:chExt cx="4094300" cy="765282"/>
            </a:xfrm>
          </p:grpSpPr>
          <p:sp>
            <p:nvSpPr>
              <p:cNvPr id="47" name="Google Shape;213;p39"/>
              <p:cNvSpPr txBox="1"/>
              <p:nvPr/>
            </p:nvSpPr>
            <p:spPr>
              <a:xfrm>
                <a:off x="4928450" y="909418"/>
                <a:ext cx="27282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1400" b="1" dirty="0">
                    <a:solidFill>
                      <a:schemeClr val="bg1">
                        <a:lumMod val="50000"/>
                      </a:schemeClr>
                    </a:solidFill>
                    <a:latin typeface="Franklin Gothic Medium" panose="020B0603020102020204" charset="0"/>
                    <a:ea typeface="微软雅黑" panose="020B0503020204020204" charset="-122"/>
                    <a:cs typeface="微软雅黑" panose="020B0503020204020204" charset="-122"/>
                    <a:sym typeface="Roboto"/>
                  </a:rPr>
                  <a:t>“史前”时代</a:t>
                </a:r>
              </a:p>
            </p:txBody>
          </p:sp>
          <p:sp>
            <p:nvSpPr>
              <p:cNvPr id="48" name="Google Shape;214;p39"/>
              <p:cNvSpPr txBox="1"/>
              <p:nvPr/>
            </p:nvSpPr>
            <p:spPr>
              <a:xfrm>
                <a:off x="4928450" y="1154904"/>
                <a:ext cx="27282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-GB" sz="1050" dirty="0">
                    <a:solidFill>
                      <a:schemeClr val="bg1">
                        <a:lumMod val="50000"/>
                      </a:schemeClr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Rule-based methods, parsing, RNNs, LSTMs</a:t>
                </a:r>
              </a:p>
            </p:txBody>
          </p:sp>
          <p:sp>
            <p:nvSpPr>
              <p:cNvPr id="49" name="Google Shape;215;p39"/>
              <p:cNvSpPr txBox="1"/>
              <p:nvPr/>
            </p:nvSpPr>
            <p:spPr>
              <a:xfrm>
                <a:off x="3562350" y="934025"/>
                <a:ext cx="758400" cy="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dirty="0">
                    <a:solidFill>
                      <a:schemeClr val="bg1">
                        <a:lumMod val="50000"/>
                      </a:schemeClr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1990s</a:t>
                </a:r>
              </a:p>
            </p:txBody>
          </p:sp>
          <p:sp>
            <p:nvSpPr>
              <p:cNvPr id="50" name="Google Shape;216;p39"/>
              <p:cNvSpPr/>
              <p:nvPr/>
            </p:nvSpPr>
            <p:spPr>
              <a:xfrm>
                <a:off x="4517125" y="1086100"/>
                <a:ext cx="133500" cy="5886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1" name="Google Shape;217;p39"/>
              <p:cNvCxnSpPr/>
              <p:nvPr/>
            </p:nvCxnSpPr>
            <p:spPr>
              <a:xfrm rot="10800000">
                <a:off x="4318975" y="1083450"/>
                <a:ext cx="529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40D3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1" name="Google Shape;218;p39"/>
            <p:cNvGrpSpPr/>
            <p:nvPr/>
          </p:nvGrpSpPr>
          <p:grpSpPr>
            <a:xfrm>
              <a:off x="6693176" y="1690575"/>
              <a:ext cx="4094300" cy="861172"/>
              <a:chOff x="3562350" y="909418"/>
              <a:chExt cx="4094300" cy="765282"/>
            </a:xfrm>
          </p:grpSpPr>
          <p:sp>
            <p:nvSpPr>
              <p:cNvPr id="42" name="Google Shape;219;p39"/>
              <p:cNvSpPr txBox="1"/>
              <p:nvPr/>
            </p:nvSpPr>
            <p:spPr>
              <a:xfrm>
                <a:off x="4928450" y="909418"/>
                <a:ext cx="27282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 panose="020B0604020202020204"/>
                  <a:buNone/>
                </a:pPr>
                <a:r>
                  <a:rPr lang="zh-CN" altLang="en-US" sz="1400" b="1" dirty="0">
                    <a:solidFill>
                      <a:schemeClr val="bg1">
                        <a:lumMod val="50000"/>
                      </a:schemeClr>
                    </a:solidFill>
                    <a:latin typeface="Franklin Gothic Medium" panose="020B0603020102020204" charset="0"/>
                    <a:ea typeface="微软雅黑" panose="020B0503020204020204" charset="-122"/>
                    <a:cs typeface="微软雅黑" panose="020B0503020204020204" charset="-122"/>
                    <a:sym typeface="Roboto"/>
                  </a:rPr>
                  <a:t>简单的自主力机制</a:t>
                </a:r>
                <a:endParaRPr sz="1400" b="1" dirty="0">
                  <a:solidFill>
                    <a:schemeClr val="bg1">
                      <a:lumMod val="50000"/>
                    </a:schemeClr>
                  </a:solidFill>
                  <a:latin typeface="Franklin Gothic Medium" panose="020B0603020102020204" charset="0"/>
                  <a:ea typeface="微软雅黑" panose="020B0503020204020204" charset="-122"/>
                  <a:cs typeface="微软雅黑" panose="020B0503020204020204" charset="-122"/>
                  <a:sym typeface="Roboto"/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 dirty="0">
                  <a:solidFill>
                    <a:srgbClr val="840D35"/>
                  </a:solidFill>
                  <a:latin typeface="Franklin Gothic Medium" panose="020B0603020102020204" charset="0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3" name="Google Shape;220;p39"/>
              <p:cNvSpPr txBox="1"/>
              <p:nvPr/>
            </p:nvSpPr>
            <p:spPr>
              <a:xfrm>
                <a:off x="4928450" y="1154904"/>
                <a:ext cx="27282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endParaRPr sz="700">
                  <a:solidFill>
                    <a:srgbClr val="840D35"/>
                  </a:solidFill>
                  <a:latin typeface="Franklin Gothic Medium" panose="020B0603020102020204" charset="0"/>
                  <a:ea typeface="微软雅黑" panose="020B0503020204020204" charset="-122"/>
                  <a:cs typeface="Roboto"/>
                  <a:sym typeface="Roboto"/>
                </a:endParaRPr>
              </a:p>
            </p:txBody>
          </p:sp>
          <p:sp>
            <p:nvSpPr>
              <p:cNvPr id="44" name="Google Shape;221;p39"/>
              <p:cNvSpPr txBox="1"/>
              <p:nvPr/>
            </p:nvSpPr>
            <p:spPr>
              <a:xfrm>
                <a:off x="3562350" y="934025"/>
                <a:ext cx="758400" cy="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dirty="0">
                    <a:solidFill>
                      <a:schemeClr val="bg1">
                        <a:lumMod val="50000"/>
                      </a:schemeClr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2014</a:t>
                </a:r>
              </a:p>
            </p:txBody>
          </p:sp>
          <p:sp>
            <p:nvSpPr>
              <p:cNvPr id="45" name="Google Shape;222;p39"/>
              <p:cNvSpPr/>
              <p:nvPr/>
            </p:nvSpPr>
            <p:spPr>
              <a:xfrm>
                <a:off x="4517125" y="1086100"/>
                <a:ext cx="133500" cy="5886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6" name="Google Shape;223;p39"/>
              <p:cNvCxnSpPr/>
              <p:nvPr/>
            </p:nvCxnSpPr>
            <p:spPr>
              <a:xfrm rot="10800000">
                <a:off x="4318975" y="1083450"/>
                <a:ext cx="529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40D3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2" name="Google Shape;224;p39"/>
            <p:cNvGrpSpPr/>
            <p:nvPr/>
          </p:nvGrpSpPr>
          <p:grpSpPr>
            <a:xfrm>
              <a:off x="6693176" y="2358451"/>
              <a:ext cx="4094300" cy="861172"/>
              <a:chOff x="3562350" y="909418"/>
              <a:chExt cx="4094300" cy="765282"/>
            </a:xfrm>
          </p:grpSpPr>
          <p:sp>
            <p:nvSpPr>
              <p:cNvPr id="37" name="Google Shape;225;p39"/>
              <p:cNvSpPr txBox="1"/>
              <p:nvPr/>
            </p:nvSpPr>
            <p:spPr>
              <a:xfrm>
                <a:off x="4928450" y="909418"/>
                <a:ext cx="27282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 panose="020B0604020202020204"/>
                  <a:buNone/>
                </a:pPr>
                <a:r>
                  <a:rPr lang="en-US" altLang="zh-CN" sz="1400" b="1" dirty="0">
                    <a:solidFill>
                      <a:srgbClr val="C00000"/>
                    </a:solidFill>
                    <a:latin typeface="Franklin Gothic Medium" panose="020B0603020102020204" charset="0"/>
                    <a:ea typeface="微软雅黑" panose="020B0503020204020204" charset="-122"/>
                    <a:cs typeface="微软雅黑" panose="020B0503020204020204" charset="-122"/>
                    <a:sym typeface="Roboto"/>
                  </a:rPr>
                  <a:t>Transformer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Franklin Gothic Medium" panose="020B0603020102020204" charset="0"/>
                    <a:ea typeface="微软雅黑" panose="020B0503020204020204" charset="-122"/>
                    <a:cs typeface="微软雅黑" panose="020B0503020204020204" charset="-122"/>
                    <a:sym typeface="Roboto"/>
                  </a:rPr>
                  <a:t> 架构诞生</a:t>
                </a:r>
                <a:endParaRPr sz="1400" b="1" dirty="0">
                  <a:solidFill>
                    <a:srgbClr val="C00000"/>
                  </a:solidFill>
                  <a:latin typeface="Franklin Gothic Medium" panose="020B0603020102020204" charset="0"/>
                  <a:ea typeface="微软雅黑" panose="020B0503020204020204" charset="-122"/>
                  <a:cs typeface="微软雅黑" panose="020B0503020204020204" charset="-122"/>
                  <a:sym typeface="Roboto"/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 dirty="0">
                  <a:solidFill>
                    <a:srgbClr val="858585"/>
                  </a:solidFill>
                  <a:latin typeface="Franklin Gothic Medium" panose="020B0603020102020204" charset="0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8" name="Google Shape;226;p39"/>
              <p:cNvSpPr txBox="1"/>
              <p:nvPr/>
            </p:nvSpPr>
            <p:spPr>
              <a:xfrm>
                <a:off x="4928450" y="1154904"/>
                <a:ext cx="27282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600"/>
                  </a:spcAft>
                  <a:buClr>
                    <a:schemeClr val="dk1"/>
                  </a:buClr>
                  <a:buSzPts val="1100"/>
                </a:pPr>
                <a:r>
                  <a:rPr lang="en-GB" sz="1050" dirty="0">
                    <a:solidFill>
                      <a:schemeClr val="bg1">
                        <a:lumMod val="50000"/>
                      </a:schemeClr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Attention is all you need</a:t>
                </a:r>
                <a:endParaRPr sz="1050" dirty="0">
                  <a:solidFill>
                    <a:schemeClr val="bg1">
                      <a:lumMod val="50000"/>
                    </a:schemeClr>
                  </a:solidFill>
                  <a:latin typeface="Franklin Gothic Medium" panose="020B0603020102020204" charset="0"/>
                  <a:ea typeface="微软雅黑" panose="020B0503020204020204" charset="-122"/>
                  <a:cs typeface="Times New Roman" panose="02020603050405020304" charset="0"/>
                  <a:sym typeface="Roboto"/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 panose="020B0604020202020204"/>
                  <a:buNone/>
                </a:pPr>
                <a:endParaRPr sz="700" dirty="0">
                  <a:solidFill>
                    <a:srgbClr val="858585"/>
                  </a:solidFill>
                  <a:latin typeface="Franklin Gothic Medium" panose="020B0603020102020204" charset="0"/>
                  <a:ea typeface="微软雅黑" panose="020B0503020204020204" charset="-122"/>
                  <a:cs typeface="Roboto"/>
                  <a:sym typeface="Roboto"/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None/>
                </a:pPr>
                <a:endParaRPr sz="700" dirty="0">
                  <a:solidFill>
                    <a:srgbClr val="858585"/>
                  </a:solidFill>
                  <a:latin typeface="Franklin Gothic Medium" panose="020B0603020102020204" charset="0"/>
                  <a:ea typeface="微软雅黑" panose="020B0503020204020204" charset="-122"/>
                  <a:cs typeface="Roboto"/>
                  <a:sym typeface="Roboto"/>
                </a:endParaRPr>
              </a:p>
            </p:txBody>
          </p:sp>
          <p:sp>
            <p:nvSpPr>
              <p:cNvPr id="39" name="Google Shape;227;p39"/>
              <p:cNvSpPr txBox="1"/>
              <p:nvPr/>
            </p:nvSpPr>
            <p:spPr>
              <a:xfrm>
                <a:off x="3562350" y="934025"/>
                <a:ext cx="758400" cy="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dirty="0">
                    <a:solidFill>
                      <a:srgbClr val="C00000"/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2017</a:t>
                </a:r>
              </a:p>
            </p:txBody>
          </p:sp>
          <p:sp>
            <p:nvSpPr>
              <p:cNvPr id="40" name="Google Shape;228;p39"/>
              <p:cNvSpPr/>
              <p:nvPr/>
            </p:nvSpPr>
            <p:spPr>
              <a:xfrm>
                <a:off x="4517125" y="1086100"/>
                <a:ext cx="133500" cy="5886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1" name="Google Shape;229;p39"/>
              <p:cNvCxnSpPr/>
              <p:nvPr/>
            </p:nvCxnSpPr>
            <p:spPr>
              <a:xfrm rot="10800000">
                <a:off x="4318975" y="1083450"/>
                <a:ext cx="529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3" name="Google Shape;230;p39"/>
            <p:cNvGrpSpPr/>
            <p:nvPr/>
          </p:nvGrpSpPr>
          <p:grpSpPr>
            <a:xfrm>
              <a:off x="6693176" y="3026326"/>
              <a:ext cx="4094300" cy="861172"/>
              <a:chOff x="3562350" y="909418"/>
              <a:chExt cx="4094300" cy="765282"/>
            </a:xfrm>
          </p:grpSpPr>
          <p:sp>
            <p:nvSpPr>
              <p:cNvPr id="32" name="Google Shape;231;p39"/>
              <p:cNvSpPr txBox="1"/>
              <p:nvPr/>
            </p:nvSpPr>
            <p:spPr>
              <a:xfrm>
                <a:off x="4928450" y="909418"/>
                <a:ext cx="27282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1400" b="1" dirty="0">
                    <a:solidFill>
                      <a:srgbClr val="C00000"/>
                    </a:solidFill>
                    <a:latin typeface="Franklin Gothic Medium" panose="020B0603020102020204" charset="0"/>
                    <a:ea typeface="微软雅黑" panose="020B0503020204020204" charset="-122"/>
                    <a:cs typeface="微软雅黑" panose="020B0503020204020204" charset="-122"/>
                    <a:sym typeface="Roboto"/>
                  </a:rPr>
                  <a:t>Transformer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Franklin Gothic Medium" panose="020B0603020102020204" charset="0"/>
                    <a:ea typeface="微软雅黑" panose="020B0503020204020204" charset="-122"/>
                    <a:cs typeface="微软雅黑" panose="020B0503020204020204" charset="-122"/>
                    <a:sym typeface="Roboto"/>
                  </a:rPr>
                  <a:t>在</a:t>
                </a:r>
                <a:r>
                  <a:rPr lang="en-US" altLang="zh-CN" sz="1400" b="1" dirty="0">
                    <a:solidFill>
                      <a:srgbClr val="C00000"/>
                    </a:solidFill>
                    <a:latin typeface="Franklin Gothic Medium" panose="020B0603020102020204" charset="0"/>
                    <a:ea typeface="微软雅黑" panose="020B0503020204020204" charset="-122"/>
                    <a:cs typeface="微软雅黑" panose="020B0503020204020204" charset="-122"/>
                    <a:sym typeface="Roboto"/>
                  </a:rPr>
                  <a:t>NLP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Franklin Gothic Medium" panose="020B0603020102020204" charset="0"/>
                    <a:ea typeface="微软雅黑" panose="020B0503020204020204" charset="-122"/>
                    <a:cs typeface="微软雅黑" panose="020B0503020204020204" charset="-122"/>
                    <a:sym typeface="Roboto"/>
                  </a:rPr>
                  <a:t>的爆发</a:t>
                </a:r>
                <a:endParaRPr sz="1400" b="1" dirty="0">
                  <a:solidFill>
                    <a:srgbClr val="C00000"/>
                  </a:solidFill>
                  <a:latin typeface="Franklin Gothic Medium" panose="020B0603020102020204" charset="0"/>
                  <a:ea typeface="微软雅黑" panose="020B0503020204020204" charset="-122"/>
                  <a:cs typeface="微软雅黑" panose="020B0503020204020204" charset="-122"/>
                  <a:sym typeface="Roboto"/>
                </a:endParaRPr>
              </a:p>
            </p:txBody>
          </p:sp>
          <p:sp>
            <p:nvSpPr>
              <p:cNvPr id="33" name="Google Shape;232;p39"/>
              <p:cNvSpPr txBox="1"/>
              <p:nvPr/>
            </p:nvSpPr>
            <p:spPr>
              <a:xfrm>
                <a:off x="4928450" y="1154904"/>
                <a:ext cx="27282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600"/>
                  </a:spcAft>
                </a:pPr>
                <a:r>
                  <a:rPr lang="en-GB" sz="1050" dirty="0">
                    <a:solidFill>
                      <a:schemeClr val="bg1">
                        <a:lumMod val="50000"/>
                      </a:schemeClr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BERT, GPT-3</a:t>
                </a:r>
              </a:p>
            </p:txBody>
          </p:sp>
          <p:sp>
            <p:nvSpPr>
              <p:cNvPr id="34" name="Google Shape;233;p39"/>
              <p:cNvSpPr txBox="1"/>
              <p:nvPr/>
            </p:nvSpPr>
            <p:spPr>
              <a:xfrm>
                <a:off x="3562350" y="934025"/>
                <a:ext cx="758400" cy="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dirty="0">
                    <a:solidFill>
                      <a:srgbClr val="C00000"/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2018</a:t>
                </a:r>
              </a:p>
            </p:txBody>
          </p:sp>
          <p:sp>
            <p:nvSpPr>
              <p:cNvPr id="35" name="Google Shape;234;p39"/>
              <p:cNvSpPr/>
              <p:nvPr/>
            </p:nvSpPr>
            <p:spPr>
              <a:xfrm>
                <a:off x="4517125" y="1086100"/>
                <a:ext cx="133500" cy="5886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6" name="Google Shape;235;p39"/>
              <p:cNvCxnSpPr/>
              <p:nvPr/>
            </p:nvCxnSpPr>
            <p:spPr>
              <a:xfrm rot="10800000">
                <a:off x="4318975" y="1083450"/>
                <a:ext cx="529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4" name="Google Shape;236;p39"/>
            <p:cNvGrpSpPr/>
            <p:nvPr/>
          </p:nvGrpSpPr>
          <p:grpSpPr>
            <a:xfrm>
              <a:off x="6379285" y="3694202"/>
              <a:ext cx="4408191" cy="861172"/>
              <a:chOff x="3248459" y="909418"/>
              <a:chExt cx="4408191" cy="765282"/>
            </a:xfrm>
          </p:grpSpPr>
          <p:sp>
            <p:nvSpPr>
              <p:cNvPr id="27" name="Google Shape;237;p39"/>
              <p:cNvSpPr txBox="1"/>
              <p:nvPr/>
            </p:nvSpPr>
            <p:spPr>
              <a:xfrm>
                <a:off x="4928450" y="909418"/>
                <a:ext cx="27282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 panose="020B0604020202020204"/>
                  <a:buNone/>
                </a:pPr>
                <a:r>
                  <a:rPr lang="en-US" altLang="zh-CN" sz="1400" b="1" dirty="0">
                    <a:solidFill>
                      <a:srgbClr val="C00000"/>
                    </a:solidFill>
                    <a:latin typeface="Franklin Gothic Medium" panose="020B0603020102020204" charset="0"/>
                    <a:ea typeface="微软雅黑" panose="020B0503020204020204" charset="-122"/>
                    <a:cs typeface="微软雅黑" panose="020B0503020204020204" charset="-122"/>
                    <a:sym typeface="Roboto"/>
                  </a:rPr>
                  <a:t>Transformer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Franklin Gothic Medium" panose="020B0603020102020204" charset="0"/>
                    <a:ea typeface="微软雅黑" panose="020B0503020204020204" charset="-122"/>
                    <a:cs typeface="微软雅黑" panose="020B0503020204020204" charset="-122"/>
                    <a:sym typeface="Roboto"/>
                  </a:rPr>
                  <a:t>在其它领域的爆发</a:t>
                </a:r>
                <a:endParaRPr sz="1400" b="1" dirty="0">
                  <a:solidFill>
                    <a:srgbClr val="C00000"/>
                  </a:solidFill>
                  <a:latin typeface="Franklin Gothic Medium" panose="020B0603020102020204" charset="0"/>
                  <a:ea typeface="微软雅黑" panose="020B0503020204020204" charset="-122"/>
                  <a:cs typeface="微软雅黑" panose="020B0503020204020204" charset="-122"/>
                  <a:sym typeface="Roboto"/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 dirty="0">
                  <a:solidFill>
                    <a:srgbClr val="858585"/>
                  </a:solidFill>
                  <a:latin typeface="Franklin Gothic Medium" panose="020B0603020102020204" charset="0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8" name="Google Shape;238;p39"/>
              <p:cNvSpPr txBox="1"/>
              <p:nvPr/>
            </p:nvSpPr>
            <p:spPr>
              <a:xfrm>
                <a:off x="4928450" y="1154904"/>
                <a:ext cx="27282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600"/>
                  </a:spcAft>
                </a:pPr>
                <a:r>
                  <a:rPr lang="en-GB" sz="1050" dirty="0" err="1">
                    <a:solidFill>
                      <a:schemeClr val="bg1">
                        <a:lumMod val="50000"/>
                      </a:schemeClr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ViTs</a:t>
                </a:r>
                <a:r>
                  <a:rPr lang="en-GB" sz="1050" dirty="0">
                    <a:solidFill>
                      <a:schemeClr val="bg1">
                        <a:lumMod val="50000"/>
                      </a:schemeClr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, Alphafold-2.</a:t>
                </a:r>
                <a:endParaRPr sz="1050" dirty="0">
                  <a:solidFill>
                    <a:schemeClr val="bg1">
                      <a:lumMod val="50000"/>
                    </a:schemeClr>
                  </a:solidFill>
                  <a:latin typeface="Franklin Gothic Medium" panose="020B0603020102020204" charset="0"/>
                  <a:ea typeface="微软雅黑" panose="020B0503020204020204" charset="-122"/>
                  <a:cs typeface="Times New Roman" panose="02020603050405020304" charset="0"/>
                  <a:sym typeface="Roboto"/>
                </a:endParaRPr>
              </a:p>
            </p:txBody>
          </p:sp>
          <p:sp>
            <p:nvSpPr>
              <p:cNvPr id="29" name="Google Shape;239;p39"/>
              <p:cNvSpPr txBox="1"/>
              <p:nvPr/>
            </p:nvSpPr>
            <p:spPr>
              <a:xfrm>
                <a:off x="3248459" y="934025"/>
                <a:ext cx="1072291" cy="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dirty="0">
                    <a:solidFill>
                      <a:srgbClr val="C00000"/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2018-2020</a:t>
                </a:r>
              </a:p>
            </p:txBody>
          </p:sp>
          <p:sp>
            <p:nvSpPr>
              <p:cNvPr id="30" name="Google Shape;240;p39"/>
              <p:cNvSpPr/>
              <p:nvPr/>
            </p:nvSpPr>
            <p:spPr>
              <a:xfrm>
                <a:off x="4517125" y="1086100"/>
                <a:ext cx="133500" cy="5886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1" name="Google Shape;241;p39"/>
              <p:cNvCxnSpPr/>
              <p:nvPr/>
            </p:nvCxnSpPr>
            <p:spPr>
              <a:xfrm rot="10800000">
                <a:off x="4318975" y="1083450"/>
                <a:ext cx="529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5" name="Google Shape;243;p39"/>
            <p:cNvGrpSpPr/>
            <p:nvPr/>
          </p:nvGrpSpPr>
          <p:grpSpPr>
            <a:xfrm>
              <a:off x="6271708" y="4362077"/>
              <a:ext cx="4905486" cy="861172"/>
              <a:chOff x="3140882" y="909418"/>
              <a:chExt cx="4905486" cy="765282"/>
            </a:xfrm>
          </p:grpSpPr>
          <p:sp>
            <p:nvSpPr>
              <p:cNvPr id="22" name="Google Shape;244;p39"/>
              <p:cNvSpPr txBox="1"/>
              <p:nvPr/>
            </p:nvSpPr>
            <p:spPr>
              <a:xfrm>
                <a:off x="4928450" y="909418"/>
                <a:ext cx="27282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1400" b="1" dirty="0">
                    <a:solidFill>
                      <a:srgbClr val="C00000"/>
                    </a:solidFill>
                    <a:latin typeface="Franklin Gothic Medium" panose="020B0603020102020204" charset="0"/>
                    <a:ea typeface="微软雅黑" panose="020B0503020204020204" charset="-122"/>
                    <a:cs typeface="微软雅黑" panose="020B0503020204020204" charset="-122"/>
                    <a:sym typeface="Roboto"/>
                  </a:rPr>
                  <a:t>生成式模型时代开启</a:t>
                </a:r>
              </a:p>
            </p:txBody>
          </p:sp>
          <p:sp>
            <p:nvSpPr>
              <p:cNvPr id="23" name="Google Shape;245;p39"/>
              <p:cNvSpPr txBox="1"/>
              <p:nvPr/>
            </p:nvSpPr>
            <p:spPr>
              <a:xfrm>
                <a:off x="4928449" y="1154904"/>
                <a:ext cx="3117919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600"/>
                  </a:spcAft>
                </a:pPr>
                <a:r>
                  <a:rPr lang="en-GB" sz="1050" dirty="0">
                    <a:solidFill>
                      <a:schemeClr val="bg1">
                        <a:lumMod val="50000"/>
                      </a:schemeClr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Codex, Decision Transformers, GPT-X,  DALL·E</a:t>
                </a:r>
              </a:p>
            </p:txBody>
          </p:sp>
          <p:sp>
            <p:nvSpPr>
              <p:cNvPr id="24" name="Google Shape;246;p39"/>
              <p:cNvSpPr txBox="1"/>
              <p:nvPr/>
            </p:nvSpPr>
            <p:spPr>
              <a:xfrm>
                <a:off x="3140882" y="934025"/>
                <a:ext cx="1179868" cy="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dirty="0">
                    <a:solidFill>
                      <a:srgbClr val="C00000"/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2021-2022</a:t>
                </a:r>
              </a:p>
            </p:txBody>
          </p:sp>
          <p:sp>
            <p:nvSpPr>
              <p:cNvPr id="25" name="Google Shape;247;p39"/>
              <p:cNvSpPr/>
              <p:nvPr/>
            </p:nvSpPr>
            <p:spPr>
              <a:xfrm>
                <a:off x="4517125" y="1086100"/>
                <a:ext cx="133500" cy="5886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6" name="Google Shape;248;p39"/>
              <p:cNvCxnSpPr/>
              <p:nvPr/>
            </p:nvCxnSpPr>
            <p:spPr>
              <a:xfrm rot="10800000">
                <a:off x="4318975" y="1083450"/>
                <a:ext cx="529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16" name="Google Shape;250;p39"/>
            <p:cNvSpPr/>
            <p:nvPr/>
          </p:nvSpPr>
          <p:spPr>
            <a:xfrm rot="5400000">
              <a:off x="7067847" y="5466214"/>
              <a:ext cx="1291658" cy="276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" name="Google Shape;251;p39"/>
            <p:cNvGrpSpPr/>
            <p:nvPr/>
          </p:nvGrpSpPr>
          <p:grpSpPr>
            <a:xfrm>
              <a:off x="6693176" y="4936101"/>
              <a:ext cx="4094300" cy="658474"/>
              <a:chOff x="3562350" y="909418"/>
              <a:chExt cx="4094300" cy="585155"/>
            </a:xfrm>
          </p:grpSpPr>
          <p:sp>
            <p:nvSpPr>
              <p:cNvPr id="18" name="Google Shape;252;p39"/>
              <p:cNvSpPr txBox="1"/>
              <p:nvPr/>
            </p:nvSpPr>
            <p:spPr>
              <a:xfrm>
                <a:off x="4928450" y="909418"/>
                <a:ext cx="2728200" cy="24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1400" b="1" dirty="0">
                    <a:solidFill>
                      <a:srgbClr val="C00000"/>
                    </a:solidFill>
                    <a:latin typeface="Franklin Gothic Medium" panose="020B0603020102020204" charset="0"/>
                    <a:ea typeface="微软雅黑" panose="020B0503020204020204" charset="-122"/>
                    <a:cs typeface="微软雅黑" panose="020B0503020204020204" charset="-122"/>
                    <a:sym typeface="Roboto"/>
                  </a:rPr>
                  <a:t>当前</a:t>
                </a:r>
              </a:p>
            </p:txBody>
          </p:sp>
          <p:sp>
            <p:nvSpPr>
              <p:cNvPr id="19" name="Google Shape;253;p39"/>
              <p:cNvSpPr txBox="1"/>
              <p:nvPr/>
            </p:nvSpPr>
            <p:spPr>
              <a:xfrm>
                <a:off x="4917376" y="1129473"/>
                <a:ext cx="27282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600"/>
                  </a:spcAft>
                </a:pPr>
                <a:r>
                  <a:rPr lang="en-GB" sz="1050" dirty="0">
                    <a:solidFill>
                      <a:schemeClr val="bg1">
                        <a:lumMod val="50000"/>
                      </a:schemeClr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Chat-GPT, GPT-4, Gemini, Llama and open-source LLMs, Whisper, Robotics Transformer, Stable Diffusion, </a:t>
                </a:r>
                <a:r>
                  <a:rPr lang="en-GB" sz="1050" dirty="0" err="1">
                    <a:solidFill>
                      <a:schemeClr val="bg1">
                        <a:lumMod val="50000"/>
                      </a:schemeClr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Sora</a:t>
                </a:r>
                <a:r>
                  <a:rPr lang="zh-CN" altLang="en-US" sz="1050" dirty="0">
                    <a:solidFill>
                      <a:schemeClr val="bg1">
                        <a:lumMod val="50000"/>
                      </a:schemeClr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 </a:t>
                </a:r>
                <a:r>
                  <a:rPr lang="en-GB" sz="1050" dirty="0">
                    <a:solidFill>
                      <a:schemeClr val="bg1">
                        <a:lumMod val="50000"/>
                      </a:schemeClr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…!</a:t>
                </a:r>
                <a:endParaRPr sz="1050" dirty="0">
                  <a:solidFill>
                    <a:schemeClr val="bg1">
                      <a:lumMod val="50000"/>
                    </a:schemeClr>
                  </a:solidFill>
                  <a:latin typeface="Franklin Gothic Medium" panose="020B0603020102020204" charset="0"/>
                  <a:ea typeface="微软雅黑" panose="020B0503020204020204" charset="-122"/>
                  <a:cs typeface="Times New Roman" panose="02020603050405020304" charset="0"/>
                  <a:sym typeface="Roboto"/>
                </a:endParaRPr>
              </a:p>
            </p:txBody>
          </p:sp>
          <p:sp>
            <p:nvSpPr>
              <p:cNvPr id="20" name="Google Shape;254;p39"/>
              <p:cNvSpPr txBox="1"/>
              <p:nvPr/>
            </p:nvSpPr>
            <p:spPr>
              <a:xfrm>
                <a:off x="3562350" y="934025"/>
                <a:ext cx="758400" cy="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dirty="0">
                    <a:solidFill>
                      <a:srgbClr val="C00000"/>
                    </a:solidFill>
                    <a:latin typeface="Franklin Gothic Medium" panose="020B0603020102020204" charset="0"/>
                    <a:ea typeface="微软雅黑" panose="020B0503020204020204" charset="-122"/>
                    <a:cs typeface="Times New Roman" panose="02020603050405020304" charset="0"/>
                    <a:sym typeface="Roboto"/>
                  </a:rPr>
                  <a:t>2024</a:t>
                </a:r>
              </a:p>
            </p:txBody>
          </p:sp>
          <p:cxnSp>
            <p:nvCxnSpPr>
              <p:cNvPr id="21" name="Google Shape;255;p39"/>
              <p:cNvCxnSpPr/>
              <p:nvPr/>
            </p:nvCxnSpPr>
            <p:spPr>
              <a:xfrm rot="10800000">
                <a:off x="4318975" y="1083450"/>
                <a:ext cx="529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52" name="灯片编号占位符 5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CD8FDCA-5F31-45C2-9228-1965BA17AD8A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dirty="0">
                <a:latin typeface="Franklin Gothic Medium" panose="020B0603020102020204" charset="0"/>
              </a:rPr>
              <a:t>Some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things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about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language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Franklin Gothic Medium" panose="020B0603020102020204" charset="0"/>
              </a:rPr>
              <a:t>Words</a:t>
            </a:r>
            <a:r>
              <a:rPr kumimoji="1" lang="zh-CN" altLang="en-US" sz="2400" dirty="0">
                <a:latin typeface="Franklin Gothic Medium" panose="020B0603020102020204" charset="0"/>
              </a:rPr>
              <a:t> </a:t>
            </a:r>
            <a:r>
              <a:rPr kumimoji="1" lang="en-US" altLang="zh-CN" sz="2400" dirty="0">
                <a:latin typeface="Franklin Gothic Medium" panose="020B0603020102020204" charset="0"/>
              </a:rPr>
              <a:t>are</a:t>
            </a:r>
            <a:r>
              <a:rPr kumimoji="1" lang="zh-CN" altLang="en-US" sz="2400" dirty="0">
                <a:latin typeface="Franklin Gothic Medium" panose="020B0603020102020204" charset="0"/>
              </a:rPr>
              <a:t> </a:t>
            </a:r>
            <a:r>
              <a:rPr kumimoji="1" lang="en-US" altLang="zh-CN" sz="2400" dirty="0">
                <a:latin typeface="Franklin Gothic Medium" panose="020B0603020102020204" charset="0"/>
              </a:rPr>
              <a:t>not</a:t>
            </a:r>
            <a:r>
              <a:rPr kumimoji="1" lang="zh-CN" altLang="en-US" sz="2400" dirty="0">
                <a:latin typeface="Franklin Gothic Medium" panose="020B0603020102020204" charset="0"/>
              </a:rPr>
              <a:t> </a:t>
            </a:r>
            <a:r>
              <a:rPr kumimoji="1" lang="en-US" altLang="zh-CN" sz="2400" dirty="0">
                <a:latin typeface="Franklin Gothic Medium" panose="020B0603020102020204" charset="0"/>
              </a:rPr>
              <a:t>discrete</a:t>
            </a:r>
            <a:r>
              <a:rPr kumimoji="1" lang="zh-CN" altLang="en-US" sz="2400" dirty="0">
                <a:latin typeface="Franklin Gothic Medium" panose="020B0603020102020204" charset="0"/>
              </a:rPr>
              <a:t> </a:t>
            </a:r>
            <a:r>
              <a:rPr kumimoji="1" lang="en-US" altLang="zh-CN" sz="2400" dirty="0">
                <a:latin typeface="Franklin Gothic Medium" panose="020B0603020102020204" charset="0"/>
              </a:rPr>
              <a:t>symbols</a:t>
            </a:r>
          </a:p>
          <a:p>
            <a:r>
              <a:rPr lang="en-US" altLang="zh-CN" sz="2400" dirty="0">
                <a:latin typeface="Franklin Gothic Medium" panose="020B0603020102020204" charset="0"/>
              </a:rPr>
              <a:t>Disambiguation depends</a:t>
            </a:r>
            <a:r>
              <a:rPr lang="zh-CN" altLang="en-US" sz="2400" dirty="0">
                <a:latin typeface="Franklin Gothic Medium" panose="020B0603020102020204" charset="0"/>
              </a:rPr>
              <a:t> </a:t>
            </a:r>
            <a:r>
              <a:rPr lang="en-US" altLang="zh-CN" sz="2400" dirty="0">
                <a:latin typeface="Franklin Gothic Medium" panose="020B0603020102020204" charset="0"/>
              </a:rPr>
              <a:t>on</a:t>
            </a:r>
            <a:r>
              <a:rPr lang="zh-CN" altLang="en-US" sz="2400" dirty="0">
                <a:latin typeface="Franklin Gothic Medium" panose="020B0603020102020204" charset="0"/>
              </a:rPr>
              <a:t> </a:t>
            </a:r>
            <a:r>
              <a:rPr lang="en-US" altLang="zh-CN" sz="2400" dirty="0">
                <a:latin typeface="Franklin Gothic Medium" panose="020B0603020102020204" charset="0"/>
              </a:rPr>
              <a:t>context</a:t>
            </a:r>
          </a:p>
          <a:p>
            <a:r>
              <a:rPr lang="en-US" altLang="zh-CN" sz="2400" dirty="0">
                <a:latin typeface="Franklin Gothic Medium" panose="020B0603020102020204" charset="0"/>
              </a:rPr>
              <a:t>Important</a:t>
            </a:r>
            <a:r>
              <a:rPr lang="zh-CN" altLang="en-US" sz="2400" dirty="0">
                <a:latin typeface="Franklin Gothic Medium" panose="020B0603020102020204" charset="0"/>
              </a:rPr>
              <a:t> </a:t>
            </a:r>
            <a:r>
              <a:rPr lang="en-US" altLang="zh-CN" sz="2400" dirty="0">
                <a:latin typeface="Franklin Gothic Medium" panose="020B0603020102020204" charset="0"/>
              </a:rPr>
              <a:t>interactions</a:t>
            </a:r>
            <a:r>
              <a:rPr lang="zh-CN" altLang="en-US" sz="2400" dirty="0">
                <a:latin typeface="Franklin Gothic Medium" panose="020B0603020102020204" charset="0"/>
              </a:rPr>
              <a:t> </a:t>
            </a:r>
            <a:r>
              <a:rPr lang="en-US" altLang="zh-CN" sz="2400" dirty="0">
                <a:latin typeface="Franklin Gothic Medium" panose="020B0603020102020204" charset="0"/>
              </a:rPr>
              <a:t>can</a:t>
            </a:r>
            <a:r>
              <a:rPr lang="zh-CN" altLang="en-US" sz="2400" dirty="0">
                <a:latin typeface="Franklin Gothic Medium" panose="020B0603020102020204" charset="0"/>
              </a:rPr>
              <a:t> </a:t>
            </a:r>
            <a:r>
              <a:rPr lang="en-US" altLang="zh-CN" sz="2400" dirty="0">
                <a:latin typeface="Franklin Gothic Medium" panose="020B0603020102020204" charset="0"/>
              </a:rPr>
              <a:t>be</a:t>
            </a:r>
            <a:r>
              <a:rPr lang="zh-CN" altLang="en-US" sz="2400" dirty="0">
                <a:latin typeface="Franklin Gothic Medium" panose="020B0603020102020204" charset="0"/>
              </a:rPr>
              <a:t> </a:t>
            </a:r>
            <a:r>
              <a:rPr lang="en-US" altLang="zh-CN" sz="2400" dirty="0">
                <a:latin typeface="Franklin Gothic Medium" panose="020B0603020102020204" charset="0"/>
              </a:rPr>
              <a:t>non-local</a:t>
            </a:r>
          </a:p>
          <a:p>
            <a:endParaRPr kumimoji="1" lang="zh-CN" altLang="en-US" sz="2400" dirty="0">
              <a:latin typeface="Franklin Gothic Medium" panose="020B060302010202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950" y="592279"/>
            <a:ext cx="4197793" cy="1343024"/>
          </a:xfrm>
          <a:prstGeom prst="rect">
            <a:avLst/>
          </a:prstGeom>
        </p:spPr>
      </p:pic>
      <p:cxnSp>
        <p:nvCxnSpPr>
          <p:cNvPr id="6" name="直线箭头连接符 5"/>
          <p:cNvCxnSpPr/>
          <p:nvPr/>
        </p:nvCxnSpPr>
        <p:spPr>
          <a:xfrm flipV="1">
            <a:off x="6592157" y="1418501"/>
            <a:ext cx="765810" cy="158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箭头连接符 6"/>
          <p:cNvCxnSpPr/>
          <p:nvPr/>
        </p:nvCxnSpPr>
        <p:spPr>
          <a:xfrm flipH="1">
            <a:off x="1328923" y="2095102"/>
            <a:ext cx="811530" cy="2423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5" name="Picture 1" descr="age25image3658777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42" y="4762555"/>
            <a:ext cx="4857750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202018" y="4686236"/>
            <a:ext cx="62674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The man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 ate the pepper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sneezed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Word2vector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642534" y="1690688"/>
            <a:ext cx="3235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One-hot</a:t>
            </a:r>
            <a:r>
              <a:rPr kumimoji="1" lang="zh-CN" altLang="en-US" dirty="0"/>
              <a:t> </a:t>
            </a:r>
            <a:r>
              <a:rPr kumimoji="1" lang="en-US" altLang="zh-CN" dirty="0"/>
              <a:t>vector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representation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824134" y="1690688"/>
            <a:ext cx="3538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Distributed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vector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representation</a:t>
            </a:r>
            <a:endParaRPr kumimoji="1"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607" y="3065711"/>
            <a:ext cx="4119033" cy="26948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019800" y="2125133"/>
            <a:ext cx="5410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words</a:t>
            </a:r>
            <a:r>
              <a:rPr kumimoji="1" lang="zh-CN" altLang="en-US" dirty="0"/>
              <a:t> </a:t>
            </a:r>
            <a:r>
              <a:rPr kumimoji="1" lang="en-US" altLang="zh-CN" dirty="0"/>
              <a:t>always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appear</a:t>
            </a:r>
            <a:r>
              <a:rPr kumimoji="1" lang="zh-CN" altLang="en-US" dirty="0"/>
              <a:t> </a:t>
            </a:r>
            <a:r>
              <a:rPr kumimoji="1" lang="en-US" altLang="zh-CN" dirty="0"/>
              <a:t>together,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then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word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 err="1"/>
              <a:t>embeddings</a:t>
            </a:r>
            <a:r>
              <a:rPr kumimoji="1" lang="zh-CN" altLang="en-US" dirty="0"/>
              <a:t> </a:t>
            </a:r>
            <a:r>
              <a:rPr kumimoji="1" lang="en-US" altLang="zh-CN" dirty="0"/>
              <a:t>should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similar</a:t>
            </a:r>
            <a:r>
              <a:rPr kumimoji="1" lang="zh-CN" altLang="en-US" dirty="0"/>
              <a:t> </a:t>
            </a:r>
            <a:r>
              <a:rPr kumimoji="1" lang="en-US" altLang="zh-CN" dirty="0"/>
              <a:t>(cosine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similairty</a:t>
            </a:r>
            <a:r>
              <a:rPr kumimoji="1" lang="en-US" altLang="zh-CN" dirty="0"/>
              <a:t>).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889" y="3205909"/>
            <a:ext cx="2267855" cy="228388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59516" y="6049925"/>
            <a:ext cx="5809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Orgthogonal</a:t>
            </a:r>
            <a:r>
              <a:rPr kumimoji="1" lang="en-US" altLang="zh-CN" dirty="0"/>
              <a:t>,</a:t>
            </a:r>
            <a:r>
              <a:rPr kumimoji="1" lang="zh-CN" altLang="en-US" dirty="0"/>
              <a:t>  </a:t>
            </a:r>
            <a:r>
              <a:rPr kumimoji="1" lang="en-US" altLang="zh-CN" dirty="0"/>
              <a:t>dimension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same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words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6736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Word2vector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205" y="1776187"/>
            <a:ext cx="5316848" cy="371591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096000" y="6110258"/>
            <a:ext cx="5359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err="1"/>
              <a:t>Mikolov</a:t>
            </a:r>
            <a:r>
              <a:rPr lang="en-US" altLang="zh-CN" sz="1200" dirty="0"/>
              <a:t> T, </a:t>
            </a:r>
            <a:r>
              <a:rPr lang="en-US" altLang="zh-CN" sz="1200" dirty="0" err="1"/>
              <a:t>Sutskever</a:t>
            </a:r>
            <a:r>
              <a:rPr lang="en-US" altLang="zh-CN" sz="1200" dirty="0"/>
              <a:t> I, Chen K, </a:t>
            </a:r>
            <a:r>
              <a:rPr lang="en-US" altLang="zh-CN" sz="1200" dirty="0" err="1"/>
              <a:t>Corrado</a:t>
            </a:r>
            <a:r>
              <a:rPr lang="en-US" altLang="zh-CN" sz="1200" dirty="0"/>
              <a:t> GS, Dean J. Distributed representations of words and phrases and their compositionality. </a:t>
            </a:r>
            <a:r>
              <a:rPr lang="en-US" altLang="zh-CN" sz="1200" dirty="0" err="1"/>
              <a:t>Neurips</a:t>
            </a:r>
            <a:r>
              <a:rPr lang="en-US" altLang="zh-CN" sz="1200" dirty="0"/>
              <a:t>,</a:t>
            </a:r>
            <a:r>
              <a:rPr lang="zh-CN" altLang="en-US" sz="1200" dirty="0"/>
              <a:t> </a:t>
            </a:r>
            <a:r>
              <a:rPr lang="en-US" altLang="zh-CN" sz="1200" dirty="0"/>
              <a:t>2013.</a:t>
            </a:r>
            <a:endParaRPr lang="zh-CN" altLang="en-US" sz="1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010" y="1361862"/>
            <a:ext cx="2987359" cy="18004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0037" y="5658645"/>
            <a:ext cx="1777399" cy="469415"/>
          </a:xfrm>
          <a:prstGeom prst="rect">
            <a:avLst/>
          </a:prstGeom>
        </p:spPr>
      </p:pic>
      <p:sp>
        <p:nvSpPr>
          <p:cNvPr id="10" name="右箭头 9"/>
          <p:cNvSpPr/>
          <p:nvPr/>
        </p:nvSpPr>
        <p:spPr>
          <a:xfrm>
            <a:off x="4064000" y="3372744"/>
            <a:ext cx="592667" cy="187639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535" y="3560383"/>
            <a:ext cx="3000154" cy="1855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Transformers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490" y="1159059"/>
            <a:ext cx="8594236" cy="49971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dirty="0">
                <a:latin typeface="Franklin Gothic Medium" panose="020B0603020102020204" charset="0"/>
              </a:rPr>
              <a:t>Then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transformer: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words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are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represented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by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input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 err="1">
                <a:latin typeface="Franklin Gothic Medium" panose="020B0603020102020204" charset="0"/>
              </a:rPr>
              <a:t>embeddings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23206" y="5906231"/>
            <a:ext cx="7357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</a:t>
            </a:r>
            <a:r>
              <a:rPr kumimoji="1" lang="zh-CN" altLang="en-US" dirty="0"/>
              <a:t>                                             </a:t>
            </a:r>
            <a:r>
              <a:rPr kumimoji="1" lang="en-US" altLang="zh-CN" dirty="0"/>
              <a:t>like</a:t>
            </a:r>
            <a:r>
              <a:rPr kumimoji="1" lang="zh-CN" altLang="en-US" dirty="0"/>
              <a:t>                                     </a:t>
            </a:r>
            <a:r>
              <a:rPr kumimoji="1" lang="en-US" altLang="zh-CN" dirty="0"/>
              <a:t>Trees</a:t>
            </a:r>
            <a:endParaRPr kumimoji="1" lang="zh-CN" altLang="en-US" dirty="0"/>
          </a:p>
        </p:txBody>
      </p:sp>
      <p:cxnSp>
        <p:nvCxnSpPr>
          <p:cNvPr id="14" name="直线箭头连接符 13"/>
          <p:cNvCxnSpPr/>
          <p:nvPr/>
        </p:nvCxnSpPr>
        <p:spPr>
          <a:xfrm flipV="1">
            <a:off x="2743786" y="5257800"/>
            <a:ext cx="8466" cy="448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2430519" y="5088464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" name="直线箭头连接符 19"/>
          <p:cNvCxnSpPr/>
          <p:nvPr/>
        </p:nvCxnSpPr>
        <p:spPr>
          <a:xfrm flipV="1">
            <a:off x="5670917" y="5256178"/>
            <a:ext cx="8466" cy="448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5357650" y="5086842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6" name="直线箭头连接符 25"/>
          <p:cNvCxnSpPr/>
          <p:nvPr/>
        </p:nvCxnSpPr>
        <p:spPr>
          <a:xfrm flipV="1">
            <a:off x="8477472" y="5265352"/>
            <a:ext cx="8466" cy="448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圆角矩形 26"/>
          <p:cNvSpPr/>
          <p:nvPr/>
        </p:nvSpPr>
        <p:spPr>
          <a:xfrm>
            <a:off x="8164205" y="5096016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dirty="0">
                <a:latin typeface="Franklin Gothic Medium" panose="020B0603020102020204" charset="0"/>
              </a:rPr>
              <a:t>Self-attention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over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word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input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 err="1">
                <a:latin typeface="Franklin Gothic Medium" panose="020B0603020102020204" charset="0"/>
              </a:rPr>
              <a:t>embeddings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23206" y="5906231"/>
            <a:ext cx="7357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</a:t>
            </a:r>
            <a:r>
              <a:rPr kumimoji="1" lang="zh-CN" altLang="en-US" dirty="0"/>
              <a:t>                                             </a:t>
            </a:r>
            <a:r>
              <a:rPr kumimoji="1" lang="en-US" altLang="zh-CN" dirty="0"/>
              <a:t>like</a:t>
            </a:r>
            <a:r>
              <a:rPr kumimoji="1" lang="zh-CN" altLang="en-US" dirty="0"/>
              <a:t>                                     </a:t>
            </a:r>
            <a:r>
              <a:rPr kumimoji="1" lang="en-US" altLang="zh-CN" dirty="0"/>
              <a:t>Trees</a:t>
            </a:r>
            <a:endParaRPr kumimoji="1"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2430519" y="5088464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" name="直线箭头连接符 18"/>
          <p:cNvCxnSpPr/>
          <p:nvPr/>
        </p:nvCxnSpPr>
        <p:spPr>
          <a:xfrm flipV="1">
            <a:off x="5670917" y="5256178"/>
            <a:ext cx="8466" cy="448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5357650" y="5086842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8164205" y="5096016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直线箭头连接符 31"/>
          <p:cNvCxnSpPr/>
          <p:nvPr/>
        </p:nvCxnSpPr>
        <p:spPr>
          <a:xfrm flipH="1" flipV="1">
            <a:off x="5055477" y="4340772"/>
            <a:ext cx="348010" cy="702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/>
          <p:cNvCxnSpPr/>
          <p:nvPr/>
        </p:nvCxnSpPr>
        <p:spPr>
          <a:xfrm flipH="1" flipV="1">
            <a:off x="5679383" y="4354046"/>
            <a:ext cx="1" cy="688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/>
          <p:cNvCxnSpPr/>
          <p:nvPr/>
        </p:nvCxnSpPr>
        <p:spPr>
          <a:xfrm flipV="1">
            <a:off x="5901997" y="4354046"/>
            <a:ext cx="288596" cy="685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/>
              <p:cNvSpPr txBox="1"/>
              <p:nvPr/>
            </p:nvSpPr>
            <p:spPr>
              <a:xfrm>
                <a:off x="4919146" y="3538969"/>
                <a:ext cx="2709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latin typeface="Cambria Math" panose="02040503050406030204" charset="0"/>
                        </a:rPr>
                        <m:t>𝒒</m:t>
                      </m:r>
                    </m:oMath>
                  </m:oMathPara>
                </a14:m>
                <a:endParaRPr kumimoji="1" lang="zh-CN" altLang="en-US" sz="2400" b="1" dirty="0"/>
              </a:p>
            </p:txBody>
          </p:sp>
        </mc:Choice>
        <mc:Fallback xmlns=""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146" y="3538969"/>
                <a:ext cx="27090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61" t="-31" r="-11178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/>
              <p:cNvSpPr txBox="1"/>
              <p:nvPr/>
            </p:nvSpPr>
            <p:spPr>
              <a:xfrm>
                <a:off x="5543929" y="3541609"/>
                <a:ext cx="2725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latin typeface="Cambria Math" panose="02040503050406030204" charset="0"/>
                        </a:rPr>
                        <m:t>𝒌</m:t>
                      </m:r>
                    </m:oMath>
                  </m:oMathPara>
                </a14:m>
                <a:endParaRPr kumimoji="1" lang="zh-CN" altLang="en-US" sz="2400" b="1" dirty="0"/>
              </a:p>
            </p:txBody>
          </p:sp>
        </mc:Choice>
        <mc:Fallback xmlns="">
          <p:sp>
            <p:nvSpPr>
              <p:cNvPr id="63" name="文本框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929" y="3541609"/>
                <a:ext cx="27251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39" t="-58" r="-11244" b="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/>
              <p:cNvSpPr txBox="1"/>
              <p:nvPr/>
            </p:nvSpPr>
            <p:spPr>
              <a:xfrm>
                <a:off x="6151778" y="3551140"/>
                <a:ext cx="2693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latin typeface="Cambria Math" panose="02040503050406030204" charset="0"/>
                        </a:rPr>
                        <m:t>𝒗</m:t>
                      </m:r>
                    </m:oMath>
                  </m:oMathPara>
                </a14:m>
                <a:endParaRPr kumimoji="1" lang="zh-CN" altLang="en-US" sz="2400" b="1" dirty="0"/>
              </a:p>
            </p:txBody>
          </p:sp>
        </mc:Choice>
        <mc:Fallback xmlns="">
          <p:sp>
            <p:nvSpPr>
              <p:cNvPr id="64" name="文本框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778" y="3551140"/>
                <a:ext cx="26930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98" t="-60" r="-11332" b="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/>
              <p:cNvSpPr txBox="1"/>
              <p:nvPr/>
            </p:nvSpPr>
            <p:spPr>
              <a:xfrm>
                <a:off x="3884489" y="2181303"/>
                <a:ext cx="4353948" cy="397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𝑞</m:t>
                      </m:r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𝑚</m:t>
                      </m:r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charset="0"/>
                            </a:rPr>
                            <m:t>𝑞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;</m:t>
                      </m:r>
                      <m:r>
                        <a:rPr kumimoji="1" lang="zh-CN" altLang="en-US" sz="2400" b="0" i="1" smtClean="0">
                          <a:latin typeface="Cambria Math" panose="02040503050406030204" charset="0"/>
                        </a:rPr>
                        <m:t>   </m:t>
                      </m:r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𝑘</m:t>
                      </m:r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charset="0"/>
                            </a:rPr>
                            <m:t>𝑚𝑊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;</m:t>
                      </m:r>
                      <m:r>
                        <a:rPr kumimoji="1" lang="zh-CN" altLang="en-US" sz="2400" b="0" i="1" smtClean="0">
                          <a:latin typeface="Cambria Math" panose="02040503050406030204" charset="0"/>
                        </a:rPr>
                        <m:t>  </m:t>
                      </m:r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𝑣</m:t>
                      </m:r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charset="0"/>
                            </a:rPr>
                            <m:t>𝑚𝑊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kumimoji="1" lang="en-US" altLang="zh-CN" sz="2400" i="1" dirty="0"/>
              </a:p>
            </p:txBody>
          </p:sp>
        </mc:Choice>
        <mc:Fallback xmlns=""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489" y="2181303"/>
                <a:ext cx="4353948" cy="397866"/>
              </a:xfrm>
              <a:prstGeom prst="rect">
                <a:avLst/>
              </a:prstGeom>
              <a:blipFill rotWithShape="1">
                <a:blip r:embed="rId5"/>
                <a:stretch>
                  <a:fillRect l="-4" t="-20" r="-1853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/>
              <p:cNvSpPr txBox="1"/>
              <p:nvPr/>
            </p:nvSpPr>
            <p:spPr>
              <a:xfrm>
                <a:off x="6166518" y="4969909"/>
                <a:ext cx="3702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latin typeface="Cambria Math" panose="02040503050406030204" charset="0"/>
                        </a:rPr>
                        <m:t>𝒎</m:t>
                      </m:r>
                    </m:oMath>
                  </m:oMathPara>
                </a14:m>
                <a:endParaRPr kumimoji="1" lang="zh-CN" altLang="en-US" sz="2400" b="1" dirty="0"/>
              </a:p>
            </p:txBody>
          </p:sp>
        </mc:Choice>
        <mc:Fallback xmlns=""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518" y="4969909"/>
                <a:ext cx="37029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9" t="-108" r="-8199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组 66"/>
          <p:cNvGrpSpPr/>
          <p:nvPr/>
        </p:nvGrpSpPr>
        <p:grpSpPr>
          <a:xfrm>
            <a:off x="1926312" y="4057562"/>
            <a:ext cx="1634946" cy="178389"/>
            <a:chOff x="2870199" y="3321841"/>
            <a:chExt cx="1634946" cy="178389"/>
          </a:xfrm>
        </p:grpSpPr>
        <p:sp>
          <p:nvSpPr>
            <p:cNvPr id="68" name="圆角矩形 67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圆角矩形 68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圆角矩形 69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1" name="组 70"/>
          <p:cNvGrpSpPr/>
          <p:nvPr/>
        </p:nvGrpSpPr>
        <p:grpSpPr>
          <a:xfrm>
            <a:off x="4853443" y="4055940"/>
            <a:ext cx="1634946" cy="178389"/>
            <a:chOff x="2870199" y="3321841"/>
            <a:chExt cx="1634946" cy="178389"/>
          </a:xfrm>
        </p:grpSpPr>
        <p:sp>
          <p:nvSpPr>
            <p:cNvPr id="72" name="圆角矩形 71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3" name="圆角矩形 72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4" name="圆角矩形 73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5" name="组 74"/>
          <p:cNvGrpSpPr/>
          <p:nvPr/>
        </p:nvGrpSpPr>
        <p:grpSpPr>
          <a:xfrm>
            <a:off x="7659998" y="4065114"/>
            <a:ext cx="1634946" cy="178389"/>
            <a:chOff x="2870199" y="3321841"/>
            <a:chExt cx="1634946" cy="178389"/>
          </a:xfrm>
        </p:grpSpPr>
        <p:sp>
          <p:nvSpPr>
            <p:cNvPr id="76" name="圆角矩形 75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7" name="圆角矩形 76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8" name="圆角矩形 77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dirty="0">
                <a:latin typeface="Franklin Gothic Medium" panose="020B0603020102020204" charset="0"/>
              </a:rPr>
              <a:t>Self-attention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over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word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input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 err="1">
                <a:latin typeface="Franklin Gothic Medium" panose="020B0603020102020204" charset="0"/>
              </a:rPr>
              <a:t>embeddings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23206" y="5906231"/>
            <a:ext cx="7357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</a:t>
            </a:r>
            <a:r>
              <a:rPr kumimoji="1" lang="zh-CN" altLang="en-US" dirty="0"/>
              <a:t>                                             </a:t>
            </a:r>
            <a:r>
              <a:rPr kumimoji="1" lang="en-US" altLang="zh-CN" dirty="0"/>
              <a:t>like</a:t>
            </a:r>
            <a:r>
              <a:rPr kumimoji="1" lang="zh-CN" altLang="en-US" dirty="0"/>
              <a:t>                                     </a:t>
            </a:r>
            <a:r>
              <a:rPr kumimoji="1" lang="en-US" altLang="zh-CN" dirty="0"/>
              <a:t>Trees</a:t>
            </a:r>
            <a:endParaRPr kumimoji="1"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2430519" y="5088464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" name="直线箭头连接符 18"/>
          <p:cNvCxnSpPr/>
          <p:nvPr/>
        </p:nvCxnSpPr>
        <p:spPr>
          <a:xfrm flipV="1">
            <a:off x="5670917" y="5256178"/>
            <a:ext cx="8466" cy="448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5357650" y="5086842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8164205" y="5096016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直线箭头连接符 31"/>
          <p:cNvCxnSpPr/>
          <p:nvPr/>
        </p:nvCxnSpPr>
        <p:spPr>
          <a:xfrm flipH="1" flipV="1">
            <a:off x="5055477" y="4340772"/>
            <a:ext cx="348010" cy="702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/>
          <p:cNvCxnSpPr/>
          <p:nvPr/>
        </p:nvCxnSpPr>
        <p:spPr>
          <a:xfrm flipH="1" flipV="1">
            <a:off x="5679383" y="4354046"/>
            <a:ext cx="1" cy="688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/>
          <p:cNvCxnSpPr/>
          <p:nvPr/>
        </p:nvCxnSpPr>
        <p:spPr>
          <a:xfrm flipV="1">
            <a:off x="5901997" y="4354046"/>
            <a:ext cx="288596" cy="685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/>
              <p:cNvSpPr txBox="1"/>
              <p:nvPr/>
            </p:nvSpPr>
            <p:spPr>
              <a:xfrm>
                <a:off x="4919146" y="4315145"/>
                <a:ext cx="259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146" y="4315145"/>
                <a:ext cx="259365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68" t="-87" r="-10005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/>
              <p:cNvSpPr txBox="1"/>
              <p:nvPr/>
            </p:nvSpPr>
            <p:spPr>
              <a:xfrm>
                <a:off x="5543929" y="4317785"/>
                <a:ext cx="2725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𝑘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63" name="文本框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929" y="4317785"/>
                <a:ext cx="27251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39" t="-114" r="-7982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/>
              <p:cNvSpPr txBox="1"/>
              <p:nvPr/>
            </p:nvSpPr>
            <p:spPr>
              <a:xfrm>
                <a:off x="6151778" y="4327316"/>
                <a:ext cx="2693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𝑣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64" name="文本框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778" y="4327316"/>
                <a:ext cx="26930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98" t="-115" r="-8031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/>
              <p:cNvSpPr txBox="1"/>
              <p:nvPr/>
            </p:nvSpPr>
            <p:spPr>
              <a:xfrm>
                <a:off x="4537482" y="1810405"/>
                <a:ext cx="1937385" cy="11137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1" smtClean="0">
                              <a:latin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400" i="1">
                                  <a:latin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i="1">
                                  <a:latin typeface="Cambria Math" panose="02040503050406030204" charset="0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kumimoji="1"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kumimoji="1"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1"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kumimoji="1" lang="en-US" altLang="zh-CN" sz="2400" b="0" i="1" smtClean="0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b="0" i="1" smtClean="0">
                                      <a:latin typeface="Cambria Math" panose="02040503050406030204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kumimoji="1" lang="en-US" altLang="zh-CN" sz="2400" b="0" i="1" smtClean="0">
                                      <a:latin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kumimoji="1" lang="en-US" altLang="zh-CN" sz="2400" b="0" i="1" smtClean="0">
                                  <a:latin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sz="2400" b="0" i="1" smtClean="0">
                                  <a:latin typeface="Cambria Math" panose="02040503050406030204" charset="0"/>
                                </a:rPr>
                                <m:t>𝑗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2400" b="0" i="1" smtClean="0">
                                  <a:latin typeface="Cambria Math" panose="02040503050406030204" charset="0"/>
                                </a:rPr>
                                <m:t>3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kumimoji="1" lang="en-US" altLang="zh-CN" sz="2400" b="0" i="1" smtClean="0">
                                      <a:latin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400" b="0" i="1" smtClean="0">
                                      <a:latin typeface="Cambria Math" panose="02040503050406030204" charset="0"/>
                                    </a:rPr>
                                    <m:t>𝑒</m:t>
                                  </m:r>
                                </m:e>
                                <m:sup>
                                  <m:sSubSup>
                                    <m:sSubSupPr>
                                      <m:ctrlPr>
                                        <a:rPr kumimoji="1"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kumimoji="1"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kumimoji="1"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kumimoji="1" lang="en-US" altLang="zh-CN" sz="2400" b="0" i="1" smtClean="0">
                                          <a:latin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400" b="0" i="1" smtClean="0">
                                          <a:latin typeface="Cambria Math" panose="02040503050406030204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kumimoji="1" lang="en-US" altLang="zh-CN" sz="2400" b="0" i="1" smtClean="0">
                                          <a:latin typeface="Cambria Math" panose="0204050305040603020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kumimoji="1" lang="en-US" altLang="zh-CN" sz="2400" i="1" dirty="0"/>
              </a:p>
            </p:txBody>
          </p:sp>
        </mc:Choice>
        <mc:Fallback xmlns=""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482" y="1810405"/>
                <a:ext cx="1937385" cy="1113790"/>
              </a:xfrm>
              <a:prstGeom prst="rect">
                <a:avLst/>
              </a:prstGeom>
              <a:blipFill rotWithShape="1">
                <a:blip r:embed="rId5"/>
                <a:stretch>
                  <a:fillRect l="-21" t="-2" r="-3879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/>
              <p:cNvSpPr txBox="1"/>
              <p:nvPr/>
            </p:nvSpPr>
            <p:spPr>
              <a:xfrm>
                <a:off x="6166518" y="4969909"/>
                <a:ext cx="3483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𝑚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518" y="4969909"/>
                <a:ext cx="348300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9" t="-108" r="-7920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曲线连接符 8"/>
          <p:cNvCxnSpPr>
            <a:stCxn id="23" idx="0"/>
            <a:endCxn id="13" idx="0"/>
          </p:cNvCxnSpPr>
          <p:nvPr/>
        </p:nvCxnSpPr>
        <p:spPr>
          <a:xfrm rot="16200000" flipV="1">
            <a:off x="3895417" y="2905930"/>
            <a:ext cx="7552" cy="2310815"/>
          </a:xfrm>
          <a:prstGeom prst="curvedConnector3">
            <a:avLst>
              <a:gd name="adj1" fmla="val 3127013"/>
            </a:avLst>
          </a:prstGeom>
          <a:ln w="22225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曲线连接符 39"/>
          <p:cNvCxnSpPr>
            <a:stCxn id="23" idx="0"/>
            <a:endCxn id="28" idx="0"/>
          </p:cNvCxnSpPr>
          <p:nvPr/>
        </p:nvCxnSpPr>
        <p:spPr>
          <a:xfrm rot="5400000" flipH="1" flipV="1">
            <a:off x="6766035" y="2353679"/>
            <a:ext cx="12700" cy="3422871"/>
          </a:xfrm>
          <a:prstGeom prst="curvedConnector3">
            <a:avLst>
              <a:gd name="adj1" fmla="val 1800000"/>
            </a:avLst>
          </a:prstGeom>
          <a:ln w="22225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/>
              <p:cNvSpPr/>
              <p:nvPr/>
            </p:nvSpPr>
            <p:spPr>
              <a:xfrm>
                <a:off x="2509072" y="3209833"/>
                <a:ext cx="4694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072" y="3209833"/>
                <a:ext cx="469423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40" t="-147" r="73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/>
              <p:cNvSpPr/>
              <p:nvPr/>
            </p:nvSpPr>
            <p:spPr>
              <a:xfrm>
                <a:off x="5442010" y="3212561"/>
                <a:ext cx="4747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9" name="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010" y="3212561"/>
                <a:ext cx="474745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13" t="-26" r="97" b="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曲线连接符 49"/>
          <p:cNvCxnSpPr>
            <a:stCxn id="23" idx="0"/>
            <a:endCxn id="22" idx="0"/>
          </p:cNvCxnSpPr>
          <p:nvPr/>
        </p:nvCxnSpPr>
        <p:spPr>
          <a:xfrm rot="5400000" flipH="1" flipV="1">
            <a:off x="5358171" y="3752369"/>
            <a:ext cx="9174" cy="616316"/>
          </a:xfrm>
          <a:prstGeom prst="curvedConnector3">
            <a:avLst>
              <a:gd name="adj1" fmla="val 2591825"/>
            </a:avLst>
          </a:prstGeom>
          <a:ln w="22225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/>
              <p:cNvSpPr/>
              <p:nvPr/>
            </p:nvSpPr>
            <p:spPr>
              <a:xfrm>
                <a:off x="8249469" y="3205700"/>
                <a:ext cx="4747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矩形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469" y="3205700"/>
                <a:ext cx="474745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39" t="-60" r="123" b="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组 74"/>
          <p:cNvGrpSpPr/>
          <p:nvPr/>
        </p:nvGrpSpPr>
        <p:grpSpPr>
          <a:xfrm>
            <a:off x="1926312" y="4057562"/>
            <a:ext cx="1634946" cy="178389"/>
            <a:chOff x="2870199" y="3321841"/>
            <a:chExt cx="1634946" cy="178389"/>
          </a:xfrm>
        </p:grpSpPr>
        <p:sp>
          <p:nvSpPr>
            <p:cNvPr id="76" name="圆角矩形 75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7" name="圆角矩形 76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8" name="圆角矩形 77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9" name="组 78"/>
          <p:cNvGrpSpPr/>
          <p:nvPr/>
        </p:nvGrpSpPr>
        <p:grpSpPr>
          <a:xfrm>
            <a:off x="4853443" y="4055940"/>
            <a:ext cx="1634946" cy="178389"/>
            <a:chOff x="2870199" y="3321841"/>
            <a:chExt cx="1634946" cy="178389"/>
          </a:xfrm>
        </p:grpSpPr>
        <p:sp>
          <p:nvSpPr>
            <p:cNvPr id="80" name="圆角矩形 79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1" name="圆角矩形 80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2" name="圆角矩形 81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83" name="组 82"/>
          <p:cNvGrpSpPr/>
          <p:nvPr/>
        </p:nvGrpSpPr>
        <p:grpSpPr>
          <a:xfrm>
            <a:off x="7659998" y="4065114"/>
            <a:ext cx="1634946" cy="178389"/>
            <a:chOff x="2870199" y="3321841"/>
            <a:chExt cx="1634946" cy="178389"/>
          </a:xfrm>
        </p:grpSpPr>
        <p:sp>
          <p:nvSpPr>
            <p:cNvPr id="84" name="圆角矩形 83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5" name="圆角矩形 84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6" name="圆角矩形 85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dirty="0">
                <a:latin typeface="Franklin Gothic Medium" panose="020B0603020102020204" charset="0"/>
              </a:rPr>
              <a:t>Self-attention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over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word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input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 err="1">
                <a:latin typeface="Franklin Gothic Medium" panose="020B0603020102020204" charset="0"/>
              </a:rPr>
              <a:t>embeddings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23206" y="5906231"/>
            <a:ext cx="7357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</a:t>
            </a:r>
            <a:r>
              <a:rPr kumimoji="1" lang="zh-CN" altLang="en-US" dirty="0"/>
              <a:t>                                             </a:t>
            </a:r>
            <a:r>
              <a:rPr kumimoji="1" lang="en-US" altLang="zh-CN" dirty="0"/>
              <a:t>like</a:t>
            </a:r>
            <a:r>
              <a:rPr kumimoji="1" lang="zh-CN" altLang="en-US" dirty="0"/>
              <a:t>                                     </a:t>
            </a:r>
            <a:r>
              <a:rPr kumimoji="1" lang="en-US" altLang="zh-CN" dirty="0"/>
              <a:t>Trees</a:t>
            </a:r>
            <a:endParaRPr kumimoji="1"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2430519" y="5088464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" name="直线箭头连接符 18"/>
          <p:cNvCxnSpPr/>
          <p:nvPr/>
        </p:nvCxnSpPr>
        <p:spPr>
          <a:xfrm flipV="1">
            <a:off x="5670917" y="5256178"/>
            <a:ext cx="8466" cy="448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5357650" y="5086842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8164205" y="5096016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直线箭头连接符 31"/>
          <p:cNvCxnSpPr/>
          <p:nvPr/>
        </p:nvCxnSpPr>
        <p:spPr>
          <a:xfrm flipH="1" flipV="1">
            <a:off x="5055477" y="4340772"/>
            <a:ext cx="348010" cy="702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/>
          <p:cNvCxnSpPr/>
          <p:nvPr/>
        </p:nvCxnSpPr>
        <p:spPr>
          <a:xfrm flipH="1" flipV="1">
            <a:off x="5679383" y="4354046"/>
            <a:ext cx="1" cy="688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/>
          <p:cNvCxnSpPr/>
          <p:nvPr/>
        </p:nvCxnSpPr>
        <p:spPr>
          <a:xfrm flipV="1">
            <a:off x="5901997" y="4354046"/>
            <a:ext cx="288596" cy="685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/>
              <p:cNvSpPr txBox="1"/>
              <p:nvPr/>
            </p:nvSpPr>
            <p:spPr>
              <a:xfrm>
                <a:off x="4919146" y="4315145"/>
                <a:ext cx="259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146" y="4315145"/>
                <a:ext cx="259365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68" t="-87" r="-10005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/>
              <p:cNvSpPr txBox="1"/>
              <p:nvPr/>
            </p:nvSpPr>
            <p:spPr>
              <a:xfrm>
                <a:off x="5543929" y="4317785"/>
                <a:ext cx="2725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𝑘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63" name="文本框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929" y="4317785"/>
                <a:ext cx="27251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39" t="-114" r="-7982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/>
              <p:cNvSpPr txBox="1"/>
              <p:nvPr/>
            </p:nvSpPr>
            <p:spPr>
              <a:xfrm>
                <a:off x="6151778" y="4327316"/>
                <a:ext cx="2693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𝑣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64" name="文本框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778" y="4327316"/>
                <a:ext cx="26930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98" t="-115" r="-8031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/>
              <p:cNvSpPr txBox="1"/>
              <p:nvPr/>
            </p:nvSpPr>
            <p:spPr>
              <a:xfrm>
                <a:off x="6166518" y="4969909"/>
                <a:ext cx="3483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𝑚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518" y="4969909"/>
                <a:ext cx="348300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9" t="-108" r="-7920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/>
              <p:cNvSpPr/>
              <p:nvPr/>
            </p:nvSpPr>
            <p:spPr>
              <a:xfrm>
                <a:off x="2509072" y="3209833"/>
                <a:ext cx="4694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072" y="3209833"/>
                <a:ext cx="46942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40" t="-147" r="73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/>
              <p:cNvSpPr/>
              <p:nvPr/>
            </p:nvSpPr>
            <p:spPr>
              <a:xfrm>
                <a:off x="5442010" y="3212561"/>
                <a:ext cx="4747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9" name="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010" y="3212561"/>
                <a:ext cx="474745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3" t="-26" r="97" b="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曲线连接符 49"/>
          <p:cNvCxnSpPr/>
          <p:nvPr/>
        </p:nvCxnSpPr>
        <p:spPr>
          <a:xfrm rot="10800000">
            <a:off x="2858012" y="3581894"/>
            <a:ext cx="495741" cy="474047"/>
          </a:xfrm>
          <a:prstGeom prst="curvedConnector3">
            <a:avLst>
              <a:gd name="adj1" fmla="val 50000"/>
            </a:avLst>
          </a:prstGeom>
          <a:ln w="22225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/>
              <p:cNvSpPr/>
              <p:nvPr/>
            </p:nvSpPr>
            <p:spPr>
              <a:xfrm>
                <a:off x="8249469" y="3205700"/>
                <a:ext cx="4747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矩形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469" y="3205700"/>
                <a:ext cx="474745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39" t="-60" r="123" b="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组 74"/>
          <p:cNvGrpSpPr/>
          <p:nvPr/>
        </p:nvGrpSpPr>
        <p:grpSpPr>
          <a:xfrm>
            <a:off x="1926312" y="4057562"/>
            <a:ext cx="1634946" cy="178389"/>
            <a:chOff x="2870199" y="3321841"/>
            <a:chExt cx="1634946" cy="178389"/>
          </a:xfrm>
        </p:grpSpPr>
        <p:sp>
          <p:nvSpPr>
            <p:cNvPr id="76" name="圆角矩形 75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7" name="圆角矩形 76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8" name="圆角矩形 77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9" name="组 78"/>
          <p:cNvGrpSpPr/>
          <p:nvPr/>
        </p:nvGrpSpPr>
        <p:grpSpPr>
          <a:xfrm>
            <a:off x="4853443" y="4055940"/>
            <a:ext cx="1634946" cy="178389"/>
            <a:chOff x="2870199" y="3321841"/>
            <a:chExt cx="1634946" cy="178389"/>
          </a:xfrm>
        </p:grpSpPr>
        <p:sp>
          <p:nvSpPr>
            <p:cNvPr id="80" name="圆角矩形 79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1" name="圆角矩形 80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2" name="圆角矩形 81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83" name="组 82"/>
          <p:cNvGrpSpPr/>
          <p:nvPr/>
        </p:nvGrpSpPr>
        <p:grpSpPr>
          <a:xfrm>
            <a:off x="7659998" y="4065114"/>
            <a:ext cx="1634946" cy="178389"/>
            <a:chOff x="2870199" y="3321841"/>
            <a:chExt cx="1634946" cy="178389"/>
          </a:xfrm>
        </p:grpSpPr>
        <p:sp>
          <p:nvSpPr>
            <p:cNvPr id="84" name="圆角矩形 83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5" name="圆角矩形 84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6" name="圆角矩形 85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35" name="曲线连接符 34"/>
          <p:cNvCxnSpPr/>
          <p:nvPr/>
        </p:nvCxnSpPr>
        <p:spPr>
          <a:xfrm rot="10800000">
            <a:off x="5731203" y="3562267"/>
            <a:ext cx="495741" cy="474047"/>
          </a:xfrm>
          <a:prstGeom prst="curvedConnector3">
            <a:avLst>
              <a:gd name="adj1" fmla="val 50000"/>
            </a:avLst>
          </a:prstGeom>
          <a:ln w="22225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曲线连接符 35"/>
          <p:cNvCxnSpPr/>
          <p:nvPr/>
        </p:nvCxnSpPr>
        <p:spPr>
          <a:xfrm rot="10800000">
            <a:off x="8542867" y="3564189"/>
            <a:ext cx="495741" cy="474047"/>
          </a:xfrm>
          <a:prstGeom prst="curvedConnector3">
            <a:avLst>
              <a:gd name="adj1" fmla="val 50000"/>
            </a:avLst>
          </a:prstGeom>
          <a:ln w="22225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曲线连接符 36"/>
          <p:cNvCxnSpPr/>
          <p:nvPr/>
        </p:nvCxnSpPr>
        <p:spPr>
          <a:xfrm rot="5400000" flipH="1" flipV="1">
            <a:off x="2724019" y="2738349"/>
            <a:ext cx="500962" cy="461434"/>
          </a:xfrm>
          <a:prstGeom prst="curvedConnector3">
            <a:avLst>
              <a:gd name="adj1" fmla="val 50000"/>
            </a:avLst>
          </a:prstGeom>
          <a:ln w="22225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曲线连接符 38"/>
          <p:cNvCxnSpPr/>
          <p:nvPr/>
        </p:nvCxnSpPr>
        <p:spPr>
          <a:xfrm rot="5400000" flipH="1" flipV="1">
            <a:off x="5630223" y="2678728"/>
            <a:ext cx="500962" cy="461434"/>
          </a:xfrm>
          <a:prstGeom prst="curvedConnector3">
            <a:avLst>
              <a:gd name="adj1" fmla="val 50000"/>
            </a:avLst>
          </a:prstGeom>
          <a:ln w="22225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曲线连接符 41"/>
          <p:cNvCxnSpPr/>
          <p:nvPr/>
        </p:nvCxnSpPr>
        <p:spPr>
          <a:xfrm rot="5400000" flipH="1" flipV="1">
            <a:off x="8426720" y="2705665"/>
            <a:ext cx="500962" cy="461434"/>
          </a:xfrm>
          <a:prstGeom prst="curvedConnector3">
            <a:avLst>
              <a:gd name="adj1" fmla="val 50000"/>
            </a:avLst>
          </a:prstGeom>
          <a:ln w="22225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圆角矩形 45"/>
          <p:cNvSpPr/>
          <p:nvPr/>
        </p:nvSpPr>
        <p:spPr>
          <a:xfrm>
            <a:off x="2974500" y="2499810"/>
            <a:ext cx="417971" cy="15915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5880704" y="2471712"/>
            <a:ext cx="417971" cy="15915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8675816" y="2471712"/>
            <a:ext cx="417971" cy="15915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直线箭头连接符 9"/>
          <p:cNvCxnSpPr/>
          <p:nvPr/>
        </p:nvCxnSpPr>
        <p:spPr>
          <a:xfrm flipV="1">
            <a:off x="3183485" y="2068628"/>
            <a:ext cx="2586127" cy="403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/>
          <p:cNvCxnSpPr/>
          <p:nvPr/>
        </p:nvCxnSpPr>
        <p:spPr>
          <a:xfrm flipV="1">
            <a:off x="6089689" y="2091974"/>
            <a:ext cx="6311" cy="342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/>
          <p:cNvCxnSpPr/>
          <p:nvPr/>
        </p:nvCxnSpPr>
        <p:spPr>
          <a:xfrm flipH="1" flipV="1">
            <a:off x="6340668" y="2081507"/>
            <a:ext cx="2527993" cy="361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圆角矩形 56"/>
          <p:cNvSpPr/>
          <p:nvPr/>
        </p:nvSpPr>
        <p:spPr>
          <a:xfrm>
            <a:off x="5868459" y="1868735"/>
            <a:ext cx="417971" cy="15915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6606507" y="1390310"/>
                <a:ext cx="1307986" cy="778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b="0" i="1" smtClean="0">
                              <a:latin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𝑣</m:t>
                          </m:r>
                        </m:e>
                        <m:sup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b="0" i="1" smtClean="0">
                          <a:latin typeface="Cambria Math" panose="0204050305040603020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b="0" i="1" smtClean="0">
                              <a:latin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507" y="1390310"/>
                <a:ext cx="1307986" cy="778803"/>
              </a:xfrm>
              <a:prstGeom prst="rect">
                <a:avLst/>
              </a:prstGeom>
              <a:blipFill rotWithShape="1">
                <a:blip r:embed="rId9"/>
                <a:stretch>
                  <a:fillRect l="-46" t="-38" r="-351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dirty="0">
                <a:latin typeface="Franklin Gothic Medium" panose="020B0603020102020204" charset="0"/>
              </a:rPr>
              <a:t>Compute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self-attention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for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all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word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in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input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b="1" dirty="0" err="1">
                <a:latin typeface="Franklin Gothic Medium" panose="020B0603020102020204" charset="0"/>
              </a:rPr>
              <a:t>parallelly</a:t>
            </a:r>
            <a:endParaRPr kumimoji="1" lang="zh-CN" altLang="en-US" sz="2800" b="1" dirty="0">
              <a:latin typeface="Franklin Gothic Medium" panose="020B060302010202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23206" y="5906231"/>
            <a:ext cx="7357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</a:t>
            </a:r>
            <a:r>
              <a:rPr kumimoji="1" lang="zh-CN" altLang="en-US" dirty="0"/>
              <a:t>                                             </a:t>
            </a:r>
            <a:r>
              <a:rPr kumimoji="1" lang="en-US" altLang="zh-CN" dirty="0"/>
              <a:t>like</a:t>
            </a:r>
            <a:r>
              <a:rPr kumimoji="1" lang="zh-CN" altLang="en-US" dirty="0"/>
              <a:t>                                     </a:t>
            </a:r>
            <a:r>
              <a:rPr kumimoji="1" lang="en-US" altLang="zh-CN" dirty="0"/>
              <a:t>Trees</a:t>
            </a:r>
            <a:endParaRPr kumimoji="1"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2430519" y="5088464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7" name="组 16"/>
          <p:cNvGrpSpPr/>
          <p:nvPr/>
        </p:nvGrpSpPr>
        <p:grpSpPr>
          <a:xfrm>
            <a:off x="1926312" y="4057562"/>
            <a:ext cx="1634946" cy="178389"/>
            <a:chOff x="2870199" y="3321841"/>
            <a:chExt cx="1634946" cy="178389"/>
          </a:xfrm>
        </p:grpSpPr>
        <p:sp>
          <p:nvSpPr>
            <p:cNvPr id="13" name="圆角矩形 12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9" name="直线箭头连接符 18"/>
          <p:cNvCxnSpPr/>
          <p:nvPr/>
        </p:nvCxnSpPr>
        <p:spPr>
          <a:xfrm flipV="1">
            <a:off x="5670917" y="5256178"/>
            <a:ext cx="8466" cy="448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5357650" y="5086842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1" name="组 20"/>
          <p:cNvGrpSpPr/>
          <p:nvPr/>
        </p:nvGrpSpPr>
        <p:grpSpPr>
          <a:xfrm>
            <a:off x="4853443" y="4055940"/>
            <a:ext cx="1634946" cy="178389"/>
            <a:chOff x="2870199" y="3321841"/>
            <a:chExt cx="1634946" cy="178389"/>
          </a:xfrm>
        </p:grpSpPr>
        <p:sp>
          <p:nvSpPr>
            <p:cNvPr id="22" name="圆角矩形 21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6" name="圆角矩形 25"/>
          <p:cNvSpPr/>
          <p:nvPr/>
        </p:nvSpPr>
        <p:spPr>
          <a:xfrm>
            <a:off x="8164205" y="5096016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7" name="组 26"/>
          <p:cNvGrpSpPr/>
          <p:nvPr/>
        </p:nvGrpSpPr>
        <p:grpSpPr>
          <a:xfrm>
            <a:off x="7659998" y="4065114"/>
            <a:ext cx="1634946" cy="178389"/>
            <a:chOff x="2870199" y="3321841"/>
            <a:chExt cx="1634946" cy="178389"/>
          </a:xfrm>
        </p:grpSpPr>
        <p:sp>
          <p:nvSpPr>
            <p:cNvPr id="28" name="圆角矩形 27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32" name="直线箭头连接符 31"/>
          <p:cNvCxnSpPr/>
          <p:nvPr/>
        </p:nvCxnSpPr>
        <p:spPr>
          <a:xfrm flipH="1" flipV="1">
            <a:off x="5055477" y="4340772"/>
            <a:ext cx="348010" cy="702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/>
          <p:cNvCxnSpPr/>
          <p:nvPr/>
        </p:nvCxnSpPr>
        <p:spPr>
          <a:xfrm flipH="1" flipV="1">
            <a:off x="5679383" y="4354046"/>
            <a:ext cx="1" cy="688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/>
          <p:cNvCxnSpPr/>
          <p:nvPr/>
        </p:nvCxnSpPr>
        <p:spPr>
          <a:xfrm flipV="1">
            <a:off x="5901997" y="4354046"/>
            <a:ext cx="288596" cy="685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/>
              <p:cNvSpPr txBox="1"/>
              <p:nvPr/>
            </p:nvSpPr>
            <p:spPr>
              <a:xfrm>
                <a:off x="4919146" y="4315145"/>
                <a:ext cx="259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146" y="4315145"/>
                <a:ext cx="259365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68" t="-87" r="-10005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/>
              <p:cNvSpPr txBox="1"/>
              <p:nvPr/>
            </p:nvSpPr>
            <p:spPr>
              <a:xfrm>
                <a:off x="5543929" y="4317785"/>
                <a:ext cx="2725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𝑘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63" name="文本框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929" y="4317785"/>
                <a:ext cx="27251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39" t="-114" r="-7982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/>
              <p:cNvSpPr txBox="1"/>
              <p:nvPr/>
            </p:nvSpPr>
            <p:spPr>
              <a:xfrm>
                <a:off x="6151778" y="4327316"/>
                <a:ext cx="2693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𝑣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64" name="文本框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778" y="4327316"/>
                <a:ext cx="26930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98" t="-115" r="-8031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/>
              <p:cNvSpPr txBox="1"/>
              <p:nvPr/>
            </p:nvSpPr>
            <p:spPr>
              <a:xfrm>
                <a:off x="6166518" y="4969909"/>
                <a:ext cx="3483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charset="0"/>
                        </a:rPr>
                        <m:t>𝑚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518" y="4969909"/>
                <a:ext cx="348300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9" t="-108" r="-7920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圆角矩形 53"/>
          <p:cNvSpPr/>
          <p:nvPr/>
        </p:nvSpPr>
        <p:spPr>
          <a:xfrm>
            <a:off x="2430519" y="2426268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圆角矩形 54"/>
          <p:cNvSpPr/>
          <p:nvPr/>
        </p:nvSpPr>
        <p:spPr>
          <a:xfrm>
            <a:off x="5357650" y="2424646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8164205" y="2433820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3693" y="1518536"/>
            <a:ext cx="3444127" cy="6168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7457897" y="1541844"/>
                <a:ext cx="288226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dirty="0" smtClean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𝑄</m:t>
                      </m:r>
                      <m:r>
                        <a:rPr kumimoji="1" lang="en-US" altLang="zh-CN" b="0" i="1" dirty="0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 </m:t>
                      </m:r>
                      <m:r>
                        <a:rPr kumimoji="1" lang="en-US" altLang="zh-CN" b="0" i="1" dirty="0" smtClean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𝐾</m:t>
                      </m:r>
                      <m:r>
                        <a:rPr kumimoji="1" lang="zh-CN" altLang="en-US" b="0" i="1" dirty="0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en-US" altLang="zh-CN" b="0" i="1" dirty="0" smtClean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𝑎𝑟𝑒</m:t>
                      </m:r>
                      <m:r>
                        <a:rPr kumimoji="1" lang="zh-CN" altLang="en-US" i="1" dirty="0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en-US" altLang="zh-CN" i="1" dirty="0" smtClean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𝑚𝑎𝑡𝑟𝑖𝑥</m:t>
                      </m:r>
                      <m:r>
                        <a:rPr kumimoji="1" lang="zh-CN" altLang="en-US" i="1" dirty="0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𝑚𝑜𝑑𝑒𝑙</m:t>
                          </m:r>
                        </m:sub>
                      </m:sSub>
                      <m:r>
                        <a:rPr kumimoji="1" lang="en-US" altLang="zh-CN" b="0" i="1" dirty="0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×</m:t>
                      </m:r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b="0" i="1" dirty="0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kumimoji="1" lang="en-US" altLang="zh-CN" b="0" dirty="0">
                  <a:latin typeface="Franklin Gothic Medium" panose="020B060302010202020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𝑉</m:t>
                      </m:r>
                      <m:r>
                        <a:rPr kumimoji="1" lang="zh-CN" altLang="en-US" i="1" dirty="0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en-US" altLang="zh-CN" i="1" dirty="0" smtClean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𝑖𝑠</m:t>
                      </m:r>
                      <m:r>
                        <a:rPr kumimoji="1" lang="zh-CN" altLang="en-US" i="1" dirty="0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en-US" altLang="zh-CN" i="1" dirty="0" smtClean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𝑎</m:t>
                      </m:r>
                      <m:r>
                        <a:rPr kumimoji="1" lang="zh-CN" altLang="en-US" i="1" dirty="0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en-US" altLang="zh-CN" i="1" dirty="0" smtClean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𝑚𝑎𝑡𝑟𝑖𝑥</m:t>
                      </m:r>
                      <m:r>
                        <a:rPr kumimoji="1" lang="zh-CN" altLang="en-US" i="1" dirty="0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𝑚𝑜𝑑𝑒𝑙</m:t>
                          </m:r>
                        </m:sub>
                      </m:sSub>
                      <m:r>
                        <a:rPr kumimoji="1" lang="en-US" altLang="zh-CN" i="1" dirty="0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×</m:t>
                      </m:r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latin typeface="Franklin Gothic Medium" panose="020B0603020102020204" charset="0"/>
                  <a:ea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7897" y="1541844"/>
                <a:ext cx="288226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6" t="-12" r="-1791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梯形 32"/>
          <p:cNvSpPr/>
          <p:nvPr/>
        </p:nvSpPr>
        <p:spPr>
          <a:xfrm>
            <a:off x="3136827" y="2959150"/>
            <a:ext cx="5027378" cy="1817277"/>
          </a:xfrm>
          <a:prstGeom prst="trapezoid">
            <a:avLst>
              <a:gd name="adj" fmla="val 102299"/>
            </a:avLst>
          </a:prstGeom>
          <a:solidFill>
            <a:schemeClr val="accent2">
              <a:lumMod val="60000"/>
              <a:lumOff val="40000"/>
              <a:alpha val="27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b="1" dirty="0">
                <a:latin typeface="Franklin Gothic Medium" panose="020B0603020102020204" charset="0"/>
              </a:rPr>
              <a:t>Multi-head</a:t>
            </a:r>
            <a:r>
              <a:rPr kumimoji="1" lang="zh-CN" altLang="en-US" sz="2800" b="1" dirty="0">
                <a:latin typeface="Franklin Gothic Medium" panose="020B0603020102020204" charset="0"/>
              </a:rPr>
              <a:t> </a:t>
            </a:r>
            <a:r>
              <a:rPr kumimoji="1" lang="en-US" altLang="zh-CN" sz="2800" b="1" dirty="0">
                <a:latin typeface="Franklin Gothic Medium" panose="020B0603020102020204" charset="0"/>
              </a:rPr>
              <a:t>attention</a:t>
            </a:r>
            <a:r>
              <a:rPr kumimoji="1" lang="zh-CN" altLang="en-US" sz="2800" b="1" dirty="0">
                <a:latin typeface="Franklin Gothic Medium" panose="020B0603020102020204" charset="0"/>
              </a:rPr>
              <a:t> </a:t>
            </a:r>
            <a:r>
              <a:rPr kumimoji="1" lang="en-US" altLang="zh-CN" sz="2800" b="1" dirty="0">
                <a:latin typeface="Franklin Gothic Medium" panose="020B0603020102020204" charset="0"/>
              </a:rPr>
              <a:t>(H=4)</a:t>
            </a:r>
            <a:endParaRPr kumimoji="1" lang="zh-CN" altLang="en-US" sz="2800" b="1" dirty="0">
              <a:latin typeface="Franklin Gothic Medium" panose="020B060302010202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50506" y="5926801"/>
            <a:ext cx="7357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</a:t>
            </a:r>
            <a:r>
              <a:rPr kumimoji="1" lang="zh-CN" altLang="en-US" dirty="0"/>
              <a:t>                                             </a:t>
            </a:r>
            <a:r>
              <a:rPr kumimoji="1" lang="en-US" altLang="zh-CN" dirty="0"/>
              <a:t>like</a:t>
            </a:r>
            <a:r>
              <a:rPr kumimoji="1" lang="zh-CN" altLang="en-US" dirty="0"/>
              <a:t>                                     </a:t>
            </a:r>
            <a:r>
              <a:rPr kumimoji="1" lang="en-US" altLang="zh-CN" dirty="0"/>
              <a:t>Trees</a:t>
            </a:r>
            <a:endParaRPr kumimoji="1"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2430519" y="5088464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7" name="组 16"/>
          <p:cNvGrpSpPr/>
          <p:nvPr/>
        </p:nvGrpSpPr>
        <p:grpSpPr>
          <a:xfrm>
            <a:off x="1926312" y="4057562"/>
            <a:ext cx="1634946" cy="178389"/>
            <a:chOff x="2870199" y="3321841"/>
            <a:chExt cx="1634946" cy="178389"/>
          </a:xfrm>
        </p:grpSpPr>
        <p:sp>
          <p:nvSpPr>
            <p:cNvPr id="13" name="圆角矩形 12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9" name="直线箭头连接符 18"/>
          <p:cNvCxnSpPr/>
          <p:nvPr/>
        </p:nvCxnSpPr>
        <p:spPr>
          <a:xfrm flipV="1">
            <a:off x="5670917" y="5256178"/>
            <a:ext cx="8466" cy="448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5357650" y="5086842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1" name="组 20"/>
          <p:cNvGrpSpPr/>
          <p:nvPr/>
        </p:nvGrpSpPr>
        <p:grpSpPr>
          <a:xfrm>
            <a:off x="4853443" y="4055940"/>
            <a:ext cx="1634946" cy="178389"/>
            <a:chOff x="2870199" y="3321841"/>
            <a:chExt cx="1634946" cy="178389"/>
          </a:xfrm>
        </p:grpSpPr>
        <p:sp>
          <p:nvSpPr>
            <p:cNvPr id="22" name="圆角矩形 21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6" name="圆角矩形 25"/>
          <p:cNvSpPr/>
          <p:nvPr/>
        </p:nvSpPr>
        <p:spPr>
          <a:xfrm>
            <a:off x="8164205" y="5096016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7" name="组 26"/>
          <p:cNvGrpSpPr/>
          <p:nvPr/>
        </p:nvGrpSpPr>
        <p:grpSpPr>
          <a:xfrm>
            <a:off x="7659998" y="4065114"/>
            <a:ext cx="1634946" cy="178389"/>
            <a:chOff x="2870199" y="3321841"/>
            <a:chExt cx="1634946" cy="178389"/>
          </a:xfrm>
        </p:grpSpPr>
        <p:sp>
          <p:nvSpPr>
            <p:cNvPr id="28" name="圆角矩形 27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52" name="直线箭头连接符 51"/>
          <p:cNvCxnSpPr/>
          <p:nvPr/>
        </p:nvCxnSpPr>
        <p:spPr>
          <a:xfrm flipH="1" flipV="1">
            <a:off x="5679383" y="4354046"/>
            <a:ext cx="1" cy="688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 83"/>
          <p:cNvGrpSpPr/>
          <p:nvPr/>
        </p:nvGrpSpPr>
        <p:grpSpPr>
          <a:xfrm>
            <a:off x="2078712" y="4209962"/>
            <a:ext cx="1634946" cy="178389"/>
            <a:chOff x="2870199" y="3321841"/>
            <a:chExt cx="1634946" cy="178389"/>
          </a:xfrm>
        </p:grpSpPr>
        <p:sp>
          <p:nvSpPr>
            <p:cNvPr id="85" name="圆角矩形 84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6" name="圆角矩形 85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7" name="圆角矩形 86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88" name="组 87"/>
          <p:cNvGrpSpPr/>
          <p:nvPr/>
        </p:nvGrpSpPr>
        <p:grpSpPr>
          <a:xfrm>
            <a:off x="2231112" y="4362362"/>
            <a:ext cx="1634946" cy="178389"/>
            <a:chOff x="2870199" y="3321841"/>
            <a:chExt cx="1634946" cy="178389"/>
          </a:xfrm>
        </p:grpSpPr>
        <p:sp>
          <p:nvSpPr>
            <p:cNvPr id="89" name="圆角矩形 88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0" name="圆角矩形 89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圆角矩形 90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92" name="组 91"/>
          <p:cNvGrpSpPr/>
          <p:nvPr/>
        </p:nvGrpSpPr>
        <p:grpSpPr>
          <a:xfrm>
            <a:off x="2383512" y="4514762"/>
            <a:ext cx="1634946" cy="178389"/>
            <a:chOff x="2870199" y="3321841"/>
            <a:chExt cx="1634946" cy="178389"/>
          </a:xfrm>
        </p:grpSpPr>
        <p:sp>
          <p:nvSpPr>
            <p:cNvPr id="93" name="圆角矩形 92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4" name="圆角矩形 93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5" name="圆角矩形 94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96" name="组 95"/>
          <p:cNvGrpSpPr/>
          <p:nvPr/>
        </p:nvGrpSpPr>
        <p:grpSpPr>
          <a:xfrm>
            <a:off x="5005843" y="4208340"/>
            <a:ext cx="1634946" cy="178389"/>
            <a:chOff x="2870199" y="3321841"/>
            <a:chExt cx="1634946" cy="178389"/>
          </a:xfrm>
        </p:grpSpPr>
        <p:sp>
          <p:nvSpPr>
            <p:cNvPr id="97" name="圆角矩形 96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8" name="圆角矩形 97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9" name="圆角矩形 98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00" name="组 99"/>
          <p:cNvGrpSpPr/>
          <p:nvPr/>
        </p:nvGrpSpPr>
        <p:grpSpPr>
          <a:xfrm>
            <a:off x="5158243" y="4360740"/>
            <a:ext cx="1634946" cy="178389"/>
            <a:chOff x="2870199" y="3321841"/>
            <a:chExt cx="1634946" cy="178389"/>
          </a:xfrm>
        </p:grpSpPr>
        <p:sp>
          <p:nvSpPr>
            <p:cNvPr id="101" name="圆角矩形 100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" name="圆角矩形 101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3" name="圆角矩形 102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04" name="组 103"/>
          <p:cNvGrpSpPr/>
          <p:nvPr/>
        </p:nvGrpSpPr>
        <p:grpSpPr>
          <a:xfrm>
            <a:off x="5310643" y="4513140"/>
            <a:ext cx="1634946" cy="178389"/>
            <a:chOff x="2870199" y="3321841"/>
            <a:chExt cx="1634946" cy="178389"/>
          </a:xfrm>
        </p:grpSpPr>
        <p:sp>
          <p:nvSpPr>
            <p:cNvPr id="105" name="圆角矩形 104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6" name="圆角矩形 105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7" name="圆角矩形 106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08" name="组 107"/>
          <p:cNvGrpSpPr/>
          <p:nvPr/>
        </p:nvGrpSpPr>
        <p:grpSpPr>
          <a:xfrm>
            <a:off x="7812398" y="4217514"/>
            <a:ext cx="1634946" cy="178389"/>
            <a:chOff x="2870199" y="3321841"/>
            <a:chExt cx="1634946" cy="178389"/>
          </a:xfrm>
        </p:grpSpPr>
        <p:sp>
          <p:nvSpPr>
            <p:cNvPr id="109" name="圆角矩形 108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圆角矩形 109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1" name="圆角矩形 110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12" name="组 111"/>
          <p:cNvGrpSpPr/>
          <p:nvPr/>
        </p:nvGrpSpPr>
        <p:grpSpPr>
          <a:xfrm>
            <a:off x="7964798" y="4369914"/>
            <a:ext cx="1634946" cy="178389"/>
            <a:chOff x="2870199" y="3321841"/>
            <a:chExt cx="1634946" cy="178389"/>
          </a:xfrm>
        </p:grpSpPr>
        <p:sp>
          <p:nvSpPr>
            <p:cNvPr id="113" name="圆角矩形 112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4" name="圆角矩形 113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5" name="圆角矩形 114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16" name="组 115"/>
          <p:cNvGrpSpPr/>
          <p:nvPr/>
        </p:nvGrpSpPr>
        <p:grpSpPr>
          <a:xfrm>
            <a:off x="8117198" y="4522314"/>
            <a:ext cx="1634946" cy="178389"/>
            <a:chOff x="2870199" y="3321841"/>
            <a:chExt cx="1634946" cy="178389"/>
          </a:xfrm>
        </p:grpSpPr>
        <p:sp>
          <p:nvSpPr>
            <p:cNvPr id="117" name="圆角矩形 116"/>
            <p:cNvSpPr/>
            <p:nvPr/>
          </p:nvSpPr>
          <p:spPr>
            <a:xfrm>
              <a:off x="3486515" y="3321841"/>
              <a:ext cx="402314" cy="167593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8" name="圆角矩形 117"/>
            <p:cNvSpPr/>
            <p:nvPr/>
          </p:nvSpPr>
          <p:spPr>
            <a:xfrm>
              <a:off x="2870199" y="3331015"/>
              <a:ext cx="402314" cy="167593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9" name="圆角矩形 118"/>
            <p:cNvSpPr/>
            <p:nvPr/>
          </p:nvSpPr>
          <p:spPr>
            <a:xfrm>
              <a:off x="4102831" y="3332637"/>
              <a:ext cx="402314" cy="16759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20" name="直线箭头连接符 119"/>
          <p:cNvCxnSpPr/>
          <p:nvPr/>
        </p:nvCxnSpPr>
        <p:spPr>
          <a:xfrm flipH="1" flipV="1">
            <a:off x="5670915" y="3109582"/>
            <a:ext cx="1" cy="688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圆角矩形 120"/>
          <p:cNvSpPr/>
          <p:nvPr/>
        </p:nvSpPr>
        <p:spPr>
          <a:xfrm>
            <a:off x="2430519" y="2426268"/>
            <a:ext cx="626533" cy="135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圆角矩形 123"/>
          <p:cNvSpPr/>
          <p:nvPr/>
        </p:nvSpPr>
        <p:spPr>
          <a:xfrm>
            <a:off x="2582919" y="2578668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圆角矩形 124"/>
          <p:cNvSpPr/>
          <p:nvPr/>
        </p:nvSpPr>
        <p:spPr>
          <a:xfrm>
            <a:off x="2735319" y="2731068"/>
            <a:ext cx="626533" cy="1354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2" name="圆角矩形 131"/>
          <p:cNvSpPr/>
          <p:nvPr/>
        </p:nvSpPr>
        <p:spPr>
          <a:xfrm>
            <a:off x="2887719" y="2883468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3" name="圆角矩形 132"/>
          <p:cNvSpPr/>
          <p:nvPr/>
        </p:nvSpPr>
        <p:spPr>
          <a:xfrm>
            <a:off x="5088015" y="2378834"/>
            <a:ext cx="626533" cy="135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4" name="圆角矩形 133"/>
          <p:cNvSpPr/>
          <p:nvPr/>
        </p:nvSpPr>
        <p:spPr>
          <a:xfrm>
            <a:off x="5240415" y="2531234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5" name="圆角矩形 134"/>
          <p:cNvSpPr/>
          <p:nvPr/>
        </p:nvSpPr>
        <p:spPr>
          <a:xfrm>
            <a:off x="5392815" y="2683634"/>
            <a:ext cx="626533" cy="1354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6" name="圆角矩形 135"/>
          <p:cNvSpPr/>
          <p:nvPr/>
        </p:nvSpPr>
        <p:spPr>
          <a:xfrm>
            <a:off x="5545215" y="2836034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7" name="圆角矩形 136"/>
          <p:cNvSpPr/>
          <p:nvPr/>
        </p:nvSpPr>
        <p:spPr>
          <a:xfrm>
            <a:off x="8052095" y="2424726"/>
            <a:ext cx="626533" cy="135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8" name="圆角矩形 137"/>
          <p:cNvSpPr/>
          <p:nvPr/>
        </p:nvSpPr>
        <p:spPr>
          <a:xfrm>
            <a:off x="8204495" y="2577126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9" name="圆角矩形 138"/>
          <p:cNvSpPr/>
          <p:nvPr/>
        </p:nvSpPr>
        <p:spPr>
          <a:xfrm>
            <a:off x="8356895" y="2729526"/>
            <a:ext cx="626533" cy="1354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圆角矩形 139"/>
          <p:cNvSpPr/>
          <p:nvPr/>
        </p:nvSpPr>
        <p:spPr>
          <a:xfrm>
            <a:off x="8509295" y="2881926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1" name="梯形 140"/>
          <p:cNvSpPr/>
          <p:nvPr/>
        </p:nvSpPr>
        <p:spPr>
          <a:xfrm>
            <a:off x="3136827" y="2959151"/>
            <a:ext cx="5027378" cy="1458198"/>
          </a:xfrm>
          <a:prstGeom prst="trapezoid">
            <a:avLst>
              <a:gd name="adj" fmla="val 102299"/>
            </a:avLst>
          </a:prstGeom>
          <a:solidFill>
            <a:schemeClr val="accent2">
              <a:lumMod val="60000"/>
              <a:lumOff val="40000"/>
              <a:alpha val="27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FF0000"/>
                </a:solidFill>
              </a:rPr>
              <a:t>Self-attention</a:t>
            </a:r>
            <a:r>
              <a:rPr kumimoji="1" lang="zh-CN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</a:rPr>
              <a:t>in</a:t>
            </a:r>
            <a:r>
              <a:rPr kumimoji="1" lang="zh-CN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</a:rPr>
              <a:t>parallel</a:t>
            </a:r>
            <a:endParaRPr kumimoji="1"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2" name="圆角矩形 141"/>
          <p:cNvSpPr/>
          <p:nvPr/>
        </p:nvSpPr>
        <p:spPr>
          <a:xfrm>
            <a:off x="4200037" y="1766742"/>
            <a:ext cx="626533" cy="135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zh-CN" altLang="en-US"/>
          </a:p>
        </p:txBody>
      </p:sp>
      <p:sp>
        <p:nvSpPr>
          <p:cNvPr id="143" name="圆角矩形 142"/>
          <p:cNvSpPr/>
          <p:nvPr/>
        </p:nvSpPr>
        <p:spPr>
          <a:xfrm>
            <a:off x="4844888" y="1766742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zh-CN" altLang="en-US"/>
          </a:p>
        </p:txBody>
      </p:sp>
      <p:sp>
        <p:nvSpPr>
          <p:cNvPr id="144" name="圆角矩形 143"/>
          <p:cNvSpPr/>
          <p:nvPr/>
        </p:nvSpPr>
        <p:spPr>
          <a:xfrm>
            <a:off x="5471421" y="1766742"/>
            <a:ext cx="626533" cy="1354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zh-CN" altLang="en-US"/>
          </a:p>
        </p:txBody>
      </p:sp>
      <p:sp>
        <p:nvSpPr>
          <p:cNvPr id="145" name="圆角矩形 144"/>
          <p:cNvSpPr/>
          <p:nvPr/>
        </p:nvSpPr>
        <p:spPr>
          <a:xfrm>
            <a:off x="6097954" y="1766742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zh-CN" altLang="en-US"/>
          </a:p>
        </p:txBody>
      </p:sp>
      <p:sp>
        <p:nvSpPr>
          <p:cNvPr id="146" name="圆角矩形 145"/>
          <p:cNvSpPr/>
          <p:nvPr/>
        </p:nvSpPr>
        <p:spPr>
          <a:xfrm>
            <a:off x="7612779" y="1770199"/>
            <a:ext cx="626533" cy="135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zh-CN" altLang="en-US"/>
          </a:p>
        </p:txBody>
      </p:sp>
      <p:sp>
        <p:nvSpPr>
          <p:cNvPr id="147" name="圆角矩形 146"/>
          <p:cNvSpPr/>
          <p:nvPr/>
        </p:nvSpPr>
        <p:spPr>
          <a:xfrm>
            <a:off x="8257630" y="1770199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zh-CN" altLang="en-US"/>
          </a:p>
        </p:txBody>
      </p:sp>
      <p:sp>
        <p:nvSpPr>
          <p:cNvPr id="148" name="圆角矩形 147"/>
          <p:cNvSpPr/>
          <p:nvPr/>
        </p:nvSpPr>
        <p:spPr>
          <a:xfrm>
            <a:off x="8884163" y="1770199"/>
            <a:ext cx="626533" cy="1354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zh-CN" altLang="en-US"/>
          </a:p>
        </p:txBody>
      </p:sp>
      <p:sp>
        <p:nvSpPr>
          <p:cNvPr id="149" name="圆角矩形 148"/>
          <p:cNvSpPr/>
          <p:nvPr/>
        </p:nvSpPr>
        <p:spPr>
          <a:xfrm>
            <a:off x="9510696" y="1770199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zh-CN" altLang="en-US"/>
          </a:p>
        </p:txBody>
      </p:sp>
      <p:sp>
        <p:nvSpPr>
          <p:cNvPr id="150" name="圆角矩形 149"/>
          <p:cNvSpPr/>
          <p:nvPr/>
        </p:nvSpPr>
        <p:spPr>
          <a:xfrm>
            <a:off x="1043573" y="1773841"/>
            <a:ext cx="626533" cy="135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zh-CN" altLang="en-US"/>
          </a:p>
        </p:txBody>
      </p:sp>
      <p:sp>
        <p:nvSpPr>
          <p:cNvPr id="151" name="圆角矩形 150"/>
          <p:cNvSpPr/>
          <p:nvPr/>
        </p:nvSpPr>
        <p:spPr>
          <a:xfrm>
            <a:off x="1688424" y="1773841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zh-CN" altLang="en-US"/>
          </a:p>
        </p:txBody>
      </p:sp>
      <p:sp>
        <p:nvSpPr>
          <p:cNvPr id="152" name="圆角矩形 151"/>
          <p:cNvSpPr/>
          <p:nvPr/>
        </p:nvSpPr>
        <p:spPr>
          <a:xfrm>
            <a:off x="2314957" y="1773841"/>
            <a:ext cx="626533" cy="1354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zh-CN" altLang="en-US"/>
          </a:p>
        </p:txBody>
      </p:sp>
      <p:sp>
        <p:nvSpPr>
          <p:cNvPr id="153" name="圆角矩形 152"/>
          <p:cNvSpPr/>
          <p:nvPr/>
        </p:nvSpPr>
        <p:spPr>
          <a:xfrm>
            <a:off x="2941490" y="1773841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zh-CN" altLang="en-US"/>
          </a:p>
        </p:txBody>
      </p:sp>
      <p:cxnSp>
        <p:nvCxnSpPr>
          <p:cNvPr id="154" name="直线箭头连接符 153"/>
          <p:cNvCxnSpPr/>
          <p:nvPr/>
        </p:nvCxnSpPr>
        <p:spPr>
          <a:xfrm flipV="1">
            <a:off x="5675150" y="2047703"/>
            <a:ext cx="8466" cy="448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Transformers: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multi-head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attention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534" y="1942099"/>
            <a:ext cx="6407150" cy="329241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295338" y="5996001"/>
            <a:ext cx="42562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>
                <a:latin typeface="+mn-ea"/>
              </a:rPr>
              <a:t>Ashish </a:t>
            </a:r>
            <a:r>
              <a:rPr lang="en-US" altLang="zh-CN" sz="1200" dirty="0" err="1">
                <a:latin typeface="+mn-ea"/>
              </a:rPr>
              <a:t>Vaswani</a:t>
            </a:r>
            <a:r>
              <a:rPr lang="en-US" altLang="zh-CN" sz="1200" dirty="0">
                <a:latin typeface="+mn-ea"/>
              </a:rPr>
              <a:t> et</a:t>
            </a:r>
            <a:r>
              <a:rPr lang="zh-CN" altLang="en-US" sz="1200" dirty="0">
                <a:latin typeface="+mn-ea"/>
              </a:rPr>
              <a:t> </a:t>
            </a:r>
            <a:r>
              <a:rPr lang="en-US" altLang="zh-CN" sz="1200" dirty="0">
                <a:latin typeface="+mn-ea"/>
              </a:rPr>
              <a:t>al,</a:t>
            </a:r>
            <a:r>
              <a:rPr lang="zh-CN" altLang="en-US" sz="1200" dirty="0">
                <a:latin typeface="+mn-ea"/>
              </a:rPr>
              <a:t> </a:t>
            </a:r>
            <a:r>
              <a:rPr lang="en-US" altLang="zh-CN" sz="1200" dirty="0">
                <a:latin typeface="+mn-ea"/>
              </a:rPr>
              <a:t>Attention Is All You Need ,</a:t>
            </a:r>
            <a:r>
              <a:rPr lang="zh-CN" altLang="en-US" sz="1200" dirty="0">
                <a:latin typeface="+mn-ea"/>
              </a:rPr>
              <a:t> </a:t>
            </a:r>
            <a:r>
              <a:rPr lang="en-US" altLang="zh-CN" sz="1200" dirty="0">
                <a:latin typeface="+mn-ea"/>
              </a:rPr>
              <a:t>2017,</a:t>
            </a:r>
            <a:r>
              <a:rPr lang="zh-CN" altLang="en-US" sz="1200" dirty="0">
                <a:latin typeface="+mn-ea"/>
              </a:rPr>
              <a:t> </a:t>
            </a:r>
            <a:r>
              <a:rPr lang="en-US" altLang="zh-CN" sz="1200" dirty="0" err="1">
                <a:latin typeface="+mn-ea"/>
              </a:rPr>
              <a:t>neurips</a:t>
            </a:r>
            <a:endParaRPr lang="en-US" altLang="zh-CN" sz="12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2520" y="2167090"/>
            <a:ext cx="3183417" cy="57016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684" y="3498738"/>
            <a:ext cx="4655288" cy="7559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8832" y="27094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Transformers: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feedforward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layer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25963" y="5855319"/>
            <a:ext cx="7357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</a:t>
            </a:r>
            <a:r>
              <a:rPr kumimoji="1" lang="zh-CN" altLang="en-US" dirty="0"/>
              <a:t>                                             </a:t>
            </a:r>
            <a:r>
              <a:rPr kumimoji="1" lang="en-US" altLang="zh-CN" dirty="0"/>
              <a:t>like</a:t>
            </a:r>
            <a:r>
              <a:rPr kumimoji="1" lang="zh-CN" altLang="en-US" dirty="0"/>
              <a:t>                                     </a:t>
            </a:r>
            <a:r>
              <a:rPr kumimoji="1" lang="en-US" altLang="zh-CN" dirty="0"/>
              <a:t>Trees</a:t>
            </a:r>
            <a:endParaRPr kumimoji="1"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2473048" y="5349580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400179" y="5347958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8206734" y="5357132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473049" y="4336185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400180" y="4334563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8206735" y="4343737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84515" y="1481472"/>
            <a:ext cx="3318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Position-wise</a:t>
            </a:r>
            <a:r>
              <a:rPr kumimoji="1" lang="zh-CN" altLang="en-US" dirty="0"/>
              <a:t> </a:t>
            </a:r>
            <a:r>
              <a:rPr kumimoji="1" lang="en-US" altLang="zh-CN" dirty="0"/>
              <a:t>feedforward</a:t>
            </a:r>
            <a:r>
              <a:rPr kumimoji="1" lang="zh-CN" altLang="en-US" dirty="0"/>
              <a:t> </a:t>
            </a:r>
            <a:r>
              <a:rPr kumimoji="1" lang="en-US" altLang="zh-CN" dirty="0"/>
              <a:t>layer</a:t>
            </a:r>
            <a:endParaRPr kumimoji="1" lang="zh-CN" altLang="en-US" dirty="0"/>
          </a:p>
        </p:txBody>
      </p:sp>
      <p:sp>
        <p:nvSpPr>
          <p:cNvPr id="22" name="圆角矩形 21"/>
          <p:cNvSpPr/>
          <p:nvPr/>
        </p:nvSpPr>
        <p:spPr>
          <a:xfrm>
            <a:off x="2473048" y="3396947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5400179" y="3395325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8206734" y="3404499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6" name="直线箭头连接符 25"/>
          <p:cNvCxnSpPr/>
          <p:nvPr/>
        </p:nvCxnSpPr>
        <p:spPr>
          <a:xfrm flipV="1">
            <a:off x="2753833" y="4667693"/>
            <a:ext cx="0" cy="5847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/>
          <p:cNvCxnSpPr/>
          <p:nvPr/>
        </p:nvCxnSpPr>
        <p:spPr>
          <a:xfrm flipV="1">
            <a:off x="2753833" y="3671776"/>
            <a:ext cx="0" cy="5847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/>
          <p:cNvCxnSpPr/>
          <p:nvPr/>
        </p:nvCxnSpPr>
        <p:spPr>
          <a:xfrm flipV="1">
            <a:off x="5691963" y="4667693"/>
            <a:ext cx="0" cy="5847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/>
          <p:cNvCxnSpPr/>
          <p:nvPr/>
        </p:nvCxnSpPr>
        <p:spPr>
          <a:xfrm flipV="1">
            <a:off x="5691963" y="3671776"/>
            <a:ext cx="0" cy="5847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/>
          <p:cNvCxnSpPr/>
          <p:nvPr/>
        </p:nvCxnSpPr>
        <p:spPr>
          <a:xfrm flipV="1">
            <a:off x="8530856" y="4667693"/>
            <a:ext cx="0" cy="5847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/>
          <p:cNvCxnSpPr/>
          <p:nvPr/>
        </p:nvCxnSpPr>
        <p:spPr>
          <a:xfrm flipV="1">
            <a:off x="8530856" y="3671776"/>
            <a:ext cx="0" cy="5847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/>
              <p:cNvSpPr txBox="1"/>
              <p:nvPr/>
            </p:nvSpPr>
            <p:spPr>
              <a:xfrm>
                <a:off x="3099581" y="4808069"/>
                <a:ext cx="3534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9581" y="4808069"/>
                <a:ext cx="353494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41" t="-175" r="-11153" b="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6026712" y="4808069"/>
                <a:ext cx="3534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712" y="4808069"/>
                <a:ext cx="353494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159" t="-175" r="-11035" b="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/>
              <p:cNvSpPr txBox="1"/>
              <p:nvPr/>
            </p:nvSpPr>
            <p:spPr>
              <a:xfrm>
                <a:off x="8833267" y="4792729"/>
                <a:ext cx="3534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267" y="4792729"/>
                <a:ext cx="353494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118" t="-139" r="-11076" b="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/>
              <p:cNvSpPr txBox="1"/>
              <p:nvPr/>
            </p:nvSpPr>
            <p:spPr>
              <a:xfrm>
                <a:off x="3099581" y="3812560"/>
                <a:ext cx="3588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9581" y="3812560"/>
                <a:ext cx="358816" cy="276999"/>
              </a:xfrm>
              <a:prstGeom prst="rect">
                <a:avLst/>
              </a:prstGeom>
              <a:blipFill rotWithShape="1">
                <a:blip r:embed="rId3"/>
                <a:stretch>
                  <a:fillRect l="-41" t="-7" r="-10212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8766965" y="3827370"/>
                <a:ext cx="3588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6965" y="3827370"/>
                <a:ext cx="358816" cy="276999"/>
              </a:xfrm>
              <a:prstGeom prst="rect">
                <a:avLst/>
              </a:prstGeom>
              <a:blipFill rotWithShape="1">
                <a:blip r:embed="rId3"/>
                <a:stretch>
                  <a:fillRect l="-43" t="-81" r="-10210" b="1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/>
              <p:cNvSpPr txBox="1"/>
              <p:nvPr/>
            </p:nvSpPr>
            <p:spPr>
              <a:xfrm>
                <a:off x="6017594" y="3824169"/>
                <a:ext cx="3588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594" y="3824169"/>
                <a:ext cx="358816" cy="276999"/>
              </a:xfrm>
              <a:prstGeom prst="rect">
                <a:avLst/>
              </a:prstGeom>
              <a:blipFill rotWithShape="1">
                <a:blip r:embed="rId3"/>
                <a:stretch>
                  <a:fillRect l="-93" t="-72" r="-10160" b="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/>
              <p:cNvSpPr txBox="1"/>
              <p:nvPr/>
            </p:nvSpPr>
            <p:spPr>
              <a:xfrm>
                <a:off x="6114330" y="4195343"/>
                <a:ext cx="7323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dirty="0" smtClean="0">
                          <a:latin typeface="Cambria Math" panose="02040503050406030204" charset="0"/>
                        </a:rPr>
                        <m:t>𝑟</m:t>
                      </m:r>
                      <m:r>
                        <a:rPr kumimoji="1" lang="en-US" altLang="zh-CN" i="1" dirty="0" smtClean="0">
                          <a:latin typeface="Cambria Math" panose="02040503050406030204" charset="0"/>
                        </a:rPr>
                        <m:t>𝑒𝑙𝑢</m:t>
                      </m:r>
                      <m:r>
                        <a:rPr kumimoji="1" lang="zh-CN" altLang="en-US" i="1" dirty="0" smtClean="0">
                          <a:latin typeface="Cambria Math" panose="02040503050406030204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4330" y="4195343"/>
                <a:ext cx="732316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75" t="-144" r="10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图片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1880" y="2073245"/>
            <a:ext cx="6184900" cy="7493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946373" y="5655313"/>
            <a:ext cx="2794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After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multi-head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attention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8208" y="-1771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A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complete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transformer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block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430519" y="5269220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箭头连接符 8"/>
          <p:cNvCxnSpPr/>
          <p:nvPr/>
        </p:nvCxnSpPr>
        <p:spPr>
          <a:xfrm flipV="1">
            <a:off x="5670917" y="5432852"/>
            <a:ext cx="291" cy="2720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/>
        </p:nvSpPr>
        <p:spPr>
          <a:xfrm>
            <a:off x="5357650" y="5267598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8164205" y="5276772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2430518" y="4208615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5357649" y="4206993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8164204" y="4216167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梯形 29"/>
          <p:cNvSpPr/>
          <p:nvPr/>
        </p:nvSpPr>
        <p:spPr>
          <a:xfrm>
            <a:off x="3057052" y="4519373"/>
            <a:ext cx="5027378" cy="559010"/>
          </a:xfrm>
          <a:prstGeom prst="trapezoid">
            <a:avLst>
              <a:gd name="adj" fmla="val 416135"/>
            </a:avLst>
          </a:prstGeom>
          <a:solidFill>
            <a:schemeClr val="accent2">
              <a:lumMod val="60000"/>
              <a:lumOff val="40000"/>
              <a:alpha val="27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Self-attention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625963" y="5855319"/>
            <a:ext cx="7357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</a:t>
            </a:r>
            <a:r>
              <a:rPr kumimoji="1" lang="zh-CN" altLang="en-US" dirty="0"/>
              <a:t>                                             </a:t>
            </a:r>
            <a:r>
              <a:rPr kumimoji="1" lang="en-US" altLang="zh-CN" dirty="0"/>
              <a:t>like</a:t>
            </a:r>
            <a:r>
              <a:rPr kumimoji="1" lang="zh-CN" altLang="en-US" dirty="0"/>
              <a:t>                                     </a:t>
            </a:r>
            <a:r>
              <a:rPr kumimoji="1" lang="en-US" altLang="zh-CN" dirty="0"/>
              <a:t>Trees</a:t>
            </a:r>
            <a:endParaRPr kumimoji="1" lang="zh-CN" altLang="en-US" dirty="0"/>
          </a:p>
        </p:txBody>
      </p:sp>
      <p:sp>
        <p:nvSpPr>
          <p:cNvPr id="32" name="圆角矩形 31"/>
          <p:cNvSpPr/>
          <p:nvPr/>
        </p:nvSpPr>
        <p:spPr>
          <a:xfrm>
            <a:off x="2430518" y="3693860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5357649" y="3692238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8164204" y="3701412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/>
              <p:cNvSpPr txBox="1"/>
              <p:nvPr/>
            </p:nvSpPr>
            <p:spPr>
              <a:xfrm>
                <a:off x="5561562" y="3887157"/>
                <a:ext cx="2356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562" y="3887157"/>
                <a:ext cx="235641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98" t="-116" r="-9848" b="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2625963" y="3880471"/>
                <a:ext cx="2356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963" y="3880471"/>
                <a:ext cx="235641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101" t="-224" r="-9846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/>
              <p:cNvSpPr txBox="1"/>
              <p:nvPr/>
            </p:nvSpPr>
            <p:spPr>
              <a:xfrm>
                <a:off x="8379340" y="3929855"/>
                <a:ext cx="2356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9340" y="3929855"/>
                <a:ext cx="235641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219" t="-171" r="-9728" b="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肘形连接符 38"/>
          <p:cNvCxnSpPr/>
          <p:nvPr/>
        </p:nvCxnSpPr>
        <p:spPr>
          <a:xfrm rot="10800000">
            <a:off x="2334822" y="3761594"/>
            <a:ext cx="1" cy="1575360"/>
          </a:xfrm>
          <a:prstGeom prst="bentConnector3">
            <a:avLst>
              <a:gd name="adj1" fmla="val 2286010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/>
          <p:cNvCxnSpPr/>
          <p:nvPr/>
        </p:nvCxnSpPr>
        <p:spPr>
          <a:xfrm flipV="1">
            <a:off x="5662742" y="3177117"/>
            <a:ext cx="8466" cy="44873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5797203" y="3219802"/>
            <a:ext cx="2130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Layer</a:t>
            </a:r>
            <a:r>
              <a:rPr kumimoji="1" lang="zh-CN" altLang="en-US" dirty="0"/>
              <a:t> </a:t>
            </a:r>
            <a:r>
              <a:rPr kumimoji="1" lang="en-US" altLang="zh-CN" dirty="0"/>
              <a:t>normalization</a:t>
            </a:r>
            <a:endParaRPr kumimoji="1" lang="zh-CN" altLang="en-US" dirty="0"/>
          </a:p>
        </p:txBody>
      </p:sp>
      <p:sp>
        <p:nvSpPr>
          <p:cNvPr id="47" name="圆角矩形 46"/>
          <p:cNvSpPr/>
          <p:nvPr/>
        </p:nvSpPr>
        <p:spPr>
          <a:xfrm>
            <a:off x="2430518" y="2999785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5357649" y="2998163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圆角矩形 48"/>
          <p:cNvSpPr/>
          <p:nvPr/>
        </p:nvSpPr>
        <p:spPr>
          <a:xfrm>
            <a:off x="8164204" y="3007337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梯形 49"/>
          <p:cNvSpPr/>
          <p:nvPr/>
        </p:nvSpPr>
        <p:spPr>
          <a:xfrm>
            <a:off x="3047872" y="2322438"/>
            <a:ext cx="5256155" cy="559010"/>
          </a:xfrm>
          <a:prstGeom prst="trapezoid">
            <a:avLst>
              <a:gd name="adj" fmla="val 416135"/>
            </a:avLst>
          </a:prstGeom>
          <a:solidFill>
            <a:schemeClr val="accent2">
              <a:lumMod val="60000"/>
              <a:lumOff val="40000"/>
              <a:alpha val="27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Feedforward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layer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2430518" y="1565410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圆角矩形 52"/>
          <p:cNvSpPr/>
          <p:nvPr/>
        </p:nvSpPr>
        <p:spPr>
          <a:xfrm>
            <a:off x="5357649" y="1563788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圆角矩形 53"/>
          <p:cNvSpPr/>
          <p:nvPr/>
        </p:nvSpPr>
        <p:spPr>
          <a:xfrm>
            <a:off x="8164204" y="1572962"/>
            <a:ext cx="626533" cy="1354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圆角矩形 54"/>
          <p:cNvSpPr/>
          <p:nvPr/>
        </p:nvSpPr>
        <p:spPr>
          <a:xfrm>
            <a:off x="2430519" y="1986390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圆角矩形 55"/>
          <p:cNvSpPr/>
          <p:nvPr/>
        </p:nvSpPr>
        <p:spPr>
          <a:xfrm>
            <a:off x="5357650" y="1984768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8164205" y="1993942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/>
              <p:cNvSpPr txBox="1"/>
              <p:nvPr/>
            </p:nvSpPr>
            <p:spPr>
              <a:xfrm>
                <a:off x="5561563" y="1701214"/>
                <a:ext cx="2356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8" name="文本框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563" y="1701214"/>
                <a:ext cx="235641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99" t="-18" r="-9848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/>
              <p:cNvSpPr txBox="1"/>
              <p:nvPr/>
            </p:nvSpPr>
            <p:spPr>
              <a:xfrm>
                <a:off x="2625964" y="1694528"/>
                <a:ext cx="2356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9" name="文本框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964" y="1694528"/>
                <a:ext cx="235641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101" t="-126" r="-9845" b="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/>
              <p:cNvSpPr txBox="1"/>
              <p:nvPr/>
            </p:nvSpPr>
            <p:spPr>
              <a:xfrm>
                <a:off x="8379341" y="1743912"/>
                <a:ext cx="2356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0" name="文本框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9341" y="1743912"/>
                <a:ext cx="235641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219" t="-73" r="-9728" b="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肘形连接符 60"/>
          <p:cNvCxnSpPr/>
          <p:nvPr/>
        </p:nvCxnSpPr>
        <p:spPr>
          <a:xfrm rot="10800000">
            <a:off x="2332795" y="1584128"/>
            <a:ext cx="1" cy="1575360"/>
          </a:xfrm>
          <a:prstGeom prst="bentConnector3">
            <a:avLst>
              <a:gd name="adj1" fmla="val 2286010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圆角矩形 61"/>
          <p:cNvSpPr/>
          <p:nvPr/>
        </p:nvSpPr>
        <p:spPr>
          <a:xfrm>
            <a:off x="2422344" y="964981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5349475" y="963359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圆角矩形 63"/>
          <p:cNvSpPr/>
          <p:nvPr/>
        </p:nvSpPr>
        <p:spPr>
          <a:xfrm>
            <a:off x="8156030" y="972533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6" name="直线箭头连接符 65"/>
          <p:cNvCxnSpPr/>
          <p:nvPr/>
        </p:nvCxnSpPr>
        <p:spPr>
          <a:xfrm flipV="1">
            <a:off x="5692473" y="1203769"/>
            <a:ext cx="291" cy="2720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5797203" y="1149961"/>
            <a:ext cx="2130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Layer</a:t>
            </a:r>
            <a:r>
              <a:rPr kumimoji="1" lang="zh-CN" altLang="en-US" dirty="0"/>
              <a:t> </a:t>
            </a:r>
            <a:r>
              <a:rPr kumimoji="1" lang="en-US" altLang="zh-CN" dirty="0"/>
              <a:t>normalization</a:t>
            </a:r>
            <a:endParaRPr kumimoji="1" lang="zh-CN" altLang="en-US" dirty="0"/>
          </a:p>
        </p:txBody>
      </p:sp>
      <p:sp>
        <p:nvSpPr>
          <p:cNvPr id="68" name="文本框 67"/>
          <p:cNvSpPr txBox="1"/>
          <p:nvPr/>
        </p:nvSpPr>
        <p:spPr>
          <a:xfrm>
            <a:off x="250496" y="4302834"/>
            <a:ext cx="1793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Skip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connection</a:t>
            </a:r>
            <a:endParaRPr kumimoji="1" lang="zh-CN" altLang="en-US" dirty="0"/>
          </a:p>
        </p:txBody>
      </p:sp>
      <p:sp>
        <p:nvSpPr>
          <p:cNvPr id="69" name="文本框 68"/>
          <p:cNvSpPr txBox="1"/>
          <p:nvPr/>
        </p:nvSpPr>
        <p:spPr>
          <a:xfrm>
            <a:off x="285902" y="2051798"/>
            <a:ext cx="1793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Skip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connection</a:t>
            </a:r>
            <a:endParaRPr kumimoji="1" lang="zh-CN" altLang="en-US" dirty="0"/>
          </a:p>
        </p:txBody>
      </p:sp>
      <p:sp>
        <p:nvSpPr>
          <p:cNvPr id="70" name="文本框 69"/>
          <p:cNvSpPr txBox="1"/>
          <p:nvPr/>
        </p:nvSpPr>
        <p:spPr>
          <a:xfrm>
            <a:off x="8164204" y="2359900"/>
            <a:ext cx="3318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Position-wise</a:t>
            </a:r>
            <a:r>
              <a:rPr kumimoji="1" lang="zh-CN" altLang="en-US" dirty="0"/>
              <a:t> </a:t>
            </a:r>
            <a:r>
              <a:rPr kumimoji="1" lang="en-US" altLang="zh-CN" dirty="0"/>
              <a:t>feedforward</a:t>
            </a:r>
            <a:r>
              <a:rPr kumimoji="1" lang="zh-CN" altLang="en-US" dirty="0"/>
              <a:t> </a:t>
            </a:r>
            <a:r>
              <a:rPr kumimoji="1" lang="en-US" altLang="zh-CN" dirty="0"/>
              <a:t>layer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dirty="0">
                <a:latin typeface="Franklin Gothic Medium" panose="020B0603020102020204" charset="0"/>
              </a:rPr>
              <a:t>Transformer: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Position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encoding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of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words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cxnSp>
        <p:nvCxnSpPr>
          <p:cNvPr id="10" name="直线箭头连接符 9"/>
          <p:cNvCxnSpPr/>
          <p:nvPr/>
        </p:nvCxnSpPr>
        <p:spPr>
          <a:xfrm flipV="1">
            <a:off x="3498699" y="5257800"/>
            <a:ext cx="8466" cy="448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3185432" y="5088464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直线箭头连接符 11"/>
          <p:cNvCxnSpPr/>
          <p:nvPr/>
        </p:nvCxnSpPr>
        <p:spPr>
          <a:xfrm flipV="1">
            <a:off x="6425830" y="5256178"/>
            <a:ext cx="8466" cy="448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6112563" y="5086842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箭头连接符 13"/>
          <p:cNvCxnSpPr/>
          <p:nvPr/>
        </p:nvCxnSpPr>
        <p:spPr>
          <a:xfrm flipV="1">
            <a:off x="9232385" y="5265352"/>
            <a:ext cx="8466" cy="448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8919118" y="5096016"/>
            <a:ext cx="626533" cy="13546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3193898" y="4571012"/>
            <a:ext cx="626533" cy="13546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6121029" y="4569390"/>
            <a:ext cx="626533" cy="13546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8927584" y="4578564"/>
            <a:ext cx="626533" cy="135467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6852391" y="4911350"/>
                <a:ext cx="445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charset="0"/>
                        </a:rPr>
                        <m:t>𝑚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391" y="4911350"/>
                <a:ext cx="445122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4" t="-70" r="21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6308008" y="4724796"/>
                <a:ext cx="2356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008" y="4724796"/>
                <a:ext cx="235641" cy="276999"/>
              </a:xfrm>
              <a:prstGeom prst="rect">
                <a:avLst/>
              </a:prstGeom>
              <a:blipFill rotWithShape="1">
                <a:blip r:embed="rId4"/>
                <a:stretch>
                  <a:fillRect l="-235" t="-143" r="-9712" b="1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3380877" y="4740348"/>
                <a:ext cx="2356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877" y="4740348"/>
                <a:ext cx="235641" cy="276999"/>
              </a:xfrm>
              <a:prstGeom prst="rect">
                <a:avLst/>
              </a:prstGeom>
              <a:blipFill rotWithShape="1">
                <a:blip r:embed="rId4"/>
                <a:stretch>
                  <a:fillRect l="-58" t="-26" r="-9889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/>
              <p:cNvSpPr txBox="1"/>
              <p:nvPr/>
            </p:nvSpPr>
            <p:spPr>
              <a:xfrm>
                <a:off x="9109070" y="4775464"/>
                <a:ext cx="2356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070" y="4775464"/>
                <a:ext cx="235641" cy="276999"/>
              </a:xfrm>
              <a:prstGeom prst="rect">
                <a:avLst/>
              </a:prstGeom>
              <a:blipFill rotWithShape="1">
                <a:blip r:embed="rId4"/>
                <a:stretch>
                  <a:fillRect l="-267" t="-95" r="-9680" b="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/>
          <p:cNvSpPr txBox="1"/>
          <p:nvPr/>
        </p:nvSpPr>
        <p:spPr>
          <a:xfrm>
            <a:off x="3380877" y="5887216"/>
            <a:ext cx="7357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</a:t>
            </a:r>
            <a:r>
              <a:rPr kumimoji="1" lang="zh-CN" altLang="en-US" dirty="0"/>
              <a:t>                                             </a:t>
            </a:r>
            <a:r>
              <a:rPr kumimoji="1" lang="en-US" altLang="zh-CN" dirty="0"/>
              <a:t>like</a:t>
            </a:r>
            <a:r>
              <a:rPr kumimoji="1" lang="zh-CN" altLang="en-US" dirty="0"/>
              <a:t>                                     </a:t>
            </a:r>
            <a:r>
              <a:rPr kumimoji="1" lang="en-US" altLang="zh-CN" dirty="0"/>
              <a:t>Trees</a:t>
            </a:r>
            <a:endParaRPr kumimoji="1"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664205" y="4452457"/>
            <a:ext cx="174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Position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vectors</a:t>
            </a:r>
            <a:endParaRPr kumimoji="1"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429108" y="4969909"/>
            <a:ext cx="2039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Word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embeddings</a:t>
            </a:r>
            <a:endParaRPr kumimoji="1"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1957687" y="1606340"/>
            <a:ext cx="827662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Position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vectors: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make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use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of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order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of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sequence</a:t>
            </a:r>
          </a:p>
          <a:p>
            <a:endParaRPr kumimoji="1"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The positional encodings have the same dimension as the </a:t>
            </a:r>
            <a:r>
              <a:rPr lang="en-US" altLang="zh-CN" sz="2000" dirty="0" err="1"/>
              <a:t>embeddings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The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relative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absolute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position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of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sequence</a:t>
            </a:r>
            <a:r>
              <a:rPr kumimoji="1" lang="zh-CN" altLang="en-US" sz="2000" dirty="0"/>
              <a:t> 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7164" y="3230885"/>
            <a:ext cx="3988981" cy="9485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994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Transformer: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Position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encoding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of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words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290" y="1329069"/>
            <a:ext cx="9705419" cy="50747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Transformers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490" y="1159059"/>
            <a:ext cx="8594236" cy="499714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Transformers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training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on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language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task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715" y="1690688"/>
            <a:ext cx="8472377" cy="465450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398730" y="6206692"/>
            <a:ext cx="42066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From</a:t>
            </a:r>
            <a:r>
              <a:rPr lang="zh-CN" altLang="en-US" sz="1200" dirty="0"/>
              <a:t> </a:t>
            </a:r>
            <a:r>
              <a:rPr lang="en-US" altLang="zh-CN" sz="1200" dirty="0"/>
              <a:t>blog:</a:t>
            </a:r>
            <a:r>
              <a:rPr lang="zh-CN" altLang="en-US" sz="1200" dirty="0"/>
              <a:t> http://jalammar.github.io/illustrated-transformer/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Transformers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training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on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language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task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90" y="1411249"/>
            <a:ext cx="8286307" cy="45522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8001885" y="4443074"/>
                <a:ext cx="422112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rgbClr val="222222"/>
                    </a:solidFill>
                    <a:latin typeface="Helvetica" charset="0"/>
                  </a:rPr>
                  <a:t>masking future positions (setting them to 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charset="0"/>
                      </a:rPr>
                      <m:t>−</m:t>
                    </m:r>
                    <m:r>
                      <a:rPr lang="en-US" altLang="zh-CN" i="1" dirty="0" err="1">
                        <a:latin typeface="Cambria Math" panose="02040503050406030204" charset="0"/>
                      </a:rPr>
                      <m:t>𝑖𝑛𝑓</m:t>
                    </m:r>
                  </m:oMath>
                </a14:m>
                <a:r>
                  <a:rPr lang="en-US" altLang="zh-CN" dirty="0">
                    <a:solidFill>
                      <a:srgbClr val="222222"/>
                    </a:solidFill>
                    <a:latin typeface="Helvetica" charset="0"/>
                  </a:rPr>
                  <a:t>) before the </a:t>
                </a:r>
                <a:r>
                  <a:rPr lang="en-US" altLang="zh-CN" dirty="0" err="1">
                    <a:solidFill>
                      <a:srgbClr val="222222"/>
                    </a:solidFill>
                    <a:latin typeface="Helvetica" charset="0"/>
                  </a:rPr>
                  <a:t>softmax</a:t>
                </a:r>
                <a:r>
                  <a:rPr lang="en-US" altLang="zh-CN" dirty="0">
                    <a:solidFill>
                      <a:srgbClr val="222222"/>
                    </a:solidFill>
                    <a:latin typeface="Helvetica" charset="0"/>
                  </a:rPr>
                  <a:t> step in the self-attention calculation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885" y="4443074"/>
                <a:ext cx="4221127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6" t="-66" r="13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993" y="2758077"/>
            <a:ext cx="3802912" cy="12755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Transformers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training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on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language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task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297" y="2066169"/>
            <a:ext cx="6324495" cy="408290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Attention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visualization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265" y="1529796"/>
            <a:ext cx="7923425" cy="516358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184155" y="1646754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altLang="zh-CN" dirty="0">
                <a:latin typeface="NimbusRomNo9L" charset="0"/>
              </a:rPr>
              <a:t>37000 tokens </a:t>
            </a:r>
            <a:endParaRPr lang="nl-NL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CN" sz="3200" dirty="0">
                <a:latin typeface="Franklin Gothic Medium" panose="020B0603020102020204" charset="0"/>
              </a:rPr>
              <a:t>Attention</a:t>
            </a:r>
            <a:r>
              <a:rPr kumimoji="1" lang="zh-CN" altLang="en-US" sz="3200" dirty="0">
                <a:latin typeface="Franklin Gothic Medium" panose="020B0603020102020204" charset="0"/>
              </a:rPr>
              <a:t> </a:t>
            </a:r>
            <a:r>
              <a:rPr kumimoji="1" lang="en-US" altLang="zh-CN" sz="3200" dirty="0">
                <a:latin typeface="Franklin Gothic Medium" panose="020B0603020102020204" charset="0"/>
              </a:rPr>
              <a:t>Visualization</a:t>
            </a:r>
            <a:endParaRPr kumimoji="1" lang="zh-CN" altLang="en-US" sz="3200" dirty="0">
              <a:latin typeface="Franklin Gothic Medium" panose="020B060302010202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447402"/>
            <a:ext cx="5206409" cy="259366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004" y="1977657"/>
            <a:ext cx="5222796" cy="33598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396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Transformer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VS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RNN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pic>
        <p:nvPicPr>
          <p:cNvPr id="4" name="Picture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7898" y="1770672"/>
            <a:ext cx="7442790" cy="27550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96052" y="5124239"/>
            <a:ext cx="446147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Advantages</a:t>
            </a:r>
          </a:p>
          <a:p>
            <a:r>
              <a:rPr lang="en-US" altLang="zh-CN" sz="1400" dirty="0"/>
              <a:t>• Possibility of processing input of any length</a:t>
            </a:r>
            <a:br>
              <a:rPr lang="en-US" altLang="zh-CN" sz="1400" dirty="0"/>
            </a:br>
            <a:r>
              <a:rPr lang="en-US" altLang="zh-CN" sz="1400" dirty="0"/>
              <a:t>• Model size not increasing with size of input</a:t>
            </a:r>
            <a:br>
              <a:rPr lang="en-US" altLang="zh-CN" sz="1400" dirty="0"/>
            </a:br>
            <a:r>
              <a:rPr lang="en-US" altLang="zh-CN" sz="1400" dirty="0"/>
              <a:t>• Computation takes into account historical information</a:t>
            </a:r>
            <a:br>
              <a:rPr lang="en-US" altLang="zh-CN" sz="1400" dirty="0"/>
            </a:br>
            <a:r>
              <a:rPr lang="en-US" altLang="zh-CN" sz="1400" dirty="0"/>
              <a:t>• Weights are shared across time</a:t>
            </a:r>
            <a:endParaRPr kumimoji="1" lang="zh-CN" altLang="en-US" sz="1400" dirty="0"/>
          </a:p>
        </p:txBody>
      </p:sp>
      <p:sp>
        <p:nvSpPr>
          <p:cNvPr id="6" name="文本框 5"/>
          <p:cNvSpPr txBox="1"/>
          <p:nvPr/>
        </p:nvSpPr>
        <p:spPr>
          <a:xfrm>
            <a:off x="6191693" y="5187350"/>
            <a:ext cx="46009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/>
              <a:t>Drawbacks</a:t>
            </a:r>
            <a:endParaRPr kumimoji="1" lang="en-US" altLang="zh-CN" sz="1400" dirty="0"/>
          </a:p>
          <a:p>
            <a:r>
              <a:rPr lang="en-US" altLang="zh-CN" sz="1400" dirty="0"/>
              <a:t>• Computation being slow</a:t>
            </a:r>
            <a:br>
              <a:rPr lang="en-US" altLang="zh-CN" sz="1400" dirty="0"/>
            </a:br>
            <a:r>
              <a:rPr lang="en-US" altLang="zh-CN" sz="1400" dirty="0"/>
              <a:t>• Difficulty of accessing information from a long time ago</a:t>
            </a:r>
            <a:br>
              <a:rPr lang="en-US" altLang="zh-CN" sz="1400" dirty="0"/>
            </a:br>
            <a:r>
              <a:rPr lang="en-US" altLang="zh-CN" sz="1400" dirty="0"/>
              <a:t>• Cannot consider any future input for the current state</a:t>
            </a:r>
            <a:endParaRPr kumimoji="1" lang="zh-CN" altLang="en-US" sz="1400" dirty="0"/>
          </a:p>
        </p:txBody>
      </p:sp>
      <p:sp>
        <p:nvSpPr>
          <p:cNvPr id="3" name="文本框 2"/>
          <p:cNvSpPr txBox="1"/>
          <p:nvPr/>
        </p:nvSpPr>
        <p:spPr>
          <a:xfrm>
            <a:off x="1073888" y="1159600"/>
            <a:ext cx="3619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Learning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long-term</a:t>
            </a:r>
            <a:r>
              <a:rPr kumimoji="1" lang="zh-CN" altLang="en-US" dirty="0"/>
              <a:t> </a:t>
            </a:r>
            <a:r>
              <a:rPr kumimoji="1" lang="en-US" altLang="zh-CN" dirty="0"/>
              <a:t>dependencies.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90410" y="4754907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RNN: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7037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2800" dirty="0">
                <a:latin typeface="Franklin Gothic Medium" panose="020B0603020102020204" charset="0"/>
              </a:rPr>
              <a:t>Language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models,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such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Bert,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GPT-3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Transformers,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Bert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and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GPT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9098" y="1573730"/>
            <a:ext cx="5911702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CA" altLang="zh-CN" dirty="0">
                <a:latin typeface="+mn-ea"/>
              </a:rPr>
              <a:t>A transformer uses Encoder stack to model input, and uses Decoder stack to model output (using input information from encoder side).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CA" altLang="zh-CN" dirty="0">
                <a:latin typeface="+mn-ea"/>
              </a:rPr>
              <a:t>If we are only interested in training a language model for the input for some other tasks, then we do not need the Decoder of the transformer, that gives us BERT.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CA" altLang="zh-CN" dirty="0">
                <a:latin typeface="+mn-ea"/>
              </a:rPr>
              <a:t>But if we do not have input, we just want to model the “next word”, we can get rid of the Encoder side of a transformer and output “next word” one by one. This gives us GPT.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512" y="1690688"/>
            <a:ext cx="3133276" cy="468895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2547"/>
          </a:xfrm>
        </p:spPr>
        <p:txBody>
          <a:bodyPr>
            <a:normAutofit fontScale="90000"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BERT: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lang="en-US" altLang="zh-CN" sz="2800" dirty="0">
                <a:latin typeface="Franklin Gothic Medium" panose="020B0603020102020204" charset="0"/>
              </a:rPr>
              <a:t>Bidirectional Encoder Representations from Transformers </a:t>
            </a:r>
            <a:br>
              <a:rPr lang="en-US" altLang="zh-CN" sz="2800" dirty="0">
                <a:latin typeface="Franklin Gothic Medium" panose="020B0603020102020204" charset="0"/>
              </a:rPr>
            </a:b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053" y="2339163"/>
            <a:ext cx="7086338" cy="292911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725" y="1403496"/>
            <a:ext cx="3132564" cy="50079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Masked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language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model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 err="1">
                <a:latin typeface="Franklin Gothic Medium" panose="020B0603020102020204" charset="0"/>
              </a:rPr>
              <a:t>pretraining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38" y="2430461"/>
            <a:ext cx="4877968" cy="159805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681" y="1690688"/>
            <a:ext cx="5867401" cy="454459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619" y="1287564"/>
            <a:ext cx="8946636" cy="519774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909724" y="426706"/>
            <a:ext cx="58208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BERT supercharges transfer learning 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8938" y="273272"/>
            <a:ext cx="7208858" cy="475330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63786" y="5454503"/>
            <a:ext cx="2731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Neurips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2020,</a:t>
            </a:r>
            <a:r>
              <a:rPr kumimoji="1" lang="zh-CN" altLang="en-US" dirty="0"/>
              <a:t> </a:t>
            </a:r>
            <a:r>
              <a:rPr kumimoji="1" lang="en-US" altLang="zh-CN" dirty="0"/>
              <a:t>best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paper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Different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pre-training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model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architectures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42678"/>
            <a:ext cx="10373833" cy="253121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What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makes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GPT-3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different</a:t>
            </a:r>
            <a:r>
              <a:rPr kumimoji="1" lang="zh-CN" altLang="en-US" sz="2800" dirty="0">
                <a:latin typeface="Franklin Gothic Medium" panose="020B0603020102020204" charset="0"/>
              </a:rPr>
              <a:t> </a:t>
            </a:r>
            <a:r>
              <a:rPr kumimoji="1" lang="en-US" altLang="zh-CN" sz="2800" dirty="0">
                <a:latin typeface="Franklin Gothic Medium" panose="020B0603020102020204" charset="0"/>
              </a:rPr>
              <a:t>?</a:t>
            </a:r>
            <a:endParaRPr kumimoji="1" lang="zh-CN" altLang="en-US" sz="2800" dirty="0">
              <a:latin typeface="Franklin Gothic Medium" panose="020B060302010202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99" y="1956389"/>
            <a:ext cx="5416040" cy="382131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785" y="1956389"/>
            <a:ext cx="4520462" cy="1583601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667574" y="4136089"/>
            <a:ext cx="487325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</a:rPr>
              <a:t>GPT-3 is a very large language model (the largest till date) with about 175B parameters.</a:t>
            </a:r>
            <a:r>
              <a:rPr lang="en-US" altLang="zh-C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Constituting</a:t>
            </a:r>
            <a:r>
              <a:rPr lang="zh-CN" altLang="en-US" dirty="0"/>
              <a:t> </a:t>
            </a:r>
            <a:r>
              <a:rPr lang="en-US" altLang="zh-CN" dirty="0"/>
              <a:t>45TB of compressed plaintext before filtering and </a:t>
            </a:r>
            <a:r>
              <a:rPr lang="en-US" altLang="zh-CN" b="1" dirty="0"/>
              <a:t>570GB</a:t>
            </a:r>
            <a:r>
              <a:rPr lang="en-US" altLang="zh-CN" dirty="0"/>
              <a:t> after filtering, roughly equivalent to 400 billion byte-pair-encoded tokens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094" y="1825625"/>
            <a:ext cx="5976233" cy="39195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42" y="1969329"/>
            <a:ext cx="5208210" cy="398490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7026" y="2618719"/>
            <a:ext cx="10515600" cy="614680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cs typeface="Arial" panose="020B0604020202020204" pitchFamily="34" charset="0"/>
                <a:sym typeface="+mn-ea"/>
              </a:rPr>
              <a:t>Structured State Space Models</a:t>
            </a:r>
            <a:endParaRPr kumimoji="1" lang="zh-CN" altLang="en-US" dirty="0">
              <a:latin typeface="Franklin Gothic Medium" panose="020B060302010202020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899" y="1073042"/>
            <a:ext cx="7414201" cy="445999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94624" y="451542"/>
            <a:ext cx="105556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4D4D4D"/>
                </a:solidFill>
                <a:latin typeface="-apple-system"/>
              </a:rPr>
              <a:t>现有模型的对比：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585442" y="5892057"/>
            <a:ext cx="110211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i="0" dirty="0">
                <a:effectLst/>
                <a:latin typeface="-apple-system"/>
              </a:rPr>
              <a:t>为结构化状态空间模型引入了一种选择机制</a:t>
            </a:r>
            <a:r>
              <a:rPr lang="zh-CN" altLang="en-US" b="0" i="0" dirty="0">
                <a:effectLst/>
                <a:latin typeface="-apple-system"/>
              </a:rPr>
              <a:t>，使其能够执行与上下文相关的推理，同时按序列长度线性扩展。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What is state space model ?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Franklin Gothic Medium" panose="020B0603020102020204" charset="0"/>
              </a:rPr>
              <a:t>一种描述动态系统行为的数学模型（动力学系统）</a:t>
            </a:r>
            <a:endParaRPr lang="en-US" altLang="zh-CN" dirty="0">
              <a:latin typeface="Franklin Gothic Medium" panose="020B0603020102020204" charset="0"/>
            </a:endParaRPr>
          </a:p>
          <a:p>
            <a:r>
              <a:rPr lang="zh-CN" altLang="en-US" dirty="0">
                <a:latin typeface="Franklin Gothic Medium" panose="020B0603020102020204" charset="0"/>
              </a:rPr>
              <a:t>如</a:t>
            </a:r>
            <a:r>
              <a:rPr lang="en-US" altLang="zh-CN" dirty="0">
                <a:latin typeface="Franklin Gothic Medium" panose="020B0603020102020204" charset="0"/>
              </a:rPr>
              <a:t>RNN</a:t>
            </a:r>
            <a:r>
              <a:rPr lang="zh-CN" altLang="en-US" dirty="0">
                <a:latin typeface="Franklin Gothic Medium" panose="020B0603020102020204" charset="0"/>
              </a:rPr>
              <a:t>，</a:t>
            </a:r>
            <a:r>
              <a:rPr lang="en-US" altLang="zh-CN" dirty="0">
                <a:latin typeface="Franklin Gothic Medium" panose="020B0603020102020204" charset="0"/>
              </a:rPr>
              <a:t>LSTM</a:t>
            </a:r>
            <a:r>
              <a:rPr lang="zh-CN" altLang="en-US" dirty="0">
                <a:latin typeface="Franklin Gothic Medium" panose="020B0603020102020204" charset="0"/>
              </a:rPr>
              <a:t>，</a:t>
            </a:r>
            <a:r>
              <a:rPr lang="en-US" altLang="zh-CN" dirty="0">
                <a:latin typeface="Franklin Gothic Medium" panose="020B0603020102020204" charset="0"/>
              </a:rPr>
              <a:t>Hopfield model </a:t>
            </a:r>
            <a:r>
              <a:rPr lang="zh-CN" altLang="en-US" dirty="0">
                <a:latin typeface="Franklin Gothic Medium" panose="020B0603020102020204" charset="0"/>
              </a:rPr>
              <a:t>等等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38</a:t>
            </a:fld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898" y="2792484"/>
            <a:ext cx="8534401" cy="208965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7956" y="5365641"/>
            <a:ext cx="10515600" cy="990709"/>
          </a:xfrm>
        </p:spPr>
        <p:txBody>
          <a:bodyPr>
            <a:normAutofit/>
          </a:bodyPr>
          <a:lstStyle/>
          <a:p>
            <a:pPr algn="ctr"/>
            <a:r>
              <a:rPr lang="zh-CN" altLang="en-US" sz="1800" dirty="0">
                <a:latin typeface="Franklin Gothic Medium" panose="020B0603020102020204" charset="0"/>
              </a:rPr>
              <a:t>后果：难以基于梯度学习算法，学习长序列之间的依赖关系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39</a:t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715" y="618632"/>
            <a:ext cx="8554135" cy="450169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From a</a:t>
            </a:r>
            <a:r>
              <a:rPr lang="zh-CN" altLang="en-US" dirty="0">
                <a:latin typeface="Franklin Gothic Medium" panose="020B0603020102020204" charset="0"/>
              </a:rPr>
              <a:t> </a:t>
            </a:r>
            <a:r>
              <a:rPr lang="en-US" altLang="zh-CN" dirty="0">
                <a:latin typeface="Franklin Gothic Medium" panose="020B0603020102020204" charset="0"/>
              </a:rPr>
              <a:t>dynamical</a:t>
            </a:r>
            <a:r>
              <a:rPr lang="zh-CN" altLang="en-US" dirty="0">
                <a:latin typeface="Franklin Gothic Medium" panose="020B0603020102020204" charset="0"/>
              </a:rPr>
              <a:t> </a:t>
            </a:r>
            <a:r>
              <a:rPr lang="en-US" altLang="zh-CN" dirty="0">
                <a:latin typeface="Franklin Gothic Medium" panose="020B0603020102020204" charset="0"/>
              </a:rPr>
              <a:t>system</a:t>
            </a:r>
            <a:r>
              <a:rPr lang="zh-CN" altLang="en-US" dirty="0">
                <a:latin typeface="Franklin Gothic Medium" panose="020B0603020102020204" charset="0"/>
              </a:rPr>
              <a:t> </a:t>
            </a:r>
            <a:r>
              <a:rPr lang="en-US" altLang="zh-CN" dirty="0">
                <a:latin typeface="Franklin Gothic Medium" panose="020B0603020102020204" charset="0"/>
              </a:rPr>
              <a:t>view</a:t>
            </a:r>
            <a:endParaRPr lang="zh-CN" altLang="en-US" dirty="0">
              <a:latin typeface="Franklin Gothic Medium" panose="020B0603020102020204" charset="0"/>
            </a:endParaRP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37985"/>
            <a:ext cx="4695259" cy="3150889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40</a:t>
            </a:fld>
            <a:endParaRPr kumimoji="1"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695" y="2773789"/>
            <a:ext cx="5225139" cy="180577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157237" y="1713886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Vanishing gradient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862788" y="1681620"/>
            <a:ext cx="2055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Exploding gradient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Memory representations for sequential data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41</a:t>
            </a:fld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534" y="1419137"/>
            <a:ext cx="5605742" cy="352104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39780" y="5352423"/>
            <a:ext cx="9655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Incrementally maintain a representation of </a:t>
            </a:r>
            <a:r>
              <a:rPr lang="en-US" altLang="zh-CN" sz="2400" b="1" dirty="0"/>
              <a:t>the entire sequence history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Key idea of structured state space model</a:t>
            </a:r>
            <a:endParaRPr lang="zh-CN" altLang="en-US" dirty="0">
              <a:latin typeface="Franklin Gothic Medium" panose="020B060302010202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Franklin Gothic Medium" panose="020B0603020102020204" charset="0"/>
              </a:rPr>
              <a:t>克服</a:t>
            </a:r>
            <a:r>
              <a:rPr lang="zh-CN" altLang="en-US" b="1" dirty="0">
                <a:solidFill>
                  <a:srgbClr val="C00000"/>
                </a:solidFill>
                <a:latin typeface="Franklin Gothic Medium" panose="020B0603020102020204" charset="0"/>
                <a:sym typeface="+mn-ea"/>
              </a:rPr>
              <a:t>状态空间模型</a:t>
            </a:r>
            <a:r>
              <a:rPr lang="zh-CN" altLang="en-US" dirty="0">
                <a:latin typeface="Franklin Gothic Medium" panose="020B0603020102020204" charset="0"/>
              </a:rPr>
              <a:t>长时序建模的难题</a:t>
            </a:r>
            <a:endParaRPr lang="en-US" altLang="zh-CN" dirty="0">
              <a:latin typeface="Franklin Gothic Medium" panose="020B0603020102020204" charset="0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Franklin Gothic Medium" panose="020B0603020102020204" charset="0"/>
              </a:rPr>
              <a:t>将非线性的</a:t>
            </a:r>
            <a:r>
              <a:rPr lang="zh-CN" altLang="en-US" b="1" dirty="0">
                <a:solidFill>
                  <a:srgbClr val="C00000"/>
                </a:solidFill>
                <a:latin typeface="Franklin Gothic Medium" panose="020B0603020102020204" charset="0"/>
              </a:rPr>
              <a:t>状态空间模型</a:t>
            </a:r>
            <a:r>
              <a:rPr lang="zh-CN" altLang="en-US" dirty="0">
                <a:latin typeface="Franklin Gothic Medium" panose="020B0603020102020204" charset="0"/>
              </a:rPr>
              <a:t>进行</a:t>
            </a:r>
            <a:r>
              <a:rPr lang="zh-CN" altLang="en-US" b="1" dirty="0">
                <a:solidFill>
                  <a:srgbClr val="C00000"/>
                </a:solidFill>
                <a:latin typeface="Franklin Gothic Medium" panose="020B0603020102020204" charset="0"/>
              </a:rPr>
              <a:t>线性化</a:t>
            </a:r>
            <a:r>
              <a:rPr lang="zh-CN" altLang="en-US" dirty="0">
                <a:latin typeface="Franklin Gothic Medium" panose="020B0603020102020204" charset="0"/>
              </a:rPr>
              <a:t>，从而实现卷积运算等，实现高效的训练和推理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A good state space model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latin typeface="Franklin Gothic Medium" panose="020B0603020102020204" charset="0"/>
              </a:rPr>
              <a:t>Memorizing sequences </a:t>
            </a:r>
            <a:r>
              <a:rPr lang="en-US" altLang="zh-CN" sz="2800" b="1" dirty="0">
                <a:latin typeface="Franklin Gothic Medium" panose="020B0603020102020204" charset="0"/>
              </a:rPr>
              <a:t>online</a:t>
            </a:r>
          </a:p>
          <a:p>
            <a:r>
              <a:rPr lang="en-US" altLang="zh-CN" sz="2800" dirty="0">
                <a:latin typeface="Franklin Gothic Medium" panose="020B0603020102020204" charset="0"/>
              </a:rPr>
              <a:t>Handle </a:t>
            </a:r>
            <a:r>
              <a:rPr lang="en-US" altLang="zh-CN" sz="2800" b="1" dirty="0">
                <a:latin typeface="Franklin Gothic Medium" panose="020B0603020102020204" charset="0"/>
              </a:rPr>
              <a:t>long-term dependencies </a:t>
            </a:r>
            <a:r>
              <a:rPr lang="en-US" altLang="zh-CN" sz="2800" dirty="0">
                <a:latin typeface="Franklin Gothic Medium" panose="020B0603020102020204" charset="0"/>
              </a:rPr>
              <a:t>empirically</a:t>
            </a:r>
          </a:p>
          <a:p>
            <a:r>
              <a:rPr lang="en-US" altLang="zh-CN" sz="2800" dirty="0">
                <a:latin typeface="Franklin Gothic Medium" panose="020B0603020102020204" charset="0"/>
              </a:rPr>
              <a:t>Address variable sampling rates and </a:t>
            </a:r>
            <a:r>
              <a:rPr lang="en-US" altLang="zh-CN" sz="2800" b="1" dirty="0">
                <a:latin typeface="Franklin Gothic Medium" panose="020B0603020102020204" charset="0"/>
              </a:rPr>
              <a:t>timescale distribution shift</a:t>
            </a:r>
            <a:endParaRPr lang="zh-CN" altLang="en-US" sz="2800" b="1" dirty="0">
              <a:latin typeface="Franklin Gothic Medium" panose="020B060302010202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43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Online function approximation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44</a:t>
            </a:fld>
            <a:endParaRPr kumimoji="1" lang="zh-CN" altLang="en-US"/>
          </a:p>
        </p:txBody>
      </p:sp>
      <p:pic>
        <p:nvPicPr>
          <p:cNvPr id="11" name="内容占位符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851" y="1811737"/>
            <a:ext cx="10515600" cy="311848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269393" y="5221361"/>
                <a:ext cx="42045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RNN hidden state -&gt; </a:t>
                </a:r>
                <a:r>
                  <a:rPr lang="zh-CN" altLang="en-US" dirty="0"/>
                  <a:t>实时地重构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393" y="5221361"/>
                <a:ext cx="4204549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7" t="-106" r="12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1065" y="623570"/>
            <a:ext cx="10515600" cy="614680"/>
          </a:xfrm>
        </p:spPr>
        <p:txBody>
          <a:bodyPr>
            <a:normAutofit fontScale="90000"/>
          </a:bodyPr>
          <a:lstStyle/>
          <a:p>
            <a:pPr algn="ctr"/>
            <a:r>
              <a:rPr kumimoji="1" lang="zh-CN" altLang="en-US" dirty="0">
                <a:latin typeface="Franklin Gothic Medium" panose="020B0603020102020204" charset="0"/>
              </a:rPr>
              <a:t>如果需要一个</a:t>
            </a:r>
            <a:r>
              <a:rPr kumimoji="1" lang="en-US" altLang="zh-CN" dirty="0">
                <a:latin typeface="Franklin Gothic Medium" panose="020B0603020102020204" charset="0"/>
              </a:rPr>
              <a:t>hidden state </a:t>
            </a:r>
            <a:r>
              <a:rPr kumimoji="1" lang="zh-CN" altLang="en-US" dirty="0">
                <a:latin typeface="Franklin Gothic Medium" panose="020B0603020102020204" charset="0"/>
              </a:rPr>
              <a:t>最优地保存了一个</a:t>
            </a:r>
            <a:r>
              <a:rPr kumimoji="1" lang="en-US" altLang="zh-CN" dirty="0">
                <a:latin typeface="Franklin Gothic Medium" panose="020B0603020102020204" charset="0"/>
              </a:rPr>
              <a:t>sequence</a:t>
            </a:r>
            <a:r>
              <a:rPr kumimoji="1" lang="zh-CN" altLang="en-US" dirty="0">
                <a:latin typeface="Franklin Gothic Medium" panose="020B0603020102020204" charset="0"/>
              </a:rPr>
              <a:t>的信息：</a:t>
            </a:r>
            <a:r>
              <a:rPr kumimoji="1" lang="en-US" altLang="zh-CN" dirty="0">
                <a:latin typeface="Franklin Gothic Medium" panose="020B0603020102020204" charset="0"/>
              </a:rPr>
              <a:t/>
            </a:r>
            <a:br>
              <a:rPr kumimoji="1" lang="en-US" altLang="zh-CN" dirty="0">
                <a:latin typeface="Franklin Gothic Medium" panose="020B0603020102020204" charset="0"/>
              </a:rPr>
            </a:br>
            <a:r>
              <a:rPr kumimoji="1" lang="zh-CN" altLang="en-US" dirty="0">
                <a:latin typeface="Franklin Gothic Medium" panose="020B0603020102020204" charset="0"/>
              </a:rPr>
              <a:t>可以将</a:t>
            </a:r>
            <a:r>
              <a:rPr kumimoji="1" lang="en-US" altLang="zh-CN" dirty="0">
                <a:latin typeface="Franklin Gothic Medium" panose="020B0603020102020204" charset="0"/>
              </a:rPr>
              <a:t>sequence </a:t>
            </a:r>
            <a:r>
              <a:rPr kumimoji="1" lang="zh-CN" altLang="en-US" dirty="0">
                <a:latin typeface="Franklin Gothic Medium" panose="020B0603020102020204" charset="0"/>
              </a:rPr>
              <a:t>信息投影在一个定义好的泛函空间，</a:t>
            </a:r>
            <a:r>
              <a:rPr kumimoji="1" lang="en-US" altLang="zh-CN" dirty="0">
                <a:latin typeface="Franklin Gothic Medium" panose="020B0603020102020204" charset="0"/>
              </a:rPr>
              <a:t>hidden state </a:t>
            </a:r>
            <a:r>
              <a:rPr kumimoji="1" lang="zh-CN" altLang="en-US" dirty="0">
                <a:latin typeface="Franklin Gothic Medium" panose="020B0603020102020204" charset="0"/>
              </a:rPr>
              <a:t>只需要保存空间中对应的</a:t>
            </a:r>
            <a:r>
              <a:rPr kumimoji="1" lang="zh-CN" altLang="en-US" b="1" dirty="0">
                <a:solidFill>
                  <a:srgbClr val="C00000"/>
                </a:solidFill>
                <a:latin typeface="Franklin Gothic Medium" panose="020B0603020102020204" charset="0"/>
              </a:rPr>
              <a:t>坐标或者投影系数</a:t>
            </a:r>
            <a:r>
              <a:rPr kumimoji="1" lang="zh-CN" altLang="en-US" dirty="0">
                <a:latin typeface="Franklin Gothic Medium" panose="020B0603020102020204" charset="0"/>
              </a:rPr>
              <a:t>即可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5907" y="2360289"/>
            <a:ext cx="9854609" cy="3431706"/>
          </a:xfrm>
          <a:prstGeom prst="rect">
            <a:avLst/>
          </a:prstGeom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45</a:t>
            </a:fld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733763" y="1660475"/>
            <a:ext cx="3752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Avenir Next LT Pro" charset="0"/>
              </a:rPr>
              <a:t>Legendre polynomials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755819" y="1660475"/>
            <a:ext cx="3752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Fourier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transformation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Online function approximation: </a:t>
            </a:r>
            <a:r>
              <a:rPr lang="zh-CN" altLang="en-US" dirty="0">
                <a:latin typeface="Franklin Gothic Medium" panose="020B0603020102020204" charset="0"/>
              </a:rPr>
              <a:t>如何在线地获取</a:t>
            </a:r>
            <a:r>
              <a:rPr lang="zh-CN" altLang="en-US" b="1" dirty="0">
                <a:solidFill>
                  <a:srgbClr val="C00000"/>
                </a:solidFill>
                <a:latin typeface="Franklin Gothic Medium" panose="020B0603020102020204" charset="0"/>
              </a:rPr>
              <a:t>投影系数</a:t>
            </a:r>
            <a:r>
              <a:rPr lang="zh-CN" altLang="en-US" dirty="0">
                <a:latin typeface="Franklin Gothic Medium" panose="020B0603020102020204" charset="0"/>
              </a:rPr>
              <a:t>？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7886" y="1606260"/>
            <a:ext cx="9486363" cy="4002310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46</a:t>
            </a:fld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315442" y="5699871"/>
                <a:ext cx="25063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C00000"/>
                    </a:solidFill>
                  </a:rPr>
                  <a:t>如何实时地获取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charset="0"/>
                      </a:rPr>
                      <m:t>𝒄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charset="0"/>
                          </a:rPr>
                          <m:t>𝒕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charset="0"/>
                      </a:rPr>
                      <m:t>?</m:t>
                    </m:r>
                  </m:oMath>
                </a14:m>
                <a:endParaRPr lang="zh-CN" alt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442" y="5699871"/>
                <a:ext cx="2506377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5" t="-30" r="1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err="1">
                <a:latin typeface="Franklin Gothic Medium" panose="020B0603020102020204" charset="0"/>
              </a:rPr>
              <a:t>HiPPO</a:t>
            </a:r>
            <a:r>
              <a:rPr lang="en-US" altLang="zh-CN" dirty="0">
                <a:latin typeface="Franklin Gothic Medium" panose="020B0603020102020204" charset="0"/>
              </a:rPr>
              <a:t> framework: </a:t>
            </a:r>
            <a:r>
              <a:rPr lang="en-US" altLang="zh-CN" sz="2800" dirty="0">
                <a:latin typeface="Franklin Gothic Medium" panose="020B0603020102020204" charset="0"/>
              </a:rPr>
              <a:t>Memorizing sequences </a:t>
            </a:r>
            <a:r>
              <a:rPr lang="en-US" altLang="zh-CN" sz="2800" b="1" dirty="0">
                <a:latin typeface="Franklin Gothic Medium" panose="020B0603020102020204" charset="0"/>
              </a:rPr>
              <a:t>online</a:t>
            </a:r>
            <a:r>
              <a:rPr lang="en-US" altLang="zh-CN" dirty="0">
                <a:latin typeface="Franklin Gothic Medium" panose="020B0603020102020204" charset="0"/>
              </a:rPr>
              <a:t> </a:t>
            </a:r>
            <a:endParaRPr lang="zh-CN" altLang="en-US" dirty="0">
              <a:latin typeface="Franklin Gothic Medium" panose="020B060302010202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47</a:t>
            </a:fld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58" y="1199811"/>
            <a:ext cx="10307884" cy="432958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Legendre polynomials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48</a:t>
            </a:fld>
            <a:endParaRPr kumimoji="1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591" y="4201656"/>
            <a:ext cx="3200661" cy="215469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22" y="1355075"/>
            <a:ext cx="4004997" cy="260253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957" y="1413649"/>
            <a:ext cx="5330711" cy="2337339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999516" y="468433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关键性质：</a:t>
            </a:r>
            <a:r>
              <a:rPr lang="zh-CN" altLang="en-US" b="1" dirty="0">
                <a:solidFill>
                  <a:srgbClr val="C00000"/>
                </a:solidFill>
              </a:rPr>
              <a:t>正交性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Franklin Gothic Medium" panose="020B0603020102020204" charset="0"/>
              </a:rPr>
              <a:t>以</a:t>
            </a:r>
            <a:r>
              <a:rPr lang="en-US" altLang="zh-CN" dirty="0" err="1">
                <a:latin typeface="Franklin Gothic Medium" panose="020B0603020102020204" charset="0"/>
              </a:rPr>
              <a:t>HiPPO-LegS</a:t>
            </a:r>
            <a:r>
              <a:rPr lang="en-US" altLang="zh-CN" dirty="0">
                <a:latin typeface="Franklin Gothic Medium" panose="020B0603020102020204" charset="0"/>
              </a:rPr>
              <a:t> </a:t>
            </a:r>
            <a:r>
              <a:rPr lang="zh-CN" altLang="en-US" dirty="0">
                <a:latin typeface="Franklin Gothic Medium" panose="020B0603020102020204" charset="0"/>
              </a:rPr>
              <a:t>为例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6344" y="1431297"/>
            <a:ext cx="6184720" cy="1332701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49</a:t>
            </a:fld>
            <a:endParaRPr kumimoji="1"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224" y="3994423"/>
            <a:ext cx="3439297" cy="2361927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6439723" y="2973731"/>
            <a:ext cx="0" cy="9105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7101" y="1256000"/>
            <a:ext cx="10515600" cy="3279235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50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Online update version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3222"/>
            <a:ext cx="10515600" cy="4108744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51</a:t>
            </a:fld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87510" y="5609562"/>
            <a:ext cx="914865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</a:rPr>
              <a:t>Coefficient dynamics can be represented as </a:t>
            </a:r>
            <a:r>
              <a:rPr lang="en-US" altLang="zh-CN" sz="2800" b="1" dirty="0">
                <a:solidFill>
                  <a:srgbClr val="C00000"/>
                </a:solidFill>
              </a:rPr>
              <a:t>a linear ODE</a:t>
            </a:r>
            <a:r>
              <a:rPr lang="en-US" altLang="zh-CN" sz="2800" dirty="0">
                <a:solidFill>
                  <a:srgbClr val="C00000"/>
                </a:solidFill>
              </a:rPr>
              <a:t>, </a:t>
            </a:r>
          </a:p>
          <a:p>
            <a:r>
              <a:rPr lang="en-US" altLang="zh-CN" sz="2800" dirty="0">
                <a:solidFill>
                  <a:srgbClr val="C00000"/>
                </a:solidFill>
              </a:rPr>
              <a:t>optimal A and B can be solved!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err="1">
                <a:latin typeface="Franklin Gothic Medium" panose="020B0603020102020204" charset="0"/>
              </a:rPr>
              <a:t>HiPPO-LegS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52</a:t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00" y="1452586"/>
            <a:ext cx="4105848" cy="112410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115" y="3144218"/>
            <a:ext cx="3742447" cy="2625137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err="1">
                <a:latin typeface="Franklin Gothic Medium" panose="020B0603020102020204" charset="0"/>
              </a:rPr>
              <a:t>HiPPO</a:t>
            </a:r>
            <a:r>
              <a:rPr lang="en-US" altLang="zh-CN" dirty="0">
                <a:latin typeface="Franklin Gothic Medium" panose="020B0603020102020204" charset="0"/>
              </a:rPr>
              <a:t> framework: </a:t>
            </a:r>
            <a:r>
              <a:rPr lang="en-US" altLang="zh-CN" sz="2800" dirty="0">
                <a:latin typeface="Franklin Gothic Medium" panose="020B0603020102020204" charset="0"/>
              </a:rPr>
              <a:t>Memorizing sequences </a:t>
            </a:r>
            <a:r>
              <a:rPr lang="en-US" altLang="zh-CN" sz="2800" b="1" dirty="0">
                <a:latin typeface="Franklin Gothic Medium" panose="020B0603020102020204" charset="0"/>
              </a:rPr>
              <a:t>online</a:t>
            </a:r>
            <a:r>
              <a:rPr lang="en-US" altLang="zh-CN" dirty="0">
                <a:latin typeface="Franklin Gothic Medium" panose="020B0603020102020204" charset="0"/>
              </a:rPr>
              <a:t> </a:t>
            </a:r>
            <a:endParaRPr lang="zh-CN" altLang="en-US" dirty="0">
              <a:latin typeface="Franklin Gothic Medium" panose="020B060302010202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53</a:t>
            </a:fld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58" y="1199811"/>
            <a:ext cx="10307884" cy="4329589"/>
          </a:xfrm>
          <a:prstGeom prst="rect">
            <a:avLst/>
          </a:prstGeom>
        </p:spPr>
      </p:pic>
      <p:sp>
        <p:nvSpPr>
          <p:cNvPr id="3" name="矩形: 圆角 2"/>
          <p:cNvSpPr/>
          <p:nvPr/>
        </p:nvSpPr>
        <p:spPr>
          <a:xfrm>
            <a:off x="1378040" y="3862624"/>
            <a:ext cx="9002332" cy="184167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503053" y="6043075"/>
            <a:ext cx="6107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如何对连续时间的</a:t>
            </a:r>
            <a:r>
              <a:rPr lang="en-US" altLang="zh-CN" sz="2800" dirty="0"/>
              <a:t>ODE</a:t>
            </a:r>
            <a:r>
              <a:rPr lang="zh-CN" altLang="en-US" sz="2800" dirty="0"/>
              <a:t>进行离散化 ？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CN" sz="3200" dirty="0">
                <a:latin typeface="Franklin Gothic Medium" panose="020B0603020102020204" charset="0"/>
              </a:rPr>
              <a:t>State</a:t>
            </a:r>
            <a:r>
              <a:rPr kumimoji="1" lang="zh-CN" altLang="en-US" sz="3200" dirty="0">
                <a:latin typeface="Franklin Gothic Medium" panose="020B0603020102020204" charset="0"/>
              </a:rPr>
              <a:t> </a:t>
            </a:r>
            <a:r>
              <a:rPr kumimoji="1" lang="en-US" altLang="zh-CN" sz="3200" dirty="0">
                <a:latin typeface="Franklin Gothic Medium" panose="020B0603020102020204" charset="0"/>
              </a:rPr>
              <a:t>space</a:t>
            </a:r>
            <a:r>
              <a:rPr kumimoji="1" lang="zh-CN" altLang="en-US" sz="3200" dirty="0">
                <a:latin typeface="Franklin Gothic Medium" panose="020B0603020102020204" charset="0"/>
              </a:rPr>
              <a:t> </a:t>
            </a:r>
            <a:r>
              <a:rPr kumimoji="1" lang="en-US" altLang="zh-CN" sz="3200" dirty="0">
                <a:latin typeface="Franklin Gothic Medium" panose="020B0603020102020204" charset="0"/>
              </a:rPr>
              <a:t>model</a:t>
            </a:r>
            <a:endParaRPr kumimoji="1" lang="zh-CN" altLang="en-US" sz="3200" dirty="0">
              <a:latin typeface="Franklin Gothic Medium" panose="020B06030201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>
                    <a:latin typeface="Franklin Gothic Medium" panose="020B0603020102020204" charset="0"/>
                    <a:cs typeface="Arial" panose="020B0604020202020204" pitchFamily="34" charset="0"/>
                  </a:rPr>
                  <a:t>A state space model allows us to map an input signal 𝑥(𝑡) to an output signal 𝑦(𝑡) by </a:t>
                </a:r>
                <a:r>
                  <a:rPr lang="en-US" altLang="zh-CN" dirty="0">
                    <a:solidFill>
                      <a:srgbClr val="C00000"/>
                    </a:solidFill>
                    <a:latin typeface="Franklin Gothic Medium" panose="020B0603020102020204" charset="0"/>
                    <a:cs typeface="Arial" panose="020B0604020202020204" pitchFamily="34" charset="0"/>
                  </a:rPr>
                  <a:t>means of a state representation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h</m:t>
                    </m:r>
                    <m:r>
                      <a:rPr lang="en-US" altLang="zh-CN" i="1" dirty="0" smtClean="0">
                        <a:solidFill>
                          <a:srgbClr val="C0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 dirty="0" smtClean="0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i="1" dirty="0" smtClean="0">
                        <a:solidFill>
                          <a:srgbClr val="C0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 </m:t>
                    </m:r>
                  </m:oMath>
                </a14:m>
                <a:r>
                  <a:rPr lang="en-US" altLang="zh-CN" dirty="0">
                    <a:latin typeface="Franklin Gothic Medium" panose="020B0603020102020204" charset="0"/>
                    <a:cs typeface="Arial" panose="020B0604020202020204" pitchFamily="34" charset="0"/>
                  </a:rPr>
                  <a:t>as follows: </a:t>
                </a:r>
                <a:endParaRPr lang="en-US" altLang="zh-CN" dirty="0">
                  <a:effectLst/>
                  <a:latin typeface="Franklin Gothic Medium" panose="020B060302010202020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b="0" i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h</m:t>
                          </m:r>
                        </m:e>
                        <m:sup>
                          <m:r>
                            <a:rPr kumimoji="1" lang="en-US" altLang="zh-CN" b="0" i="1" smtClean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𝐴h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b="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𝐵𝑥</m:t>
                      </m:r>
                      <m:r>
                        <a:rPr kumimoji="1" lang="en-US" altLang="zh-CN" b="0" i="1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en-US" altLang="zh-CN" b="0" i="1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>
                  <a:latin typeface="Franklin Gothic Medium" panose="020B060302010202020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𝐶h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b="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𝐷𝑥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kumimoji="1" lang="en-US" altLang="zh-CN" b="0" dirty="0">
                  <a:latin typeface="Franklin Gothic Medium" panose="020B0603020102020204" charset="0"/>
                </a:endParaRPr>
              </a:p>
              <a:p>
                <a:r>
                  <a:rPr kumimoji="1" lang="en-US" altLang="zh-CN" dirty="0">
                    <a:latin typeface="Franklin Gothic Medium" panose="020B0603020102020204" charset="0"/>
                  </a:rPr>
                  <a:t>The</a:t>
                </a:r>
                <a:r>
                  <a:rPr kumimoji="1" lang="zh-CN" altLang="en-US" dirty="0">
                    <a:latin typeface="Franklin Gothic Medium" panose="020B0603020102020204" charset="0"/>
                  </a:rPr>
                  <a:t> </a:t>
                </a:r>
                <a:r>
                  <a:rPr kumimoji="1" lang="en-US" altLang="zh-CN" dirty="0">
                    <a:latin typeface="Franklin Gothic Medium" panose="020B0603020102020204" charset="0"/>
                  </a:rPr>
                  <a:t>state</a:t>
                </a:r>
                <a:r>
                  <a:rPr kumimoji="1" lang="zh-CN" altLang="en-US" dirty="0">
                    <a:latin typeface="Franklin Gothic Medium" panose="020B0603020102020204" charset="0"/>
                  </a:rPr>
                  <a:t> </a:t>
                </a:r>
                <a:r>
                  <a:rPr kumimoji="1" lang="en-US" altLang="zh-CN" dirty="0">
                    <a:latin typeface="Franklin Gothic Medium" panose="020B0603020102020204" charset="0"/>
                  </a:rPr>
                  <a:t>space</a:t>
                </a:r>
                <a:r>
                  <a:rPr kumimoji="1" lang="zh-CN" altLang="en-US" dirty="0">
                    <a:latin typeface="Franklin Gothic Medium" panose="020B0603020102020204" charset="0"/>
                  </a:rPr>
                  <a:t> </a:t>
                </a:r>
                <a:r>
                  <a:rPr kumimoji="1" lang="en-US" altLang="zh-CN" dirty="0">
                    <a:latin typeface="Franklin Gothic Medium" panose="020B0603020102020204" charset="0"/>
                  </a:rPr>
                  <a:t>model</a:t>
                </a:r>
                <a:r>
                  <a:rPr kumimoji="1" lang="zh-CN" altLang="en-US" dirty="0">
                    <a:latin typeface="Franklin Gothic Medium" panose="020B0603020102020204" charset="0"/>
                  </a:rPr>
                  <a:t> </a:t>
                </a:r>
                <a:r>
                  <a:rPr kumimoji="1" lang="en-US" altLang="zh-CN" dirty="0">
                    <a:latin typeface="Franklin Gothic Medium" panose="020B0603020102020204" charset="0"/>
                  </a:rPr>
                  <a:t>is</a:t>
                </a:r>
                <a:r>
                  <a:rPr kumimoji="1" lang="zh-CN" altLang="en-US" dirty="0">
                    <a:latin typeface="Franklin Gothic Medium" panose="020B0603020102020204" charset="0"/>
                  </a:rPr>
                  <a:t> </a:t>
                </a:r>
                <a:r>
                  <a:rPr kumimoji="1" lang="en-US" altLang="zh-CN" dirty="0">
                    <a:solidFill>
                      <a:srgbClr val="C00000"/>
                    </a:solidFill>
                    <a:latin typeface="Franklin Gothic Medium" panose="020B0603020102020204" charset="0"/>
                  </a:rPr>
                  <a:t>Linear</a:t>
                </a:r>
                <a:r>
                  <a:rPr kumimoji="1" lang="zh-CN" altLang="en-US" dirty="0">
                    <a:solidFill>
                      <a:srgbClr val="C00000"/>
                    </a:solidFill>
                    <a:latin typeface="Franklin Gothic Medium" panose="020B0603020102020204" charset="0"/>
                  </a:rPr>
                  <a:t> </a:t>
                </a:r>
                <a:r>
                  <a:rPr kumimoji="1" lang="en-US" altLang="zh-CN" dirty="0">
                    <a:latin typeface="Franklin Gothic Medium" panose="020B0603020102020204" charset="0"/>
                  </a:rPr>
                  <a:t>and</a:t>
                </a:r>
                <a:r>
                  <a:rPr kumimoji="1" lang="zh-CN" altLang="en-US" dirty="0">
                    <a:latin typeface="Franklin Gothic Medium" panose="020B0603020102020204" charset="0"/>
                  </a:rPr>
                  <a:t> </a:t>
                </a:r>
                <a:r>
                  <a:rPr kumimoji="1" lang="en-US" altLang="zh-CN" dirty="0">
                    <a:solidFill>
                      <a:srgbClr val="C00000"/>
                    </a:solidFill>
                    <a:latin typeface="Franklin Gothic Medium" panose="020B0603020102020204" charset="0"/>
                  </a:rPr>
                  <a:t>time-invariant</a:t>
                </a:r>
              </a:p>
              <a:p>
                <a:endParaRPr kumimoji="1" lang="en-US" altLang="zh-CN" dirty="0">
                  <a:solidFill>
                    <a:srgbClr val="C00000"/>
                  </a:solidFill>
                  <a:latin typeface="Franklin Gothic Medium" panose="020B0603020102020204" charset="0"/>
                </a:endParaRPr>
              </a:p>
              <a:p>
                <a:r>
                  <a:rPr kumimoji="1" lang="zh-CN" altLang="en-US" dirty="0">
                    <a:solidFill>
                      <a:srgbClr val="C00000"/>
                    </a:solidFill>
                    <a:latin typeface="Franklin Gothic Medium" panose="020B0603020102020204" charset="0"/>
                  </a:rPr>
                  <a:t>数值解法：</a:t>
                </a:r>
                <a:endParaRPr kumimoji="1" lang="en-US" altLang="zh-CN" dirty="0">
                  <a:solidFill>
                    <a:srgbClr val="C00000"/>
                  </a:solidFill>
                  <a:latin typeface="Franklin Gothic Medium" panose="020B0603020102020204" charset="0"/>
                </a:endParaRPr>
              </a:p>
              <a:p>
                <a:r>
                  <a:rPr lang="en-US" altLang="zh-CN" dirty="0">
                    <a:latin typeface="Franklin Gothic Medium" panose="020B0603020102020204" charset="0"/>
                  </a:rPr>
                  <a:t>Euler </a:t>
                </a:r>
              </a:p>
              <a:p>
                <a:r>
                  <a:rPr lang="en-US" altLang="zh-CN" dirty="0">
                    <a:latin typeface="Franklin Gothic Medium" panose="020B0603020102020204" charset="0"/>
                  </a:rPr>
                  <a:t>Bilinear</a:t>
                </a:r>
              </a:p>
              <a:p>
                <a:r>
                  <a:rPr lang="en-US" altLang="zh-CN" dirty="0">
                    <a:latin typeface="Franklin Gothic Medium" panose="020B0603020102020204" charset="0"/>
                  </a:rPr>
                  <a:t>Closed-form solution</a:t>
                </a:r>
                <a:endParaRPr lang="zh-CN" altLang="en-US" dirty="0">
                  <a:latin typeface="Franklin Gothic Medium" panose="020B0603020102020204" charset="0"/>
                </a:endParaRPr>
              </a:p>
              <a:p>
                <a:endParaRPr kumimoji="1" lang="en-US" altLang="zh-CN" dirty="0">
                  <a:solidFill>
                    <a:srgbClr val="C00000"/>
                  </a:solidFill>
                  <a:latin typeface="Franklin Gothic Medium" panose="020B0603020102020204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9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54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CN" dirty="0">
                <a:latin typeface="Franklin Gothic Medium" panose="020B0603020102020204" charset="0"/>
              </a:rPr>
              <a:t>Closed-form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solution</a:t>
            </a:r>
            <a:endParaRPr kumimoji="1" lang="zh-CN" altLang="en-US" dirty="0">
              <a:latin typeface="Franklin Gothic Medium" panose="020B06030201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h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kumimoji="1"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</m:d>
                    <m:r>
                      <a:rPr kumimoji="1"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kumimoji="1"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𝐴h</m:t>
                    </m:r>
                    <m:d>
                      <m:dPr>
                        <m:ctrlPr>
                          <a:rPr kumimoji="1"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</m:d>
                    <m:r>
                      <a:rPr kumimoji="1"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+</m:t>
                    </m:r>
                    <m:r>
                      <a:rPr kumimoji="1"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𝐵𝑥</m:t>
                    </m:r>
                    <m:r>
                      <a:rPr kumimoji="1"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kumimoji="1"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kumimoji="1"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kumimoji="1" lang="en-US" altLang="zh-CN" dirty="0">
                  <a:latin typeface="Franklin Gothic Medium" panose="020B0603020102020204" charset="0"/>
                </a:endParaRPr>
              </a:p>
              <a:p>
                <a:r>
                  <a:rPr kumimoji="1" lang="en-US" altLang="zh-CN" dirty="0">
                    <a:latin typeface="Franklin Gothic Medium" panose="020B0603020102020204" charset="0"/>
                  </a:rPr>
                  <a:t>A</a:t>
                </a:r>
                <a:r>
                  <a:rPr kumimoji="1" lang="zh-CN" altLang="en-US" dirty="0">
                    <a:latin typeface="Franklin Gothic Medium" panose="020B0603020102020204" charset="0"/>
                  </a:rPr>
                  <a:t> </a:t>
                </a:r>
                <a:r>
                  <a:rPr kumimoji="1" lang="en-US" altLang="zh-CN" dirty="0">
                    <a:latin typeface="Franklin Gothic Medium" panose="020B0603020102020204" charset="0"/>
                  </a:rPr>
                  <a:t>general</a:t>
                </a:r>
                <a:r>
                  <a:rPr kumimoji="1" lang="zh-CN" altLang="en-US" dirty="0">
                    <a:latin typeface="Franklin Gothic Medium" panose="020B0603020102020204" charset="0"/>
                  </a:rPr>
                  <a:t> </a:t>
                </a:r>
                <a:r>
                  <a:rPr kumimoji="1" lang="en-US" altLang="zh-CN" dirty="0">
                    <a:latin typeface="Franklin Gothic Medium" panose="020B0603020102020204" charset="0"/>
                  </a:rPr>
                  <a:t>closed</a:t>
                </a:r>
                <a:r>
                  <a:rPr kumimoji="1" lang="zh-CN" altLang="en-US" dirty="0">
                    <a:latin typeface="Franklin Gothic Medium" panose="020B0603020102020204" charset="0"/>
                  </a:rPr>
                  <a:t> </a:t>
                </a:r>
                <a:r>
                  <a:rPr kumimoji="1" lang="en-US" altLang="zh-CN" dirty="0">
                    <a:latin typeface="Franklin Gothic Medium" panose="020B0603020102020204" charset="0"/>
                  </a:rPr>
                  <a:t>form</a:t>
                </a:r>
                <a:r>
                  <a:rPr kumimoji="1" lang="zh-CN" altLang="en-US" dirty="0">
                    <a:latin typeface="Franklin Gothic Medium" panose="020B0603020102020204" charset="0"/>
                  </a:rPr>
                  <a:t> </a:t>
                </a:r>
                <a:r>
                  <a:rPr kumimoji="1" lang="en-US" altLang="zh-CN" dirty="0">
                    <a:latin typeface="Franklin Gothic Medium" panose="020B0603020102020204" charset="0"/>
                  </a:rPr>
                  <a:t>solution,</a:t>
                </a:r>
                <a:r>
                  <a:rPr kumimoji="1" lang="zh-CN" altLang="en-US" dirty="0">
                    <a:latin typeface="Franklin Gothic Medium" panose="020B0603020102020204" charset="0"/>
                  </a:rPr>
                  <a:t> 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h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=−</m:t>
                    </m:r>
                    <m:f>
                      <m:fPr>
                        <m:ctrlP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num>
                      <m:den>
                        <m: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den>
                    </m:f>
                    <m:r>
                      <a:rPr kumimoji="1" lang="en-US" altLang="zh-CN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𝐴𝑡</m:t>
                        </m:r>
                      </m:sup>
                    </m:sSup>
                  </m:oMath>
                </a14:m>
                <a:endParaRPr kumimoji="1" lang="en-US" altLang="zh-CN" b="0" dirty="0">
                  <a:latin typeface="Franklin Gothic Medium" panose="020B0603020102020204" charset="0"/>
                </a:endParaRPr>
              </a:p>
              <a:p>
                <a:endParaRPr kumimoji="1" lang="en-US" altLang="zh-CN" dirty="0">
                  <a:latin typeface="Franklin Gothic Medium" panose="020B0603020102020204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h</m:t>
                    </m:r>
                    <m:d>
                      <m:dPr>
                        <m:ctrlPr>
                          <a:rPr kumimoji="1"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en-US" altLang="zh-CN" b="0" i="1" smtClean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Δ</m:t>
                        </m:r>
                      </m:e>
                    </m:d>
                    <m:r>
                      <a:rPr kumimoji="1"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=−</m:t>
                    </m:r>
                    <m:f>
                      <m:fPr>
                        <m:ctrlPr>
                          <a:rPr kumimoji="1"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kumimoji="1"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num>
                      <m:den>
                        <m:r>
                          <a:rPr kumimoji="1"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den>
                    </m:f>
                    <m:r>
                      <a:rPr kumimoji="1"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kumimoji="1"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𝐴𝑡</m:t>
                        </m:r>
                      </m:sup>
                    </m:sSup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Δ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Δ</m:t>
                        </m:r>
                        <m: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h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+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zh-CN" b="0" i="1" smtClean="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b="0" i="1" smtClean="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kumimoji="1" lang="en-US" altLang="zh-CN" b="0" i="0" smtClean="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Δ</m:t>
                            </m:r>
                            <m:r>
                              <a:rPr kumimoji="1" lang="en-US" altLang="zh-CN" b="0" i="1" smtClean="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𝐴</m:t>
                            </m:r>
                          </m:sup>
                        </m:sSup>
                        <m:r>
                          <a:rPr kumimoji="1" lang="en-US" altLang="zh-CN" b="0" i="1" smtClean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kumimoji="1" lang="en-US" altLang="zh-CN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𝐼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𝐵𝑥</m:t>
                    </m:r>
                    <m:r>
                      <a:rPr kumimoji="1" lang="en-US" altLang="zh-CN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kumimoji="1" lang="en-US" altLang="zh-CN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kumimoji="1" lang="en-US" altLang="zh-CN" dirty="0">
                  <a:latin typeface="Franklin Gothic Medium" panose="020B0603020102020204" charset="0"/>
                </a:endParaRPr>
              </a:p>
              <a:p>
                <a:endParaRPr kumimoji="1" lang="en-US" altLang="zh-CN" b="0" dirty="0">
                  <a:latin typeface="Franklin Gothic Medium" panose="020B0603020102020204" charset="0"/>
                </a:endParaRPr>
              </a:p>
              <a:p>
                <a:endParaRPr kumimoji="1" lang="en-US" altLang="zh-CN" dirty="0">
                  <a:latin typeface="Franklin Gothic Medium" panose="020B0603020102020204" charset="0"/>
                </a:endParaRPr>
              </a:p>
              <a:p>
                <a:pPr marL="0" indent="0" algn="ctr">
                  <a:buNone/>
                </a:pPr>
                <a:endParaRPr kumimoji="1" lang="en-US" altLang="zh-CN" b="0" dirty="0">
                  <a:latin typeface="Franklin Gothic Medium" panose="020B0603020102020204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55</a:t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3655681"/>
            <a:ext cx="6057900" cy="5461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578" y="4737247"/>
            <a:ext cx="7861300" cy="11049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314893" y="5853797"/>
            <a:ext cx="89986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Avenir Next LT Pro,Bold" charset="0"/>
              </a:rPr>
              <a:t>Note</a:t>
            </a:r>
            <a:r>
              <a:rPr lang="en-US" altLang="zh-CN" dirty="0">
                <a:latin typeface="Avenir Next LT Pro" charset="0"/>
              </a:rPr>
              <a:t>: in practice, we do not choose the discretization step </a:t>
            </a:r>
            <a:r>
              <a:rPr lang="en-US" altLang="zh-CN" dirty="0">
                <a:latin typeface="CambriaMath" charset="0"/>
              </a:rPr>
              <a:t>∆</a:t>
            </a:r>
            <a:r>
              <a:rPr lang="en-US" altLang="zh-CN" dirty="0">
                <a:latin typeface="Avenir Next LT Pro" charset="0"/>
              </a:rPr>
              <a:t>, but we make it a parameter of the model so that it can be learnt with gradient descent. </a:t>
            </a:r>
            <a:endParaRPr lang="en-US" altLang="zh-CN" dirty="0">
              <a:effectLst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56</a:t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514" y="591874"/>
            <a:ext cx="6763694" cy="26864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539" y="3890781"/>
            <a:ext cx="5713375" cy="113841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82020" y="4326585"/>
            <a:ext cx="9016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-apple-system"/>
              </a:rPr>
              <a:t>离散化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316" y="5444335"/>
            <a:ext cx="2963929" cy="127714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Franklin Gothic Medium" panose="020B0603020102020204" charset="0"/>
              </a:rPr>
              <a:t>Recurrent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computation</a:t>
            </a:r>
            <a:endParaRPr kumimoji="1" lang="zh-CN" altLang="en-US" dirty="0">
              <a:latin typeface="Franklin Gothic Medium" panose="020B0603020102020204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57</a:t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994" y="3003550"/>
            <a:ext cx="7480300" cy="2679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900" y="1375322"/>
            <a:ext cx="3378200" cy="1397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Franklin Gothic Medium" panose="020B0603020102020204" charset="0"/>
              </a:rPr>
              <a:t>线性的</a:t>
            </a:r>
            <a:r>
              <a:rPr lang="en-US" altLang="zh-CN" dirty="0">
                <a:latin typeface="Franklin Gothic Medium" panose="020B0603020102020204" charset="0"/>
              </a:rPr>
              <a:t>RNN</a:t>
            </a:r>
            <a:r>
              <a:rPr lang="zh-CN" altLang="en-US" dirty="0">
                <a:latin typeface="Franklin Gothic Medium" panose="020B0603020102020204" charset="0"/>
              </a:rPr>
              <a:t>迭代可以视为</a:t>
            </a:r>
            <a:r>
              <a:rPr lang="en-US" altLang="zh-CN" dirty="0">
                <a:latin typeface="Franklin Gothic Medium" panose="020B0603020102020204" charset="0"/>
              </a:rPr>
              <a:t>Convolutional operation </a:t>
            </a:r>
            <a:endParaRPr lang="zh-CN" altLang="en-US" dirty="0">
              <a:latin typeface="Franklin Gothic Medium" panose="020B060302010202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58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CN" dirty="0">
                <a:latin typeface="Franklin Gothic Medium" panose="020B0603020102020204" charset="0"/>
              </a:rPr>
              <a:t>Convolutional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computation</a:t>
            </a:r>
            <a:endParaRPr kumimoji="1" lang="zh-CN" altLang="en-US" dirty="0">
              <a:latin typeface="Franklin Gothic Medium" panose="020B0603020102020204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209" y="1916648"/>
            <a:ext cx="7483549" cy="4224008"/>
          </a:xfrm>
          <a:prstGeom prst="rect">
            <a:avLst/>
          </a:prstGeom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59</a:t>
            </a:fld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495647" y="114562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>
                <a:latin typeface="Avenir Next LT Pro" charset="0"/>
              </a:rPr>
              <a:t>Let’s expand the output we built before for every time step </a:t>
            </a:r>
            <a:endParaRPr lang="en-US" altLang="zh-CN">
              <a:effectLst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937" y="781707"/>
            <a:ext cx="2363095" cy="97722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CN" dirty="0">
                <a:latin typeface="Franklin Gothic Medium" panose="020B0603020102020204" charset="0"/>
              </a:rPr>
              <a:t>Let’s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prove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it</a:t>
            </a:r>
            <a:endParaRPr kumimoji="1" lang="zh-CN" altLang="en-US" dirty="0">
              <a:latin typeface="Franklin Gothic Medium" panose="020B0603020102020204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60</a:t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557" y="1637413"/>
            <a:ext cx="10262886" cy="294610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Franklin Gothic Medium" panose="020B0603020102020204" charset="0"/>
              </a:rPr>
              <a:t>Convolutional formulation: create the kernel </a:t>
            </a:r>
            <a:endParaRPr kumimoji="1" lang="en-US" altLang="zh-CN" dirty="0">
              <a:latin typeface="Franklin Gothic Medium" panose="020B0603020102020204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59941"/>
            <a:ext cx="10515600" cy="3859286"/>
          </a:xfrm>
          <a:prstGeom prst="rect">
            <a:avLst/>
          </a:prstGeom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61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47652"/>
            <a:ext cx="10515600" cy="4658021"/>
          </a:xfrm>
          <a:prstGeom prst="rect">
            <a:avLst/>
          </a:prstGeom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62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47652"/>
            <a:ext cx="10515600" cy="4658021"/>
          </a:xfrm>
          <a:prstGeom prst="rect">
            <a:avLst/>
          </a:prstGeom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63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47652"/>
            <a:ext cx="10515600" cy="4658021"/>
          </a:xfrm>
          <a:prstGeom prst="rect">
            <a:avLst/>
          </a:prstGeom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64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47652"/>
            <a:ext cx="10515600" cy="4658021"/>
          </a:xfrm>
          <a:prstGeom prst="rect">
            <a:avLst/>
          </a:prstGeom>
        </p:spPr>
      </p:pic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65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Franklin Gothic Medium" panose="020B0603020102020204" charset="0"/>
              </a:rPr>
              <a:t>Convolutional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and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recurrent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computation</a:t>
            </a:r>
            <a:endParaRPr kumimoji="1" lang="zh-CN" altLang="en-US" dirty="0">
              <a:latin typeface="Franklin Gothic Medium" panose="020B060302010202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Franklin Gothic Medium" panose="020B0603020102020204" charset="0"/>
              </a:rPr>
              <a:t>Convolutional</a:t>
            </a:r>
            <a:r>
              <a:rPr lang="zh-CN" altLang="en-US" dirty="0">
                <a:latin typeface="Franklin Gothic Medium" panose="020B0603020102020204" charset="0"/>
              </a:rPr>
              <a:t> </a:t>
            </a:r>
            <a:r>
              <a:rPr lang="en-US" altLang="zh-CN" dirty="0">
                <a:latin typeface="Franklin Gothic Medium" panose="020B0603020102020204" charset="0"/>
              </a:rPr>
              <a:t>calculation is that it can be parallelized</a:t>
            </a:r>
          </a:p>
          <a:p>
            <a:r>
              <a:rPr lang="en-US" altLang="zh-CN" dirty="0">
                <a:latin typeface="Franklin Gothic Medium" panose="020B0603020102020204" charset="0"/>
              </a:rPr>
              <a:t>We can use the </a:t>
            </a:r>
            <a:r>
              <a:rPr lang="en-US" altLang="zh-CN" b="1" dirty="0">
                <a:solidFill>
                  <a:srgbClr val="C00000"/>
                </a:solidFill>
                <a:latin typeface="Franklin Gothic Medium" panose="020B0603020102020204" charset="0"/>
              </a:rPr>
              <a:t>convolutional computation </a:t>
            </a:r>
            <a:r>
              <a:rPr lang="en-US" altLang="zh-CN" dirty="0">
                <a:latin typeface="Franklin Gothic Medium" panose="020B0603020102020204" charset="0"/>
              </a:rPr>
              <a:t>to perform </a:t>
            </a:r>
            <a:r>
              <a:rPr lang="en-US" altLang="zh-CN" b="1" dirty="0">
                <a:solidFill>
                  <a:srgbClr val="C00000"/>
                </a:solidFill>
                <a:latin typeface="Franklin Gothic Medium" panose="020B0603020102020204" charset="0"/>
              </a:rPr>
              <a:t>training</a:t>
            </a:r>
            <a:r>
              <a:rPr lang="en-US" altLang="zh-CN" dirty="0">
                <a:latin typeface="Franklin Gothic Medium" panose="020B0603020102020204" charset="0"/>
              </a:rPr>
              <a:t>, because we already have all the input sequence of tokens, and it can be easily parallelized. </a:t>
            </a:r>
          </a:p>
          <a:p>
            <a:r>
              <a:rPr lang="en-US" altLang="zh-CN" dirty="0">
                <a:latin typeface="Franklin Gothic Medium" panose="020B0603020102020204" charset="0"/>
              </a:rPr>
              <a:t>We can use the </a:t>
            </a:r>
            <a:r>
              <a:rPr lang="en-US" altLang="zh-CN" b="1" dirty="0">
                <a:solidFill>
                  <a:srgbClr val="C00000"/>
                </a:solidFill>
                <a:latin typeface="Franklin Gothic Medium" panose="020B0603020102020204" charset="0"/>
              </a:rPr>
              <a:t>recurrent formulation </a:t>
            </a:r>
            <a:r>
              <a:rPr lang="en-US" altLang="zh-CN" dirty="0">
                <a:latin typeface="Franklin Gothic Medium" panose="020B0603020102020204" charset="0"/>
              </a:rPr>
              <a:t>to perform </a:t>
            </a:r>
            <a:r>
              <a:rPr lang="en-US" altLang="zh-CN" b="1" dirty="0">
                <a:solidFill>
                  <a:srgbClr val="C00000"/>
                </a:solidFill>
                <a:latin typeface="Franklin Gothic Medium" panose="020B0603020102020204" charset="0"/>
              </a:rPr>
              <a:t>inference</a:t>
            </a:r>
            <a:r>
              <a:rPr lang="en-US" altLang="zh-CN" dirty="0">
                <a:latin typeface="Franklin Gothic Medium" panose="020B0603020102020204" charset="0"/>
              </a:rPr>
              <a:t>, one token at a time, using a constant amount of computation and memory for each token. </a:t>
            </a:r>
          </a:p>
          <a:p>
            <a:endParaRPr kumimoji="1" lang="zh-CN" altLang="en-US" dirty="0">
              <a:latin typeface="Franklin Gothic Medium" panose="020B0603020102020204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66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The </a:t>
            </a:r>
            <a:r>
              <a:rPr lang="en-US" altLang="zh-CN" dirty="0" err="1">
                <a:latin typeface="Franklin Gothic Medium" panose="020B0603020102020204" charset="0"/>
              </a:rPr>
              <a:t>HiPPO</a:t>
            </a:r>
            <a:r>
              <a:rPr lang="en-US" altLang="zh-CN" dirty="0">
                <a:latin typeface="Franklin Gothic Medium" panose="020B0603020102020204" charset="0"/>
              </a:rPr>
              <a:t> recurrence</a:t>
            </a:r>
            <a:endParaRPr lang="zh-CN" altLang="en-US" dirty="0">
              <a:latin typeface="Franklin Gothic Medium" panose="020B0603020102020204" charset="0"/>
            </a:endParaRP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1308" y="1409370"/>
            <a:ext cx="10269383" cy="4734586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67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CN" sz="3200" dirty="0">
                <a:latin typeface="Franklin Gothic Medium" panose="020B0603020102020204" charset="0"/>
              </a:rPr>
              <a:t>S4: A and B initialized with </a:t>
            </a:r>
            <a:r>
              <a:rPr kumimoji="1" lang="en-US" altLang="zh-CN" sz="3200" dirty="0" err="1">
                <a:latin typeface="Franklin Gothic Medium" panose="020B0603020102020204" charset="0"/>
              </a:rPr>
              <a:t>HiPPO</a:t>
            </a:r>
            <a:r>
              <a:rPr kumimoji="1" lang="en-US" altLang="zh-CN" sz="3200" dirty="0">
                <a:latin typeface="Franklin Gothic Medium" panose="020B0603020102020204" charset="0"/>
              </a:rPr>
              <a:t> theory</a:t>
            </a:r>
            <a:endParaRPr kumimoji="1" lang="zh-CN" altLang="en-US" sz="3200" dirty="0">
              <a:latin typeface="Franklin Gothic Medium" panose="020B0603020102020204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68</a:t>
            </a:fld>
            <a:endParaRPr kumimoji="1" lang="zh-CN" altLang="en-US"/>
          </a:p>
        </p:txBody>
      </p:sp>
      <p:pic>
        <p:nvPicPr>
          <p:cNvPr id="5" name="Picture 2" descr="https://i-blog.csdnimg.cn/blog_migrate/19b49ce8a654af9fae887e6961b814a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712" y="1480277"/>
            <a:ext cx="10171517" cy="454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69</a:t>
            </a:fld>
            <a:endParaRPr kumimoji="1"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22" y="2192522"/>
            <a:ext cx="3286584" cy="230537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971" y="1810546"/>
            <a:ext cx="5920744" cy="2727988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70</a:t>
            </a:fld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298" y="295907"/>
            <a:ext cx="5786382" cy="115296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315" y="1909566"/>
            <a:ext cx="8030021" cy="431093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Franklin Gothic Medium" panose="020B0603020102020204" charset="0"/>
              </a:rPr>
              <a:t>pMNIST</a:t>
            </a:r>
            <a:r>
              <a:rPr lang="en-US" altLang="zh-CN" dirty="0">
                <a:latin typeface="Franklin Gothic Medium" panose="020B0603020102020204" charset="0"/>
              </a:rPr>
              <a:t> classification task</a:t>
            </a:r>
            <a:endParaRPr lang="zh-CN" altLang="en-US" dirty="0">
              <a:latin typeface="Franklin Gothic Medium" panose="020B060302010202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71</a:t>
            </a:fld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003" y="1319886"/>
            <a:ext cx="3954820" cy="456030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85" y="2596873"/>
            <a:ext cx="5073322" cy="1301257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Franklin Gothic Medium" panose="020B0603020102020204" charset="0"/>
              </a:rPr>
              <a:t>矩阵计算有点麻烦，初始化是否可以进一步</a:t>
            </a:r>
            <a:r>
              <a:rPr lang="zh-CN" altLang="en-US" b="1" dirty="0">
                <a:latin typeface="Franklin Gothic Medium" panose="020B0603020102020204" charset="0"/>
              </a:rPr>
              <a:t>简化</a:t>
            </a:r>
            <a:r>
              <a:rPr lang="zh-CN" altLang="en-US" dirty="0">
                <a:latin typeface="Franklin Gothic Medium" panose="020B0603020102020204" charset="0"/>
              </a:rPr>
              <a:t>？</a:t>
            </a:r>
            <a:endParaRPr lang="en-US" altLang="zh-CN" dirty="0">
              <a:latin typeface="Franklin Gothic Medium" panose="020B0603020102020204" charset="0"/>
            </a:endParaRPr>
          </a:p>
          <a:p>
            <a:r>
              <a:rPr lang="zh-CN" altLang="en-US" dirty="0">
                <a:latin typeface="Franklin Gothic Medium" panose="020B0603020102020204" charset="0"/>
              </a:rPr>
              <a:t>是否可以</a:t>
            </a:r>
            <a:r>
              <a:rPr lang="zh-CN" altLang="en-US" b="1" dirty="0">
                <a:solidFill>
                  <a:srgbClr val="C00000"/>
                </a:solidFill>
                <a:latin typeface="Franklin Gothic Medium" panose="020B0603020102020204" charset="0"/>
              </a:rPr>
              <a:t>让矩阵也学习</a:t>
            </a:r>
            <a:r>
              <a:rPr lang="zh-CN" altLang="en-US" dirty="0">
                <a:latin typeface="Franklin Gothic Medium" panose="020B0603020102020204" charset="0"/>
              </a:rPr>
              <a:t>，只是约束其形式？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72</a:t>
            </a:fld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297" y="2668945"/>
            <a:ext cx="8705415" cy="28122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CN" dirty="0">
                <a:latin typeface="Franklin Gothic Medium" panose="020B0603020102020204" charset="0"/>
              </a:rPr>
              <a:t>S4 parameterization: Normal plus low-rank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73</a:t>
            </a:fld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43839" y="3710707"/>
            <a:ext cx="11104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所有的</a:t>
            </a:r>
            <a:r>
              <a:rPr lang="en-US" altLang="zh-CN" sz="2800" dirty="0" err="1"/>
              <a:t>HiPPO</a:t>
            </a:r>
            <a:r>
              <a:rPr lang="zh-CN" altLang="en-US" sz="2800" dirty="0"/>
              <a:t>矩阵均可以被分解为 </a:t>
            </a:r>
            <a:r>
              <a:rPr lang="en-US" altLang="zh-CN" sz="2800" b="1" dirty="0">
                <a:solidFill>
                  <a:srgbClr val="C00000"/>
                </a:solidFill>
              </a:rPr>
              <a:t>Normal matrix + Low-rank matrix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143" y="1664815"/>
            <a:ext cx="9654570" cy="1417804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74</a:t>
            </a:fld>
            <a:endParaRPr kumimoji="1"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5169" y="1657032"/>
            <a:ext cx="10515600" cy="3080160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154918"/>
            <a:ext cx="10515600" cy="990709"/>
          </a:xfrm>
        </p:spPr>
        <p:txBody>
          <a:bodyPr/>
          <a:lstStyle/>
          <a:p>
            <a:pPr algn="ctr"/>
            <a:r>
              <a:rPr kumimoji="1" lang="en-US" altLang="zh-CN" dirty="0">
                <a:latin typeface="Franklin Gothic Medium" panose="020B0603020102020204" charset="0"/>
              </a:rPr>
              <a:t>S4 parameterization: Normal plus low-rank</a:t>
            </a:r>
          </a:p>
        </p:txBody>
      </p:sp>
      <p:sp>
        <p:nvSpPr>
          <p:cNvPr id="2" name="矩形: 圆角 1"/>
          <p:cNvSpPr/>
          <p:nvPr/>
        </p:nvSpPr>
        <p:spPr>
          <a:xfrm>
            <a:off x="3012915" y="2137986"/>
            <a:ext cx="1447252" cy="28945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rgbClr val="C00000"/>
                </a:solidFill>
              </a:ln>
              <a:noFill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970" y="1140967"/>
            <a:ext cx="5302150" cy="2561998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75</a:t>
            </a:fld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672365" y="4190456"/>
            <a:ext cx="64956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Sequential CIFAR-10</a:t>
            </a:r>
          </a:p>
          <a:p>
            <a:r>
              <a:rPr lang="en-US" altLang="zh-CN" sz="2400" dirty="0"/>
              <a:t>Conclusions:</a:t>
            </a:r>
          </a:p>
          <a:p>
            <a:pPr marL="342900" indent="-342900">
              <a:buAutoNum type="arabicPeriod"/>
            </a:pPr>
            <a:r>
              <a:rPr lang="en-US" altLang="zh-CN" sz="2400" b="1" dirty="0"/>
              <a:t>Trained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SSM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&gt;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fixed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SSM</a:t>
            </a:r>
            <a:r>
              <a:rPr lang="zh-CN" altLang="en-US" sz="2400" b="1" dirty="0"/>
              <a:t> </a:t>
            </a:r>
            <a:endParaRPr lang="en-US" altLang="zh-CN" sz="2400" b="1" dirty="0"/>
          </a:p>
          <a:p>
            <a:pPr marL="342900" indent="-342900">
              <a:buAutoNum type="arabicPeriod"/>
            </a:pPr>
            <a:r>
              <a:rPr lang="en-US" altLang="zh-CN" sz="2400" b="1" dirty="0" err="1"/>
              <a:t>HiPPO</a:t>
            </a:r>
            <a:r>
              <a:rPr lang="en-US" altLang="zh-CN" sz="2400" b="1" dirty="0"/>
              <a:t> initialization &gt; random initialization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191" y="909147"/>
            <a:ext cx="5906324" cy="2876951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i-blog.csdnimg.cn/blog_migrate/19b49ce8a654af9fae887e6961b814a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241" y="815768"/>
            <a:ext cx="10171517" cy="454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230909" y="72974"/>
            <a:ext cx="105556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4D4D4D"/>
                </a:solidFill>
                <a:latin typeface="Times New Roman" panose="02020603050405020304" charset="0"/>
                <a:cs typeface="Times New Roman" panose="02020603050405020304" charset="0"/>
              </a:rPr>
              <a:t>S4 model :</a:t>
            </a:r>
            <a:r>
              <a:rPr lang="zh-CN" altLang="en-US" sz="2400" b="1" dirty="0">
                <a:solidFill>
                  <a:srgbClr val="4D4D4D"/>
                </a:solidFill>
                <a:latin typeface="Times New Roman" panose="02020603050405020304" charset="0"/>
                <a:cs typeface="Times New Roman" panose="02020603050405020304" charset="0"/>
              </a:rPr>
              <a:t>有效处理长序列的 </a:t>
            </a:r>
            <a:r>
              <a:rPr lang="en-US" altLang="zh-CN" sz="2400" b="1" dirty="0">
                <a:solidFill>
                  <a:srgbClr val="4D4D4D"/>
                </a:solidFill>
                <a:latin typeface="Times New Roman" panose="02020603050405020304" charset="0"/>
                <a:cs typeface="Times New Roman" panose="02020603050405020304" charset="0"/>
              </a:rPr>
              <a:t>SSM</a:t>
            </a:r>
            <a:endParaRPr lang="zh-CN" alt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s://i-blog.csdnimg.cn/blog_migrate/370227c1b1bb281d5183dbdbfadc7e56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2766392" y="146189"/>
            <a:ext cx="6096000" cy="3135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230909" y="72974"/>
            <a:ext cx="105556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4D4D4D"/>
                </a:solidFill>
                <a:latin typeface="Times New Roman" panose="02020603050405020304" charset="0"/>
                <a:cs typeface="Times New Roman" panose="02020603050405020304" charset="0"/>
              </a:rPr>
              <a:t>实验</a:t>
            </a:r>
            <a:endParaRPr lang="zh-CN" alt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0909" y="309638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选择性复制任务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在输入之间具有随机间距，需要使用时变模型，在内容上能够灵活地选择记忆或忽略输入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002" y="3742712"/>
            <a:ext cx="2628589" cy="235841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211455" y="304227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归纳头部任务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是联想回忆的一个例子，需要根据上下文检索答案，这是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LLM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关键的能力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909" y="3688605"/>
            <a:ext cx="5291759" cy="316939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Franklin Gothic Medium" panose="020B0603020102020204" charset="0"/>
              </a:rPr>
              <a:t>Transformers are state space model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78</a:t>
            </a:fld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160" y="963930"/>
            <a:ext cx="9620250" cy="504253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7026" y="2618719"/>
            <a:ext cx="10515600" cy="614680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cs typeface="Arial" panose="020B0604020202020204" pitchFamily="34" charset="0"/>
                <a:sym typeface="+mn-ea"/>
              </a:rPr>
              <a:t>Transformers, SSM and Neuroscience</a:t>
            </a:r>
            <a:endParaRPr kumimoji="1" lang="zh-CN" altLang="en-US" dirty="0">
              <a:latin typeface="Franklin Gothic Medium" panose="020B0603020102020204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250190"/>
            <a:ext cx="11187430" cy="61468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latin typeface="+mn-ea"/>
              </a:rPr>
              <a:t>Amari-Hopfield</a:t>
            </a:r>
            <a:r>
              <a:rPr lang="zh-CN" altLang="en-US" dirty="0" smtClean="0">
                <a:latin typeface="+mn-ea"/>
              </a:rPr>
              <a:t> </a:t>
            </a:r>
            <a:r>
              <a:rPr lang="en-US" altLang="zh-CN" dirty="0" smtClean="0">
                <a:latin typeface="+mn-ea"/>
              </a:rPr>
              <a:t>model</a:t>
            </a:r>
            <a:r>
              <a:rPr lang="zh-CN" altLang="en-US" dirty="0" smtClean="0">
                <a:latin typeface="+mn-ea"/>
              </a:rPr>
              <a:t> </a:t>
            </a:r>
            <a:r>
              <a:rPr lang="en-US" altLang="zh-CN" dirty="0" smtClean="0">
                <a:latin typeface="+mn-ea"/>
              </a:rPr>
              <a:t>-</a:t>
            </a:r>
            <a:r>
              <a:rPr lang="zh-CN" altLang="en-US" dirty="0" smtClean="0">
                <a:latin typeface="+mn-ea"/>
              </a:rPr>
              <a:t> </a:t>
            </a:r>
            <a:r>
              <a:rPr lang="zh-CN" altLang="zh-CN" dirty="0" smtClean="0">
                <a:latin typeface="+mn-ea"/>
              </a:rPr>
              <a:t>Encoding </a:t>
            </a:r>
            <a:r>
              <a:rPr lang="en-US" altLang="zh-CN" dirty="0">
                <a:latin typeface="+mn-ea"/>
              </a:rPr>
              <a:t>memory</a:t>
            </a:r>
            <a:r>
              <a:rPr lang="zh-CN" altLang="en-US" dirty="0">
                <a:latin typeface="+mn-ea"/>
              </a:rPr>
              <a:t> </a:t>
            </a:r>
            <a:r>
              <a:rPr lang="zh-CN" altLang="zh-CN" dirty="0">
                <a:latin typeface="+mn-ea"/>
              </a:rPr>
              <a:t>Patterns Using Hebb </a:t>
            </a:r>
            <a:r>
              <a:rPr lang="zh-CN" altLang="zh-CN" dirty="0" smtClean="0">
                <a:latin typeface="+mn-ea"/>
              </a:rPr>
              <a:t>Rule</a:t>
            </a:r>
            <a:endParaRPr kumimoji="1" lang="zh-CN" altLang="en-US" dirty="0"/>
          </a:p>
        </p:txBody>
      </p:sp>
      <p:sp>
        <p:nvSpPr>
          <p:cNvPr id="3" name="文本占位符 1"/>
          <p:cNvSpPr txBox="1"/>
          <p:nvPr/>
        </p:nvSpPr>
        <p:spPr>
          <a:xfrm>
            <a:off x="474300" y="300276"/>
            <a:ext cx="9203100" cy="34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4" name="Picture 8" descr="32876396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87235" y="3949819"/>
            <a:ext cx="4038861" cy="2888021"/>
          </a:xfrm>
          <a:prstGeom prst="rect">
            <a:avLst/>
          </a:prstGeo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4" descr="220px-The_Organization_of_Behavi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244" y="1417970"/>
            <a:ext cx="1426369" cy="21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 descr="3187646_fnsyn-03-00004-g00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187" y="1417971"/>
            <a:ext cx="1638058" cy="219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6" descr="Neurons_big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8055" y="1441491"/>
            <a:ext cx="2058071" cy="2175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7915504" y="3654129"/>
            <a:ext cx="1734770" cy="401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10">
                <a:latin typeface="Adobe Caslon Pro" panose="0205050205050A020403" pitchFamily="18" charset="0"/>
              </a:rPr>
              <a:t>(Donald Hebb)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8001187" y="4500878"/>
            <a:ext cx="3592843" cy="401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10" dirty="0">
                <a:solidFill>
                  <a:srgbClr val="FF0000"/>
                </a:solidFill>
                <a:latin typeface="Adobe Caslon Pro" panose="0205050205050A020403" pitchFamily="18" charset="0"/>
              </a:rPr>
              <a:t>Wiring Together, Firing Together</a:t>
            </a:r>
          </a:p>
        </p:txBody>
      </p:sp>
      <p:pic>
        <p:nvPicPr>
          <p:cNvPr id="10" name="Picture 10" descr="BOX_hopfield_joh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89" y="1365796"/>
            <a:ext cx="1676699" cy="2209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" name="Picture 11" descr="hopfiel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191" y="1365129"/>
            <a:ext cx="1676699" cy="226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2633406" y="3691286"/>
            <a:ext cx="2693366" cy="401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10" dirty="0">
                <a:latin typeface="Adobe Caslon Pro" panose="0205050205050A020403" pitchFamily="18" charset="0"/>
              </a:rPr>
              <a:t>(John J. Hopfield </a:t>
            </a:r>
            <a:r>
              <a:rPr lang="en-US" altLang="zh-CN" sz="2010" dirty="0" smtClean="0">
                <a:latin typeface="Adobe Caslon Pro" panose="0205050205050A020403" pitchFamily="18" charset="0"/>
              </a:rPr>
              <a:t>,1982</a:t>
            </a:r>
            <a:r>
              <a:rPr lang="zh-CN" altLang="zh-CN" sz="2010" dirty="0" smtClean="0">
                <a:latin typeface="Adobe Caslon Pro" panose="0205050205050A020403" pitchFamily="18" charset="0"/>
              </a:rPr>
              <a:t>)</a:t>
            </a:r>
            <a:endParaRPr lang="zh-CN" altLang="zh-CN" sz="2010" dirty="0">
              <a:latin typeface="Adobe Caslon Pro" panose="0205050205050A020403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732" y="1365796"/>
            <a:ext cx="1791980" cy="2209411"/>
          </a:xfrm>
          <a:prstGeom prst="rect">
            <a:avLst/>
          </a:prstGeom>
        </p:spPr>
      </p:pic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38005" y="3691286"/>
            <a:ext cx="2643929" cy="401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9pPr>
          </a:lstStyle>
          <a:p>
            <a:r>
              <a:rPr lang="zh-CN" altLang="zh-CN" sz="2010" dirty="0" smtClean="0">
                <a:latin typeface="Adobe Caslon Pro" panose="0205050205050A020403" pitchFamily="18" charset="0"/>
              </a:rPr>
              <a:t>(</a:t>
            </a:r>
            <a:r>
              <a:rPr lang="en-US" altLang="zh-CN" sz="2010" dirty="0">
                <a:latin typeface="Adobe Caslon Pro" panose="0205050205050A020403" pitchFamily="18" charset="0"/>
              </a:rPr>
              <a:t>Shun-</a:t>
            </a:r>
            <a:r>
              <a:rPr lang="en-US" altLang="zh-CN" sz="2010" dirty="0" err="1">
                <a:latin typeface="Adobe Caslon Pro" panose="0205050205050A020403" pitchFamily="18" charset="0"/>
              </a:rPr>
              <a:t>ichi</a:t>
            </a:r>
            <a:r>
              <a:rPr lang="en-US" altLang="zh-CN" sz="2010" dirty="0">
                <a:latin typeface="Adobe Caslon Pro" panose="0205050205050A020403" pitchFamily="18" charset="0"/>
              </a:rPr>
              <a:t> </a:t>
            </a:r>
            <a:r>
              <a:rPr lang="en-US" altLang="zh-CN" sz="2010" dirty="0" smtClean="0">
                <a:latin typeface="Adobe Caslon Pro" panose="0205050205050A020403" pitchFamily="18" charset="0"/>
              </a:rPr>
              <a:t>Amari,1972</a:t>
            </a:r>
            <a:r>
              <a:rPr lang="zh-CN" altLang="zh-CN" sz="2010" dirty="0" smtClean="0">
                <a:latin typeface="Adobe Caslon Pro" panose="0205050205050A020403" pitchFamily="18" charset="0"/>
              </a:rPr>
              <a:t>)</a:t>
            </a:r>
            <a:endParaRPr lang="zh-CN" altLang="zh-CN" sz="2010" dirty="0">
              <a:latin typeface="Adobe Caslon Pro" panose="0205050205050A020403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321528" y="6098578"/>
            <a:ext cx="2010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Neural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space</a:t>
            </a:r>
            <a:endParaRPr kumimoji="1"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217" y="4244608"/>
            <a:ext cx="3365394" cy="26133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72446" cy="765175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Hopfield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model-encoding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memories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discrete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attractors</a:t>
            </a:r>
            <a:r>
              <a:rPr kumimoji="1" lang="zh-CN" altLang="en-US" dirty="0"/>
              <a:t/>
            </a:r>
            <a:br>
              <a:rPr kumimoji="1" lang="zh-CN" altLang="en-US" dirty="0"/>
            </a:br>
            <a:endParaRPr kumimoji="1" lang="zh-CN" altLang="en-US" dirty="0"/>
          </a:p>
        </p:txBody>
      </p:sp>
      <p:pic>
        <p:nvPicPr>
          <p:cNvPr id="3" name="Picture 11" descr="hopfie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523" y="1591869"/>
            <a:ext cx="2173996" cy="293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Text Box 12"/>
          <p:cNvSpPr>
            <a:spLocks noChangeArrowheads="1"/>
          </p:cNvSpPr>
          <p:nvPr/>
        </p:nvSpPr>
        <p:spPr bwMode="auto">
          <a:xfrm>
            <a:off x="1833464" y="4775645"/>
            <a:ext cx="1988045" cy="401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楷体" panose="0201060004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10" dirty="0">
                <a:solidFill>
                  <a:srgbClr val="000000"/>
                </a:solidFill>
                <a:latin typeface="Adobe Caslon Pro" panose="0205050205050A020403" pitchFamily="18" charset="0"/>
                <a:sym typeface="Arial" panose="020B0604020202020204" pitchFamily="34" charset="0"/>
              </a:rPr>
              <a:t>(Jmarshall, 2002)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952" y="1709100"/>
            <a:ext cx="5093687" cy="3178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Hopfield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energy-based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model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901664" y="1130943"/>
            <a:ext cx="104326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 smtClean="0"/>
              <a:t>When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 smtClean="0"/>
              <a:t>the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 smtClean="0"/>
              <a:t>network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 smtClean="0"/>
              <a:t>with</a:t>
            </a:r>
            <a:r>
              <a:rPr kumimoji="1" lang="zh-CN" altLang="en-US" sz="2000" dirty="0" smtClean="0"/>
              <a:t> </a:t>
            </a:r>
            <a:r>
              <a:rPr kumimoji="1" lang="en-US" altLang="zh-CN" sz="2000" b="1" dirty="0" smtClean="0"/>
              <a:t>symmetric</a:t>
            </a:r>
            <a:r>
              <a:rPr kumimoji="1" lang="zh-CN" altLang="en-US" sz="2000" b="1" dirty="0" smtClean="0"/>
              <a:t> </a:t>
            </a:r>
            <a:r>
              <a:rPr kumimoji="1" lang="en-US" altLang="zh-CN" sz="2000" b="1" dirty="0" smtClean="0"/>
              <a:t>interactions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 smtClean="0"/>
              <a:t>and</a:t>
            </a:r>
            <a:r>
              <a:rPr kumimoji="1" lang="zh-CN" altLang="en-US" sz="2000" dirty="0" smtClean="0"/>
              <a:t> </a:t>
            </a:r>
            <a:r>
              <a:rPr kumimoji="1" lang="en-US" altLang="zh-CN" sz="2000" b="1" dirty="0" smtClean="0"/>
              <a:t>asynchronous</a:t>
            </a:r>
            <a:r>
              <a:rPr kumimoji="1" lang="zh-CN" altLang="en-US" sz="2000" b="1" dirty="0" smtClean="0"/>
              <a:t> </a:t>
            </a:r>
            <a:r>
              <a:rPr kumimoji="1" lang="en-US" altLang="zh-CN" sz="2000" b="1" dirty="0" smtClean="0"/>
              <a:t>deterministic</a:t>
            </a:r>
            <a:r>
              <a:rPr kumimoji="1" lang="zh-CN" altLang="en-US" sz="2000" b="1" dirty="0" smtClean="0"/>
              <a:t> </a:t>
            </a:r>
            <a:r>
              <a:rPr kumimoji="1" lang="en-US" altLang="zh-CN" sz="2000" b="1" dirty="0" smtClean="0"/>
              <a:t>dynamics</a:t>
            </a:r>
            <a:r>
              <a:rPr kumimoji="1" lang="en-US" altLang="zh-CN" sz="2000" dirty="0" smtClean="0"/>
              <a:t>,</a:t>
            </a:r>
          </a:p>
          <a:p>
            <a:r>
              <a:rPr kumimoji="1" lang="en-US" altLang="zh-CN" sz="2000" dirty="0" smtClean="0"/>
              <a:t>The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 smtClean="0"/>
              <a:t>energy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 smtClean="0"/>
              <a:t>function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 smtClean="0"/>
              <a:t>or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 smtClean="0"/>
              <a:t>:</a:t>
            </a:r>
            <a:r>
              <a:rPr kumimoji="1" lang="zh-CN" altLang="en-US" sz="2000" dirty="0" smtClean="0"/>
              <a:t> </a:t>
            </a:r>
            <a:endParaRPr kumimoji="1"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901664" y="3394218"/>
            <a:ext cx="612988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energy-based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model,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each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update</a:t>
            </a:r>
            <a:r>
              <a:rPr kumimoji="1" lang="zh-CN" altLang="en-US" dirty="0" smtClean="0"/>
              <a:t> </a:t>
            </a:r>
            <a:r>
              <a:rPr kumimoji="1" lang="en-US" altLang="zh-CN" b="1" dirty="0" smtClean="0"/>
              <a:t>decreases</a:t>
            </a:r>
            <a:r>
              <a:rPr kumimoji="1" lang="zh-CN" altLang="en-US" b="1" dirty="0" smtClean="0"/>
              <a:t> </a:t>
            </a:r>
            <a:r>
              <a:rPr kumimoji="1" lang="en-US" altLang="zh-CN" b="1" dirty="0" smtClean="0"/>
              <a:t>the</a:t>
            </a:r>
            <a:r>
              <a:rPr kumimoji="1" lang="zh-CN" altLang="en-US" b="1" dirty="0" smtClean="0"/>
              <a:t> </a:t>
            </a:r>
            <a:r>
              <a:rPr kumimoji="1" lang="en-US" altLang="zh-CN" b="1" dirty="0" smtClean="0"/>
              <a:t>energy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804752" y="2529416"/>
                <a:ext cx="4150124" cy="8125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60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1600" i="1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1600" i="1">
                              <a:latin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sz="1600" i="1">
                              <a:latin typeface="Cambria Math" panose="02040503050406030204" charset="0"/>
                            </a:rPr>
                            <m:t>𝑡</m:t>
                          </m:r>
                          <m:r>
                            <a:rPr kumimoji="1" lang="en-US" altLang="zh-CN" sz="1600" i="1">
                              <a:latin typeface="Cambria Math" panose="02040503050406030204" charset="0"/>
                            </a:rPr>
                            <m:t>+1</m:t>
                          </m:r>
                        </m:e>
                      </m:d>
                      <m:r>
                        <a:rPr kumimoji="1" lang="en-US" altLang="zh-CN" sz="1600" i="1">
                          <a:latin typeface="Cambria Math" panose="02040503050406030204" charset="0"/>
                        </a:rPr>
                        <m:t>=</m:t>
                      </m:r>
                      <m:r>
                        <a:rPr kumimoji="1" lang="en-US" altLang="zh-CN" sz="1600" i="1">
                          <a:latin typeface="Cambria Math" panose="02040503050406030204" charset="0"/>
                        </a:rPr>
                        <m:t>𝑠𝑖𝑔𝑛</m:t>
                      </m:r>
                      <m:r>
                        <a:rPr kumimoji="1" lang="en-US" altLang="zh-CN" sz="1600" b="0" i="1" smtClean="0">
                          <a:latin typeface="Cambria Math" panose="02040503050406030204" charset="0"/>
                        </a:rPr>
                        <m:t>[</m:t>
                      </m:r>
                      <m:nary>
                        <m:naryPr>
                          <m:chr m:val="∑"/>
                          <m:ctrlPr>
                            <a:rPr kumimoji="1" lang="is-IS" altLang="zh-CN" sz="1600" b="0" i="1" smtClean="0">
                              <a:latin typeface="Cambria Math" panose="0204050305040603020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𝑗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kumimoji="1" lang="en-US" altLang="zh-CN" sz="1600" i="1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1600" i="1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1600" i="1">
                              <a:latin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sz="1600" i="1">
                              <a:latin typeface="Cambria Math" panose="02040503050406030204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zh-CN" sz="1600" b="0" i="1" smtClean="0">
                          <a:latin typeface="Cambria Math" panose="02040503050406030204" charset="0"/>
                        </a:rPr>
                        <m:t>]</m:t>
                      </m:r>
                    </m:oMath>
                  </m:oMathPara>
                </a14:m>
                <a:endParaRPr kumimoji="1" lang="en-US" altLang="zh-CN" sz="16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752" y="2529416"/>
                <a:ext cx="4150124" cy="812530"/>
              </a:xfrm>
              <a:prstGeom prst="rect">
                <a:avLst/>
              </a:prstGeom>
              <a:blipFill rotWithShape="1">
                <a:blip r:embed="rId2"/>
                <a:stretch>
                  <a:fillRect l="-8" t="-26" r="3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838200" y="2750695"/>
            <a:ext cx="37401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dirty="0" smtClean="0"/>
              <a:t>The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 smtClean="0"/>
              <a:t>asynchronous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 smtClean="0"/>
              <a:t>iterative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 smtClean="0"/>
              <a:t>rule,</a:t>
            </a:r>
            <a:r>
              <a:rPr kumimoji="1" lang="zh-CN" altLang="en-US" sz="2000" dirty="0" smtClean="0"/>
              <a:t> </a:t>
            </a:r>
            <a:endParaRPr kumimoji="1"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797421" y="4185131"/>
                <a:ext cx="11119351" cy="7927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160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𝛻</m:t>
                      </m:r>
                      <m:r>
                        <a:rPr kumimoji="1" lang="en-US" altLang="zh-CN" sz="16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𝐸</m:t>
                      </m:r>
                      <m:r>
                        <a:rPr kumimoji="1" lang="en-US" altLang="zh-CN" sz="16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1600" i="1" dirty="0">
                              <a:latin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1600" i="1" dirty="0"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p>
                          <m:r>
                            <a:rPr kumimoji="1" lang="en-US" altLang="zh-CN" sz="1600" i="1" dirty="0">
                              <a:latin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1600" b="0" i="1" dirty="0" smtClean="0">
                          <a:latin typeface="Cambria Math" panose="02040503050406030204" charset="0"/>
                        </a:rPr>
                        <m:t>−</m:t>
                      </m:r>
                      <m:r>
                        <a:rPr kumimoji="1" lang="en-US" altLang="zh-CN" sz="1600" b="0" i="1" dirty="0" smtClean="0">
                          <a:latin typeface="Cambria Math" panose="02040503050406030204" charset="0"/>
                        </a:rPr>
                        <m:t>𝐸</m:t>
                      </m:r>
                      <m:r>
                        <a:rPr kumimoji="1" lang="en-US" altLang="zh-CN" sz="1600" b="0" i="0" dirty="0" smtClean="0">
                          <a:latin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1600" b="0" i="1" dirty="0" smtClean="0">
                              <a:latin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sz="1600" b="0" i="0" dirty="0" smtClean="0">
                              <a:latin typeface="Cambria Math" panose="02040503050406030204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en-US" altLang="zh-CN" sz="1600" b="0" i="1" dirty="0" smtClean="0">
                                  <a:latin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1600" b="0" i="1" dirty="0" smtClean="0">
                                  <a:latin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1600" b="0" i="1" dirty="0" smtClean="0">
                                  <a:latin typeface="Cambria Math" panose="02040503050406030204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kumimoji="1" lang="is-IS" altLang="zh-CN" sz="1600" b="0" i="1" dirty="0" smtClean="0">
                                  <a:latin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sz="1600" b="0" i="1" dirty="0" smtClean="0">
                                  <a:latin typeface="Cambria Math" panose="02040503050406030204" charset="0"/>
                                </a:rPr>
                                <m:t>𝑘</m:t>
                              </m:r>
                              <m:r>
                                <a:rPr kumimoji="1" lang="en-US" altLang="zh-CN" sz="1600" b="0" i="1" dirty="0" smtClean="0">
                                  <a:latin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en-US" altLang="zh-CN" sz="1600" b="0" i="1" dirty="0" smtClean="0">
                                  <a:latin typeface="Cambria Math" panose="02040503050406030204" charset="0"/>
                                </a:rPr>
                                <m:t>𝑗</m:t>
                              </m:r>
                              <m:r>
                                <a:rPr kumimoji="1" lang="en-US" altLang="zh-CN" sz="1600" b="0" i="1" dirty="0" smtClean="0">
                                  <a:latin typeface="Cambria Math" panose="02040503050406030204" charset="0"/>
                                </a:rPr>
                                <m:t>=1,</m:t>
                              </m:r>
                              <m:r>
                                <a:rPr kumimoji="1" lang="en-US" altLang="zh-CN" sz="1600" b="0" i="1" dirty="0" smtClean="0">
                                  <a:latin typeface="Cambria Math" panose="02040503050406030204" charset="0"/>
                                </a:rPr>
                                <m:t>𝑘</m:t>
                              </m:r>
                              <m:r>
                                <a:rPr kumimoji="1" lang="en-US" altLang="zh-CN" sz="1600" b="0" i="1" dirty="0" smtClean="0">
                                  <a:latin typeface="Cambria Math" panose="02040503050406030204" charset="0"/>
                                  <a:ea typeface="Cambria Math" panose="02040503050406030204" charset="0"/>
                                  <a:cs typeface="Cambria Math" panose="02040503050406030204" charset="0"/>
                                </a:rPr>
                                <m:t>≠</m:t>
                              </m:r>
                              <m:r>
                                <a:rPr kumimoji="1" lang="en-US" altLang="zh-CN" sz="1600" b="0" i="1" dirty="0" smtClean="0">
                                  <a:latin typeface="Cambria Math" panose="02040503050406030204" charset="0"/>
                                  <a:ea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sz="1600" b="0" i="1" dirty="0" smtClean="0">
                                  <a:latin typeface="Cambria Math" panose="02040503050406030204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kumimoji="1" lang="en-US" altLang="zh-CN" sz="1600" i="1">
                                          <a:latin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sz="1600" i="1">
                                              <a:latin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1600" i="1">
                                              <a:latin typeface="Cambria Math" panose="02040503050406030204" charset="0"/>
                                              <a:ea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1600" b="0" i="1" smtClean="0">
                                              <a:latin typeface="Cambria Math" panose="02040503050406030204" charset="0"/>
                                              <a:ea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kumimoji="1" lang="en-US" altLang="zh-CN" sz="1600" b="0" i="1" smtClean="0">
                                          <a:latin typeface="Cambria Math" panose="02040503050406030204" charset="0"/>
                                          <a:ea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kumimoji="1" lang="en-US" altLang="zh-CN" sz="1600" b="0" i="1" smtClean="0">
                                          <a:latin typeface="Cambria Math" panose="02040503050406030204" charset="0"/>
                                        </a:rPr>
                                        <m:t>𝑘𝑗</m:t>
                                      </m:r>
                                    </m:sub>
                                  </m:sSub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  <a:ea typeface="Cambria Math" panose="02040503050406030204" charset="0"/>
                                      <a:cs typeface="Cambria Math" panose="02040503050406030204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1" lang="en-US" altLang="zh-CN" sz="1600" b="0" i="1" smtClean="0">
                                      <a:latin typeface="Cambria Math" panose="02040503050406030204" charset="0"/>
                                      <a:ea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  <m:r>
                            <a:rPr kumimoji="1" lang="en-US" altLang="zh-CN" sz="1600" b="0" i="1" dirty="0" smtClean="0">
                              <a:latin typeface="Cambria Math" panose="02040503050406030204" charset="0"/>
                            </a:rPr>
                            <m:t>+</m:t>
                          </m:r>
                          <m:f>
                            <m:fPr>
                              <m:ctrlP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kumimoji="1" lang="is-IS" altLang="zh-CN" sz="1600" i="1" dirty="0">
                                  <a:latin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𝑗</m:t>
                              </m:r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kumimoji="1" lang="en-US" altLang="zh-CN" sz="1600" i="1">
                                          <a:latin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sz="1600" i="1">
                                              <a:latin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1600" i="1">
                                              <a:latin typeface="Cambria Math" panose="02040503050406030204" charset="0"/>
                                              <a:ea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1600" i="1">
                                              <a:latin typeface="Cambria Math" panose="02040503050406030204" charset="0"/>
                                              <a:ea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kumimoji="1" lang="en-US" altLang="zh-CN" sz="1600" b="0" i="1" smtClean="0">
                                          <a:latin typeface="Cambria Math" panose="02040503050406030204" charset="0"/>
                                          <a:ea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kumimoji="1" lang="en-US" altLang="zh-CN" sz="1600" b="0" i="1" smtClean="0">
                                          <a:latin typeface="Cambria Math" panose="02040503050406030204" charset="0"/>
                                        </a:rPr>
                                        <m:t>𝑖</m:t>
                                      </m:r>
                                      <m:r>
                                        <a:rPr kumimoji="1" lang="en-US" altLang="zh-CN" sz="1600" i="1">
                                          <a:latin typeface="Cambria Math" panose="0204050305040603020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  <a:ea typeface="Cambria Math" panose="02040503050406030204" charset="0"/>
                                      <a:cs typeface="Cambria Math" panose="02040503050406030204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1" lang="en-US" altLang="zh-CN" sz="1600" b="0" i="1" smtClean="0">
                                      <a:latin typeface="Cambria Math" panose="02040503050406030204" charset="0"/>
                                      <a:ea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kumimoji="1" lang="en-US" altLang="zh-CN" sz="16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d>
                        <m:dPr>
                          <m:ctrlPr>
                            <a:rPr kumimoji="1" lang="en-US" altLang="zh-CN" sz="1600" i="1" dirty="0">
                              <a:latin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sz="1600" dirty="0">
                              <a:latin typeface="Cambria Math" panose="02040503050406030204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kumimoji="1" lang="is-IS" altLang="zh-CN" sz="1600" i="1" dirty="0">
                                  <a:latin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𝑘</m:t>
                              </m:r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𝑗</m:t>
                              </m:r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=1,</m:t>
                              </m:r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𝑘</m:t>
                              </m:r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  <a:ea typeface="Cambria Math" panose="02040503050406030204" charset="0"/>
                                  <a:cs typeface="Cambria Math" panose="02040503050406030204" charset="0"/>
                                </a:rPr>
                                <m:t>≠</m:t>
                              </m:r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  <a:ea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kumimoji="1" lang="en-US" altLang="zh-CN" sz="1600" i="1">
                                          <a:latin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sz="1600" i="1">
                                              <a:latin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1600" i="1">
                                              <a:latin typeface="Cambria Math" panose="02040503050406030204" charset="0"/>
                                              <a:ea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1600" i="1">
                                              <a:latin typeface="Cambria Math" panose="02040503050406030204" charset="0"/>
                                              <a:ea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kumimoji="1" lang="en-US" altLang="zh-CN" sz="1600" b="0" i="1" smtClean="0">
                                          <a:latin typeface="Cambria Math" panose="02040503050406030204" charset="0"/>
                                          <a:ea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kumimoji="1" lang="en-US" altLang="zh-CN" sz="1600" i="1">
                                          <a:latin typeface="Cambria Math" panose="02040503050406030204" charset="0"/>
                                        </a:rPr>
                                        <m:t>𝑘𝑗</m:t>
                                      </m:r>
                                    </m:sub>
                                  </m:sSub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  <a:ea typeface="Cambria Math" panose="02040503050406030204" charset="0"/>
                                      <a:cs typeface="Cambria Math" panose="02040503050406030204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  <a:ea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  <m:r>
                            <a:rPr kumimoji="1" lang="en-US" altLang="zh-CN" sz="1600" i="1" dirty="0">
                              <a:latin typeface="Cambria Math" panose="02040503050406030204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kumimoji="1" lang="is-IS" altLang="zh-CN" sz="1600" i="1" dirty="0">
                                  <a:latin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𝑗</m:t>
                              </m:r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1600" i="1" dirty="0">
                                  <a:latin typeface="Cambria Math" panose="02040503050406030204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kumimoji="1" lang="en-US" altLang="zh-CN" sz="1600" i="1">
                                          <a:latin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sz="1600" i="1">
                                              <a:latin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1600" i="1">
                                              <a:latin typeface="Cambria Math" panose="02040503050406030204" charset="0"/>
                                              <a:ea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1600" i="1">
                                              <a:latin typeface="Cambria Math" panose="02040503050406030204" charset="0"/>
                                              <a:ea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kumimoji="1" lang="en-US" altLang="zh-CN" sz="1600" b="0" i="1" smtClean="0">
                                          <a:latin typeface="Cambria Math" panose="02040503050406030204" charset="0"/>
                                          <a:ea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kumimoji="1" lang="en-US" altLang="zh-CN" sz="1600" i="1">
                                          <a:latin typeface="Cambria Math" panose="02040503050406030204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  <a:ea typeface="Cambria Math" panose="02040503050406030204" charset="0"/>
                                      <a:cs typeface="Cambria Math" panose="02040503050406030204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  <a:ea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kumimoji="1" lang="en-US" altLang="zh-CN" sz="16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1600" i="1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1600" i="1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zh-CN" sz="1600" i="1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kumimoji="1" lang="is-IS" altLang="zh-CN" sz="1600" i="1" dirty="0">
                              <a:latin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en-US" altLang="zh-CN" sz="1600" i="1" dirty="0">
                              <a:latin typeface="Cambria Math" panose="02040503050406030204" charset="0"/>
                            </a:rPr>
                            <m:t>𝑗</m:t>
                          </m:r>
                          <m:r>
                            <a:rPr kumimoji="1" lang="en-US" altLang="zh-CN" sz="1600" i="1" dirty="0">
                              <a:latin typeface="Cambria Math" panose="02040503050406030204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1600" i="1" dirty="0">
                              <a:latin typeface="Cambria Math" panose="02040503050406030204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600" i="1">
                                  <a:latin typeface="Cambria Math" panose="02040503050406030204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  <a:ea typeface="Cambria Math" panose="02040503050406030204" charset="0"/>
                                      <a:cs typeface="Cambria Math" panose="02040503050406030204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  <a:ea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  <a:cs typeface="Cambria Math" panose="0204050305040603020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1600" i="1">
                                  <a:latin typeface="Cambria Math" panose="02040503050406030204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en-US" altLang="zh-CN" sz="1600" b="0" dirty="0" smtClean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21" y="4185131"/>
                <a:ext cx="11119351" cy="792718"/>
              </a:xfrm>
              <a:prstGeom prst="rect">
                <a:avLst/>
              </a:prstGeom>
              <a:blipFill rotWithShape="1">
                <a:blip r:embed="rId3"/>
                <a:stretch>
                  <a:fillRect l="-4" t="-61" r="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1961212" y="6250054"/>
            <a:ext cx="83135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﻿</a:t>
            </a:r>
            <a:r>
              <a:rPr lang="en-US" altLang="zh-CN" sz="2000" dirty="0">
                <a:solidFill>
                  <a:srgbClr val="FF0000"/>
                </a:solidFill>
              </a:rPr>
              <a:t>A</a:t>
            </a:r>
            <a:r>
              <a:rPr lang="zh-CN" altLang="en-US" sz="2000" dirty="0" smtClean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dynamical update rule that decreases the energy at every update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818" y="1887445"/>
            <a:ext cx="2348982" cy="14659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2200314" y="1849518"/>
                <a:ext cx="3901004" cy="7201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b="0" i="1" smtClean="0">
                          <a:latin typeface="Cambria Math" panose="02040503050406030204" charset="0"/>
                        </a:rPr>
                        <m:t>𝐸</m:t>
                      </m:r>
                      <m:r>
                        <a:rPr kumimoji="1" lang="en-US" altLang="zh-CN" sz="1600" b="0" i="1" smtClean="0">
                          <a:latin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𝑖</m:t>
                          </m:r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𝑗</m:t>
                          </m:r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1600" b="0" i="1" smtClean="0">
                          <a:latin typeface="Cambria Math" panose="02040503050406030204" charset="0"/>
                        </a:rPr>
                        <m:t>,</m:t>
                      </m:r>
                      <m:r>
                        <a:rPr kumimoji="1" lang="zh-CN" altLang="en-US" sz="1600" b="0" i="1" smtClean="0">
                          <a:latin typeface="Cambria Math" panose="02040503050406030204" charset="0"/>
                        </a:rPr>
                        <m:t>   </m:t>
                      </m:r>
                      <m:sSub>
                        <m:sSubPr>
                          <m:ctrlP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𝑖𝑗</m:t>
                          </m:r>
                        </m:sub>
                      </m:sSub>
                      <m:r>
                        <a:rPr kumimoji="1" lang="en-US" altLang="zh-CN" sz="1600" b="0" i="1" smtClean="0">
                          <a:latin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𝜇</m:t>
                          </m:r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𝐾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𝜇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314" y="1849518"/>
                <a:ext cx="3901004" cy="720197"/>
              </a:xfrm>
              <a:prstGeom prst="rect">
                <a:avLst/>
              </a:prstGeom>
              <a:blipFill rotWithShape="1">
                <a:blip r:embed="rId5"/>
                <a:stretch>
                  <a:fillRect l="-1" t="-55" r="6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148576" y="5285678"/>
                <a:ext cx="9935736" cy="739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 smtClean="0"/>
                  <a:t>Assume</a:t>
                </a:r>
                <a:r>
                  <a:rPr kumimoji="1"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charset="0"/>
                            <a:ea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charset="0"/>
                            <a:ea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CN" dirty="0" smtClean="0"/>
                  <a:t>(t)=1,</a:t>
                </a:r>
                <a:r>
                  <a:rPr kumimoji="1" lang="zh-CN" altLang="en-US" dirty="0" smtClean="0"/>
                  <a:t>  </a:t>
                </a:r>
                <a:r>
                  <a:rPr kumimoji="1" lang="en-US" altLang="zh-CN" dirty="0" smtClean="0"/>
                  <a:t>when</a:t>
                </a:r>
                <a:r>
                  <a:rPr kumimoji="1" lang="zh-CN" altLang="en-US" dirty="0" smtClean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is-IS" altLang="zh-CN" i="1" dirty="0">
                            <a:latin typeface="Cambria Math" panose="02040503050406030204" charset="0"/>
                          </a:rPr>
                        </m:ctrlPr>
                      </m:naryPr>
                      <m:sub>
                        <m:r>
                          <a:rPr kumimoji="1" lang="en-US" altLang="zh-CN" i="1" dirty="0">
                            <a:latin typeface="Cambria Math" panose="02040503050406030204" charset="0"/>
                          </a:rPr>
                          <m:t>𝑗</m:t>
                        </m:r>
                        <m:r>
                          <a:rPr kumimoji="1" lang="en-US" altLang="zh-CN" i="1" dirty="0">
                            <a:latin typeface="Cambria Math" panose="02040503050406030204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zh-CN" i="1" dirty="0">
                            <a:latin typeface="Cambria Math" panose="02040503050406030204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kumimoji="1" lang="en-US" altLang="zh-CN" i="1">
                                <a:latin typeface="Cambria Math" panose="0204050305040603020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kumimoji="1" lang="en-US" altLang="zh-CN" i="1"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i="1">
                                    <a:latin typeface="Cambria Math" panose="02040503050406030204" charset="0"/>
                                    <a:ea typeface="Cambria Math" panose="02040503050406030204" charset="0"/>
                                    <a:cs typeface="Cambria Math" panose="02040503050406030204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1" lang="en-US" altLang="zh-CN" i="1">
                                    <a:latin typeface="Cambria Math" panose="02040503050406030204" charset="0"/>
                                    <a:ea typeface="Cambria Math" panose="02040503050406030204" charset="0"/>
                                    <a:cs typeface="Cambria Math" panose="02040503050406030204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kumimoji="1" lang="en-US" altLang="zh-CN" i="1">
                                <a:latin typeface="Cambria Math" panose="02040503050406030204" charset="0"/>
                                <a:ea typeface="Cambria Math" panose="02040503050406030204" charset="0"/>
                                <a:cs typeface="Cambria Math" panose="02040503050406030204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zh-CN" i="1">
                                <a:latin typeface="Cambria Math" panose="02040503050406030204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kumimoji="1" lang="en-US" altLang="zh-CN" dirty="0" smtClean="0"/>
                  <a:t>&gt;0,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𝛻</m:t>
                    </m:r>
                    <m:r>
                      <a:rPr kumimoji="1" lang="en-US" altLang="zh-CN" i="1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𝐸</m:t>
                    </m:r>
                  </m:oMath>
                </a14:m>
                <a:r>
                  <a:rPr kumimoji="1" lang="en-US" altLang="zh-CN" dirty="0" smtClean="0"/>
                  <a:t>&gt;0,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no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need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to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flip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the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neural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state,</a:t>
                </a:r>
                <a:r>
                  <a:rPr kumimoji="1"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charset="0"/>
                            <a:ea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charset="0"/>
                            <a:ea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CN" dirty="0"/>
                  <a:t>(t)=1</a:t>
                </a:r>
                <a:r>
                  <a:rPr kumimoji="1" lang="en-US" altLang="zh-CN" dirty="0" smtClean="0"/>
                  <a:t>;</a:t>
                </a:r>
              </a:p>
              <a:p>
                <a:r>
                  <a:rPr kumimoji="1" lang="zh-CN" altLang="en-US" dirty="0"/>
                  <a:t> </a:t>
                </a:r>
                <a:r>
                  <a:rPr kumimoji="1" lang="zh-CN" altLang="en-US" dirty="0" smtClean="0"/>
                  <a:t>                          </a:t>
                </a:r>
                <a:r>
                  <a:rPr kumimoji="1" lang="en-US" altLang="zh-CN" dirty="0" smtClean="0"/>
                  <a:t>when</a:t>
                </a:r>
                <a:r>
                  <a:rPr kumimoji="1" lang="zh-CN" altLang="en-US" dirty="0" smtClean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is-IS" altLang="zh-CN" i="1" dirty="0">
                            <a:latin typeface="Cambria Math" panose="02040503050406030204" charset="0"/>
                          </a:rPr>
                        </m:ctrlPr>
                      </m:naryPr>
                      <m:sub>
                        <m:r>
                          <a:rPr kumimoji="1" lang="en-US" altLang="zh-CN" i="1" dirty="0">
                            <a:latin typeface="Cambria Math" panose="02040503050406030204" charset="0"/>
                          </a:rPr>
                          <m:t>𝑗</m:t>
                        </m:r>
                        <m:r>
                          <a:rPr kumimoji="1" lang="en-US" altLang="zh-CN" i="1" dirty="0">
                            <a:latin typeface="Cambria Math" panose="02040503050406030204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zh-CN" i="1" dirty="0">
                            <a:latin typeface="Cambria Math" panose="02040503050406030204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kumimoji="1" lang="en-US" altLang="zh-CN" i="1">
                                <a:latin typeface="Cambria Math" panose="0204050305040603020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kumimoji="1" lang="en-US" altLang="zh-CN" i="1"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i="1">
                                    <a:latin typeface="Cambria Math" panose="02040503050406030204" charset="0"/>
                                    <a:ea typeface="Cambria Math" panose="02040503050406030204" charset="0"/>
                                    <a:cs typeface="Cambria Math" panose="02040503050406030204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1" lang="en-US" altLang="zh-CN" i="1">
                                    <a:latin typeface="Cambria Math" panose="02040503050406030204" charset="0"/>
                                    <a:ea typeface="Cambria Math" panose="02040503050406030204" charset="0"/>
                                    <a:cs typeface="Cambria Math" panose="02040503050406030204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kumimoji="1" lang="en-US" altLang="zh-CN" i="1">
                                <a:latin typeface="Cambria Math" panose="02040503050406030204" charset="0"/>
                                <a:ea typeface="Cambria Math" panose="02040503050406030204" charset="0"/>
                                <a:cs typeface="Cambria Math" panose="02040503050406030204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zh-CN" i="1">
                                <a:latin typeface="Cambria Math" panose="02040503050406030204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kumimoji="1" lang="en-US" altLang="zh-CN" b="0" i="0" smtClean="0">
                        <a:latin typeface="Cambria Math" panose="02040503050406030204" charset="0"/>
                      </a:rPr>
                      <m:t>&lt;</m:t>
                    </m:r>
                  </m:oMath>
                </a14:m>
                <a:r>
                  <a:rPr kumimoji="1" lang="en-US" altLang="zh-CN" dirty="0"/>
                  <a:t>0,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𝛻</m:t>
                    </m:r>
                    <m:r>
                      <a:rPr kumimoji="1" lang="en-US" altLang="zh-CN" i="1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𝐸</m:t>
                    </m:r>
                    <m:r>
                      <a:rPr kumimoji="1" lang="en-US" altLang="zh-CN" b="0" i="0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&lt;</m:t>
                    </m:r>
                  </m:oMath>
                </a14:m>
                <a:r>
                  <a:rPr kumimoji="1" lang="en-US" altLang="zh-CN" dirty="0" smtClean="0"/>
                  <a:t>0,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 smtClean="0"/>
                  <a:t>flip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neural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 smtClean="0"/>
                  <a:t>state,</a:t>
                </a:r>
                <a:r>
                  <a:rPr kumimoji="1"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charset="0"/>
                            <a:ea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charset="0"/>
                            <a:ea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CN" dirty="0"/>
                  <a:t>(t</a:t>
                </a:r>
                <a:r>
                  <a:rPr kumimoji="1" lang="en-US" altLang="zh-CN" dirty="0" smtClean="0"/>
                  <a:t>)=-1;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576" y="5285678"/>
                <a:ext cx="9935736" cy="739177"/>
              </a:xfrm>
              <a:prstGeom prst="rect">
                <a:avLst/>
              </a:prstGeom>
              <a:blipFill rotWithShape="1">
                <a:blip r:embed="rId6"/>
                <a:stretch>
                  <a:fillRect l="-5" t="-78" r="4" b="-54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3509475" y="3848619"/>
                <a:ext cx="25817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zh-CN" dirty="0" smtClean="0"/>
                  <a:t>Total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E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after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flipping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unit</a:t>
                </a:r>
                <a:r>
                  <a:rPr kumimoji="1"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charset="0"/>
                      </a:rPr>
                      <m:t>𝑖</m:t>
                    </m:r>
                  </m:oMath>
                </a14:m>
                <a:endParaRPr kumimoji="1" lang="en-US" altLang="zh-CN" b="1" dirty="0" smtClean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475" y="3848619"/>
                <a:ext cx="2581732" cy="276999"/>
              </a:xfrm>
              <a:prstGeom prst="rect">
                <a:avLst/>
              </a:prstGeom>
              <a:blipFill rotWithShape="1">
                <a:blip r:embed="rId7"/>
                <a:stretch>
                  <a:fillRect l="-18" t="-187" r="11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7131906" y="3821432"/>
                <a:ext cx="25095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zh-CN" dirty="0" smtClean="0"/>
                  <a:t>Total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E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w/o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flipping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unit</a:t>
                </a:r>
                <a:r>
                  <a:rPr kumimoji="1"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charset="0"/>
                      </a:rPr>
                      <m:t>𝑖</m:t>
                    </m:r>
                  </m:oMath>
                </a14:m>
                <a:endParaRPr kumimoji="1" lang="en-US" altLang="zh-CN" b="1" dirty="0" smtClean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906" y="3821432"/>
                <a:ext cx="2509598" cy="276999"/>
              </a:xfrm>
              <a:prstGeom prst="rect">
                <a:avLst/>
              </a:prstGeom>
              <a:blipFill rotWithShape="1">
                <a:blip r:embed="rId8"/>
                <a:stretch>
                  <a:fillRect l="-9" t="-1" r="12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1" grpId="0"/>
      <p:bldP spid="12" grpId="0"/>
      <p:bldP spid="1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8130"/>
            <a:ext cx="9844405" cy="1143000"/>
          </a:xfrm>
        </p:spPr>
        <p:txBody>
          <a:bodyPr/>
          <a:lstStyle/>
          <a:p>
            <a:pPr algn="l"/>
            <a:r>
              <a:rPr lang="en-US" altLang="zh-CN" sz="2800" dirty="0">
                <a:solidFill>
                  <a:schemeClr val="tx1"/>
                </a:solidFill>
              </a:rPr>
              <a:t>Memory</a:t>
            </a:r>
            <a:r>
              <a:rPr lang="zh-CN" altLang="en-US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Capacity</a:t>
            </a:r>
            <a:r>
              <a:rPr lang="zh-CN" altLang="en-US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of</a:t>
            </a:r>
            <a:r>
              <a:rPr lang="zh-CN" altLang="en-US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Hopfield</a:t>
            </a:r>
            <a:r>
              <a:rPr lang="zh-CN" altLang="en-US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Network ~ 0.14N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838200" y="1305577"/>
                <a:ext cx="5574817" cy="8749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1600" i="1" smtClean="0">
                              <a:latin typeface="Cambria Math" panose="02040503050406030204" charset="0"/>
                            </a:rPr>
                            <m:t>𝜉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𝑣</m:t>
                          </m:r>
                        </m:sup>
                      </m:sSubSup>
                      <m:r>
                        <a:rPr kumimoji="1" lang="en-US" altLang="zh-CN" sz="1600" i="1">
                          <a:latin typeface="Cambria Math" panose="02040503050406030204" charset="0"/>
                        </a:rPr>
                        <m:t>=</m:t>
                      </m:r>
                      <m:r>
                        <a:rPr kumimoji="1" lang="en-US" altLang="zh-CN" sz="1600" i="1">
                          <a:latin typeface="Cambria Math" panose="02040503050406030204" charset="0"/>
                        </a:rPr>
                        <m:t>𝑠𝑖𝑔𝑛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kumimoji="1" lang="is-IS" altLang="zh-CN" sz="1600" b="0" i="1" smtClean="0">
                                  <a:latin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en-US" altLang="zh-CN" sz="1600" b="0" i="1" smtClean="0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600" b="0" i="1" smtClean="0">
                                      <a:latin typeface="Cambria Math" panose="02040503050406030204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kumimoji="1" lang="en-US" altLang="zh-CN" sz="1600" b="0" i="1" smtClean="0">
                                      <a:latin typeface="Cambria Math" panose="02040503050406030204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𝑣</m:t>
                              </m:r>
                            </m:sup>
                          </m:sSubSup>
                        </m:e>
                      </m:d>
                      <m:r>
                        <a:rPr kumimoji="1" lang="en-US" altLang="zh-CN" sz="1600" b="0" i="1" smtClean="0">
                          <a:latin typeface="Cambria Math" panose="02040503050406030204" charset="0"/>
                        </a:rPr>
                        <m:t>=</m:t>
                      </m:r>
                      <m:r>
                        <a:rPr kumimoji="1" lang="en-US" altLang="zh-CN" sz="1600" b="0" i="1" smtClean="0">
                          <a:latin typeface="Cambria Math" panose="02040503050406030204" charset="0"/>
                        </a:rPr>
                        <m:t>𝑠𝑖𝑔𝑛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𝑣</m:t>
                              </m:r>
                            </m:sup>
                          </m:sSubSup>
                        </m:e>
                      </m:d>
                      <m:r>
                        <a:rPr kumimoji="1" lang="en-US" altLang="zh-CN" sz="1600" b="0" i="1" smtClean="0">
                          <a:latin typeface="Cambria Math" panose="02040503050406030204" charset="0"/>
                        </a:rPr>
                        <m:t>,</m:t>
                      </m:r>
                      <m:r>
                        <a:rPr kumimoji="1" lang="zh-CN" altLang="en-US" sz="1600" b="0" i="1" smtClean="0">
                          <a:latin typeface="Cambria Math" panose="02040503050406030204" charset="0"/>
                        </a:rPr>
                        <m:t> </m:t>
                      </m:r>
                      <m:r>
                        <a:rPr kumimoji="1" lang="en-US" altLang="zh-CN" sz="1600" b="0" i="1" smtClean="0">
                          <a:latin typeface="Cambria Math" panose="02040503050406030204" charset="0"/>
                        </a:rPr>
                        <m:t>𝑓𝑜𝑟</m:t>
                      </m:r>
                      <m:r>
                        <a:rPr kumimoji="1" lang="zh-CN" altLang="en-US" sz="1600" b="0" i="1" smtClean="0">
                          <a:latin typeface="Cambria Math" panose="02040503050406030204" charset="0"/>
                        </a:rPr>
                        <m:t> </m:t>
                      </m:r>
                      <m:r>
                        <a:rPr kumimoji="1" lang="en-US" altLang="zh-CN" sz="1600" b="0" i="1" smtClean="0">
                          <a:latin typeface="Cambria Math" panose="02040503050406030204" charset="0"/>
                        </a:rPr>
                        <m:t>𝑎𝑙𝑙</m:t>
                      </m:r>
                      <m:r>
                        <a:rPr kumimoji="1" lang="zh-CN" altLang="en-US" sz="1600" b="0" i="1" smtClean="0">
                          <a:latin typeface="Cambria Math" panose="02040503050406030204" charset="0"/>
                        </a:rPr>
                        <m:t> </m:t>
                      </m:r>
                      <m:r>
                        <a:rPr kumimoji="1" lang="en-US" altLang="zh-CN" sz="1600" b="0" i="1" smtClean="0">
                          <a:latin typeface="Cambria Math" panose="02040503050406030204" charset="0"/>
                        </a:rPr>
                        <m:t>𝑖</m:t>
                      </m:r>
                    </m:oMath>
                  </m:oMathPara>
                </a14:m>
                <a:endParaRPr kumimoji="1" lang="en-US" altLang="zh-CN" sz="16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05577"/>
                <a:ext cx="5574817" cy="874920"/>
              </a:xfrm>
              <a:prstGeom prst="rect">
                <a:avLst/>
              </a:prstGeom>
              <a:blipFill rotWithShape="1">
                <a:blip r:embed="rId2"/>
                <a:stretch>
                  <a:fillRect t="-2" r="3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838199" y="2426148"/>
                <a:ext cx="5574817" cy="7176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𝑣</m:t>
                          </m:r>
                        </m:sup>
                      </m:sSubSup>
                      <m:r>
                        <a:rPr kumimoji="1" lang="en-US" altLang="zh-CN" sz="1600" b="0" i="1" smtClean="0">
                          <a:latin typeface="Cambria Math" panose="0204050305040603020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𝑖𝑗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𝑣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sz="1600" b="0" i="1" smtClean="0">
                          <a:latin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𝑢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kumimoji="1" lang="en-US" altLang="zh-CN" sz="1600" b="0" i="1" smtClean="0">
                                      <a:latin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1600" b="0" i="1" smtClean="0">
                                      <a:latin typeface="Cambria Math" panose="02040503050406030204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kumimoji="1" lang="en-US" altLang="zh-CN" sz="1600" b="0" i="1" smtClean="0">
                                      <a:latin typeface="Cambria Math" panose="0204050305040603020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1" lang="en-US" altLang="zh-CN" sz="1600" b="0" i="1" smtClean="0">
                                      <a:latin typeface="Cambria Math" panose="02040503050406030204" charset="0"/>
                                    </a:rPr>
                                    <m:t>𝑢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kumimoji="1" lang="en-US" altLang="zh-CN" sz="1600" b="0" i="1" smtClean="0">
                                      <a:latin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1600" b="0" i="1" smtClean="0">
                                      <a:latin typeface="Cambria Math" panose="02040503050406030204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kumimoji="1" lang="en-US" altLang="zh-CN" sz="1600" b="0" i="1" smtClean="0">
                                      <a:latin typeface="Cambria Math" panose="02040503050406030204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kumimoji="1" lang="en-US" altLang="zh-CN" sz="1600" b="0" i="1" smtClean="0">
                                      <a:latin typeface="Cambria Math" panose="02040503050406030204" charset="0"/>
                                    </a:rPr>
                                    <m:t>𝑢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kumimoji="1" lang="en-US" altLang="zh-CN" sz="1600" b="0" i="1" smtClean="0">
                                      <a:latin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1600" b="0" i="1" smtClean="0">
                                      <a:latin typeface="Cambria Math" panose="02040503050406030204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kumimoji="1" lang="en-US" altLang="zh-CN" sz="1600" b="0" i="1" smtClean="0">
                                      <a:latin typeface="Cambria Math" panose="02040503050406030204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kumimoji="1" lang="en-US" altLang="zh-CN" sz="1600" b="0" i="1" smtClean="0">
                                      <a:latin typeface="Cambria Math" panose="02040503050406030204" charset="0"/>
                                    </a:rPr>
                                    <m:t>𝑣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kumimoji="1" lang="en-US" altLang="zh-CN" sz="1600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426148"/>
                <a:ext cx="5574817" cy="717697"/>
              </a:xfrm>
              <a:prstGeom prst="rect">
                <a:avLst/>
              </a:prstGeom>
              <a:blipFill rotWithShape="1">
                <a:blip r:embed="rId3"/>
                <a:stretch>
                  <a:fillRect l="-11" t="-62" r="3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2145305" y="3143845"/>
                <a:ext cx="2374881" cy="7176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i="1" smtClean="0">
                          <a:latin typeface="Cambria Math" panose="02040503050406030204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𝜉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𝑣</m:t>
                          </m:r>
                        </m:sup>
                      </m:sSubSup>
                      <m:r>
                        <a:rPr kumimoji="1" lang="en-US" altLang="zh-CN" sz="1600" b="0" i="1" smtClean="0">
                          <a:latin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en-US" altLang="zh-CN" sz="1600" i="1">
                              <a:latin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1600" i="1">
                              <a:latin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1600" i="1">
                              <a:latin typeface="Cambria Math" panose="02040503050406030204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kumimoji="1" lang="en-US" altLang="zh-CN" sz="1600" i="1">
                              <a:latin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en-US" altLang="zh-CN" sz="1600" i="1">
                              <a:latin typeface="Cambria Math" panose="02040503050406030204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1" lang="en-US" altLang="zh-CN" sz="1600" i="1">
                                  <a:latin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kumimoji="1" lang="en-US" altLang="zh-CN" sz="1600" i="1">
                                  <a:latin typeface="Cambria Math" panose="02040503050406030204" charset="0"/>
                                </a:rPr>
                                <m:t>𝑢</m:t>
                              </m:r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≠</m:t>
                              </m:r>
                              <m:r>
                                <a:rPr kumimoji="1" lang="en-US" altLang="zh-CN" sz="1600" b="0" i="1" smtClean="0">
                                  <a:latin typeface="Cambria Math" panose="02040503050406030204" charset="0"/>
                                </a:rPr>
                                <m:t>𝑣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𝑢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𝑢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𝑣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5305" y="3143845"/>
                <a:ext cx="2374881" cy="717697"/>
              </a:xfrm>
              <a:prstGeom prst="rect">
                <a:avLst/>
              </a:prstGeom>
              <a:blipFill rotWithShape="1">
                <a:blip r:embed="rId4"/>
                <a:stretch>
                  <a:fillRect l="-12" t="-83" r="11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/>
          <p:cNvSpPr txBox="1"/>
          <p:nvPr/>
        </p:nvSpPr>
        <p:spPr>
          <a:xfrm>
            <a:off x="657922" y="4248615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Consider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quality,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1191321" y="4646171"/>
                <a:ext cx="5574817" cy="7176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𝑣</m:t>
                          </m:r>
                        </m:sup>
                      </m:sSubSup>
                      <m:r>
                        <a:rPr kumimoji="1" lang="en-US" altLang="zh-CN" sz="1600" b="0" i="1" smtClean="0">
                          <a:latin typeface="Cambria Math" panose="02040503050406030204" charset="0"/>
                        </a:rPr>
                        <m:t>=−</m:t>
                      </m:r>
                      <m:sSubSup>
                        <m:sSubSupPr>
                          <m:ctrlP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𝜉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charset="0"/>
                            </a:rPr>
                            <m:t>𝑣</m:t>
                          </m:r>
                        </m:sup>
                      </m:sSubSup>
                      <m:f>
                        <m:fPr>
                          <m:ctrlPr>
                            <a:rPr kumimoji="1" lang="en-US" altLang="zh-CN" sz="1600" i="1">
                              <a:latin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1600" i="1">
                              <a:latin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1600" i="1">
                              <a:latin typeface="Cambria Math" panose="02040503050406030204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kumimoji="1" lang="en-US" altLang="zh-CN" sz="1600" i="1">
                              <a:latin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en-US" altLang="zh-CN" sz="1600" i="1">
                              <a:latin typeface="Cambria Math" panose="02040503050406030204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1" lang="en-US" altLang="zh-CN" sz="1600" i="1">
                                  <a:latin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kumimoji="1" lang="en-US" altLang="zh-CN" sz="1600" i="1">
                                  <a:latin typeface="Cambria Math" panose="02040503050406030204" charset="0"/>
                                </a:rPr>
                                <m:t>𝑢</m:t>
                              </m:r>
                              <m:r>
                                <a:rPr kumimoji="1" lang="en-US" altLang="zh-CN" sz="1600" i="1">
                                  <a:latin typeface="Cambria Math" panose="02040503050406030204" charset="0"/>
                                </a:rPr>
                                <m:t>≠</m:t>
                              </m:r>
                              <m:r>
                                <a:rPr kumimoji="1" lang="en-US" altLang="zh-CN" sz="1600" i="1">
                                  <a:latin typeface="Cambria Math" panose="02040503050406030204" charset="0"/>
                                </a:rPr>
                                <m:t>𝑣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𝑢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𝑢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kumimoji="1" lang="en-US" altLang="zh-CN" sz="1600" i="1">
                                      <a:latin typeface="Cambria Math" panose="02040503050406030204" charset="0"/>
                                    </a:rPr>
                                    <m:t>𝑣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kumimoji="1" lang="en-US" altLang="zh-CN" sz="1600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321" y="4646171"/>
                <a:ext cx="5574817" cy="717697"/>
              </a:xfrm>
              <a:prstGeom prst="rect">
                <a:avLst/>
              </a:prstGeom>
              <a:blipFill rotWithShape="1">
                <a:blip r:embed="rId5"/>
                <a:stretch>
                  <a:fillRect l="-1" t="-71" r="4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429321" y="5584217"/>
                <a:ext cx="5328318" cy="5549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charset="0"/>
                      </a:rPr>
                      <m:t>𝑖𝑓</m:t>
                    </m:r>
                    <m:r>
                      <a:rPr kumimoji="1" lang="zh-CN" altLang="en-US" b="0" i="1" smtClean="0">
                        <a:latin typeface="Cambria Math" panose="02040503050406030204" charset="0"/>
                      </a:rPr>
                      <m:t> </m:t>
                    </m:r>
                    <m:sSubSup>
                      <m:sSubSupPr>
                        <m:ctrlPr>
                          <a:rPr kumimoji="1" lang="en-US" altLang="zh-CN" b="0" i="1" smtClean="0">
                            <a:latin typeface="Cambria Math" panose="02040503050406030204" charset="0"/>
                          </a:rPr>
                        </m:ctrlPr>
                      </m:sSubSupPr>
                      <m:e>
                        <m:r>
                          <a:rPr kumimoji="1" lang="en-US" altLang="zh-CN" b="0" i="1" smtClean="0">
                            <a:latin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b="0" i="1" smtClean="0">
                            <a:latin typeface="Cambria Math" panose="02040503050406030204" charset="0"/>
                          </a:rPr>
                          <m:t>𝑣</m:t>
                        </m:r>
                      </m:sup>
                    </m:sSubSup>
                    <m:r>
                      <a:rPr kumimoji="1" lang="en-US" altLang="zh-CN" b="0" i="1" smtClean="0">
                        <a:latin typeface="Cambria Math" panose="02040503050406030204" charset="0"/>
                      </a:rPr>
                      <m:t>&gt;1,</m:t>
                    </m:r>
                  </m:oMath>
                </a14:m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cross-talk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term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and</a:t>
                </a:r>
                <a:r>
                  <a:rPr kumimoji="1" lang="zh-CN" altLang="en-US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b="0" i="1" smtClean="0">
                            <a:latin typeface="Cambria Math" panose="02040503050406030204" charset="0"/>
                          </a:rPr>
                        </m:ctrlPr>
                      </m:sSubSupPr>
                      <m:e>
                        <m:r>
                          <a:rPr kumimoji="1" lang="en-US" altLang="zh-CN" b="0" i="1" smtClean="0">
                            <a:latin typeface="Cambria Math" panose="02040503050406030204" charset="0"/>
                          </a:rPr>
                          <m:t>𝜉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b="0" i="1" smtClean="0">
                            <a:latin typeface="Cambria Math" panose="02040503050406030204" charset="0"/>
                          </a:rPr>
                          <m:t>𝑣</m:t>
                        </m:r>
                      </m:sup>
                    </m:sSubSup>
                  </m:oMath>
                </a14:m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have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different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signs,</a:t>
                </a:r>
              </a:p>
              <a:p>
                <a:r>
                  <a:rPr kumimoji="1" lang="en-US" altLang="zh-CN" dirty="0" smtClean="0"/>
                  <a:t>Cross-talk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term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will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change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the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sign</a:t>
                </a:r>
                <a:r>
                  <a:rPr kumimoji="1" lang="zh-CN" altLang="en-US" dirty="0" smtClean="0"/>
                  <a:t> </a:t>
                </a:r>
                <a:r>
                  <a:rPr kumimoji="1" lang="en-US" altLang="zh-CN" dirty="0" smtClean="0"/>
                  <a:t>of</a:t>
                </a:r>
                <a:r>
                  <a:rPr kumimoji="1" lang="zh-CN" altLang="en-US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>
                            <a:latin typeface="Cambria Math" panose="02040503050406030204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latin typeface="Cambria Math" panose="02040503050406030204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charset="0"/>
                          </a:rPr>
                          <m:t>𝑣</m:t>
                        </m:r>
                      </m:sup>
                    </m:sSubSup>
                  </m:oMath>
                </a14:m>
                <a:r>
                  <a:rPr kumimoji="1" lang="zh-CN" altLang="en-US" dirty="0" smtClean="0"/>
                  <a:t>  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21" y="5584217"/>
                <a:ext cx="5328318" cy="554960"/>
              </a:xfrm>
              <a:prstGeom prst="rect">
                <a:avLst/>
              </a:prstGeom>
              <a:blipFill rotWithShape="1">
                <a:blip r:embed="rId6"/>
                <a:stretch>
                  <a:fillRect l="-1" t="-5" r="2" b="-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椭圆 25"/>
          <p:cNvSpPr/>
          <p:nvPr/>
        </p:nvSpPr>
        <p:spPr>
          <a:xfrm>
            <a:off x="2966224" y="3213745"/>
            <a:ext cx="1672683" cy="645767"/>
          </a:xfrm>
          <a:prstGeom prst="ellipse">
            <a:avLst/>
          </a:prstGeom>
          <a:solidFill>
            <a:schemeClr val="accent1">
              <a:alpha val="0"/>
            </a:schemeClr>
          </a:solidFill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3217616" y="4081891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>
                <a:solidFill>
                  <a:srgbClr val="FF0000"/>
                </a:solidFill>
              </a:rPr>
              <a:t>Cross-talk</a:t>
            </a:r>
            <a:r>
              <a:rPr kumimoji="1" lang="zh-CN" altLang="en-US" dirty="0" smtClean="0">
                <a:solidFill>
                  <a:srgbClr val="FF0000"/>
                </a:solidFill>
              </a:rPr>
              <a:t> </a:t>
            </a:r>
            <a:r>
              <a:rPr kumimoji="1" lang="en-US" altLang="zh-CN" dirty="0" smtClean="0">
                <a:solidFill>
                  <a:srgbClr val="FF0000"/>
                </a:solidFill>
              </a:rPr>
              <a:t>term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7639" y="1492270"/>
            <a:ext cx="2782884" cy="23113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/>
              <p:cNvSpPr txBox="1"/>
              <p:nvPr/>
            </p:nvSpPr>
            <p:spPr>
              <a:xfrm>
                <a:off x="9388069" y="1492270"/>
                <a:ext cx="1965731" cy="277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𝑒𝑟𝑟𝑜𝑟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b="0" i="1" smtClean="0">
                                  <a:latin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b="0" i="1" smtClean="0">
                                  <a:latin typeface="Cambria Math" panose="02040503050406030204" charset="0"/>
                                </a:rPr>
                                <m:t>𝑣</m:t>
                              </m:r>
                            </m:sup>
                          </m:sSubSup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&gt;1</m:t>
                          </m:r>
                        </m:e>
                      </m:d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8069" y="1492270"/>
                <a:ext cx="1965731" cy="277961"/>
              </a:xfrm>
              <a:prstGeom prst="rect">
                <a:avLst/>
              </a:prstGeom>
              <a:blipFill rotWithShape="1">
                <a:blip r:embed="rId8"/>
                <a:stretch>
                  <a:fillRect l="-12" t="-7" r="-937" b="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/>
              <p:cNvSpPr txBox="1"/>
              <p:nvPr/>
            </p:nvSpPr>
            <p:spPr>
              <a:xfrm>
                <a:off x="7841815" y="2339728"/>
                <a:ext cx="5058238" cy="11162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𝑒𝑟𝑟𝑜𝑟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b="0" i="1" smtClean="0">
                              <a:latin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b="0" i="1" smtClean="0">
                              <a:latin typeface="Cambria Math" panose="02040503050406030204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b="0" i="1" smtClean="0">
                                  <a:latin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b="0" i="1" smtClean="0">
                                  <a:latin typeface="Cambria Math" panose="02040503050406030204" charset="0"/>
                                </a:rPr>
                                <m:t>2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charset="0"/>
                                </a:rPr>
                                <m:t>𝜋𝜎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kumimoji="1"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b="0" i="1" smtClean="0">
                                  <a:latin typeface="Cambria Math" panose="02040503050406030204" charset="0"/>
                                  <a:ea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charset="0"/>
                                  <a:ea typeface="Cambria Math" panose="02040503050406030204" charset="0"/>
                                  <a:cs typeface="Cambria Math" panose="0204050305040603020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latin typeface="Cambria Math" panose="02040503050406030204" charset="0"/>
                                  <a:ea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b="0" i="1" smtClean="0">
                                      <a:latin typeface="Cambria Math" panose="02040503050406030204" charset="0"/>
                                      <a:ea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charset="0"/>
                                      <a:ea typeface="Cambria Math" panose="02040503050406030204" charset="0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b="0" i="1" smtClean="0">
                                      <a:latin typeface="Cambria Math" panose="02040503050406030204" charset="0"/>
                                      <a:ea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en-US" altLang="zh-CN" b="0" i="1" smtClean="0">
                                  <a:latin typeface="Cambria Math" panose="02040503050406030204" charset="0"/>
                                  <a:ea typeface="Cambria Math" panose="02040503050406030204" charset="0"/>
                                  <a:cs typeface="Cambria Math" panose="02040503050406030204" charset="0"/>
                                </a:rPr>
                                <m:t>/2</m:t>
                              </m:r>
                              <m:sSup>
                                <m:sSupPr>
                                  <m:ctrlPr>
                                    <a:rPr kumimoji="1" lang="en-US" altLang="zh-CN" b="0" i="1" smtClean="0">
                                      <a:latin typeface="Cambria Math" panose="02040503050406030204" charset="0"/>
                                      <a:ea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charset="0"/>
                                      <a:ea typeface="Cambria Math" panose="02040503050406030204" charset="0"/>
                                      <a:cs typeface="Cambria Math" panose="02040503050406030204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kumimoji="1" lang="en-US" altLang="zh-CN" b="0" i="1" smtClean="0">
                                      <a:latin typeface="Cambria Math" panose="02040503050406030204" charset="0"/>
                                      <a:ea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a:rPr kumimoji="1"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1" lang="en-US" altLang="zh-CN" b="0" i="1" dirty="0" smtClean="0">
                  <a:latin typeface="Cambria Math" panose="02040503050406030204" charset="0"/>
                  <a:ea typeface="Cambria Math" panose="02040503050406030204" charset="0"/>
                  <a:cs typeface="Cambria Math" panose="0204050305040603020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0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b="0" i="0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0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zh-CN" b="0" i="0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[1−</m:t>
                      </m:r>
                      <m:r>
                        <m:rPr>
                          <m:sty m:val="p"/>
                        </m:rPr>
                        <a:rPr kumimoji="1" lang="en-US" altLang="zh-CN" b="0" i="0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erf</m:t>
                      </m:r>
                      <m:r>
                        <a:rPr kumimoji="1" lang="en-US" altLang="zh-CN" b="0" i="0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kumimoji="1"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𝑁</m:t>
                          </m:r>
                          <m:r>
                            <a:rPr kumimoji="1"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/2</m:t>
                          </m:r>
                          <m:r>
                            <a:rPr kumimoji="1" lang="en-US" altLang="zh-CN" b="0" i="1" smtClean="0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</a:rPr>
                            <m:t>𝑝</m:t>
                          </m:r>
                        </m:e>
                      </m:rad>
                      <m:r>
                        <a:rPr kumimoji="1" lang="en-US" altLang="zh-CN" b="0" i="0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)]</m:t>
                      </m:r>
                    </m:oMath>
                  </m:oMathPara>
                </a14:m>
                <a:endParaRPr kumimoji="1" lang="en-US" altLang="zh-CN" b="0" dirty="0" smtClean="0">
                  <a:ea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815" y="2339728"/>
                <a:ext cx="5058238" cy="1116203"/>
              </a:xfrm>
              <a:prstGeom prst="rect">
                <a:avLst/>
              </a:prstGeom>
              <a:blipFill rotWithShape="1">
                <a:blip r:embed="rId9"/>
                <a:stretch>
                  <a:fillRect l="-4" t="-35" r="1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5944299" y="4653680"/>
                <a:ext cx="6096000" cy="120032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altLang="zh-CN" dirty="0" smtClean="0">
                    <a:latin typeface="CenturySchoolbook" charset="0"/>
                  </a:rPr>
                  <a:t>Choosing a criterion for acceptable performance (e.g.,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𝑒𝑟𝑟𝑜𝑟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charset="0"/>
                      </a:rPr>
                      <m:t>&lt;0.01</m:t>
                    </m:r>
                  </m:oMath>
                </a14:m>
                <a:r>
                  <a:rPr lang="en-US" altLang="zh-CN" dirty="0" smtClean="0">
                    <a:latin typeface="CenturySchoolbook" charset="0"/>
                  </a:rPr>
                  <a:t>) </a:t>
                </a:r>
                <a:r>
                  <a:rPr lang="en-US" altLang="zh-CN" dirty="0">
                    <a:latin typeface="CenturySchoolbook" charset="0"/>
                  </a:rPr>
                  <a:t>lets us find the storage capacity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zh-CN" dirty="0">
                    <a:latin typeface="CenturySchoolbook" charset="0"/>
                  </a:rPr>
                  <a:t> </a:t>
                </a:r>
                <a:r>
                  <a:rPr lang="en-US" altLang="zh-CN" dirty="0" smtClean="0">
                    <a:latin typeface="CenturySchoolbook" charset="0"/>
                  </a:rPr>
                  <a:t>of </a:t>
                </a:r>
                <a:r>
                  <a:rPr lang="en-US" altLang="zh-CN" dirty="0">
                    <a:latin typeface="CenturySchoolbook" charset="0"/>
                  </a:rPr>
                  <a:t>the network: the </a:t>
                </a:r>
                <a:r>
                  <a:rPr lang="en-US" altLang="zh-CN" dirty="0">
                    <a:solidFill>
                      <a:srgbClr val="FF0000"/>
                    </a:solidFill>
                    <a:latin typeface="CenturySchoolbook" charset="0"/>
                  </a:rPr>
                  <a:t>maximum number of patterns </a:t>
                </a:r>
                <a:r>
                  <a:rPr lang="en-US" altLang="zh-CN" dirty="0" smtClean="0">
                    <a:latin typeface="CenturySchoolbook" charset="0"/>
                  </a:rPr>
                  <a:t>that </a:t>
                </a:r>
                <a:r>
                  <a:rPr lang="en-US" altLang="zh-CN" dirty="0">
                    <a:latin typeface="CenturySchoolbook" charset="0"/>
                  </a:rPr>
                  <a:t>can be stored </a:t>
                </a:r>
                <a:r>
                  <a:rPr lang="en-US" altLang="zh-CN" dirty="0">
                    <a:solidFill>
                      <a:srgbClr val="FF0000"/>
                    </a:solidFill>
                    <a:latin typeface="CenturySchoolbook" charset="0"/>
                  </a:rPr>
                  <a:t>without unacceptable errors </a:t>
                </a:r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299" y="4653680"/>
                <a:ext cx="6096000" cy="1200329"/>
              </a:xfrm>
              <a:prstGeom prst="rect">
                <a:avLst/>
              </a:prstGeom>
              <a:blipFill rotWithShape="1">
                <a:blip r:embed="rId10"/>
                <a:stretch>
                  <a:fillRect l="-1" t="-1409" r="1" b="-180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 bldLvl="0" animBg="1"/>
      <p:bldP spid="27" grpId="0"/>
      <p:bldP spid="29" grpId="0"/>
      <p:bldP spid="30" grpId="0"/>
      <p:bldP spid="3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CN" dirty="0" smtClean="0">
                <a:latin typeface="Franklin Gothic Medium" panose="020B0603020102020204" charset="0"/>
              </a:rPr>
              <a:t>Dense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 smtClean="0">
                <a:latin typeface="Franklin Gothic Medium" panose="020B0603020102020204" charset="0"/>
              </a:rPr>
              <a:t>associative</a:t>
            </a:r>
            <a:r>
              <a:rPr kumimoji="1" lang="zh-CN" altLang="en-US" dirty="0" smtClean="0">
                <a:latin typeface="Franklin Gothic Medium" panose="020B0603020102020204" charset="0"/>
              </a:rPr>
              <a:t> </a:t>
            </a:r>
            <a:r>
              <a:rPr kumimoji="1" lang="en-US" altLang="zh-CN" dirty="0" smtClean="0">
                <a:latin typeface="Franklin Gothic Medium" panose="020B0603020102020204" charset="0"/>
              </a:rPr>
              <a:t>memory</a:t>
            </a:r>
            <a:endParaRPr kumimoji="1" lang="zh-CN" altLang="en-US" dirty="0">
              <a:latin typeface="Franklin Gothic Medium" panose="020B0603020102020204" charset="0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9574" y="1981997"/>
            <a:ext cx="7095563" cy="381326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63561" y="917001"/>
            <a:ext cx="108224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By</a:t>
            </a:r>
            <a:r>
              <a:rPr kumimoji="1" lang="zh-CN" altLang="en-US" dirty="0" smtClean="0"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kumimoji="1" lang="en-US" altLang="zh-CN" dirty="0" smtClean="0"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introducing</a:t>
            </a:r>
            <a:r>
              <a:rPr kumimoji="1" lang="zh-CN" altLang="en-US" dirty="0" smtClean="0"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a</a:t>
            </a:r>
            <a:r>
              <a:rPr kumimoji="1" lang="zh-CN" altLang="en-US" dirty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rapid</a:t>
            </a:r>
            <a:r>
              <a:rPr kumimoji="1" lang="zh-CN" altLang="en-US" dirty="0" smtClean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growing</a:t>
            </a:r>
            <a:r>
              <a:rPr kumimoji="1" lang="zh-CN" altLang="en-US" dirty="0" smtClean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kumimoji="1" lang="en-US" altLang="zh-CN" dirty="0" smtClean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function</a:t>
            </a:r>
            <a:r>
              <a:rPr kumimoji="1" lang="en-US" altLang="zh-CN" dirty="0" smtClean="0"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,</a:t>
            </a:r>
            <a:r>
              <a:rPr kumimoji="1" lang="zh-CN" altLang="en-US" dirty="0" smtClean="0"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kumimoji="1" lang="en-US" altLang="zh-CN" dirty="0" smtClean="0"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DAM</a:t>
            </a:r>
            <a:r>
              <a:rPr kumimoji="1" lang="zh-CN" altLang="en-US" dirty="0" smtClean="0"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lang="en-US" altLang="zh-CN" dirty="0" smtClean="0"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is </a:t>
            </a:r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characterized by an energy function that includes </a:t>
            </a:r>
            <a:r>
              <a:rPr lang="en-US" altLang="zh-CN" dirty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higher than quadratic interactions </a:t>
            </a:r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between </a:t>
            </a:r>
            <a:r>
              <a:rPr lang="en-US" altLang="zh-CN" dirty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the features </a:t>
            </a:r>
          </a:p>
          <a:p>
            <a:endParaRPr kumimoji="1" lang="zh-CN" altLang="en-US" dirty="0">
              <a:latin typeface="Franklin Gothic Medium" panose="020B060302010202020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844" y="3257703"/>
            <a:ext cx="2510503" cy="76491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12769" y="6173746"/>
            <a:ext cx="302006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Dmitry </a:t>
            </a:r>
            <a:r>
              <a:rPr lang="en-US" altLang="zh-CN" sz="1600" b="1" dirty="0" err="1" smtClean="0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Krotov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et</a:t>
            </a: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al.,</a:t>
            </a: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2016;</a:t>
            </a: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2023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Franklin Gothic Medium" panose="020B060302010202020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Transformer from a Memory 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705474" y="1237615"/>
                <a:ext cx="6187041" cy="4959985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 dirty="0">
                    <a:latin typeface="Franklin Gothic Medium" panose="020B0603020102020204" charset="0"/>
                  </a:rPr>
                  <a:t>Linearized </a:t>
                </a:r>
                <a:r>
                  <a:rPr lang="en-US" altLang="zh-CN" sz="2000" dirty="0" err="1">
                    <a:latin typeface="Franklin Gothic Medium" panose="020B0603020102020204" charset="0"/>
                  </a:rPr>
                  <a:t>softmax</a:t>
                </a:r>
                <a:r>
                  <a:rPr lang="en-US" altLang="zh-CN" sz="2000" dirty="0">
                    <a:latin typeface="Franklin Gothic Medium" panose="020B0603020102020204" charset="0"/>
                  </a:rPr>
                  <a:t> attention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zh-CN" sz="2000" b="1" dirty="0">
                    <a:latin typeface="Franklin Gothic Medium" panose="020B0603020102020204" charset="0"/>
                  </a:rPr>
                  <a:t>Slow Fast learning</a:t>
                </a:r>
                <a:r>
                  <a:rPr lang="zh-CN" altLang="en-US" sz="2000" dirty="0">
                    <a:latin typeface="Franklin Gothic Medium" panose="020B0603020102020204" charset="0"/>
                  </a:rPr>
                  <a:t>：</a:t>
                </a:r>
                <a:r>
                  <a:rPr lang="en-US" altLang="zh-CN" sz="2000" dirty="0">
                    <a:latin typeface="Franklin Gothic Medium" panose="020B0603020102020204" charset="0"/>
                  </a:rPr>
                  <a:t>a slow network generates weight connection updation of a fast network 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𝑊</m:t>
                        </m:r>
                      </m:e>
                      <m:sup>
                        <m: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000" i="1" dirty="0">
                    <a:solidFill>
                      <a:schemeClr val="tx1"/>
                    </a:solidFill>
                    <a:latin typeface="Franklin Gothic Medium" panose="020B0603020102020204" charset="0"/>
                  </a:rPr>
                  <a:t> : hebbian rule-based updation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05474" y="1237615"/>
                <a:ext cx="6187041" cy="4959985"/>
              </a:xfrm>
              <a:blipFill rotWithShape="1">
                <a:blip r:embed="rId2"/>
                <a:stretch>
                  <a:fillRect l="-10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9382125" y="6059805"/>
            <a:ext cx="25831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b="1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Kazuki Irie et al., NeurIPS</a:t>
            </a:r>
            <a:r>
              <a:rPr kumimoji="1"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kumimoji="1"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2021</a:t>
            </a:r>
            <a:endParaRPr kumimoji="1" lang="zh-CN" altLang="en-US" sz="12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125" y="3746714"/>
            <a:ext cx="5680211" cy="135466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885" y="1071245"/>
            <a:ext cx="4045585" cy="316103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665" y="4424045"/>
            <a:ext cx="4486910" cy="8553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9850" y="5747385"/>
            <a:ext cx="3185795" cy="5302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12445" y="5367655"/>
            <a:ext cx="123952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Franklin Gothic Medium" panose="020B0603020102020204" charset="0"/>
                <a:ea typeface="微软雅黑" panose="020B0503020204020204" charset="-122"/>
              </a:rPr>
              <a:t>if linearized: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  <a:sym typeface="+mn-ea"/>
              </a:rPr>
              <a:t>Transformer from a Memory View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045" y="1266190"/>
            <a:ext cx="4090035" cy="185166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060" y="3639185"/>
            <a:ext cx="4743450" cy="98996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501005" y="3357245"/>
            <a:ext cx="4763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Energy function of modern Hopfield model: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850890" y="4867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Update rule: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180" y="5380355"/>
            <a:ext cx="2186940" cy="100838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275" y="5665470"/>
            <a:ext cx="2710815" cy="618490"/>
          </a:xfrm>
          <a:prstGeom prst="rect">
            <a:avLst/>
          </a:prstGeom>
        </p:spPr>
      </p:pic>
      <p:grpSp>
        <p:nvGrpSpPr>
          <p:cNvPr id="24" name="组合 23"/>
          <p:cNvGrpSpPr/>
          <p:nvPr/>
        </p:nvGrpSpPr>
        <p:grpSpPr>
          <a:xfrm>
            <a:off x="721995" y="1155700"/>
            <a:ext cx="4975860" cy="2569845"/>
            <a:chOff x="1377" y="2487"/>
            <a:chExt cx="7836" cy="4047"/>
          </a:xfrm>
        </p:grpSpPr>
        <p:grpSp>
          <p:nvGrpSpPr>
            <p:cNvPr id="21" name="组合 20"/>
            <p:cNvGrpSpPr/>
            <p:nvPr/>
          </p:nvGrpSpPr>
          <p:grpSpPr>
            <a:xfrm>
              <a:off x="1377" y="2754"/>
              <a:ext cx="7836" cy="3780"/>
              <a:chOff x="1377" y="3510"/>
              <a:chExt cx="7836" cy="3780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77" y="3510"/>
                <a:ext cx="7756" cy="3780"/>
              </a:xfrm>
              <a:prstGeom prst="rect">
                <a:avLst/>
              </a:prstGeom>
            </p:spPr>
          </p:pic>
          <p:sp>
            <p:nvSpPr>
              <p:cNvPr id="20" name="圆角矩形 19"/>
              <p:cNvSpPr/>
              <p:nvPr/>
            </p:nvSpPr>
            <p:spPr>
              <a:xfrm>
                <a:off x="6687" y="3681"/>
                <a:ext cx="2527" cy="171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/>
                <p:cNvSpPr/>
                <p:nvPr/>
              </p:nvSpPr>
              <p:spPr>
                <a:xfrm>
                  <a:off x="1377" y="2487"/>
                  <a:ext cx="5069" cy="707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𝑠𝑜𝑓𝑡𝑚𝑎𝑥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 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𝛽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   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    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 )    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oMath>
                    </m:oMathPara>
                  </a14:m>
                  <a:endParaRPr lang="en-US" altLang="zh-CN" i="1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2" name="矩形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" y="2487"/>
                  <a:ext cx="5069" cy="707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2210" y="4343400"/>
            <a:ext cx="3074035" cy="180530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8535" y="1910797"/>
            <a:ext cx="10515600" cy="614680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CN" dirty="0">
                <a:latin typeface="Franklin Gothic Medium" panose="020B0603020102020204" charset="0"/>
              </a:rPr>
              <a:t>How might the brain realize a Transformer-like computation?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CN"/>
              <a:t>How to capture </a:t>
            </a:r>
            <a:r>
              <a:rPr lang="en-US" altLang="zh-CN">
                <a:solidFill>
                  <a:srgbClr val="C00000"/>
                </a:solidFill>
              </a:rPr>
              <a:t>relationships by encoding a complete input sequence</a:t>
            </a:r>
            <a:r>
              <a:rPr lang="en-US" altLang="zh-CN"/>
              <a:t> in parallel in the brain?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/>
              <a:t>Pulling in cotext across time in parallel in Transformers</a:t>
            </a:r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8395" y="1914525"/>
            <a:ext cx="6484620" cy="42030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9140" y="6170930"/>
            <a:ext cx="49326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Trends in cognitive neuroscience, 2025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zh-CN" altLang="en-US"/>
              <a:t>单个神经元选择性取决于过去、现在和预测的将来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18565" y="2047240"/>
            <a:ext cx="3048000" cy="3168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1115" y="1797685"/>
            <a:ext cx="2637790" cy="39166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6020" y="1889760"/>
            <a:ext cx="2106930" cy="35788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1805" y="6154420"/>
            <a:ext cx="1020762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98D1"/>
                </a:solidFill>
                <a:latin typeface="AdvTT1895a33e"/>
                <a:ea typeface="AdvTT1895a33e"/>
              </a:rPr>
              <a:t>Dotson, N.M. (2021) Nonlocal spatiotemporal representation in the hippocampus of freely </a:t>
            </a:r>
            <a:r>
              <a:rPr lang="en-US" altLang="zh-CN" sz="1400">
                <a:solidFill>
                  <a:srgbClr val="0098D1"/>
                </a:solidFill>
                <a:latin typeface="AdvTT1895a33e+fb"/>
                <a:ea typeface="AdvTT1895a33e+fb"/>
              </a:rPr>
              <a:t>fl</a:t>
            </a:r>
            <a:r>
              <a:rPr lang="en-US" altLang="zh-CN" sz="1400">
                <a:solidFill>
                  <a:srgbClr val="0098D1"/>
                </a:solidFill>
                <a:latin typeface="AdvTT1895a33e"/>
                <a:ea typeface="AdvTT1895a33e"/>
              </a:rPr>
              <a:t>ying bats. </a:t>
            </a:r>
            <a:r>
              <a:rPr lang="en-US" altLang="zh-CN" sz="1400">
                <a:solidFill>
                  <a:srgbClr val="0098D1"/>
                </a:solidFill>
                <a:latin typeface="AdvTTc685db85"/>
                <a:ea typeface="AdvTTc685db85"/>
              </a:rPr>
              <a:t>Science</a:t>
            </a:r>
            <a:endParaRPr lang="en-US" altLang="zh-CN" sz="1400">
              <a:solidFill>
                <a:srgbClr val="0098D1"/>
              </a:solidFill>
              <a:latin typeface="AdvTT1895a33e"/>
              <a:ea typeface="AdvTT1895a33e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86255" y="944245"/>
            <a:ext cx="828103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231F20"/>
                </a:solidFill>
                <a:latin typeface="Arial" panose="020B0604020202020204" pitchFamily="34" charset="0"/>
                <a:ea typeface="AdvTTb278f7d1"/>
                <a:cs typeface="Arial" panose="020B0604020202020204" pitchFamily="34" charset="0"/>
              </a:rPr>
              <a:t>The representation of position thus extends along a continuum, with each moment containing information about </a:t>
            </a:r>
            <a:r>
              <a:rPr lang="en-US" altLang="zh-CN" sz="1600">
                <a:solidFill>
                  <a:srgbClr val="C00000"/>
                </a:solidFill>
                <a:latin typeface="Arial" panose="020B0604020202020204" pitchFamily="34" charset="0"/>
                <a:ea typeface="AdvTTb278f7d1"/>
                <a:cs typeface="Arial" panose="020B0604020202020204" pitchFamily="34" charset="0"/>
              </a:rPr>
              <a:t>past, present, and future</a:t>
            </a:r>
            <a:r>
              <a:rPr lang="en-US" altLang="zh-CN" sz="1600">
                <a:solidFill>
                  <a:srgbClr val="231F20"/>
                </a:solidFill>
                <a:latin typeface="Arial" panose="020B0604020202020204" pitchFamily="34" charset="0"/>
                <a:ea typeface="AdvTTb278f7d1"/>
                <a:cs typeface="Arial" panose="020B0604020202020204" pitchFamily="34" charset="0"/>
              </a:rPr>
              <a:t>.</a:t>
            </a:r>
            <a:endParaRPr lang="zh-CN" altLang="en-US" sz="1600">
              <a:solidFill>
                <a:srgbClr val="231F2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altLang="zh-CN"/>
              <a:t>Traving wave </a:t>
            </a:r>
            <a:r>
              <a:rPr lang="zh-CN" altLang="en-US"/>
              <a:t>将时序信息转换为</a:t>
            </a:r>
            <a:r>
              <a:rPr lang="en-US" altLang="zh-CN"/>
              <a:t> spacetime code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11530" y="2322195"/>
            <a:ext cx="4989195" cy="27000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240" y="1692275"/>
            <a:ext cx="5454650" cy="41744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9140" y="6170930"/>
            <a:ext cx="49326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Trends in cognitive neuroscience, 2025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altLang="zh-CN"/>
              <a:t>Traveling wave and SSM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A special kind of Toeplitz matrix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719" y="2604838"/>
            <a:ext cx="3492928" cy="11649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7830" y="1750695"/>
            <a:ext cx="7094220" cy="37185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CN"/>
              <a:t>Wave-generating networks learn complex sequence tasks better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91795" y="1456055"/>
            <a:ext cx="2598420" cy="22313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6780" y="1353185"/>
            <a:ext cx="3277870" cy="24942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3115" y="1282700"/>
            <a:ext cx="4906010" cy="25647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951470" y="6170930"/>
            <a:ext cx="38531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T. Anderson Keller et al. ICLR, 2024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330" y="5029200"/>
            <a:ext cx="3764280" cy="9569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5245" y="6109335"/>
            <a:ext cx="2678430" cy="438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212840" y="4592320"/>
            <a:ext cx="500570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altLang="zh-CN" sz="1600">
              <a:solidFill>
                <a:schemeClr val="tx1"/>
              </a:solidFill>
              <a:sym typeface="+mn-ea"/>
            </a:endParaRPr>
          </a:p>
          <a:p>
            <a:endParaRPr lang="en-US" altLang="zh-CN" sz="1600">
              <a:solidFill>
                <a:schemeClr val="tx1"/>
              </a:solidFill>
              <a:sym typeface="+mn-ea"/>
            </a:endParaRPr>
          </a:p>
          <a:p>
            <a:r>
              <a:rPr lang="en-US" altLang="zh-CN" sz="1600">
                <a:solidFill>
                  <a:schemeClr val="tx1"/>
                </a:solidFill>
                <a:sym typeface="+mn-ea"/>
              </a:rPr>
              <a:t>WaveRNN 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的矩阵形式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 Mamba S4 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等可以建立联系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8770" y="4086225"/>
            <a:ext cx="1744345" cy="5441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9642" y="2637925"/>
            <a:ext cx="10515600" cy="970396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latin typeface="Franklin Gothic Medium" panose="020B0603020102020204" charset="0"/>
              </a:rPr>
              <a:t>How to model </a:t>
            </a:r>
            <a:r>
              <a:rPr lang="en-US" altLang="zh-CN" dirty="0">
                <a:solidFill>
                  <a:srgbClr val="C00000"/>
                </a:solidFill>
                <a:latin typeface="Franklin Gothic Medium" panose="020B0603020102020204" charset="0"/>
              </a:rPr>
              <a:t>long spatial-temporal sequence </a:t>
            </a:r>
            <a:r>
              <a:rPr lang="en-US" altLang="zh-CN" dirty="0">
                <a:latin typeface="Franklin Gothic Medium" panose="020B0603020102020204" charset="0"/>
              </a:rPr>
              <a:t>efficiently is an open question</a:t>
            </a:r>
            <a:endParaRPr lang="zh-CN" altLang="en-US" dirty="0">
              <a:latin typeface="Franklin Gothic Medium" panose="020B0603020102020204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Limitations of Transformer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54517" y="1089613"/>
            <a:ext cx="3343311" cy="4708888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161562" y="2534173"/>
            <a:ext cx="5679828" cy="2370052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latin typeface="Franklin Gothic Medium" panose="020B0603020102020204" charset="0"/>
              </a:rPr>
              <a:t>Self-</a:t>
            </a:r>
            <a:r>
              <a:rPr lang="en-US" altLang="zh-CN" dirty="0">
                <a:latin typeface="Franklin Gothic Medium" panose="020B0603020102020204" charset="0"/>
              </a:rPr>
              <a:t>a</a:t>
            </a:r>
            <a:r>
              <a:rPr lang="zh-CN" altLang="zh-CN" dirty="0">
                <a:latin typeface="Franklin Gothic Medium" panose="020B0603020102020204" charset="0"/>
              </a:rPr>
              <a:t>ttention</a:t>
            </a:r>
            <a:r>
              <a:rPr lang="en-US" altLang="zh-CN" dirty="0">
                <a:latin typeface="Franklin Gothic Medium" panose="020B0603020102020204" charset="0"/>
              </a:rPr>
              <a:t>’</a:t>
            </a:r>
            <a:r>
              <a:rPr lang="zh-CN" altLang="zh-CN" dirty="0">
                <a:latin typeface="Franklin Gothic Medium" panose="020B0603020102020204" charset="0"/>
              </a:rPr>
              <a:t>s </a:t>
            </a:r>
            <a:r>
              <a:rPr lang="en-US" altLang="zh-CN" b="1" dirty="0">
                <a:latin typeface="Franklin Gothic Medium" panose="020B0603020102020204" charset="0"/>
              </a:rPr>
              <a:t>q</a:t>
            </a:r>
            <a:r>
              <a:rPr lang="zh-CN" altLang="zh-CN" b="1" dirty="0">
                <a:latin typeface="Franklin Gothic Medium" panose="020B0603020102020204" charset="0"/>
              </a:rPr>
              <a:t>uadratic </a:t>
            </a:r>
            <a:r>
              <a:rPr lang="en-US" altLang="zh-CN" b="1" dirty="0">
                <a:latin typeface="Franklin Gothic Medium" panose="020B0603020102020204" charset="0"/>
              </a:rPr>
              <a:t>c</a:t>
            </a:r>
            <a:r>
              <a:rPr lang="zh-CN" altLang="zh-CN" b="1" dirty="0">
                <a:latin typeface="Franklin Gothic Medium" panose="020B0603020102020204" charset="0"/>
              </a:rPr>
              <a:t>omplexity </a:t>
            </a:r>
            <a:r>
              <a:rPr lang="en-US" altLang="zh-CN" dirty="0">
                <a:latin typeface="Franklin Gothic Medium" panose="020B0603020102020204" charset="0"/>
              </a:rPr>
              <a:t>l</a:t>
            </a:r>
            <a:r>
              <a:rPr lang="zh-CN" altLang="zh-CN" dirty="0">
                <a:latin typeface="Franklin Gothic Medium" panose="020B0603020102020204" charset="0"/>
              </a:rPr>
              <a:t>imits </a:t>
            </a:r>
            <a:r>
              <a:rPr lang="en-US" altLang="zh-CN" dirty="0">
                <a:latin typeface="Franklin Gothic Medium" panose="020B0603020102020204" charset="0"/>
              </a:rPr>
              <a:t>l</a:t>
            </a:r>
            <a:r>
              <a:rPr lang="zh-CN" altLang="zh-CN" dirty="0">
                <a:latin typeface="Franklin Gothic Medium" panose="020B0603020102020204" charset="0"/>
              </a:rPr>
              <a:t>ong-</a:t>
            </a:r>
            <a:r>
              <a:rPr lang="en-US" altLang="zh-CN" dirty="0">
                <a:latin typeface="Franklin Gothic Medium" panose="020B0603020102020204" charset="0"/>
              </a:rPr>
              <a:t>s</a:t>
            </a:r>
            <a:r>
              <a:rPr lang="zh-CN" altLang="zh-CN" dirty="0">
                <a:latin typeface="Franklin Gothic Medium" panose="020B0603020102020204" charset="0"/>
              </a:rPr>
              <a:t>equence </a:t>
            </a:r>
            <a:r>
              <a:rPr lang="en-US" altLang="zh-CN" dirty="0">
                <a:latin typeface="Franklin Gothic Medium" panose="020B0603020102020204" charset="0"/>
              </a:rPr>
              <a:t>e</a:t>
            </a:r>
            <a:r>
              <a:rPr lang="zh-CN" altLang="zh-CN" dirty="0">
                <a:latin typeface="Franklin Gothic Medium" panose="020B0603020102020204" charset="0"/>
              </a:rPr>
              <a:t>fficiency</a:t>
            </a:r>
            <a:endParaRPr lang="en-US" altLang="zh-CN" dirty="0">
              <a:latin typeface="Franklin Gothic Medium" panose="020B060302010202020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Franklin Gothic Medium" panose="020B060302010202020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latin typeface="Franklin Gothic Medium" panose="020B0603020102020204" charset="0"/>
              </a:rPr>
              <a:t>Lack of </a:t>
            </a:r>
            <a:r>
              <a:rPr lang="en-US" altLang="zh-CN" b="1" dirty="0">
                <a:latin typeface="Franklin Gothic Medium" panose="020B0603020102020204" charset="0"/>
              </a:rPr>
              <a:t>s</a:t>
            </a:r>
            <a:r>
              <a:rPr lang="zh-CN" altLang="zh-CN" b="1" dirty="0">
                <a:latin typeface="Franklin Gothic Medium" panose="020B0603020102020204" charset="0"/>
              </a:rPr>
              <a:t>patial </a:t>
            </a:r>
            <a:r>
              <a:rPr lang="en-US" altLang="zh-CN" b="1" dirty="0">
                <a:latin typeface="Franklin Gothic Medium" panose="020B0603020102020204" charset="0"/>
              </a:rPr>
              <a:t>i</a:t>
            </a:r>
            <a:r>
              <a:rPr lang="zh-CN" altLang="zh-CN" b="1" dirty="0">
                <a:latin typeface="Franklin Gothic Medium" panose="020B0603020102020204" charset="0"/>
              </a:rPr>
              <a:t>nductive </a:t>
            </a:r>
            <a:r>
              <a:rPr lang="en-US" altLang="zh-CN" b="1" dirty="0">
                <a:latin typeface="Franklin Gothic Medium" panose="020B0603020102020204" charset="0"/>
              </a:rPr>
              <a:t>b</a:t>
            </a:r>
            <a:r>
              <a:rPr lang="zh-CN" altLang="zh-CN" b="1" dirty="0">
                <a:latin typeface="Franklin Gothic Medium" panose="020B0603020102020204" charset="0"/>
              </a:rPr>
              <a:t>ias </a:t>
            </a:r>
            <a:r>
              <a:rPr lang="en-US" altLang="zh-CN" dirty="0">
                <a:latin typeface="Franklin Gothic Medium" panose="020B0603020102020204" charset="0"/>
              </a:rPr>
              <a:t>h</a:t>
            </a:r>
            <a:r>
              <a:rPr lang="zh-CN" altLang="zh-CN" dirty="0">
                <a:latin typeface="Franklin Gothic Medium" panose="020B0603020102020204" charset="0"/>
              </a:rPr>
              <a:t>inders </a:t>
            </a:r>
            <a:r>
              <a:rPr lang="en-US" altLang="zh-CN" dirty="0">
                <a:latin typeface="Franklin Gothic Medium" panose="020B0603020102020204" charset="0"/>
              </a:rPr>
              <a:t>spatial</a:t>
            </a:r>
            <a:r>
              <a:rPr lang="zh-CN" altLang="zh-CN" dirty="0">
                <a:latin typeface="Franklin Gothic Medium" panose="020B0603020102020204" charset="0"/>
              </a:rPr>
              <a:t> </a:t>
            </a:r>
            <a:r>
              <a:rPr lang="en-US" altLang="zh-CN" dirty="0">
                <a:latin typeface="Franklin Gothic Medium" panose="020B0603020102020204" charset="0"/>
              </a:rPr>
              <a:t>intelligence</a:t>
            </a:r>
            <a:endParaRPr lang="zh-CN" altLang="zh-CN" dirty="0">
              <a:latin typeface="Franklin Gothic Medium" panose="020B060302010202020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Franklin Gothic Medium" panose="020B0603020102020204" charset="0"/>
            </a:endParaRPr>
          </a:p>
          <a:p>
            <a:endParaRPr lang="en-US" altLang="zh-CN" dirty="0">
              <a:latin typeface="Franklin Gothic Medium" panose="020B0603020102020204" charset="0"/>
            </a:endParaRPr>
          </a:p>
          <a:p>
            <a:endParaRPr lang="en-US" altLang="zh-CN" dirty="0">
              <a:latin typeface="Franklin Gothic Medium" panose="020B0603020102020204" charset="0"/>
            </a:endParaRPr>
          </a:p>
          <a:p>
            <a:endParaRPr lang="en-US" altLang="zh-CN" dirty="0">
              <a:latin typeface="Franklin Gothic Medium" panose="020B060302010202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03408" y="6008659"/>
            <a:ext cx="114173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 err="1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微软雅黑" panose="020B0503020204020204" charset="-122"/>
              </a:rPr>
              <a:t>NeurIPS</a:t>
            </a:r>
            <a:r>
              <a:rPr kumimoji="1" lang="en-US" altLang="zh-CN" sz="1200" b="1" dirty="0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kumimoji="1" lang="zh-CN" altLang="en-US" sz="1200" b="1" dirty="0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1200" b="1" dirty="0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  <a:cs typeface="微软雅黑" panose="020B0503020204020204" charset="-122"/>
              </a:rPr>
              <a:t>2017</a:t>
            </a:r>
            <a:endParaRPr kumimoji="1" lang="zh-CN" altLang="en-US" sz="1200" b="1" dirty="0">
              <a:solidFill>
                <a:schemeClr val="bg1">
                  <a:lumMod val="50000"/>
                </a:schemeClr>
              </a:solidFill>
              <a:latin typeface="Franklin Gothic Medium" panose="020B06030201020202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1. </a:t>
            </a:r>
            <a:r>
              <a:rPr lang="zh-CN" altLang="zh-CN" dirty="0">
                <a:latin typeface="Franklin Gothic Medium" panose="020B0603020102020204" charset="0"/>
              </a:rPr>
              <a:t>Self-</a:t>
            </a:r>
            <a:r>
              <a:rPr lang="en-US" altLang="zh-CN" dirty="0">
                <a:latin typeface="Franklin Gothic Medium" panose="020B0603020102020204" charset="0"/>
              </a:rPr>
              <a:t>a</a:t>
            </a:r>
            <a:r>
              <a:rPr lang="zh-CN" altLang="zh-CN" dirty="0">
                <a:latin typeface="Franklin Gothic Medium" panose="020B0603020102020204" charset="0"/>
              </a:rPr>
              <a:t>ttention</a:t>
            </a:r>
            <a:r>
              <a:rPr lang="en-US" altLang="zh-CN" dirty="0">
                <a:latin typeface="Franklin Gothic Medium" panose="020B0603020102020204" charset="0"/>
              </a:rPr>
              <a:t>’</a:t>
            </a:r>
            <a:r>
              <a:rPr lang="zh-CN" altLang="zh-CN" dirty="0">
                <a:latin typeface="Franklin Gothic Medium" panose="020B0603020102020204" charset="0"/>
              </a:rPr>
              <a:t>s </a:t>
            </a:r>
            <a:r>
              <a:rPr lang="en-US" altLang="zh-CN" dirty="0">
                <a:latin typeface="Franklin Gothic Medium" panose="020B0603020102020204" charset="0"/>
              </a:rPr>
              <a:t>q</a:t>
            </a:r>
            <a:r>
              <a:rPr lang="zh-CN" altLang="zh-CN" dirty="0">
                <a:latin typeface="Franklin Gothic Medium" panose="020B0603020102020204" charset="0"/>
              </a:rPr>
              <a:t>uadratic </a:t>
            </a:r>
            <a:r>
              <a:rPr lang="en-US" altLang="zh-CN" dirty="0">
                <a:latin typeface="Franklin Gothic Medium" panose="020B0603020102020204" charset="0"/>
              </a:rPr>
              <a:t>c</a:t>
            </a:r>
            <a:r>
              <a:rPr lang="zh-CN" altLang="zh-CN" dirty="0">
                <a:latin typeface="Franklin Gothic Medium" panose="020B0603020102020204" charset="0"/>
              </a:rPr>
              <a:t>omplexity</a:t>
            </a:r>
            <a:endParaRPr lang="zh-CN" altLang="en-US" dirty="0">
              <a:latin typeface="Franklin Gothic Medium" panose="020B060302010202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9638" y="2929268"/>
            <a:ext cx="10515600" cy="3247693"/>
          </a:xfrm>
        </p:spPr>
        <p:txBody>
          <a:bodyPr/>
          <a:lstStyle/>
          <a:p>
            <a:endParaRPr lang="en-US" altLang="zh-CN" dirty="0">
              <a:latin typeface="Franklin Gothic Medium" panose="020B0603020102020204" charset="0"/>
            </a:endParaRPr>
          </a:p>
          <a:p>
            <a:endParaRPr lang="en-US" altLang="zh-CN" dirty="0">
              <a:latin typeface="Franklin Gothic Medium" panose="020B0603020102020204" charset="0"/>
            </a:endParaRPr>
          </a:p>
          <a:p>
            <a:endParaRPr lang="en-US" altLang="zh-CN" dirty="0">
              <a:latin typeface="Franklin Gothic Medium" panose="020B0603020102020204" charset="0"/>
            </a:endParaRPr>
          </a:p>
          <a:p>
            <a:endParaRPr lang="en-US" altLang="zh-CN" dirty="0">
              <a:latin typeface="Franklin Gothic Medium" panose="020B0603020102020204" charset="0"/>
            </a:endParaRPr>
          </a:p>
          <a:p>
            <a:pPr marL="0" indent="0">
              <a:buNone/>
            </a:pPr>
            <a:endParaRPr lang="en-US" altLang="zh-CN" dirty="0">
              <a:latin typeface="Franklin Gothic Medium" panose="020B0603020102020204" charset="0"/>
            </a:endParaRPr>
          </a:p>
          <a:p>
            <a:r>
              <a:rPr lang="en-US" altLang="zh-CN" dirty="0">
                <a:latin typeface="Franklin Gothic Medium" panose="020B0603020102020204" charset="0"/>
              </a:rPr>
              <a:t>High training and inference cost </a:t>
            </a:r>
          </a:p>
          <a:p>
            <a:r>
              <a:rPr lang="en-US" altLang="zh-CN" dirty="0">
                <a:latin typeface="Franklin Gothic Medium" panose="020B0603020102020204" charset="0"/>
              </a:rPr>
              <a:t>Context window length is bounded</a:t>
            </a:r>
          </a:p>
          <a:p>
            <a:endParaRPr lang="zh-CN" altLang="en-US" dirty="0">
              <a:latin typeface="Franklin Gothic Medium" panose="020B060302010202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03" y="1788096"/>
            <a:ext cx="4441515" cy="22823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435" y="2609819"/>
            <a:ext cx="5558072" cy="995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6421507" y="4281320"/>
                <a:ext cx="36910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</a:rPr>
                      <m:t>𝐾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𝑉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𝑇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, complexity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𝑇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)</m:t>
                    </m:r>
                  </m:oMath>
                </a14:m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507" y="4281320"/>
                <a:ext cx="3691075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0" t="-41" r="6" b="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3645" y="5290739"/>
            <a:ext cx="10515600" cy="689056"/>
          </a:xfrm>
        </p:spPr>
        <p:txBody>
          <a:bodyPr>
            <a:normAutofit/>
          </a:bodyPr>
          <a:lstStyle/>
          <a:p>
            <a:pPr algn="ctr"/>
            <a:r>
              <a:rPr lang="zh-CN" altLang="en-US" sz="1800" dirty="0">
                <a:latin typeface="Franklin Gothic Medium" panose="020B0603020102020204" charset="0"/>
              </a:rPr>
              <a:t>最先进的多模态大模型在空间智能水平远远落后人类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445" y="1506220"/>
            <a:ext cx="3594735" cy="366077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105" y="1461770"/>
            <a:ext cx="3684270" cy="36614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847965" y="5935980"/>
            <a:ext cx="29679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</a:rPr>
              <a:t>Jihan Yang</a:t>
            </a:r>
            <a:r>
              <a:rPr lang="en-US" altLang="zh-CN" sz="1400" b="1">
                <a:solidFill>
                  <a:schemeClr val="bg1">
                    <a:lumMod val="50000"/>
                  </a:schemeClr>
                </a:solidFill>
                <a:latin typeface="Franklin Gothic Medium" panose="020B0603020102020204" charset="0"/>
                <a:ea typeface="微软雅黑" panose="020B0503020204020204" charset="-122"/>
              </a:rPr>
              <a:t> et al.,2024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24747" y="219018"/>
            <a:ext cx="5161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</a:rPr>
              <a:t>2. </a:t>
            </a:r>
            <a:r>
              <a:rPr lang="zh-CN" altLang="zh-CN" sz="2800" dirty="0">
                <a:latin typeface="Arial" panose="020B0604020202020204" pitchFamily="34" charset="0"/>
              </a:rPr>
              <a:t>Lack of </a:t>
            </a:r>
            <a:r>
              <a:rPr lang="en-US" altLang="zh-CN" sz="2800" dirty="0">
                <a:latin typeface="Arial" panose="020B0604020202020204" pitchFamily="34" charset="0"/>
              </a:rPr>
              <a:t>s</a:t>
            </a:r>
            <a:r>
              <a:rPr lang="zh-CN" altLang="zh-CN" sz="2800" dirty="0">
                <a:latin typeface="Arial" panose="020B0604020202020204" pitchFamily="34" charset="0"/>
              </a:rPr>
              <a:t>patial </a:t>
            </a:r>
            <a:r>
              <a:rPr lang="en-US" altLang="zh-CN" sz="2800" dirty="0" err="1">
                <a:latin typeface="Arial" panose="020B0604020202020204" pitchFamily="34" charset="0"/>
              </a:rPr>
              <a:t>i</a:t>
            </a:r>
            <a:r>
              <a:rPr lang="zh-CN" altLang="zh-CN" sz="2800" dirty="0">
                <a:latin typeface="Arial" panose="020B0604020202020204" pitchFamily="34" charset="0"/>
              </a:rPr>
              <a:t>nductive </a:t>
            </a:r>
            <a:r>
              <a:rPr lang="en-US" altLang="zh-CN" sz="2800" dirty="0">
                <a:latin typeface="Arial" panose="020B0604020202020204" pitchFamily="34" charset="0"/>
              </a:rPr>
              <a:t>b</a:t>
            </a:r>
            <a:r>
              <a:rPr lang="zh-CN" altLang="zh-CN" sz="2800" dirty="0">
                <a:latin typeface="Arial" panose="020B0604020202020204" pitchFamily="34" charset="0"/>
              </a:rPr>
              <a:t>ias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One Solution: Memory compression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10200" y="1188650"/>
            <a:ext cx="5941827" cy="4972364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latin typeface="Franklin Gothic Medium" panose="020B0603020102020204" charset="0"/>
              </a:rPr>
              <a:t>Compress information in finite-sized memory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586" y="2329116"/>
            <a:ext cx="3237703" cy="305484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38200" y="1290257"/>
            <a:ext cx="39659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  <a:cs typeface="Arial" panose="020B0604020202020204" pitchFamily="34" charset="0"/>
              </a:rPr>
              <a:t>Key-value pairs are precisely stored, like a database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978" y="4697186"/>
            <a:ext cx="1693117" cy="151222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6707566" y="3127828"/>
            <a:ext cx="1161485" cy="10940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Matrix</a:t>
            </a:r>
          </a:p>
        </p:txBody>
      </p:sp>
      <p:sp>
        <p:nvSpPr>
          <p:cNvPr id="13" name="矩形 12"/>
          <p:cNvSpPr/>
          <p:nvPr/>
        </p:nvSpPr>
        <p:spPr>
          <a:xfrm>
            <a:off x="6707566" y="2131828"/>
            <a:ext cx="1161485" cy="25387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Vector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900087" y="2088441"/>
            <a:ext cx="6267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RNN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452757" y="3357563"/>
            <a:ext cx="388205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Mamba</a:t>
            </a:r>
            <a:r>
              <a:rPr lang="zh-CN" altLang="en-US" dirty="0">
                <a:latin typeface="Franklin Gothic Medium" panose="020B0603020102020204" charset="0"/>
                <a:ea typeface="微软雅黑" panose="020B0503020204020204" charset="-122"/>
              </a:rPr>
              <a:t>，</a:t>
            </a:r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Linear Transformer,</a:t>
            </a:r>
            <a:r>
              <a:rPr lang="zh-CN" altLang="en-US" dirty="0">
                <a:latin typeface="Franklin Gothic Medium" panose="020B0603020102020204" charset="0"/>
                <a:ea typeface="微软雅黑" panose="020B0503020204020204" charset="-122"/>
              </a:rPr>
              <a:t> </a:t>
            </a:r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Gated</a:t>
            </a:r>
            <a:r>
              <a:rPr lang="zh-CN" altLang="en-US" dirty="0">
                <a:latin typeface="Franklin Gothic Medium" panose="020B0603020102020204" charset="0"/>
                <a:ea typeface="微软雅黑" panose="020B0503020204020204" charset="-122"/>
              </a:rPr>
              <a:t> </a:t>
            </a:r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Delta</a:t>
            </a:r>
            <a:r>
              <a:rPr lang="zh-CN" altLang="en-US" dirty="0">
                <a:latin typeface="Franklin Gothic Medium" panose="020B0603020102020204" charset="0"/>
                <a:ea typeface="微软雅黑" panose="020B0503020204020204" charset="-122"/>
              </a:rPr>
              <a:t> </a:t>
            </a:r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Network</a:t>
            </a:r>
            <a:endParaRPr lang="zh-CN" altLang="en-US" dirty="0">
              <a:latin typeface="Franklin Gothic Medium" panose="020B0603020102020204" charset="0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31729" y="5060793"/>
            <a:ext cx="3403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Titans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8665028" y="2538336"/>
                <a:ext cx="27512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)+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𝑖𝑛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5028" y="2538336"/>
                <a:ext cx="2751201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6" t="-65" r="7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 Tians</a:t>
            </a:r>
            <a:r>
              <a:rPr lang="zh-CN" altLang="en-US" dirty="0">
                <a:latin typeface="Franklin Gothic Medium" panose="020B0603020102020204" charset="0"/>
              </a:rPr>
              <a:t>：</a:t>
            </a:r>
            <a:r>
              <a:rPr lang="en-US" altLang="zh-CN" dirty="0">
                <a:latin typeface="Franklin Gothic Medium" panose="020B0603020102020204" charset="0"/>
              </a:rPr>
              <a:t>learning to memorize at test time (1)</a:t>
            </a:r>
            <a:endParaRPr lang="zh-CN" altLang="en-US" dirty="0">
              <a:latin typeface="Franklin Gothic Medium" panose="020B060302010202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56632" y="4564585"/>
            <a:ext cx="8579574" cy="1522830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latin typeface="Franklin Gothic Medium" panose="020B0603020102020204" charset="0"/>
              </a:rPr>
              <a:t>Memory can be a vector, a matrix, and even a neural network</a:t>
            </a:r>
          </a:p>
          <a:p>
            <a:r>
              <a:rPr lang="en-US" altLang="zh-CN" sz="2000" dirty="0">
                <a:latin typeface="Franklin Gothic Medium" panose="020B0603020102020204" charset="0"/>
              </a:rPr>
              <a:t>Titans use a hierarchical MLP as fast weight memory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103212" y="6312894"/>
            <a:ext cx="15432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Ali Behrouz,</a:t>
            </a:r>
            <a:r>
              <a:rPr kumimoji="1"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813310" y="1532000"/>
            <a:ext cx="7236841" cy="2530784"/>
            <a:chOff x="3004951" y="1734591"/>
            <a:chExt cx="7236841" cy="253078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08282" y="1734591"/>
              <a:ext cx="2833510" cy="2530784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3004951" y="2348961"/>
              <a:ext cx="1616757" cy="15228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ranklin Gothic Medium" panose="020B0603020102020204" charset="0"/>
                  <a:ea typeface="微软雅黑" panose="020B0503020204020204" charset="-122"/>
                </a:rPr>
                <a:t>Matrix</a:t>
              </a:r>
            </a:p>
          </p:txBody>
        </p:sp>
        <p:cxnSp>
          <p:nvCxnSpPr>
            <p:cNvPr id="7" name="直接箭头连接符 6"/>
            <p:cNvCxnSpPr/>
            <p:nvPr/>
          </p:nvCxnSpPr>
          <p:spPr>
            <a:xfrm>
              <a:off x="5590434" y="3027923"/>
              <a:ext cx="1401715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/>
          <p:cNvSpPr txBox="1"/>
          <p:nvPr/>
        </p:nvSpPr>
        <p:spPr>
          <a:xfrm>
            <a:off x="2672922" y="1122357"/>
            <a:ext cx="186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A Hebbian Matrix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739194" y="1122357"/>
            <a:ext cx="18967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A Neural Network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 Tians</a:t>
            </a:r>
            <a:r>
              <a:rPr lang="zh-CN" altLang="en-US" dirty="0">
                <a:latin typeface="Franklin Gothic Medium" panose="020B0603020102020204" charset="0"/>
              </a:rPr>
              <a:t>：</a:t>
            </a:r>
            <a:r>
              <a:rPr lang="en-US" altLang="zh-CN" dirty="0">
                <a:latin typeface="Franklin Gothic Medium" panose="020B0603020102020204" charset="0"/>
              </a:rPr>
              <a:t>learning to memorize at test time (2)</a:t>
            </a:r>
            <a:endParaRPr lang="zh-CN" altLang="en-US" dirty="0">
              <a:latin typeface="Franklin Gothic Medium" panose="020B060302010202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196" y="5245480"/>
            <a:ext cx="11142259" cy="1522830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latin typeface="Franklin Gothic Medium" panose="020B0603020102020204" charset="0"/>
              </a:rPr>
              <a:t>Instead Hebbian rule, the fast weights can be updated via SGD with momentum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103212" y="6312894"/>
            <a:ext cx="15432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Ali Behrouz,</a:t>
            </a:r>
            <a:r>
              <a:rPr kumimoji="1"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813310" y="1532000"/>
            <a:ext cx="7236841" cy="2530784"/>
            <a:chOff x="3004951" y="1734591"/>
            <a:chExt cx="7236841" cy="253078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08282" y="1734591"/>
              <a:ext cx="2833510" cy="2530784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3004951" y="2348961"/>
              <a:ext cx="1616757" cy="15228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Franklin Gothic Medium" panose="020B0603020102020204" charset="0"/>
                  <a:ea typeface="微软雅黑" panose="020B0503020204020204" charset="-122"/>
                </a:rPr>
                <a:t>Matrix</a:t>
              </a:r>
            </a:p>
          </p:txBody>
        </p:sp>
        <p:cxnSp>
          <p:nvCxnSpPr>
            <p:cNvPr id="7" name="直接箭头连接符 6"/>
            <p:cNvCxnSpPr/>
            <p:nvPr/>
          </p:nvCxnSpPr>
          <p:spPr>
            <a:xfrm>
              <a:off x="5590434" y="3027923"/>
              <a:ext cx="1401715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/>
          <p:cNvSpPr txBox="1"/>
          <p:nvPr/>
        </p:nvSpPr>
        <p:spPr>
          <a:xfrm>
            <a:off x="2672922" y="1122357"/>
            <a:ext cx="186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A Hebbian Matrix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739194" y="1122357"/>
            <a:ext cx="18967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A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2288086" y="3991603"/>
                <a:ext cx="3116815" cy="3730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𝑜𝑏𝑗𝑒𝑐𝑡𝑖𝑣𝑒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: 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𝐿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=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0" i="1" smtClean="0">
                                  <a:latin typeface="Cambria Math" panose="0204050305040603020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086" y="3991603"/>
                <a:ext cx="3116815" cy="373051"/>
              </a:xfrm>
              <a:prstGeom prst="rect">
                <a:avLst/>
              </a:prstGeom>
              <a:blipFill rotWithShape="1">
                <a:blip r:embed="rId4"/>
                <a:stretch>
                  <a:fillRect l="-6" t="-168" r="13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031349" y="4467607"/>
                <a:ext cx="3486595" cy="3712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𝑢𝑝𝑑𝑎𝑡𝑒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𝑟𝑢𝑙𝑒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: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349" y="4467607"/>
                <a:ext cx="3486595" cy="371255"/>
              </a:xfrm>
              <a:prstGeom prst="rect">
                <a:avLst/>
              </a:prstGeom>
              <a:blipFill rotWithShape="1">
                <a:blip r:embed="rId5"/>
                <a:stretch>
                  <a:fillRect l="-18" t="-103" r="12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7057245" y="4001969"/>
                <a:ext cx="3116815" cy="3730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𝑜𝑏𝑗𝑒𝑐𝑡𝑖𝑣𝑒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: 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𝐿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=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0" i="1" smtClean="0">
                                  <a:latin typeface="Cambria Math" panose="0204050305040603020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245" y="4001969"/>
                <a:ext cx="3116815" cy="373051"/>
              </a:xfrm>
              <a:prstGeom prst="rect">
                <a:avLst/>
              </a:prstGeom>
              <a:blipFill rotWithShape="1">
                <a:blip r:embed="rId4"/>
                <a:stretch>
                  <a:fillRect l="-16" t="-53" r="3" b="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6800508" y="4477973"/>
                <a:ext cx="3719416" cy="6658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𝑢𝑝𝑑𝑎𝑡𝑒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𝑟𝑢𝑙𝑒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: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𝜃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508" y="4477973"/>
                <a:ext cx="3719416" cy="665823"/>
              </a:xfrm>
              <a:prstGeom prst="rect">
                <a:avLst/>
              </a:prstGeom>
              <a:blipFill rotWithShape="1">
                <a:blip r:embed="rId6"/>
                <a:stretch>
                  <a:fillRect l="-8" t="-88" r="14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New sequence models in Machine Learning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233" y="1041557"/>
            <a:ext cx="8638954" cy="4774885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Memorizing long sequence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849" y="1575174"/>
            <a:ext cx="9539177" cy="370765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734646" y="5746898"/>
            <a:ext cx="1501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Titans, 2024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01529" y="5567272"/>
            <a:ext cx="6095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LinLibertineT"/>
              </a:rPr>
              <a:t>BABILong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LinLibertineT"/>
              </a:rPr>
              <a:t> benchmark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Long sequence modeling is not simply memorization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Franklin Gothic Medium" panose="020B0603020102020204" charset="0"/>
              </a:rPr>
              <a:t>Spatial-temporal sequences have internal structure</a:t>
            </a:r>
          </a:p>
          <a:p>
            <a:endParaRPr lang="en-US" altLang="zh-CN" dirty="0">
              <a:latin typeface="Franklin Gothic Medium" panose="020B0603020102020204" charset="0"/>
            </a:endParaRPr>
          </a:p>
          <a:p>
            <a:r>
              <a:rPr lang="en-US" altLang="zh-CN" dirty="0">
                <a:latin typeface="Franklin Gothic Medium" panose="020B0603020102020204" charset="0"/>
              </a:rPr>
              <a:t>However, current new architectures only emphasize large memory capacity, not structure learning</a:t>
            </a:r>
          </a:p>
          <a:p>
            <a:pPr marL="0" indent="0">
              <a:buNone/>
            </a:pPr>
            <a:endParaRPr lang="en-US" altLang="zh-CN" dirty="0">
              <a:latin typeface="Franklin Gothic Medium" panose="020B0603020102020204" charset="0"/>
            </a:endParaRPr>
          </a:p>
          <a:p>
            <a:r>
              <a:rPr lang="en-US" altLang="zh-CN" dirty="0">
                <a:latin typeface="Franklin Gothic Medium" panose="020B0603020102020204" charset="0"/>
              </a:rPr>
              <a:t>We need to incorporate spatial priors into sequence model, enabling to preform structure-based memory organization and inference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Hippocampus: a structured memory system 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047817"/>
            <a:ext cx="10515600" cy="4129145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Franklin Gothic Medium" panose="020B0603020102020204" charset="0"/>
              </a:rPr>
              <a:t>Hippocampus functions:</a:t>
            </a:r>
          </a:p>
          <a:p>
            <a:r>
              <a:rPr kumimoji="1" lang="en-US" altLang="zh-CN" dirty="0">
                <a:latin typeface="Franklin Gothic Medium" panose="020B0603020102020204" charset="0"/>
              </a:rPr>
              <a:t>Spatial memory</a:t>
            </a:r>
          </a:p>
          <a:p>
            <a:r>
              <a:rPr kumimoji="1" lang="en-US" altLang="zh-CN" dirty="0">
                <a:latin typeface="Franklin Gothic Medium" panose="020B0603020102020204" charset="0"/>
              </a:rPr>
              <a:t>Episodic memory</a:t>
            </a:r>
          </a:p>
          <a:p>
            <a:r>
              <a:rPr kumimoji="1" lang="en-US" altLang="zh-CN" dirty="0">
                <a:latin typeface="Franklin Gothic Medium" panose="020B0603020102020204" charset="0"/>
              </a:rPr>
              <a:t>…</a:t>
            </a:r>
          </a:p>
          <a:p>
            <a:endParaRPr lang="en-US" altLang="zh-CN" dirty="0">
              <a:latin typeface="Franklin Gothic Medium" panose="020B0603020102020204" charset="0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1585451" y="1835457"/>
            <a:ext cx="64597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CN" sz="1800" dirty="0"/>
          </a:p>
          <a:p>
            <a:endParaRPr kumimoji="1" lang="en-US" altLang="zh-CN" sz="1800" dirty="0"/>
          </a:p>
          <a:p>
            <a:endParaRPr kumimoji="1" lang="en-US" altLang="zh-CN" sz="1800" dirty="0"/>
          </a:p>
          <a:p>
            <a:endParaRPr kumimoji="1" lang="en-US" altLang="zh-CN" sz="1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934" y="1704129"/>
            <a:ext cx="5337652" cy="403797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154" y="3928729"/>
            <a:ext cx="2396792" cy="196551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364965" y="6029823"/>
            <a:ext cx="24638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TEM, Vector-</a:t>
            </a:r>
            <a:r>
              <a:rPr lang="en-US" altLang="zh-CN" dirty="0" err="1">
                <a:latin typeface="Franklin Gothic Medium" panose="020B0603020102020204" charset="0"/>
                <a:ea typeface="微软雅黑" panose="020B0503020204020204" charset="-122"/>
              </a:rPr>
              <a:t>HaSH</a:t>
            </a:r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 et al.</a:t>
            </a:r>
            <a:endParaRPr lang="zh-CN" altLang="en-US" dirty="0">
              <a:latin typeface="Franklin Gothic Medium" panose="020B060302010202020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7819"/>
          </a:xfrm>
        </p:spPr>
        <p:txBody>
          <a:bodyPr>
            <a:normAutofit/>
          </a:bodyPr>
          <a:lstStyle/>
          <a:p>
            <a:pPr algn="ctr"/>
            <a:r>
              <a:rPr lang="en-US" altLang="zh-CN" sz="2800" dirty="0">
                <a:latin typeface="Franklin Gothic Medium" panose="020B0603020102020204" charset="0"/>
                <a:cs typeface="Arial" panose="020B0604020202020204" pitchFamily="34" charset="0"/>
              </a:rPr>
              <a:t>Key characteristics of EC-HC system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5763" y="1947422"/>
            <a:ext cx="4822947" cy="3835795"/>
          </a:xfrm>
        </p:spPr>
      </p:pic>
      <p:sp>
        <p:nvSpPr>
          <p:cNvPr id="6" name="矩形 5"/>
          <p:cNvSpPr/>
          <p:nvPr/>
        </p:nvSpPr>
        <p:spPr>
          <a:xfrm>
            <a:off x="553616" y="1803918"/>
            <a:ext cx="640702" cy="4665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35493" y="6058677"/>
            <a:ext cx="369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Timothy E.J.</a:t>
            </a: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Behrens</a:t>
            </a: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</a:t>
            </a: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al.,</a:t>
            </a: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Neuron, 2018</a:t>
            </a:r>
            <a:endParaRPr lang="zh-CN" altLang="en-US" sz="14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05749" y="1271853"/>
            <a:ext cx="36195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Franklin Gothic Medium" panose="020B0603020102020204" charset="0"/>
                <a:ea typeface="微软雅黑" panose="020B0503020204020204" charset="-122"/>
              </a:rPr>
              <a:t>Disentangled representation</a:t>
            </a:r>
          </a:p>
        </p:txBody>
      </p:sp>
      <p:pic>
        <p:nvPicPr>
          <p:cNvPr id="4" name="内容占位符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217" y="3651462"/>
            <a:ext cx="3118510" cy="19652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782859" y="6075108"/>
            <a:ext cx="42097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Richard J. Gardner et al., Nature, 2022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67438" y="1241278"/>
            <a:ext cx="52978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Franklin Gothic Medium" panose="020B0603020102020204" charset="0"/>
                <a:ea typeface="微软雅黑" panose="020B0503020204020204" charset="-122"/>
              </a:rPr>
              <a:t>Path integration via torus attractor manifold</a:t>
            </a:r>
          </a:p>
        </p:txBody>
      </p:sp>
      <p:pic>
        <p:nvPicPr>
          <p:cNvPr id="12" name="Picture 2" descr="grid cell movie on Make 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8183" y="1728090"/>
            <a:ext cx="2332278" cy="183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The Eichenbaum-Tolman Machine(TEM)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924381" y="6283170"/>
            <a:ext cx="35750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James C.R. Whittington et</a:t>
            </a: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al., Cell, 2020</a:t>
            </a:r>
            <a:endParaRPr lang="zh-CN" altLang="en-US" sz="14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453" y="1281431"/>
            <a:ext cx="3265725" cy="4706486"/>
          </a:xfrm>
          <a:prstGeom prst="rect">
            <a:avLst/>
          </a:prstGeom>
        </p:spPr>
      </p:pic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5584958" y="1217259"/>
            <a:ext cx="6607042" cy="4959704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rgbClr val="C00000"/>
                </a:solidFill>
                <a:latin typeface="Franklin Gothic Medium" panose="020B0603020102020204" charset="0"/>
              </a:rPr>
              <a:t>Factorized</a:t>
            </a:r>
            <a:r>
              <a:rPr kumimoji="1" lang="zh-CN" altLang="en-US" dirty="0">
                <a:solidFill>
                  <a:srgbClr val="C00000"/>
                </a:solidFill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latin typeface="Franklin Gothic Medium" panose="020B0603020102020204" charset="0"/>
              </a:rPr>
              <a:t>representation</a:t>
            </a:r>
            <a:r>
              <a:rPr kumimoji="1" lang="zh-CN" altLang="en-US" dirty="0">
                <a:latin typeface="Franklin Gothic Medium" panose="020B0603020102020204" charset="0"/>
              </a:rPr>
              <a:t>，</a:t>
            </a:r>
            <a:r>
              <a:rPr kumimoji="1" lang="en-US" altLang="zh-CN" dirty="0">
                <a:latin typeface="Franklin Gothic Medium" panose="020B0603020102020204" charset="0"/>
              </a:rPr>
              <a:t>structure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and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content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rgbClr val="C00000"/>
                </a:solidFill>
                <a:latin typeface="Franklin Gothic Medium" panose="020B0603020102020204" charset="0"/>
              </a:rPr>
              <a:t>Hippocampus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: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 Recurrent network + fast Hebbian learning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for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relational memory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rgbClr val="C00000"/>
                </a:solidFill>
                <a:latin typeface="Franklin Gothic Medium" panose="020B0603020102020204" charset="0"/>
              </a:rPr>
              <a:t>Entorhinal</a:t>
            </a:r>
            <a:r>
              <a:rPr kumimoji="1" lang="zh-CN" altLang="en-US" dirty="0">
                <a:solidFill>
                  <a:srgbClr val="C00000"/>
                </a:solidFill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latin typeface="Franklin Gothic Medium" panose="020B0603020102020204" charset="0"/>
              </a:rPr>
              <a:t>Cortex</a:t>
            </a:r>
            <a:r>
              <a:rPr kumimoji="1" lang="zh-CN" altLang="en-US" dirty="0">
                <a:solidFill>
                  <a:srgbClr val="C00000"/>
                </a:solidFill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: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Recurrent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network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for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path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integration</a:t>
            </a:r>
            <a:r>
              <a:rPr kumimoji="1" lang="zh-CN" altLang="en-US" dirty="0">
                <a:latin typeface="Franklin Gothic Medium" panose="020B0603020102020204" charset="0"/>
              </a:rPr>
              <a:t>， </a:t>
            </a:r>
            <a:r>
              <a:rPr kumimoji="1" lang="en-US" altLang="zh-CN" dirty="0">
                <a:latin typeface="Franklin Gothic Medium" panose="020B0603020102020204" charset="0"/>
              </a:rPr>
              <a:t>such as 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Franklin Gothic Medium" panose="020B0603020102020204" charset="0"/>
              </a:rPr>
              <a:t>East</a:t>
            </a:r>
            <a:r>
              <a:rPr lang="zh-CN" altLang="en-US" dirty="0">
                <a:solidFill>
                  <a:srgbClr val="00B050"/>
                </a:solidFill>
                <a:latin typeface="Franklin Gothic Medium" panose="020B0603020102020204" charset="0"/>
              </a:rPr>
              <a:t>+ </a:t>
            </a:r>
            <a:r>
              <a:rPr lang="en-US" altLang="zh-CN" dirty="0">
                <a:solidFill>
                  <a:srgbClr val="00B050"/>
                </a:solidFill>
                <a:latin typeface="Franklin Gothic Medium" panose="020B0603020102020204" charset="0"/>
              </a:rPr>
              <a:t>North</a:t>
            </a:r>
            <a:r>
              <a:rPr lang="zh-CN" altLang="en-US" dirty="0">
                <a:solidFill>
                  <a:srgbClr val="00B050"/>
                </a:solidFill>
                <a:latin typeface="Franklin Gothic Medium" panose="020B0603020102020204" charset="0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Franklin Gothic Medium" panose="020B0603020102020204" charset="0"/>
              </a:rPr>
              <a:t>+</a:t>
            </a:r>
            <a:r>
              <a:rPr lang="zh-CN" altLang="en-US" dirty="0">
                <a:solidFill>
                  <a:srgbClr val="00B050"/>
                </a:solidFill>
                <a:latin typeface="Franklin Gothic Medium" panose="020B0603020102020204" charset="0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Franklin Gothic Medium" panose="020B0603020102020204" charset="0"/>
              </a:rPr>
              <a:t>West</a:t>
            </a:r>
            <a:r>
              <a:rPr lang="zh-CN" altLang="en-US" dirty="0">
                <a:solidFill>
                  <a:srgbClr val="00B050"/>
                </a:solidFill>
                <a:latin typeface="Franklin Gothic Medium" panose="020B0603020102020204" charset="0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Franklin Gothic Medium" panose="020B0603020102020204" charset="0"/>
              </a:rPr>
              <a:t>+</a:t>
            </a:r>
            <a:r>
              <a:rPr lang="zh-CN" altLang="en-US" dirty="0">
                <a:solidFill>
                  <a:srgbClr val="00B050"/>
                </a:solidFill>
                <a:latin typeface="Franklin Gothic Medium" panose="020B0603020102020204" charset="0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Franklin Gothic Medium" panose="020B0603020102020204" charset="0"/>
              </a:rPr>
              <a:t>South</a:t>
            </a:r>
            <a:r>
              <a:rPr lang="zh-CN" altLang="en-US" dirty="0">
                <a:solidFill>
                  <a:srgbClr val="00B050"/>
                </a:solidFill>
                <a:latin typeface="Franklin Gothic Medium" panose="020B0603020102020204" charset="0"/>
              </a:rPr>
              <a:t>= </a:t>
            </a:r>
            <a:r>
              <a:rPr lang="en-US" altLang="zh-CN" dirty="0">
                <a:solidFill>
                  <a:srgbClr val="00B050"/>
                </a:solidFill>
                <a:latin typeface="Franklin Gothic Medium" panose="020B0603020102020204" charset="0"/>
              </a:rPr>
              <a:t>0</a:t>
            </a:r>
            <a:endParaRPr kumimoji="1" lang="en-US" altLang="zh-CN" dirty="0">
              <a:solidFill>
                <a:srgbClr val="00B050"/>
              </a:solidFill>
              <a:latin typeface="Franklin Gothic Medium" panose="020B0603020102020204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rgbClr val="C00000"/>
                </a:solidFill>
                <a:latin typeface="Franklin Gothic Medium" panose="020B0603020102020204" charset="0"/>
              </a:rPr>
              <a:t>Learning to learn </a:t>
            </a:r>
            <a:r>
              <a:rPr kumimoji="1" lang="en-US" altLang="zh-CN" dirty="0">
                <a:latin typeface="Franklin Gothic Medium" panose="020B0603020102020204" charset="0"/>
              </a:rPr>
              <a:t>: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trained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on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different</a:t>
            </a:r>
            <a:r>
              <a:rPr kumimoji="1" lang="zh-CN" altLang="en-US" dirty="0">
                <a:latin typeface="Franklin Gothic Medium" panose="020B0603020102020204" charset="0"/>
              </a:rPr>
              <a:t> </a:t>
            </a:r>
            <a:r>
              <a:rPr kumimoji="1" lang="en-US" altLang="zh-CN" dirty="0">
                <a:latin typeface="Franklin Gothic Medium" panose="020B0603020102020204" charset="0"/>
              </a:rPr>
              <a:t>tasks to learn the common abstract structure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Franklin Gothic Medium" panose="020B0603020102020204" charset="0"/>
              </a:rPr>
              <a:t>A</a:t>
            </a:r>
            <a:r>
              <a:rPr lang="zh-CN" altLang="en-US" dirty="0">
                <a:latin typeface="Franklin Gothic Medium" panose="020B0603020102020204" charset="0"/>
              </a:rPr>
              <a:t> </a:t>
            </a:r>
            <a:r>
              <a:rPr lang="en-US" altLang="zh-CN" dirty="0">
                <a:latin typeface="Franklin Gothic Medium" panose="020B0603020102020204" charset="0"/>
              </a:rPr>
              <a:t>general</a:t>
            </a:r>
            <a:r>
              <a:rPr lang="zh-CN" altLang="en-US" dirty="0">
                <a:latin typeface="Franklin Gothic Medium" panose="020B0603020102020204" charset="0"/>
              </a:rPr>
              <a:t> </a:t>
            </a:r>
            <a:r>
              <a:rPr lang="en-US" altLang="zh-CN" dirty="0">
                <a:latin typeface="Franklin Gothic Medium" panose="020B0603020102020204" charset="0"/>
              </a:rPr>
              <a:t>framework</a:t>
            </a:r>
            <a:r>
              <a:rPr lang="zh-CN" altLang="en-US" dirty="0">
                <a:latin typeface="Franklin Gothic Medium" panose="020B0603020102020204" charset="0"/>
              </a:rPr>
              <a:t> </a:t>
            </a:r>
            <a:r>
              <a:rPr lang="en-US" altLang="zh-CN" dirty="0">
                <a:latin typeface="Franklin Gothic Medium" panose="020B0603020102020204" charset="0"/>
              </a:rPr>
              <a:t>for</a:t>
            </a:r>
            <a:r>
              <a:rPr lang="zh-CN" altLang="en-US" dirty="0">
                <a:latin typeface="Franklin Gothic Medium" panose="020B060302010202020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Franklin Gothic Medium" panose="020B0603020102020204" charset="0"/>
              </a:rPr>
              <a:t>relational</a:t>
            </a:r>
            <a:r>
              <a:rPr lang="zh-CN" altLang="en-US" dirty="0">
                <a:solidFill>
                  <a:srgbClr val="C00000"/>
                </a:solidFill>
                <a:latin typeface="Franklin Gothic Medium" panose="020B060302010202020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Franklin Gothic Medium" panose="020B0603020102020204" charset="0"/>
              </a:rPr>
              <a:t>inference: spatial reasoning,</a:t>
            </a:r>
            <a:r>
              <a:rPr lang="zh-CN" altLang="en-US" dirty="0">
                <a:solidFill>
                  <a:srgbClr val="C00000"/>
                </a:solidFill>
                <a:latin typeface="Franklin Gothic Medium" panose="020B060302010202020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Franklin Gothic Medium" panose="020B0603020102020204" charset="0"/>
              </a:rPr>
              <a:t>social hierarchies,</a:t>
            </a:r>
            <a:r>
              <a:rPr lang="zh-CN" altLang="en-US" dirty="0">
                <a:solidFill>
                  <a:srgbClr val="C00000"/>
                </a:solidFill>
                <a:latin typeface="Franklin Gothic Medium" panose="020B060302010202020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Franklin Gothic Medium" panose="020B0603020102020204" charset="0"/>
              </a:rPr>
              <a:t>transitive inference …</a:t>
            </a:r>
            <a:endParaRPr kumimoji="1" lang="en-US" altLang="zh-CN" dirty="0">
              <a:latin typeface="Franklin Gothic Medium" panose="020B0603020102020204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Self-supervised Learning abstract structure in TEM</a:t>
            </a:r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78" y="2392253"/>
            <a:ext cx="2761071" cy="28458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73478" y="1812692"/>
            <a:ext cx="3123223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dirty="0">
                <a:latin typeface="Franklin Gothic Medium" panose="020B0603020102020204" charset="0"/>
                <a:ea typeface="微软雅黑" panose="020B0503020204020204" charset="-122"/>
              </a:rPr>
              <a:t>Task:</a:t>
            </a:r>
            <a:r>
              <a:rPr kumimoji="1" lang="zh-CN" altLang="en-US" sz="1400" dirty="0">
                <a:latin typeface="Franklin Gothic Medium" panose="020B0603020102020204" charset="0"/>
                <a:ea typeface="微软雅黑" panose="020B0503020204020204" charset="-122"/>
              </a:rPr>
              <a:t> </a:t>
            </a:r>
            <a:r>
              <a:rPr kumimoji="1" lang="en-US" altLang="zh-CN" sz="1400" dirty="0">
                <a:latin typeface="Franklin Gothic Medium" panose="020B0603020102020204" charset="0"/>
                <a:ea typeface="微软雅黑" panose="020B0503020204020204" charset="-122"/>
              </a:rPr>
              <a:t>Predict what comes next ?</a:t>
            </a:r>
            <a:endParaRPr lang="zh-CN" altLang="en-US" sz="1400" dirty="0">
              <a:latin typeface="Franklin Gothic Medium" panose="020B06030201020202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428" y="2392253"/>
            <a:ext cx="2558875" cy="24747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837847" y="1637451"/>
            <a:ext cx="3526632" cy="68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latin typeface="Franklin Gothic Medium" panose="020B0603020102020204" charset="0"/>
                <a:ea typeface="微软雅黑" panose="020B0503020204020204" charset="-122"/>
              </a:rPr>
              <a:t>Spatial rule : 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rgbClr val="00B050"/>
                </a:solidFill>
                <a:latin typeface="Franklin Gothic Medium" panose="020B0603020102020204" charset="0"/>
                <a:ea typeface="微软雅黑" panose="020B0503020204020204" charset="-122"/>
              </a:rPr>
              <a:t>East</a:t>
            </a:r>
            <a:r>
              <a:rPr lang="zh-CN" altLang="en-US" sz="1600" dirty="0">
                <a:solidFill>
                  <a:srgbClr val="00B050"/>
                </a:solidFill>
                <a:latin typeface="Franklin Gothic Medium" panose="020B0603020102020204" charset="0"/>
                <a:ea typeface="微软雅黑" panose="020B0503020204020204" charset="-122"/>
              </a:rPr>
              <a:t>+ </a:t>
            </a:r>
            <a:r>
              <a:rPr lang="en-US" altLang="zh-CN" sz="1600" dirty="0">
                <a:solidFill>
                  <a:srgbClr val="00B050"/>
                </a:solidFill>
                <a:latin typeface="Franklin Gothic Medium" panose="020B0603020102020204" charset="0"/>
                <a:ea typeface="微软雅黑" panose="020B0503020204020204" charset="-122"/>
              </a:rPr>
              <a:t>North</a:t>
            </a:r>
            <a:r>
              <a:rPr lang="zh-CN" altLang="en-US" sz="1600" dirty="0">
                <a:solidFill>
                  <a:srgbClr val="00B050"/>
                </a:solidFill>
                <a:latin typeface="Franklin Gothic Medium" panose="020B0603020102020204" charset="0"/>
                <a:ea typeface="微软雅黑" panose="020B0503020204020204" charset="-122"/>
              </a:rPr>
              <a:t> </a:t>
            </a:r>
            <a:r>
              <a:rPr lang="en-US" altLang="zh-CN" sz="1600" dirty="0">
                <a:solidFill>
                  <a:srgbClr val="00B050"/>
                </a:solidFill>
                <a:latin typeface="Franklin Gothic Medium" panose="020B0603020102020204" charset="0"/>
                <a:ea typeface="微软雅黑" panose="020B0503020204020204" charset="-122"/>
              </a:rPr>
              <a:t>+</a:t>
            </a:r>
            <a:r>
              <a:rPr lang="zh-CN" altLang="en-US" sz="1600" dirty="0">
                <a:solidFill>
                  <a:srgbClr val="00B050"/>
                </a:solidFill>
                <a:latin typeface="Franklin Gothic Medium" panose="020B0603020102020204" charset="0"/>
                <a:ea typeface="微软雅黑" panose="020B0503020204020204" charset="-122"/>
              </a:rPr>
              <a:t> </a:t>
            </a:r>
            <a:r>
              <a:rPr lang="en-US" altLang="zh-CN" sz="1600" dirty="0">
                <a:solidFill>
                  <a:srgbClr val="00B050"/>
                </a:solidFill>
                <a:latin typeface="Franklin Gothic Medium" panose="020B0603020102020204" charset="0"/>
                <a:ea typeface="微软雅黑" panose="020B0503020204020204" charset="-122"/>
              </a:rPr>
              <a:t>West</a:t>
            </a:r>
            <a:r>
              <a:rPr lang="zh-CN" altLang="en-US" sz="1600" dirty="0">
                <a:solidFill>
                  <a:srgbClr val="00B050"/>
                </a:solidFill>
                <a:latin typeface="Franklin Gothic Medium" panose="020B0603020102020204" charset="0"/>
                <a:ea typeface="微软雅黑" panose="020B0503020204020204" charset="-122"/>
              </a:rPr>
              <a:t> </a:t>
            </a:r>
            <a:r>
              <a:rPr lang="en-US" altLang="zh-CN" sz="1600" dirty="0">
                <a:solidFill>
                  <a:srgbClr val="00B050"/>
                </a:solidFill>
                <a:latin typeface="Franklin Gothic Medium" panose="020B0603020102020204" charset="0"/>
                <a:ea typeface="微软雅黑" panose="020B0503020204020204" charset="-122"/>
              </a:rPr>
              <a:t>+</a:t>
            </a:r>
            <a:r>
              <a:rPr lang="zh-CN" altLang="en-US" sz="1600" dirty="0">
                <a:solidFill>
                  <a:srgbClr val="00B050"/>
                </a:solidFill>
                <a:latin typeface="Franklin Gothic Medium" panose="020B0603020102020204" charset="0"/>
                <a:ea typeface="微软雅黑" panose="020B0503020204020204" charset="-122"/>
              </a:rPr>
              <a:t> </a:t>
            </a:r>
            <a:r>
              <a:rPr lang="en-US" altLang="zh-CN" sz="1600" dirty="0">
                <a:solidFill>
                  <a:srgbClr val="00B050"/>
                </a:solidFill>
                <a:latin typeface="Franklin Gothic Medium" panose="020B0603020102020204" charset="0"/>
                <a:ea typeface="微软雅黑" panose="020B0503020204020204" charset="-122"/>
              </a:rPr>
              <a:t>South</a:t>
            </a:r>
            <a:r>
              <a:rPr lang="zh-CN" altLang="en-US" sz="1600" dirty="0">
                <a:solidFill>
                  <a:srgbClr val="00B050"/>
                </a:solidFill>
                <a:latin typeface="Franklin Gothic Medium" panose="020B0603020102020204" charset="0"/>
                <a:ea typeface="微软雅黑" panose="020B0503020204020204" charset="-122"/>
              </a:rPr>
              <a:t>= </a:t>
            </a:r>
            <a:r>
              <a:rPr lang="en-US" altLang="zh-CN" sz="1600" dirty="0">
                <a:solidFill>
                  <a:srgbClr val="00B050"/>
                </a:solidFill>
                <a:latin typeface="Franklin Gothic Medium" panose="020B0603020102020204" charset="0"/>
                <a:ea typeface="微软雅黑" panose="020B0503020204020204" charset="-122"/>
              </a:rPr>
              <a:t>0</a:t>
            </a:r>
            <a:endParaRPr kumimoji="1" lang="en-US" altLang="zh-CN" sz="1600" dirty="0">
              <a:solidFill>
                <a:srgbClr val="00B050"/>
              </a:solidFill>
              <a:latin typeface="Franklin Gothic Medium" panose="020B0603020102020204" charset="0"/>
              <a:ea typeface="微软雅黑" panose="020B0503020204020204" charset="-122"/>
            </a:endParaRPr>
          </a:p>
        </p:txBody>
      </p:sp>
      <p:pic>
        <p:nvPicPr>
          <p:cNvPr id="9" name="内容占位符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288820" y="2538119"/>
            <a:ext cx="3329702" cy="2072209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190355" y="1637451"/>
            <a:ext cx="3526632" cy="68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latin typeface="Franklin Gothic Medium" panose="020B0603020102020204" charset="0"/>
                <a:ea typeface="微软雅黑" panose="020B0503020204020204" charset="-122"/>
              </a:rPr>
              <a:t>Family rule : 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rgbClr val="00B050"/>
                </a:solidFill>
                <a:latin typeface="Franklin Gothic Medium" panose="020B0603020102020204" charset="0"/>
                <a:ea typeface="微软雅黑" panose="020B0503020204020204" charset="-122"/>
              </a:rPr>
              <a:t>Mother + brother = uncle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174357"/>
            <a:ext cx="10515600" cy="4002605"/>
          </a:xfrm>
        </p:spPr>
        <p:txBody>
          <a:bodyPr/>
          <a:lstStyle/>
          <a:p>
            <a:r>
              <a:rPr lang="en-US" altLang="zh-CN" dirty="0">
                <a:latin typeface="Franklin Gothic Medium" panose="020B0603020102020204" charset="0"/>
              </a:rPr>
              <a:t>Embedding a structured memory (e.g., TEM) into the basic sequence model ?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Limitations of Relational memory in TEM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12275" y="4298355"/>
            <a:ext cx="8319712" cy="1717712"/>
          </a:xfrm>
        </p:spPr>
        <p:txBody>
          <a:bodyPr/>
          <a:lstStyle/>
          <a:p>
            <a:pPr marL="0" indent="0">
              <a:buNone/>
            </a:pPr>
            <a:endParaRPr lang="en-US" altLang="zh-CN" dirty="0">
              <a:latin typeface="Franklin Gothic Medium" panose="020B0603020102020204" charset="0"/>
            </a:endParaRPr>
          </a:p>
          <a:p>
            <a:r>
              <a:rPr lang="en-US" altLang="zh-CN" dirty="0">
                <a:latin typeface="Franklin Gothic Medium" panose="020B0603020102020204" charset="0"/>
              </a:rPr>
              <a:t>Computational complexity + limited memory capacity</a:t>
            </a:r>
          </a:p>
          <a:p>
            <a:r>
              <a:rPr lang="en-US" altLang="zh-CN" dirty="0">
                <a:latin typeface="Franklin Gothic Medium" panose="020B0603020102020204" charset="0"/>
              </a:rPr>
              <a:t>Novelty-based storage management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21" y="2199756"/>
            <a:ext cx="1843268" cy="308171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9141" y="2402249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</a:rPr>
              <a:t>Where</a:t>
            </a:r>
            <a:endParaRPr kumimoji="1"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0013" y="4912138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</a:rPr>
              <a:t>What</a:t>
            </a:r>
            <a:endParaRPr kumimoji="1"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5465135" y="1295804"/>
            <a:ext cx="170121" cy="6890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5465134" y="2329388"/>
            <a:ext cx="170121" cy="6890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6167438" y="1757318"/>
            <a:ext cx="820479" cy="6890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>
            <a:off x="7445355" y="883532"/>
            <a:ext cx="108099" cy="25454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8618479" y="875024"/>
            <a:ext cx="2667981" cy="25454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4521853" y="1510904"/>
                <a:ext cx="10349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853" y="1510904"/>
                <a:ext cx="1034963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" t="-65" r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4536473" y="2593874"/>
                <a:ext cx="1022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473" y="2593874"/>
                <a:ext cx="1022972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3" t="-145" r="2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/>
          <p:cNvCxnSpPr/>
          <p:nvPr/>
        </p:nvCxnSpPr>
        <p:spPr>
          <a:xfrm>
            <a:off x="5778795" y="2101846"/>
            <a:ext cx="2764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7095461" y="2101846"/>
            <a:ext cx="2764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8057707" y="2101846"/>
            <a:ext cx="2764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5631071" y="2478663"/>
                <a:ext cx="2046779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𝑁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charset="0"/>
                            </a:rPr>
                            <m:t>N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1071" y="2478663"/>
                <a:ext cx="2046779" cy="374270"/>
              </a:xfrm>
              <a:prstGeom prst="rect">
                <a:avLst/>
              </a:prstGeom>
              <a:blipFill rotWithShape="1">
                <a:blip r:embed="rId5"/>
                <a:stretch>
                  <a:fillRect l="-26" t="-69" r="3" b="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6982499" y="3489145"/>
                <a:ext cx="1111458" cy="4071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𝑅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499" y="3489145"/>
                <a:ext cx="1111458" cy="407163"/>
              </a:xfrm>
              <a:prstGeom prst="rect">
                <a:avLst/>
              </a:prstGeom>
              <a:blipFill rotWithShape="1">
                <a:blip r:embed="rId6"/>
                <a:stretch>
                  <a:fillRect l="-4" t="-112" r="22" b="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8951568" y="3526002"/>
                <a:ext cx="2176109" cy="3712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568" y="3526002"/>
                <a:ext cx="2176109" cy="371255"/>
              </a:xfrm>
              <a:prstGeom prst="rect">
                <a:avLst/>
              </a:prstGeom>
              <a:blipFill rotWithShape="1">
                <a:blip r:embed="rId7"/>
                <a:stretch>
                  <a:fillRect l="-28" t="-130" r="26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8864414" y="4002767"/>
                <a:ext cx="1445076" cy="4071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𝑀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𝑅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4414" y="4002767"/>
                <a:ext cx="1445076" cy="407163"/>
              </a:xfrm>
              <a:prstGeom prst="rect">
                <a:avLst/>
              </a:prstGeom>
              <a:blipFill rotWithShape="1">
                <a:blip r:embed="rId8"/>
                <a:stretch>
                  <a:fillRect l="-31" t="-89" r="18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3907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CN" sz="2800" dirty="0">
                <a:latin typeface="Franklin Gothic Medium" panose="020B0603020102020204" charset="0"/>
              </a:rPr>
              <a:t>TEM Transformer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09" y="746862"/>
            <a:ext cx="10235381" cy="2508129"/>
          </a:xfrm>
          <a:prstGeom prst="rect">
            <a:avLst/>
          </a:prstGeom>
        </p:spPr>
      </p:pic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916E4-1B0F-1747-A057-D20CFFEED4C9}" type="slidenum">
              <a:rPr kumimoji="1" lang="zh-CN" altLang="en-US" smtClean="0"/>
              <a:t>109</a:t>
            </a:fld>
            <a:endParaRPr kumimoji="1" lang="zh-CN" altLang="en-US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564790" y="3254991"/>
            <a:ext cx="7252047" cy="323985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000" dirty="0">
                <a:latin typeface="Franklin Gothic Medium" panose="020B0603020102020204" charset="0"/>
              </a:rPr>
              <a:t>Transformer network equipped with two modifications can be seen a TEM, a hippocampal model</a:t>
            </a:r>
          </a:p>
          <a:p>
            <a:pPr>
              <a:lnSpc>
                <a:spcPct val="100000"/>
              </a:lnSpc>
            </a:pPr>
            <a:endParaRPr kumimoji="1" lang="en-US" altLang="zh-CN" sz="2000" dirty="0">
              <a:solidFill>
                <a:schemeClr val="tx1"/>
              </a:solidFill>
              <a:latin typeface="Franklin Gothic Medium" panose="020B060302010202020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sz="2000" dirty="0">
                <a:solidFill>
                  <a:srgbClr val="C00000"/>
                </a:solidFill>
                <a:latin typeface="Franklin Gothic Medium" panose="020B0603020102020204" charset="0"/>
              </a:rPr>
              <a:t>Key-value cache </a:t>
            </a:r>
            <a:r>
              <a:rPr kumimoji="1" lang="en-US" altLang="zh-CN" sz="2000" dirty="0">
                <a:latin typeface="Franklin Gothic Medium" panose="020B0603020102020204" charset="0"/>
              </a:rPr>
              <a:t>can be seen as a relational memory</a:t>
            </a:r>
          </a:p>
          <a:p>
            <a:pPr>
              <a:lnSpc>
                <a:spcPct val="100000"/>
              </a:lnSpc>
            </a:pPr>
            <a:endParaRPr kumimoji="1" lang="en-US" altLang="zh-CN" sz="2000" dirty="0">
              <a:solidFill>
                <a:schemeClr val="tx1"/>
              </a:solidFill>
              <a:latin typeface="Franklin Gothic Medium" panose="020B060302010202020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sz="2000" dirty="0">
                <a:solidFill>
                  <a:schemeClr val="tx1"/>
                </a:solidFill>
                <a:latin typeface="Franklin Gothic Medium" panose="020B0603020102020204" charset="0"/>
              </a:rPr>
              <a:t>Modified transformer can replicate </a:t>
            </a:r>
            <a:r>
              <a:rPr kumimoji="1" lang="en-US" altLang="zh-CN" sz="2000" dirty="0">
                <a:solidFill>
                  <a:srgbClr val="C00000"/>
                </a:solidFill>
                <a:latin typeface="Franklin Gothic Medium" panose="020B0603020102020204" charset="0"/>
              </a:rPr>
              <a:t>grid and place representation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249" y="3640839"/>
            <a:ext cx="2957440" cy="226073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816837" y="6217850"/>
            <a:ext cx="31355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James C.R. Whittington et al., ICLR, 2022</a:t>
            </a:r>
            <a:endParaRPr kumimoji="1" lang="zh-CN" altLang="en-US" sz="12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连接符: 曲线 9"/>
          <p:cNvCxnSpPr/>
          <p:nvPr/>
        </p:nvCxnSpPr>
        <p:spPr>
          <a:xfrm rot="5400000">
            <a:off x="8712493" y="3197668"/>
            <a:ext cx="717547" cy="315373"/>
          </a:xfrm>
          <a:prstGeom prst="curvedConnector3">
            <a:avLst/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连接符: 曲线 11"/>
          <p:cNvCxnSpPr/>
          <p:nvPr/>
        </p:nvCxnSpPr>
        <p:spPr>
          <a:xfrm rot="16200000" flipH="1">
            <a:off x="8405063" y="3209074"/>
            <a:ext cx="2999384" cy="347336"/>
          </a:xfrm>
          <a:prstGeom prst="curvedConnector3">
            <a:avLst>
              <a:gd name="adj1" fmla="val 50000"/>
            </a:avLst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Franklin Gothic Medium" panose="020B0603020102020204" charset="0"/>
              </a:rPr>
              <a:t>Limitations in TEM and TEM-t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28992" y="1929740"/>
          <a:ext cx="10934016" cy="289060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733504"/>
                <a:gridCol w="2733504"/>
                <a:gridCol w="2733504"/>
                <a:gridCol w="273350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Hebbian memory in 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Key-value memory in TEM-t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C00000"/>
                          </a:solidFill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?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Complexity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quadratic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quadratic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Linear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Context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unbounded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bounded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unbounded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Retrieval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medium</a:t>
                      </a:r>
                    </a:p>
                  </a:txBody>
                  <a:tcPr/>
                </a:tc>
              </a:tr>
              <a:tr h="40140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Expressivity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high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Memory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hand-tuning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hand-tuning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Data-dependent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Memory update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Non-parametric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Non-parametric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Franklin Gothic Medium" panose="020B0603020102020204" charset="0"/>
                          <a:ea typeface="微软雅黑" panose="020B0503020204020204" charset="-122"/>
                        </a:rPr>
                        <a:t>-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mm-TEM: an efficient variant of TEM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227" y="2277973"/>
            <a:ext cx="5600894" cy="27539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498372" y="2097158"/>
            <a:ext cx="5262891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Path integration Network: a simple MLP-based transformation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Franklin Gothic Medium" panose="020B0603020102020204" charset="0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</a:rPr>
              <a:t>Parametric Relational Memory</a:t>
            </a:r>
            <a:r>
              <a:rPr lang="en-US" altLang="zh-CN" b="1" dirty="0">
                <a:latin typeface="Franklin Gothic Medium" panose="020B0603020102020204" charset="0"/>
                <a:ea typeface="微软雅黑" panose="020B0503020204020204" charset="-122"/>
              </a:rPr>
              <a:t>:  using a MLP as memory meta-trained via auxiliary relational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Franklin Gothic Medium" panose="020B0603020102020204" charset="0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Error Correction: using sensory observations to correct structural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Franklin Gothic Medium" panose="020B0603020102020204" charset="0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Learning via self-supervised learning</a:t>
            </a:r>
          </a:p>
          <a:p>
            <a:endParaRPr lang="en-US" altLang="zh-CN" dirty="0">
              <a:latin typeface="Franklin Gothic Medium" panose="020B0603020102020204" charset="0"/>
              <a:ea typeface="微软雅黑" panose="020B0503020204020204" charset="-122"/>
            </a:endParaRPr>
          </a:p>
          <a:p>
            <a:endParaRPr lang="en-US" altLang="zh-CN" dirty="0">
              <a:latin typeface="Franklin Gothic Medium" panose="020B060302010202020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19689"/>
            <a:ext cx="10515600" cy="689304"/>
          </a:xfrm>
        </p:spPr>
        <p:txBody>
          <a:bodyPr>
            <a:normAutofit/>
          </a:bodyPr>
          <a:lstStyle/>
          <a:p>
            <a:pPr algn="ctr"/>
            <a:r>
              <a:rPr lang="en-US" altLang="zh-CN" sz="2800" dirty="0">
                <a:latin typeface="Franklin Gothic Medium" panose="020B0603020102020204" charset="0"/>
              </a:rPr>
              <a:t>Meta-MLP as a Memory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80215"/>
                <a:ext cx="10515600" cy="162404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000" dirty="0">
                    <a:latin typeface="Franklin Gothic Medium" panose="020B0603020102020204" charset="0"/>
                  </a:rPr>
                  <a:t>Weights in meta-MLP is online updated</a:t>
                </a:r>
              </a:p>
              <a:p>
                <a:r>
                  <a:rPr lang="en-US" altLang="zh-CN" sz="2000" dirty="0">
                    <a:latin typeface="Franklin Gothic Medium" panose="020B0603020102020204" charset="0"/>
                  </a:rPr>
                  <a:t>Objective of meta-MLP is to memorize key-value association</a:t>
                </a:r>
              </a:p>
              <a:p>
                <a:r>
                  <a:rPr lang="en-US" altLang="zh-CN" sz="2000" dirty="0">
                    <a:latin typeface="Franklin Gothic Medium" panose="020B0603020102020204" charset="0"/>
                  </a:rPr>
                  <a:t>A query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Franklin Gothic Medium" panose="020B0603020102020204" charset="0"/>
                  </a:rPr>
                  <a:t> is used to retrieve </a:t>
                </a:r>
              </a:p>
              <a:p>
                <a:endParaRPr lang="zh-CN" altLang="en-US" sz="2000" dirty="0">
                  <a:latin typeface="Franklin Gothic Medium" panose="020B0603020102020204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80215"/>
                <a:ext cx="10515600" cy="1624044"/>
              </a:xfrm>
              <a:blipFill rotWithShape="1">
                <a:blip r:embed="rId3"/>
                <a:stretch>
                  <a:fillRect t="-24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474" y="2903930"/>
            <a:ext cx="8448882" cy="3589705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5323368" y="2619593"/>
            <a:ext cx="9404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Storage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8091377" y="2574392"/>
            <a:ext cx="10445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Retrieval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19689"/>
            <a:ext cx="10515600" cy="689304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Novelty-based update rule in meta-MLP</a:t>
            </a:r>
            <a:endParaRPr lang="en-US" altLang="zh-CN" sz="2800" dirty="0">
              <a:latin typeface="Franklin Gothic Medium" panose="020B06030201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/>
              <p:cNvSpPr txBox="1"/>
              <p:nvPr/>
            </p:nvSpPr>
            <p:spPr>
              <a:xfrm>
                <a:off x="2711648" y="1885873"/>
                <a:ext cx="5681235" cy="6153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b="0" i="1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kumimoji="1" lang="en-US" altLang="zh-CN" sz="2000" b="0" i="1" smtClean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zh-CN" sz="2000" dirty="0">
                  <a:latin typeface="Franklin Gothic Medium" panose="020B0603020102020204" charset="0"/>
                  <a:ea typeface="微软雅黑" panose="020B050302020402020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kumimoji="1" lang="en-US" altLang="zh-CN" sz="2000" b="0" i="1" smtClean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𝛻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kumimoji="1"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;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𝑘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000" b="0" dirty="0">
                  <a:latin typeface="Franklin Gothic Medium" panose="020B0603020102020204" charset="0"/>
                  <a:ea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48" y="1885873"/>
                <a:ext cx="5681235" cy="615315"/>
              </a:xfrm>
              <a:prstGeom prst="rect">
                <a:avLst/>
              </a:prstGeom>
              <a:blipFill rotWithShape="1">
                <a:blip r:embed="rId3"/>
                <a:stretch>
                  <a:fillRect l="-3" t="-91" r="2" b="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/>
          <p:cNvSpPr txBox="1"/>
          <p:nvPr/>
        </p:nvSpPr>
        <p:spPr>
          <a:xfrm>
            <a:off x="914589" y="1172775"/>
            <a:ext cx="23876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Franklin Gothic Medium" panose="020B0603020102020204" charset="0"/>
                <a:ea typeface="微软雅黑" panose="020B0503020204020204" charset="-122"/>
              </a:rPr>
              <a:t>Memory update rule</a:t>
            </a:r>
            <a:r>
              <a:rPr kumimoji="1" lang="zh-CN" altLang="en-US" dirty="0">
                <a:latin typeface="Franklin Gothic Medium" panose="020B0603020102020204" charset="0"/>
                <a:ea typeface="微软雅黑" panose="020B0503020204020204" charset="-122"/>
              </a:rPr>
              <a:t>：</a:t>
            </a:r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5569323" y="1458739"/>
            <a:ext cx="693744" cy="451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234776" y="1123309"/>
            <a:ext cx="16624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</a:rPr>
              <a:t>Forgetting gate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549979" y="2690949"/>
            <a:ext cx="898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Franklin Gothic Medium" panose="020B0603020102020204" charset="0"/>
                <a:ea typeface="微软雅黑" panose="020B0503020204020204" charset="-122"/>
              </a:rPr>
              <a:t>Novelty</a:t>
            </a: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6596625" y="2568257"/>
            <a:ext cx="859646" cy="307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V="1">
            <a:off x="6844083" y="1709864"/>
            <a:ext cx="935239" cy="28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7549979" y="1327018"/>
            <a:ext cx="35439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  <a:latin typeface="Franklin Gothic Medium" panose="020B0603020102020204" charset="0"/>
                <a:ea typeface="微软雅黑" panose="020B0503020204020204" charset="-122"/>
              </a:rPr>
              <a:t>Accumulated novelty over a period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754" y="2991393"/>
            <a:ext cx="8448882" cy="358970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578707" y="2501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latin typeface="Franklin Gothic Medium" panose="020B0603020102020204" charset="0"/>
              </a:rPr>
              <a:t>Relational Memory Network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258" y="2102289"/>
            <a:ext cx="3388360" cy="39452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7613"/>
                <a:ext cx="8638540" cy="3790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𝑟𝑒𝑙𝑎𝑡𝑖𝑜𝑛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𝑀𝑒𝑚</m:t>
                            </m:r>
                            <m:d>
                              <m:dPr>
                                <m:ctrlP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,∅</m:t>
                                </m:r>
                              </m:e>
                            </m:d>
                            <m: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1" lang="en-US" altLang="zh-CN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kumimoji="1"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kumimoji="1" lang="en-US" altLang="zh-CN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+</m:t>
                    </m:r>
                    <m:sSup>
                      <m:sSupPr>
                        <m:ctrlPr>
                          <a:rPr kumimoji="1"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𝑀𝑒𝑚</m:t>
                            </m:r>
                            <m:d>
                              <m:dPr>
                                <m:ctrlP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en-US" altLang="zh-CN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∅</m:t>
                                </m:r>
                              </m:e>
                            </m:d>
                            <m: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𝑔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kumimoji="1"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CN" dirty="0">
                    <a:solidFill>
                      <a:schemeClr val="tx1"/>
                    </a:solidFill>
                    <a:latin typeface="Franklin Gothic Medium" panose="020B0603020102020204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𝑀𝑒𝑚</m:t>
                            </m:r>
                            <m:d>
                              <m:dPr>
                                <m:ctrlP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∅,</m:t>
                                </m:r>
                                <m:sSub>
                                  <m:sSubPr>
                                    <m:ctrl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  <m: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𝑔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kumimoji="1"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zh-CN" dirty="0">
                  <a:solidFill>
                    <a:schemeClr val="tx1"/>
                  </a:solidFill>
                  <a:latin typeface="Franklin Gothic Medium" panose="020B0603020102020204" charset="0"/>
                </a:endParaRPr>
              </a:p>
            </p:txBody>
          </p:sp>
        </mc:Choice>
        <mc:Fallback xmlns="">
          <p:sp>
            <p:nvSpPr>
              <p:cNvPr id="7" name="内容占位符 6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7613"/>
                <a:ext cx="8638540" cy="379095"/>
              </a:xfrm>
              <a:prstGeom prst="rect">
                <a:avLst/>
              </a:prstGeom>
              <a:blipFill rotWithShape="1">
                <a:blip r:embed="rId3"/>
                <a:stretch>
                  <a:fillRect t="-84" b="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Error correction in mm-TEM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312646" y="4895052"/>
                <a:ext cx="4714816" cy="28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𝑖𝑛𝑡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𝛼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𝑑𝑒𝑙𝑡𝑎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𝑔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𝑔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0" i="1" smtClean="0">
                                  <a:latin typeface="Cambria Math" panose="0204050305040603020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b="0" i="1" smtClean="0">
                                          <a:latin typeface="Cambria Math" panose="0204050305040603020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646" y="4895052"/>
                <a:ext cx="4714816" cy="280718"/>
              </a:xfrm>
              <a:prstGeom prst="rect">
                <a:avLst/>
              </a:prstGeom>
              <a:blipFill rotWithShape="1">
                <a:blip r:embed="rId2"/>
                <a:stretch>
                  <a:fillRect l="-10" t="-168" r="-126" b="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613" y="829440"/>
            <a:ext cx="8448882" cy="3589705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Franklin Gothic Medium" panose="020B0603020102020204" charset="0"/>
              </a:rPr>
              <a:t>Comparison with TEM and TEM-t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28992" y="1929740"/>
          <a:ext cx="10934016" cy="289060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733504"/>
                <a:gridCol w="2733504"/>
                <a:gridCol w="2733504"/>
                <a:gridCol w="273350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Property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Hebbian memory in TEM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Key-value memory in TEM-t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memory in mm-TEM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Complexity </a:t>
                      </a:r>
                      <a:endParaRPr lang="zh-CN" altLang="en-US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quadratic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quadratic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Linear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Context length</a:t>
                      </a:r>
                      <a:endParaRPr lang="zh-CN" altLang="en-US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unbounded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bounded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unbounded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Retrieval precision</a:t>
                      </a:r>
                      <a:endParaRPr lang="zh-CN" altLang="en-US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low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high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medium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0140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Expressivity</a:t>
                      </a:r>
                      <a:endParaRPr lang="zh-CN" altLang="en-US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low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low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high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Memory management</a:t>
                      </a:r>
                      <a:endParaRPr lang="zh-CN" altLang="en-US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hand-tuning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hand-tuning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Data-dependent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Memory update rule</a:t>
                      </a:r>
                      <a:endParaRPr lang="zh-CN" altLang="en-US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Non-parametric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Non-parametric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Parametric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2879" y="2522474"/>
            <a:ext cx="10515600" cy="689056"/>
          </a:xfrm>
        </p:spPr>
        <p:txBody>
          <a:bodyPr/>
          <a:lstStyle/>
          <a:p>
            <a:r>
              <a:rPr lang="en-US" altLang="zh-CN" dirty="0">
                <a:latin typeface="Franklin Gothic Medium" panose="020B0603020102020204" charset="0"/>
              </a:rPr>
              <a:t>Results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latin typeface="Franklin Gothic Medium" panose="020B0603020102020204" charset="0"/>
              </a:rPr>
              <a:t>2D Grid world prediction task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8434" y="1899981"/>
            <a:ext cx="3209041" cy="33952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442596" y="3925897"/>
            <a:ext cx="22929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Franklin Gothic Medium" panose="020B0603020102020204" charset="0"/>
                <a:ea typeface="微软雅黑" panose="020B0503020204020204" charset="-122"/>
              </a:rPr>
              <a:t>One-step prediction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2D Grid world prediction task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270" y="2506045"/>
            <a:ext cx="6348806" cy="295297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33092" y="1492695"/>
            <a:ext cx="34372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Franklin Gothic Medium" panose="020B0603020102020204" charset="0"/>
                <a:ea typeface="微软雅黑" panose="020B0503020204020204" charset="-122"/>
              </a:rPr>
              <a:t>Training efficiency in mm-TEM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Emergence of grid pattern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9638" y="1464111"/>
            <a:ext cx="10515600" cy="177243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38" y="3821199"/>
            <a:ext cx="10426020" cy="1670676"/>
          </a:xfrm>
          <a:prstGeom prst="rect">
            <a:avLst/>
          </a:prstGeom>
        </p:spPr>
      </p:pic>
      <p:pic>
        <p:nvPicPr>
          <p:cNvPr id="8" name="内容占位符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22" y="190399"/>
            <a:ext cx="2174338" cy="1069124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1286731" y="925170"/>
            <a:ext cx="383281" cy="31774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𝑚𝑏</m:t>
                    </m:r>
                  </m:oMath>
                </a14:m>
                <a:r>
                  <a:rPr lang="zh-CN" altLang="en-US" dirty="0">
                    <a:latin typeface="Franklin Gothic Medium" panose="020B0603020102020204" charset="0"/>
                  </a:rPr>
                  <a:t> </a:t>
                </a:r>
                <a:r>
                  <a:rPr lang="en-US" altLang="zh-CN" dirty="0">
                    <a:latin typeface="Franklin Gothic Medium" panose="020B0603020102020204" charset="0"/>
                  </a:rPr>
                  <a:t>: control prediction horizon</a:t>
                </a:r>
                <a:endParaRPr lang="zh-CN" altLang="en-US" dirty="0">
                  <a:latin typeface="Franklin Gothic Medium" panose="020B0603020102020204" charset="0"/>
                </a:endParaRPr>
              </a:p>
            </p:txBody>
          </p:sp>
        </mc:Choice>
        <mc:Fallback xmlns=""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87241" y="2548530"/>
            <a:ext cx="5721844" cy="28122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226500" y="1352436"/>
                <a:ext cx="9079865" cy="645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Franklin Gothic Medium" panose="020B0603020102020204" charset="0"/>
                    <a:ea typeface="微软雅黑" panose="020B0503020204020204" charset="-122"/>
                  </a:rPr>
                  <a:t>MLP memory updates every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𝑚𝑏</m:t>
                    </m:r>
                  </m:oMath>
                </a14:m>
                <a:r>
                  <a:rPr lang="zh-CN" altLang="en-US" dirty="0">
                    <a:latin typeface="Franklin Gothic Medium" panose="020B0603020102020204" charset="0"/>
                    <a:ea typeface="微软雅黑" panose="020B0503020204020204" charset="-122"/>
                  </a:rPr>
                  <a:t> </a:t>
                </a:r>
                <a:r>
                  <a:rPr lang="en-US" altLang="zh-CN" dirty="0">
                    <a:latin typeface="Franklin Gothic Medium" panose="020B0603020102020204" charset="0"/>
                    <a:ea typeface="微软雅黑" panose="020B0503020204020204" charset="-122"/>
                  </a:rPr>
                  <a:t>time steps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Franklin Gothic Medium" panose="020B0603020102020204" charset="0"/>
                    <a:ea typeface="微软雅黑" panose="020B0503020204020204" charset="-122"/>
                  </a:rPr>
                  <a:t>For larger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𝑚𝑏</m:t>
                    </m:r>
                  </m:oMath>
                </a14:m>
                <a:r>
                  <a:rPr lang="en-US" altLang="zh-CN" dirty="0">
                    <a:latin typeface="Franklin Gothic Medium" panose="020B0603020102020204" charset="0"/>
                    <a:ea typeface="微软雅黑" panose="020B0503020204020204" charset="-122"/>
                  </a:rPr>
                  <a:t>, network needs to rely older information to predict at the current time step</a:t>
                </a:r>
                <a:endParaRPr lang="zh-CN" altLang="en-US" dirty="0">
                  <a:latin typeface="Franklin Gothic Medium" panose="020B0603020102020204" charset="0"/>
                  <a:ea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500" y="1352436"/>
                <a:ext cx="9079865" cy="645160"/>
              </a:xfrm>
              <a:prstGeom prst="rect">
                <a:avLst/>
              </a:prstGeom>
              <a:blipFill rotWithShape="1">
                <a:blip r:embed="rId4"/>
                <a:stretch>
                  <a:fillRect l="-3" t="-81" r="3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Prediction horizon affects grid scale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>
              <a:xfrm>
                <a:off x="5993406" y="1898296"/>
                <a:ext cx="5621005" cy="4959704"/>
              </a:xfrm>
            </p:spPr>
            <p:txBody>
              <a:bodyPr/>
              <a:lstStyle/>
              <a:p>
                <a:r>
                  <a:rPr lang="en-US" altLang="zh-CN" dirty="0">
                    <a:latin typeface="Franklin Gothic Medium" panose="020B0603020102020204" charset="0"/>
                  </a:rPr>
                  <a:t>Larger</a:t>
                </a:r>
                <a:r>
                  <a:rPr lang="zh-CN" altLang="en-US" dirty="0">
                    <a:latin typeface="Franklin Gothic Medium" panose="020B060302010202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𝑚𝑏</m:t>
                    </m:r>
                  </m:oMath>
                </a14:m>
                <a:r>
                  <a:rPr lang="en-US" altLang="zh-CN" dirty="0">
                    <a:latin typeface="Franklin Gothic Medium" panose="020B0603020102020204" charset="0"/>
                  </a:rPr>
                  <a:t>, longer prediction horizon, larger grid scale</a:t>
                </a:r>
              </a:p>
              <a:p>
                <a:endParaRPr lang="en-US" altLang="zh-CN" dirty="0">
                  <a:latin typeface="Franklin Gothic Medium" panose="020B0603020102020204" charset="0"/>
                </a:endParaRPr>
              </a:p>
              <a:p>
                <a:r>
                  <a:rPr lang="en-US" altLang="zh-CN" dirty="0">
                    <a:latin typeface="Franklin Gothic Medium" panose="020B0603020102020204" charset="0"/>
                  </a:rPr>
                  <a:t>Diverse grid scales may naturally emerge from multi-timescale predictions in the brain</a:t>
                </a:r>
              </a:p>
              <a:p>
                <a:endParaRPr lang="en-US" altLang="zh-CN" dirty="0">
                  <a:latin typeface="Franklin Gothic Medium" panose="020B0603020102020204" charset="0"/>
                </a:endParaRPr>
              </a:p>
              <a:p>
                <a:r>
                  <a:rPr lang="en-US" altLang="zh-CN" dirty="0">
                    <a:latin typeface="Franklin Gothic Medium" panose="020B0603020102020204" charset="0"/>
                  </a:rPr>
                  <a:t>Other viewpoint: Coding capacity (Rylan </a:t>
                </a:r>
                <a:r>
                  <a:rPr lang="en-US" altLang="zh-CN" dirty="0" err="1">
                    <a:latin typeface="Franklin Gothic Medium" panose="020B0603020102020204" charset="0"/>
                  </a:rPr>
                  <a:t>schaeffer</a:t>
                </a:r>
                <a:r>
                  <a:rPr lang="en-US" altLang="zh-CN" dirty="0">
                    <a:latin typeface="Franklin Gothic Medium" panose="020B0603020102020204" charset="0"/>
                  </a:rPr>
                  <a:t> 2023)</a:t>
                </a:r>
              </a:p>
            </p:txBody>
          </p:sp>
        </mc:Choice>
        <mc:Fallback xmlns="">
          <p:sp>
            <p:nvSpPr>
              <p:cNvPr id="6" name="内容占位符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93406" y="1898296"/>
                <a:ext cx="5621005" cy="4959704"/>
              </a:xfrm>
              <a:blipFill rotWithShape="1">
                <a:blip r:embed="rId2"/>
                <a:stretch>
                  <a:fillRect l="-5" t="-6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453656" y="1290084"/>
            <a:ext cx="4999210" cy="4160507"/>
            <a:chOff x="453656" y="1290084"/>
            <a:chExt cx="4999210" cy="4160507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589" y="1404234"/>
              <a:ext cx="4875277" cy="4046357"/>
            </a:xfrm>
            <a:prstGeom prst="rect">
              <a:avLst/>
            </a:prstGeom>
          </p:spPr>
        </p:pic>
        <p:sp>
          <p:nvSpPr>
            <p:cNvPr id="3" name="矩形: 圆角 2"/>
            <p:cNvSpPr/>
            <p:nvPr/>
          </p:nvSpPr>
          <p:spPr>
            <a:xfrm>
              <a:off x="453656" y="1290084"/>
              <a:ext cx="645042" cy="8151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altLang="zh-CN" dirty="0" smtClean="0">
                    <a:latin typeface="Franklin Gothic Medium" panose="020B0603020102020204" charset="0"/>
                  </a:rPr>
                  <a:t>A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possible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explanation: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Grid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scale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vs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𝑚𝑏</m:t>
                    </m:r>
                  </m:oMath>
                </a14:m>
                <a:endParaRPr lang="en-US" altLang="zh-CN" dirty="0">
                  <a:latin typeface="Franklin Gothic Medium" panose="020B0603020102020204" charset="0"/>
                </a:endParaRPr>
              </a:p>
            </p:txBody>
          </p:sp>
        </mc:Choice>
        <mc:Fallback xmlns=""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>
              <a:xfrm>
                <a:off x="5993406" y="2192594"/>
                <a:ext cx="5621005" cy="4665406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 smtClean="0">
                    <a:latin typeface="Franklin Gothic Medium" panose="020B0603020102020204" charset="0"/>
                  </a:rPr>
                  <a:t>Larger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grid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scale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-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&gt;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correlated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code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and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robust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to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accumulate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PI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error</a:t>
                </a:r>
              </a:p>
              <a:p>
                <a:r>
                  <a:rPr lang="en-US" altLang="zh-CN" dirty="0" smtClean="0">
                    <a:latin typeface="Franklin Gothic Medium" panose="020B0603020102020204" charset="0"/>
                  </a:rPr>
                  <a:t>Smaller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grid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scale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-&gt;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precise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spatial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code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and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weakly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correlated</a:t>
                </a:r>
              </a:p>
              <a:p>
                <a:endParaRPr lang="en-US" altLang="zh-CN" dirty="0" smtClean="0">
                  <a:latin typeface="Franklin Gothic Medium" panose="020B0603020102020204" charset="0"/>
                </a:endParaRPr>
              </a:p>
              <a:p>
                <a:r>
                  <a:rPr lang="en-US" altLang="zh-CN" dirty="0" smtClean="0">
                    <a:latin typeface="Franklin Gothic Medium" panose="020B0603020102020204" charset="0"/>
                  </a:rPr>
                  <a:t>Larger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𝑚𝑏</m:t>
                    </m:r>
                  </m:oMath>
                </a14:m>
                <a:r>
                  <a:rPr lang="en-US" altLang="zh-CN" dirty="0">
                    <a:latin typeface="Franklin Gothic Medium" panose="020B0603020102020204" charset="0"/>
                  </a:rPr>
                  <a:t>,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longer </a:t>
                </a:r>
                <a:r>
                  <a:rPr lang="en-US" altLang="zh-CN" dirty="0">
                    <a:latin typeface="Franklin Gothic Medium" panose="020B0603020102020204" charset="0"/>
                  </a:rPr>
                  <a:t>prediction horizon,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larger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PI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error,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larger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grid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scale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smtClean="0">
                    <a:latin typeface="Franklin Gothic Medium" panose="020B0603020102020204" charset="0"/>
                  </a:rPr>
                  <a:t>is</a:t>
                </a:r>
                <a:r>
                  <a:rPr lang="zh-CN" altLang="en-US" dirty="0" smtClean="0">
                    <a:latin typeface="Franklin Gothic Medium" panose="020B0603020102020204" charset="0"/>
                  </a:rPr>
                  <a:t> </a:t>
                </a:r>
                <a:r>
                  <a:rPr lang="en-US" altLang="zh-CN" dirty="0" err="1" smtClean="0">
                    <a:latin typeface="Franklin Gothic Medium" panose="020B0603020102020204" charset="0"/>
                  </a:rPr>
                  <a:t>peferred</a:t>
                </a:r>
                <a:endParaRPr lang="en-US" altLang="zh-CN" dirty="0">
                  <a:latin typeface="Franklin Gothic Medium" panose="020B0603020102020204" charset="0"/>
                </a:endParaRPr>
              </a:p>
            </p:txBody>
          </p:sp>
        </mc:Choice>
        <mc:Fallback xmlns="">
          <p:sp>
            <p:nvSpPr>
              <p:cNvPr id="6" name="内容占位符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93406" y="2192594"/>
                <a:ext cx="5621005" cy="4665406"/>
              </a:xfrm>
              <a:blipFill rotWithShape="1">
                <a:blip r:embed="rId3"/>
                <a:stretch>
                  <a:fillRect l="-5" t="-12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453656" y="1290084"/>
            <a:ext cx="4999210" cy="4160507"/>
            <a:chOff x="453656" y="1290084"/>
            <a:chExt cx="4999210" cy="4160507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7589" y="1404234"/>
              <a:ext cx="4875277" cy="4046357"/>
            </a:xfrm>
            <a:prstGeom prst="rect">
              <a:avLst/>
            </a:prstGeom>
          </p:spPr>
        </p:pic>
        <p:sp>
          <p:nvSpPr>
            <p:cNvPr id="3" name="矩形: 圆角 2"/>
            <p:cNvSpPr/>
            <p:nvPr/>
          </p:nvSpPr>
          <p:spPr>
            <a:xfrm>
              <a:off x="453656" y="1290084"/>
              <a:ext cx="645042" cy="8151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Generalization evaluation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598" y="1981832"/>
            <a:ext cx="3322810" cy="345283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95089" y="5778490"/>
            <a:ext cx="26898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Franklin Gothic Medium" panose="020B0603020102020204" charset="0"/>
                <a:ea typeface="微软雅黑" panose="020B0503020204020204" charset="-122"/>
              </a:rPr>
              <a:t>Context length : &gt;&gt;128</a:t>
            </a:r>
          </a:p>
        </p:txBody>
      </p:sp>
      <p:sp>
        <p:nvSpPr>
          <p:cNvPr id="7" name="文本框 6"/>
          <p:cNvSpPr txBox="1"/>
          <p:nvPr/>
        </p:nvSpPr>
        <p:spPr>
          <a:xfrm flipH="1">
            <a:off x="1671926" y="1238670"/>
            <a:ext cx="332280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One-step prediction </a:t>
            </a:r>
            <a:endParaRPr lang="zh-CN" altLang="en-US" dirty="0">
              <a:latin typeface="Franklin Gothic Medium" panose="020B0603020102020204" charset="0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 flipH="1">
            <a:off x="7606400" y="1188479"/>
            <a:ext cx="332280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Multi-step prediction </a:t>
            </a:r>
            <a:endParaRPr lang="zh-CN" altLang="en-US" dirty="0">
              <a:latin typeface="Franklin Gothic Medium" panose="020B0603020102020204" charset="0"/>
              <a:ea typeface="微软雅黑" panose="020B050302020402020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161925" y="1909738"/>
            <a:ext cx="3322810" cy="3452832"/>
            <a:chOff x="7161925" y="1909738"/>
            <a:chExt cx="3322810" cy="3452832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61925" y="1909738"/>
              <a:ext cx="3322810" cy="345283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12343" y="4712527"/>
              <a:ext cx="324951" cy="313936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05328" y="4723612"/>
              <a:ext cx="324951" cy="313936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3330" y="4734697"/>
              <a:ext cx="324951" cy="313936"/>
            </a:xfrm>
            <a:prstGeom prst="rect">
              <a:avLst/>
            </a:prstGeom>
          </p:spPr>
        </p:pic>
      </p:grpSp>
      <p:sp>
        <p:nvSpPr>
          <p:cNvPr id="15" name="矩形 14"/>
          <p:cNvSpPr/>
          <p:nvPr/>
        </p:nvSpPr>
        <p:spPr>
          <a:xfrm>
            <a:off x="1095089" y="1823325"/>
            <a:ext cx="576837" cy="613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097757" y="1718379"/>
            <a:ext cx="576837" cy="613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662451" y="5624602"/>
            <a:ext cx="497165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Franklin Gothic Medium" panose="020B0603020102020204" charset="0"/>
                <a:ea typeface="微软雅黑" panose="020B0503020204020204" charset="-122"/>
              </a:rPr>
              <a:t>Given fixed context,</a:t>
            </a:r>
            <a:r>
              <a:rPr lang="zh-CN" altLang="en-US" sz="2000" dirty="0">
                <a:latin typeface="Franklin Gothic Medium" panose="020B0603020102020204" charset="0"/>
                <a:ea typeface="微软雅黑" panose="020B0503020204020204" charset="-122"/>
              </a:rPr>
              <a:t> </a:t>
            </a:r>
            <a:r>
              <a:rPr lang="en-US" altLang="zh-CN" sz="2000" dirty="0">
                <a:latin typeface="Franklin Gothic Medium" panose="020B0603020102020204" charset="0"/>
                <a:ea typeface="微软雅黑" panose="020B0503020204020204" charset="-122"/>
              </a:rPr>
              <a:t>imagine future observations, imaging length &gt;&gt; 128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Comparisons with other architectures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8276" y="1704425"/>
            <a:ext cx="7145499" cy="31906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913488" y="5449964"/>
            <a:ext cx="54178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Franklin Gothic Medium" panose="020B0603020102020204" charset="0"/>
                <a:ea typeface="微软雅黑" panose="020B0503020204020204" charset="-122"/>
              </a:rPr>
              <a:t>Both transformers and titans are three layers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Franklin Gothic Medium" panose="020B0603020102020204" charset="0"/>
                <a:ea typeface="微软雅黑" panose="020B0503020204020204" charset="-122"/>
              </a:rPr>
              <a:t>mm-TEM is one-layer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Generalization in other settings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510" y="1772230"/>
            <a:ext cx="10531295" cy="262455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145199" y="4883843"/>
            <a:ext cx="804447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Franklin Gothic Medium" panose="020B0603020102020204" charset="0"/>
                <a:ea typeface="微软雅黑" panose="020B0503020204020204" charset="-122"/>
              </a:rPr>
              <a:t>mm-TEM can better understand the environment via structure learning and structured-memory based inference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Regular structure representation facilitates generalization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726" y="1789966"/>
            <a:ext cx="8714790" cy="3116036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Summary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auto">
              <a:lnSpc>
                <a:spcPts val="2080"/>
              </a:lnSpc>
              <a:buNone/>
            </a:pPr>
            <a:r>
              <a:rPr lang="zh-CN" altLang="en-US" dirty="0">
                <a:latin typeface="Franklin Gothic Medium" panose="020B0603020102020204" charset="0"/>
              </a:rPr>
              <a:t>We propose an eﬀicient TEM variant</a:t>
            </a:r>
            <a:r>
              <a:rPr lang="en-US" altLang="zh-CN" dirty="0">
                <a:latin typeface="Franklin Gothic Medium" panose="020B0603020102020204" charset="0"/>
              </a:rPr>
              <a:t> – mm-TEM: </a:t>
            </a:r>
          </a:p>
          <a:p>
            <a:pPr fontAlgn="auto">
              <a:lnSpc>
                <a:spcPts val="2080"/>
              </a:lnSpc>
            </a:pPr>
            <a:endParaRPr lang="en-US" altLang="zh-CN" dirty="0">
              <a:latin typeface="Franklin Gothic Medium" panose="020B0603020102020204" charset="0"/>
            </a:endParaRPr>
          </a:p>
          <a:p>
            <a:pPr fontAlgn="auto">
              <a:lnSpc>
                <a:spcPts val="2080"/>
              </a:lnSpc>
            </a:pPr>
            <a:r>
              <a:rPr lang="en-US" altLang="zh-CN" dirty="0">
                <a:latin typeface="Franklin Gothic Medium" panose="020B0603020102020204" charset="0"/>
              </a:rPr>
              <a:t>Parametric relational memory</a:t>
            </a:r>
          </a:p>
          <a:p>
            <a:pPr fontAlgn="auto">
              <a:lnSpc>
                <a:spcPts val="2080"/>
              </a:lnSpc>
            </a:pPr>
            <a:endParaRPr lang="en-US" altLang="zh-CN" dirty="0">
              <a:latin typeface="Franklin Gothic Medium" panose="020B0603020102020204" charset="0"/>
            </a:endParaRPr>
          </a:p>
          <a:p>
            <a:pPr fontAlgn="auto">
              <a:lnSpc>
                <a:spcPts val="2080"/>
              </a:lnSpc>
            </a:pPr>
            <a:r>
              <a:rPr lang="en-US" altLang="zh-CN" dirty="0">
                <a:latin typeface="Franklin Gothic Medium" panose="020B0603020102020204" charset="0"/>
              </a:rPr>
              <a:t>Emergence of Grid Patterns</a:t>
            </a:r>
          </a:p>
          <a:p>
            <a:pPr fontAlgn="auto">
              <a:lnSpc>
                <a:spcPts val="2080"/>
              </a:lnSpc>
            </a:pPr>
            <a:endParaRPr lang="en-US" altLang="zh-CN" dirty="0">
              <a:latin typeface="Franklin Gothic Medium" panose="020B0603020102020204" charset="0"/>
            </a:endParaRPr>
          </a:p>
          <a:p>
            <a:pPr fontAlgn="auto">
              <a:lnSpc>
                <a:spcPts val="2080"/>
              </a:lnSpc>
            </a:pPr>
            <a:r>
              <a:rPr lang="en-US" altLang="zh-CN" dirty="0">
                <a:latin typeface="Franklin Gothic Medium" panose="020B0603020102020204" charset="0"/>
              </a:rPr>
              <a:t>Grid Scale ∝ Prediction Horizon</a:t>
            </a:r>
          </a:p>
          <a:p>
            <a:pPr fontAlgn="auto">
              <a:lnSpc>
                <a:spcPts val="2080"/>
              </a:lnSpc>
            </a:pPr>
            <a:endParaRPr lang="en-US" altLang="zh-CN" dirty="0">
              <a:latin typeface="Franklin Gothic Medium" panose="020B0603020102020204" charset="0"/>
            </a:endParaRPr>
          </a:p>
          <a:p>
            <a:pPr fontAlgn="auto">
              <a:lnSpc>
                <a:spcPts val="2080"/>
              </a:lnSpc>
            </a:pPr>
            <a:r>
              <a:rPr lang="en-US" altLang="zh-CN" dirty="0">
                <a:latin typeface="Franklin Gothic Medium" panose="020B0603020102020204" charset="0"/>
              </a:rPr>
              <a:t>Structured memory enables Systematic Generalization (One-step, Multi-step, Large Environments)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Complementary memory system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Franklin Gothic Medium" panose="020B0603020102020204" charset="0"/>
              </a:rPr>
              <a:t>Transformer with limited window size serves as a precise short-term memory</a:t>
            </a:r>
          </a:p>
          <a:p>
            <a:r>
              <a:rPr lang="en-US" altLang="zh-CN" dirty="0">
                <a:latin typeface="Franklin Gothic Medium" panose="020B0603020102020204" charset="0"/>
              </a:rPr>
              <a:t>mm-TEM as a long-term and structured spatial memory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err="1">
                <a:latin typeface="Franklin Gothic Medium" panose="020B0603020102020204" charset="0"/>
              </a:rPr>
              <a:t>Hippoformer</a:t>
            </a:r>
            <a:r>
              <a:rPr lang="en-US" altLang="zh-CN" dirty="0">
                <a:latin typeface="Franklin Gothic Medium" panose="020B0603020102020204" charset="0"/>
              </a:rPr>
              <a:t>: integrating mm-TEM and transformer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165" y="1640205"/>
            <a:ext cx="6307338" cy="2964648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7074195" y="1983844"/>
            <a:ext cx="5053144" cy="2881405"/>
            <a:chOff x="5948641" y="1936524"/>
            <a:chExt cx="6528393" cy="372262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46698" y="2089785"/>
              <a:ext cx="3848140" cy="356936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6828378" y="1936524"/>
                  <a:ext cx="5084779" cy="3578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b="1" dirty="0" err="1">
                      <a:solidFill>
                        <a:srgbClr val="7030A0"/>
                      </a:solidFill>
                    </a:rPr>
                    <a:t>Hippoformer</a:t>
                  </a:r>
                  <a:r>
                    <a:rPr lang="en-US" altLang="zh-CN" sz="1200" b="1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altLang="zh-CN" sz="1200" b="1" dirty="0">
                      <a:solidFill>
                        <a:schemeClr val="tx1"/>
                      </a:solidFill>
                    </a:rPr>
                    <a:t>= </a:t>
                  </a:r>
                  <a:r>
                    <a:rPr lang="en-US" altLang="zh-CN" sz="1200" b="1" i="1" dirty="0">
                      <a:solidFill>
                        <a:schemeClr val="tx1"/>
                      </a:solidFill>
                    </a:rPr>
                    <a:t>transformer + mm-TEM with </a:t>
                  </a:r>
                  <a14:m>
                    <m:oMath xmlns:m="http://schemas.openxmlformats.org/officeDocument/2006/math"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𝒎𝒃</m:t>
                      </m:r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𝟖</m:t>
                      </m:r>
                    </m:oMath>
                  </a14:m>
                  <a:endParaRPr lang="en-US" altLang="zh-CN" sz="1200" b="1" i="1" dirty="0">
                    <a:solidFill>
                      <a:schemeClr val="tx1"/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8378" y="1936524"/>
                  <a:ext cx="5084779" cy="357868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5948641" y="5062869"/>
                  <a:ext cx="2445132" cy="3560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b="1" dirty="0">
                      <a:solidFill>
                        <a:schemeClr val="bg1">
                          <a:lumMod val="50000"/>
                        </a:schemeClr>
                      </a:solidFill>
                      <a:latin typeface="Franklin Gothic Medium" panose="020B0603020102020204" charset="0"/>
                      <a:ea typeface="微软雅黑" panose="020B0503020204020204" charset="-122"/>
                    </a:rPr>
                    <a:t>mm-TEM with </a:t>
                  </a:r>
                  <a14:m>
                    <m:oMath xmlns:m="http://schemas.openxmlformats.org/officeDocument/2006/math">
                      <m:r>
                        <a:rPr lang="en-US" altLang="zh-CN" sz="1200" b="1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𝒎𝒃</m:t>
                      </m:r>
                      <m:r>
                        <a:rPr lang="en-US" altLang="zh-CN" sz="1200" b="1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200" b="1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𝟏</m:t>
                      </m:r>
                    </m:oMath>
                  </a14:m>
                  <a:endParaRPr lang="en-US" altLang="zh-CN" sz="1200" b="1" i="1" dirty="0">
                    <a:solidFill>
                      <a:schemeClr val="bg1">
                        <a:lumMod val="50000"/>
                      </a:schemeClr>
                    </a:solidFill>
                    <a:latin typeface="Franklin Gothic Medium" panose="020B0603020102020204" charset="0"/>
                    <a:ea typeface="微软雅黑" panose="020B0503020204020204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8641" y="5062869"/>
                  <a:ext cx="2445132" cy="356048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/>
                <p:cNvSpPr txBox="1"/>
                <p:nvPr/>
              </p:nvSpPr>
              <p:spPr>
                <a:xfrm>
                  <a:off x="10112642" y="3516597"/>
                  <a:ext cx="2364392" cy="3578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b="1" dirty="0">
                      <a:solidFill>
                        <a:srgbClr val="EB726B"/>
                      </a:solidFill>
                    </a:rPr>
                    <a:t>mm-TEM with </a:t>
                  </a:r>
                  <a14:m>
                    <m:oMath xmlns:m="http://schemas.openxmlformats.org/officeDocument/2006/math">
                      <m:r>
                        <a:rPr lang="en-US" altLang="zh-CN" sz="1200" b="1" i="1">
                          <a:solidFill>
                            <a:srgbClr val="EB726B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𝒎𝒃</m:t>
                      </m:r>
                      <m:r>
                        <a:rPr lang="en-US" altLang="zh-CN" sz="1200" b="1" i="1">
                          <a:solidFill>
                            <a:srgbClr val="EB726B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200" b="1" i="1">
                          <a:solidFill>
                            <a:srgbClr val="EB726B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𝟖</m:t>
                      </m:r>
                    </m:oMath>
                  </a14:m>
                  <a:endParaRPr lang="en-US" altLang="zh-CN" sz="1200" b="1" i="1" dirty="0">
                    <a:solidFill>
                      <a:srgbClr val="EB726B"/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2642" y="3516597"/>
                  <a:ext cx="2364392" cy="357868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>
                <a:latin typeface="Franklin Gothic Medium" panose="020B0603020102020204" charset="0"/>
              </a:rPr>
              <a:t>Hippoformer: leveraging structured memorization with abstraction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420" y="4307840"/>
            <a:ext cx="10297160" cy="1475105"/>
          </a:xfrm>
          <a:prstGeom prst="rect">
            <a:avLst/>
          </a:prstGeom>
        </p:spPr>
      </p:pic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01621" y="1099820"/>
            <a:ext cx="2621280" cy="26619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2541" y="1120140"/>
            <a:ext cx="283972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latin typeface="Franklin Gothic Medium" panose="020B0603020102020204" charset="0"/>
              </a:rPr>
              <a:t>A sample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245" y="1106805"/>
            <a:ext cx="10309860" cy="4959985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Franklin Gothic Medium" panose="020B0603020102020204" charset="0"/>
              </a:rPr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1600" b="1" dirty="0">
                    <a:latin typeface="Franklin Gothic Medium" panose="020B0603020102020204" charset="0"/>
                    <a:cs typeface="Arial" panose="020B0604020202020204" pitchFamily="34" charset="0"/>
                  </a:rPr>
                  <a:t>mm-TEM: Efficient and Structured Spatial Memory Module </a:t>
                </a:r>
                <a:r>
                  <a:rPr lang="zh-CN" altLang="en-US" sz="1600" b="1" dirty="0">
                    <a:latin typeface="Franklin Gothic Medium" panose="020B0603020102020204" charset="0"/>
                    <a:cs typeface="Arial" panose="020B0604020202020204" pitchFamily="34" charset="0"/>
                  </a:rPr>
                  <a:t>（</a:t>
                </a:r>
                <a:r>
                  <a:rPr lang="en-US" altLang="zh-CN" sz="1600" b="1" dirty="0">
                    <a:latin typeface="Franklin Gothic Medium" panose="020B0603020102020204" charset="0"/>
                    <a:cs typeface="Arial" panose="020B0604020202020204" pitchFamily="34" charset="0"/>
                  </a:rPr>
                  <a:t>a variant of TEM</a:t>
                </a:r>
                <a:r>
                  <a:rPr lang="zh-CN" altLang="en-US" sz="1600" b="1" dirty="0">
                    <a:latin typeface="Franklin Gothic Medium" panose="020B0603020102020204" charset="0"/>
                    <a:cs typeface="Arial" panose="020B0604020202020204" pitchFamily="34" charset="0"/>
                  </a:rPr>
                  <a:t>）</a:t>
                </a:r>
                <a:endParaRPr lang="en-US" altLang="zh-CN" sz="1600" b="1" dirty="0">
                  <a:latin typeface="Franklin Gothic Medium" panose="020B060302010202020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latin typeface="Franklin Gothic Medium" panose="020B0603020102020204" charset="0"/>
                    <a:cs typeface="Arial" panose="020B0604020202020204" pitchFamily="34" charset="0"/>
                  </a:rPr>
                  <a:t>Introducing a parametric relational memory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latin typeface="Franklin Gothic Medium" panose="020B0603020102020204" charset="0"/>
                    <a:cs typeface="Arial" panose="020B0604020202020204" pitchFamily="34" charset="0"/>
                  </a:rPr>
                  <a:t>Emergent grid patterns reflecting organized internal encoding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latin typeface="Franklin Gothic Medium" panose="020B0603020102020204" charset="0"/>
                    <a:cs typeface="Arial" panose="020B0604020202020204" pitchFamily="34" charset="0"/>
                  </a:rPr>
                  <a:t>Prediction horizon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∝</m:t>
                    </m:r>
                  </m:oMath>
                </a14:m>
                <a:r>
                  <a:rPr lang="en-US" altLang="zh-CN" sz="1600" dirty="0">
                    <a:latin typeface="Franklin Gothic Medium" panose="020B0603020102020204" charset="0"/>
                    <a:cs typeface="Arial" panose="020B0604020202020204" pitchFamily="34" charset="0"/>
                  </a:rPr>
                  <a:t> grid scales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1600" b="1" dirty="0">
                    <a:latin typeface="Franklin Gothic Medium" panose="020B0603020102020204" charset="0"/>
                    <a:cs typeface="Arial" panose="020B0604020202020204" pitchFamily="34" charset="0"/>
                  </a:rPr>
                  <a:t>Superior Generalization via Structural Understanding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latin typeface="Franklin Gothic Medium" panose="020B0603020102020204" charset="0"/>
                    <a:cs typeface="Arial" panose="020B0604020202020204" pitchFamily="34" charset="0"/>
                  </a:rPr>
                  <a:t>Systematic generalization across long sequences, large environments, and multi-step predictions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latin typeface="Franklin Gothic Medium" panose="020B0603020102020204" charset="0"/>
                    <a:cs typeface="Arial" panose="020B0604020202020204" pitchFamily="34" charset="0"/>
                  </a:rPr>
                  <a:t>Stable internal structure characterized by regular cell patterns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1600" b="1" dirty="0" err="1">
                    <a:latin typeface="Franklin Gothic Medium" panose="020B0603020102020204" charset="0"/>
                    <a:cs typeface="Arial" panose="020B0604020202020204" pitchFamily="34" charset="0"/>
                  </a:rPr>
                  <a:t>Hippoformer</a:t>
                </a:r>
                <a:r>
                  <a:rPr lang="en-US" altLang="zh-CN" sz="1600" b="1" dirty="0">
                    <a:latin typeface="Franklin Gothic Medium" panose="020B0603020102020204" charset="0"/>
                    <a:cs typeface="Arial" panose="020B0604020202020204" pitchFamily="34" charset="0"/>
                  </a:rPr>
                  <a:t>: Hybrid Architecture (Transformer + mm-TEM)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latin typeface="Franklin Gothic Medium" panose="020B0603020102020204" charset="0"/>
                    <a:cs typeface="Arial" panose="020B0604020202020204" pitchFamily="34" charset="0"/>
                  </a:rPr>
                  <a:t>2D grid prediction: leverages precise short-term memory (Transformer) with long-term structured memory (mm-TEM)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latin typeface="Franklin Gothic Medium" panose="020B0603020102020204" charset="0"/>
                    <a:cs typeface="Arial" panose="020B0604020202020204" pitchFamily="34" charset="0"/>
                  </a:rPr>
                  <a:t>3D prediction: integrates memorization (mm-TEM) and abstraction (Transformer)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5360,&quot;width&quot;:1090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4123</Words>
  <Application>Microsoft Macintosh PowerPoint</Application>
  <PresentationFormat>宽屏</PresentationFormat>
  <Paragraphs>609</Paragraphs>
  <Slides>133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133</vt:i4>
      </vt:variant>
    </vt:vector>
  </HeadingPairs>
  <TitlesOfParts>
    <vt:vector size="158" baseType="lpstr">
      <vt:lpstr>Adobe Caslon Pro</vt:lpstr>
      <vt:lpstr>AdvTT1895a33e</vt:lpstr>
      <vt:lpstr>AdvTT1895a33e+fb</vt:lpstr>
      <vt:lpstr>AdvTTb278f7d1</vt:lpstr>
      <vt:lpstr>AdvTTc685db85</vt:lpstr>
      <vt:lpstr>-apple-system</vt:lpstr>
      <vt:lpstr>Avenir Next LT Pro</vt:lpstr>
      <vt:lpstr>Avenir Next LT Pro,Bold</vt:lpstr>
      <vt:lpstr>Cambria Math</vt:lpstr>
      <vt:lpstr>CambriaMath</vt:lpstr>
      <vt:lpstr>CenturySchoolbook</vt:lpstr>
      <vt:lpstr>DengXian</vt:lpstr>
      <vt:lpstr>Franklin Gothic Medium</vt:lpstr>
      <vt:lpstr>Helvetica</vt:lpstr>
      <vt:lpstr>LinLibertineT</vt:lpstr>
      <vt:lpstr>MS Mincho</vt:lpstr>
      <vt:lpstr>NimbusRomNo9L</vt:lpstr>
      <vt:lpstr>Roboto</vt:lpstr>
      <vt:lpstr>Times New Roman</vt:lpstr>
      <vt:lpstr>Wingdings</vt:lpstr>
      <vt:lpstr>黑体</vt:lpstr>
      <vt:lpstr>宋体</vt:lpstr>
      <vt:lpstr>微软雅黑</vt:lpstr>
      <vt:lpstr>Arial</vt:lpstr>
      <vt:lpstr>Office 主题</vt:lpstr>
      <vt:lpstr>An introduction to transformers and SSM</vt:lpstr>
      <vt:lpstr>Outline</vt:lpstr>
      <vt:lpstr>PowerPoint 演示文稿</vt:lpstr>
      <vt:lpstr>PowerPoint 演示文稿</vt:lpstr>
      <vt:lpstr>Some things about language</vt:lpstr>
      <vt:lpstr>Word2vector</vt:lpstr>
      <vt:lpstr>Word2vector</vt:lpstr>
      <vt:lpstr>Transformers</vt:lpstr>
      <vt:lpstr>Then transformer: words are represented by input embeddings</vt:lpstr>
      <vt:lpstr>Self-attention over word input embeddings</vt:lpstr>
      <vt:lpstr>Self-attention over word input embeddings</vt:lpstr>
      <vt:lpstr>Self-attention over word input embeddings</vt:lpstr>
      <vt:lpstr>Compute self-attention for all word in input parallelly</vt:lpstr>
      <vt:lpstr>Multi-head attention (H=4)</vt:lpstr>
      <vt:lpstr>Transformers: multi-head attention</vt:lpstr>
      <vt:lpstr>Transformers: feedforward layer</vt:lpstr>
      <vt:lpstr>A complete transformer block</vt:lpstr>
      <vt:lpstr>Transformer: Position encoding of words</vt:lpstr>
      <vt:lpstr>Transformer: Position encoding of words</vt:lpstr>
      <vt:lpstr>Transformers</vt:lpstr>
      <vt:lpstr>Transformers training on language task</vt:lpstr>
      <vt:lpstr>Transformers training on language task</vt:lpstr>
      <vt:lpstr>Transformers training on language task</vt:lpstr>
      <vt:lpstr>Attention visualization</vt:lpstr>
      <vt:lpstr>Attention Visualization</vt:lpstr>
      <vt:lpstr>Transformer VS RNN</vt:lpstr>
      <vt:lpstr>Language models, such Bert, GPT-3</vt:lpstr>
      <vt:lpstr>Transformers, Bert and GPT</vt:lpstr>
      <vt:lpstr>BERT: Bidirectional Encoder Representations from Transformers  </vt:lpstr>
      <vt:lpstr>Masked language model pretraining</vt:lpstr>
      <vt:lpstr>PowerPoint 演示文稿</vt:lpstr>
      <vt:lpstr>PowerPoint 演示文稿</vt:lpstr>
      <vt:lpstr>Different pre-training model architectures</vt:lpstr>
      <vt:lpstr>What makes GPT-3 different ?</vt:lpstr>
      <vt:lpstr>PowerPoint 演示文稿</vt:lpstr>
      <vt:lpstr>Structured State Space Models</vt:lpstr>
      <vt:lpstr>PowerPoint 演示文稿</vt:lpstr>
      <vt:lpstr>What is state space model ?</vt:lpstr>
      <vt:lpstr>后果：难以基于梯度学习算法，学习长序列之间的依赖关系</vt:lpstr>
      <vt:lpstr>From a dynamical system view</vt:lpstr>
      <vt:lpstr>Memory representations for sequential data</vt:lpstr>
      <vt:lpstr>Key idea of structured state space model</vt:lpstr>
      <vt:lpstr>A good state space model</vt:lpstr>
      <vt:lpstr>Online function approximation</vt:lpstr>
      <vt:lpstr>如果需要一个hidden state 最优地保存了一个sequence的信息： 可以将sequence 信息投影在一个定义好的泛函空间，hidden state 只需要保存空间中对应的坐标或者投影系数即可</vt:lpstr>
      <vt:lpstr>Online function approximation: 如何在线地获取投影系数？</vt:lpstr>
      <vt:lpstr>HiPPO framework: Memorizing sequences online </vt:lpstr>
      <vt:lpstr>Legendre polynomials</vt:lpstr>
      <vt:lpstr>以HiPPO-LegS 为例</vt:lpstr>
      <vt:lpstr>PowerPoint 演示文稿</vt:lpstr>
      <vt:lpstr>Online update version</vt:lpstr>
      <vt:lpstr>HiPPO-LegS</vt:lpstr>
      <vt:lpstr>HiPPO framework: Memorizing sequences online </vt:lpstr>
      <vt:lpstr>State space model</vt:lpstr>
      <vt:lpstr>Closed-form solution</vt:lpstr>
      <vt:lpstr>PowerPoint 演示文稿</vt:lpstr>
      <vt:lpstr>Recurrent computation</vt:lpstr>
      <vt:lpstr>PowerPoint 演示文稿</vt:lpstr>
      <vt:lpstr>Convolutional computation</vt:lpstr>
      <vt:lpstr>Let’s prove it</vt:lpstr>
      <vt:lpstr>Convolutional formulation: create the kernel </vt:lpstr>
      <vt:lpstr>PowerPoint 演示文稿</vt:lpstr>
      <vt:lpstr>PowerPoint 演示文稿</vt:lpstr>
      <vt:lpstr>PowerPoint 演示文稿</vt:lpstr>
      <vt:lpstr>PowerPoint 演示文稿</vt:lpstr>
      <vt:lpstr>Convolutional and recurrent computation</vt:lpstr>
      <vt:lpstr>The HiPPO recurrence</vt:lpstr>
      <vt:lpstr>S4: A and B initialized with HiPPO theory</vt:lpstr>
      <vt:lpstr>PowerPoint 演示文稿</vt:lpstr>
      <vt:lpstr>PowerPoint 演示文稿</vt:lpstr>
      <vt:lpstr>pMNIST classification task</vt:lpstr>
      <vt:lpstr>PowerPoint 演示文稿</vt:lpstr>
      <vt:lpstr>S4 parameterization: Normal plus low-rank</vt:lpstr>
      <vt:lpstr>S4 parameterization: Normal plus low-rank</vt:lpstr>
      <vt:lpstr>PowerPoint 演示文稿</vt:lpstr>
      <vt:lpstr>PowerPoint 演示文稿</vt:lpstr>
      <vt:lpstr>PowerPoint 演示文稿</vt:lpstr>
      <vt:lpstr>Transformers are state space model</vt:lpstr>
      <vt:lpstr>Transformers, SSM and Neuroscience</vt:lpstr>
      <vt:lpstr>Amari-Hopfield model - Encoding memory Patterns Using Hebb Rule</vt:lpstr>
      <vt:lpstr>Hopfield model-encoding memories as discrete attractors </vt:lpstr>
      <vt:lpstr>Hopfield model as a energy-based model</vt:lpstr>
      <vt:lpstr>Memory Capacity of Hopfield Network ~ 0.14N</vt:lpstr>
      <vt:lpstr>Dense associative memory</vt:lpstr>
      <vt:lpstr>Transformer from a Memory View</vt:lpstr>
      <vt:lpstr>Transformer from a Memory View</vt:lpstr>
      <vt:lpstr>How might the brain realize a Transformer-like computation?</vt:lpstr>
      <vt:lpstr>How to capture relationships by encoding a complete input sequence in parallel in the brain?</vt:lpstr>
      <vt:lpstr>单个神经元选择性取决于过去、现在和预测的将来</vt:lpstr>
      <vt:lpstr>Traving wave 将时序信息转换为 spacetime code</vt:lpstr>
      <vt:lpstr>Traveling wave and SSM </vt:lpstr>
      <vt:lpstr>Wave-generating networks learn complex sequence tasks better</vt:lpstr>
      <vt:lpstr>How to model long spatial-temporal sequence efficiently is an open question</vt:lpstr>
      <vt:lpstr>Limitations of Transformer</vt:lpstr>
      <vt:lpstr>1. Self-attention’s quadratic complexity</vt:lpstr>
      <vt:lpstr>最先进的多模态大模型在空间智能水平远远落后人类</vt:lpstr>
      <vt:lpstr>One Solution: Memory compression</vt:lpstr>
      <vt:lpstr> Tians：learning to memorize at test time (1)</vt:lpstr>
      <vt:lpstr> Tians：learning to memorize at test time (2)</vt:lpstr>
      <vt:lpstr>New sequence models in Machine Learning</vt:lpstr>
      <vt:lpstr>Memorizing long sequence</vt:lpstr>
      <vt:lpstr>Long sequence modeling is not simply memorization</vt:lpstr>
      <vt:lpstr>Hippocampus: a structured memory system  </vt:lpstr>
      <vt:lpstr>Key characteristics of EC-HC system</vt:lpstr>
      <vt:lpstr>The Eichenbaum-Tolman Machine(TEM)</vt:lpstr>
      <vt:lpstr>Self-supervised Learning abstract structure in TEM</vt:lpstr>
      <vt:lpstr>PowerPoint 演示文稿</vt:lpstr>
      <vt:lpstr>Limitations of Relational memory in TEM</vt:lpstr>
      <vt:lpstr>TEM Transformer</vt:lpstr>
      <vt:lpstr>Limitations in TEM and TEM-t</vt:lpstr>
      <vt:lpstr>mm-TEM: an efficient variant of TEM</vt:lpstr>
      <vt:lpstr>Meta-MLP as a Memory system</vt:lpstr>
      <vt:lpstr>Novelty-based update rule in meta-MLP</vt:lpstr>
      <vt:lpstr>Relational Memory Network</vt:lpstr>
      <vt:lpstr>Error correction in mm-TEM</vt:lpstr>
      <vt:lpstr>Comparison with TEM and TEM-t</vt:lpstr>
      <vt:lpstr>Results</vt:lpstr>
      <vt:lpstr>2D Grid world prediction task</vt:lpstr>
      <vt:lpstr>2D Grid world prediction task</vt:lpstr>
      <vt:lpstr>Emergence of grid pattern</vt:lpstr>
      <vt:lpstr>mb : control prediction horizon</vt:lpstr>
      <vt:lpstr>Prediction horizon affects grid scale</vt:lpstr>
      <vt:lpstr>A possible explanation: Grid scale vs mb</vt:lpstr>
      <vt:lpstr>Generalization evaluation</vt:lpstr>
      <vt:lpstr>Comparisons with other architectures</vt:lpstr>
      <vt:lpstr>Generalization in other settings</vt:lpstr>
      <vt:lpstr>Regular structure representation facilitates generalization</vt:lpstr>
      <vt:lpstr>Summary</vt:lpstr>
      <vt:lpstr>Complementary memory system</vt:lpstr>
      <vt:lpstr>Hippoformer: integrating mm-TEM and transformer</vt:lpstr>
      <vt:lpstr>Hippoformer: leveraging structured memorization with abstraction</vt:lpstr>
      <vt:lpstr>A sample</vt:lpstr>
      <vt:lpstr>Conclusion</vt:lpstr>
    </vt:vector>
  </TitlesOfParts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Geometry</dc:title>
  <dc:creator>Microsoft Office 用户</dc:creator>
  <cp:lastModifiedBy>Microsoft Office 用户</cp:lastModifiedBy>
  <cp:revision>978</cp:revision>
  <dcterms:created xsi:type="dcterms:W3CDTF">2021-11-15T13:49:00Z</dcterms:created>
  <dcterms:modified xsi:type="dcterms:W3CDTF">2026-07-01T02:44:06Z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721BD474BD5D45439FE34A8ACC85403C_12</vt:lpwstr>
  </property>
  <property fmtid="{D5CDD505-2E9C-101B-9397-08002B2CF9AE}" pid="3" name="KSOProductBuildVer">
    <vt:lpwstr>2052-12.1.0.26895</vt:lpwstr>
  </property>
</Properties>
</file>