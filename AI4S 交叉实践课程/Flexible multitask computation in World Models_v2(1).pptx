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334" r:id="rId3"/>
    <p:sldId id="335" r:id="rId4"/>
    <p:sldId id="336" r:id="rId5"/>
    <p:sldId id="305" r:id="rId6"/>
    <p:sldId id="303" r:id="rId7"/>
    <p:sldId id="332" r:id="rId8"/>
    <p:sldId id="333" r:id="rId9"/>
    <p:sldId id="261" r:id="rId10"/>
    <p:sldId id="337" r:id="rId11"/>
    <p:sldId id="304" r:id="rId12"/>
    <p:sldId id="270" r:id="rId13"/>
    <p:sldId id="306" r:id="rId14"/>
    <p:sldId id="338" r:id="rId15"/>
    <p:sldId id="307" r:id="rId16"/>
    <p:sldId id="340" r:id="rId17"/>
    <p:sldId id="341" r:id="rId18"/>
    <p:sldId id="339"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64" autoAdjust="0"/>
    <p:restoredTop sz="57283"/>
  </p:normalViewPr>
  <p:slideViewPr>
    <p:cSldViewPr snapToGrid="0">
      <p:cViewPr varScale="1">
        <p:scale>
          <a:sx n="68" d="100"/>
          <a:sy n="68" d="100"/>
        </p:scale>
        <p:origin x="256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5CD300-EDA1-014E-B616-F9B4D3E9B01C}" type="datetimeFigureOut">
              <a:rPr kumimoji="1" lang="zh-CN" altLang="en-US" smtClean="0"/>
              <a:t>2026/6/29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C4F855-2310-9741-91FD-15FAA3FBA5BC}" type="slidenum">
              <a:rPr kumimoji="1" lang="zh-CN" altLang="en-US" smtClean="0"/>
              <a:t>‹#›</a:t>
            </a:fld>
            <a:endParaRPr kumimoji="1" lang="zh-CN" altLang="en-US"/>
          </a:p>
        </p:txBody>
      </p:sp>
    </p:spTree>
    <p:extLst>
      <p:ext uri="{BB962C8B-B14F-4D97-AF65-F5344CB8AC3E}">
        <p14:creationId xmlns:p14="http://schemas.microsoft.com/office/powerpoint/2010/main" val="2624034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5C4F855-2310-9741-91FD-15FAA3FBA5BC}" type="slidenum">
              <a:rPr kumimoji="1" lang="zh-CN" altLang="en-US" smtClean="0"/>
              <a:t>1</a:t>
            </a:fld>
            <a:endParaRPr kumimoji="1" lang="zh-CN" altLang="en-US"/>
          </a:p>
        </p:txBody>
      </p:sp>
    </p:spTree>
    <p:extLst>
      <p:ext uri="{BB962C8B-B14F-4D97-AF65-F5344CB8AC3E}">
        <p14:creationId xmlns:p14="http://schemas.microsoft.com/office/powerpoint/2010/main" val="22697965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dreamer</a:t>
            </a:r>
            <a:endParaRPr kumimoji="1" lang="zh-CN" altLang="en-US" dirty="0"/>
          </a:p>
        </p:txBody>
      </p:sp>
      <p:sp>
        <p:nvSpPr>
          <p:cNvPr id="4" name="灯片编号占位符 3"/>
          <p:cNvSpPr>
            <a:spLocks noGrp="1"/>
          </p:cNvSpPr>
          <p:nvPr>
            <p:ph type="sldNum" sz="quarter" idx="5"/>
          </p:nvPr>
        </p:nvSpPr>
        <p:spPr/>
        <p:txBody>
          <a:bodyPr/>
          <a:lstStyle/>
          <a:p>
            <a:fld id="{E5C4F855-2310-9741-91FD-15FAA3FBA5BC}" type="slidenum">
              <a:rPr kumimoji="1" lang="zh-CN" altLang="en-US" smtClean="0"/>
              <a:t>2</a:t>
            </a:fld>
            <a:endParaRPr kumimoji="1" lang="zh-CN" altLang="en-US"/>
          </a:p>
        </p:txBody>
      </p:sp>
    </p:spTree>
    <p:extLst>
      <p:ext uri="{BB962C8B-B14F-4D97-AF65-F5344CB8AC3E}">
        <p14:creationId xmlns:p14="http://schemas.microsoft.com/office/powerpoint/2010/main" val="4040418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3EAA5-F194-BFE4-391D-677E985BF3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1992B8B-F979-971E-B39E-B6A14E39866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48119AC-8C57-0C13-0C1D-3D4C71E66AE2}"/>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4DC7924F-0138-6C5C-6783-1C4A98D9B887}"/>
              </a:ext>
            </a:extLst>
          </p:cNvPr>
          <p:cNvSpPr>
            <a:spLocks noGrp="1"/>
          </p:cNvSpPr>
          <p:nvPr>
            <p:ph type="sldNum" sz="quarter" idx="5"/>
          </p:nvPr>
        </p:nvSpPr>
        <p:spPr/>
        <p:txBody>
          <a:bodyPr/>
          <a:lstStyle/>
          <a:p>
            <a:fld id="{E5C4F855-2310-9741-91FD-15FAA3FBA5BC}" type="slidenum">
              <a:rPr kumimoji="1" lang="zh-CN" altLang="en-US" smtClean="0"/>
              <a:t>5</a:t>
            </a:fld>
            <a:endParaRPr kumimoji="1" lang="zh-CN" altLang="en-US"/>
          </a:p>
        </p:txBody>
      </p:sp>
    </p:spTree>
    <p:extLst>
      <p:ext uri="{BB962C8B-B14F-4D97-AF65-F5344CB8AC3E}">
        <p14:creationId xmlns:p14="http://schemas.microsoft.com/office/powerpoint/2010/main" val="1620778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F57A-5D12-F6D5-5723-3D283DE0D2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95FBD56-793C-705B-CC65-0DA41D77CEE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5BEF96D-ED32-14E6-BD89-C4DB138F599E}"/>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DBC71125-0958-B96B-9261-9108DC61678C}"/>
              </a:ext>
            </a:extLst>
          </p:cNvPr>
          <p:cNvSpPr>
            <a:spLocks noGrp="1"/>
          </p:cNvSpPr>
          <p:nvPr>
            <p:ph type="sldNum" sz="quarter" idx="5"/>
          </p:nvPr>
        </p:nvSpPr>
        <p:spPr/>
        <p:txBody>
          <a:bodyPr/>
          <a:lstStyle/>
          <a:p>
            <a:fld id="{E5C4F855-2310-9741-91FD-15FAA3FBA5BC}" type="slidenum">
              <a:rPr kumimoji="1" lang="zh-CN" altLang="en-US" smtClean="0"/>
              <a:t>6</a:t>
            </a:fld>
            <a:endParaRPr kumimoji="1" lang="zh-CN" altLang="en-US"/>
          </a:p>
        </p:txBody>
      </p:sp>
    </p:spTree>
    <p:extLst>
      <p:ext uri="{BB962C8B-B14F-4D97-AF65-F5344CB8AC3E}">
        <p14:creationId xmlns:p14="http://schemas.microsoft.com/office/powerpoint/2010/main" val="922009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185BC-760C-C751-BEA5-162C126E71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BDB524-88F0-1E52-8509-EB07F64C86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9ABDE11-0ED4-3F58-E1F6-8CC548656E1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这部分像 </a:t>
            </a:r>
            <a:r>
              <a:rPr lang="en" altLang="zh-CN" b="1" dirty="0"/>
              <a:t>simulator</a:t>
            </a:r>
            <a:r>
              <a:rPr lang="zh-CN" altLang="en" dirty="0"/>
              <a:t>，</a:t>
            </a:r>
            <a:r>
              <a:rPr lang="zh-CN" altLang="en-US" dirty="0"/>
              <a:t>因为它模拟“如果我做这个动作，未来 </a:t>
            </a:r>
            <a:r>
              <a:rPr lang="en" altLang="zh-CN" dirty="0"/>
              <a:t>latent state </a:t>
            </a:r>
            <a:r>
              <a:rPr lang="zh-CN" altLang="en-US" dirty="0"/>
              <a:t>和 </a:t>
            </a:r>
            <a:r>
              <a:rPr lang="en" altLang="zh-CN" dirty="0"/>
              <a:t>reward </a:t>
            </a:r>
            <a:r>
              <a:rPr lang="zh-CN" altLang="en-US" dirty="0"/>
              <a:t>会怎样”。</a:t>
            </a:r>
          </a:p>
          <a:p>
            <a:endParaRPr kumimoji="1" lang="zh-CN" altLang="en-US" dirty="0"/>
          </a:p>
        </p:txBody>
      </p:sp>
      <p:sp>
        <p:nvSpPr>
          <p:cNvPr id="4" name="灯片编号占位符 3">
            <a:extLst>
              <a:ext uri="{FF2B5EF4-FFF2-40B4-BE49-F238E27FC236}">
                <a16:creationId xmlns:a16="http://schemas.microsoft.com/office/drawing/2014/main" id="{05157ED7-04B9-5C60-159F-233ED9A9A3DA}"/>
              </a:ext>
            </a:extLst>
          </p:cNvPr>
          <p:cNvSpPr>
            <a:spLocks noGrp="1"/>
          </p:cNvSpPr>
          <p:nvPr>
            <p:ph type="sldNum" sz="quarter" idx="5"/>
          </p:nvPr>
        </p:nvSpPr>
        <p:spPr/>
        <p:txBody>
          <a:bodyPr/>
          <a:lstStyle/>
          <a:p>
            <a:fld id="{E5C4F855-2310-9741-91FD-15FAA3FBA5BC}" type="slidenum">
              <a:rPr kumimoji="1" lang="zh-CN" altLang="en-US" smtClean="0"/>
              <a:t>7</a:t>
            </a:fld>
            <a:endParaRPr kumimoji="1" lang="zh-CN" altLang="en-US"/>
          </a:p>
        </p:txBody>
      </p:sp>
    </p:spTree>
    <p:extLst>
      <p:ext uri="{BB962C8B-B14F-4D97-AF65-F5344CB8AC3E}">
        <p14:creationId xmlns:p14="http://schemas.microsoft.com/office/powerpoint/2010/main" val="1737935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AD652-B3AA-587F-3093-A10376D6AE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C2AA96A-462D-41B9-865D-C6CCB919E4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96AB74-A360-8227-F23D-C824DD074B7D}"/>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B28CAF0F-A4E7-0B49-385A-6D6622B7CFE8}"/>
              </a:ext>
            </a:extLst>
          </p:cNvPr>
          <p:cNvSpPr>
            <a:spLocks noGrp="1"/>
          </p:cNvSpPr>
          <p:nvPr>
            <p:ph type="sldNum" sz="quarter" idx="5"/>
          </p:nvPr>
        </p:nvSpPr>
        <p:spPr/>
        <p:txBody>
          <a:bodyPr/>
          <a:lstStyle/>
          <a:p>
            <a:fld id="{E5C4F855-2310-9741-91FD-15FAA3FBA5BC}" type="slidenum">
              <a:rPr kumimoji="1" lang="zh-CN" altLang="en-US" smtClean="0"/>
              <a:t>8</a:t>
            </a:fld>
            <a:endParaRPr kumimoji="1" lang="zh-CN" altLang="en-US"/>
          </a:p>
        </p:txBody>
      </p:sp>
    </p:spTree>
    <p:extLst>
      <p:ext uri="{BB962C8B-B14F-4D97-AF65-F5344CB8AC3E}">
        <p14:creationId xmlns:p14="http://schemas.microsoft.com/office/powerpoint/2010/main" val="224339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5C4F855-2310-9741-91FD-15FAA3FBA5BC}" type="slidenum">
              <a:rPr kumimoji="1" lang="zh-CN" altLang="en-US" smtClean="0"/>
              <a:t>9</a:t>
            </a:fld>
            <a:endParaRPr kumimoji="1" lang="zh-CN" altLang="en-US"/>
          </a:p>
        </p:txBody>
      </p:sp>
    </p:spTree>
    <p:extLst>
      <p:ext uri="{BB962C8B-B14F-4D97-AF65-F5344CB8AC3E}">
        <p14:creationId xmlns:p14="http://schemas.microsoft.com/office/powerpoint/2010/main" val="39397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BF3B9-CDD3-9443-2156-8AF8E99735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4772D3-EBF9-3163-5D6C-2208F5393F5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824AD6A-1D7D-11B1-D4EA-8CA219B06FE1}"/>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F4F94D8-AF4D-2777-8863-70A45BC4CE49}"/>
              </a:ext>
            </a:extLst>
          </p:cNvPr>
          <p:cNvSpPr>
            <a:spLocks noGrp="1"/>
          </p:cNvSpPr>
          <p:nvPr>
            <p:ph type="sldNum" sz="quarter" idx="5"/>
          </p:nvPr>
        </p:nvSpPr>
        <p:spPr/>
        <p:txBody>
          <a:bodyPr/>
          <a:lstStyle/>
          <a:p>
            <a:fld id="{E5C4F855-2310-9741-91FD-15FAA3FBA5BC}" type="slidenum">
              <a:rPr kumimoji="1" lang="zh-CN" altLang="en-US" smtClean="0"/>
              <a:t>11</a:t>
            </a:fld>
            <a:endParaRPr kumimoji="1" lang="zh-CN" altLang="en-US"/>
          </a:p>
        </p:txBody>
      </p:sp>
    </p:spTree>
    <p:extLst>
      <p:ext uri="{BB962C8B-B14F-4D97-AF65-F5344CB8AC3E}">
        <p14:creationId xmlns:p14="http://schemas.microsoft.com/office/powerpoint/2010/main" val="3788868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075E-ED1A-E3AA-1BA9-E7AC3E80C0F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41FFED-0552-7772-4BA8-C7BB10E3F1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2BDDF30-A805-9526-31A3-54611A6AF1CC}"/>
              </a:ext>
            </a:extLst>
          </p:cNvPr>
          <p:cNvSpPr>
            <a:spLocks noGrp="1"/>
          </p:cNvSpPr>
          <p:nvPr>
            <p:ph type="body" idx="1"/>
          </p:nvPr>
        </p:nvSpPr>
        <p:spPr/>
        <p:txBody>
          <a:bodyPr/>
          <a:lstStyle/>
          <a:p>
            <a:r>
              <a:rPr kumimoji="1" lang="en-US" altLang="zh-CN" dirty="0"/>
              <a:t>1. </a:t>
            </a:r>
            <a:r>
              <a:rPr kumimoji="1" lang="zh-CN" altLang="en-US" dirty="0"/>
              <a:t>有限的可扩展性与架构普适性</a:t>
            </a:r>
          </a:p>
          <a:p>
            <a:r>
              <a:rPr kumimoji="1" lang="zh-CN" altLang="en-US" dirty="0"/>
              <a:t>现有发现主要基于小规模循环网络和高度受控的任务族。目前仍不清楚，在更大规模、更异质的多任务设置中，或在 </a:t>
            </a:r>
            <a:r>
              <a:rPr kumimoji="1" lang="en" altLang="zh-CN" dirty="0"/>
              <a:t>Transformer </a:t>
            </a:r>
            <a:r>
              <a:rPr kumimoji="1" lang="zh-CN" altLang="en-US" dirty="0"/>
              <a:t>与世界模型等现代架构中，是否也会涌现出类似稳定且可解释的共享结构。</a:t>
            </a:r>
          </a:p>
          <a:p>
            <a:endParaRPr kumimoji="1" lang="zh-CN" altLang="en-US" dirty="0"/>
          </a:p>
          <a:p>
            <a:r>
              <a:rPr kumimoji="1" lang="en-US" altLang="zh-CN" dirty="0"/>
              <a:t>2. </a:t>
            </a:r>
            <a:r>
              <a:rPr kumimoji="1" lang="zh-CN" altLang="en-US" dirty="0"/>
              <a:t>任务监督表征，而非预测式世界模型</a:t>
            </a:r>
          </a:p>
          <a:p>
            <a:r>
              <a:rPr kumimoji="1" lang="zh-CN" altLang="en-US" dirty="0"/>
              <a:t>大多数研究使用合成输入，并通过任务特定的输出监督来训练模型。因此，图式通常被识别为一种支持特定行为读出的表征，而不是一种能够预测潜在状态转移、未来观察或动作后果的内部模型。</a:t>
            </a:r>
          </a:p>
          <a:p>
            <a:endParaRPr kumimoji="1" lang="zh-CN" altLang="en-US" dirty="0"/>
          </a:p>
          <a:p>
            <a:r>
              <a:rPr kumimoji="1" lang="en-US" altLang="zh-CN" dirty="0"/>
              <a:t>3. </a:t>
            </a:r>
            <a:r>
              <a:rPr kumimoji="1" lang="zh-CN" altLang="en-US" dirty="0"/>
              <a:t>对功能效用和系统性泛化的证据有限</a:t>
            </a:r>
          </a:p>
          <a:p>
            <a:r>
              <a:rPr kumimoji="1" lang="zh-CN" altLang="en-US" dirty="0"/>
              <a:t>共享的低维结构往往是在事后通过降维或解码分析被识别出来。然而，目前仍不清楚这些结构是否因果地支持少样本迁移、组合式泛化、持续学习，或在未见过的任务组合中的规划。</a:t>
            </a:r>
          </a:p>
        </p:txBody>
      </p:sp>
      <p:sp>
        <p:nvSpPr>
          <p:cNvPr id="4" name="灯片编号占位符 3">
            <a:extLst>
              <a:ext uri="{FF2B5EF4-FFF2-40B4-BE49-F238E27FC236}">
                <a16:creationId xmlns:a16="http://schemas.microsoft.com/office/drawing/2014/main" id="{03033364-ABAF-1360-A5C8-A77FD44D8FE8}"/>
              </a:ext>
            </a:extLst>
          </p:cNvPr>
          <p:cNvSpPr>
            <a:spLocks noGrp="1"/>
          </p:cNvSpPr>
          <p:nvPr>
            <p:ph type="sldNum" sz="quarter" idx="5"/>
          </p:nvPr>
        </p:nvSpPr>
        <p:spPr/>
        <p:txBody>
          <a:bodyPr/>
          <a:lstStyle/>
          <a:p>
            <a:fld id="{E5C4F855-2310-9741-91FD-15FAA3FBA5BC}" type="slidenum">
              <a:rPr kumimoji="1" lang="zh-CN" altLang="en-US" smtClean="0"/>
              <a:t>13</a:t>
            </a:fld>
            <a:endParaRPr kumimoji="1" lang="zh-CN" altLang="en-US"/>
          </a:p>
        </p:txBody>
      </p:sp>
    </p:spTree>
    <p:extLst>
      <p:ext uri="{BB962C8B-B14F-4D97-AF65-F5344CB8AC3E}">
        <p14:creationId xmlns:p14="http://schemas.microsoft.com/office/powerpoint/2010/main" val="30077456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034C0-C53C-19E1-6A14-9D521BF2DA8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947AE2-56A2-1593-596D-04DFDCE51AB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9B920A3-C46B-0624-66C4-FE7D0EB7634D}"/>
              </a:ext>
            </a:extLst>
          </p:cNvPr>
          <p:cNvSpPr>
            <a:spLocks noGrp="1"/>
          </p:cNvSpPr>
          <p:nvPr>
            <p:ph type="body" idx="1"/>
          </p:nvPr>
        </p:nvSpPr>
        <p:spPr/>
        <p:txBody>
          <a:bodyPr/>
          <a:lstStyle/>
          <a:p>
            <a:r>
              <a:rPr kumimoji="1" lang="en-US" altLang="zh-CN" dirty="0"/>
              <a:t>1. </a:t>
            </a:r>
            <a:r>
              <a:rPr kumimoji="1" lang="zh-CN" altLang="en-US" dirty="0"/>
              <a:t>可解释的世界模型能否揭示认知图式如何支持跨任务预测？</a:t>
            </a:r>
          </a:p>
          <a:p>
            <a:endParaRPr kumimoji="1" lang="zh-CN" altLang="en-US" dirty="0"/>
          </a:p>
          <a:p>
            <a:r>
              <a:rPr kumimoji="1" lang="en-US" altLang="zh-CN" dirty="0"/>
              <a:t>2. </a:t>
            </a:r>
            <a:r>
              <a:rPr kumimoji="1" lang="zh-CN" altLang="en-US" dirty="0"/>
              <a:t>图式能否被定义为一种可复用的潜在结构，用于支持不同任务或情境下的预测？</a:t>
            </a:r>
          </a:p>
          <a:p>
            <a:endParaRPr kumimoji="1" lang="zh-CN" altLang="en-US" dirty="0"/>
          </a:p>
          <a:p>
            <a:r>
              <a:rPr kumimoji="1" lang="en-US" altLang="zh-CN" dirty="0"/>
              <a:t>3. </a:t>
            </a:r>
            <a:r>
              <a:rPr kumimoji="1" lang="zh-CN" altLang="en-US" dirty="0"/>
              <a:t>如果模型必须预测未来观察，那么图式是否会因为能够压缩任务结构并提升预测能力而变得有用？</a:t>
            </a:r>
          </a:p>
          <a:p>
            <a:endParaRPr kumimoji="1" lang="zh-CN" altLang="en-US" dirty="0"/>
          </a:p>
          <a:p>
            <a:r>
              <a:rPr kumimoji="1" lang="en-US" altLang="zh-CN" dirty="0"/>
              <a:t>4. </a:t>
            </a:r>
            <a:r>
              <a:rPr kumimoji="1" lang="zh-CN" altLang="en-US" dirty="0"/>
              <a:t>我们如何在一个已学习的世界模型内部识别、可视化并检验类图式结构？</a:t>
            </a:r>
          </a:p>
        </p:txBody>
      </p:sp>
      <p:sp>
        <p:nvSpPr>
          <p:cNvPr id="4" name="灯片编号占位符 3">
            <a:extLst>
              <a:ext uri="{FF2B5EF4-FFF2-40B4-BE49-F238E27FC236}">
                <a16:creationId xmlns:a16="http://schemas.microsoft.com/office/drawing/2014/main" id="{E4697354-BC6C-7404-AD67-6416EEC7E467}"/>
              </a:ext>
            </a:extLst>
          </p:cNvPr>
          <p:cNvSpPr>
            <a:spLocks noGrp="1"/>
          </p:cNvSpPr>
          <p:nvPr>
            <p:ph type="sldNum" sz="quarter" idx="5"/>
          </p:nvPr>
        </p:nvSpPr>
        <p:spPr/>
        <p:txBody>
          <a:bodyPr/>
          <a:lstStyle/>
          <a:p>
            <a:fld id="{E5C4F855-2310-9741-91FD-15FAA3FBA5BC}" type="slidenum">
              <a:rPr kumimoji="1" lang="zh-CN" altLang="en-US" smtClean="0"/>
              <a:t>14</a:t>
            </a:fld>
            <a:endParaRPr kumimoji="1" lang="zh-CN" altLang="en-US"/>
          </a:p>
        </p:txBody>
      </p:sp>
    </p:spTree>
    <p:extLst>
      <p:ext uri="{BB962C8B-B14F-4D97-AF65-F5344CB8AC3E}">
        <p14:creationId xmlns:p14="http://schemas.microsoft.com/office/powerpoint/2010/main" val="708280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879AC-8EA4-754F-1B1A-A84C2F6664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FA6B65-3ED6-13FB-0EE1-35EE8E7B6CA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CF5625D-056F-2C38-40B0-1D09925B32AC}"/>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A9D25766-E1B7-F479-3B56-D2A34ACC6E96}"/>
              </a:ext>
            </a:extLst>
          </p:cNvPr>
          <p:cNvSpPr>
            <a:spLocks noGrp="1"/>
          </p:cNvSpPr>
          <p:nvPr>
            <p:ph type="sldNum" sz="quarter" idx="5"/>
          </p:nvPr>
        </p:nvSpPr>
        <p:spPr/>
        <p:txBody>
          <a:bodyPr/>
          <a:lstStyle/>
          <a:p>
            <a:fld id="{E5C4F855-2310-9741-91FD-15FAA3FBA5BC}" type="slidenum">
              <a:rPr kumimoji="1" lang="zh-CN" altLang="en-US" smtClean="0"/>
              <a:t>15</a:t>
            </a:fld>
            <a:endParaRPr kumimoji="1" lang="zh-CN" altLang="en-US"/>
          </a:p>
        </p:txBody>
      </p:sp>
    </p:spTree>
    <p:extLst>
      <p:ext uri="{BB962C8B-B14F-4D97-AF65-F5344CB8AC3E}">
        <p14:creationId xmlns:p14="http://schemas.microsoft.com/office/powerpoint/2010/main" val="32796103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A02B6-F1FA-96C6-75C8-70A20F6781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405B5FE-0A7F-3818-B486-0066F32402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4A98936-B58D-4244-8DE3-6C19F2486E4B}"/>
              </a:ext>
            </a:extLst>
          </p:cNvPr>
          <p:cNvSpPr>
            <a:spLocks noGrp="1"/>
          </p:cNvSpPr>
          <p:nvPr>
            <p:ph type="body" idx="1"/>
          </p:nvPr>
        </p:nvSpPr>
        <p:spPr/>
        <p:txBody>
          <a:bodyPr/>
          <a:lstStyle/>
          <a:p>
            <a:r>
              <a:rPr lang="en" altLang="zh-CN" dirty="0"/>
              <a:t>T(h(m))</a:t>
            </a:r>
            <a:r>
              <a:rPr lang="zh-CN" altLang="en-US" dirty="0"/>
              <a:t>：</a:t>
            </a:r>
            <a:r>
              <a:rPr lang="en" altLang="zh-CN" b="1" dirty="0"/>
              <a:t>Epps–Pulley test statistic</a:t>
            </a:r>
            <a:r>
              <a:rPr lang="zh-CN" altLang="en" dirty="0"/>
              <a:t>，</a:t>
            </a:r>
            <a:r>
              <a:rPr lang="zh-CN" altLang="en-US" dirty="0"/>
              <a:t>一个一维正态性检验统计量。</a:t>
            </a:r>
            <a:endParaRPr kumimoji="1" lang="zh-CN" altLang="en-US" dirty="0"/>
          </a:p>
        </p:txBody>
      </p:sp>
      <p:sp>
        <p:nvSpPr>
          <p:cNvPr id="4" name="灯片编号占位符 3">
            <a:extLst>
              <a:ext uri="{FF2B5EF4-FFF2-40B4-BE49-F238E27FC236}">
                <a16:creationId xmlns:a16="http://schemas.microsoft.com/office/drawing/2014/main" id="{0A30521B-A1D0-6934-B66D-B65460470D5F}"/>
              </a:ext>
            </a:extLst>
          </p:cNvPr>
          <p:cNvSpPr>
            <a:spLocks noGrp="1"/>
          </p:cNvSpPr>
          <p:nvPr>
            <p:ph type="sldNum" sz="quarter" idx="5"/>
          </p:nvPr>
        </p:nvSpPr>
        <p:spPr/>
        <p:txBody>
          <a:bodyPr/>
          <a:lstStyle/>
          <a:p>
            <a:fld id="{E5C4F855-2310-9741-91FD-15FAA3FBA5BC}" type="slidenum">
              <a:rPr kumimoji="1" lang="zh-CN" altLang="en-US" smtClean="0"/>
              <a:t>16</a:t>
            </a:fld>
            <a:endParaRPr kumimoji="1" lang="zh-CN" altLang="en-US"/>
          </a:p>
        </p:txBody>
      </p:sp>
    </p:spTree>
    <p:extLst>
      <p:ext uri="{BB962C8B-B14F-4D97-AF65-F5344CB8AC3E}">
        <p14:creationId xmlns:p14="http://schemas.microsoft.com/office/powerpoint/2010/main" val="40269389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4C6CF-F52A-EFA1-B08C-D48A27AA4A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91A389-230E-55E2-E5CE-6C320DD5AA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BB0D8E-02B6-08C9-70A5-7814F049847E}"/>
              </a:ext>
            </a:extLst>
          </p:cNvPr>
          <p:cNvSpPr>
            <a:spLocks noGrp="1"/>
          </p:cNvSpPr>
          <p:nvPr>
            <p:ph type="body" idx="1"/>
          </p:nvPr>
        </p:nvSpPr>
        <p:spPr/>
        <p:txBody>
          <a:bodyPr/>
          <a:lstStyle/>
          <a:p>
            <a:r>
              <a:rPr lang="en" altLang="zh-CN" dirty="0"/>
              <a:t>T(h(m))</a:t>
            </a:r>
            <a:r>
              <a:rPr lang="zh-CN" altLang="en-US" dirty="0"/>
              <a:t>：</a:t>
            </a:r>
            <a:r>
              <a:rPr lang="en" altLang="zh-CN" b="1" dirty="0"/>
              <a:t>Epps–Pulley test statistic</a:t>
            </a:r>
            <a:r>
              <a:rPr lang="zh-CN" altLang="en" dirty="0"/>
              <a:t>，</a:t>
            </a:r>
            <a:r>
              <a:rPr lang="zh-CN" altLang="en-US" dirty="0"/>
              <a:t>一个一维正态性检验统计量。</a:t>
            </a:r>
            <a:endParaRPr kumimoji="1" lang="zh-CN" altLang="en-US" dirty="0"/>
          </a:p>
        </p:txBody>
      </p:sp>
      <p:sp>
        <p:nvSpPr>
          <p:cNvPr id="4" name="灯片编号占位符 3">
            <a:extLst>
              <a:ext uri="{FF2B5EF4-FFF2-40B4-BE49-F238E27FC236}">
                <a16:creationId xmlns:a16="http://schemas.microsoft.com/office/drawing/2014/main" id="{CDEF2728-DA03-1DA2-4BA1-8692C78D3DB3}"/>
              </a:ext>
            </a:extLst>
          </p:cNvPr>
          <p:cNvSpPr>
            <a:spLocks noGrp="1"/>
          </p:cNvSpPr>
          <p:nvPr>
            <p:ph type="sldNum" sz="quarter" idx="5"/>
          </p:nvPr>
        </p:nvSpPr>
        <p:spPr/>
        <p:txBody>
          <a:bodyPr/>
          <a:lstStyle/>
          <a:p>
            <a:fld id="{E5C4F855-2310-9741-91FD-15FAA3FBA5BC}" type="slidenum">
              <a:rPr kumimoji="1" lang="zh-CN" altLang="en-US" smtClean="0"/>
              <a:t>17</a:t>
            </a:fld>
            <a:endParaRPr kumimoji="1" lang="zh-CN" altLang="en-US"/>
          </a:p>
        </p:txBody>
      </p:sp>
    </p:spTree>
    <p:extLst>
      <p:ext uri="{BB962C8B-B14F-4D97-AF65-F5344CB8AC3E}">
        <p14:creationId xmlns:p14="http://schemas.microsoft.com/office/powerpoint/2010/main" val="5846740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BBFA6-B260-FE3A-404E-6CD5010034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4EF63F-C27A-6FE1-5D80-1B23215C683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F48259-B2A1-9566-B5C3-D594E4CA6667}"/>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4EDF02A7-E4B2-B3B3-35DE-697147DA7F7E}"/>
              </a:ext>
            </a:extLst>
          </p:cNvPr>
          <p:cNvSpPr>
            <a:spLocks noGrp="1"/>
          </p:cNvSpPr>
          <p:nvPr>
            <p:ph type="sldNum" sz="quarter" idx="5"/>
          </p:nvPr>
        </p:nvSpPr>
        <p:spPr/>
        <p:txBody>
          <a:bodyPr/>
          <a:lstStyle/>
          <a:p>
            <a:fld id="{E5C4F855-2310-9741-91FD-15FAA3FBA5BC}" type="slidenum">
              <a:rPr kumimoji="1" lang="zh-CN" altLang="en-US" smtClean="0"/>
              <a:t>18</a:t>
            </a:fld>
            <a:endParaRPr kumimoji="1" lang="zh-CN" altLang="en-US"/>
          </a:p>
        </p:txBody>
      </p:sp>
    </p:spTree>
    <p:extLst>
      <p:ext uri="{BB962C8B-B14F-4D97-AF65-F5344CB8AC3E}">
        <p14:creationId xmlns:p14="http://schemas.microsoft.com/office/powerpoint/2010/main" val="4103590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2026/6/29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2026/6/29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2026/6/29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2026/6/29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5" Type="http://schemas.openxmlformats.org/officeDocument/2006/relationships/image" Target="../media/image24.jpeg"/><Relationship Id="rId4" Type="http://schemas.openxmlformats.org/officeDocument/2006/relationships/image" Target="../media/image23.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6.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FC601D-8FC1-9341-E612-D236FDBDD1DF}"/>
              </a:ext>
            </a:extLst>
          </p:cNvPr>
          <p:cNvSpPr>
            <a:spLocks noGrp="1"/>
          </p:cNvSpPr>
          <p:nvPr>
            <p:ph type="ctrTitle"/>
          </p:nvPr>
        </p:nvSpPr>
        <p:spPr>
          <a:xfrm>
            <a:off x="1186180" y="2273642"/>
            <a:ext cx="9819640" cy="643347"/>
          </a:xfrm>
        </p:spPr>
        <p:txBody>
          <a:bodyPr>
            <a:noAutofit/>
          </a:bodyPr>
          <a:lstStyle/>
          <a:p>
            <a:r>
              <a:rPr lang="en-US" altLang="zh-CN" sz="3600" b="1" dirty="0"/>
              <a:t>Flexible multitask computation in World Models</a:t>
            </a:r>
            <a:endParaRPr lang="zh-CN" altLang="en-US" sz="3600" b="1" dirty="0"/>
          </a:p>
        </p:txBody>
      </p:sp>
      <p:sp>
        <p:nvSpPr>
          <p:cNvPr id="4" name="文本框 3">
            <a:extLst>
              <a:ext uri="{FF2B5EF4-FFF2-40B4-BE49-F238E27FC236}">
                <a16:creationId xmlns:a16="http://schemas.microsoft.com/office/drawing/2014/main" id="{4F9E2D8C-4124-E6B6-3590-BC1B298EECA3}"/>
              </a:ext>
            </a:extLst>
          </p:cNvPr>
          <p:cNvSpPr txBox="1"/>
          <p:nvPr/>
        </p:nvSpPr>
        <p:spPr>
          <a:xfrm>
            <a:off x="5626100" y="4408753"/>
            <a:ext cx="939800" cy="369332"/>
          </a:xfrm>
          <a:prstGeom prst="rect">
            <a:avLst/>
          </a:prstGeom>
          <a:noFill/>
        </p:spPr>
        <p:txBody>
          <a:bodyPr wrap="square" rtlCol="0">
            <a:spAutoFit/>
          </a:bodyPr>
          <a:lstStyle/>
          <a:p>
            <a:r>
              <a:rPr lang="zh-CN" altLang="en-US" dirty="0"/>
              <a:t>宁睿轩</a:t>
            </a:r>
          </a:p>
        </p:txBody>
      </p:sp>
    </p:spTree>
    <p:extLst>
      <p:ext uri="{BB962C8B-B14F-4D97-AF65-F5344CB8AC3E}">
        <p14:creationId xmlns:p14="http://schemas.microsoft.com/office/powerpoint/2010/main" val="30946672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BB96C-DBD8-E55B-C28A-032AB5569AD3}"/>
            </a:ext>
          </a:extLst>
        </p:cNvPr>
        <p:cNvGrpSpPr/>
        <p:nvPr/>
      </p:nvGrpSpPr>
      <p:grpSpPr>
        <a:xfrm>
          <a:off x="0" y="0"/>
          <a:ext cx="0" cy="0"/>
          <a:chOff x="0" y="0"/>
          <a:chExt cx="0" cy="0"/>
        </a:xfrm>
      </p:grpSpPr>
      <p:pic>
        <p:nvPicPr>
          <p:cNvPr id="3" name="图片 2" descr="文本&#10;&#10;AI 生成的内容可能不正确。">
            <a:extLst>
              <a:ext uri="{FF2B5EF4-FFF2-40B4-BE49-F238E27FC236}">
                <a16:creationId xmlns:a16="http://schemas.microsoft.com/office/drawing/2014/main" id="{9D0728D9-43EF-3BDC-B35B-20D91DA3AA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695" y="851338"/>
            <a:ext cx="4131567" cy="6006662"/>
          </a:xfrm>
          <a:prstGeom prst="rect">
            <a:avLst/>
          </a:prstGeom>
        </p:spPr>
      </p:pic>
      <p:pic>
        <p:nvPicPr>
          <p:cNvPr id="8" name="图片 7" descr="图片包含 文本&#10;&#10;AI 生成的内容可能不正确。">
            <a:extLst>
              <a:ext uri="{FF2B5EF4-FFF2-40B4-BE49-F238E27FC236}">
                <a16:creationId xmlns:a16="http://schemas.microsoft.com/office/drawing/2014/main" id="{619D33F2-44CE-F4A2-B0D5-86ABA9125F90}"/>
              </a:ext>
            </a:extLst>
          </p:cNvPr>
          <p:cNvPicPr>
            <a:picLocks noChangeAspect="1"/>
          </p:cNvPicPr>
          <p:nvPr/>
        </p:nvPicPr>
        <p:blipFill>
          <a:blip r:embed="rId4">
            <a:extLst>
              <a:ext uri="{28A0092B-C50C-407E-A947-70E740481C1C}">
                <a14:useLocalDpi xmlns:a14="http://schemas.microsoft.com/office/drawing/2010/main" val="0"/>
              </a:ext>
            </a:extLst>
          </a:blip>
          <a:srcRect t="9114"/>
          <a:stretch>
            <a:fillRect/>
          </a:stretch>
        </p:blipFill>
        <p:spPr>
          <a:xfrm>
            <a:off x="5608938" y="2886504"/>
            <a:ext cx="5867400" cy="1084992"/>
          </a:xfrm>
          <a:prstGeom prst="rect">
            <a:avLst/>
          </a:prstGeom>
        </p:spPr>
      </p:pic>
      <p:sp>
        <p:nvSpPr>
          <p:cNvPr id="10" name="文本框 9">
            <a:extLst>
              <a:ext uri="{FF2B5EF4-FFF2-40B4-BE49-F238E27FC236}">
                <a16:creationId xmlns:a16="http://schemas.microsoft.com/office/drawing/2014/main" id="{8D825128-71E8-E785-B04E-5FF1825C0F80}"/>
              </a:ext>
            </a:extLst>
          </p:cNvPr>
          <p:cNvSpPr txBox="1"/>
          <p:nvPr/>
        </p:nvSpPr>
        <p:spPr>
          <a:xfrm>
            <a:off x="6096000" y="6340730"/>
            <a:ext cx="6098058" cy="400110"/>
          </a:xfrm>
          <a:prstGeom prst="rect">
            <a:avLst/>
          </a:prstGeom>
          <a:noFill/>
        </p:spPr>
        <p:txBody>
          <a:bodyPr wrap="square">
            <a:spAutoFit/>
          </a:bodyPr>
          <a:lstStyle/>
          <a:p>
            <a:r>
              <a:rPr lang="en" altLang="zh-CN" sz="1000" b="0" i="0" dirty="0">
                <a:solidFill>
                  <a:srgbClr val="222222"/>
                </a:solidFill>
                <a:effectLst/>
                <a:latin typeface="Arial" panose="020B0604020202020204" pitchFamily="34" charset="0"/>
              </a:rPr>
              <a:t>Hafner D, Lillicrap T, Fischer I, et al. Learning latent dynamics for planning from pixels[C]//International conference on machine learning. PMLR, 2019: 2555-2565.</a:t>
            </a:r>
            <a:endParaRPr lang="zh-CN" altLang="en-US" sz="1000" dirty="0"/>
          </a:p>
        </p:txBody>
      </p:sp>
      <p:sp>
        <p:nvSpPr>
          <p:cNvPr id="11" name="文本框 10">
            <a:extLst>
              <a:ext uri="{FF2B5EF4-FFF2-40B4-BE49-F238E27FC236}">
                <a16:creationId xmlns:a16="http://schemas.microsoft.com/office/drawing/2014/main" id="{B655ED7C-0213-E0E8-D5EC-7082BE276848}"/>
              </a:ext>
            </a:extLst>
          </p:cNvPr>
          <p:cNvSpPr txBox="1"/>
          <p:nvPr/>
        </p:nvSpPr>
        <p:spPr>
          <a:xfrm>
            <a:off x="416560" y="389374"/>
            <a:ext cx="4155440" cy="523220"/>
          </a:xfrm>
          <a:prstGeom prst="rect">
            <a:avLst/>
          </a:prstGeom>
          <a:noFill/>
        </p:spPr>
        <p:txBody>
          <a:bodyPr wrap="square">
            <a:spAutoFit/>
          </a:bodyPr>
          <a:lstStyle/>
          <a:p>
            <a:r>
              <a:rPr lang="en-US" altLang="zh-CN" sz="2800" b="1" dirty="0">
                <a:solidFill>
                  <a:srgbClr val="000000"/>
                </a:solidFill>
                <a:latin typeface="Inter"/>
              </a:rPr>
              <a:t>Model</a:t>
            </a:r>
            <a:r>
              <a:rPr lang="zh-CN" altLang="en-US" sz="2800" b="1" dirty="0">
                <a:solidFill>
                  <a:srgbClr val="000000"/>
                </a:solidFill>
                <a:latin typeface="Inter"/>
              </a:rPr>
              <a:t> </a:t>
            </a:r>
            <a:r>
              <a:rPr lang="en-US" altLang="zh-CN" sz="2800" b="1" dirty="0">
                <a:solidFill>
                  <a:srgbClr val="000000"/>
                </a:solidFill>
                <a:latin typeface="Inter"/>
              </a:rPr>
              <a:t>Overview</a:t>
            </a:r>
          </a:p>
        </p:txBody>
      </p:sp>
    </p:spTree>
    <p:extLst>
      <p:ext uri="{BB962C8B-B14F-4D97-AF65-F5344CB8AC3E}">
        <p14:creationId xmlns:p14="http://schemas.microsoft.com/office/powerpoint/2010/main" val="1946773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A38A4-D824-DEA3-09C7-7DB54DA6D9FD}"/>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4E31BFB6-8B40-9CED-674B-42D682855005}"/>
              </a:ext>
            </a:extLst>
          </p:cNvPr>
          <p:cNvPicPr>
            <a:picLocks noChangeAspect="1"/>
          </p:cNvPicPr>
          <p:nvPr/>
        </p:nvPicPr>
        <p:blipFill>
          <a:blip r:embed="rId2"/>
          <a:stretch>
            <a:fillRect/>
          </a:stretch>
        </p:blipFill>
        <p:spPr>
          <a:xfrm>
            <a:off x="415374" y="704335"/>
            <a:ext cx="4290078" cy="5449330"/>
          </a:xfrm>
          <a:prstGeom prst="rect">
            <a:avLst/>
          </a:prstGeom>
        </p:spPr>
      </p:pic>
      <p:pic>
        <p:nvPicPr>
          <p:cNvPr id="6" name="图片 5">
            <a:extLst>
              <a:ext uri="{FF2B5EF4-FFF2-40B4-BE49-F238E27FC236}">
                <a16:creationId xmlns:a16="http://schemas.microsoft.com/office/drawing/2014/main" id="{790C6FC5-0AE1-684A-9880-6AFD60100EA0}"/>
              </a:ext>
            </a:extLst>
          </p:cNvPr>
          <p:cNvPicPr>
            <a:picLocks noChangeAspect="1"/>
          </p:cNvPicPr>
          <p:nvPr/>
        </p:nvPicPr>
        <p:blipFill>
          <a:blip r:embed="rId3"/>
          <a:stretch>
            <a:fillRect/>
          </a:stretch>
        </p:blipFill>
        <p:spPr>
          <a:xfrm>
            <a:off x="5474043" y="1644848"/>
            <a:ext cx="5778843" cy="1615936"/>
          </a:xfrm>
          <a:prstGeom prst="rect">
            <a:avLst/>
          </a:prstGeom>
        </p:spPr>
      </p:pic>
      <p:sp>
        <p:nvSpPr>
          <p:cNvPr id="9" name="文本框 8">
            <a:extLst>
              <a:ext uri="{FF2B5EF4-FFF2-40B4-BE49-F238E27FC236}">
                <a16:creationId xmlns:a16="http://schemas.microsoft.com/office/drawing/2014/main" id="{D3385B35-BA8F-7C68-DDF0-5F19853F7F96}"/>
              </a:ext>
            </a:extLst>
          </p:cNvPr>
          <p:cNvSpPr txBox="1"/>
          <p:nvPr/>
        </p:nvSpPr>
        <p:spPr>
          <a:xfrm>
            <a:off x="5339148" y="4166839"/>
            <a:ext cx="6671619" cy="1384995"/>
          </a:xfrm>
          <a:prstGeom prst="rect">
            <a:avLst/>
          </a:prstGeom>
          <a:noFill/>
        </p:spPr>
        <p:txBody>
          <a:bodyPr wrap="square">
            <a:spAutoFit/>
          </a:bodyPr>
          <a:lstStyle/>
          <a:p>
            <a:pPr>
              <a:buNone/>
            </a:pPr>
            <a:r>
              <a:rPr lang="en" altLang="zh-CN" sz="1400" dirty="0" err="1">
                <a:latin typeface="+mn-ea"/>
              </a:rPr>
              <a:t>DiLA</a:t>
            </a:r>
            <a:r>
              <a:rPr lang="en" altLang="zh-CN" sz="1400" dirty="0">
                <a:latin typeface="+mn-ea"/>
              </a:rPr>
              <a:t> </a:t>
            </a:r>
            <a:r>
              <a:rPr lang="zh-CN" altLang="en-US" sz="1400" dirty="0">
                <a:latin typeface="+mn-ea"/>
              </a:rPr>
              <a:t>将视频表征分成两条路径：</a:t>
            </a:r>
            <a:endParaRPr lang="en-US" altLang="zh-CN" sz="1400" dirty="0">
              <a:latin typeface="+mn-ea"/>
            </a:endParaRPr>
          </a:p>
          <a:p>
            <a:pPr>
              <a:buNone/>
            </a:pPr>
            <a:endParaRPr lang="zh-CN" altLang="en-US" sz="1400" dirty="0">
              <a:latin typeface="+mn-ea"/>
            </a:endParaRPr>
          </a:p>
          <a:p>
            <a:pPr>
              <a:buFont typeface="+mj-lt"/>
              <a:buAutoNum type="arabicPeriod"/>
            </a:pPr>
            <a:r>
              <a:rPr lang="zh-CN" altLang="en-US" sz="1400" dirty="0">
                <a:latin typeface="+mn-ea"/>
              </a:rPr>
              <a:t>结构通路：负责建模与运动相关的空间结构，例如位置、形状、布局和动态变化。</a:t>
            </a:r>
            <a:r>
              <a:rPr lang="en" altLang="zh-CN" sz="1400" dirty="0">
                <a:latin typeface="+mn-ea"/>
              </a:rPr>
              <a:t>Latent action </a:t>
            </a:r>
            <a:r>
              <a:rPr lang="zh-CN" altLang="en-US" sz="1400" dirty="0">
                <a:latin typeface="+mn-ea"/>
              </a:rPr>
              <a:t>只需要预测结构表征的变化，而不需要预测完整视觉特征。</a:t>
            </a:r>
            <a:endParaRPr lang="en-US" altLang="zh-CN" sz="1400" dirty="0">
              <a:latin typeface="+mn-ea"/>
            </a:endParaRPr>
          </a:p>
          <a:p>
            <a:pPr>
              <a:buFont typeface="+mj-lt"/>
              <a:buAutoNum type="arabicPeriod"/>
            </a:pPr>
            <a:endParaRPr lang="zh-CN" altLang="en-US" sz="1400" dirty="0">
              <a:latin typeface="+mn-ea"/>
            </a:endParaRPr>
          </a:p>
          <a:p>
            <a:pPr>
              <a:buFont typeface="+mj-lt"/>
              <a:buAutoNum type="arabicPeriod"/>
            </a:pPr>
            <a:r>
              <a:rPr lang="zh-CN" altLang="en-US" sz="1400" dirty="0">
                <a:latin typeface="+mn-ea"/>
              </a:rPr>
              <a:t>内容通路：负责保存视觉细节，例如颜色、纹理、背景、物体外观和历史信息。</a:t>
            </a:r>
          </a:p>
        </p:txBody>
      </p:sp>
      <p:sp>
        <p:nvSpPr>
          <p:cNvPr id="11" name="文本框 10">
            <a:extLst>
              <a:ext uri="{FF2B5EF4-FFF2-40B4-BE49-F238E27FC236}">
                <a16:creationId xmlns:a16="http://schemas.microsoft.com/office/drawing/2014/main" id="{2AECAB51-BFF9-5EBA-DFE9-E9B6CA0EF6A5}"/>
              </a:ext>
            </a:extLst>
          </p:cNvPr>
          <p:cNvSpPr txBox="1"/>
          <p:nvPr/>
        </p:nvSpPr>
        <p:spPr>
          <a:xfrm>
            <a:off x="6096000" y="6457890"/>
            <a:ext cx="6098058" cy="400110"/>
          </a:xfrm>
          <a:prstGeom prst="rect">
            <a:avLst/>
          </a:prstGeom>
          <a:noFill/>
        </p:spPr>
        <p:txBody>
          <a:bodyPr wrap="square">
            <a:spAutoFit/>
          </a:bodyPr>
          <a:lstStyle/>
          <a:p>
            <a:r>
              <a:rPr lang="en" altLang="zh-CN" sz="1000" dirty="0">
                <a:solidFill>
                  <a:srgbClr val="222222"/>
                </a:solidFill>
                <a:latin typeface="Arial" panose="020B0604020202020204" pitchFamily="34" charset="0"/>
              </a:rPr>
              <a:t>Zhang T, Lyu M, Zhang Y, et al. </a:t>
            </a:r>
            <a:r>
              <a:rPr lang="en" altLang="zh-CN" sz="1000" dirty="0" err="1">
                <a:solidFill>
                  <a:srgbClr val="222222"/>
                </a:solidFill>
                <a:latin typeface="Arial" panose="020B0604020202020204" pitchFamily="34" charset="0"/>
              </a:rPr>
              <a:t>DiLA</a:t>
            </a:r>
            <a:r>
              <a:rPr lang="en" altLang="zh-CN" sz="1000" dirty="0">
                <a:solidFill>
                  <a:srgbClr val="222222"/>
                </a:solidFill>
                <a:latin typeface="Arial" panose="020B0604020202020204" pitchFamily="34" charset="0"/>
              </a:rPr>
              <a:t>: Disentangled Latent Action World Models[J]. </a:t>
            </a:r>
            <a:r>
              <a:rPr lang="en" altLang="zh-CN" sz="1000" dirty="0" err="1">
                <a:solidFill>
                  <a:srgbClr val="222222"/>
                </a:solidFill>
                <a:latin typeface="Arial" panose="020B0604020202020204" pitchFamily="34" charset="0"/>
              </a:rPr>
              <a:t>arXiv</a:t>
            </a:r>
            <a:r>
              <a:rPr lang="en" altLang="zh-CN" sz="1000" dirty="0">
                <a:solidFill>
                  <a:srgbClr val="222222"/>
                </a:solidFill>
                <a:latin typeface="Arial" panose="020B0604020202020204" pitchFamily="34" charset="0"/>
              </a:rPr>
              <a:t> preprint arXiv:2605.15725, 2026.</a:t>
            </a:r>
            <a:endParaRPr lang="zh-CN" altLang="en-US" sz="1000" dirty="0">
              <a:solidFill>
                <a:srgbClr val="222222"/>
              </a:solidFill>
              <a:latin typeface="Arial" panose="020B0604020202020204" pitchFamily="34" charset="0"/>
            </a:endParaRPr>
          </a:p>
        </p:txBody>
      </p:sp>
      <p:sp>
        <p:nvSpPr>
          <p:cNvPr id="12" name="文本框 11">
            <a:extLst>
              <a:ext uri="{FF2B5EF4-FFF2-40B4-BE49-F238E27FC236}">
                <a16:creationId xmlns:a16="http://schemas.microsoft.com/office/drawing/2014/main" id="{28103711-614C-8433-4A3D-5CF0CD99CCAC}"/>
              </a:ext>
            </a:extLst>
          </p:cNvPr>
          <p:cNvSpPr txBox="1"/>
          <p:nvPr/>
        </p:nvSpPr>
        <p:spPr>
          <a:xfrm>
            <a:off x="416560" y="389374"/>
            <a:ext cx="4155440" cy="523220"/>
          </a:xfrm>
          <a:prstGeom prst="rect">
            <a:avLst/>
          </a:prstGeom>
          <a:noFill/>
        </p:spPr>
        <p:txBody>
          <a:bodyPr wrap="square">
            <a:spAutoFit/>
          </a:bodyPr>
          <a:lstStyle/>
          <a:p>
            <a:r>
              <a:rPr lang="en-US" altLang="zh-CN" sz="2800" b="1" dirty="0">
                <a:solidFill>
                  <a:srgbClr val="000000"/>
                </a:solidFill>
                <a:latin typeface="Inter"/>
              </a:rPr>
              <a:t>Model</a:t>
            </a:r>
            <a:r>
              <a:rPr lang="zh-CN" altLang="en-US" sz="2800" b="1" dirty="0">
                <a:solidFill>
                  <a:srgbClr val="000000"/>
                </a:solidFill>
                <a:latin typeface="Inter"/>
              </a:rPr>
              <a:t> </a:t>
            </a:r>
            <a:r>
              <a:rPr lang="en-US" altLang="zh-CN" sz="2800" b="1" dirty="0">
                <a:solidFill>
                  <a:srgbClr val="000000"/>
                </a:solidFill>
                <a:latin typeface="Inter"/>
              </a:rPr>
              <a:t>Overview</a:t>
            </a:r>
          </a:p>
        </p:txBody>
      </p:sp>
    </p:spTree>
    <p:extLst>
      <p:ext uri="{BB962C8B-B14F-4D97-AF65-F5344CB8AC3E}">
        <p14:creationId xmlns:p14="http://schemas.microsoft.com/office/powerpoint/2010/main" val="1044909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188EB-2AB3-2ADD-5051-6F1A21F9F783}"/>
            </a:ext>
          </a:extLst>
        </p:cNvPr>
        <p:cNvGrpSpPr/>
        <p:nvPr/>
      </p:nvGrpSpPr>
      <p:grpSpPr>
        <a:xfrm>
          <a:off x="0" y="0"/>
          <a:ext cx="0" cy="0"/>
          <a:chOff x="0" y="0"/>
          <a:chExt cx="0" cy="0"/>
        </a:xfrm>
      </p:grpSpPr>
      <p:pic>
        <p:nvPicPr>
          <p:cNvPr id="3" name="图片 2" descr="日程表&#10;&#10;AI 生成的内容可能不正确。">
            <a:extLst>
              <a:ext uri="{FF2B5EF4-FFF2-40B4-BE49-F238E27FC236}">
                <a16:creationId xmlns:a16="http://schemas.microsoft.com/office/drawing/2014/main" id="{250C26AA-89B2-9F8F-6924-D50A1D42A7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3429000"/>
            <a:ext cx="7772400" cy="3064119"/>
          </a:xfrm>
          <a:prstGeom prst="rect">
            <a:avLst/>
          </a:prstGeom>
        </p:spPr>
      </p:pic>
      <p:pic>
        <p:nvPicPr>
          <p:cNvPr id="7" name="图片 6" descr="饼图&#10;&#10;AI 生成的内容可能不正确。">
            <a:extLst>
              <a:ext uri="{FF2B5EF4-FFF2-40B4-BE49-F238E27FC236}">
                <a16:creationId xmlns:a16="http://schemas.microsoft.com/office/drawing/2014/main" id="{93576029-4B7D-441A-7B7B-0BA30528DF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94286" y="912594"/>
            <a:ext cx="6403428" cy="2445530"/>
          </a:xfrm>
          <a:prstGeom prst="rect">
            <a:avLst/>
          </a:prstGeom>
        </p:spPr>
      </p:pic>
      <p:sp>
        <p:nvSpPr>
          <p:cNvPr id="10" name="文本框 9">
            <a:extLst>
              <a:ext uri="{FF2B5EF4-FFF2-40B4-BE49-F238E27FC236}">
                <a16:creationId xmlns:a16="http://schemas.microsoft.com/office/drawing/2014/main" id="{D63BA0B0-D771-109F-1638-BAAD0D3DCAD1}"/>
              </a:ext>
            </a:extLst>
          </p:cNvPr>
          <p:cNvSpPr txBox="1"/>
          <p:nvPr/>
        </p:nvSpPr>
        <p:spPr>
          <a:xfrm>
            <a:off x="5310316" y="6493119"/>
            <a:ext cx="6881684" cy="400110"/>
          </a:xfrm>
          <a:prstGeom prst="rect">
            <a:avLst/>
          </a:prstGeom>
          <a:noFill/>
        </p:spPr>
        <p:txBody>
          <a:bodyPr wrap="square">
            <a:spAutoFit/>
          </a:bodyPr>
          <a:lstStyle/>
          <a:p>
            <a:r>
              <a:rPr lang="en" altLang="zh-CN" sz="1000" dirty="0">
                <a:solidFill>
                  <a:srgbClr val="222222"/>
                </a:solidFill>
                <a:latin typeface="Arial" panose="020B0604020202020204" pitchFamily="34" charset="0"/>
              </a:rPr>
              <a:t>Maes L, </a:t>
            </a:r>
            <a:r>
              <a:rPr lang="en" altLang="zh-CN" sz="1000" dirty="0" err="1">
                <a:solidFill>
                  <a:srgbClr val="222222"/>
                </a:solidFill>
                <a:latin typeface="Arial" panose="020B0604020202020204" pitchFamily="34" charset="0"/>
              </a:rPr>
              <a:t>Lidec</a:t>
            </a:r>
            <a:r>
              <a:rPr lang="en" altLang="zh-CN" sz="1000" dirty="0">
                <a:solidFill>
                  <a:srgbClr val="222222"/>
                </a:solidFill>
                <a:latin typeface="Arial" panose="020B0604020202020204" pitchFamily="34" charset="0"/>
              </a:rPr>
              <a:t> Q L, </a:t>
            </a:r>
            <a:r>
              <a:rPr lang="en" altLang="zh-CN" sz="1000" dirty="0" err="1">
                <a:solidFill>
                  <a:srgbClr val="222222"/>
                </a:solidFill>
                <a:latin typeface="Arial" panose="020B0604020202020204" pitchFamily="34" charset="0"/>
              </a:rPr>
              <a:t>Scieur</a:t>
            </a:r>
            <a:r>
              <a:rPr lang="en" altLang="zh-CN" sz="1000" dirty="0">
                <a:solidFill>
                  <a:srgbClr val="222222"/>
                </a:solidFill>
                <a:latin typeface="Arial" panose="020B0604020202020204" pitchFamily="34" charset="0"/>
              </a:rPr>
              <a:t> D, et al. </a:t>
            </a:r>
            <a:r>
              <a:rPr lang="en" altLang="zh-CN" sz="1000" dirty="0" err="1">
                <a:solidFill>
                  <a:srgbClr val="222222"/>
                </a:solidFill>
                <a:latin typeface="Arial" panose="020B0604020202020204" pitchFamily="34" charset="0"/>
              </a:rPr>
              <a:t>Leworldmodel</a:t>
            </a:r>
            <a:r>
              <a:rPr lang="en" altLang="zh-CN" sz="1000" dirty="0">
                <a:solidFill>
                  <a:srgbClr val="222222"/>
                </a:solidFill>
                <a:latin typeface="Arial" panose="020B0604020202020204" pitchFamily="34" charset="0"/>
              </a:rPr>
              <a:t>: Stable end-to-end joint-embedding predictive architecture from pixels[J]. </a:t>
            </a:r>
            <a:r>
              <a:rPr lang="en" altLang="zh-CN" sz="1000" dirty="0" err="1">
                <a:solidFill>
                  <a:srgbClr val="222222"/>
                </a:solidFill>
                <a:latin typeface="Arial" panose="020B0604020202020204" pitchFamily="34" charset="0"/>
              </a:rPr>
              <a:t>arXiv</a:t>
            </a:r>
            <a:r>
              <a:rPr lang="en" altLang="zh-CN" sz="1000" dirty="0">
                <a:solidFill>
                  <a:srgbClr val="222222"/>
                </a:solidFill>
                <a:latin typeface="Arial" panose="020B0604020202020204" pitchFamily="34" charset="0"/>
              </a:rPr>
              <a:t> preprint arXiv:2603.19312, 2026.</a:t>
            </a:r>
            <a:endParaRPr lang="zh-CN" altLang="en-US" sz="1000" dirty="0">
              <a:solidFill>
                <a:srgbClr val="222222"/>
              </a:solidFill>
              <a:latin typeface="Arial" panose="020B0604020202020204" pitchFamily="34" charset="0"/>
            </a:endParaRPr>
          </a:p>
        </p:txBody>
      </p:sp>
      <p:sp>
        <p:nvSpPr>
          <p:cNvPr id="12" name="文本框 11">
            <a:extLst>
              <a:ext uri="{FF2B5EF4-FFF2-40B4-BE49-F238E27FC236}">
                <a16:creationId xmlns:a16="http://schemas.microsoft.com/office/drawing/2014/main" id="{F9F48491-F1E2-E48E-59D5-159D1D3F05EF}"/>
              </a:ext>
            </a:extLst>
          </p:cNvPr>
          <p:cNvSpPr txBox="1"/>
          <p:nvPr/>
        </p:nvSpPr>
        <p:spPr>
          <a:xfrm>
            <a:off x="416560" y="389374"/>
            <a:ext cx="4155440" cy="523220"/>
          </a:xfrm>
          <a:prstGeom prst="rect">
            <a:avLst/>
          </a:prstGeom>
          <a:noFill/>
        </p:spPr>
        <p:txBody>
          <a:bodyPr wrap="square">
            <a:spAutoFit/>
          </a:bodyPr>
          <a:lstStyle/>
          <a:p>
            <a:r>
              <a:rPr lang="en-US" altLang="zh-CN" sz="2800" b="1" dirty="0">
                <a:solidFill>
                  <a:srgbClr val="000000"/>
                </a:solidFill>
                <a:latin typeface="Inter"/>
              </a:rPr>
              <a:t>Model</a:t>
            </a:r>
            <a:r>
              <a:rPr lang="zh-CN" altLang="en-US" sz="2800" b="1" dirty="0">
                <a:solidFill>
                  <a:srgbClr val="000000"/>
                </a:solidFill>
                <a:latin typeface="Inter"/>
              </a:rPr>
              <a:t> </a:t>
            </a:r>
            <a:r>
              <a:rPr lang="en-US" altLang="zh-CN" sz="2800" b="1" dirty="0">
                <a:solidFill>
                  <a:srgbClr val="000000"/>
                </a:solidFill>
                <a:latin typeface="Inter"/>
              </a:rPr>
              <a:t>Overview</a:t>
            </a:r>
          </a:p>
        </p:txBody>
      </p:sp>
    </p:spTree>
    <p:extLst>
      <p:ext uri="{BB962C8B-B14F-4D97-AF65-F5344CB8AC3E}">
        <p14:creationId xmlns:p14="http://schemas.microsoft.com/office/powerpoint/2010/main" val="4059062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CD8EA-5B1F-0AEE-CB14-E01DA01E4F9E}"/>
            </a:ext>
          </a:extLst>
        </p:cNvPr>
        <p:cNvGrpSpPr/>
        <p:nvPr/>
      </p:nvGrpSpPr>
      <p:grpSpPr>
        <a:xfrm>
          <a:off x="0" y="0"/>
          <a:ext cx="0" cy="0"/>
          <a:chOff x="0" y="0"/>
          <a:chExt cx="0" cy="0"/>
        </a:xfrm>
      </p:grpSpPr>
      <p:pic>
        <p:nvPicPr>
          <p:cNvPr id="4" name="图片 3" descr="图形用户界面, 文本, 应用程序&#10;&#10;AI 生成的内容可能不正确。">
            <a:extLst>
              <a:ext uri="{FF2B5EF4-FFF2-40B4-BE49-F238E27FC236}">
                <a16:creationId xmlns:a16="http://schemas.microsoft.com/office/drawing/2014/main" id="{506C6DCC-BA35-ED89-5533-E796197824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1297" y="1098171"/>
            <a:ext cx="7772400" cy="4661657"/>
          </a:xfrm>
          <a:prstGeom prst="rect">
            <a:avLst/>
          </a:prstGeom>
        </p:spPr>
      </p:pic>
      <p:pic>
        <p:nvPicPr>
          <p:cNvPr id="6" name="图片 5" descr="表格&#10;&#10;AI 生成的内容可能不正确。">
            <a:extLst>
              <a:ext uri="{FF2B5EF4-FFF2-40B4-BE49-F238E27FC236}">
                <a16:creationId xmlns:a16="http://schemas.microsoft.com/office/drawing/2014/main" id="{A91F9252-6E15-527E-E699-19F636CA6B8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91348" y="506627"/>
            <a:ext cx="4064554" cy="1482667"/>
          </a:xfrm>
          <a:prstGeom prst="rect">
            <a:avLst/>
          </a:prstGeom>
        </p:spPr>
      </p:pic>
      <p:sp>
        <p:nvSpPr>
          <p:cNvPr id="11" name="文本框 10">
            <a:extLst>
              <a:ext uri="{FF2B5EF4-FFF2-40B4-BE49-F238E27FC236}">
                <a16:creationId xmlns:a16="http://schemas.microsoft.com/office/drawing/2014/main" id="{13524391-FF92-3A78-4A56-3435E93E920D}"/>
              </a:ext>
            </a:extLst>
          </p:cNvPr>
          <p:cNvSpPr txBox="1"/>
          <p:nvPr/>
        </p:nvSpPr>
        <p:spPr>
          <a:xfrm>
            <a:off x="7291348" y="2120234"/>
            <a:ext cx="4429446" cy="1169551"/>
          </a:xfrm>
          <a:prstGeom prst="rect">
            <a:avLst/>
          </a:prstGeom>
          <a:noFill/>
        </p:spPr>
        <p:txBody>
          <a:bodyPr wrap="square">
            <a:spAutoFit/>
          </a:bodyPr>
          <a:lstStyle/>
          <a:p>
            <a:r>
              <a:rPr lang="zh-CN" altLang="en-US" sz="1400" dirty="0"/>
              <a:t>美国国家工程院院士、美国国家医学院院士、美国艺术与科学院院士，美国斯坦福大学首位红杉讲席教授，以人为本人工智能研究院（HAI）院长，AI4ALL联合创始人及主席，Twitter公司董事会独立董事，加拿大风险投资机构Radical Ventures科学合伙人。</a:t>
            </a:r>
          </a:p>
        </p:txBody>
      </p:sp>
      <p:sp>
        <p:nvSpPr>
          <p:cNvPr id="15" name="文本框 14">
            <a:extLst>
              <a:ext uri="{FF2B5EF4-FFF2-40B4-BE49-F238E27FC236}">
                <a16:creationId xmlns:a16="http://schemas.microsoft.com/office/drawing/2014/main" id="{0225B983-57E6-40ED-B4B6-7854C856B9A7}"/>
              </a:ext>
            </a:extLst>
          </p:cNvPr>
          <p:cNvSpPr txBox="1"/>
          <p:nvPr/>
        </p:nvSpPr>
        <p:spPr>
          <a:xfrm>
            <a:off x="416560" y="389374"/>
            <a:ext cx="4155440" cy="523220"/>
          </a:xfrm>
          <a:prstGeom prst="rect">
            <a:avLst/>
          </a:prstGeom>
          <a:noFill/>
        </p:spPr>
        <p:txBody>
          <a:bodyPr wrap="square">
            <a:spAutoFit/>
          </a:bodyPr>
          <a:lstStyle/>
          <a:p>
            <a:r>
              <a:rPr lang="en-US" altLang="zh-CN" sz="2800" b="1" dirty="0">
                <a:solidFill>
                  <a:srgbClr val="000000"/>
                </a:solidFill>
                <a:latin typeface="Inter"/>
              </a:rPr>
              <a:t>Model</a:t>
            </a:r>
            <a:r>
              <a:rPr lang="zh-CN" altLang="en-US" sz="2800" b="1" dirty="0">
                <a:solidFill>
                  <a:srgbClr val="000000"/>
                </a:solidFill>
                <a:latin typeface="Inter"/>
              </a:rPr>
              <a:t> </a:t>
            </a:r>
            <a:r>
              <a:rPr lang="en-US" altLang="zh-CN" sz="2800" b="1" dirty="0">
                <a:solidFill>
                  <a:srgbClr val="000000"/>
                </a:solidFill>
                <a:latin typeface="Inter"/>
              </a:rPr>
              <a:t>Overview</a:t>
            </a:r>
          </a:p>
        </p:txBody>
      </p:sp>
    </p:spTree>
    <p:extLst>
      <p:ext uri="{BB962C8B-B14F-4D97-AF65-F5344CB8AC3E}">
        <p14:creationId xmlns:p14="http://schemas.microsoft.com/office/powerpoint/2010/main" val="2034182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38F8F-D271-D158-D57C-8497779CB048}"/>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FFB592D2-9165-98FD-6E22-BA5E2CFA7615}"/>
              </a:ext>
            </a:extLst>
          </p:cNvPr>
          <p:cNvSpPr txBox="1"/>
          <p:nvPr/>
        </p:nvSpPr>
        <p:spPr>
          <a:xfrm>
            <a:off x="416560" y="389374"/>
            <a:ext cx="4155440" cy="523220"/>
          </a:xfrm>
          <a:prstGeom prst="rect">
            <a:avLst/>
          </a:prstGeom>
          <a:noFill/>
        </p:spPr>
        <p:txBody>
          <a:bodyPr wrap="square">
            <a:spAutoFit/>
          </a:bodyPr>
          <a:lstStyle/>
          <a:p>
            <a:r>
              <a:rPr lang="en-US" altLang="zh-CN" sz="2800" b="1" dirty="0">
                <a:solidFill>
                  <a:srgbClr val="000000"/>
                </a:solidFill>
                <a:latin typeface="Inter"/>
              </a:rPr>
              <a:t>Model</a:t>
            </a:r>
            <a:r>
              <a:rPr lang="zh-CN" altLang="en-US" sz="2800" b="1" dirty="0">
                <a:solidFill>
                  <a:srgbClr val="000000"/>
                </a:solidFill>
                <a:latin typeface="Inter"/>
              </a:rPr>
              <a:t> </a:t>
            </a:r>
            <a:r>
              <a:rPr lang="en-US" altLang="zh-CN" sz="2800" b="1" dirty="0">
                <a:solidFill>
                  <a:srgbClr val="000000"/>
                </a:solidFill>
                <a:latin typeface="Inter"/>
              </a:rPr>
              <a:t>Overview</a:t>
            </a:r>
          </a:p>
        </p:txBody>
      </p:sp>
      <p:sp>
        <p:nvSpPr>
          <p:cNvPr id="3" name="文本框 2">
            <a:extLst>
              <a:ext uri="{FF2B5EF4-FFF2-40B4-BE49-F238E27FC236}">
                <a16:creationId xmlns:a16="http://schemas.microsoft.com/office/drawing/2014/main" id="{C5DBCE60-CB2D-A264-FCE6-CA477ECEDE19}"/>
              </a:ext>
            </a:extLst>
          </p:cNvPr>
          <p:cNvSpPr txBox="1"/>
          <p:nvPr/>
        </p:nvSpPr>
        <p:spPr>
          <a:xfrm>
            <a:off x="416560" y="1237389"/>
            <a:ext cx="11248218" cy="646331"/>
          </a:xfrm>
          <a:prstGeom prst="rect">
            <a:avLst/>
          </a:prstGeom>
          <a:noFill/>
        </p:spPr>
        <p:txBody>
          <a:bodyPr wrap="square">
            <a:spAutoFit/>
          </a:bodyPr>
          <a:lstStyle/>
          <a:p>
            <a:r>
              <a:rPr lang="en" altLang="zh-CN" b="1" i="0" dirty="0">
                <a:solidFill>
                  <a:srgbClr val="363737"/>
                </a:solidFill>
                <a:effectLst/>
                <a:latin typeface="Spectral"/>
              </a:rPr>
              <a:t>The first kind of world model is a renderer.</a:t>
            </a:r>
            <a:r>
              <a:rPr lang="en" altLang="zh-CN" b="0" i="0" dirty="0">
                <a:solidFill>
                  <a:srgbClr val="363737"/>
                </a:solidFill>
                <a:effectLst/>
                <a:latin typeface="Spectral"/>
              </a:rPr>
              <a:t> </a:t>
            </a:r>
            <a:r>
              <a:rPr lang="en" altLang="zh-CN" b="1" i="0" dirty="0">
                <a:solidFill>
                  <a:srgbClr val="363737"/>
                </a:solidFill>
                <a:effectLst/>
                <a:latin typeface="Spectral"/>
              </a:rPr>
              <a:t>A renderer outputs observations in the form of pixels meant for human eyes, and the quality that matters most is visual fidelity. </a:t>
            </a:r>
            <a:endParaRPr lang="zh-CN" altLang="en-US" dirty="0"/>
          </a:p>
        </p:txBody>
      </p:sp>
      <p:pic>
        <p:nvPicPr>
          <p:cNvPr id="6" name="图片 5">
            <a:extLst>
              <a:ext uri="{FF2B5EF4-FFF2-40B4-BE49-F238E27FC236}">
                <a16:creationId xmlns:a16="http://schemas.microsoft.com/office/drawing/2014/main" id="{FE874C51-0CEE-A91A-3070-48756CF79D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681" y="2287660"/>
            <a:ext cx="5795319" cy="3901799"/>
          </a:xfrm>
          <a:prstGeom prst="rect">
            <a:avLst/>
          </a:prstGeom>
        </p:spPr>
      </p:pic>
      <p:pic>
        <p:nvPicPr>
          <p:cNvPr id="9" name="图片 8">
            <a:extLst>
              <a:ext uri="{FF2B5EF4-FFF2-40B4-BE49-F238E27FC236}">
                <a16:creationId xmlns:a16="http://schemas.microsoft.com/office/drawing/2014/main" id="{689ABCAB-E4DA-F56A-A0B2-7BF56AA3A3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7273" y="2287660"/>
            <a:ext cx="5500543" cy="3770240"/>
          </a:xfrm>
          <a:prstGeom prst="rect">
            <a:avLst/>
          </a:prstGeom>
        </p:spPr>
      </p:pic>
      <p:sp>
        <p:nvSpPr>
          <p:cNvPr id="11" name="文本框 10">
            <a:extLst>
              <a:ext uri="{FF2B5EF4-FFF2-40B4-BE49-F238E27FC236}">
                <a16:creationId xmlns:a16="http://schemas.microsoft.com/office/drawing/2014/main" id="{5214A70F-0222-D55D-A9A9-D460F7A1A962}"/>
              </a:ext>
            </a:extLst>
          </p:cNvPr>
          <p:cNvSpPr txBox="1"/>
          <p:nvPr/>
        </p:nvSpPr>
        <p:spPr>
          <a:xfrm>
            <a:off x="416560" y="1886751"/>
            <a:ext cx="10709189" cy="369332"/>
          </a:xfrm>
          <a:prstGeom prst="rect">
            <a:avLst/>
          </a:prstGeom>
          <a:noFill/>
        </p:spPr>
        <p:txBody>
          <a:bodyPr wrap="square">
            <a:spAutoFit/>
          </a:bodyPr>
          <a:lstStyle/>
          <a:p>
            <a:r>
              <a:rPr lang="en" altLang="zh-CN" b="0" i="0" dirty="0">
                <a:solidFill>
                  <a:srgbClr val="363737"/>
                </a:solidFill>
                <a:effectLst/>
                <a:latin typeface="Spectral"/>
              </a:rPr>
              <a:t>So is an interactive system like </a:t>
            </a:r>
            <a:r>
              <a:rPr lang="en" altLang="zh-CN" b="1" i="1" dirty="0">
                <a:solidFill>
                  <a:srgbClr val="363737"/>
                </a:solidFill>
                <a:effectLst/>
                <a:latin typeface="Spectral"/>
              </a:rPr>
              <a:t>Google’s Genie 3</a:t>
            </a:r>
            <a:r>
              <a:rPr lang="en" altLang="zh-CN" b="0" i="0" dirty="0">
                <a:solidFill>
                  <a:srgbClr val="363737"/>
                </a:solidFill>
                <a:effectLst/>
                <a:latin typeface="Spectral"/>
              </a:rPr>
              <a:t>, or World Labs’ own </a:t>
            </a:r>
            <a:r>
              <a:rPr lang="en" altLang="zh-CN" b="1" i="1" dirty="0">
                <a:solidFill>
                  <a:srgbClr val="363737"/>
                </a:solidFill>
                <a:effectLst/>
                <a:latin typeface="Spectral"/>
              </a:rPr>
              <a:t>RTFM</a:t>
            </a:r>
            <a:endParaRPr lang="zh-CN" altLang="en-US" dirty="0"/>
          </a:p>
        </p:txBody>
      </p:sp>
    </p:spTree>
    <p:extLst>
      <p:ext uri="{BB962C8B-B14F-4D97-AF65-F5344CB8AC3E}">
        <p14:creationId xmlns:p14="http://schemas.microsoft.com/office/powerpoint/2010/main" val="89572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EAF6E-E9EC-7AF0-9824-7DEC0C748D7E}"/>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0DFE5901-A8D6-8CE9-8545-D8B037D6BCDA}"/>
              </a:ext>
            </a:extLst>
          </p:cNvPr>
          <p:cNvSpPr txBox="1"/>
          <p:nvPr/>
        </p:nvSpPr>
        <p:spPr>
          <a:xfrm>
            <a:off x="416560" y="389374"/>
            <a:ext cx="4155440" cy="523220"/>
          </a:xfrm>
          <a:prstGeom prst="rect">
            <a:avLst/>
          </a:prstGeom>
          <a:noFill/>
        </p:spPr>
        <p:txBody>
          <a:bodyPr wrap="square">
            <a:spAutoFit/>
          </a:bodyPr>
          <a:lstStyle/>
          <a:p>
            <a:r>
              <a:rPr lang="en-US" altLang="zh-CN" sz="2800" b="1" dirty="0">
                <a:solidFill>
                  <a:srgbClr val="000000"/>
                </a:solidFill>
                <a:latin typeface="Inter"/>
              </a:rPr>
              <a:t>Model</a:t>
            </a:r>
            <a:r>
              <a:rPr lang="zh-CN" altLang="en-US" sz="2800" b="1" dirty="0">
                <a:solidFill>
                  <a:srgbClr val="000000"/>
                </a:solidFill>
                <a:latin typeface="Inter"/>
              </a:rPr>
              <a:t> </a:t>
            </a:r>
            <a:r>
              <a:rPr lang="en-US" altLang="zh-CN" sz="2800" b="1" dirty="0">
                <a:solidFill>
                  <a:srgbClr val="000000"/>
                </a:solidFill>
                <a:latin typeface="Inter"/>
              </a:rPr>
              <a:t>Overview</a:t>
            </a:r>
          </a:p>
        </p:txBody>
      </p:sp>
      <p:sp>
        <p:nvSpPr>
          <p:cNvPr id="4" name="文本框 3">
            <a:extLst>
              <a:ext uri="{FF2B5EF4-FFF2-40B4-BE49-F238E27FC236}">
                <a16:creationId xmlns:a16="http://schemas.microsoft.com/office/drawing/2014/main" id="{A17E0669-13AB-7172-2005-6F209C009F68}"/>
              </a:ext>
            </a:extLst>
          </p:cNvPr>
          <p:cNvSpPr txBox="1"/>
          <p:nvPr/>
        </p:nvSpPr>
        <p:spPr>
          <a:xfrm>
            <a:off x="416559" y="1024749"/>
            <a:ext cx="11680705" cy="646331"/>
          </a:xfrm>
          <a:prstGeom prst="rect">
            <a:avLst/>
          </a:prstGeom>
          <a:noFill/>
        </p:spPr>
        <p:txBody>
          <a:bodyPr wrap="square">
            <a:spAutoFit/>
          </a:bodyPr>
          <a:lstStyle/>
          <a:p>
            <a:r>
              <a:rPr lang="en" altLang="zh-CN" b="1" i="0" dirty="0">
                <a:solidFill>
                  <a:srgbClr val="363737"/>
                </a:solidFill>
                <a:effectLst/>
                <a:latin typeface="Spectral"/>
              </a:rPr>
              <a:t>The second kind is a simulator. A simulator outputs state: a geometrically, physically or dynamically faithful representation of the world that humans and computer programs can both compute on and interact with.</a:t>
            </a:r>
            <a:endParaRPr lang="zh-CN" altLang="en-US" dirty="0"/>
          </a:p>
        </p:txBody>
      </p:sp>
      <p:sp>
        <p:nvSpPr>
          <p:cNvPr id="8" name="文本框 7">
            <a:extLst>
              <a:ext uri="{FF2B5EF4-FFF2-40B4-BE49-F238E27FC236}">
                <a16:creationId xmlns:a16="http://schemas.microsoft.com/office/drawing/2014/main" id="{159EFCF1-AC54-DDF4-5D95-682F28932191}"/>
              </a:ext>
            </a:extLst>
          </p:cNvPr>
          <p:cNvSpPr txBox="1"/>
          <p:nvPr/>
        </p:nvSpPr>
        <p:spPr>
          <a:xfrm>
            <a:off x="416559" y="1671080"/>
            <a:ext cx="11358882" cy="923330"/>
          </a:xfrm>
          <a:prstGeom prst="rect">
            <a:avLst/>
          </a:prstGeom>
          <a:noFill/>
        </p:spPr>
        <p:txBody>
          <a:bodyPr wrap="square">
            <a:spAutoFit/>
          </a:bodyPr>
          <a:lstStyle/>
          <a:p>
            <a:r>
              <a:rPr lang="en" altLang="zh-CN" b="0" i="0" dirty="0">
                <a:solidFill>
                  <a:srgbClr val="363737"/>
                </a:solidFill>
                <a:effectLst/>
                <a:latin typeface="Spectral"/>
              </a:rPr>
              <a:t>Where the renderer’s contract is purely visual, the simulator’s contract is structural, demanding geometry that holds up under inspection, physics that respects Newton’s laws, and dynamics that behave the way the world needs to behave given the laws of physics.</a:t>
            </a:r>
            <a:endParaRPr lang="zh-CN" altLang="en-US" dirty="0"/>
          </a:p>
        </p:txBody>
      </p:sp>
      <p:pic>
        <p:nvPicPr>
          <p:cNvPr id="15" name="图片 14" descr="图形用户界面, 应用程序&#10;&#10;AI 生成的内容可能不正确。">
            <a:extLst>
              <a:ext uri="{FF2B5EF4-FFF2-40B4-BE49-F238E27FC236}">
                <a16:creationId xmlns:a16="http://schemas.microsoft.com/office/drawing/2014/main" id="{6DE1714A-B4CD-B75F-EAC7-54F8D011ED46}"/>
              </a:ext>
            </a:extLst>
          </p:cNvPr>
          <p:cNvPicPr>
            <a:picLocks noChangeAspect="1"/>
          </p:cNvPicPr>
          <p:nvPr/>
        </p:nvPicPr>
        <p:blipFill>
          <a:blip r:embed="rId3">
            <a:extLst>
              <a:ext uri="{28A0092B-C50C-407E-A947-70E740481C1C}">
                <a14:useLocalDpi xmlns:a14="http://schemas.microsoft.com/office/drawing/2010/main" val="0"/>
              </a:ext>
            </a:extLst>
          </a:blip>
          <a:srcRect t="2961" b="-1"/>
          <a:stretch>
            <a:fillRect/>
          </a:stretch>
        </p:blipFill>
        <p:spPr>
          <a:xfrm>
            <a:off x="1542707" y="2940907"/>
            <a:ext cx="9106586" cy="3132302"/>
          </a:xfrm>
          <a:prstGeom prst="rect">
            <a:avLst/>
          </a:prstGeom>
        </p:spPr>
      </p:pic>
    </p:spTree>
    <p:extLst>
      <p:ext uri="{BB962C8B-B14F-4D97-AF65-F5344CB8AC3E}">
        <p14:creationId xmlns:p14="http://schemas.microsoft.com/office/powerpoint/2010/main" val="1246275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43075-5B88-771C-104C-F277B02E88EA}"/>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E3E9B67C-D444-DDBD-C52B-61699027CA24}"/>
              </a:ext>
            </a:extLst>
          </p:cNvPr>
          <p:cNvSpPr txBox="1"/>
          <p:nvPr/>
        </p:nvSpPr>
        <p:spPr>
          <a:xfrm>
            <a:off x="416560" y="389374"/>
            <a:ext cx="4155440" cy="523220"/>
          </a:xfrm>
          <a:prstGeom prst="rect">
            <a:avLst/>
          </a:prstGeom>
          <a:noFill/>
        </p:spPr>
        <p:txBody>
          <a:bodyPr wrap="square">
            <a:spAutoFit/>
          </a:bodyPr>
          <a:lstStyle/>
          <a:p>
            <a:r>
              <a:rPr lang="en-US" altLang="zh-CN" sz="2800" b="1" dirty="0">
                <a:solidFill>
                  <a:srgbClr val="000000"/>
                </a:solidFill>
                <a:latin typeface="Inter"/>
              </a:rPr>
              <a:t>Model</a:t>
            </a:r>
            <a:r>
              <a:rPr lang="zh-CN" altLang="en-US" sz="2800" b="1" dirty="0">
                <a:solidFill>
                  <a:srgbClr val="000000"/>
                </a:solidFill>
                <a:latin typeface="Inter"/>
              </a:rPr>
              <a:t> </a:t>
            </a:r>
            <a:r>
              <a:rPr lang="en-US" altLang="zh-CN" sz="2800" b="1" dirty="0">
                <a:solidFill>
                  <a:srgbClr val="000000"/>
                </a:solidFill>
                <a:latin typeface="Inter"/>
              </a:rPr>
              <a:t>Overview</a:t>
            </a:r>
          </a:p>
        </p:txBody>
      </p:sp>
      <p:sp>
        <p:nvSpPr>
          <p:cNvPr id="4" name="文本框 3">
            <a:extLst>
              <a:ext uri="{FF2B5EF4-FFF2-40B4-BE49-F238E27FC236}">
                <a16:creationId xmlns:a16="http://schemas.microsoft.com/office/drawing/2014/main" id="{0CFF8975-2FD9-571F-DCF6-D8A443B7A155}"/>
              </a:ext>
            </a:extLst>
          </p:cNvPr>
          <p:cNvSpPr txBox="1"/>
          <p:nvPr/>
        </p:nvSpPr>
        <p:spPr>
          <a:xfrm>
            <a:off x="416559" y="1024749"/>
            <a:ext cx="11680705" cy="369332"/>
          </a:xfrm>
          <a:prstGeom prst="rect">
            <a:avLst/>
          </a:prstGeom>
          <a:noFill/>
        </p:spPr>
        <p:txBody>
          <a:bodyPr wrap="square">
            <a:spAutoFit/>
          </a:bodyPr>
          <a:lstStyle/>
          <a:p>
            <a:r>
              <a:rPr lang="en" altLang="zh-CN" b="1" dirty="0"/>
              <a:t>The third kind is a planner. A planner outputs actions.</a:t>
            </a:r>
            <a:endParaRPr lang="zh-CN" altLang="en-US" dirty="0"/>
          </a:p>
        </p:txBody>
      </p:sp>
      <p:pic>
        <p:nvPicPr>
          <p:cNvPr id="12" name="图片 11" descr="图片包含 图示&#10;&#10;AI 生成的内容可能不正确。">
            <a:extLst>
              <a:ext uri="{FF2B5EF4-FFF2-40B4-BE49-F238E27FC236}">
                <a16:creationId xmlns:a16="http://schemas.microsoft.com/office/drawing/2014/main" id="{9BDBC26A-D3DF-B19F-95A2-9E29C05815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6770" y="2351078"/>
            <a:ext cx="9298459" cy="3932720"/>
          </a:xfrm>
          <a:prstGeom prst="rect">
            <a:avLst/>
          </a:prstGeom>
        </p:spPr>
      </p:pic>
      <p:sp>
        <p:nvSpPr>
          <p:cNvPr id="3" name="文本框 2">
            <a:extLst>
              <a:ext uri="{FF2B5EF4-FFF2-40B4-BE49-F238E27FC236}">
                <a16:creationId xmlns:a16="http://schemas.microsoft.com/office/drawing/2014/main" id="{DB95F591-C089-2792-472B-F75D62EAAC18}"/>
              </a:ext>
            </a:extLst>
          </p:cNvPr>
          <p:cNvSpPr txBox="1"/>
          <p:nvPr/>
        </p:nvSpPr>
        <p:spPr>
          <a:xfrm>
            <a:off x="416559" y="1442491"/>
            <a:ext cx="10729236" cy="369332"/>
          </a:xfrm>
          <a:prstGeom prst="rect">
            <a:avLst/>
          </a:prstGeom>
          <a:noFill/>
        </p:spPr>
        <p:txBody>
          <a:bodyPr wrap="square">
            <a:spAutoFit/>
          </a:bodyPr>
          <a:lstStyle/>
          <a:p>
            <a:r>
              <a:rPr lang="en" altLang="zh-CN" b="0" i="0" dirty="0">
                <a:solidFill>
                  <a:srgbClr val="363737"/>
                </a:solidFill>
                <a:effectLst/>
                <a:latin typeface="Spectral"/>
              </a:rPr>
              <a:t>Given an observation and a goal, a planner answers the question of what the agent should do next. </a:t>
            </a:r>
            <a:endParaRPr lang="zh-CN" altLang="en-US" dirty="0"/>
          </a:p>
        </p:txBody>
      </p:sp>
    </p:spTree>
    <p:extLst>
      <p:ext uri="{BB962C8B-B14F-4D97-AF65-F5344CB8AC3E}">
        <p14:creationId xmlns:p14="http://schemas.microsoft.com/office/powerpoint/2010/main" val="2823832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CF25B-256D-B734-9978-06DDDF97323B}"/>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4C8DAC9B-B7BA-262E-CD5A-C0B3CBD9937C}"/>
              </a:ext>
            </a:extLst>
          </p:cNvPr>
          <p:cNvPicPr>
            <a:picLocks noChangeAspect="1"/>
          </p:cNvPicPr>
          <p:nvPr/>
        </p:nvPicPr>
        <p:blipFill>
          <a:blip r:embed="rId3"/>
          <a:stretch>
            <a:fillRect/>
          </a:stretch>
        </p:blipFill>
        <p:spPr>
          <a:xfrm>
            <a:off x="165143" y="1036487"/>
            <a:ext cx="5930857" cy="2785022"/>
          </a:xfrm>
          <a:prstGeom prst="rect">
            <a:avLst/>
          </a:prstGeom>
        </p:spPr>
      </p:pic>
      <p:sp>
        <p:nvSpPr>
          <p:cNvPr id="6" name="文本框 5">
            <a:extLst>
              <a:ext uri="{FF2B5EF4-FFF2-40B4-BE49-F238E27FC236}">
                <a16:creationId xmlns:a16="http://schemas.microsoft.com/office/drawing/2014/main" id="{E01FC7BC-911D-13EB-0853-4F6E8C690980}"/>
              </a:ext>
            </a:extLst>
          </p:cNvPr>
          <p:cNvSpPr txBox="1"/>
          <p:nvPr/>
        </p:nvSpPr>
        <p:spPr>
          <a:xfrm>
            <a:off x="6585857" y="1036487"/>
            <a:ext cx="5105400" cy="1754326"/>
          </a:xfrm>
          <a:prstGeom prst="rect">
            <a:avLst/>
          </a:prstGeom>
          <a:noFill/>
        </p:spPr>
        <p:txBody>
          <a:bodyPr wrap="square">
            <a:spAutoFit/>
          </a:bodyPr>
          <a:lstStyle/>
          <a:p>
            <a:r>
              <a:rPr lang="en-US" altLang="zh-CN" dirty="0"/>
              <a:t>1.</a:t>
            </a:r>
            <a:r>
              <a:rPr lang="zh-CN" altLang="en-US" dirty="0"/>
              <a:t>First, a retrospective (</a:t>
            </a:r>
            <a:r>
              <a:rPr lang="en-US" altLang="zh-CN" dirty="0"/>
              <a:t>“</a:t>
            </a:r>
            <a:r>
              <a:rPr lang="zh-CN" altLang="en-US" dirty="0"/>
              <a:t>retro</a:t>
            </a:r>
            <a:r>
              <a:rPr lang="en-US" altLang="zh-CN" dirty="0"/>
              <a:t>”</a:t>
            </a:r>
            <a:r>
              <a:rPr lang="zh-CN" altLang="en-US" dirty="0"/>
              <a:t>) task required monkeys to select one of two items held in working memory</a:t>
            </a:r>
            <a:endParaRPr lang="en-US" altLang="zh-CN" dirty="0"/>
          </a:p>
          <a:p>
            <a:endParaRPr lang="en-US" altLang="zh-CN" dirty="0"/>
          </a:p>
          <a:p>
            <a:r>
              <a:rPr lang="en-US" altLang="zh-CN" dirty="0"/>
              <a:t>2.</a:t>
            </a:r>
            <a:r>
              <a:rPr lang="zh-CN" altLang="en-US" dirty="0"/>
              <a:t>In addition, monkeys performed a prospective (</a:t>
            </a:r>
            <a:r>
              <a:rPr lang="en-US" altLang="zh-CN" dirty="0"/>
              <a:t>“</a:t>
            </a:r>
            <a:r>
              <a:rPr lang="zh-CN" altLang="en-US" dirty="0"/>
              <a:t>pro</a:t>
            </a:r>
            <a:r>
              <a:rPr lang="en-US" altLang="zh-CN" dirty="0"/>
              <a:t>”</a:t>
            </a:r>
            <a:r>
              <a:rPr lang="zh-CN" altLang="en-US" dirty="0"/>
              <a:t>) task.（</a:t>
            </a:r>
            <a:r>
              <a:rPr lang="en-US" altLang="zh-CN" dirty="0"/>
              <a:t>focus</a:t>
            </a:r>
            <a:r>
              <a:rPr lang="zh-CN" altLang="en-US" dirty="0"/>
              <a:t>：</a:t>
            </a:r>
            <a:r>
              <a:rPr lang="en-US" altLang="zh-CN" dirty="0"/>
              <a:t>attention</a:t>
            </a:r>
            <a:r>
              <a:rPr lang="zh-CN" altLang="en-US" dirty="0"/>
              <a:t>）</a:t>
            </a:r>
          </a:p>
        </p:txBody>
      </p:sp>
      <p:sp>
        <p:nvSpPr>
          <p:cNvPr id="5" name="文本框 4">
            <a:extLst>
              <a:ext uri="{FF2B5EF4-FFF2-40B4-BE49-F238E27FC236}">
                <a16:creationId xmlns:a16="http://schemas.microsoft.com/office/drawing/2014/main" id="{63131A72-83DD-11DC-BF40-56A4F8AC3D70}"/>
              </a:ext>
            </a:extLst>
          </p:cNvPr>
          <p:cNvSpPr txBox="1"/>
          <p:nvPr/>
        </p:nvSpPr>
        <p:spPr>
          <a:xfrm>
            <a:off x="165143" y="4493732"/>
            <a:ext cx="4932218" cy="1754326"/>
          </a:xfrm>
          <a:prstGeom prst="rect">
            <a:avLst/>
          </a:prstGeom>
          <a:noFill/>
        </p:spPr>
        <p:txBody>
          <a:bodyPr wrap="square">
            <a:spAutoFit/>
          </a:bodyPr>
          <a:lstStyle/>
          <a:p>
            <a:r>
              <a:rPr lang="zh-CN" altLang="en-US" dirty="0"/>
              <a:t>the upper and lower colour planes appeared to be independent from one another, suggesting that colour information about the upper and lower items was separated into two different item-specific subspaces in the LPFC population (before selection).</a:t>
            </a:r>
          </a:p>
        </p:txBody>
      </p:sp>
      <p:pic>
        <p:nvPicPr>
          <p:cNvPr id="7" name="图片 6">
            <a:extLst>
              <a:ext uri="{FF2B5EF4-FFF2-40B4-BE49-F238E27FC236}">
                <a16:creationId xmlns:a16="http://schemas.microsoft.com/office/drawing/2014/main" id="{EFD696C7-4FBD-0E47-1218-3927DCE1363B}"/>
              </a:ext>
            </a:extLst>
          </p:cNvPr>
          <p:cNvPicPr>
            <a:picLocks noChangeAspect="1"/>
          </p:cNvPicPr>
          <p:nvPr/>
        </p:nvPicPr>
        <p:blipFill>
          <a:blip r:embed="rId4"/>
          <a:stretch>
            <a:fillRect/>
          </a:stretch>
        </p:blipFill>
        <p:spPr>
          <a:xfrm>
            <a:off x="6096000" y="3790189"/>
            <a:ext cx="5441000" cy="2885379"/>
          </a:xfrm>
          <a:prstGeom prst="rect">
            <a:avLst/>
          </a:prstGeom>
        </p:spPr>
      </p:pic>
      <p:sp>
        <p:nvSpPr>
          <p:cNvPr id="8" name="文本框 7">
            <a:extLst>
              <a:ext uri="{FF2B5EF4-FFF2-40B4-BE49-F238E27FC236}">
                <a16:creationId xmlns:a16="http://schemas.microsoft.com/office/drawing/2014/main" id="{52190AE9-1612-CC40-7912-2F4CACAF846E}"/>
              </a:ext>
            </a:extLst>
          </p:cNvPr>
          <p:cNvSpPr txBox="1"/>
          <p:nvPr/>
        </p:nvSpPr>
        <p:spPr>
          <a:xfrm>
            <a:off x="416560" y="389374"/>
            <a:ext cx="4155440" cy="523220"/>
          </a:xfrm>
          <a:prstGeom prst="rect">
            <a:avLst/>
          </a:prstGeom>
          <a:noFill/>
        </p:spPr>
        <p:txBody>
          <a:bodyPr wrap="square">
            <a:spAutoFit/>
          </a:bodyPr>
          <a:lstStyle/>
          <a:p>
            <a:r>
              <a:rPr lang="en-US" altLang="zh-CN" sz="2800" b="1" dirty="0">
                <a:solidFill>
                  <a:srgbClr val="000000"/>
                </a:solidFill>
                <a:latin typeface="Inter"/>
              </a:rPr>
              <a:t>Analyze</a:t>
            </a:r>
          </a:p>
        </p:txBody>
      </p:sp>
    </p:spTree>
    <p:extLst>
      <p:ext uri="{BB962C8B-B14F-4D97-AF65-F5344CB8AC3E}">
        <p14:creationId xmlns:p14="http://schemas.microsoft.com/office/powerpoint/2010/main" val="3629231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869FE-CCAD-C648-07CE-54EFFEDF5CB2}"/>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4219E9B8-D386-9060-DDB0-29C9D0665F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560" y="1183875"/>
            <a:ext cx="7772400" cy="3127125"/>
          </a:xfrm>
          <a:prstGeom prst="rect">
            <a:avLst/>
          </a:prstGeom>
        </p:spPr>
      </p:pic>
      <p:pic>
        <p:nvPicPr>
          <p:cNvPr id="8" name="图片 7" descr="图示&#10;&#10;AI 生成的内容可能不正确。">
            <a:extLst>
              <a:ext uri="{FF2B5EF4-FFF2-40B4-BE49-F238E27FC236}">
                <a16:creationId xmlns:a16="http://schemas.microsoft.com/office/drawing/2014/main" id="{1BBA22CF-EC6C-28EE-1D04-67BDECE417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3825" y="3429000"/>
            <a:ext cx="6211615" cy="3187920"/>
          </a:xfrm>
          <a:prstGeom prst="rect">
            <a:avLst/>
          </a:prstGeom>
        </p:spPr>
      </p:pic>
      <p:pic>
        <p:nvPicPr>
          <p:cNvPr id="10" name="图片 9" descr="图形用户界面, 文本, 应用程序&#10;&#10;AI 生成的内容可能不正确。">
            <a:extLst>
              <a:ext uri="{FF2B5EF4-FFF2-40B4-BE49-F238E27FC236}">
                <a16:creationId xmlns:a16="http://schemas.microsoft.com/office/drawing/2014/main" id="{0DE74894-28D5-46E2-DFB1-9DD3189FDE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0467" y="4654324"/>
            <a:ext cx="4459452" cy="1814302"/>
          </a:xfrm>
          <a:prstGeom prst="rect">
            <a:avLst/>
          </a:prstGeom>
        </p:spPr>
      </p:pic>
      <p:sp>
        <p:nvSpPr>
          <p:cNvPr id="11" name="文本框 10">
            <a:extLst>
              <a:ext uri="{FF2B5EF4-FFF2-40B4-BE49-F238E27FC236}">
                <a16:creationId xmlns:a16="http://schemas.microsoft.com/office/drawing/2014/main" id="{B96A4BC3-C5D0-7518-4A8D-CE1A54D90D58}"/>
              </a:ext>
            </a:extLst>
          </p:cNvPr>
          <p:cNvSpPr txBox="1"/>
          <p:nvPr/>
        </p:nvSpPr>
        <p:spPr>
          <a:xfrm>
            <a:off x="416560" y="389374"/>
            <a:ext cx="4155440" cy="523220"/>
          </a:xfrm>
          <a:prstGeom prst="rect">
            <a:avLst/>
          </a:prstGeom>
          <a:noFill/>
        </p:spPr>
        <p:txBody>
          <a:bodyPr wrap="square">
            <a:spAutoFit/>
          </a:bodyPr>
          <a:lstStyle/>
          <a:p>
            <a:r>
              <a:rPr lang="en-US" altLang="zh-CN" sz="2800" b="1" dirty="0">
                <a:solidFill>
                  <a:srgbClr val="000000"/>
                </a:solidFill>
                <a:latin typeface="Inter"/>
              </a:rPr>
              <a:t>Analyze</a:t>
            </a:r>
          </a:p>
        </p:txBody>
      </p:sp>
    </p:spTree>
    <p:extLst>
      <p:ext uri="{BB962C8B-B14F-4D97-AF65-F5344CB8AC3E}">
        <p14:creationId xmlns:p14="http://schemas.microsoft.com/office/powerpoint/2010/main" val="3083122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A09E5-1ADC-227C-0FA0-CCDE3CFFC1E6}"/>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273E9D6F-7797-FA03-43F6-A05319EBA0C7}"/>
              </a:ext>
            </a:extLst>
          </p:cNvPr>
          <p:cNvPicPr>
            <a:picLocks noChangeAspect="1"/>
          </p:cNvPicPr>
          <p:nvPr/>
        </p:nvPicPr>
        <p:blipFill>
          <a:blip r:embed="rId3"/>
          <a:stretch>
            <a:fillRect/>
          </a:stretch>
        </p:blipFill>
        <p:spPr>
          <a:xfrm>
            <a:off x="218580" y="3186429"/>
            <a:ext cx="5719416" cy="2669061"/>
          </a:xfrm>
          <a:prstGeom prst="rect">
            <a:avLst/>
          </a:prstGeom>
        </p:spPr>
      </p:pic>
      <p:pic>
        <p:nvPicPr>
          <p:cNvPr id="6" name="图片 5">
            <a:extLst>
              <a:ext uri="{FF2B5EF4-FFF2-40B4-BE49-F238E27FC236}">
                <a16:creationId xmlns:a16="http://schemas.microsoft.com/office/drawing/2014/main" id="{4BE6E2CB-C332-DA81-014A-8660AA38F9B5}"/>
              </a:ext>
            </a:extLst>
          </p:cNvPr>
          <p:cNvPicPr>
            <a:picLocks noChangeAspect="1"/>
          </p:cNvPicPr>
          <p:nvPr/>
        </p:nvPicPr>
        <p:blipFill>
          <a:blip r:embed="rId4"/>
          <a:stretch>
            <a:fillRect/>
          </a:stretch>
        </p:blipFill>
        <p:spPr>
          <a:xfrm>
            <a:off x="439756" y="1110493"/>
            <a:ext cx="5277064" cy="1495168"/>
          </a:xfrm>
          <a:prstGeom prst="rect">
            <a:avLst/>
          </a:prstGeom>
        </p:spPr>
      </p:pic>
      <p:pic>
        <p:nvPicPr>
          <p:cNvPr id="9" name="图片 8">
            <a:extLst>
              <a:ext uri="{FF2B5EF4-FFF2-40B4-BE49-F238E27FC236}">
                <a16:creationId xmlns:a16="http://schemas.microsoft.com/office/drawing/2014/main" id="{7B2180D1-9880-4737-D217-4EBDDFB2E1B2}"/>
              </a:ext>
            </a:extLst>
          </p:cNvPr>
          <p:cNvPicPr>
            <a:picLocks noChangeAspect="1"/>
          </p:cNvPicPr>
          <p:nvPr/>
        </p:nvPicPr>
        <p:blipFill>
          <a:blip r:embed="rId5"/>
          <a:stretch>
            <a:fillRect/>
          </a:stretch>
        </p:blipFill>
        <p:spPr>
          <a:xfrm>
            <a:off x="7099092" y="3090558"/>
            <a:ext cx="5092908" cy="2669061"/>
          </a:xfrm>
          <a:prstGeom prst="rect">
            <a:avLst/>
          </a:prstGeom>
        </p:spPr>
      </p:pic>
      <p:sp>
        <p:nvSpPr>
          <p:cNvPr id="11" name="矩形 10">
            <a:extLst>
              <a:ext uri="{FF2B5EF4-FFF2-40B4-BE49-F238E27FC236}">
                <a16:creationId xmlns:a16="http://schemas.microsoft.com/office/drawing/2014/main" id="{74121B5B-45E2-EC32-C039-86C400465268}"/>
              </a:ext>
            </a:extLst>
          </p:cNvPr>
          <p:cNvSpPr/>
          <p:nvPr/>
        </p:nvSpPr>
        <p:spPr>
          <a:xfrm>
            <a:off x="1283608" y="996300"/>
            <a:ext cx="1198605" cy="1841157"/>
          </a:xfrm>
          <a:prstGeom prst="rect">
            <a:avLst/>
          </a:prstGeom>
          <a:noFill/>
          <a:ln w="381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kumimoji="1" lang="zh-CN" altLang="en-US"/>
          </a:p>
        </p:txBody>
      </p:sp>
      <p:cxnSp>
        <p:nvCxnSpPr>
          <p:cNvPr id="14" name="直线箭头连接符 13">
            <a:extLst>
              <a:ext uri="{FF2B5EF4-FFF2-40B4-BE49-F238E27FC236}">
                <a16:creationId xmlns:a16="http://schemas.microsoft.com/office/drawing/2014/main" id="{1CF3C302-4398-0720-2BE7-336EFA2433AA}"/>
              </a:ext>
            </a:extLst>
          </p:cNvPr>
          <p:cNvCxnSpPr/>
          <p:nvPr/>
        </p:nvCxnSpPr>
        <p:spPr>
          <a:xfrm>
            <a:off x="2647538" y="2488485"/>
            <a:ext cx="4356822" cy="945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上箭头 14">
            <a:extLst>
              <a:ext uri="{FF2B5EF4-FFF2-40B4-BE49-F238E27FC236}">
                <a16:creationId xmlns:a16="http://schemas.microsoft.com/office/drawing/2014/main" id="{33A014C6-B4F2-E318-ADE5-C3FA12D9BD60}"/>
              </a:ext>
            </a:extLst>
          </p:cNvPr>
          <p:cNvSpPr/>
          <p:nvPr/>
        </p:nvSpPr>
        <p:spPr>
          <a:xfrm>
            <a:off x="802973" y="2488485"/>
            <a:ext cx="315310" cy="69794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文本框 16">
            <a:extLst>
              <a:ext uri="{FF2B5EF4-FFF2-40B4-BE49-F238E27FC236}">
                <a16:creationId xmlns:a16="http://schemas.microsoft.com/office/drawing/2014/main" id="{42B3181E-2FF2-F2C4-8F52-4ABDBC892400}"/>
              </a:ext>
            </a:extLst>
          </p:cNvPr>
          <p:cNvSpPr txBox="1"/>
          <p:nvPr/>
        </p:nvSpPr>
        <p:spPr>
          <a:xfrm>
            <a:off x="1789809" y="6340387"/>
            <a:ext cx="9244772" cy="369332"/>
          </a:xfrm>
          <a:prstGeom prst="rect">
            <a:avLst/>
          </a:prstGeom>
          <a:noFill/>
        </p:spPr>
        <p:txBody>
          <a:bodyPr wrap="square">
            <a:spAutoFit/>
          </a:bodyPr>
          <a:lstStyle/>
          <a:p>
            <a:r>
              <a:rPr lang="en" altLang="zh-CN" b="1" dirty="0"/>
              <a:t>Structure Abstraction and Generalization in a Hippocampus-Entorhinal Inspired World Model</a:t>
            </a:r>
            <a:endParaRPr lang="en" altLang="zh-CN" dirty="0"/>
          </a:p>
        </p:txBody>
      </p:sp>
      <p:sp>
        <p:nvSpPr>
          <p:cNvPr id="18" name="文本框 17">
            <a:extLst>
              <a:ext uri="{FF2B5EF4-FFF2-40B4-BE49-F238E27FC236}">
                <a16:creationId xmlns:a16="http://schemas.microsoft.com/office/drawing/2014/main" id="{EDA123CF-C0DD-EC83-90DA-E3432369692A}"/>
              </a:ext>
            </a:extLst>
          </p:cNvPr>
          <p:cNvSpPr txBox="1"/>
          <p:nvPr/>
        </p:nvSpPr>
        <p:spPr>
          <a:xfrm>
            <a:off x="416560" y="389374"/>
            <a:ext cx="4155440" cy="523220"/>
          </a:xfrm>
          <a:prstGeom prst="rect">
            <a:avLst/>
          </a:prstGeom>
          <a:noFill/>
        </p:spPr>
        <p:txBody>
          <a:bodyPr wrap="square">
            <a:spAutoFit/>
          </a:bodyPr>
          <a:lstStyle/>
          <a:p>
            <a:r>
              <a:rPr lang="en-US" altLang="zh-CN" sz="2800" b="1" dirty="0">
                <a:solidFill>
                  <a:srgbClr val="000000"/>
                </a:solidFill>
                <a:latin typeface="Inter"/>
              </a:rPr>
              <a:t>Analyze</a:t>
            </a:r>
          </a:p>
        </p:txBody>
      </p:sp>
    </p:spTree>
    <p:extLst>
      <p:ext uri="{BB962C8B-B14F-4D97-AF65-F5344CB8AC3E}">
        <p14:creationId xmlns:p14="http://schemas.microsoft.com/office/powerpoint/2010/main" val="1658078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61A45-DC8A-4A10-F6F7-2A32A3C2CE30}"/>
            </a:ext>
          </a:extLst>
        </p:cNvPr>
        <p:cNvGrpSpPr/>
        <p:nvPr/>
      </p:nvGrpSpPr>
      <p:grpSpPr>
        <a:xfrm>
          <a:off x="0" y="0"/>
          <a:ext cx="0" cy="0"/>
          <a:chOff x="0" y="0"/>
          <a:chExt cx="0" cy="0"/>
        </a:xfrm>
      </p:grpSpPr>
      <p:pic>
        <p:nvPicPr>
          <p:cNvPr id="12" name="图片 11">
            <a:extLst>
              <a:ext uri="{FF2B5EF4-FFF2-40B4-BE49-F238E27FC236}">
                <a16:creationId xmlns:a16="http://schemas.microsoft.com/office/drawing/2014/main" id="{0B1643C2-9E9B-5C53-93DE-19D3E3F781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6418" y="1730239"/>
            <a:ext cx="7929297" cy="1432684"/>
          </a:xfrm>
          <a:prstGeom prst="rect">
            <a:avLst/>
          </a:prstGeom>
        </p:spPr>
      </p:pic>
      <p:pic>
        <p:nvPicPr>
          <p:cNvPr id="20" name="图片 19">
            <a:extLst>
              <a:ext uri="{FF2B5EF4-FFF2-40B4-BE49-F238E27FC236}">
                <a16:creationId xmlns:a16="http://schemas.microsoft.com/office/drawing/2014/main" id="{E026CB61-C51F-5EC1-1029-833D317E92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94665" y="1426180"/>
            <a:ext cx="2689049" cy="2033183"/>
          </a:xfrm>
          <a:prstGeom prst="rect">
            <a:avLst/>
          </a:prstGeom>
        </p:spPr>
      </p:pic>
      <p:sp>
        <p:nvSpPr>
          <p:cNvPr id="21" name="箭头: 右 20">
            <a:extLst>
              <a:ext uri="{FF2B5EF4-FFF2-40B4-BE49-F238E27FC236}">
                <a16:creationId xmlns:a16="http://schemas.microsoft.com/office/drawing/2014/main" id="{20BBBFA8-CF30-1E76-84DC-D78966EE5001}"/>
              </a:ext>
            </a:extLst>
          </p:cNvPr>
          <p:cNvSpPr/>
          <p:nvPr/>
        </p:nvSpPr>
        <p:spPr>
          <a:xfrm>
            <a:off x="8312250" y="2489502"/>
            <a:ext cx="772160" cy="3679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11889BA1-F0F7-A1F7-B139-04B2053CEF58}"/>
              </a:ext>
            </a:extLst>
          </p:cNvPr>
          <p:cNvSpPr txBox="1"/>
          <p:nvPr/>
        </p:nvSpPr>
        <p:spPr>
          <a:xfrm>
            <a:off x="179934" y="1426181"/>
            <a:ext cx="1715886" cy="369332"/>
          </a:xfrm>
          <a:prstGeom prst="rect">
            <a:avLst/>
          </a:prstGeom>
          <a:noFill/>
        </p:spPr>
        <p:txBody>
          <a:bodyPr wrap="square" rtlCol="0">
            <a:spAutoFit/>
          </a:bodyPr>
          <a:lstStyle/>
          <a:p>
            <a:r>
              <a:rPr lang="en-US" altLang="zh-CN" dirty="0"/>
              <a:t>2022</a:t>
            </a:r>
            <a:r>
              <a:rPr lang="zh-CN" altLang="en-US" dirty="0"/>
              <a:t>，</a:t>
            </a:r>
            <a:r>
              <a:rPr lang="en-US" altLang="zh-CN" dirty="0"/>
              <a:t> science</a:t>
            </a:r>
            <a:endParaRPr lang="zh-CN" altLang="en-US" dirty="0"/>
          </a:p>
        </p:txBody>
      </p:sp>
      <p:pic>
        <p:nvPicPr>
          <p:cNvPr id="5" name="图片 4">
            <a:extLst>
              <a:ext uri="{FF2B5EF4-FFF2-40B4-BE49-F238E27FC236}">
                <a16:creationId xmlns:a16="http://schemas.microsoft.com/office/drawing/2014/main" id="{DE98D21A-9E77-7F90-2160-4CC77FB39B5E}"/>
              </a:ext>
            </a:extLst>
          </p:cNvPr>
          <p:cNvPicPr>
            <a:picLocks noChangeAspect="1"/>
          </p:cNvPicPr>
          <p:nvPr/>
        </p:nvPicPr>
        <p:blipFill>
          <a:blip r:embed="rId4"/>
          <a:stretch>
            <a:fillRect/>
          </a:stretch>
        </p:blipFill>
        <p:spPr>
          <a:xfrm>
            <a:off x="8459246" y="4155121"/>
            <a:ext cx="3732754" cy="1978287"/>
          </a:xfrm>
          <a:prstGeom prst="rect">
            <a:avLst/>
          </a:prstGeom>
        </p:spPr>
      </p:pic>
      <p:sp>
        <p:nvSpPr>
          <p:cNvPr id="28" name="文本框 27">
            <a:extLst>
              <a:ext uri="{FF2B5EF4-FFF2-40B4-BE49-F238E27FC236}">
                <a16:creationId xmlns:a16="http://schemas.microsoft.com/office/drawing/2014/main" id="{F2431917-8536-C1FE-C229-ADD46D702D4E}"/>
              </a:ext>
            </a:extLst>
          </p:cNvPr>
          <p:cNvSpPr txBox="1"/>
          <p:nvPr/>
        </p:nvSpPr>
        <p:spPr>
          <a:xfrm>
            <a:off x="179934" y="3996037"/>
            <a:ext cx="1999482" cy="369332"/>
          </a:xfrm>
          <a:prstGeom prst="rect">
            <a:avLst/>
          </a:prstGeom>
          <a:noFill/>
        </p:spPr>
        <p:txBody>
          <a:bodyPr wrap="square" rtlCol="0">
            <a:spAutoFit/>
          </a:bodyPr>
          <a:lstStyle/>
          <a:p>
            <a:r>
              <a:rPr lang="en-US" altLang="zh-CN" dirty="0"/>
              <a:t>2024.9</a:t>
            </a:r>
            <a:r>
              <a:rPr lang="zh-CN" altLang="en-US" dirty="0"/>
              <a:t>，</a:t>
            </a:r>
            <a:r>
              <a:rPr lang="en-US" altLang="zh-CN" dirty="0"/>
              <a:t>science</a:t>
            </a:r>
            <a:endParaRPr lang="zh-CN" altLang="en-US" dirty="0"/>
          </a:p>
        </p:txBody>
      </p:sp>
      <p:pic>
        <p:nvPicPr>
          <p:cNvPr id="2" name="图片 1">
            <a:extLst>
              <a:ext uri="{FF2B5EF4-FFF2-40B4-BE49-F238E27FC236}">
                <a16:creationId xmlns:a16="http://schemas.microsoft.com/office/drawing/2014/main" id="{1804DC32-F727-AEAA-646D-691D321887D4}"/>
              </a:ext>
            </a:extLst>
          </p:cNvPr>
          <p:cNvPicPr>
            <a:picLocks noChangeAspect="1"/>
          </p:cNvPicPr>
          <p:nvPr/>
        </p:nvPicPr>
        <p:blipFill>
          <a:blip r:embed="rId5"/>
          <a:stretch>
            <a:fillRect/>
          </a:stretch>
        </p:blipFill>
        <p:spPr>
          <a:xfrm>
            <a:off x="179934" y="4456904"/>
            <a:ext cx="7772400" cy="1483158"/>
          </a:xfrm>
          <a:prstGeom prst="rect">
            <a:avLst/>
          </a:prstGeom>
        </p:spPr>
      </p:pic>
      <p:sp>
        <p:nvSpPr>
          <p:cNvPr id="4" name="箭头: 右 20">
            <a:extLst>
              <a:ext uri="{FF2B5EF4-FFF2-40B4-BE49-F238E27FC236}">
                <a16:creationId xmlns:a16="http://schemas.microsoft.com/office/drawing/2014/main" id="{F8B08630-9E92-0479-5EAD-728AD8D506C1}"/>
              </a:ext>
            </a:extLst>
          </p:cNvPr>
          <p:cNvSpPr/>
          <p:nvPr/>
        </p:nvSpPr>
        <p:spPr>
          <a:xfrm>
            <a:off x="7563914" y="4922987"/>
            <a:ext cx="772160" cy="3679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A9C8CED5-911A-DFAB-DC67-3C8B615A27E4}"/>
              </a:ext>
            </a:extLst>
          </p:cNvPr>
          <p:cNvSpPr txBox="1"/>
          <p:nvPr/>
        </p:nvSpPr>
        <p:spPr>
          <a:xfrm>
            <a:off x="416560" y="389374"/>
            <a:ext cx="4155440" cy="523220"/>
          </a:xfrm>
          <a:prstGeom prst="rect">
            <a:avLst/>
          </a:prstGeom>
          <a:noFill/>
        </p:spPr>
        <p:txBody>
          <a:bodyPr wrap="square">
            <a:spAutoFit/>
          </a:bodyPr>
          <a:lstStyle/>
          <a:p>
            <a:r>
              <a:rPr lang="en-US" altLang="zh-CN" sz="2800" b="1" dirty="0">
                <a:solidFill>
                  <a:srgbClr val="000000"/>
                </a:solidFill>
                <a:latin typeface="Inter"/>
              </a:rPr>
              <a:t>Analyze</a:t>
            </a:r>
          </a:p>
        </p:txBody>
      </p:sp>
    </p:spTree>
    <p:extLst>
      <p:ext uri="{BB962C8B-B14F-4D97-AF65-F5344CB8AC3E}">
        <p14:creationId xmlns:p14="http://schemas.microsoft.com/office/powerpoint/2010/main" val="514231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A673A-BBC3-DC0E-7C04-16C9876DA29A}"/>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7A42A3D8-9882-C31D-119D-FC85C50C3C97}"/>
              </a:ext>
            </a:extLst>
          </p:cNvPr>
          <p:cNvSpPr txBox="1"/>
          <p:nvPr/>
        </p:nvSpPr>
        <p:spPr>
          <a:xfrm>
            <a:off x="416560" y="389374"/>
            <a:ext cx="11442931" cy="523220"/>
          </a:xfrm>
          <a:prstGeom prst="rect">
            <a:avLst/>
          </a:prstGeom>
          <a:noFill/>
        </p:spPr>
        <p:txBody>
          <a:bodyPr wrap="square">
            <a:spAutoFit/>
          </a:bodyPr>
          <a:lstStyle/>
          <a:p>
            <a:r>
              <a:rPr lang="en-US" altLang="zh-CN" sz="2800" b="1" i="0" dirty="0">
                <a:solidFill>
                  <a:srgbClr val="000000"/>
                </a:solidFill>
                <a:effectLst/>
                <a:latin typeface="Inter"/>
              </a:rPr>
              <a:t>Weakness</a:t>
            </a:r>
            <a:endParaRPr lang="zh-CN" altLang="en-US" sz="2800" b="1" dirty="0"/>
          </a:p>
        </p:txBody>
      </p:sp>
      <p:sp>
        <p:nvSpPr>
          <p:cNvPr id="5" name="文本框 4">
            <a:extLst>
              <a:ext uri="{FF2B5EF4-FFF2-40B4-BE49-F238E27FC236}">
                <a16:creationId xmlns:a16="http://schemas.microsoft.com/office/drawing/2014/main" id="{02EE1C73-B412-114E-2313-D6EC722ECDD7}"/>
              </a:ext>
            </a:extLst>
          </p:cNvPr>
          <p:cNvSpPr txBox="1"/>
          <p:nvPr/>
        </p:nvSpPr>
        <p:spPr>
          <a:xfrm>
            <a:off x="806669" y="1206288"/>
            <a:ext cx="10578662" cy="5262338"/>
          </a:xfrm>
          <a:prstGeom prst="rect">
            <a:avLst/>
          </a:prstGeom>
          <a:noFill/>
        </p:spPr>
        <p:txBody>
          <a:bodyPr wrap="square">
            <a:spAutoFit/>
          </a:bodyPr>
          <a:lstStyle/>
          <a:p>
            <a:pPr>
              <a:lnSpc>
                <a:spcPct val="120000"/>
              </a:lnSpc>
              <a:spcAft>
                <a:spcPts val="600"/>
              </a:spcAft>
            </a:pPr>
            <a:r>
              <a:rPr lang="en-US" altLang="zh-CN" b="1" dirty="0"/>
              <a:t>1. Limited scalability and architectural generality</a:t>
            </a:r>
          </a:p>
          <a:p>
            <a:pPr>
              <a:lnSpc>
                <a:spcPct val="120000"/>
              </a:lnSpc>
              <a:spcAft>
                <a:spcPts val="600"/>
              </a:spcAft>
            </a:pPr>
            <a:r>
              <a:rPr lang="en-US" altLang="zh-CN" dirty="0"/>
              <a:t>Existing findings are largely based on small recurrent networks and highly controlled task families. It remains unclear whether similarly stable and interpretable shared structures emerge in larger, more heterogeneous multitask settings or in modern architectures such as Transformers and world models.</a:t>
            </a:r>
          </a:p>
          <a:p>
            <a:pPr>
              <a:lnSpc>
                <a:spcPct val="120000"/>
              </a:lnSpc>
              <a:spcAft>
                <a:spcPts val="600"/>
              </a:spcAft>
            </a:pPr>
            <a:endParaRPr lang="en-US" altLang="zh-CN" b="1" dirty="0"/>
          </a:p>
          <a:p>
            <a:pPr>
              <a:lnSpc>
                <a:spcPct val="120000"/>
              </a:lnSpc>
              <a:spcAft>
                <a:spcPts val="600"/>
              </a:spcAft>
            </a:pPr>
            <a:r>
              <a:rPr lang="en-US" altLang="zh-CN" b="1" dirty="0"/>
              <a:t>2. Task-supervised representations rather than predictive world models</a:t>
            </a:r>
          </a:p>
          <a:p>
            <a:pPr>
              <a:lnSpc>
                <a:spcPct val="120000"/>
              </a:lnSpc>
              <a:spcAft>
                <a:spcPts val="600"/>
              </a:spcAft>
            </a:pPr>
            <a:r>
              <a:rPr lang="en-US" altLang="zh-CN" dirty="0"/>
              <a:t>Most studies train models on synthetic inputs with task-specific output supervision. As a result, schema is typically identified as a representation that supports particular behavioral readouts, rather than as an internal model that predicts latent state transitions, future observations, or the consequences of actions.</a:t>
            </a:r>
          </a:p>
          <a:p>
            <a:pPr>
              <a:lnSpc>
                <a:spcPct val="120000"/>
              </a:lnSpc>
              <a:spcAft>
                <a:spcPts val="600"/>
              </a:spcAft>
            </a:pPr>
            <a:endParaRPr lang="en-US" altLang="zh-CN" b="1" dirty="0"/>
          </a:p>
          <a:p>
            <a:pPr>
              <a:lnSpc>
                <a:spcPct val="120000"/>
              </a:lnSpc>
              <a:spcAft>
                <a:spcPts val="600"/>
              </a:spcAft>
            </a:pPr>
            <a:r>
              <a:rPr lang="en-US" altLang="zh-CN" b="1" dirty="0"/>
              <a:t>3. Limited evidence for functional utility and systematic generalization</a:t>
            </a:r>
          </a:p>
          <a:p>
            <a:pPr>
              <a:lnSpc>
                <a:spcPct val="120000"/>
              </a:lnSpc>
              <a:spcAft>
                <a:spcPts val="600"/>
              </a:spcAft>
            </a:pPr>
            <a:r>
              <a:rPr lang="en-US" altLang="zh-CN" dirty="0"/>
              <a:t>Shared low-dimensional structures are often identified retrospectively through dimensionality reduction or decoding analyses. However, it remains unclear whether these structures causally support few-shot transfer, compositional generalization, continual learning, or planning in unseen task combinations.</a:t>
            </a:r>
          </a:p>
        </p:txBody>
      </p:sp>
    </p:spTree>
    <p:extLst>
      <p:ext uri="{BB962C8B-B14F-4D97-AF65-F5344CB8AC3E}">
        <p14:creationId xmlns:p14="http://schemas.microsoft.com/office/powerpoint/2010/main" val="408196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2032A-F0D8-E3A6-084A-00CC48381729}"/>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D87BD5C1-4583-5905-A315-A25B9ECAAB7A}"/>
              </a:ext>
            </a:extLst>
          </p:cNvPr>
          <p:cNvSpPr txBox="1"/>
          <p:nvPr/>
        </p:nvSpPr>
        <p:spPr>
          <a:xfrm>
            <a:off x="416560" y="389374"/>
            <a:ext cx="12072524" cy="523220"/>
          </a:xfrm>
          <a:prstGeom prst="rect">
            <a:avLst/>
          </a:prstGeom>
          <a:noFill/>
        </p:spPr>
        <p:txBody>
          <a:bodyPr wrap="square">
            <a:spAutoFit/>
          </a:bodyPr>
          <a:lstStyle/>
          <a:p>
            <a:r>
              <a:rPr lang="en-US" altLang="zh-CN" sz="2800" b="1" i="0" dirty="0">
                <a:solidFill>
                  <a:srgbClr val="000000"/>
                </a:solidFill>
                <a:effectLst/>
                <a:latin typeface="Inter"/>
              </a:rPr>
              <a:t>Question</a:t>
            </a:r>
            <a:endParaRPr lang="zh-CN" altLang="en-US" sz="2800" b="1" dirty="0"/>
          </a:p>
        </p:txBody>
      </p:sp>
      <p:sp>
        <p:nvSpPr>
          <p:cNvPr id="4" name="文本框 3">
            <a:extLst>
              <a:ext uri="{FF2B5EF4-FFF2-40B4-BE49-F238E27FC236}">
                <a16:creationId xmlns:a16="http://schemas.microsoft.com/office/drawing/2014/main" id="{1F3CA13E-9890-210A-6BF5-FDD891F1EB39}"/>
              </a:ext>
            </a:extLst>
          </p:cNvPr>
          <p:cNvSpPr txBox="1"/>
          <p:nvPr/>
        </p:nvSpPr>
        <p:spPr>
          <a:xfrm>
            <a:off x="727841" y="1808653"/>
            <a:ext cx="10736317" cy="3693319"/>
          </a:xfrm>
          <a:prstGeom prst="rect">
            <a:avLst/>
          </a:prstGeom>
          <a:noFill/>
        </p:spPr>
        <p:txBody>
          <a:bodyPr wrap="square">
            <a:spAutoFit/>
          </a:bodyPr>
          <a:lstStyle/>
          <a:p>
            <a:r>
              <a:rPr lang="en-US" altLang="zh-CN" dirty="0"/>
              <a:t>1</a:t>
            </a:r>
            <a:r>
              <a:rPr lang="en-US" altLang="zh-CN" b="1" dirty="0"/>
              <a:t>.</a:t>
            </a:r>
            <a:r>
              <a:rPr lang="en" altLang="zh-CN" b="1" dirty="0"/>
              <a:t>Can interpretable world models reveal how cognitive schemas support prediction across tasks?</a:t>
            </a:r>
          </a:p>
          <a:p>
            <a:endParaRPr lang="en" altLang="zh-CN" dirty="0"/>
          </a:p>
          <a:p>
            <a:endParaRPr lang="en" altLang="zh-CN" dirty="0"/>
          </a:p>
          <a:p>
            <a:r>
              <a:rPr lang="en-US" altLang="zh-CN" dirty="0"/>
              <a:t>2.</a:t>
            </a:r>
            <a:r>
              <a:rPr lang="en" altLang="zh-CN" dirty="0"/>
              <a:t>Can a schema be defined as a reusable latent structure that supports prediction across different tasks or contexts?</a:t>
            </a:r>
          </a:p>
          <a:p>
            <a:endParaRPr lang="en" altLang="zh-CN" dirty="0"/>
          </a:p>
          <a:p>
            <a:endParaRPr lang="en" altLang="zh-CN" dirty="0"/>
          </a:p>
          <a:p>
            <a:r>
              <a:rPr lang="en-US" altLang="zh-CN" dirty="0"/>
              <a:t>3.</a:t>
            </a:r>
            <a:r>
              <a:rPr lang="en" altLang="zh-CN" dirty="0"/>
              <a:t>If a model must predict future observations, does schema become useful because it compresses task structure and improves prediction?</a:t>
            </a:r>
          </a:p>
          <a:p>
            <a:endParaRPr lang="en" altLang="zh-CN" dirty="0"/>
          </a:p>
          <a:p>
            <a:endParaRPr lang="en" altLang="zh-CN" dirty="0"/>
          </a:p>
          <a:p>
            <a:r>
              <a:rPr lang="en-US" altLang="zh-CN" dirty="0"/>
              <a:t>4.</a:t>
            </a:r>
            <a:r>
              <a:rPr lang="en" altLang="zh-CN" dirty="0"/>
              <a:t>How can we identify, visualize, and test schema-like structures inside a learned world model?</a:t>
            </a:r>
            <a:endParaRPr lang="zh-CN" altLang="en-US" dirty="0"/>
          </a:p>
          <a:p>
            <a:endParaRPr lang="zh-CN" altLang="en-US" dirty="0"/>
          </a:p>
        </p:txBody>
      </p:sp>
    </p:spTree>
    <p:extLst>
      <p:ext uri="{BB962C8B-B14F-4D97-AF65-F5344CB8AC3E}">
        <p14:creationId xmlns:p14="http://schemas.microsoft.com/office/powerpoint/2010/main" val="3462815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4D2FF-7998-F125-D39B-FA5502CFC9D5}"/>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9278F658-06FC-09E3-F5CD-93E2A562B64A}"/>
              </a:ext>
            </a:extLst>
          </p:cNvPr>
          <p:cNvSpPr txBox="1"/>
          <p:nvPr/>
        </p:nvSpPr>
        <p:spPr>
          <a:xfrm>
            <a:off x="416559" y="389374"/>
            <a:ext cx="9028229" cy="523220"/>
          </a:xfrm>
          <a:prstGeom prst="rect">
            <a:avLst/>
          </a:prstGeom>
          <a:noFill/>
        </p:spPr>
        <p:txBody>
          <a:bodyPr wrap="square">
            <a:spAutoFit/>
          </a:bodyPr>
          <a:lstStyle/>
          <a:p>
            <a:r>
              <a:rPr lang="en-US" altLang="zh-CN" sz="2800" b="1" dirty="0">
                <a:solidFill>
                  <a:srgbClr val="000000"/>
                </a:solidFill>
                <a:latin typeface="Inter"/>
              </a:rPr>
              <a:t>LEWM</a:t>
            </a:r>
          </a:p>
        </p:txBody>
      </p:sp>
      <p:pic>
        <p:nvPicPr>
          <p:cNvPr id="3" name="图片 2" descr="图示&#10;&#10;AI 生成的内容可能不正确。">
            <a:extLst>
              <a:ext uri="{FF2B5EF4-FFF2-40B4-BE49-F238E27FC236}">
                <a16:creationId xmlns:a16="http://schemas.microsoft.com/office/drawing/2014/main" id="{5C6F24FB-9D67-5D14-E74D-607A5A66E7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8198" y="1657079"/>
            <a:ext cx="5996590" cy="1312323"/>
          </a:xfrm>
          <a:prstGeom prst="rect">
            <a:avLst/>
          </a:prstGeom>
        </p:spPr>
      </p:pic>
      <p:sp>
        <p:nvSpPr>
          <p:cNvPr id="9" name="文本框 8">
            <a:extLst>
              <a:ext uri="{FF2B5EF4-FFF2-40B4-BE49-F238E27FC236}">
                <a16:creationId xmlns:a16="http://schemas.microsoft.com/office/drawing/2014/main" id="{CBC927DB-6351-BAB7-A664-09125418D035}"/>
              </a:ext>
            </a:extLst>
          </p:cNvPr>
          <p:cNvSpPr txBox="1"/>
          <p:nvPr/>
        </p:nvSpPr>
        <p:spPr>
          <a:xfrm>
            <a:off x="701565" y="3271997"/>
            <a:ext cx="10949152" cy="646331"/>
          </a:xfrm>
          <a:prstGeom prst="rect">
            <a:avLst/>
          </a:prstGeom>
          <a:noFill/>
        </p:spPr>
        <p:txBody>
          <a:bodyPr wrap="square">
            <a:spAutoFit/>
          </a:bodyPr>
          <a:lstStyle/>
          <a:p>
            <a:r>
              <a:rPr lang="zh-CN" altLang="en-US" dirty="0"/>
              <a:t>The encoder is implemented as a Vision Transformer (ViT)</a:t>
            </a:r>
            <a:r>
              <a:rPr lang="en-US" altLang="zh-CN" dirty="0"/>
              <a:t>. The projection step maps the [CLS] token embedding into a new representation space using a 1-layer MLP with Batch Normalization.</a:t>
            </a:r>
            <a:endParaRPr lang="zh-CN" altLang="en-US" dirty="0"/>
          </a:p>
        </p:txBody>
      </p:sp>
      <p:sp>
        <p:nvSpPr>
          <p:cNvPr id="11" name="文本框 10">
            <a:extLst>
              <a:ext uri="{FF2B5EF4-FFF2-40B4-BE49-F238E27FC236}">
                <a16:creationId xmlns:a16="http://schemas.microsoft.com/office/drawing/2014/main" id="{7BEFA42B-17BC-0327-7580-9AD04DEE93B5}"/>
              </a:ext>
            </a:extLst>
          </p:cNvPr>
          <p:cNvSpPr txBox="1"/>
          <p:nvPr/>
        </p:nvSpPr>
        <p:spPr>
          <a:xfrm>
            <a:off x="701564" y="4877084"/>
            <a:ext cx="10665373" cy="646331"/>
          </a:xfrm>
          <a:prstGeom prst="rect">
            <a:avLst/>
          </a:prstGeom>
          <a:noFill/>
        </p:spPr>
        <p:txBody>
          <a:bodyPr wrap="square">
            <a:spAutoFit/>
          </a:bodyPr>
          <a:lstStyle/>
          <a:p>
            <a:r>
              <a:rPr lang="zh-CN" altLang="en-US" dirty="0"/>
              <a:t>The predictor is a transformer with 6 layers, 16 attention heads, and 10% dropout (∼10M parameters).</a:t>
            </a:r>
            <a:r>
              <a:rPr lang="en" altLang="zh-CN" dirty="0"/>
              <a:t> The predictor is also followed by a projector network with the same implementation as the one used for the encoder.</a:t>
            </a:r>
            <a:endParaRPr lang="zh-CN" altLang="en-US" dirty="0"/>
          </a:p>
        </p:txBody>
      </p:sp>
    </p:spTree>
    <p:extLst>
      <p:ext uri="{BB962C8B-B14F-4D97-AF65-F5344CB8AC3E}">
        <p14:creationId xmlns:p14="http://schemas.microsoft.com/office/powerpoint/2010/main" val="3387710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8F55E-FE54-B6F7-0A08-12674A71213A}"/>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9C86847E-C53C-F630-E451-67315AFE7F39}"/>
              </a:ext>
            </a:extLst>
          </p:cNvPr>
          <p:cNvSpPr txBox="1"/>
          <p:nvPr/>
        </p:nvSpPr>
        <p:spPr>
          <a:xfrm>
            <a:off x="416559" y="389374"/>
            <a:ext cx="9028229" cy="523220"/>
          </a:xfrm>
          <a:prstGeom prst="rect">
            <a:avLst/>
          </a:prstGeom>
          <a:noFill/>
        </p:spPr>
        <p:txBody>
          <a:bodyPr wrap="square">
            <a:spAutoFit/>
          </a:bodyPr>
          <a:lstStyle/>
          <a:p>
            <a:r>
              <a:rPr lang="en-US" altLang="zh-CN" sz="2800" b="1" dirty="0">
                <a:solidFill>
                  <a:srgbClr val="000000"/>
                </a:solidFill>
                <a:latin typeface="Inter"/>
              </a:rPr>
              <a:t>LEWM</a:t>
            </a:r>
          </a:p>
        </p:txBody>
      </p:sp>
      <p:pic>
        <p:nvPicPr>
          <p:cNvPr id="4" name="图片 3">
            <a:extLst>
              <a:ext uri="{FF2B5EF4-FFF2-40B4-BE49-F238E27FC236}">
                <a16:creationId xmlns:a16="http://schemas.microsoft.com/office/drawing/2014/main" id="{57A620AC-DA79-8238-B295-021CC429F9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1719231"/>
            <a:ext cx="7772400" cy="784057"/>
          </a:xfrm>
          <a:prstGeom prst="rect">
            <a:avLst/>
          </a:prstGeom>
        </p:spPr>
      </p:pic>
      <p:pic>
        <p:nvPicPr>
          <p:cNvPr id="6" name="图片 5" descr="图示&#10;&#10;AI 生成的内容可能不正确。">
            <a:extLst>
              <a:ext uri="{FF2B5EF4-FFF2-40B4-BE49-F238E27FC236}">
                <a16:creationId xmlns:a16="http://schemas.microsoft.com/office/drawing/2014/main" id="{4A9ED222-E820-17DE-BE45-9BF1D09063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0090" y="4298903"/>
            <a:ext cx="4474779" cy="976580"/>
          </a:xfrm>
          <a:prstGeom prst="rect">
            <a:avLst/>
          </a:prstGeom>
        </p:spPr>
      </p:pic>
      <p:sp>
        <p:nvSpPr>
          <p:cNvPr id="10" name="文本框 9">
            <a:extLst>
              <a:ext uri="{FF2B5EF4-FFF2-40B4-BE49-F238E27FC236}">
                <a16:creationId xmlns:a16="http://schemas.microsoft.com/office/drawing/2014/main" id="{927C7AB9-423F-7460-C907-EE84F94E2CB3}"/>
              </a:ext>
            </a:extLst>
          </p:cNvPr>
          <p:cNvSpPr txBox="1"/>
          <p:nvPr/>
        </p:nvSpPr>
        <p:spPr>
          <a:xfrm>
            <a:off x="1748658" y="1072900"/>
            <a:ext cx="8694683" cy="646331"/>
          </a:xfrm>
          <a:prstGeom prst="rect">
            <a:avLst/>
          </a:prstGeom>
          <a:noFill/>
        </p:spPr>
        <p:txBody>
          <a:bodyPr wrap="square">
            <a:spAutoFit/>
          </a:bodyPr>
          <a:lstStyle/>
          <a:p>
            <a:r>
              <a:rPr lang="zh-CN" altLang="en-US" dirty="0"/>
              <a:t>The prediction loss Lpred (teacher-forcing) computes the error between the predicted embedding of consecutive time-steps:</a:t>
            </a:r>
          </a:p>
        </p:txBody>
      </p:sp>
      <p:pic>
        <p:nvPicPr>
          <p:cNvPr id="12" name="图片 11" descr="饼图&#10;&#10;AI 生成的内容可能不正确。">
            <a:extLst>
              <a:ext uri="{FF2B5EF4-FFF2-40B4-BE49-F238E27FC236}">
                <a16:creationId xmlns:a16="http://schemas.microsoft.com/office/drawing/2014/main" id="{6853A83C-A608-7135-AD12-C76248721E7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61690" y="3766476"/>
            <a:ext cx="5556030" cy="2121900"/>
          </a:xfrm>
          <a:prstGeom prst="rect">
            <a:avLst/>
          </a:prstGeom>
        </p:spPr>
      </p:pic>
      <p:sp>
        <p:nvSpPr>
          <p:cNvPr id="14" name="文本框 13">
            <a:extLst>
              <a:ext uri="{FF2B5EF4-FFF2-40B4-BE49-F238E27FC236}">
                <a16:creationId xmlns:a16="http://schemas.microsoft.com/office/drawing/2014/main" id="{EAB34DC3-EC6F-A3F3-D1BE-9866D5F8E4CC}"/>
              </a:ext>
            </a:extLst>
          </p:cNvPr>
          <p:cNvSpPr txBox="1"/>
          <p:nvPr/>
        </p:nvSpPr>
        <p:spPr>
          <a:xfrm>
            <a:off x="1127235" y="2843146"/>
            <a:ext cx="10590485" cy="923330"/>
          </a:xfrm>
          <a:prstGeom prst="rect">
            <a:avLst/>
          </a:prstGeom>
          <a:noFill/>
        </p:spPr>
        <p:txBody>
          <a:bodyPr wrap="square">
            <a:spAutoFit/>
          </a:bodyPr>
          <a:lstStyle/>
          <a:p>
            <a:r>
              <a:rPr lang="zh-CN" altLang="en-US" dirty="0"/>
              <a:t>SIGReg circumvents this limitation by projecting embeddings onto M random unit-norm directions u(m) ∈ Sd−1 and optimizing the univariate EppsPulley [38] test statistic T (·) along the resulting one-dimensional projections h(m) = Zu(m),</a:t>
            </a:r>
          </a:p>
        </p:txBody>
      </p:sp>
      <p:pic>
        <p:nvPicPr>
          <p:cNvPr id="16" name="图片 15" descr="图示&#10;&#10;AI 生成的内容可能不正确。">
            <a:extLst>
              <a:ext uri="{FF2B5EF4-FFF2-40B4-BE49-F238E27FC236}">
                <a16:creationId xmlns:a16="http://schemas.microsoft.com/office/drawing/2014/main" id="{7B5E64DD-0663-76FF-4DA1-3253D8DF97F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33294" y="6055054"/>
            <a:ext cx="4925410" cy="731497"/>
          </a:xfrm>
          <a:prstGeom prst="rect">
            <a:avLst/>
          </a:prstGeom>
        </p:spPr>
      </p:pic>
    </p:spTree>
    <p:extLst>
      <p:ext uri="{BB962C8B-B14F-4D97-AF65-F5344CB8AC3E}">
        <p14:creationId xmlns:p14="http://schemas.microsoft.com/office/powerpoint/2010/main" val="178745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F5808-3D35-AF9C-9721-4AD597C61B78}"/>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A99A5375-2B4B-C808-6B2C-BC38E669B923}"/>
              </a:ext>
            </a:extLst>
          </p:cNvPr>
          <p:cNvSpPr txBox="1"/>
          <p:nvPr/>
        </p:nvSpPr>
        <p:spPr>
          <a:xfrm>
            <a:off x="416559" y="389374"/>
            <a:ext cx="9028229" cy="523220"/>
          </a:xfrm>
          <a:prstGeom prst="rect">
            <a:avLst/>
          </a:prstGeom>
          <a:noFill/>
        </p:spPr>
        <p:txBody>
          <a:bodyPr wrap="square">
            <a:spAutoFit/>
          </a:bodyPr>
          <a:lstStyle/>
          <a:p>
            <a:r>
              <a:rPr lang="en-US" altLang="zh-CN" sz="2800" b="1" dirty="0">
                <a:solidFill>
                  <a:srgbClr val="000000"/>
                </a:solidFill>
                <a:latin typeface="Inter"/>
              </a:rPr>
              <a:t>LEWM</a:t>
            </a:r>
          </a:p>
        </p:txBody>
      </p:sp>
      <p:pic>
        <p:nvPicPr>
          <p:cNvPr id="2" name="图片 1" descr="文本, 信件&#10;&#10;AI 生成的内容可能不正确。">
            <a:extLst>
              <a:ext uri="{FF2B5EF4-FFF2-40B4-BE49-F238E27FC236}">
                <a16:creationId xmlns:a16="http://schemas.microsoft.com/office/drawing/2014/main" id="{9A2E505A-1E88-9177-20C7-E040B67884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0938" y="1197787"/>
            <a:ext cx="9270124" cy="4975551"/>
          </a:xfrm>
          <a:prstGeom prst="rect">
            <a:avLst/>
          </a:prstGeom>
        </p:spPr>
      </p:pic>
    </p:spTree>
    <p:extLst>
      <p:ext uri="{BB962C8B-B14F-4D97-AF65-F5344CB8AC3E}">
        <p14:creationId xmlns:p14="http://schemas.microsoft.com/office/powerpoint/2010/main" val="559305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8E574-C98A-3E9E-A7B1-3386928002FB}"/>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EB8CCE4A-D683-C5F2-8C84-49C80FE11031}"/>
              </a:ext>
            </a:extLst>
          </p:cNvPr>
          <p:cNvSpPr txBox="1"/>
          <p:nvPr/>
        </p:nvSpPr>
        <p:spPr>
          <a:xfrm>
            <a:off x="416559" y="389374"/>
            <a:ext cx="9028229" cy="523220"/>
          </a:xfrm>
          <a:prstGeom prst="rect">
            <a:avLst/>
          </a:prstGeom>
          <a:noFill/>
        </p:spPr>
        <p:txBody>
          <a:bodyPr wrap="square">
            <a:spAutoFit/>
          </a:bodyPr>
          <a:lstStyle/>
          <a:p>
            <a:r>
              <a:rPr lang="en-US" altLang="zh-CN" sz="2800" b="1" dirty="0">
                <a:solidFill>
                  <a:srgbClr val="000000"/>
                </a:solidFill>
                <a:latin typeface="Inter"/>
              </a:rPr>
              <a:t>Proposal</a:t>
            </a:r>
          </a:p>
        </p:txBody>
      </p:sp>
      <p:sp>
        <p:nvSpPr>
          <p:cNvPr id="4" name="文本框 3">
            <a:extLst>
              <a:ext uri="{FF2B5EF4-FFF2-40B4-BE49-F238E27FC236}">
                <a16:creationId xmlns:a16="http://schemas.microsoft.com/office/drawing/2014/main" id="{6275E07D-9B36-0EBD-DEA4-8E140C5C84AE}"/>
              </a:ext>
            </a:extLst>
          </p:cNvPr>
          <p:cNvSpPr txBox="1"/>
          <p:nvPr/>
        </p:nvSpPr>
        <p:spPr>
          <a:xfrm>
            <a:off x="534100" y="2002221"/>
            <a:ext cx="11123800" cy="2862322"/>
          </a:xfrm>
          <a:prstGeom prst="rect">
            <a:avLst/>
          </a:prstGeom>
          <a:noFill/>
        </p:spPr>
        <p:txBody>
          <a:bodyPr wrap="square" rtlCol="0">
            <a:spAutoFit/>
          </a:bodyPr>
          <a:lstStyle/>
          <a:p>
            <a:r>
              <a:rPr kumimoji="1" lang="en-US" altLang="zh-CN" dirty="0"/>
              <a:t>1.</a:t>
            </a:r>
            <a:r>
              <a:rPr kumimoji="1" lang="zh-CN" altLang="en-US" dirty="0"/>
              <a:t>设计一套合理的数据集，可以表达</a:t>
            </a:r>
            <a:r>
              <a:rPr kumimoji="1" lang="en-US" altLang="zh-CN" dirty="0"/>
              <a:t>multitask</a:t>
            </a:r>
            <a:r>
              <a:rPr kumimoji="1" lang="zh-CN" altLang="en-US" dirty="0"/>
              <a:t> </a:t>
            </a:r>
            <a:r>
              <a:rPr kumimoji="1" lang="en-US" altLang="zh-CN" dirty="0"/>
              <a:t>SWM</a:t>
            </a:r>
            <a:r>
              <a:rPr kumimoji="1" lang="zh-CN" altLang="en-US" dirty="0"/>
              <a:t>任务，并且这套任务应该倾向出有一套完整</a:t>
            </a:r>
            <a:r>
              <a:rPr kumimoji="1" lang="en-US" altLang="zh-CN" dirty="0"/>
              <a:t>schema</a:t>
            </a:r>
            <a:r>
              <a:rPr kumimoji="1" lang="zh-CN" altLang="en-US" dirty="0"/>
              <a:t>可以去复用</a:t>
            </a:r>
            <a:endParaRPr kumimoji="1" lang="en-US" altLang="zh-CN" dirty="0"/>
          </a:p>
          <a:p>
            <a:endParaRPr kumimoji="1" lang="en-US" altLang="zh-CN" dirty="0"/>
          </a:p>
          <a:p>
            <a:endParaRPr kumimoji="1" lang="en-US" altLang="zh-CN" dirty="0"/>
          </a:p>
          <a:p>
            <a:r>
              <a:rPr kumimoji="1" lang="en-US" altLang="zh-CN" dirty="0"/>
              <a:t>2.</a:t>
            </a:r>
            <a:r>
              <a:rPr kumimoji="1" lang="zh-CN" altLang="en-US" dirty="0"/>
              <a:t>参考</a:t>
            </a:r>
            <a:r>
              <a:rPr kumimoji="1" lang="en-US" altLang="zh-CN" dirty="0"/>
              <a:t>LEWM</a:t>
            </a:r>
            <a:r>
              <a:rPr kumimoji="1" lang="zh-CN" altLang="en-US" dirty="0"/>
              <a:t>设计合理的</a:t>
            </a:r>
            <a:r>
              <a:rPr kumimoji="1" lang="en-US" altLang="zh-CN" dirty="0"/>
              <a:t>encoder</a:t>
            </a:r>
            <a:r>
              <a:rPr kumimoji="1" lang="zh-CN" altLang="en-US" dirty="0"/>
              <a:t>和</a:t>
            </a:r>
            <a:r>
              <a:rPr kumimoji="1" lang="en-US" altLang="zh-CN" dirty="0"/>
              <a:t>decoder</a:t>
            </a:r>
            <a:r>
              <a:rPr kumimoji="1" lang="zh-CN" altLang="en-US" dirty="0"/>
              <a:t>，确保</a:t>
            </a:r>
            <a:r>
              <a:rPr kumimoji="1" lang="en-US" altLang="zh-CN" dirty="0"/>
              <a:t>latent</a:t>
            </a:r>
            <a:r>
              <a:rPr kumimoji="1" lang="zh-CN" altLang="en-US" dirty="0"/>
              <a:t> </a:t>
            </a:r>
            <a:r>
              <a:rPr kumimoji="1" lang="en-US" altLang="zh-CN" dirty="0"/>
              <a:t>space</a:t>
            </a:r>
            <a:r>
              <a:rPr kumimoji="1" lang="zh-CN" altLang="en-US" dirty="0"/>
              <a:t>可解释，可分析，不被过大的正则化影响，且需要考虑如何在此基础上加入</a:t>
            </a:r>
            <a:r>
              <a:rPr kumimoji="1" lang="en-US" altLang="zh-CN" dirty="0"/>
              <a:t>Working</a:t>
            </a:r>
            <a:r>
              <a:rPr kumimoji="1" lang="zh-CN" altLang="en-US" dirty="0"/>
              <a:t> </a:t>
            </a:r>
            <a:r>
              <a:rPr kumimoji="1" lang="en-US" altLang="zh-CN" dirty="0"/>
              <a:t>memory</a:t>
            </a:r>
            <a:r>
              <a:rPr kumimoji="1" lang="zh-CN" altLang="en-US" dirty="0"/>
              <a:t>的交互，从而能维持信息</a:t>
            </a:r>
            <a:endParaRPr kumimoji="1" lang="en-US" altLang="zh-CN" dirty="0"/>
          </a:p>
          <a:p>
            <a:endParaRPr kumimoji="1" lang="en-US" altLang="zh-CN" dirty="0"/>
          </a:p>
          <a:p>
            <a:endParaRPr kumimoji="1" lang="en-US" altLang="zh-CN" dirty="0"/>
          </a:p>
          <a:p>
            <a:r>
              <a:rPr kumimoji="1" lang="en-US" altLang="zh-CN" dirty="0"/>
              <a:t>3.</a:t>
            </a:r>
            <a:r>
              <a:rPr kumimoji="1" lang="zh-CN" altLang="en-US" dirty="0"/>
              <a:t>选择</a:t>
            </a:r>
            <a:r>
              <a:rPr kumimoji="1" lang="en-US" altLang="zh-CN" dirty="0"/>
              <a:t>RL/</a:t>
            </a:r>
            <a:r>
              <a:rPr kumimoji="1" lang="zh-CN" altLang="en-US" dirty="0"/>
              <a:t>其他</a:t>
            </a:r>
            <a:r>
              <a:rPr kumimoji="1" lang="en-US" altLang="zh-CN" dirty="0"/>
              <a:t>loss</a:t>
            </a:r>
            <a:r>
              <a:rPr kumimoji="1" lang="zh-CN" altLang="en-US" dirty="0"/>
              <a:t>办法，设计一种可以完成</a:t>
            </a:r>
            <a:r>
              <a:rPr kumimoji="1" lang="en-US" altLang="zh-CN" dirty="0"/>
              <a:t>SWM</a:t>
            </a:r>
            <a:r>
              <a:rPr kumimoji="1" lang="zh-CN" altLang="en-US" dirty="0"/>
              <a:t>任务的预测算法，并要求考虑到整体时序过程，选择合适的衰减办法，确保模型会充分考虑所有</a:t>
            </a:r>
            <a:r>
              <a:rPr kumimoji="1" lang="en-US" altLang="zh-CN" dirty="0"/>
              <a:t>/</a:t>
            </a:r>
            <a:r>
              <a:rPr kumimoji="1" lang="zh-CN" altLang="en-US" dirty="0"/>
              <a:t>部分</a:t>
            </a:r>
            <a:r>
              <a:rPr kumimoji="1" lang="en-US" altLang="zh-CN" dirty="0"/>
              <a:t>/</a:t>
            </a:r>
            <a:r>
              <a:rPr kumimoji="1" lang="zh-CN" altLang="en-US" dirty="0"/>
              <a:t>几个时间段的潜空间动力学</a:t>
            </a:r>
          </a:p>
        </p:txBody>
      </p:sp>
      <p:pic>
        <p:nvPicPr>
          <p:cNvPr id="6" name="图片 5" descr="图示&#10;&#10;AI 生成的内容可能不正确。">
            <a:extLst>
              <a:ext uri="{FF2B5EF4-FFF2-40B4-BE49-F238E27FC236}">
                <a16:creationId xmlns:a16="http://schemas.microsoft.com/office/drawing/2014/main" id="{CF203585-4EB3-FB3D-06EE-6822F0A23F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66655" y="4981904"/>
            <a:ext cx="2603500" cy="1714500"/>
          </a:xfrm>
          <a:prstGeom prst="rect">
            <a:avLst/>
          </a:prstGeom>
        </p:spPr>
      </p:pic>
    </p:spTree>
    <p:extLst>
      <p:ext uri="{BB962C8B-B14F-4D97-AF65-F5344CB8AC3E}">
        <p14:creationId xmlns:p14="http://schemas.microsoft.com/office/powerpoint/2010/main" val="2486975557"/>
      </p:ext>
    </p:extLst>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8553</TotalTime>
  <Words>1412</Words>
  <Application>Microsoft Macintosh PowerPoint</Application>
  <PresentationFormat>宽屏</PresentationFormat>
  <Paragraphs>103</Paragraphs>
  <Slides>18</Slides>
  <Notes>14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18</vt:i4>
      </vt:variant>
    </vt:vector>
  </HeadingPairs>
  <TitlesOfParts>
    <vt:vector size="24" baseType="lpstr">
      <vt:lpstr>等线</vt:lpstr>
      <vt:lpstr>Inter</vt:lpstr>
      <vt:lpstr>Spectral</vt:lpstr>
      <vt:lpstr>Arial</vt:lpstr>
      <vt:lpstr>Calibri</vt:lpstr>
      <vt:lpstr>WPS</vt:lpstr>
      <vt:lpstr>Flexible multitask computation in World Models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rx n</cp:lastModifiedBy>
  <cp:revision>54</cp:revision>
  <dcterms:created xsi:type="dcterms:W3CDTF">2023-08-09T12:44:55Z</dcterms:created>
  <dcterms:modified xsi:type="dcterms:W3CDTF">2026-06-29T09:12:43Z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2052-12.1.0.15259</vt:lpwstr>
  </property>
</Properties>
</file>