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412" r:id="rId2"/>
    <p:sldId id="413" r:id="rId3"/>
    <p:sldId id="414" r:id="rId4"/>
    <p:sldId id="415" r:id="rId5"/>
    <p:sldId id="416" r:id="rId6"/>
    <p:sldId id="417" r:id="rId7"/>
    <p:sldId id="418" r:id="rId8"/>
    <p:sldId id="419" r:id="rId9"/>
    <p:sldId id="426" r:id="rId10"/>
    <p:sldId id="427" r:id="rId11"/>
    <p:sldId id="420" r:id="rId12"/>
    <p:sldId id="422" r:id="rId13"/>
    <p:sldId id="423" r:id="rId14"/>
    <p:sldId id="424" r:id="rId15"/>
    <p:sldId id="425" r:id="rId16"/>
    <p:sldId id="428" r:id="rId1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526" autoAdjust="0"/>
    <p:restoredTop sz="94612" autoAdjust="0"/>
  </p:normalViewPr>
  <p:slideViewPr>
    <p:cSldViewPr showGuides="1">
      <p:cViewPr varScale="1">
        <p:scale>
          <a:sx n="108" d="100"/>
          <a:sy n="108" d="100"/>
        </p:scale>
        <p:origin x="132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wmf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BFE81D9-51BB-4C76-8B84-7B2DECC48C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FA54C58-BB3B-4C8B-A6B9-FFE3D2A5C2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0F1836-4F29-4F4A-8A9B-443D7BEA85E4}" type="slidenum">
              <a:rPr lang="en-US" altLang="zh-CN" smtClean="0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86723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A54C58-BB3B-4C8B-A6B9-FFE3D2A5C25F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3275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93C118-23C2-436C-B724-27748BAE0BB3}" type="slidenum">
              <a:rPr lang="en-US" altLang="zh-CN" smtClean="0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59103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E8482C0-D0D1-454E-9266-069DF5B20882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人</a:t>
            </a:r>
            <a:r>
              <a:rPr lang="en-US" altLang="zh-CN">
                <a:latin typeface="Arial" panose="020B0604020202020204" pitchFamily="34" charset="0"/>
              </a:rPr>
              <a:t>-</a:t>
            </a:r>
            <a:r>
              <a:rPr lang="zh-CN" altLang="en-US">
                <a:latin typeface="Arial" panose="020B0604020202020204" pitchFamily="34" charset="0"/>
              </a:rPr>
              <a:t>左旋</a:t>
            </a:r>
          </a:p>
        </p:txBody>
      </p:sp>
    </p:spTree>
    <p:extLst>
      <p:ext uri="{BB962C8B-B14F-4D97-AF65-F5344CB8AC3E}">
        <p14:creationId xmlns:p14="http://schemas.microsoft.com/office/powerpoint/2010/main" val="1059382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A54C58-BB3B-4C8B-A6B9-FFE3D2A5C25F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2141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1ECCABF-54C3-41E9-873B-34DDEE521885}" type="slidenum">
              <a:rPr lang="en-US" altLang="zh-CN" smtClean="0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36329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A54C58-BB3B-4C8B-A6B9-FFE3D2A5C25F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2452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437995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6120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66140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18032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53952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02828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28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20054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33984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1957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85800"/>
            <a:ext cx="19431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56769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96415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625325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86652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77989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85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1028" name="Picture 8" descr="C:\My Documents\My Pictures\pic004a.gif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"/>
            <a:ext cx="18319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9" r:id="rId12"/>
    <p:sldLayoutId id="2147483760" r:id="rId13"/>
    <p:sldLayoutId id="2147483761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png"/><Relationship Id="rId18" Type="http://schemas.openxmlformats.org/officeDocument/2006/relationships/oleObject" Target="../embeddings/oleObject8.bin"/><Relationship Id="rId3" Type="http://schemas.openxmlformats.org/officeDocument/2006/relationships/notesSlide" Target="../notesSlides/notesSlide1.xml"/><Relationship Id="rId21" Type="http://schemas.openxmlformats.org/officeDocument/2006/relationships/oleObject" Target="../embeddings/oleObject10.bin"/><Relationship Id="rId7" Type="http://schemas.openxmlformats.org/officeDocument/2006/relationships/image" Target="../media/image3.png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png"/><Relationship Id="rId5" Type="http://schemas.openxmlformats.org/officeDocument/2006/relationships/image" Target="../media/image2.wmf"/><Relationship Id="rId15" Type="http://schemas.openxmlformats.org/officeDocument/2006/relationships/image" Target="../media/image7.png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9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png"/><Relationship Id="rId14" Type="http://schemas.openxmlformats.org/officeDocument/2006/relationships/oleObject" Target="../embeddings/oleObject6.bin"/><Relationship Id="rId22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7.jpe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png"/><Relationship Id="rId11" Type="http://schemas.openxmlformats.org/officeDocument/2006/relationships/image" Target="../media/image16.jpeg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5.jpeg"/><Relationship Id="rId4" Type="http://schemas.openxmlformats.org/officeDocument/2006/relationships/image" Target="../media/image13.jpeg"/><Relationship Id="rId9" Type="http://schemas.openxmlformats.org/officeDocument/2006/relationships/image" Target="../media/image14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14.bin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jpeg"/><Relationship Id="rId5" Type="http://schemas.openxmlformats.org/officeDocument/2006/relationships/image" Target="../media/image47.jpeg"/><Relationship Id="rId4" Type="http://schemas.openxmlformats.org/officeDocument/2006/relationships/image" Target="../media/image4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1"/>
          <p:cNvSpPr>
            <a:spLocks noChangeArrowheads="1"/>
          </p:cNvSpPr>
          <p:nvPr/>
        </p:nvSpPr>
        <p:spPr bwMode="auto">
          <a:xfrm>
            <a:off x="1475656" y="1268760"/>
            <a:ext cx="63881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 b="1" dirty="0"/>
              <a:t>走进</a:t>
            </a:r>
            <a:endParaRPr lang="en-US" altLang="zh-CN" sz="4000" b="1" dirty="0"/>
          </a:p>
          <a:p>
            <a:pPr algn="ctr"/>
            <a:r>
              <a:rPr lang="zh-CN" altLang="en-US" sz="4000" b="1" dirty="0"/>
              <a:t>化学工程与低碳技术</a:t>
            </a:r>
            <a:endParaRPr lang="en-US" altLang="zh-CN" sz="4000" b="1" dirty="0"/>
          </a:p>
          <a:p>
            <a:pPr algn="ctr"/>
            <a:r>
              <a:rPr lang="zh-CN" altLang="en-US" sz="4000" b="1" dirty="0"/>
              <a:t>全国重点实验室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730713" y="4509120"/>
            <a:ext cx="387798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1" lang="zh-CN" altLang="en-US" sz="3200" dirty="0">
                <a:latin typeface="华文行楷" panose="02010800040101010101" pitchFamily="2" charset="-122"/>
                <a:ea typeface="华文行楷" panose="02010800040101010101" pitchFamily="2" charset="-122"/>
              </a:rPr>
              <a:t>王涛</a:t>
            </a:r>
            <a:endParaRPr kumimoji="1" lang="en-US" altLang="zh-CN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清华大学化学工程系</a:t>
            </a:r>
          </a:p>
        </p:txBody>
      </p:sp>
    </p:spTree>
    <p:extLst>
      <p:ext uri="{BB962C8B-B14F-4D97-AF65-F5344CB8AC3E}">
        <p14:creationId xmlns:p14="http://schemas.microsoft.com/office/powerpoint/2010/main" val="2776645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351212" y="764704"/>
            <a:ext cx="244157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化学工程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683568" y="1700808"/>
            <a:ext cx="8153400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分子间互相作用改变物质的物理和化学性质的过程，即物质转化过程</a:t>
            </a:r>
            <a:endParaRPr kumimoji="1"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1"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物质的</a:t>
            </a:r>
            <a:r>
              <a:rPr kumimoji="1" lang="zh-CN" altLang="en-US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宏量</a:t>
            </a:r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转化过程的基本现象、基本规律、基本原理、工艺和设备</a:t>
            </a:r>
            <a:endParaRPr kumimoji="1"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1"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涉及分子间相互作用力的工程学科</a:t>
            </a:r>
          </a:p>
        </p:txBody>
      </p:sp>
    </p:spTree>
    <p:extLst>
      <p:ext uri="{BB962C8B-B14F-4D97-AF65-F5344CB8AC3E}">
        <p14:creationId xmlns:p14="http://schemas.microsoft.com/office/powerpoint/2010/main" val="1035539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4219575" y="3609975"/>
          <a:ext cx="90646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Flash Movie" r:id="rId4" imgW="906840" imgH="493920" progId="Flash.Movie">
                  <p:embed/>
                </p:oleObj>
              </mc:Choice>
              <mc:Fallback>
                <p:oleObj name="Flash Movie" r:id="rId4" imgW="906840" imgH="493920" progId="Flash.Movie">
                  <p:embed/>
                  <p:pic>
                    <p:nvPicPr>
                      <p:cNvPr id="61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9575" y="3609975"/>
                        <a:ext cx="906463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Oval 3"/>
          <p:cNvSpPr>
            <a:spLocks noChangeArrowheads="1"/>
          </p:cNvSpPr>
          <p:nvPr/>
        </p:nvSpPr>
        <p:spPr bwMode="auto">
          <a:xfrm>
            <a:off x="3910013" y="2940050"/>
            <a:ext cx="1524000" cy="1527175"/>
          </a:xfrm>
          <a:prstGeom prst="ellipse">
            <a:avLst/>
          </a:prstGeom>
          <a:solidFill>
            <a:srgbClr val="CC3399">
              <a:alpha val="50195"/>
            </a:srgb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800" dirty="0">
                <a:solidFill>
                  <a:srgbClr val="00206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化学工程</a:t>
            </a:r>
          </a:p>
        </p:txBody>
      </p:sp>
      <p:graphicFrame>
        <p:nvGraphicFramePr>
          <p:cNvPr id="6148" name="Object 5"/>
          <p:cNvGraphicFramePr>
            <a:graphicFrameLocks/>
          </p:cNvGraphicFramePr>
          <p:nvPr/>
        </p:nvGraphicFramePr>
        <p:xfrm>
          <a:off x="1417638" y="3113088"/>
          <a:ext cx="1619250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Photo Editor 照片" r:id="rId6" imgW="1333333" imgH="895238" progId="MSPhotoEd.3">
                  <p:embed/>
                </p:oleObj>
              </mc:Choice>
              <mc:Fallback>
                <p:oleObj name="Photo Editor 照片" r:id="rId6" imgW="1333333" imgH="895238" progId="MSPhotoEd.3">
                  <p:embed/>
                  <p:pic>
                    <p:nvPicPr>
                      <p:cNvPr id="6148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638" y="3113088"/>
                        <a:ext cx="1619250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6"/>
          <p:cNvGraphicFramePr>
            <a:graphicFrameLocks/>
          </p:cNvGraphicFramePr>
          <p:nvPr/>
        </p:nvGraphicFramePr>
        <p:xfrm>
          <a:off x="1770063" y="4635500"/>
          <a:ext cx="161925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Photo Editor 照片" r:id="rId8" imgW="1333333" imgH="866896" progId="MSPhotoEd.3">
                  <p:embed/>
                </p:oleObj>
              </mc:Choice>
              <mc:Fallback>
                <p:oleObj name="Photo Editor 照片" r:id="rId8" imgW="1333333" imgH="866896" progId="MSPhotoEd.3">
                  <p:embed/>
                  <p:pic>
                    <p:nvPicPr>
                      <p:cNvPr id="6149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63" y="4635500"/>
                        <a:ext cx="1619250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7"/>
          <p:cNvGraphicFramePr>
            <a:graphicFrameLocks/>
          </p:cNvGraphicFramePr>
          <p:nvPr/>
        </p:nvGraphicFramePr>
        <p:xfrm>
          <a:off x="3862388" y="4754563"/>
          <a:ext cx="1619250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Photo Editor 照片" r:id="rId10" imgW="1276190" imgH="1028844" progId="MSPhotoEd.3">
                  <p:embed/>
                </p:oleObj>
              </mc:Choice>
              <mc:Fallback>
                <p:oleObj name="Photo Editor 照片" r:id="rId10" imgW="1276190" imgH="1028844" progId="MSPhotoEd.3">
                  <p:embed/>
                  <p:pic>
                    <p:nvPicPr>
                      <p:cNvPr id="615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8" y="4754563"/>
                        <a:ext cx="1619250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9"/>
          <p:cNvGraphicFramePr>
            <a:graphicFrameLocks/>
          </p:cNvGraphicFramePr>
          <p:nvPr/>
        </p:nvGraphicFramePr>
        <p:xfrm>
          <a:off x="1747838" y="1558925"/>
          <a:ext cx="161925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Photo Editor 照片" r:id="rId12" imgW="1324160" imgH="905001" progId="MSPhotoEd.3">
                  <p:embed/>
                </p:oleObj>
              </mc:Choice>
              <mc:Fallback>
                <p:oleObj name="Photo Editor 照片" r:id="rId12" imgW="1324160" imgH="905001" progId="MSPhotoEd.3">
                  <p:embed/>
                  <p:pic>
                    <p:nvPicPr>
                      <p:cNvPr id="6151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838" y="1558925"/>
                        <a:ext cx="1619250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10"/>
          <p:cNvGraphicFramePr>
            <a:graphicFrameLocks noChangeAspect="1"/>
          </p:cNvGraphicFramePr>
          <p:nvPr/>
        </p:nvGraphicFramePr>
        <p:xfrm>
          <a:off x="5961063" y="1604963"/>
          <a:ext cx="16764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Photo Editor 照片" r:id="rId14" imgW="1333333" imgH="952633" progId="MSPhotoEd.3">
                  <p:embed/>
                </p:oleObj>
              </mc:Choice>
              <mc:Fallback>
                <p:oleObj name="Photo Editor 照片" r:id="rId14" imgW="1333333" imgH="952633" progId="MSPhotoEd.3">
                  <p:embed/>
                  <p:pic>
                    <p:nvPicPr>
                      <p:cNvPr id="615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1063" y="1604963"/>
                        <a:ext cx="1676400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WordArt 11"/>
          <p:cNvSpPr>
            <a:spLocks noChangeArrowheads="1" noChangeShapeType="1" noTextEdit="1"/>
          </p:cNvSpPr>
          <p:nvPr/>
        </p:nvSpPr>
        <p:spPr bwMode="auto">
          <a:xfrm>
            <a:off x="2276475" y="3100388"/>
            <a:ext cx="704850" cy="352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800" i="1" kern="10">
                <a:ln w="9525" cap="rnd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石油</a:t>
            </a:r>
          </a:p>
        </p:txBody>
      </p:sp>
      <p:sp>
        <p:nvSpPr>
          <p:cNvPr id="6154" name="WordArt 12"/>
          <p:cNvSpPr>
            <a:spLocks noChangeArrowheads="1" noChangeShapeType="1" noTextEdit="1"/>
          </p:cNvSpPr>
          <p:nvPr/>
        </p:nvSpPr>
        <p:spPr bwMode="auto">
          <a:xfrm>
            <a:off x="2673350" y="1566863"/>
            <a:ext cx="704850" cy="352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800" i="1" kern="10">
                <a:ln w="9525" cap="rnd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化工</a:t>
            </a:r>
          </a:p>
        </p:txBody>
      </p:sp>
      <p:sp>
        <p:nvSpPr>
          <p:cNvPr id="6155" name="WordArt 13"/>
          <p:cNvSpPr>
            <a:spLocks noChangeArrowheads="1" noChangeShapeType="1" noTextEdit="1"/>
          </p:cNvSpPr>
          <p:nvPr/>
        </p:nvSpPr>
        <p:spPr bwMode="auto">
          <a:xfrm>
            <a:off x="2743200" y="4635500"/>
            <a:ext cx="704850" cy="352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800" i="1" kern="10">
                <a:ln w="9525" cap="rnd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核能</a:t>
            </a:r>
          </a:p>
        </p:txBody>
      </p:sp>
      <p:sp>
        <p:nvSpPr>
          <p:cNvPr id="6156" name="WordArt 14"/>
          <p:cNvSpPr>
            <a:spLocks noChangeArrowheads="1" noChangeShapeType="1" noTextEdit="1"/>
          </p:cNvSpPr>
          <p:nvPr/>
        </p:nvSpPr>
        <p:spPr bwMode="auto">
          <a:xfrm>
            <a:off x="3862388" y="4806950"/>
            <a:ext cx="704850" cy="352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800" i="1" kern="10">
                <a:ln w="9525" cap="rnd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医药</a:t>
            </a:r>
          </a:p>
        </p:txBody>
      </p:sp>
      <p:sp>
        <p:nvSpPr>
          <p:cNvPr id="6157" name="WordArt 15"/>
          <p:cNvSpPr>
            <a:spLocks noChangeArrowheads="1" noChangeShapeType="1" noTextEdit="1"/>
          </p:cNvSpPr>
          <p:nvPr/>
        </p:nvSpPr>
        <p:spPr bwMode="auto">
          <a:xfrm>
            <a:off x="6094413" y="1639888"/>
            <a:ext cx="704850" cy="352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800" i="1" kern="10">
                <a:ln w="9525" cap="rnd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环境</a:t>
            </a:r>
          </a:p>
        </p:txBody>
      </p:sp>
      <p:graphicFrame>
        <p:nvGraphicFramePr>
          <p:cNvPr id="6158" name="Object 17"/>
          <p:cNvGraphicFramePr>
            <a:graphicFrameLocks/>
          </p:cNvGraphicFramePr>
          <p:nvPr/>
        </p:nvGraphicFramePr>
        <p:xfrm>
          <a:off x="6307138" y="3089275"/>
          <a:ext cx="161925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Photo Editor 照片" r:id="rId16" imgW="1333333" imgH="1181265" progId="MSPhotoEd.3">
                  <p:embed/>
                </p:oleObj>
              </mc:Choice>
              <mc:Fallback>
                <p:oleObj name="Photo Editor 照片" r:id="rId16" imgW="1333333" imgH="1181265" progId="MSPhotoEd.3">
                  <p:embed/>
                  <p:pic>
                    <p:nvPicPr>
                      <p:cNvPr id="6158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7138" y="3089275"/>
                        <a:ext cx="1619250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9" name="WordArt 18"/>
          <p:cNvSpPr>
            <a:spLocks noChangeArrowheads="1" noChangeShapeType="1" noTextEdit="1"/>
          </p:cNvSpPr>
          <p:nvPr/>
        </p:nvSpPr>
        <p:spPr bwMode="auto">
          <a:xfrm>
            <a:off x="6307138" y="3127375"/>
            <a:ext cx="704850" cy="352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800" i="1" kern="10">
                <a:ln w="9525" cap="rnd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材料</a:t>
            </a:r>
          </a:p>
        </p:txBody>
      </p:sp>
      <p:graphicFrame>
        <p:nvGraphicFramePr>
          <p:cNvPr id="6160" name="Object 19"/>
          <p:cNvGraphicFramePr>
            <a:graphicFrameLocks/>
          </p:cNvGraphicFramePr>
          <p:nvPr/>
        </p:nvGraphicFramePr>
        <p:xfrm>
          <a:off x="3783013" y="1416050"/>
          <a:ext cx="161925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Photo Editor 照片" r:id="rId18" imgW="1333333" imgH="1247619" progId="MSPhotoEd.3">
                  <p:embed/>
                </p:oleObj>
              </mc:Choice>
              <mc:Fallback>
                <p:oleObj name="Photo Editor 照片" r:id="rId18" imgW="1333333" imgH="1247619" progId="MSPhotoEd.3">
                  <p:embed/>
                  <p:pic>
                    <p:nvPicPr>
                      <p:cNvPr id="616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3013" y="1416050"/>
                        <a:ext cx="1619250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1" name="WordArt 20"/>
          <p:cNvSpPr>
            <a:spLocks noChangeArrowheads="1" noChangeShapeType="1" noTextEdit="1"/>
          </p:cNvSpPr>
          <p:nvPr/>
        </p:nvSpPr>
        <p:spPr bwMode="auto">
          <a:xfrm>
            <a:off x="3771900" y="1390650"/>
            <a:ext cx="704850" cy="352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800" i="1" kern="10">
                <a:ln w="9525" cap="rnd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食品</a:t>
            </a:r>
          </a:p>
        </p:txBody>
      </p:sp>
      <p:graphicFrame>
        <p:nvGraphicFramePr>
          <p:cNvPr id="6162" name="Object 21"/>
          <p:cNvGraphicFramePr>
            <a:graphicFrameLocks noChangeAspect="1"/>
          </p:cNvGraphicFramePr>
          <p:nvPr/>
        </p:nvGraphicFramePr>
        <p:xfrm>
          <a:off x="4191000" y="3919538"/>
          <a:ext cx="90646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Flash Movie" r:id="rId20" imgW="906840" imgH="493920" progId="Flash.Movie">
                  <p:embed/>
                </p:oleObj>
              </mc:Choice>
              <mc:Fallback>
                <p:oleObj name="Flash Movie" r:id="rId20" imgW="906840" imgH="493920" progId="Flash.Movie">
                  <p:embed/>
                  <p:pic>
                    <p:nvPicPr>
                      <p:cNvPr id="616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919538"/>
                        <a:ext cx="906463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3" name="Object 22"/>
          <p:cNvGraphicFramePr>
            <a:graphicFrameLocks noChangeAspect="1"/>
          </p:cNvGraphicFramePr>
          <p:nvPr/>
        </p:nvGraphicFramePr>
        <p:xfrm>
          <a:off x="4229100" y="3127375"/>
          <a:ext cx="90646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Flash Movie" r:id="rId21" imgW="906840" imgH="493920" progId="Flash.Movie">
                  <p:embed/>
                </p:oleObj>
              </mc:Choice>
              <mc:Fallback>
                <p:oleObj name="Flash Movie" r:id="rId21" imgW="906840" imgH="493920" progId="Flash.Movie">
                  <p:embed/>
                  <p:pic>
                    <p:nvPicPr>
                      <p:cNvPr id="616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9100" y="3127375"/>
                        <a:ext cx="906463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4" name="Text Box 5"/>
          <p:cNvSpPr txBox="1">
            <a:spLocks noChangeArrowheads="1"/>
          </p:cNvSpPr>
          <p:nvPr/>
        </p:nvSpPr>
        <p:spPr bwMode="auto">
          <a:xfrm>
            <a:off x="2050256" y="515028"/>
            <a:ext cx="52641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化学工程的应用领域</a:t>
            </a:r>
          </a:p>
        </p:txBody>
      </p:sp>
      <p:pic>
        <p:nvPicPr>
          <p:cNvPr id="6165" name="图片 1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4768850"/>
            <a:ext cx="1835150" cy="112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66" name="WordArt 16"/>
          <p:cNvSpPr>
            <a:spLocks noChangeArrowheads="1" noChangeShapeType="1" noTextEdit="1"/>
          </p:cNvSpPr>
          <p:nvPr/>
        </p:nvSpPr>
        <p:spPr bwMode="auto">
          <a:xfrm>
            <a:off x="6094413" y="4806950"/>
            <a:ext cx="704850" cy="352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800" i="1" kern="10">
                <a:ln w="9525" cap="rnd">
                  <a:solidFill>
                    <a:srgbClr val="FFCC00"/>
                  </a:solidFill>
                  <a:prstDash val="sysDot"/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宋体" panose="02010600030101010101" pitchFamily="2" charset="-122"/>
              </a:rPr>
              <a:t>电子</a:t>
            </a:r>
          </a:p>
        </p:txBody>
      </p:sp>
    </p:spTree>
    <p:extLst>
      <p:ext uri="{BB962C8B-B14F-4D97-AF65-F5344CB8AC3E}">
        <p14:creationId xmlns:p14="http://schemas.microsoft.com/office/powerpoint/2010/main" val="1565791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658937" y="836712"/>
            <a:ext cx="582612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化学工程的基础和内容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1043608" y="1772816"/>
            <a:ext cx="7419975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36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自然科学基础：数学、化学、物理、生物等</a:t>
            </a:r>
            <a:endParaRPr kumimoji="1" lang="en-US" altLang="zh-CN" sz="36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1" lang="zh-CN" altLang="en-US" sz="36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36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工程科学基础：化工热力学、传递现象等</a:t>
            </a:r>
            <a:endParaRPr kumimoji="1" lang="en-US" altLang="zh-CN" sz="36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1" lang="en-US" altLang="zh-CN" sz="36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36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二级学科：分离工程、反应工程、化工系统工程等。</a:t>
            </a:r>
          </a:p>
        </p:txBody>
      </p:sp>
    </p:spTree>
    <p:extLst>
      <p:ext uri="{BB962C8B-B14F-4D97-AF65-F5344CB8AC3E}">
        <p14:creationId xmlns:p14="http://schemas.microsoft.com/office/powerpoint/2010/main" val="2464139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5"/>
          <p:cNvSpPr>
            <a:spLocks noChangeArrowheads="1"/>
          </p:cNvSpPr>
          <p:nvPr/>
        </p:nvSpPr>
        <p:spPr bwMode="auto">
          <a:xfrm>
            <a:off x="868263" y="1796286"/>
            <a:ext cx="7704335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前身为化学工程联合国家重点实验室，依托清华大学、天津大学、华东理工大学和浙江大学，于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1991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月建成并开放运行，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年重组为全国重点实验室。</a:t>
            </a:r>
          </a:p>
        </p:txBody>
      </p:sp>
      <p:sp>
        <p:nvSpPr>
          <p:cNvPr id="9219" name="矩形 6"/>
          <p:cNvSpPr>
            <a:spLocks noChangeArrowheads="1"/>
          </p:cNvSpPr>
          <p:nvPr/>
        </p:nvSpPr>
        <p:spPr bwMode="auto">
          <a:xfrm>
            <a:off x="2267744" y="584536"/>
            <a:ext cx="43926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化学工程与低碳技术</a:t>
            </a:r>
            <a:endParaRPr kumimoji="1"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/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全国重点实验室</a:t>
            </a:r>
            <a:endParaRPr lang="zh-CN" altLang="en-US" sz="3600" dirty="0"/>
          </a:p>
        </p:txBody>
      </p:sp>
      <p:sp>
        <p:nvSpPr>
          <p:cNvPr id="9220" name="Text Box 13"/>
          <p:cNvSpPr txBox="1">
            <a:spLocks noChangeArrowheads="1"/>
          </p:cNvSpPr>
          <p:nvPr/>
        </p:nvSpPr>
        <p:spPr bwMode="auto">
          <a:xfrm>
            <a:off x="1063623" y="4221088"/>
            <a:ext cx="731361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kumimoji="1" lang="en-US" altLang="zh-CN" sz="3600" dirty="0">
                <a:latin typeface="Times New Roman" panose="02020603050405020304" pitchFamily="18" charset="0"/>
              </a:rPr>
              <a:t>60</a:t>
            </a:r>
            <a:r>
              <a:rPr kumimoji="1" lang="zh-CN" altLang="en-US" sz="3600" dirty="0">
                <a:latin typeface="Times New Roman" panose="02020603050405020304" pitchFamily="18" charset="0"/>
              </a:rPr>
              <a:t>多年的历史</a:t>
            </a:r>
            <a:endParaRPr kumimoji="1" lang="en-US" altLang="zh-CN" sz="3600" dirty="0">
              <a:latin typeface="Times New Roman" panose="02020603050405020304" pitchFamily="18" charset="0"/>
            </a:endParaRPr>
          </a:p>
          <a:p>
            <a:endParaRPr kumimoji="1" lang="en-US" altLang="zh-CN" sz="3600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600" dirty="0">
                <a:latin typeface="Times New Roman" panose="02020603050405020304" pitchFamily="18" charset="0"/>
              </a:rPr>
              <a:t>分离工程的重大贡献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kumimoji="1" lang="en-US" altLang="zh-CN" sz="36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535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507415" y="523876"/>
            <a:ext cx="78851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分离技术：液</a:t>
            </a:r>
            <a:r>
              <a:rPr kumimoji="1"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液萃取</a:t>
            </a:r>
          </a:p>
        </p:txBody>
      </p:sp>
      <p:pic>
        <p:nvPicPr>
          <p:cNvPr id="10243" name="Picture 3" descr="脉冲萃取塔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679" y="1669257"/>
            <a:ext cx="1655763" cy="3671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44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85838" y="4508500"/>
          <a:ext cx="1871662" cy="139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位图图像" r:id="rId5" imgW="1533739" imgH="1142857" progId="Paint.Picture">
                  <p:embed/>
                </p:oleObj>
              </mc:Choice>
              <mc:Fallback>
                <p:oleObj name="位图图像" r:id="rId5" imgW="1533739" imgH="1142857" progId="Paint.Picture">
                  <p:embed/>
                  <p:pic>
                    <p:nvPicPr>
                      <p:cNvPr id="1024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4508500"/>
                        <a:ext cx="1871662" cy="1395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Line 6"/>
          <p:cNvSpPr>
            <a:spLocks noChangeShapeType="1"/>
          </p:cNvSpPr>
          <p:nvPr/>
        </p:nvSpPr>
        <p:spPr bwMode="auto">
          <a:xfrm>
            <a:off x="2497138" y="3630613"/>
            <a:ext cx="1296987" cy="59055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6" name="Text Box 7"/>
          <p:cNvSpPr txBox="1">
            <a:spLocks noChangeArrowheads="1"/>
          </p:cNvSpPr>
          <p:nvPr/>
        </p:nvSpPr>
        <p:spPr bwMode="auto">
          <a:xfrm>
            <a:off x="179388" y="3429000"/>
            <a:ext cx="23177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dirty="0">
                <a:solidFill>
                  <a:schemeClr val="accent1"/>
                </a:solidFill>
                <a:latin typeface="Times New Roman" panose="02020603050405020304" pitchFamily="18" charset="0"/>
              </a:rPr>
              <a:t>先进的测试手段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红外光纤原位测量</a:t>
            </a:r>
          </a:p>
          <a:p>
            <a:r>
              <a:rPr kumimoji="1" lang="en-US" altLang="zh-CN" sz="2000" dirty="0">
                <a:latin typeface="Times New Roman" panose="02020603050405020304" pitchFamily="18" charset="0"/>
              </a:rPr>
              <a:t>PIV</a:t>
            </a:r>
            <a:r>
              <a:rPr kumimoji="1" lang="zh-CN" altLang="en-US" sz="2000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000" dirty="0">
                <a:latin typeface="Times New Roman" panose="02020603050405020304" pitchFamily="18" charset="0"/>
              </a:rPr>
              <a:t>LDV</a:t>
            </a:r>
            <a:r>
              <a:rPr kumimoji="1" lang="zh-CN" altLang="en-US" sz="2000" dirty="0">
                <a:latin typeface="Times New Roman" panose="02020603050405020304" pitchFamily="18" charset="0"/>
              </a:rPr>
              <a:t>测速</a:t>
            </a:r>
          </a:p>
        </p:txBody>
      </p:sp>
      <p:sp>
        <p:nvSpPr>
          <p:cNvPr id="10247" name="Line 8"/>
          <p:cNvSpPr>
            <a:spLocks noChangeShapeType="1"/>
          </p:cNvSpPr>
          <p:nvPr/>
        </p:nvSpPr>
        <p:spPr bwMode="auto">
          <a:xfrm flipH="1">
            <a:off x="4117975" y="1341438"/>
            <a:ext cx="2195513" cy="935037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8" name="Text Box 9"/>
          <p:cNvSpPr txBox="1">
            <a:spLocks noChangeArrowheads="1"/>
          </p:cNvSpPr>
          <p:nvPr/>
        </p:nvSpPr>
        <p:spPr bwMode="auto">
          <a:xfrm>
            <a:off x="6268661" y="1061806"/>
            <a:ext cx="2338388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dirty="0">
                <a:solidFill>
                  <a:schemeClr val="accent1"/>
                </a:solidFill>
                <a:latin typeface="Times New Roman" panose="02020603050405020304" pitchFamily="18" charset="0"/>
              </a:rPr>
              <a:t>高效的萃取设备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分散聚合型脉冲塔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扁环填料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新型转盘塔</a:t>
            </a:r>
            <a:endParaRPr kumimoji="1"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0249" name="Line 10"/>
          <p:cNvSpPr>
            <a:spLocks noChangeShapeType="1"/>
          </p:cNvSpPr>
          <p:nvPr/>
        </p:nvSpPr>
        <p:spPr bwMode="auto">
          <a:xfrm>
            <a:off x="2281238" y="1557338"/>
            <a:ext cx="1512887" cy="1584325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0" name="Line 11"/>
          <p:cNvSpPr>
            <a:spLocks noChangeShapeType="1"/>
          </p:cNvSpPr>
          <p:nvPr/>
        </p:nvSpPr>
        <p:spPr bwMode="auto">
          <a:xfrm>
            <a:off x="2354263" y="1565275"/>
            <a:ext cx="1439862" cy="360363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1" name="Text Box 12"/>
          <p:cNvSpPr txBox="1">
            <a:spLocks noChangeArrowheads="1"/>
          </p:cNvSpPr>
          <p:nvPr/>
        </p:nvSpPr>
        <p:spPr bwMode="auto">
          <a:xfrm>
            <a:off x="313531" y="1193800"/>
            <a:ext cx="23177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dirty="0">
                <a:solidFill>
                  <a:schemeClr val="accent1"/>
                </a:solidFill>
                <a:latin typeface="Times New Roman" panose="02020603050405020304" pitchFamily="18" charset="0"/>
              </a:rPr>
              <a:t>先进的测试方法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单点动态法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两点动态法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稳态浓度剖面法</a:t>
            </a:r>
          </a:p>
        </p:txBody>
      </p:sp>
      <p:sp>
        <p:nvSpPr>
          <p:cNvPr id="10252" name="Text Box 14"/>
          <p:cNvSpPr txBox="1">
            <a:spLocks noChangeArrowheads="1"/>
          </p:cNvSpPr>
          <p:nvPr/>
        </p:nvSpPr>
        <p:spPr bwMode="auto">
          <a:xfrm>
            <a:off x="6602413" y="4221163"/>
            <a:ext cx="23177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dirty="0">
                <a:solidFill>
                  <a:schemeClr val="accent1"/>
                </a:solidFill>
                <a:latin typeface="Times New Roman" panose="02020603050405020304" pitchFamily="18" charset="0"/>
              </a:rPr>
              <a:t>可靠的数学模型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轴向扩散模型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返流模型</a:t>
            </a:r>
          </a:p>
          <a:p>
            <a:r>
              <a:rPr kumimoji="1" lang="zh-CN" altLang="en-US" sz="2000" dirty="0">
                <a:latin typeface="Times New Roman" panose="02020603050405020304" pitchFamily="18" charset="0"/>
              </a:rPr>
              <a:t>前混模型</a:t>
            </a:r>
          </a:p>
        </p:txBody>
      </p:sp>
      <p:graphicFrame>
        <p:nvGraphicFramePr>
          <p:cNvPr id="10253" name="Object 15"/>
          <p:cNvGraphicFramePr>
            <a:graphicFrameLocks noChangeAspect="1"/>
          </p:cNvGraphicFramePr>
          <p:nvPr/>
        </p:nvGraphicFramePr>
        <p:xfrm>
          <a:off x="4873625" y="4652963"/>
          <a:ext cx="17526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位图图像" r:id="rId7" imgW="1752381" imgH="1333333" progId="Paint.Picture">
                  <p:embed/>
                </p:oleObj>
              </mc:Choice>
              <mc:Fallback>
                <p:oleObj name="位图图像" r:id="rId7" imgW="1752381" imgH="1333333" progId="Paint.Picture">
                  <p:embed/>
                  <p:pic>
                    <p:nvPicPr>
                      <p:cNvPr id="1025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25" y="4652963"/>
                        <a:ext cx="17526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54" name="Picture 9" descr="pulse2"/>
          <p:cNvPicPr>
            <a:picLocks noChangeAspect="1" noChangeArrowheads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088" y="2400300"/>
            <a:ext cx="928687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5" name="Picture 4" descr="smr015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775" y="2400300"/>
            <a:ext cx="1119188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6" name="Picture 8" descr="qh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2413" y="2401888"/>
            <a:ext cx="46355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7" name="Rectangle 7" descr="104-0432_IMG"/>
          <p:cNvSpPr>
            <a:spLocks noGrp="1" noChangeAspect="1" noChangeArrowheads="1"/>
          </p:cNvSpPr>
          <p:nvPr/>
        </p:nvSpPr>
        <p:spPr bwMode="auto">
          <a:xfrm>
            <a:off x="7216775" y="3124200"/>
            <a:ext cx="1119188" cy="703263"/>
          </a:xfrm>
          <a:prstGeom prst="rect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317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115218" y="719578"/>
            <a:ext cx="69135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3600" dirty="0">
                <a:latin typeface="Times New Roman" panose="02020603050405020304" pitchFamily="18" charset="0"/>
                <a:ea typeface="黑体" panose="02010609060101010101" pitchFamily="49" charset="-122"/>
              </a:rPr>
              <a:t>萃取技术工业应用实例</a:t>
            </a:r>
          </a:p>
        </p:txBody>
      </p:sp>
      <p:sp>
        <p:nvSpPr>
          <p:cNvPr id="11267" name="AutoShape 3"/>
          <p:cNvSpPr>
            <a:spLocks noRot="1" noChangeAspect="1" noMove="1" noResize="1" noChangeArrowheads="1"/>
          </p:cNvSpPr>
          <p:nvPr/>
        </p:nvSpPr>
        <p:spPr bwMode="auto">
          <a:xfrm>
            <a:off x="1881188" y="1443038"/>
            <a:ext cx="5381625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2552700" y="27051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30981" y="1556792"/>
            <a:ext cx="5689600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a) 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核燃料后处理技术（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712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工程）</a:t>
            </a:r>
            <a:endParaRPr kumimoji="1"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b) 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己内酰胺萃取精制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中石化石家庄分公司）</a:t>
            </a:r>
            <a:r>
              <a:rPr kumimoji="1" lang="en-US" altLang="zh-CN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b="1" dirty="0">
                <a:solidFill>
                  <a:srgbClr val="FFCC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通过工艺优化实现萃取塔和反萃取塔由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万吨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年增产至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6.5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万吨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年，经济效益达到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3000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万元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年以上。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20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万吨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/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年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润滑油糠醛精制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中石油独山子炼油厂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通过对转盘塔进行改造和工艺优化，精油收率提高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1.45%,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生产能力提高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20%,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年增效益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580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万元</a:t>
            </a:r>
            <a:r>
              <a:rPr kumimoji="1"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年。</a:t>
            </a: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6665913" y="5101532"/>
            <a:ext cx="180975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kumimoji="1" lang="zh-CN" altLang="en-US" sz="1600">
                <a:solidFill>
                  <a:schemeClr val="bg1"/>
                </a:solidFill>
              </a:rPr>
              <a:t>己内酰胺精制装置</a:t>
            </a:r>
          </a:p>
        </p:txBody>
      </p:sp>
      <p:pic>
        <p:nvPicPr>
          <p:cNvPr id="11271" name="Picture 7" descr="图片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190" y="2097043"/>
            <a:ext cx="28035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3815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2627784" y="692696"/>
            <a:ext cx="51117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ea typeface="黑体" panose="02010609060101010101" pitchFamily="49" charset="-122"/>
              </a:rPr>
              <a:t>近年主要研究方向</a:t>
            </a: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683568" y="1287244"/>
            <a:ext cx="7704856" cy="5478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面向能源（油、气、煤和生物质等），矿产资源（锂、稀土、磷等），环境（水、</a:t>
            </a:r>
            <a:r>
              <a:rPr lang="en-US" altLang="zh-CN" sz="28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VOC</a:t>
            </a:r>
            <a:r>
              <a:rPr lang="zh-CN" altLang="en-US" sz="28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、温室气体等）、功能新材料（聚合物、节能材料、电子材料等）、精细化学品（医药、电子化学品等）等领域：</a:t>
            </a:r>
            <a:endParaRPr lang="en-US" altLang="zh-CN" sz="2800" b="1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多相热力学和传递现象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温室气体的捕集和资源化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纳米材料与纳米技术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微化工系统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超临界流体技术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  </a:t>
            </a:r>
            <a:endParaRPr lang="zh-CN" altLang="en-US" sz="2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3615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8"/>
          <p:cNvSpPr txBox="1">
            <a:spLocks noChangeArrowheads="1"/>
          </p:cNvSpPr>
          <p:nvPr/>
        </p:nvSpPr>
        <p:spPr bwMode="auto">
          <a:xfrm>
            <a:off x="611188" y="765175"/>
            <a:ext cx="7543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="1" dirty="0">
                <a:latin typeface="宋体" panose="02010600030101010101" pitchFamily="2" charset="-122"/>
              </a:rPr>
              <a:t>温室气体</a:t>
            </a:r>
            <a:r>
              <a:rPr lang="en-US" altLang="zh-CN" sz="3600" b="1" dirty="0">
                <a:latin typeface="宋体" panose="02010600030101010101" pitchFamily="2" charset="-122"/>
              </a:rPr>
              <a:t>—</a:t>
            </a:r>
            <a:r>
              <a:rPr lang="zh-CN" altLang="en-US" sz="3600" b="1" dirty="0">
                <a:latin typeface="宋体" panose="02010600030101010101" pitchFamily="2" charset="-122"/>
              </a:rPr>
              <a:t>二氧化碳的吸收捕集</a:t>
            </a:r>
          </a:p>
        </p:txBody>
      </p:sp>
      <p:sp>
        <p:nvSpPr>
          <p:cNvPr id="21507" name="Text Box 12"/>
          <p:cNvSpPr txBox="1">
            <a:spLocks noChangeArrowheads="1"/>
          </p:cNvSpPr>
          <p:nvPr/>
        </p:nvSpPr>
        <p:spPr bwMode="auto">
          <a:xfrm>
            <a:off x="5385705" y="2089943"/>
            <a:ext cx="3311847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Pct val="75000"/>
            </a:pPr>
            <a:r>
              <a:rPr kumimoji="1" lang="zh-CN" altLang="en-US" sz="2400" b="1" dirty="0">
                <a:latin typeface="楷体_GB2312"/>
                <a:ea typeface="楷体_GB2312"/>
                <a:cs typeface="楷体_GB2312"/>
              </a:rPr>
              <a:t>全球气候变暖</a:t>
            </a:r>
            <a:endParaRPr kumimoji="1" lang="en-US" altLang="zh-CN" sz="2400" b="1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buSzPct val="75000"/>
            </a:pPr>
            <a:endParaRPr kumimoji="1" lang="en-US" altLang="zh-CN" sz="2400" b="1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buSzPct val="75000"/>
            </a:pPr>
            <a:r>
              <a:rPr kumimoji="1" lang="zh-CN" altLang="en-US" sz="2400" b="1" dirty="0">
                <a:latin typeface="楷体_GB2312"/>
                <a:ea typeface="楷体_GB2312"/>
                <a:cs typeface="楷体_GB2312"/>
              </a:rPr>
              <a:t>冰山消融，海平面上升</a:t>
            </a:r>
          </a:p>
          <a:p>
            <a:pPr eaLnBrk="1" hangingPunct="1">
              <a:buSzPct val="75000"/>
              <a:buFont typeface="Wingdings" panose="05000000000000000000" pitchFamily="2" charset="2"/>
              <a:buChar char="l"/>
            </a:pPr>
            <a:endParaRPr kumimoji="1" lang="zh-CN" altLang="en-US" sz="2400" b="1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buClr>
                <a:srgbClr val="2B386F"/>
              </a:buClr>
              <a:buSzPct val="75000"/>
            </a:pP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极端气候事件增多</a:t>
            </a:r>
          </a:p>
          <a:p>
            <a:pPr eaLnBrk="1" hangingPunct="1">
              <a:buClr>
                <a:srgbClr val="2B386F"/>
              </a:buClr>
              <a:buSzPct val="75000"/>
              <a:buFont typeface="Wingdings" panose="05000000000000000000" pitchFamily="2" charset="2"/>
              <a:buChar char="l"/>
            </a:pPr>
            <a:endParaRPr lang="zh-CN" altLang="en-US" sz="2400" b="1" dirty="0">
              <a:solidFill>
                <a:schemeClr val="bg1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buClr>
                <a:srgbClr val="2B386F"/>
              </a:buClr>
              <a:buSzPct val="75000"/>
            </a:pPr>
            <a:endParaRPr lang="zh-CN" altLang="en-US" sz="2400" b="1" dirty="0">
              <a:solidFill>
                <a:schemeClr val="bg1"/>
              </a:solidFill>
              <a:latin typeface="楷体_GB2312"/>
              <a:ea typeface="楷体_GB2312"/>
              <a:cs typeface="楷体_GB2312"/>
            </a:endParaRPr>
          </a:p>
        </p:txBody>
      </p:sp>
      <p:pic>
        <p:nvPicPr>
          <p:cNvPr id="21508" name="Picture 13" descr="温室气体排放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6240" y="1886743"/>
            <a:ext cx="2438400" cy="18653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509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33753" y="1904999"/>
            <a:ext cx="1901825" cy="1828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510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32192" y="4325143"/>
            <a:ext cx="2184400" cy="15287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511" name="Picture 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0" y="4343400"/>
            <a:ext cx="2057400" cy="14922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4393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09964"/>
            <a:ext cx="8229600" cy="63408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3600" b="1" dirty="0">
                <a:solidFill>
                  <a:schemeClr val="tx1"/>
                </a:solidFill>
              </a:rPr>
              <a:t>CO</a:t>
            </a:r>
            <a:r>
              <a:rPr lang="en-US" altLang="zh-CN" sz="3600" b="1" baseline="-25000" dirty="0">
                <a:solidFill>
                  <a:schemeClr val="tx1"/>
                </a:solidFill>
              </a:rPr>
              <a:t>2</a:t>
            </a:r>
            <a:r>
              <a:rPr lang="zh-CN" altLang="en-US" sz="3600" b="1" dirty="0">
                <a:solidFill>
                  <a:schemeClr val="tx1"/>
                </a:solidFill>
              </a:rPr>
              <a:t>化学吸收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011352" y="6018753"/>
            <a:ext cx="1752600" cy="362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1800" b="1" dirty="0">
                <a:solidFill>
                  <a:srgbClr val="2B386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流程试验平台 </a:t>
            </a:r>
          </a:p>
        </p:txBody>
      </p:sp>
      <p:pic>
        <p:nvPicPr>
          <p:cNvPr id="23556" name="Picture 4" descr="CO2装置图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8" y="1219200"/>
            <a:ext cx="3205162" cy="472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450" y="4086225"/>
            <a:ext cx="258921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12" descr="tow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350" y="1204913"/>
            <a:ext cx="1863725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116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04913"/>
            <a:ext cx="2590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21"/>
          <p:cNvSpPr txBox="1">
            <a:spLocks noChangeArrowheads="1"/>
          </p:cNvSpPr>
          <p:nvPr/>
        </p:nvSpPr>
        <p:spPr bwMode="auto">
          <a:xfrm>
            <a:off x="6118225" y="3603625"/>
            <a:ext cx="2089150" cy="3063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CO</a:t>
            </a:r>
            <a:r>
              <a:rPr lang="en-US" altLang="zh-CN" sz="1400" b="1" baseline="-25000" dirty="0">
                <a:solidFill>
                  <a:srgbClr val="3333FF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zh-CN" altLang="en-US" sz="140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捕集流程和实验装置</a:t>
            </a:r>
          </a:p>
        </p:txBody>
      </p:sp>
    </p:spTree>
    <p:extLst>
      <p:ext uri="{BB962C8B-B14F-4D97-AF65-F5344CB8AC3E}">
        <p14:creationId xmlns:p14="http://schemas.microsoft.com/office/powerpoint/2010/main" val="30203228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620713"/>
            <a:ext cx="8229600" cy="7921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见习内容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547813"/>
            <a:ext cx="8229600" cy="4035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zh-CN" b="1" dirty="0"/>
          </a:p>
          <a:p>
            <a:pPr eaLnBrk="1" hangingPunct="1"/>
            <a:r>
              <a:rPr lang="zh-CN" altLang="en-US" b="1" dirty="0"/>
              <a:t>微化工系统</a:t>
            </a:r>
            <a:endParaRPr lang="en-US" altLang="zh-CN" b="1" dirty="0"/>
          </a:p>
          <a:p>
            <a:pPr eaLnBrk="1" hangingPunct="1"/>
            <a:endParaRPr lang="zh-CN" altLang="en-US" b="1" dirty="0"/>
          </a:p>
          <a:p>
            <a:pPr eaLnBrk="1" hangingPunct="1"/>
            <a:r>
              <a:rPr lang="zh-CN" altLang="en-US" b="1" dirty="0"/>
              <a:t>超临界流体装置</a:t>
            </a:r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r>
              <a:rPr lang="zh-CN" altLang="en-US" b="1" dirty="0"/>
              <a:t>科研仪器</a:t>
            </a:r>
          </a:p>
        </p:txBody>
      </p:sp>
    </p:spTree>
    <p:extLst>
      <p:ext uri="{BB962C8B-B14F-4D97-AF65-F5344CB8AC3E}">
        <p14:creationId xmlns:p14="http://schemas.microsoft.com/office/powerpoint/2010/main" val="2940836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026" descr="图片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75" y="2881313"/>
            <a:ext cx="19780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1027" descr="图片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0763" y="2881313"/>
            <a:ext cx="1366837" cy="166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1028" descr="图片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44"/>
          <a:stretch>
            <a:fillRect/>
          </a:stretch>
        </p:blipFill>
        <p:spPr bwMode="auto">
          <a:xfrm>
            <a:off x="3276600" y="2906713"/>
            <a:ext cx="1905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1029" descr="图片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4543425"/>
            <a:ext cx="1600200" cy="130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1030" descr="图片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4652963"/>
            <a:ext cx="2057400" cy="122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1031" descr="图片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724400"/>
            <a:ext cx="1600200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WordArt 1033"/>
          <p:cNvSpPr>
            <a:spLocks noChangeArrowheads="1" noChangeShapeType="1" noTextEdit="1"/>
          </p:cNvSpPr>
          <p:nvPr/>
        </p:nvSpPr>
        <p:spPr bwMode="auto">
          <a:xfrm>
            <a:off x="1905000" y="3124200"/>
            <a:ext cx="914400" cy="22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000" kern="10" dirty="0">
                <a:ln w="9525">
                  <a:solidFill>
                    <a:srgbClr val="FFCC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latin typeface="华文细黑" panose="02010600040101010101" pitchFamily="2" charset="-122"/>
                <a:ea typeface="华文细黑" panose="02010600040101010101" pitchFamily="2" charset="-122"/>
              </a:rPr>
              <a:t>微混合器</a:t>
            </a:r>
          </a:p>
        </p:txBody>
      </p:sp>
      <p:sp>
        <p:nvSpPr>
          <p:cNvPr id="16393" name="WordArt 1034"/>
          <p:cNvSpPr>
            <a:spLocks noChangeArrowheads="1" noChangeShapeType="1" noTextEdit="1"/>
          </p:cNvSpPr>
          <p:nvPr/>
        </p:nvSpPr>
        <p:spPr bwMode="auto">
          <a:xfrm>
            <a:off x="6172200" y="3048000"/>
            <a:ext cx="762000" cy="152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000" b="1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FF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微反应器</a:t>
            </a:r>
          </a:p>
        </p:txBody>
      </p:sp>
      <p:sp>
        <p:nvSpPr>
          <p:cNvPr id="16394" name="WordArt 1035"/>
          <p:cNvSpPr>
            <a:spLocks noChangeArrowheads="1" noChangeShapeType="1" noTextEdit="1"/>
          </p:cNvSpPr>
          <p:nvPr/>
        </p:nvSpPr>
        <p:spPr bwMode="auto">
          <a:xfrm>
            <a:off x="3255963" y="4800600"/>
            <a:ext cx="685800" cy="152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000" kern="10">
                <a:ln w="9525">
                  <a:solidFill>
                    <a:srgbClr val="FFCC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latin typeface="华文细黑" panose="02010600040101010101" pitchFamily="2" charset="-122"/>
                <a:ea typeface="华文细黑" panose="02010600040101010101" pitchFamily="2" charset="-122"/>
              </a:rPr>
              <a:t>微换热器</a:t>
            </a:r>
          </a:p>
        </p:txBody>
      </p:sp>
      <p:sp>
        <p:nvSpPr>
          <p:cNvPr id="16395" name="WordArt 1036"/>
          <p:cNvSpPr>
            <a:spLocks noChangeArrowheads="1" noChangeShapeType="1" noTextEdit="1"/>
          </p:cNvSpPr>
          <p:nvPr/>
        </p:nvSpPr>
        <p:spPr bwMode="auto">
          <a:xfrm>
            <a:off x="4229100" y="2933700"/>
            <a:ext cx="914400" cy="22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000" kern="10">
                <a:ln w="9525">
                  <a:solidFill>
                    <a:srgbClr val="FFCC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latin typeface="华文细黑" panose="02010600040101010101" pitchFamily="2" charset="-122"/>
                <a:ea typeface="华文细黑" panose="02010600040101010101" pitchFamily="2" charset="-122"/>
              </a:rPr>
              <a:t>微混合器</a:t>
            </a:r>
          </a:p>
        </p:txBody>
      </p:sp>
      <p:sp>
        <p:nvSpPr>
          <p:cNvPr id="16396" name="WordArt 1037"/>
          <p:cNvSpPr>
            <a:spLocks noChangeArrowheads="1" noChangeShapeType="1" noTextEdit="1"/>
          </p:cNvSpPr>
          <p:nvPr/>
        </p:nvSpPr>
        <p:spPr bwMode="auto">
          <a:xfrm>
            <a:off x="6747931" y="4800600"/>
            <a:ext cx="685800" cy="152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000" kern="10" dirty="0"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微混合器</a:t>
            </a:r>
          </a:p>
        </p:txBody>
      </p:sp>
      <p:sp>
        <p:nvSpPr>
          <p:cNvPr id="16397" name="WordArt 1038"/>
          <p:cNvSpPr>
            <a:spLocks noChangeArrowheads="1" noChangeShapeType="1" noTextEdit="1"/>
          </p:cNvSpPr>
          <p:nvPr/>
        </p:nvSpPr>
        <p:spPr bwMode="auto">
          <a:xfrm>
            <a:off x="1371600" y="4572000"/>
            <a:ext cx="762000" cy="152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000" kern="10" dirty="0">
                <a:ln w="9525">
                  <a:solidFill>
                    <a:srgbClr val="FFCC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latin typeface="华文细黑" panose="02010600040101010101" pitchFamily="2" charset="-122"/>
                <a:ea typeface="华文细黑" panose="02010600040101010101" pitchFamily="2" charset="-122"/>
              </a:rPr>
              <a:t>降膜接触器</a:t>
            </a:r>
          </a:p>
        </p:txBody>
      </p:sp>
      <p:sp>
        <p:nvSpPr>
          <p:cNvPr id="16398" name="Text Box 1039"/>
          <p:cNvSpPr txBox="1">
            <a:spLocks noChangeArrowheads="1"/>
          </p:cNvSpPr>
          <p:nvPr/>
        </p:nvSpPr>
        <p:spPr bwMode="auto">
          <a:xfrm>
            <a:off x="1181099" y="758031"/>
            <a:ext cx="7010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微化工系统（化工设备微小型化）</a:t>
            </a:r>
          </a:p>
        </p:txBody>
      </p:sp>
      <p:sp>
        <p:nvSpPr>
          <p:cNvPr id="16399" name="TextBox 14"/>
          <p:cNvSpPr txBox="1">
            <a:spLocks noChangeArrowheads="1"/>
          </p:cNvSpPr>
          <p:nvPr/>
        </p:nvSpPr>
        <p:spPr bwMode="auto">
          <a:xfrm>
            <a:off x="596111" y="1512888"/>
            <a:ext cx="7627937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以微流动技术为基础，致力于微米尺度设备内流动、混合、传质和反应性能的基础研究，发展微结构分离和反应过程和装备，实现微化工系统在若干工业过程的应用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algn="just" eaLnBrk="1" hangingPunct="1"/>
            <a:endParaRPr lang="en-US" altLang="zh-CN" sz="1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776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组合 13"/>
          <p:cNvGrpSpPr>
            <a:grpSpLocks/>
          </p:cNvGrpSpPr>
          <p:nvPr/>
        </p:nvGrpSpPr>
        <p:grpSpPr bwMode="auto">
          <a:xfrm>
            <a:off x="611188" y="1414463"/>
            <a:ext cx="3232150" cy="2519362"/>
            <a:chOff x="1068651" y="1611600"/>
            <a:chExt cx="1894962" cy="1619378"/>
          </a:xfrm>
        </p:grpSpPr>
        <p:pic>
          <p:nvPicPr>
            <p:cNvPr id="18460" name="图片 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8651" y="1611600"/>
              <a:ext cx="913860" cy="1619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61" name="图片 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4488" y="1611600"/>
              <a:ext cx="909125" cy="1619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62" name="AutoShape 6"/>
            <p:cNvSpPr>
              <a:spLocks noChangeArrowheads="1"/>
            </p:cNvSpPr>
            <p:nvPr/>
          </p:nvSpPr>
          <p:spPr bwMode="auto">
            <a:xfrm>
              <a:off x="1659642" y="2397829"/>
              <a:ext cx="628679" cy="195262"/>
            </a:xfrm>
            <a:prstGeom prst="wedgeRoundRectCallout">
              <a:avLst>
                <a:gd name="adj1" fmla="val 74032"/>
                <a:gd name="adj2" fmla="val 112782"/>
                <a:gd name="adj3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36000" rIns="0" bIns="360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>
                  <a:latin typeface="黑体" panose="02010609060101010101" pitchFamily="49" charset="-122"/>
                  <a:ea typeface="黑体" panose="02010609060101010101" pitchFamily="49" charset="-122"/>
                  <a:cs typeface="宋体" panose="02010600030101010101" pitchFamily="2" charset="-122"/>
                </a:rPr>
                <a:t>操作员位置</a:t>
              </a:r>
              <a:endParaRPr lang="zh-CN" altLang="zh-CN" sz="140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endParaRPr>
            </a:p>
          </p:txBody>
        </p:sp>
      </p:grpSp>
      <p:graphicFrame>
        <p:nvGraphicFramePr>
          <p:cNvPr id="67" name="表格 66"/>
          <p:cNvGraphicFramePr>
            <a:graphicFrameLocks noGrp="1"/>
          </p:cNvGraphicFramePr>
          <p:nvPr/>
        </p:nvGraphicFramePr>
        <p:xfrm>
          <a:off x="601663" y="4005263"/>
          <a:ext cx="3313112" cy="19303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4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90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CN" altLang="en-US" sz="1400" b="1" kern="100" dirty="0">
                          <a:effectLst/>
                          <a:latin typeface="黑体" pitchFamily="49" charset="-122"/>
                          <a:ea typeface="黑体" pitchFamily="49" charset="-122"/>
                          <a:cs typeface="Times New Roman" pitchFamily="18" charset="0"/>
                        </a:rPr>
                        <a:t>比较项目</a:t>
                      </a:r>
                      <a:endParaRPr lang="zh-CN" sz="1400" b="1" kern="100" dirty="0">
                        <a:effectLst/>
                        <a:latin typeface="黑体" pitchFamily="49" charset="-122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68595" marR="68595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CN" altLang="en-US" sz="1400" b="1" kern="100" dirty="0">
                          <a:effectLst/>
                          <a:latin typeface="黑体" pitchFamily="49" charset="-122"/>
                          <a:ea typeface="黑体" pitchFamily="49" charset="-122"/>
                          <a:cs typeface="Times New Roman" pitchFamily="18" charset="0"/>
                        </a:rPr>
                        <a:t>本发明</a:t>
                      </a:r>
                      <a:endParaRPr lang="zh-CN" altLang="zh-CN" sz="1400" b="1" kern="100" dirty="0">
                        <a:effectLst/>
                        <a:latin typeface="黑体" pitchFamily="49" charset="-122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68595" marR="68595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altLang="zh-CN" sz="1400" b="1" kern="0" dirty="0">
                          <a:solidFill>
                            <a:schemeClr val="lt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  <a:cs typeface="Times New Roman" pitchFamily="18" charset="0"/>
                        </a:rPr>
                        <a:t>Bateman</a:t>
                      </a:r>
                      <a:r>
                        <a:rPr lang="zh-CN" altLang="en-US" sz="1400" b="1" kern="0" dirty="0">
                          <a:solidFill>
                            <a:schemeClr val="lt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  <a:cs typeface="Times New Roman" pitchFamily="18" charset="0"/>
                        </a:rPr>
                        <a:t>技术</a:t>
                      </a:r>
                      <a:endParaRPr lang="zh-CN" sz="1400" b="1" kern="0" dirty="0">
                        <a:solidFill>
                          <a:schemeClr val="lt1"/>
                        </a:solidFill>
                        <a:effectLst/>
                        <a:latin typeface="黑体" pitchFamily="49" charset="-122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68595" marR="68595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51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CN" altLang="en-US" sz="1400" b="1" kern="0" dirty="0">
                          <a:solidFill>
                            <a:schemeClr val="lt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  <a:cs typeface="Times New Roman" pitchFamily="18" charset="0"/>
                        </a:rPr>
                        <a:t>设备容积</a:t>
                      </a:r>
                      <a:endParaRPr lang="zh-CN" sz="1400" b="1" kern="0" dirty="0">
                        <a:solidFill>
                          <a:schemeClr val="lt1"/>
                        </a:solidFill>
                        <a:effectLst/>
                        <a:latin typeface="黑体" pitchFamily="49" charset="-122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68595" marR="68595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altLang="zh-CN" sz="1600" b="1" kern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100L</a:t>
                      </a:r>
                      <a:endParaRPr lang="zh-CN" sz="16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95" marR="68595" marT="0" marB="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kern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200m</a:t>
                      </a:r>
                      <a:r>
                        <a:rPr lang="en-US" sz="1600" b="1" kern="0" baseline="30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CN" sz="1600" b="1" kern="100" baseline="300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95" marR="6859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03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kern="0" dirty="0">
                          <a:solidFill>
                            <a:schemeClr val="lt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  <a:cs typeface="Times New Roman" pitchFamily="18" charset="0"/>
                        </a:rPr>
                        <a:t>年开工时间</a:t>
                      </a:r>
                      <a:endParaRPr lang="zh-CN" sz="1400" b="1" kern="0" dirty="0">
                        <a:solidFill>
                          <a:schemeClr val="lt1"/>
                        </a:solidFill>
                        <a:effectLst/>
                        <a:latin typeface="黑体" pitchFamily="49" charset="-122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68595" marR="68595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altLang="zh-CN" sz="1600" b="1" kern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&gt;8000h</a:t>
                      </a:r>
                      <a:endParaRPr lang="zh-CN" sz="16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95" marR="68595" marT="0" marB="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600" b="1" kern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&lt;7200h</a:t>
                      </a:r>
                      <a:endParaRPr lang="zh-CN" sz="16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95" marR="6859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079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kern="0" dirty="0">
                          <a:solidFill>
                            <a:schemeClr val="lt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  <a:cs typeface="Times New Roman" pitchFamily="18" charset="0"/>
                        </a:rPr>
                        <a:t>单次清洗耗时</a:t>
                      </a:r>
                      <a:endParaRPr lang="zh-CN" sz="1400" b="1" kern="0" dirty="0">
                        <a:solidFill>
                          <a:schemeClr val="lt1"/>
                        </a:solidFill>
                        <a:effectLst/>
                        <a:latin typeface="黑体" pitchFamily="49" charset="-122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68595" marR="68595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altLang="zh-CN" sz="1600" b="1" kern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~2h</a:t>
                      </a:r>
                      <a:endParaRPr lang="zh-CN" sz="16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95" marR="68595" marT="0" marB="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altLang="zh-CN" sz="1600" b="1" kern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~20d</a:t>
                      </a:r>
                      <a:endParaRPr lang="zh-CN" sz="16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95" marR="6859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45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1414463"/>
            <a:ext cx="4465638" cy="327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58" name="TextBox 68"/>
          <p:cNvSpPr txBox="1">
            <a:spLocks noChangeArrowheads="1"/>
          </p:cNvSpPr>
          <p:nvPr/>
        </p:nvSpPr>
        <p:spPr bwMode="auto">
          <a:xfrm>
            <a:off x="4197350" y="4868863"/>
            <a:ext cx="4465638" cy="90805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400" b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2012</a:t>
            </a:r>
            <a:r>
              <a:rPr lang="zh-CN" altLang="en-US" sz="2400" b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年度国家技术发明二等奖</a:t>
            </a:r>
            <a:endParaRPr lang="en-US" altLang="zh-CN" sz="2400" b="1">
              <a:solidFill>
                <a:srgbClr val="FF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400" b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2019</a:t>
            </a:r>
            <a:r>
              <a:rPr lang="zh-CN" altLang="en-US" sz="2400" b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年度国家科技进步二等奖 </a:t>
            </a:r>
          </a:p>
        </p:txBody>
      </p:sp>
      <p:sp>
        <p:nvSpPr>
          <p:cNvPr id="18459" name="Rectangle 2"/>
          <p:cNvSpPr>
            <a:spLocks/>
          </p:cNvSpPr>
          <p:nvPr/>
        </p:nvSpPr>
        <p:spPr bwMode="auto">
          <a:xfrm>
            <a:off x="1115616" y="504031"/>
            <a:ext cx="7058025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微结构化工设备及其工业应用</a:t>
            </a:r>
          </a:p>
        </p:txBody>
      </p:sp>
    </p:spTree>
    <p:extLst>
      <p:ext uri="{BB962C8B-B14F-4D97-AF65-F5344CB8AC3E}">
        <p14:creationId xmlns:p14="http://schemas.microsoft.com/office/powerpoint/2010/main" val="2954577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0"/>
          <p:cNvGraphicFramePr>
            <a:graphicFrameLocks noChangeAspect="1"/>
          </p:cNvGraphicFramePr>
          <p:nvPr/>
        </p:nvGraphicFramePr>
        <p:xfrm>
          <a:off x="1262063" y="1557338"/>
          <a:ext cx="3238500" cy="347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位图图像" r:id="rId3" imgW="2666667" imgH="3666667" progId="Paint.Picture">
                  <p:embed/>
                </p:oleObj>
              </mc:Choice>
              <mc:Fallback>
                <p:oleObj name="位图图像" r:id="rId3" imgW="2666667" imgH="3666667" progId="Paint.Picture">
                  <p:embed/>
                  <p:pic>
                    <p:nvPicPr>
                      <p:cNvPr id="19458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8000" contrast="6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2058"/>
                      <a:stretch>
                        <a:fillRect/>
                      </a:stretch>
                    </p:blipFill>
                    <p:spPr bwMode="auto">
                      <a:xfrm>
                        <a:off x="1262063" y="1557338"/>
                        <a:ext cx="3238500" cy="347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59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3" t="1317" r="2780" b="1282"/>
          <a:stretch>
            <a:fillRect/>
          </a:stretch>
        </p:blipFill>
        <p:spPr bwMode="auto">
          <a:xfrm>
            <a:off x="5364163" y="1573213"/>
            <a:ext cx="2525712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Text Box 7"/>
          <p:cNvSpPr txBox="1">
            <a:spLocks noChangeArrowheads="1"/>
          </p:cNvSpPr>
          <p:nvPr/>
        </p:nvSpPr>
        <p:spPr bwMode="auto">
          <a:xfrm>
            <a:off x="2627784" y="5157192"/>
            <a:ext cx="4343400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zh-CN" altLang="en-US" sz="2400" dirty="0">
                <a:latin typeface="TimesNewRoman"/>
                <a:ea typeface="黑体" panose="02010609060101010101" pitchFamily="49" charset="-122"/>
              </a:rPr>
              <a:t>超临界流体和纳米材料制备</a:t>
            </a:r>
          </a:p>
        </p:txBody>
      </p:sp>
      <p:sp>
        <p:nvSpPr>
          <p:cNvPr id="19461" name="Text Box 2"/>
          <p:cNvSpPr txBox="1">
            <a:spLocks noChangeArrowheads="1"/>
          </p:cNvSpPr>
          <p:nvPr/>
        </p:nvSpPr>
        <p:spPr bwMode="auto">
          <a:xfrm>
            <a:off x="3347864" y="692150"/>
            <a:ext cx="54959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超临界流体</a:t>
            </a:r>
          </a:p>
        </p:txBody>
      </p:sp>
    </p:spTree>
    <p:extLst>
      <p:ext uri="{BB962C8B-B14F-4D97-AF65-F5344CB8AC3E}">
        <p14:creationId xmlns:p14="http://schemas.microsoft.com/office/powerpoint/2010/main" val="2283251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1024"/>
          <p:cNvGraphicFramePr>
            <a:graphicFrameLocks noChangeAspect="1"/>
          </p:cNvGraphicFramePr>
          <p:nvPr/>
        </p:nvGraphicFramePr>
        <p:xfrm>
          <a:off x="1547813" y="1014413"/>
          <a:ext cx="2090737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Bitmap Image" r:id="rId3" imgW="5942857" imgH="4486901" progId="Paint.Picture">
                  <p:embed/>
                </p:oleObj>
              </mc:Choice>
              <mc:Fallback>
                <p:oleObj name="Bitmap Image" r:id="rId3" imgW="5942857" imgH="4486901" progId="Paint.Picture">
                  <p:embed/>
                  <p:pic>
                    <p:nvPicPr>
                      <p:cNvPr id="20482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40000" contrast="58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014413"/>
                        <a:ext cx="2090737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3" name="Picture 45" descr="CIMG0194"/>
          <p:cNvPicPr>
            <a:picLocks noChangeAspect="1" noChangeArrowheads="1"/>
          </p:cNvPicPr>
          <p:nvPr/>
        </p:nvPicPr>
        <p:blipFill>
          <a:blip r:embed="rId5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450" y="3325813"/>
            <a:ext cx="1822450" cy="156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2" descr="Aerogel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41"/>
          <a:stretch>
            <a:fillRect/>
          </a:stretch>
        </p:blipFill>
        <p:spPr bwMode="auto">
          <a:xfrm>
            <a:off x="1547813" y="3325813"/>
            <a:ext cx="2090737" cy="156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图片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962025"/>
            <a:ext cx="1736725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矩形 8"/>
          <p:cNvSpPr>
            <a:spLocks noChangeArrowheads="1"/>
          </p:cNvSpPr>
          <p:nvPr/>
        </p:nvSpPr>
        <p:spPr bwMode="auto">
          <a:xfrm>
            <a:off x="1835150" y="5278438"/>
            <a:ext cx="54435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/>
              <a:t>超临界干燥法制备纳米多孔材料气凝胶</a:t>
            </a:r>
          </a:p>
        </p:txBody>
      </p:sp>
      <p:pic>
        <p:nvPicPr>
          <p:cNvPr id="20487" name="图片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525" y="939800"/>
            <a:ext cx="15621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288" y="3325813"/>
            <a:ext cx="2162175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3714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44842" y="55071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科研仪器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652413-DCB1-4DF3-B59E-4A486681FB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494" y="1135493"/>
            <a:ext cx="3204181" cy="240219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C872F7D-21E3-4A59-AAE4-7C1A3D2498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785" y="3856344"/>
            <a:ext cx="2029539" cy="270711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E5ACC3E-BDD7-49DE-85A6-970ABCE1D3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960" y="3856344"/>
            <a:ext cx="2029539" cy="270711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EEF22FC-6893-432A-BB63-6B3C18C449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786" y="1135494"/>
            <a:ext cx="3204182" cy="24021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31235F0-5FB3-4DC6-981B-38EFE9D17E1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3856344"/>
            <a:ext cx="2029539" cy="270711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5585C29-03CF-4081-868E-8EBDE195D9BE}"/>
              </a:ext>
            </a:extLst>
          </p:cNvPr>
          <p:cNvSpPr/>
          <p:nvPr/>
        </p:nvSpPr>
        <p:spPr>
          <a:xfrm>
            <a:off x="2973334" y="1135493"/>
            <a:ext cx="131959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1600" b="1" dirty="0">
                <a:highlight>
                  <a:srgbClr val="FFFF00"/>
                </a:highlight>
              </a:rPr>
              <a:t>气相色谱</a:t>
            </a:r>
            <a:r>
              <a:rPr lang="en-US" altLang="zh-CN" sz="1600" b="1" dirty="0">
                <a:highlight>
                  <a:srgbClr val="FFFF00"/>
                </a:highlight>
              </a:rPr>
              <a:t>GC</a:t>
            </a:r>
            <a:endParaRPr lang="zh-CN" altLang="en-US" sz="1600" b="1" dirty="0">
              <a:highlight>
                <a:srgbClr val="FFFF00"/>
              </a:highligh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E5FB060-5696-4C70-BCBC-766EF3A17DF6}"/>
              </a:ext>
            </a:extLst>
          </p:cNvPr>
          <p:cNvSpPr/>
          <p:nvPr/>
        </p:nvSpPr>
        <p:spPr>
          <a:xfrm>
            <a:off x="6223584" y="1135493"/>
            <a:ext cx="16200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600" b="1" dirty="0">
                <a:highlight>
                  <a:srgbClr val="FFFF00"/>
                </a:highlight>
              </a:rPr>
              <a:t>高效液相色谱</a:t>
            </a:r>
            <a:r>
              <a:rPr lang="en-US" altLang="zh-CN" sz="1600" b="1" dirty="0">
                <a:highlight>
                  <a:srgbClr val="FFFF00"/>
                </a:highlight>
              </a:rPr>
              <a:t>HPLC</a:t>
            </a:r>
            <a:endParaRPr lang="zh-CN" altLang="en-US" sz="1600" b="1" dirty="0">
              <a:highlight>
                <a:srgbClr val="FFFF00"/>
              </a:highligh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B79E42B-F65F-4D8C-831A-351710D117E4}"/>
              </a:ext>
            </a:extLst>
          </p:cNvPr>
          <p:cNvSpPr/>
          <p:nvPr/>
        </p:nvSpPr>
        <p:spPr>
          <a:xfrm>
            <a:off x="889974" y="3610123"/>
            <a:ext cx="24091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highlight>
                  <a:srgbClr val="FFFF00"/>
                </a:highlight>
              </a:rPr>
              <a:t>超高效液相色谱</a:t>
            </a:r>
            <a:r>
              <a:rPr lang="en-US" altLang="zh-CN" sz="1600" b="1" dirty="0">
                <a:highlight>
                  <a:srgbClr val="FFFF00"/>
                </a:highlight>
              </a:rPr>
              <a:t>UHPLC</a:t>
            </a:r>
            <a:endParaRPr lang="zh-CN" altLang="en-US" sz="1600" b="1" dirty="0">
              <a:highlight>
                <a:srgbClr val="FFFF00"/>
              </a:highlight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AF2E237-94A3-4D40-A748-7A2258CA6854}"/>
              </a:ext>
            </a:extLst>
          </p:cNvPr>
          <p:cNvSpPr/>
          <p:nvPr/>
        </p:nvSpPr>
        <p:spPr>
          <a:xfrm>
            <a:off x="3533246" y="3610123"/>
            <a:ext cx="18389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highlight>
                  <a:srgbClr val="FFFF00"/>
                </a:highlight>
              </a:rPr>
              <a:t>超高精度分析天平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B81BC4F-32C1-41E6-B548-83B4A43A30B7}"/>
              </a:ext>
            </a:extLst>
          </p:cNvPr>
          <p:cNvSpPr/>
          <p:nvPr/>
        </p:nvSpPr>
        <p:spPr>
          <a:xfrm>
            <a:off x="6201603" y="3610123"/>
            <a:ext cx="12186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highlight>
                  <a:srgbClr val="FFFF00"/>
                </a:highlight>
              </a:rPr>
              <a:t>热重分析仪</a:t>
            </a:r>
          </a:p>
        </p:txBody>
      </p:sp>
    </p:spTree>
    <p:extLst>
      <p:ext uri="{BB962C8B-B14F-4D97-AF65-F5344CB8AC3E}">
        <p14:creationId xmlns:p14="http://schemas.microsoft.com/office/powerpoint/2010/main" val="143922956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7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3651</TotalTime>
  <Words>611</Words>
  <Application>Microsoft Office PowerPoint</Application>
  <PresentationFormat>全屏显示(4:3)</PresentationFormat>
  <Paragraphs>120</Paragraphs>
  <Slides>16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TimesNewRoman</vt:lpstr>
      <vt:lpstr>方正姚体</vt:lpstr>
      <vt:lpstr>黑体</vt:lpstr>
      <vt:lpstr>华文隶书</vt:lpstr>
      <vt:lpstr>华文细黑</vt:lpstr>
      <vt:lpstr>华文行楷</vt:lpstr>
      <vt:lpstr>楷体_GB2312</vt:lpstr>
      <vt:lpstr>宋体</vt:lpstr>
      <vt:lpstr>Arial</vt:lpstr>
      <vt:lpstr>Times New Roman</vt:lpstr>
      <vt:lpstr>Wingdings</vt:lpstr>
      <vt:lpstr>默认设计模板</vt:lpstr>
      <vt:lpstr>Flash Movie</vt:lpstr>
      <vt:lpstr>Photo Editor 照片</vt:lpstr>
      <vt:lpstr>位图图像</vt:lpstr>
      <vt:lpstr>Bitmap 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CO2化学吸收</vt:lpstr>
      <vt:lpstr>见习内容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Tsinghua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Wang</dc:creator>
  <cp:lastModifiedBy>Tao Wang</cp:lastModifiedBy>
  <cp:revision>238</cp:revision>
  <dcterms:created xsi:type="dcterms:W3CDTF">2001-09-29T08:58:12Z</dcterms:created>
  <dcterms:modified xsi:type="dcterms:W3CDTF">2026-09-21T01:41:50Z</dcterms:modified>
</cp:coreProperties>
</file>