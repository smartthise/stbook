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412" r:id="rId2"/>
    <p:sldId id="413" r:id="rId3"/>
    <p:sldId id="414" r:id="rId4"/>
    <p:sldId id="415" r:id="rId5"/>
    <p:sldId id="416" r:id="rId6"/>
    <p:sldId id="417" r:id="rId7"/>
    <p:sldId id="418" r:id="rId8"/>
    <p:sldId id="419" r:id="rId9"/>
    <p:sldId id="420" r:id="rId10"/>
    <p:sldId id="422" r:id="rId11"/>
    <p:sldId id="423" r:id="rId12"/>
    <p:sldId id="424" r:id="rId13"/>
    <p:sldId id="425" r:id="rId14"/>
    <p:sldId id="426" r:id="rId15"/>
    <p:sldId id="427" r:id="rId16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9526" autoAdjust="0"/>
    <p:restoredTop sz="94612" autoAdjust="0"/>
  </p:normalViewPr>
  <p:slideViewPr>
    <p:cSldViewPr showGuides="1">
      <p:cViewPr varScale="1">
        <p:scale>
          <a:sx n="108" d="100"/>
          <a:sy n="108" d="100"/>
        </p:scale>
        <p:origin x="1320" y="11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image" Target="../media/image2.wmf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8.png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30.png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86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86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1BFE81D9-51BB-4C76-8B84-7B2DECC48CB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1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662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 smtClean="0"/>
              <a:t>单击此处编辑母版文本样式</a:t>
            </a:r>
          </a:p>
          <a:p>
            <a:pPr lvl="1"/>
            <a:r>
              <a:rPr lang="zh-CN" altLang="en-US" noProof="0" smtClean="0"/>
              <a:t>第二级</a:t>
            </a:r>
          </a:p>
          <a:p>
            <a:pPr lvl="2"/>
            <a:r>
              <a:rPr lang="zh-CN" altLang="en-US" noProof="0" smtClean="0"/>
              <a:t>第三级</a:t>
            </a:r>
          </a:p>
          <a:p>
            <a:pPr lvl="3"/>
            <a:r>
              <a:rPr lang="zh-CN" altLang="en-US" noProof="0" smtClean="0"/>
              <a:t>第四级</a:t>
            </a:r>
          </a:p>
          <a:p>
            <a:pPr lvl="4"/>
            <a:r>
              <a:rPr lang="zh-CN" altLang="en-US" noProof="0" smtClean="0"/>
              <a:t>第五级</a:t>
            </a:r>
          </a:p>
        </p:txBody>
      </p:sp>
      <p:sp>
        <p:nvSpPr>
          <p:cNvPr id="2663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663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1FA54C58-BB3B-4C8B-A6B9-FFE3D2A5C25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DA0F1836-4F29-4F4A-8A9B-443D7BEA85E4}" type="slidenum">
              <a:rPr lang="en-US" altLang="zh-CN" smtClean="0"/>
              <a:pPr>
                <a:spcBef>
                  <a:spcPct val="0"/>
                </a:spcBef>
              </a:pPr>
              <a:t>3</a:t>
            </a:fld>
            <a:endParaRPr lang="en-US" altLang="zh-CN" smtClean="0"/>
          </a:p>
        </p:txBody>
      </p:sp>
      <p:sp>
        <p:nvSpPr>
          <p:cNvPr id="7171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mtClean="0"/>
          </a:p>
        </p:txBody>
      </p:sp>
    </p:spTree>
    <p:extLst>
      <p:ext uri="{BB962C8B-B14F-4D97-AF65-F5344CB8AC3E}">
        <p14:creationId xmlns:p14="http://schemas.microsoft.com/office/powerpoint/2010/main" val="25867236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FA54C58-BB3B-4C8B-A6B9-FFE3D2A5C25F}" type="slidenum">
              <a:rPr lang="en-US" altLang="zh-CN" smtClean="0"/>
              <a:pPr>
                <a:defRPr/>
              </a:pPr>
              <a:t>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732751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DA93C118-23C2-436C-B724-27748BAE0BB3}" type="slidenum">
              <a:rPr lang="en-US" altLang="zh-CN" smtClean="0"/>
              <a:pPr>
                <a:spcBef>
                  <a:spcPct val="0"/>
                </a:spcBef>
              </a:pPr>
              <a:t>7</a:t>
            </a:fld>
            <a:endParaRPr lang="en-US" altLang="zh-CN" smtClean="0"/>
          </a:p>
        </p:txBody>
      </p:sp>
      <p:sp>
        <p:nvSpPr>
          <p:cNvPr id="1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mtClean="0"/>
          </a:p>
        </p:txBody>
      </p:sp>
    </p:spTree>
    <p:extLst>
      <p:ext uri="{BB962C8B-B14F-4D97-AF65-F5344CB8AC3E}">
        <p14:creationId xmlns:p14="http://schemas.microsoft.com/office/powerpoint/2010/main" val="18591032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FA54C58-BB3B-4C8B-A6B9-FFE3D2A5C25F}" type="slidenum">
              <a:rPr lang="en-US" altLang="zh-CN" smtClean="0"/>
              <a:pPr>
                <a:defRPr/>
              </a:pPr>
              <a:t>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321414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41ECCABF-54C3-41E9-873B-34DDEE521885}" type="slidenum">
              <a:rPr lang="en-US" altLang="zh-CN" smtClean="0"/>
              <a:pPr>
                <a:spcBef>
                  <a:spcPct val="0"/>
                </a:spcBef>
              </a:pPr>
              <a:t>10</a:t>
            </a:fld>
            <a:endParaRPr lang="en-US" altLang="zh-CN" smtClean="0"/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mtClean="0"/>
          </a:p>
        </p:txBody>
      </p:sp>
    </p:spTree>
    <p:extLst>
      <p:ext uri="{BB962C8B-B14F-4D97-AF65-F5344CB8AC3E}">
        <p14:creationId xmlns:p14="http://schemas.microsoft.com/office/powerpoint/2010/main" val="18363290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FA54C58-BB3B-4C8B-A6B9-FFE3D2A5C25F}" type="slidenum">
              <a:rPr lang="en-US" altLang="zh-CN" smtClean="0"/>
              <a:pPr>
                <a:defRPr/>
              </a:pPr>
              <a:t>11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324524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EE8482C0-D0D1-454E-9266-069DF5B20882}" type="slidenum">
              <a:rPr lang="en-US" altLang="zh-CN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14</a:t>
            </a:fld>
            <a:endParaRPr lang="en-US" altLang="zh-CN" smtClean="0">
              <a:latin typeface="Arial" panose="020B0604020202020204" pitchFamily="34" charset="0"/>
            </a:endParaRPr>
          </a:p>
        </p:txBody>
      </p:sp>
      <p:sp>
        <p:nvSpPr>
          <p:cNvPr id="225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en-US" smtClean="0">
                <a:latin typeface="Arial" panose="020B0604020202020204" pitchFamily="34" charset="0"/>
              </a:rPr>
              <a:t>人</a:t>
            </a:r>
            <a:r>
              <a:rPr lang="en-US" altLang="zh-CN" smtClean="0">
                <a:latin typeface="Arial" panose="020B0604020202020204" pitchFamily="34" charset="0"/>
              </a:rPr>
              <a:t>-</a:t>
            </a:r>
            <a:r>
              <a:rPr lang="zh-CN" altLang="en-US" smtClean="0">
                <a:latin typeface="Arial" panose="020B0604020202020204" pitchFamily="34" charset="0"/>
              </a:rPr>
              <a:t>左旋</a:t>
            </a:r>
          </a:p>
        </p:txBody>
      </p:sp>
    </p:spTree>
    <p:extLst>
      <p:ext uri="{BB962C8B-B14F-4D97-AF65-F5344CB8AC3E}">
        <p14:creationId xmlns:p14="http://schemas.microsoft.com/office/powerpoint/2010/main" val="10593822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79958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12012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40661403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80323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39524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28281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302814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9200549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0339845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957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85800"/>
            <a:ext cx="1943100" cy="54102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5676900" cy="54102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64158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253257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038600" cy="21859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57200" y="3938588"/>
            <a:ext cx="4038600" cy="21875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8200" y="3938588"/>
            <a:ext cx="4038600" cy="21875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665231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79895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858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pic>
        <p:nvPicPr>
          <p:cNvPr id="1028" name="Picture 8" descr="C:\My Documents\My Pictures\pic004a.gif"/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52400"/>
            <a:ext cx="1831975" cy="53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46" r:id="rId1"/>
    <p:sldLayoutId id="2147483747" r:id="rId2"/>
    <p:sldLayoutId id="2147483748" r:id="rId3"/>
    <p:sldLayoutId id="2147483749" r:id="rId4"/>
    <p:sldLayoutId id="2147483750" r:id="rId5"/>
    <p:sldLayoutId id="2147483751" r:id="rId6"/>
    <p:sldLayoutId id="2147483752" r:id="rId7"/>
    <p:sldLayoutId id="2147483753" r:id="rId8"/>
    <p:sldLayoutId id="2147483754" r:id="rId9"/>
    <p:sldLayoutId id="2147483755" r:id="rId10"/>
    <p:sldLayoutId id="2147483756" r:id="rId11"/>
    <p:sldLayoutId id="2147483759" r:id="rId12"/>
    <p:sldLayoutId id="2147483760" r:id="rId13"/>
    <p:sldLayoutId id="2147483761" r:id="rId14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13" Type="http://schemas.openxmlformats.org/officeDocument/2006/relationships/image" Target="../media/image6.png"/><Relationship Id="rId18" Type="http://schemas.openxmlformats.org/officeDocument/2006/relationships/oleObject" Target="../embeddings/oleObject8.bin"/><Relationship Id="rId3" Type="http://schemas.openxmlformats.org/officeDocument/2006/relationships/notesSlide" Target="../notesSlides/notesSlide1.xml"/><Relationship Id="rId21" Type="http://schemas.openxmlformats.org/officeDocument/2006/relationships/oleObject" Target="../embeddings/oleObject10.bin"/><Relationship Id="rId7" Type="http://schemas.openxmlformats.org/officeDocument/2006/relationships/image" Target="../media/image3.png"/><Relationship Id="rId12" Type="http://schemas.openxmlformats.org/officeDocument/2006/relationships/oleObject" Target="../embeddings/oleObject5.bin"/><Relationship Id="rId17" Type="http://schemas.openxmlformats.org/officeDocument/2006/relationships/image" Target="../media/image8.png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7.bin"/><Relationship Id="rId20" Type="http://schemas.openxmlformats.org/officeDocument/2006/relationships/oleObject" Target="../embeddings/oleObject9.bin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11" Type="http://schemas.openxmlformats.org/officeDocument/2006/relationships/image" Target="../media/image5.png"/><Relationship Id="rId5" Type="http://schemas.openxmlformats.org/officeDocument/2006/relationships/image" Target="../media/image2.wmf"/><Relationship Id="rId15" Type="http://schemas.openxmlformats.org/officeDocument/2006/relationships/image" Target="../media/image7.png"/><Relationship Id="rId10" Type="http://schemas.openxmlformats.org/officeDocument/2006/relationships/oleObject" Target="../embeddings/oleObject4.bin"/><Relationship Id="rId19" Type="http://schemas.openxmlformats.org/officeDocument/2006/relationships/image" Target="../media/image9.png"/><Relationship Id="rId4" Type="http://schemas.openxmlformats.org/officeDocument/2006/relationships/oleObject" Target="../embeddings/oleObject1.bin"/><Relationship Id="rId9" Type="http://schemas.openxmlformats.org/officeDocument/2006/relationships/image" Target="../media/image4.png"/><Relationship Id="rId14" Type="http://schemas.openxmlformats.org/officeDocument/2006/relationships/oleObject" Target="../embeddings/oleObject6.bin"/><Relationship Id="rId22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notesSlide" Target="../notesSlides/notesSlide2.xml"/><Relationship Id="rId7" Type="http://schemas.openxmlformats.org/officeDocument/2006/relationships/oleObject" Target="../embeddings/oleObject12.bin"/><Relationship Id="rId12" Type="http://schemas.openxmlformats.org/officeDocument/2006/relationships/image" Target="../media/image17.jpeg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11.png"/><Relationship Id="rId11" Type="http://schemas.openxmlformats.org/officeDocument/2006/relationships/image" Target="../media/image16.jpeg"/><Relationship Id="rId5" Type="http://schemas.openxmlformats.org/officeDocument/2006/relationships/oleObject" Target="../embeddings/oleObject11.bin"/><Relationship Id="rId10" Type="http://schemas.openxmlformats.org/officeDocument/2006/relationships/image" Target="../media/image15.jpeg"/><Relationship Id="rId4" Type="http://schemas.openxmlformats.org/officeDocument/2006/relationships/image" Target="../media/image13.jpeg"/><Relationship Id="rId9" Type="http://schemas.openxmlformats.org/officeDocument/2006/relationships/image" Target="../media/image14.gi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jpeg"/><Relationship Id="rId3" Type="http://schemas.openxmlformats.org/officeDocument/2006/relationships/image" Target="../media/image19.jpeg"/><Relationship Id="rId7" Type="http://schemas.openxmlformats.org/officeDocument/2006/relationships/image" Target="../media/image2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jpeg"/><Relationship Id="rId5" Type="http://schemas.openxmlformats.org/officeDocument/2006/relationships/image" Target="../media/image21.png"/><Relationship Id="rId4" Type="http://schemas.openxmlformats.org/officeDocument/2006/relationships/image" Target="../media/image20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emf"/><Relationship Id="rId3" Type="http://schemas.openxmlformats.org/officeDocument/2006/relationships/oleObject" Target="../embeddings/oleObject14.bin"/><Relationship Id="rId7" Type="http://schemas.openxmlformats.org/officeDocument/2006/relationships/image" Target="../media/image33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32.jpeg"/><Relationship Id="rId5" Type="http://schemas.openxmlformats.org/officeDocument/2006/relationships/image" Target="../media/image31.jpeg"/><Relationship Id="rId4" Type="http://schemas.openxmlformats.org/officeDocument/2006/relationships/image" Target="../media/image30.png"/><Relationship Id="rId9" Type="http://schemas.openxmlformats.org/officeDocument/2006/relationships/image" Target="../media/image3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39.jpe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wmf"/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3.png"/><Relationship Id="rId4" Type="http://schemas.openxmlformats.org/officeDocument/2006/relationships/image" Target="../media/image4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矩形 1"/>
          <p:cNvSpPr>
            <a:spLocks noChangeArrowheads="1"/>
          </p:cNvSpPr>
          <p:nvPr/>
        </p:nvSpPr>
        <p:spPr bwMode="auto">
          <a:xfrm>
            <a:off x="1475654" y="995832"/>
            <a:ext cx="6388100" cy="24314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3600" b="1" dirty="0" smtClean="0"/>
              <a:t>第十五单元</a:t>
            </a:r>
            <a:endParaRPr lang="en-US" altLang="zh-CN" sz="3600" b="1" dirty="0" smtClean="0"/>
          </a:p>
          <a:p>
            <a:pPr algn="ctr"/>
            <a:endParaRPr lang="en-US" altLang="zh-CN" sz="3600" b="1" dirty="0"/>
          </a:p>
          <a:p>
            <a:pPr algn="ctr"/>
            <a:r>
              <a:rPr lang="zh-CN" altLang="en-US" sz="4000" b="1" dirty="0" smtClean="0"/>
              <a:t>化学工程</a:t>
            </a:r>
            <a:r>
              <a:rPr lang="zh-CN" altLang="en-US" sz="4000" b="1" dirty="0" smtClean="0"/>
              <a:t>与低</a:t>
            </a:r>
            <a:r>
              <a:rPr lang="zh-CN" altLang="en-US" sz="4000" b="1" dirty="0"/>
              <a:t>碳技术</a:t>
            </a:r>
            <a:endParaRPr lang="en-US" altLang="zh-CN" sz="4000" b="1" dirty="0"/>
          </a:p>
          <a:p>
            <a:pPr algn="ctr"/>
            <a:r>
              <a:rPr lang="zh-CN" altLang="en-US" sz="4000" b="1" dirty="0"/>
              <a:t>全国重点实验室</a:t>
            </a:r>
          </a:p>
        </p:txBody>
      </p:sp>
      <p:sp>
        <p:nvSpPr>
          <p:cNvPr id="3" name="Text Box 5"/>
          <p:cNvSpPr txBox="1">
            <a:spLocks noChangeArrowheads="1"/>
          </p:cNvSpPr>
          <p:nvPr/>
        </p:nvSpPr>
        <p:spPr bwMode="auto">
          <a:xfrm>
            <a:off x="2730712" y="4581128"/>
            <a:ext cx="3877985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Wingdings" panose="05000000000000000000" pitchFamily="2" charset="2"/>
              <a:buNone/>
            </a:pPr>
            <a:r>
              <a:rPr kumimoji="1" lang="zh-CN" altLang="en-US" sz="32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王涛</a:t>
            </a:r>
            <a:endParaRPr kumimoji="1" lang="en-US" altLang="zh-CN" sz="3200" b="1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kumimoji="1" lang="zh-CN" altLang="en-US" sz="32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清华大学化学工程系</a:t>
            </a:r>
            <a:endParaRPr kumimoji="1" lang="zh-CN" altLang="en-US" sz="32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766458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 Box 2"/>
          <p:cNvSpPr txBox="1">
            <a:spLocks noChangeArrowheads="1"/>
          </p:cNvSpPr>
          <p:nvPr/>
        </p:nvSpPr>
        <p:spPr bwMode="auto">
          <a:xfrm>
            <a:off x="3351212" y="764704"/>
            <a:ext cx="2441575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kumimoji="1" lang="zh-CN" altLang="en-US" sz="4400" dirty="0">
                <a:latin typeface="黑体" panose="02010609060101010101" pitchFamily="49" charset="-122"/>
                <a:ea typeface="黑体" panose="02010609060101010101" pitchFamily="49" charset="-122"/>
              </a:rPr>
              <a:t>化学工程</a:t>
            </a:r>
          </a:p>
        </p:txBody>
      </p:sp>
      <p:sp>
        <p:nvSpPr>
          <p:cNvPr id="5123" name="Text Box 3"/>
          <p:cNvSpPr txBox="1">
            <a:spLocks noChangeArrowheads="1"/>
          </p:cNvSpPr>
          <p:nvPr/>
        </p:nvSpPr>
        <p:spPr bwMode="auto">
          <a:xfrm>
            <a:off x="611560" y="1772816"/>
            <a:ext cx="8153400" cy="3970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kumimoji="1" lang="zh-CN" altLang="en-US" sz="3600" dirty="0">
                <a:latin typeface="黑体" panose="02010609060101010101" pitchFamily="49" charset="-122"/>
                <a:ea typeface="黑体" panose="02010609060101010101" pitchFamily="49" charset="-122"/>
              </a:rPr>
              <a:t>分子间互相作用改变物质的物理和化学性质的过程，即物质转化过程</a:t>
            </a:r>
            <a:endParaRPr kumimoji="1" lang="en-US" altLang="zh-CN" sz="36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kumimoji="1" lang="zh-CN" altLang="en-US" sz="36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kumimoji="1" lang="zh-CN" altLang="en-US" sz="3600" dirty="0">
                <a:latin typeface="黑体" panose="02010609060101010101" pitchFamily="49" charset="-122"/>
                <a:ea typeface="黑体" panose="02010609060101010101" pitchFamily="49" charset="-122"/>
              </a:rPr>
              <a:t>物质的</a:t>
            </a:r>
            <a:r>
              <a:rPr kumimoji="1" lang="zh-CN" altLang="en-US" sz="36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宏量</a:t>
            </a:r>
            <a:r>
              <a:rPr kumimoji="1" lang="zh-CN" altLang="en-US" sz="3600" dirty="0">
                <a:latin typeface="黑体" panose="02010609060101010101" pitchFamily="49" charset="-122"/>
                <a:ea typeface="黑体" panose="02010609060101010101" pitchFamily="49" charset="-122"/>
              </a:rPr>
              <a:t>转化过程的基本现象、基本规律、基本原理</a:t>
            </a:r>
            <a:r>
              <a:rPr kumimoji="1" lang="zh-CN" altLang="en-US" sz="36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、方法、流程和</a:t>
            </a:r>
            <a:r>
              <a:rPr kumimoji="1" lang="zh-CN" altLang="en-US" sz="3600" dirty="0">
                <a:latin typeface="黑体" panose="02010609060101010101" pitchFamily="49" charset="-122"/>
                <a:ea typeface="黑体" panose="02010609060101010101" pitchFamily="49" charset="-122"/>
              </a:rPr>
              <a:t>设备</a:t>
            </a:r>
            <a:endParaRPr kumimoji="1" lang="en-US" altLang="zh-CN" sz="36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kumimoji="1" lang="en-US" altLang="zh-CN" sz="36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/>
            <a:r>
              <a:rPr kumimoji="1" lang="zh-CN" altLang="en-US" sz="3600" dirty="0">
                <a:latin typeface="黑体" panose="02010609060101010101" pitchFamily="49" charset="-122"/>
                <a:ea typeface="黑体" panose="02010609060101010101" pitchFamily="49" charset="-122"/>
              </a:rPr>
              <a:t>涉及分子间相互作用力的工程学科</a:t>
            </a:r>
          </a:p>
        </p:txBody>
      </p:sp>
    </p:spTree>
    <p:extLst>
      <p:ext uri="{BB962C8B-B14F-4D97-AF65-F5344CB8AC3E}">
        <p14:creationId xmlns:p14="http://schemas.microsoft.com/office/powerpoint/2010/main" val="10355398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146" name="Object 2"/>
          <p:cNvGraphicFramePr>
            <a:graphicFrameLocks noChangeAspect="1"/>
          </p:cNvGraphicFramePr>
          <p:nvPr/>
        </p:nvGraphicFramePr>
        <p:xfrm>
          <a:off x="4219575" y="3609975"/>
          <a:ext cx="906463" cy="493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018" name="Flash Movie" r:id="rId4" imgW="906840" imgH="493920" progId="Flash.Movie">
                  <p:embed/>
                </p:oleObj>
              </mc:Choice>
              <mc:Fallback>
                <p:oleObj name="Flash Movie" r:id="rId4" imgW="906840" imgH="493920" progId="Flash.Movie">
                  <p:embed/>
                  <p:pic>
                    <p:nvPicPr>
                      <p:cNvPr id="6146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19575" y="3609975"/>
                        <a:ext cx="906463" cy="493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47" name="Oval 3"/>
          <p:cNvSpPr>
            <a:spLocks noChangeArrowheads="1"/>
          </p:cNvSpPr>
          <p:nvPr/>
        </p:nvSpPr>
        <p:spPr bwMode="auto">
          <a:xfrm>
            <a:off x="3910013" y="2940050"/>
            <a:ext cx="1524000" cy="1527175"/>
          </a:xfrm>
          <a:prstGeom prst="ellipse">
            <a:avLst/>
          </a:prstGeom>
          <a:solidFill>
            <a:srgbClr val="CC3399">
              <a:alpha val="50195"/>
            </a:srgbClr>
          </a:solidFill>
          <a:ln w="9525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kumimoji="1" lang="zh-CN" altLang="en-US" sz="2800" dirty="0">
                <a:solidFill>
                  <a:srgbClr val="002060"/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化学工程</a:t>
            </a:r>
          </a:p>
        </p:txBody>
      </p:sp>
      <p:graphicFrame>
        <p:nvGraphicFramePr>
          <p:cNvPr id="6148" name="Object 5"/>
          <p:cNvGraphicFramePr>
            <a:graphicFrameLocks/>
          </p:cNvGraphicFramePr>
          <p:nvPr/>
        </p:nvGraphicFramePr>
        <p:xfrm>
          <a:off x="1417638" y="3113088"/>
          <a:ext cx="1619250" cy="1150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019" name="Photo Editor 照片" r:id="rId6" imgW="1333333" imgH="895238" progId="MSPhotoEd.3">
                  <p:embed/>
                </p:oleObj>
              </mc:Choice>
              <mc:Fallback>
                <p:oleObj name="Photo Editor 照片" r:id="rId6" imgW="1333333" imgH="895238" progId="MSPhotoEd.3">
                  <p:embed/>
                  <p:pic>
                    <p:nvPicPr>
                      <p:cNvPr id="6148" name="Object 5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17638" y="3113088"/>
                        <a:ext cx="1619250" cy="1150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9" name="Object 6"/>
          <p:cNvGraphicFramePr>
            <a:graphicFrameLocks/>
          </p:cNvGraphicFramePr>
          <p:nvPr/>
        </p:nvGraphicFramePr>
        <p:xfrm>
          <a:off x="1770063" y="4635500"/>
          <a:ext cx="1619250" cy="1150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020" name="Photo Editor 照片" r:id="rId8" imgW="1333333" imgH="866896" progId="MSPhotoEd.3">
                  <p:embed/>
                </p:oleObj>
              </mc:Choice>
              <mc:Fallback>
                <p:oleObj name="Photo Editor 照片" r:id="rId8" imgW="1333333" imgH="866896" progId="MSPhotoEd.3">
                  <p:embed/>
                  <p:pic>
                    <p:nvPicPr>
                      <p:cNvPr id="6149" name="Object 6"/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0063" y="4635500"/>
                        <a:ext cx="1619250" cy="1150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50" name="Object 7"/>
          <p:cNvGraphicFramePr>
            <a:graphicFrameLocks/>
          </p:cNvGraphicFramePr>
          <p:nvPr/>
        </p:nvGraphicFramePr>
        <p:xfrm>
          <a:off x="3862388" y="4754563"/>
          <a:ext cx="1619250" cy="1150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021" name="Photo Editor 照片" r:id="rId10" imgW="1276190" imgH="1028844" progId="MSPhotoEd.3">
                  <p:embed/>
                </p:oleObj>
              </mc:Choice>
              <mc:Fallback>
                <p:oleObj name="Photo Editor 照片" r:id="rId10" imgW="1276190" imgH="1028844" progId="MSPhotoEd.3">
                  <p:embed/>
                  <p:pic>
                    <p:nvPicPr>
                      <p:cNvPr id="6150" name="Object 7"/>
                      <p:cNvPicPr>
                        <a:picLocks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62388" y="4754563"/>
                        <a:ext cx="1619250" cy="1150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51" name="Object 9"/>
          <p:cNvGraphicFramePr>
            <a:graphicFrameLocks/>
          </p:cNvGraphicFramePr>
          <p:nvPr/>
        </p:nvGraphicFramePr>
        <p:xfrm>
          <a:off x="1747838" y="1558925"/>
          <a:ext cx="1619250" cy="1150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022" name="Photo Editor 照片" r:id="rId12" imgW="1324160" imgH="905001" progId="MSPhotoEd.3">
                  <p:embed/>
                </p:oleObj>
              </mc:Choice>
              <mc:Fallback>
                <p:oleObj name="Photo Editor 照片" r:id="rId12" imgW="1324160" imgH="905001" progId="MSPhotoEd.3">
                  <p:embed/>
                  <p:pic>
                    <p:nvPicPr>
                      <p:cNvPr id="6151" name="Object 9"/>
                      <p:cNvPicPr>
                        <a:picLocks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47838" y="1558925"/>
                        <a:ext cx="1619250" cy="1150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52" name="Object 10"/>
          <p:cNvGraphicFramePr>
            <a:graphicFrameLocks noChangeAspect="1"/>
          </p:cNvGraphicFramePr>
          <p:nvPr/>
        </p:nvGraphicFramePr>
        <p:xfrm>
          <a:off x="5961063" y="1604963"/>
          <a:ext cx="1676400" cy="1196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023" name="Photo Editor 照片" r:id="rId14" imgW="1333333" imgH="952633" progId="MSPhotoEd.3">
                  <p:embed/>
                </p:oleObj>
              </mc:Choice>
              <mc:Fallback>
                <p:oleObj name="Photo Editor 照片" r:id="rId14" imgW="1333333" imgH="952633" progId="MSPhotoEd.3">
                  <p:embed/>
                  <p:pic>
                    <p:nvPicPr>
                      <p:cNvPr id="6152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61063" y="1604963"/>
                        <a:ext cx="1676400" cy="1196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53" name="WordArt 11"/>
          <p:cNvSpPr>
            <a:spLocks noChangeArrowheads="1" noChangeShapeType="1" noTextEdit="1"/>
          </p:cNvSpPr>
          <p:nvPr/>
        </p:nvSpPr>
        <p:spPr bwMode="auto">
          <a:xfrm>
            <a:off x="2276475" y="3100388"/>
            <a:ext cx="704850" cy="35242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zh-CN" altLang="en-US" sz="2800" i="1" kern="10">
                <a:ln w="9525" cap="rnd">
                  <a:solidFill>
                    <a:srgbClr val="FFCC00"/>
                  </a:solidFill>
                  <a:prstDash val="sysDot"/>
                  <a:round/>
                  <a:headEnd/>
                  <a:tailEnd/>
                </a:ln>
                <a:solidFill>
                  <a:srgbClr val="FFFFFF"/>
                </a:solidFill>
                <a:effectLst>
                  <a:outerShdw dist="35921" dir="2700000" algn="ctr" rotWithShape="0">
                    <a:srgbClr val="808080"/>
                  </a:outerShdw>
                </a:effectLst>
                <a:latin typeface="宋体" panose="02010600030101010101" pitchFamily="2" charset="-122"/>
              </a:rPr>
              <a:t>石油</a:t>
            </a:r>
          </a:p>
        </p:txBody>
      </p:sp>
      <p:sp>
        <p:nvSpPr>
          <p:cNvPr id="6154" name="WordArt 12"/>
          <p:cNvSpPr>
            <a:spLocks noChangeArrowheads="1" noChangeShapeType="1" noTextEdit="1"/>
          </p:cNvSpPr>
          <p:nvPr/>
        </p:nvSpPr>
        <p:spPr bwMode="auto">
          <a:xfrm>
            <a:off x="2673350" y="1566863"/>
            <a:ext cx="704850" cy="35242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zh-CN" altLang="en-US" sz="2800" i="1" kern="10">
                <a:ln w="9525" cap="rnd">
                  <a:solidFill>
                    <a:srgbClr val="FFCC00"/>
                  </a:solidFill>
                  <a:prstDash val="sysDot"/>
                  <a:round/>
                  <a:headEnd/>
                  <a:tailEnd/>
                </a:ln>
                <a:solidFill>
                  <a:srgbClr val="FFFFFF"/>
                </a:solidFill>
                <a:effectLst>
                  <a:outerShdw dist="35921" dir="2700000" algn="ctr" rotWithShape="0">
                    <a:srgbClr val="808080"/>
                  </a:outerShdw>
                </a:effectLst>
                <a:latin typeface="宋体" panose="02010600030101010101" pitchFamily="2" charset="-122"/>
              </a:rPr>
              <a:t>化工</a:t>
            </a:r>
          </a:p>
        </p:txBody>
      </p:sp>
      <p:sp>
        <p:nvSpPr>
          <p:cNvPr id="6155" name="WordArt 13"/>
          <p:cNvSpPr>
            <a:spLocks noChangeArrowheads="1" noChangeShapeType="1" noTextEdit="1"/>
          </p:cNvSpPr>
          <p:nvPr/>
        </p:nvSpPr>
        <p:spPr bwMode="auto">
          <a:xfrm>
            <a:off x="2743200" y="4635500"/>
            <a:ext cx="704850" cy="35242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zh-CN" altLang="en-US" sz="2800" i="1" kern="10">
                <a:ln w="9525" cap="rnd">
                  <a:solidFill>
                    <a:srgbClr val="FFCC00"/>
                  </a:solidFill>
                  <a:prstDash val="sysDot"/>
                  <a:round/>
                  <a:headEnd/>
                  <a:tailEnd/>
                </a:ln>
                <a:solidFill>
                  <a:srgbClr val="FFFFFF"/>
                </a:solidFill>
                <a:effectLst>
                  <a:outerShdw dist="35921" dir="2700000" algn="ctr" rotWithShape="0">
                    <a:srgbClr val="808080"/>
                  </a:outerShdw>
                </a:effectLst>
                <a:latin typeface="宋体" panose="02010600030101010101" pitchFamily="2" charset="-122"/>
              </a:rPr>
              <a:t>核能</a:t>
            </a:r>
          </a:p>
        </p:txBody>
      </p:sp>
      <p:sp>
        <p:nvSpPr>
          <p:cNvPr id="6156" name="WordArt 14"/>
          <p:cNvSpPr>
            <a:spLocks noChangeArrowheads="1" noChangeShapeType="1" noTextEdit="1"/>
          </p:cNvSpPr>
          <p:nvPr/>
        </p:nvSpPr>
        <p:spPr bwMode="auto">
          <a:xfrm>
            <a:off x="3862388" y="4806950"/>
            <a:ext cx="704850" cy="35242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zh-CN" altLang="en-US" sz="2800" i="1" kern="10">
                <a:ln w="9525" cap="rnd">
                  <a:solidFill>
                    <a:srgbClr val="FFCC00"/>
                  </a:solidFill>
                  <a:prstDash val="sysDot"/>
                  <a:round/>
                  <a:headEnd/>
                  <a:tailEnd/>
                </a:ln>
                <a:solidFill>
                  <a:srgbClr val="FFFFFF"/>
                </a:solidFill>
                <a:effectLst>
                  <a:outerShdw dist="35921" dir="2700000" algn="ctr" rotWithShape="0">
                    <a:srgbClr val="808080"/>
                  </a:outerShdw>
                </a:effectLst>
                <a:latin typeface="宋体" panose="02010600030101010101" pitchFamily="2" charset="-122"/>
              </a:rPr>
              <a:t>医药</a:t>
            </a:r>
          </a:p>
        </p:txBody>
      </p:sp>
      <p:sp>
        <p:nvSpPr>
          <p:cNvPr id="6157" name="WordArt 15"/>
          <p:cNvSpPr>
            <a:spLocks noChangeArrowheads="1" noChangeShapeType="1" noTextEdit="1"/>
          </p:cNvSpPr>
          <p:nvPr/>
        </p:nvSpPr>
        <p:spPr bwMode="auto">
          <a:xfrm>
            <a:off x="6094413" y="1639888"/>
            <a:ext cx="704850" cy="35242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zh-CN" altLang="en-US" sz="2800" i="1" kern="10">
                <a:ln w="9525" cap="rnd">
                  <a:solidFill>
                    <a:srgbClr val="FFCC00"/>
                  </a:solidFill>
                  <a:prstDash val="sysDot"/>
                  <a:round/>
                  <a:headEnd/>
                  <a:tailEnd/>
                </a:ln>
                <a:solidFill>
                  <a:srgbClr val="FFFFFF"/>
                </a:solidFill>
                <a:effectLst>
                  <a:outerShdw dist="35921" dir="2700000" algn="ctr" rotWithShape="0">
                    <a:srgbClr val="808080"/>
                  </a:outerShdw>
                </a:effectLst>
                <a:latin typeface="宋体" panose="02010600030101010101" pitchFamily="2" charset="-122"/>
              </a:rPr>
              <a:t>环境</a:t>
            </a:r>
          </a:p>
        </p:txBody>
      </p:sp>
      <p:graphicFrame>
        <p:nvGraphicFramePr>
          <p:cNvPr id="6158" name="Object 17"/>
          <p:cNvGraphicFramePr>
            <a:graphicFrameLocks/>
          </p:cNvGraphicFramePr>
          <p:nvPr/>
        </p:nvGraphicFramePr>
        <p:xfrm>
          <a:off x="6307138" y="3089275"/>
          <a:ext cx="1619250" cy="1150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024" name="Photo Editor 照片" r:id="rId16" imgW="1333333" imgH="1181265" progId="MSPhotoEd.3">
                  <p:embed/>
                </p:oleObj>
              </mc:Choice>
              <mc:Fallback>
                <p:oleObj name="Photo Editor 照片" r:id="rId16" imgW="1333333" imgH="1181265" progId="MSPhotoEd.3">
                  <p:embed/>
                  <p:pic>
                    <p:nvPicPr>
                      <p:cNvPr id="6158" name="Object 17"/>
                      <p:cNvPicPr>
                        <a:picLocks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07138" y="3089275"/>
                        <a:ext cx="1619250" cy="1150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59" name="WordArt 18"/>
          <p:cNvSpPr>
            <a:spLocks noChangeArrowheads="1" noChangeShapeType="1" noTextEdit="1"/>
          </p:cNvSpPr>
          <p:nvPr/>
        </p:nvSpPr>
        <p:spPr bwMode="auto">
          <a:xfrm>
            <a:off x="6307138" y="3127375"/>
            <a:ext cx="704850" cy="35242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zh-CN" altLang="en-US" sz="2800" i="1" kern="10">
                <a:ln w="9525" cap="rnd">
                  <a:solidFill>
                    <a:srgbClr val="FFCC00"/>
                  </a:solidFill>
                  <a:prstDash val="sysDot"/>
                  <a:round/>
                  <a:headEnd/>
                  <a:tailEnd/>
                </a:ln>
                <a:solidFill>
                  <a:srgbClr val="FFFFFF"/>
                </a:solidFill>
                <a:effectLst>
                  <a:outerShdw dist="35921" dir="2700000" algn="ctr" rotWithShape="0">
                    <a:srgbClr val="808080"/>
                  </a:outerShdw>
                </a:effectLst>
                <a:latin typeface="宋体" panose="02010600030101010101" pitchFamily="2" charset="-122"/>
              </a:rPr>
              <a:t>材料</a:t>
            </a:r>
          </a:p>
        </p:txBody>
      </p:sp>
      <p:graphicFrame>
        <p:nvGraphicFramePr>
          <p:cNvPr id="6160" name="Object 19"/>
          <p:cNvGraphicFramePr>
            <a:graphicFrameLocks/>
          </p:cNvGraphicFramePr>
          <p:nvPr/>
        </p:nvGraphicFramePr>
        <p:xfrm>
          <a:off x="3783013" y="1416050"/>
          <a:ext cx="1619250" cy="1150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025" name="Photo Editor 照片" r:id="rId18" imgW="1333333" imgH="1247619" progId="MSPhotoEd.3">
                  <p:embed/>
                </p:oleObj>
              </mc:Choice>
              <mc:Fallback>
                <p:oleObj name="Photo Editor 照片" r:id="rId18" imgW="1333333" imgH="1247619" progId="MSPhotoEd.3">
                  <p:embed/>
                  <p:pic>
                    <p:nvPicPr>
                      <p:cNvPr id="6160" name="Object 19"/>
                      <p:cNvPicPr>
                        <a:picLocks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83013" y="1416050"/>
                        <a:ext cx="1619250" cy="1150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61" name="WordArt 20"/>
          <p:cNvSpPr>
            <a:spLocks noChangeArrowheads="1" noChangeShapeType="1" noTextEdit="1"/>
          </p:cNvSpPr>
          <p:nvPr/>
        </p:nvSpPr>
        <p:spPr bwMode="auto">
          <a:xfrm>
            <a:off x="3771900" y="1390650"/>
            <a:ext cx="704850" cy="35242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zh-CN" altLang="en-US" sz="2800" i="1" kern="10">
                <a:ln w="9525" cap="rnd">
                  <a:solidFill>
                    <a:srgbClr val="FFCC00"/>
                  </a:solidFill>
                  <a:prstDash val="sysDot"/>
                  <a:round/>
                  <a:headEnd/>
                  <a:tailEnd/>
                </a:ln>
                <a:solidFill>
                  <a:srgbClr val="FFFFFF"/>
                </a:solidFill>
                <a:effectLst>
                  <a:outerShdw dist="35921" dir="2700000" algn="ctr" rotWithShape="0">
                    <a:srgbClr val="808080"/>
                  </a:outerShdw>
                </a:effectLst>
                <a:latin typeface="宋体" panose="02010600030101010101" pitchFamily="2" charset="-122"/>
              </a:rPr>
              <a:t>食品</a:t>
            </a:r>
          </a:p>
        </p:txBody>
      </p:sp>
      <p:graphicFrame>
        <p:nvGraphicFramePr>
          <p:cNvPr id="6162" name="Object 21"/>
          <p:cNvGraphicFramePr>
            <a:graphicFrameLocks noChangeAspect="1"/>
          </p:cNvGraphicFramePr>
          <p:nvPr/>
        </p:nvGraphicFramePr>
        <p:xfrm>
          <a:off x="4191000" y="3919538"/>
          <a:ext cx="906463" cy="493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026" name="Flash Movie" r:id="rId20" imgW="906840" imgH="493920" progId="Flash.Movie">
                  <p:embed/>
                </p:oleObj>
              </mc:Choice>
              <mc:Fallback>
                <p:oleObj name="Flash Movie" r:id="rId20" imgW="906840" imgH="493920" progId="Flash.Movie">
                  <p:embed/>
                  <p:pic>
                    <p:nvPicPr>
                      <p:cNvPr id="6162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1000" y="3919538"/>
                        <a:ext cx="906463" cy="493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63" name="Object 22"/>
          <p:cNvGraphicFramePr>
            <a:graphicFrameLocks noChangeAspect="1"/>
          </p:cNvGraphicFramePr>
          <p:nvPr/>
        </p:nvGraphicFramePr>
        <p:xfrm>
          <a:off x="4229100" y="3127375"/>
          <a:ext cx="906463" cy="493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027" name="Flash Movie" r:id="rId21" imgW="906840" imgH="493920" progId="Flash.Movie">
                  <p:embed/>
                </p:oleObj>
              </mc:Choice>
              <mc:Fallback>
                <p:oleObj name="Flash Movie" r:id="rId21" imgW="906840" imgH="493920" progId="Flash.Movie">
                  <p:embed/>
                  <p:pic>
                    <p:nvPicPr>
                      <p:cNvPr id="6163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29100" y="3127375"/>
                        <a:ext cx="906463" cy="493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64" name="Text Box 5"/>
          <p:cNvSpPr txBox="1">
            <a:spLocks noChangeArrowheads="1"/>
          </p:cNvSpPr>
          <p:nvPr/>
        </p:nvSpPr>
        <p:spPr bwMode="auto">
          <a:xfrm>
            <a:off x="2050256" y="515028"/>
            <a:ext cx="5264150" cy="769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kumimoji="1" lang="zh-CN" altLang="en-US" sz="4400" dirty="0">
                <a:latin typeface="黑体" panose="02010609060101010101" pitchFamily="49" charset="-122"/>
                <a:ea typeface="黑体" panose="02010609060101010101" pitchFamily="49" charset="-122"/>
              </a:rPr>
              <a:t>化学工程的应用领域</a:t>
            </a:r>
          </a:p>
        </p:txBody>
      </p:sp>
      <p:pic>
        <p:nvPicPr>
          <p:cNvPr id="6165" name="图片 1"/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4563" y="4768850"/>
            <a:ext cx="1835150" cy="1122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66" name="WordArt 16"/>
          <p:cNvSpPr>
            <a:spLocks noChangeArrowheads="1" noChangeShapeType="1" noTextEdit="1"/>
          </p:cNvSpPr>
          <p:nvPr/>
        </p:nvSpPr>
        <p:spPr bwMode="auto">
          <a:xfrm>
            <a:off x="6094413" y="4806950"/>
            <a:ext cx="704850" cy="35242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zh-CN" altLang="en-US" sz="2800" i="1" kern="10">
                <a:ln w="9525" cap="rnd">
                  <a:solidFill>
                    <a:srgbClr val="FFCC00"/>
                  </a:solidFill>
                  <a:prstDash val="sysDot"/>
                  <a:round/>
                  <a:headEnd/>
                  <a:tailEnd/>
                </a:ln>
                <a:solidFill>
                  <a:srgbClr val="FFFFFF"/>
                </a:solidFill>
                <a:effectLst>
                  <a:outerShdw dist="35921" dir="2700000" algn="ctr" rotWithShape="0">
                    <a:srgbClr val="808080"/>
                  </a:outerShdw>
                </a:effectLst>
                <a:latin typeface="宋体" panose="02010600030101010101" pitchFamily="2" charset="-122"/>
              </a:rPr>
              <a:t>电子</a:t>
            </a:r>
          </a:p>
        </p:txBody>
      </p:sp>
    </p:spTree>
    <p:extLst>
      <p:ext uri="{BB962C8B-B14F-4D97-AF65-F5344CB8AC3E}">
        <p14:creationId xmlns:p14="http://schemas.microsoft.com/office/powerpoint/2010/main" val="15657915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ext Box 2"/>
          <p:cNvSpPr txBox="1">
            <a:spLocks noChangeArrowheads="1"/>
          </p:cNvSpPr>
          <p:nvPr/>
        </p:nvSpPr>
        <p:spPr bwMode="auto">
          <a:xfrm>
            <a:off x="1658937" y="836712"/>
            <a:ext cx="5826125" cy="769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kumimoji="1" lang="zh-CN" altLang="en-US" sz="4400" dirty="0">
                <a:latin typeface="黑体" panose="02010609060101010101" pitchFamily="49" charset="-122"/>
                <a:ea typeface="黑体" panose="02010609060101010101" pitchFamily="49" charset="-122"/>
              </a:rPr>
              <a:t>化学工程的基础和内容</a:t>
            </a:r>
          </a:p>
        </p:txBody>
      </p:sp>
      <p:sp>
        <p:nvSpPr>
          <p:cNvPr id="8195" name="Text Box 3"/>
          <p:cNvSpPr txBox="1">
            <a:spLocks noChangeArrowheads="1"/>
          </p:cNvSpPr>
          <p:nvPr/>
        </p:nvSpPr>
        <p:spPr bwMode="auto">
          <a:xfrm>
            <a:off x="1043608" y="1772816"/>
            <a:ext cx="7419975" cy="4524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kumimoji="1" lang="zh-CN" altLang="en-US" sz="3600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自然科学基础：数学、化学、物理、生物</a:t>
            </a:r>
            <a:r>
              <a:rPr kumimoji="1" lang="zh-CN" altLang="en-US" sz="3600" dirty="0" smtClean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等</a:t>
            </a:r>
            <a:endParaRPr kumimoji="1" lang="en-US" altLang="zh-CN" sz="3600" dirty="0" smtClean="0">
              <a:solidFill>
                <a:srgbClr val="00206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kumimoji="1" lang="zh-CN" altLang="en-US" sz="3600" dirty="0">
              <a:solidFill>
                <a:srgbClr val="00206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kumimoji="1" lang="zh-CN" altLang="en-US" sz="3600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工程科学基础：化工热力学、</a:t>
            </a:r>
            <a:r>
              <a:rPr kumimoji="1" lang="zh-CN" altLang="en-US" sz="3600" dirty="0" smtClean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传递过程原理等</a:t>
            </a:r>
            <a:endParaRPr kumimoji="1" lang="en-US" altLang="zh-CN" sz="3600" dirty="0" smtClean="0">
              <a:solidFill>
                <a:srgbClr val="00206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kumimoji="1" lang="en-US" altLang="zh-CN" sz="3600" dirty="0">
              <a:solidFill>
                <a:srgbClr val="00206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kumimoji="1" lang="zh-CN" altLang="en-US" sz="3600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二级学科：分离工程、反应工程、化工系统工程</a:t>
            </a:r>
            <a:r>
              <a:rPr kumimoji="1" lang="zh-CN" altLang="en-US" sz="3600" dirty="0" smtClean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等</a:t>
            </a:r>
            <a:endParaRPr kumimoji="1" lang="zh-CN" altLang="en-US" sz="3600" dirty="0">
              <a:solidFill>
                <a:srgbClr val="00206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641398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矩形 5"/>
          <p:cNvSpPr>
            <a:spLocks noChangeArrowheads="1"/>
          </p:cNvSpPr>
          <p:nvPr/>
        </p:nvSpPr>
        <p:spPr bwMode="auto">
          <a:xfrm>
            <a:off x="868263" y="1796286"/>
            <a:ext cx="7704335" cy="20621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</a:rPr>
              <a:t>前身为化学工程联合国家重点实验室，依托清华大学、天津大学、华东理工大学和</a:t>
            </a:r>
            <a:r>
              <a:rPr lang="zh-CN" altLang="en-US" sz="32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浙江大学，于</a:t>
            </a:r>
            <a:r>
              <a:rPr lang="en-US" altLang="zh-CN" sz="32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1991</a:t>
            </a:r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</a:rPr>
              <a:t>年</a:t>
            </a:r>
            <a:r>
              <a:rPr lang="en-US" altLang="zh-CN" sz="3200" dirty="0">
                <a:latin typeface="黑体" panose="02010609060101010101" pitchFamily="49" charset="-122"/>
                <a:ea typeface="黑体" panose="02010609060101010101" pitchFamily="49" charset="-122"/>
              </a:rPr>
              <a:t>4</a:t>
            </a:r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</a:rPr>
              <a:t>月建成并开放</a:t>
            </a:r>
            <a:r>
              <a:rPr lang="zh-CN" altLang="en-US" sz="32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运行，</a:t>
            </a:r>
            <a:r>
              <a:rPr lang="en-US" altLang="zh-CN" sz="32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2025</a:t>
            </a:r>
            <a:r>
              <a:rPr lang="zh-CN" altLang="en-US" sz="32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年重组</a:t>
            </a:r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</a:rPr>
              <a:t>为全国重点实验室。</a:t>
            </a:r>
          </a:p>
        </p:txBody>
      </p:sp>
      <p:sp>
        <p:nvSpPr>
          <p:cNvPr id="9219" name="矩形 6"/>
          <p:cNvSpPr>
            <a:spLocks noChangeArrowheads="1"/>
          </p:cNvSpPr>
          <p:nvPr/>
        </p:nvSpPr>
        <p:spPr bwMode="auto">
          <a:xfrm>
            <a:off x="2267744" y="584536"/>
            <a:ext cx="4392613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36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化学工程与低</a:t>
            </a:r>
            <a:r>
              <a:rPr kumimoji="1" lang="zh-CN" altLang="en-US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碳技术</a:t>
            </a:r>
            <a:endParaRPr kumimoji="1" lang="en-US" altLang="zh-CN" sz="3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 eaLnBrk="1" hangingPunct="1"/>
            <a:r>
              <a:rPr kumimoji="1" lang="zh-CN" altLang="en-US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全国重点实验室</a:t>
            </a:r>
            <a:endParaRPr lang="zh-CN" altLang="en-US" sz="3600" dirty="0"/>
          </a:p>
        </p:txBody>
      </p:sp>
      <p:sp>
        <p:nvSpPr>
          <p:cNvPr id="9220" name="Text Box 13"/>
          <p:cNvSpPr txBox="1">
            <a:spLocks noChangeArrowheads="1"/>
          </p:cNvSpPr>
          <p:nvPr/>
        </p:nvSpPr>
        <p:spPr bwMode="auto">
          <a:xfrm>
            <a:off x="1063623" y="4221088"/>
            <a:ext cx="7313613" cy="2308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kumimoji="1" lang="en-US" altLang="zh-CN" sz="3600" dirty="0" smtClean="0">
                <a:latin typeface="Times New Roman" panose="02020603050405020304" pitchFamily="18" charset="0"/>
              </a:rPr>
              <a:t>60</a:t>
            </a:r>
            <a:r>
              <a:rPr kumimoji="1" lang="zh-CN" altLang="en-US" sz="3600" dirty="0">
                <a:latin typeface="Times New Roman" panose="02020603050405020304" pitchFamily="18" charset="0"/>
              </a:rPr>
              <a:t>多年的</a:t>
            </a:r>
            <a:r>
              <a:rPr kumimoji="1" lang="zh-CN" altLang="en-US" sz="3600" dirty="0" smtClean="0">
                <a:latin typeface="Times New Roman" panose="02020603050405020304" pitchFamily="18" charset="0"/>
              </a:rPr>
              <a:t>历史</a:t>
            </a:r>
            <a:endParaRPr kumimoji="1" lang="en-US" altLang="zh-CN" sz="3600" dirty="0" smtClean="0">
              <a:latin typeface="Times New Roman" panose="02020603050405020304" pitchFamily="18" charset="0"/>
            </a:endParaRPr>
          </a:p>
          <a:p>
            <a:endParaRPr kumimoji="1" lang="en-US" altLang="zh-CN" sz="3600" dirty="0" smtClean="0">
              <a:latin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zh-CN" altLang="en-US" sz="3600" dirty="0" smtClean="0">
                <a:latin typeface="Times New Roman" panose="02020603050405020304" pitchFamily="18" charset="0"/>
              </a:rPr>
              <a:t>分离工程的</a:t>
            </a:r>
            <a:r>
              <a:rPr lang="zh-CN" altLang="en-US" sz="3600" dirty="0">
                <a:latin typeface="Times New Roman" panose="02020603050405020304" pitchFamily="18" charset="0"/>
              </a:rPr>
              <a:t>重大贡献</a:t>
            </a:r>
            <a:endParaRPr lang="zh-CN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kumimoji="1" lang="en-US" altLang="zh-CN" sz="3600" dirty="0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95350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 Box 2"/>
          <p:cNvSpPr txBox="1">
            <a:spLocks noChangeArrowheads="1"/>
          </p:cNvSpPr>
          <p:nvPr/>
        </p:nvSpPr>
        <p:spPr bwMode="auto">
          <a:xfrm>
            <a:off x="721937" y="483395"/>
            <a:ext cx="7885112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kumimoji="1" lang="zh-CN" altLang="en-US" sz="3600" dirty="0">
                <a:latin typeface="黑体" panose="02010609060101010101" pitchFamily="49" charset="-122"/>
                <a:ea typeface="黑体" panose="02010609060101010101" pitchFamily="49" charset="-122"/>
              </a:rPr>
              <a:t>分离技术：液</a:t>
            </a:r>
            <a:r>
              <a:rPr kumimoji="1" lang="en-US" altLang="zh-CN" sz="3600" dirty="0">
                <a:latin typeface="黑体" panose="02010609060101010101" pitchFamily="49" charset="-122"/>
                <a:ea typeface="黑体" panose="02010609060101010101" pitchFamily="49" charset="-122"/>
              </a:rPr>
              <a:t>-</a:t>
            </a:r>
            <a:r>
              <a:rPr kumimoji="1" lang="zh-CN" altLang="en-US" sz="3600" dirty="0">
                <a:latin typeface="黑体" panose="02010609060101010101" pitchFamily="49" charset="-122"/>
                <a:ea typeface="黑体" panose="02010609060101010101" pitchFamily="49" charset="-122"/>
              </a:rPr>
              <a:t>液萃取</a:t>
            </a:r>
          </a:p>
        </p:txBody>
      </p:sp>
      <p:pic>
        <p:nvPicPr>
          <p:cNvPr id="10243" name="Picture 3" descr="脉冲萃取塔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1679" y="1669257"/>
            <a:ext cx="1655763" cy="367188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0244" name="Object 5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985838" y="4508500"/>
          <a:ext cx="1871662" cy="1395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80" name="位图图像" r:id="rId5" imgW="1533739" imgH="1142857" progId="Paint.Picture">
                  <p:embed/>
                </p:oleObj>
              </mc:Choice>
              <mc:Fallback>
                <p:oleObj name="位图图像" r:id="rId5" imgW="1533739" imgH="1142857" progId="Paint.Picture">
                  <p:embed/>
                  <p:pic>
                    <p:nvPicPr>
                      <p:cNvPr id="10244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85838" y="4508500"/>
                        <a:ext cx="1871662" cy="1395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5" name="Line 6"/>
          <p:cNvSpPr>
            <a:spLocks noChangeShapeType="1"/>
          </p:cNvSpPr>
          <p:nvPr/>
        </p:nvSpPr>
        <p:spPr bwMode="auto">
          <a:xfrm>
            <a:off x="2497138" y="3630613"/>
            <a:ext cx="1296987" cy="590550"/>
          </a:xfrm>
          <a:prstGeom prst="line">
            <a:avLst/>
          </a:prstGeom>
          <a:noFill/>
          <a:ln w="38100">
            <a:solidFill>
              <a:srgbClr val="FF99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46" name="Text Box 7"/>
          <p:cNvSpPr txBox="1">
            <a:spLocks noChangeArrowheads="1"/>
          </p:cNvSpPr>
          <p:nvPr/>
        </p:nvSpPr>
        <p:spPr bwMode="auto">
          <a:xfrm>
            <a:off x="179388" y="3429000"/>
            <a:ext cx="231775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zh-CN" altLang="en-US" sz="2400" dirty="0">
                <a:solidFill>
                  <a:schemeClr val="accent1"/>
                </a:solidFill>
                <a:latin typeface="Times New Roman" panose="02020603050405020304" pitchFamily="18" charset="0"/>
              </a:rPr>
              <a:t>先进的测试手段</a:t>
            </a:r>
          </a:p>
          <a:p>
            <a:r>
              <a:rPr kumimoji="1" lang="zh-CN" altLang="en-US" sz="2000" dirty="0">
                <a:latin typeface="Times New Roman" panose="02020603050405020304" pitchFamily="18" charset="0"/>
              </a:rPr>
              <a:t>红外光纤原位测量</a:t>
            </a:r>
          </a:p>
          <a:p>
            <a:r>
              <a:rPr kumimoji="1" lang="en-US" altLang="zh-CN" sz="2000" dirty="0">
                <a:latin typeface="Times New Roman" panose="02020603050405020304" pitchFamily="18" charset="0"/>
              </a:rPr>
              <a:t>PIV</a:t>
            </a:r>
            <a:r>
              <a:rPr kumimoji="1" lang="zh-CN" altLang="en-US" sz="2000" dirty="0">
                <a:latin typeface="Times New Roman" panose="02020603050405020304" pitchFamily="18" charset="0"/>
              </a:rPr>
              <a:t>，</a:t>
            </a:r>
            <a:r>
              <a:rPr kumimoji="1" lang="en-US" altLang="zh-CN" sz="2000" dirty="0">
                <a:latin typeface="Times New Roman" panose="02020603050405020304" pitchFamily="18" charset="0"/>
              </a:rPr>
              <a:t>LDV</a:t>
            </a:r>
            <a:r>
              <a:rPr kumimoji="1" lang="zh-CN" altLang="en-US" sz="2000" dirty="0">
                <a:latin typeface="Times New Roman" panose="02020603050405020304" pitchFamily="18" charset="0"/>
              </a:rPr>
              <a:t>测速</a:t>
            </a:r>
          </a:p>
        </p:txBody>
      </p:sp>
      <p:sp>
        <p:nvSpPr>
          <p:cNvPr id="10247" name="Line 8"/>
          <p:cNvSpPr>
            <a:spLocks noChangeShapeType="1"/>
          </p:cNvSpPr>
          <p:nvPr/>
        </p:nvSpPr>
        <p:spPr bwMode="auto">
          <a:xfrm flipH="1">
            <a:off x="4117975" y="1341438"/>
            <a:ext cx="2195513" cy="935037"/>
          </a:xfrm>
          <a:prstGeom prst="line">
            <a:avLst/>
          </a:prstGeom>
          <a:noFill/>
          <a:ln w="38100">
            <a:solidFill>
              <a:srgbClr val="FF99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48" name="Text Box 9"/>
          <p:cNvSpPr txBox="1">
            <a:spLocks noChangeArrowheads="1"/>
          </p:cNvSpPr>
          <p:nvPr/>
        </p:nvSpPr>
        <p:spPr bwMode="auto">
          <a:xfrm>
            <a:off x="6268661" y="1061806"/>
            <a:ext cx="2338388" cy="138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zh-CN" altLang="en-US" sz="2400" dirty="0">
                <a:solidFill>
                  <a:schemeClr val="accent1"/>
                </a:solidFill>
                <a:latin typeface="Times New Roman" panose="02020603050405020304" pitchFamily="18" charset="0"/>
              </a:rPr>
              <a:t>高效的萃取设备</a:t>
            </a:r>
          </a:p>
          <a:p>
            <a:r>
              <a:rPr kumimoji="1" lang="zh-CN" altLang="en-US" sz="2000" dirty="0">
                <a:latin typeface="Times New Roman" panose="02020603050405020304" pitchFamily="18" charset="0"/>
              </a:rPr>
              <a:t>分散聚合型脉冲塔</a:t>
            </a:r>
          </a:p>
          <a:p>
            <a:r>
              <a:rPr kumimoji="1" lang="zh-CN" altLang="en-US" sz="2000" dirty="0">
                <a:latin typeface="Times New Roman" panose="02020603050405020304" pitchFamily="18" charset="0"/>
              </a:rPr>
              <a:t>扁环填料</a:t>
            </a:r>
          </a:p>
          <a:p>
            <a:r>
              <a:rPr kumimoji="1" lang="zh-CN" altLang="en-US" sz="2000" dirty="0">
                <a:latin typeface="Times New Roman" panose="02020603050405020304" pitchFamily="18" charset="0"/>
              </a:rPr>
              <a:t>新型转盘塔</a:t>
            </a:r>
            <a:endParaRPr kumimoji="1" lang="en-US" altLang="zh-CN" sz="2000" dirty="0">
              <a:latin typeface="Times New Roman" panose="02020603050405020304" pitchFamily="18" charset="0"/>
            </a:endParaRPr>
          </a:p>
        </p:txBody>
      </p:sp>
      <p:sp>
        <p:nvSpPr>
          <p:cNvPr id="10249" name="Line 10"/>
          <p:cNvSpPr>
            <a:spLocks noChangeShapeType="1"/>
          </p:cNvSpPr>
          <p:nvPr/>
        </p:nvSpPr>
        <p:spPr bwMode="auto">
          <a:xfrm>
            <a:off x="2281238" y="1557338"/>
            <a:ext cx="1512887" cy="1584325"/>
          </a:xfrm>
          <a:prstGeom prst="line">
            <a:avLst/>
          </a:prstGeom>
          <a:noFill/>
          <a:ln w="38100">
            <a:solidFill>
              <a:srgbClr val="FF99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50" name="Line 11"/>
          <p:cNvSpPr>
            <a:spLocks noChangeShapeType="1"/>
          </p:cNvSpPr>
          <p:nvPr/>
        </p:nvSpPr>
        <p:spPr bwMode="auto">
          <a:xfrm>
            <a:off x="2354263" y="1565275"/>
            <a:ext cx="1439862" cy="360363"/>
          </a:xfrm>
          <a:prstGeom prst="line">
            <a:avLst/>
          </a:prstGeom>
          <a:noFill/>
          <a:ln w="38100">
            <a:solidFill>
              <a:srgbClr val="FF99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51" name="Text Box 12"/>
          <p:cNvSpPr txBox="1">
            <a:spLocks noChangeArrowheads="1"/>
          </p:cNvSpPr>
          <p:nvPr/>
        </p:nvSpPr>
        <p:spPr bwMode="auto">
          <a:xfrm>
            <a:off x="313531" y="1193800"/>
            <a:ext cx="231775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zh-CN" altLang="en-US" sz="2400" dirty="0">
                <a:solidFill>
                  <a:schemeClr val="accent1"/>
                </a:solidFill>
                <a:latin typeface="Times New Roman" panose="02020603050405020304" pitchFamily="18" charset="0"/>
              </a:rPr>
              <a:t>先进的测试方法</a:t>
            </a:r>
          </a:p>
          <a:p>
            <a:r>
              <a:rPr kumimoji="1" lang="zh-CN" altLang="en-US" sz="2000" dirty="0">
                <a:latin typeface="Times New Roman" panose="02020603050405020304" pitchFamily="18" charset="0"/>
              </a:rPr>
              <a:t>单点动态法</a:t>
            </a:r>
          </a:p>
          <a:p>
            <a:r>
              <a:rPr kumimoji="1" lang="zh-CN" altLang="en-US" sz="2000" dirty="0">
                <a:latin typeface="Times New Roman" panose="02020603050405020304" pitchFamily="18" charset="0"/>
              </a:rPr>
              <a:t>两点动态法</a:t>
            </a:r>
          </a:p>
          <a:p>
            <a:r>
              <a:rPr kumimoji="1" lang="zh-CN" altLang="en-US" sz="2000" dirty="0">
                <a:latin typeface="Times New Roman" panose="02020603050405020304" pitchFamily="18" charset="0"/>
              </a:rPr>
              <a:t>稳态浓度剖面法</a:t>
            </a:r>
          </a:p>
        </p:txBody>
      </p:sp>
      <p:sp>
        <p:nvSpPr>
          <p:cNvPr id="10252" name="Text Box 14"/>
          <p:cNvSpPr txBox="1">
            <a:spLocks noChangeArrowheads="1"/>
          </p:cNvSpPr>
          <p:nvPr/>
        </p:nvSpPr>
        <p:spPr bwMode="auto">
          <a:xfrm>
            <a:off x="6602413" y="4221163"/>
            <a:ext cx="231775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zh-CN" altLang="en-US" sz="2400" dirty="0">
                <a:solidFill>
                  <a:schemeClr val="accent1"/>
                </a:solidFill>
                <a:latin typeface="Times New Roman" panose="02020603050405020304" pitchFamily="18" charset="0"/>
              </a:rPr>
              <a:t>可靠的数学模型</a:t>
            </a:r>
          </a:p>
          <a:p>
            <a:r>
              <a:rPr kumimoji="1" lang="zh-CN" altLang="en-US" sz="2000" dirty="0">
                <a:latin typeface="Times New Roman" panose="02020603050405020304" pitchFamily="18" charset="0"/>
              </a:rPr>
              <a:t>轴向扩散模型</a:t>
            </a:r>
          </a:p>
          <a:p>
            <a:r>
              <a:rPr kumimoji="1" lang="zh-CN" altLang="en-US" sz="2000" dirty="0">
                <a:latin typeface="Times New Roman" panose="02020603050405020304" pitchFamily="18" charset="0"/>
              </a:rPr>
              <a:t>返流模型</a:t>
            </a:r>
          </a:p>
          <a:p>
            <a:r>
              <a:rPr kumimoji="1" lang="zh-CN" altLang="en-US" sz="2000" dirty="0">
                <a:latin typeface="Times New Roman" panose="02020603050405020304" pitchFamily="18" charset="0"/>
              </a:rPr>
              <a:t>前混模型</a:t>
            </a:r>
          </a:p>
        </p:txBody>
      </p:sp>
      <p:graphicFrame>
        <p:nvGraphicFramePr>
          <p:cNvPr id="10253" name="Object 15"/>
          <p:cNvGraphicFramePr>
            <a:graphicFrameLocks noChangeAspect="1"/>
          </p:cNvGraphicFramePr>
          <p:nvPr/>
        </p:nvGraphicFramePr>
        <p:xfrm>
          <a:off x="4873625" y="4652963"/>
          <a:ext cx="1752600" cy="1333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81" name="位图图像" r:id="rId7" imgW="1752381" imgH="1333333" progId="Paint.Picture">
                  <p:embed/>
                </p:oleObj>
              </mc:Choice>
              <mc:Fallback>
                <p:oleObj name="位图图像" r:id="rId7" imgW="1752381" imgH="1333333" progId="Paint.Picture">
                  <p:embed/>
                  <p:pic>
                    <p:nvPicPr>
                      <p:cNvPr id="10253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3625" y="4652963"/>
                        <a:ext cx="1752600" cy="1333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254" name="Picture 9" descr="pulse2"/>
          <p:cNvPicPr>
            <a:picLocks noChangeAspect="1" noChangeArrowheads="1" noCrop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8088" y="2400300"/>
            <a:ext cx="928687" cy="1427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55" name="Picture 4" descr="smr015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6775" y="2400300"/>
            <a:ext cx="1119188" cy="741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56" name="Picture 8" descr="qh2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72413" y="2401888"/>
            <a:ext cx="463550" cy="327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57" name="Rectangle 7" descr="104-0432_IMG"/>
          <p:cNvSpPr>
            <a:spLocks noGrp="1" noChangeAspect="1" noChangeArrowheads="1"/>
          </p:cNvSpPr>
          <p:nvPr/>
        </p:nvSpPr>
        <p:spPr bwMode="auto">
          <a:xfrm>
            <a:off x="7216775" y="3124200"/>
            <a:ext cx="1119188" cy="703263"/>
          </a:xfrm>
          <a:prstGeom prst="rect">
            <a:avLst/>
          </a:prstGeom>
          <a:blipFill dpi="0" rotWithShape="1">
            <a:blip r:embed="rId12"/>
            <a:srcRect/>
            <a:stretch>
              <a:fillRect/>
            </a:stretch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53179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ext Box 2"/>
          <p:cNvSpPr txBox="1">
            <a:spLocks noChangeArrowheads="1"/>
          </p:cNvSpPr>
          <p:nvPr/>
        </p:nvSpPr>
        <p:spPr bwMode="auto">
          <a:xfrm>
            <a:off x="1043608" y="860771"/>
            <a:ext cx="6913563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kumimoji="1" lang="zh-CN" altLang="en-US" sz="3600" dirty="0">
                <a:latin typeface="Times New Roman" panose="02020603050405020304" pitchFamily="18" charset="0"/>
                <a:ea typeface="黑体" panose="02010609060101010101" pitchFamily="49" charset="-122"/>
              </a:rPr>
              <a:t>萃取技术工业应用实例</a:t>
            </a:r>
          </a:p>
        </p:txBody>
      </p:sp>
      <p:sp>
        <p:nvSpPr>
          <p:cNvPr id="11267" name="AutoShape 3"/>
          <p:cNvSpPr>
            <a:spLocks noRot="1" noChangeAspect="1" noMove="1" noResize="1" noChangeArrowheads="1"/>
          </p:cNvSpPr>
          <p:nvPr/>
        </p:nvSpPr>
        <p:spPr bwMode="auto">
          <a:xfrm>
            <a:off x="1881188" y="1443038"/>
            <a:ext cx="5381625" cy="3971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1268" name="Rectangle 4"/>
          <p:cNvSpPr>
            <a:spLocks noChangeArrowheads="1"/>
          </p:cNvSpPr>
          <p:nvPr/>
        </p:nvSpPr>
        <p:spPr bwMode="auto">
          <a:xfrm>
            <a:off x="2552700" y="27051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1269" name="Text Box 5"/>
          <p:cNvSpPr txBox="1">
            <a:spLocks noChangeArrowheads="1"/>
          </p:cNvSpPr>
          <p:nvPr/>
        </p:nvSpPr>
        <p:spPr bwMode="auto">
          <a:xfrm>
            <a:off x="323528" y="2084549"/>
            <a:ext cx="5689600" cy="37856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kumimoji="1"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r>
              <a:rPr kumimoji="1"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r>
              <a:rPr kumimoji="1"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核燃料后处理技术（</a:t>
            </a:r>
            <a:r>
              <a:rPr kumimoji="1"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712</a:t>
            </a:r>
            <a:r>
              <a:rPr kumimoji="1"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工程</a:t>
            </a:r>
            <a:r>
              <a:rPr kumimoji="1" lang="zh-CN" altLang="en-US" sz="20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endParaRPr kumimoji="1" lang="en-US" altLang="zh-CN" sz="2000" b="1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50000"/>
              </a:lnSpc>
            </a:pPr>
            <a:r>
              <a:rPr kumimoji="1" lang="en-US" altLang="zh-CN" sz="20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kumimoji="1"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) </a:t>
            </a:r>
            <a:r>
              <a:rPr kumimoji="1"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己内酰胺萃取精制</a:t>
            </a:r>
            <a:r>
              <a:rPr kumimoji="1"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kumimoji="1"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中石化石家庄</a:t>
            </a:r>
            <a:r>
              <a:rPr kumimoji="1" lang="zh-CN" altLang="en-US" sz="20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分公司）</a:t>
            </a:r>
            <a:r>
              <a:rPr kumimoji="1" lang="en-US" altLang="zh-CN" sz="2000" b="1" dirty="0" smtClean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endParaRPr kumimoji="1" lang="en-US" altLang="zh-CN" sz="2000" b="1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50000"/>
              </a:lnSpc>
            </a:pPr>
            <a:r>
              <a:rPr kumimoji="1" lang="en-US" altLang="zh-CN" sz="2000" b="1" dirty="0">
                <a:solidFill>
                  <a:srgbClr val="FFCC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kumimoji="1"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通过工艺优化实现萃取塔和反萃取塔由</a:t>
            </a:r>
            <a:r>
              <a:rPr kumimoji="1"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5</a:t>
            </a:r>
            <a:r>
              <a:rPr kumimoji="1"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万吨</a:t>
            </a:r>
            <a:r>
              <a:rPr kumimoji="1"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/</a:t>
            </a:r>
            <a:r>
              <a:rPr kumimoji="1"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年增产至</a:t>
            </a:r>
            <a:r>
              <a:rPr kumimoji="1"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6.5</a:t>
            </a:r>
            <a:r>
              <a:rPr kumimoji="1"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万吨</a:t>
            </a:r>
            <a:r>
              <a:rPr kumimoji="1"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/</a:t>
            </a:r>
            <a:r>
              <a:rPr kumimoji="1" lang="zh-CN" altLang="en-US" sz="20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年。</a:t>
            </a:r>
            <a:endParaRPr kumimoji="1" lang="zh-CN" altLang="en-US" sz="20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50000"/>
              </a:lnSpc>
            </a:pPr>
            <a:r>
              <a:rPr kumimoji="1" lang="en-US" altLang="zh-CN" sz="20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c</a:t>
            </a:r>
            <a:r>
              <a:rPr kumimoji="1"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r>
              <a:rPr kumimoji="1" lang="en-US" altLang="zh-CN" sz="2000" b="1" dirty="0">
                <a:latin typeface="Times New Roman" panose="02020603050405020304" pitchFamily="18" charset="0"/>
              </a:rPr>
              <a:t>20</a:t>
            </a:r>
            <a:r>
              <a:rPr kumimoji="1" lang="zh-CN" altLang="en-US" sz="2000" b="1" dirty="0">
                <a:latin typeface="Times New Roman" panose="02020603050405020304" pitchFamily="18" charset="0"/>
              </a:rPr>
              <a:t>万吨</a:t>
            </a:r>
            <a:r>
              <a:rPr kumimoji="1" lang="en-US" altLang="zh-CN" sz="2000" b="1" dirty="0">
                <a:latin typeface="Times New Roman" panose="02020603050405020304" pitchFamily="18" charset="0"/>
              </a:rPr>
              <a:t>/</a:t>
            </a:r>
            <a:r>
              <a:rPr kumimoji="1" lang="zh-CN" altLang="en-US" sz="2000" b="1" dirty="0">
                <a:latin typeface="Times New Roman" panose="02020603050405020304" pitchFamily="18" charset="0"/>
              </a:rPr>
              <a:t>年</a:t>
            </a:r>
            <a:r>
              <a:rPr kumimoji="1"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润滑油糠醛精制</a:t>
            </a:r>
            <a:r>
              <a:rPr kumimoji="1"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kumimoji="1"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中石油独山子炼油厂</a:t>
            </a:r>
            <a:r>
              <a:rPr kumimoji="1"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</a:p>
          <a:p>
            <a:pPr eaLnBrk="1" hangingPunct="1">
              <a:lnSpc>
                <a:spcPct val="150000"/>
              </a:lnSpc>
            </a:pPr>
            <a:r>
              <a:rPr kumimoji="1" lang="en-US" altLang="zh-CN" sz="20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   </a:t>
            </a:r>
            <a:r>
              <a:rPr kumimoji="1" lang="zh-CN" altLang="en-US" sz="20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通过对</a:t>
            </a:r>
            <a:r>
              <a:rPr kumimoji="1"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转盘塔进行改造和工艺优化，精油收率提高</a:t>
            </a:r>
            <a:r>
              <a:rPr kumimoji="1"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1.45%,</a:t>
            </a:r>
            <a:r>
              <a:rPr kumimoji="1"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 生产能力提高</a:t>
            </a:r>
            <a:r>
              <a:rPr kumimoji="1" lang="en-US" altLang="zh-CN" sz="20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20</a:t>
            </a:r>
            <a:r>
              <a:rPr kumimoji="1" lang="zh-CN" altLang="en-US" sz="20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kumimoji="1" lang="zh-CN" altLang="en-US" sz="20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1270" name="Rectangle 6"/>
          <p:cNvSpPr>
            <a:spLocks noChangeArrowheads="1"/>
          </p:cNvSpPr>
          <p:nvPr/>
        </p:nvSpPr>
        <p:spPr bwMode="auto">
          <a:xfrm>
            <a:off x="6665913" y="5101532"/>
            <a:ext cx="1809750" cy="458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50000"/>
              </a:lnSpc>
            </a:pPr>
            <a:r>
              <a:rPr kumimoji="1" lang="zh-CN" altLang="en-US" sz="1600">
                <a:solidFill>
                  <a:schemeClr val="bg1"/>
                </a:solidFill>
              </a:rPr>
              <a:t>己内酰胺精制装置</a:t>
            </a:r>
          </a:p>
        </p:txBody>
      </p:sp>
      <p:pic>
        <p:nvPicPr>
          <p:cNvPr id="11271" name="Picture 7" descr="图片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32190" y="2097043"/>
            <a:ext cx="2803525" cy="374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738157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ChangeArrowheads="1"/>
          </p:cNvSpPr>
          <p:nvPr/>
        </p:nvSpPr>
        <p:spPr bwMode="auto">
          <a:xfrm>
            <a:off x="2627784" y="620688"/>
            <a:ext cx="5111750" cy="515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600" b="1" dirty="0">
                <a:ea typeface="黑体" panose="02010609060101010101" pitchFamily="49" charset="-122"/>
              </a:rPr>
              <a:t>近年主要研究方向</a:t>
            </a:r>
          </a:p>
        </p:txBody>
      </p:sp>
      <p:sp>
        <p:nvSpPr>
          <p:cNvPr id="13315" name="Text Box 4"/>
          <p:cNvSpPr txBox="1">
            <a:spLocks noChangeArrowheads="1"/>
          </p:cNvSpPr>
          <p:nvPr/>
        </p:nvSpPr>
        <p:spPr bwMode="auto">
          <a:xfrm>
            <a:off x="683568" y="1136626"/>
            <a:ext cx="7992888" cy="54784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>
                <a:latin typeface="方正姚体" panose="02010601030101010101" pitchFamily="2" charset="-122"/>
                <a:ea typeface="方正姚体" panose="02010601030101010101" pitchFamily="2" charset="-122"/>
              </a:rPr>
              <a:t>面向能源（油、气、煤和生物质等），矿产资源</a:t>
            </a:r>
            <a:r>
              <a:rPr lang="zh-CN" altLang="en-US" sz="2800" b="1" dirty="0" smtClean="0">
                <a:latin typeface="方正姚体" panose="02010601030101010101" pitchFamily="2" charset="-122"/>
                <a:ea typeface="方正姚体" panose="02010601030101010101" pitchFamily="2" charset="-122"/>
              </a:rPr>
              <a:t>（锂、</a:t>
            </a:r>
            <a:r>
              <a:rPr lang="zh-CN" altLang="en-US" sz="2800" b="1" dirty="0">
                <a:latin typeface="方正姚体" panose="02010601030101010101" pitchFamily="2" charset="-122"/>
                <a:ea typeface="方正姚体" panose="02010601030101010101" pitchFamily="2" charset="-122"/>
              </a:rPr>
              <a:t>稀土、磷等），环境（水、</a:t>
            </a:r>
            <a:r>
              <a:rPr lang="en-US" altLang="zh-CN" sz="2800" b="1" dirty="0">
                <a:latin typeface="方正姚体" panose="02010601030101010101" pitchFamily="2" charset="-122"/>
                <a:ea typeface="方正姚体" panose="02010601030101010101" pitchFamily="2" charset="-122"/>
              </a:rPr>
              <a:t>VOC</a:t>
            </a:r>
            <a:r>
              <a:rPr lang="zh-CN" altLang="en-US" sz="2800" b="1" dirty="0">
                <a:latin typeface="方正姚体" panose="02010601030101010101" pitchFamily="2" charset="-122"/>
                <a:ea typeface="方正姚体" panose="02010601030101010101" pitchFamily="2" charset="-122"/>
              </a:rPr>
              <a:t>、温室气体等）、功能新材料（节能材料</a:t>
            </a:r>
            <a:r>
              <a:rPr lang="zh-CN" altLang="en-US" sz="2800" b="1" dirty="0" smtClean="0">
                <a:latin typeface="方正姚体" panose="02010601030101010101" pitchFamily="2" charset="-122"/>
                <a:ea typeface="方正姚体" panose="02010601030101010101" pitchFamily="2" charset="-122"/>
              </a:rPr>
              <a:t>、储能和电子</a:t>
            </a:r>
            <a:r>
              <a:rPr lang="zh-CN" altLang="en-US" sz="2800" b="1" dirty="0">
                <a:latin typeface="方正姚体" panose="02010601030101010101" pitchFamily="2" charset="-122"/>
                <a:ea typeface="方正姚体" panose="02010601030101010101" pitchFamily="2" charset="-122"/>
              </a:rPr>
              <a:t>材料等）、精细化学品（医药、电子化学品等</a:t>
            </a:r>
            <a:r>
              <a:rPr lang="zh-CN" altLang="en-US" sz="2800" b="1" dirty="0" smtClean="0">
                <a:latin typeface="方正姚体" panose="02010601030101010101" pitchFamily="2" charset="-122"/>
                <a:ea typeface="方正姚体" panose="02010601030101010101" pitchFamily="2" charset="-122"/>
              </a:rPr>
              <a:t>）等领域：</a:t>
            </a:r>
            <a:endParaRPr lang="en-US" altLang="zh-CN" sz="2800" b="1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8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多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相热力学和传递现象</a:t>
            </a:r>
            <a:endParaRPr lang="en-US" altLang="zh-CN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 纳米材料与纳米技术</a:t>
            </a:r>
            <a:endParaRPr lang="en-US" altLang="zh-CN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 微化工系统</a:t>
            </a:r>
          </a:p>
          <a:p>
            <a:pPr eaLnBrk="1" hangingPunct="1">
              <a:lnSpc>
                <a:spcPct val="150000"/>
              </a:lnSpc>
            </a:pP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 超临界流体技术</a:t>
            </a:r>
            <a:endParaRPr lang="en-US" altLang="zh-CN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50000"/>
              </a:lnSpc>
            </a:pPr>
            <a:r>
              <a:rPr kumimoji="1" lang="zh-CN" altLang="en-US" sz="2800" dirty="0">
                <a:latin typeface="Times New Roman" panose="02020603050405020304" pitchFamily="18" charset="0"/>
              </a:rPr>
              <a:t>  </a:t>
            </a:r>
            <a:r>
              <a:rPr kumimoji="1"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温室气体的捕集和</a:t>
            </a:r>
            <a:r>
              <a:rPr kumimoji="1" lang="zh-CN" altLang="en-US" sz="28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资源化</a:t>
            </a:r>
            <a:endParaRPr lang="zh-CN" altLang="en-US" sz="2400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936155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95288" y="620713"/>
            <a:ext cx="8229600" cy="79216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zh-CN" altLang="en-US" dirty="0" smtClean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见习内容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11188" y="1547813"/>
            <a:ext cx="8229600" cy="40354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zh-CN" b="1" dirty="0" smtClean="0"/>
          </a:p>
          <a:p>
            <a:pPr eaLnBrk="1" hangingPunct="1"/>
            <a:r>
              <a:rPr lang="zh-CN" altLang="en-US" b="1" dirty="0" smtClean="0"/>
              <a:t>微化工</a:t>
            </a:r>
            <a:r>
              <a:rPr lang="zh-CN" altLang="en-US" b="1" dirty="0" smtClean="0"/>
              <a:t>系统（</a:t>
            </a:r>
            <a:r>
              <a:rPr lang="en-US" altLang="zh-CN" b="1" dirty="0" smtClean="0"/>
              <a:t>~15</a:t>
            </a:r>
            <a:r>
              <a:rPr lang="zh-CN" altLang="en-US" b="1" dirty="0" smtClean="0"/>
              <a:t>分钟）</a:t>
            </a:r>
            <a:endParaRPr lang="en-US" altLang="zh-CN" b="1" dirty="0" smtClean="0"/>
          </a:p>
          <a:p>
            <a:pPr eaLnBrk="1" hangingPunct="1"/>
            <a:endParaRPr lang="zh-CN" altLang="en-US" b="1" dirty="0" smtClean="0"/>
          </a:p>
          <a:p>
            <a:pPr eaLnBrk="1" hangingPunct="1"/>
            <a:r>
              <a:rPr lang="zh-CN" altLang="en-US" b="1" dirty="0" smtClean="0"/>
              <a:t>超临界流体</a:t>
            </a:r>
            <a:r>
              <a:rPr lang="zh-CN" altLang="en-US" b="1" dirty="0"/>
              <a:t>装置（</a:t>
            </a:r>
            <a:r>
              <a:rPr lang="en-US" altLang="zh-CN" b="1" dirty="0"/>
              <a:t>~15</a:t>
            </a:r>
            <a:r>
              <a:rPr lang="zh-CN" altLang="en-US" b="1" dirty="0"/>
              <a:t>分钟</a:t>
            </a:r>
            <a:r>
              <a:rPr lang="zh-CN" altLang="en-US" b="1" dirty="0" smtClean="0"/>
              <a:t>）</a:t>
            </a:r>
            <a:endParaRPr lang="en-US" altLang="zh-CN" b="1" dirty="0" smtClean="0"/>
          </a:p>
          <a:p>
            <a:pPr eaLnBrk="1" hangingPunct="1"/>
            <a:endParaRPr lang="en-US" altLang="zh-CN" b="1" dirty="0" smtClean="0"/>
          </a:p>
          <a:p>
            <a:pPr eaLnBrk="1" hangingPunct="1"/>
            <a:r>
              <a:rPr lang="zh-CN" altLang="en-US" b="1" dirty="0" smtClean="0"/>
              <a:t>二氧化碳吸收</a:t>
            </a:r>
            <a:r>
              <a:rPr lang="zh-CN" altLang="en-US" b="1" dirty="0"/>
              <a:t>装置（</a:t>
            </a:r>
            <a:r>
              <a:rPr lang="en-US" altLang="zh-CN" b="1" dirty="0"/>
              <a:t>~15</a:t>
            </a:r>
            <a:r>
              <a:rPr lang="zh-CN" altLang="en-US" b="1" dirty="0"/>
              <a:t>分钟）</a:t>
            </a:r>
            <a:endParaRPr lang="en-US" altLang="zh-CN" b="1" dirty="0"/>
          </a:p>
          <a:p>
            <a:pPr eaLnBrk="1" hangingPunct="1"/>
            <a:endParaRPr lang="zh-CN" altLang="en-US" b="1" dirty="0" smtClean="0"/>
          </a:p>
        </p:txBody>
      </p:sp>
    </p:spTree>
    <p:extLst>
      <p:ext uri="{BB962C8B-B14F-4D97-AF65-F5344CB8AC3E}">
        <p14:creationId xmlns:p14="http://schemas.microsoft.com/office/powerpoint/2010/main" val="29408364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1026" descr="图片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9475" y="2881313"/>
            <a:ext cx="1978025" cy="116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87" name="Picture 1027" descr="图片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00763" y="2881313"/>
            <a:ext cx="1366837" cy="1662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88" name="Picture 1028" descr="图片10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244"/>
          <a:stretch>
            <a:fillRect/>
          </a:stretch>
        </p:blipFill>
        <p:spPr bwMode="auto">
          <a:xfrm>
            <a:off x="3276600" y="2906713"/>
            <a:ext cx="19050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89" name="Picture 1029" descr="图片9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2813" y="4543425"/>
            <a:ext cx="1600200" cy="1306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90" name="Picture 1030" descr="图片11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2138" y="4652963"/>
            <a:ext cx="2057400" cy="1220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91" name="Picture 1031" descr="图片12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7400" y="4724400"/>
            <a:ext cx="1600200" cy="1238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92" name="WordArt 1033"/>
          <p:cNvSpPr>
            <a:spLocks noChangeArrowheads="1" noChangeShapeType="1" noTextEdit="1"/>
          </p:cNvSpPr>
          <p:nvPr/>
        </p:nvSpPr>
        <p:spPr bwMode="auto">
          <a:xfrm>
            <a:off x="1905000" y="3124200"/>
            <a:ext cx="914400" cy="2286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zh-CN" altLang="en-US" sz="2000" kern="10" dirty="0">
                <a:ln w="9525">
                  <a:solidFill>
                    <a:srgbClr val="FFCC00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FFFF00"/>
                    </a:gs>
                    <a:gs pos="100000">
                      <a:srgbClr val="FF9933"/>
                    </a:gs>
                  </a:gsLst>
                  <a:path path="rect">
                    <a:fillToRect l="50000" t="50000" r="50000" b="50000"/>
                  </a:path>
                </a:gradFill>
                <a:latin typeface="华文细黑" panose="02010600040101010101" pitchFamily="2" charset="-122"/>
                <a:ea typeface="华文细黑" panose="02010600040101010101" pitchFamily="2" charset="-122"/>
              </a:rPr>
              <a:t>微混合器</a:t>
            </a:r>
          </a:p>
        </p:txBody>
      </p:sp>
      <p:sp>
        <p:nvSpPr>
          <p:cNvPr id="16393" name="WordArt 1034"/>
          <p:cNvSpPr>
            <a:spLocks noChangeArrowheads="1" noChangeShapeType="1" noTextEdit="1"/>
          </p:cNvSpPr>
          <p:nvPr/>
        </p:nvSpPr>
        <p:spPr bwMode="auto">
          <a:xfrm>
            <a:off x="6172200" y="3048000"/>
            <a:ext cx="762000" cy="152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zh-CN" altLang="en-US" sz="2000" b="1" kern="10">
                <a:ln w="9525">
                  <a:solidFill>
                    <a:srgbClr val="FFFF00"/>
                  </a:solidFill>
                  <a:round/>
                  <a:headEnd/>
                  <a:tailEnd/>
                </a:ln>
                <a:solidFill>
                  <a:srgbClr val="FF00FF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微反应器</a:t>
            </a:r>
          </a:p>
        </p:txBody>
      </p:sp>
      <p:sp>
        <p:nvSpPr>
          <p:cNvPr id="16394" name="WordArt 1035"/>
          <p:cNvSpPr>
            <a:spLocks noChangeArrowheads="1" noChangeShapeType="1" noTextEdit="1"/>
          </p:cNvSpPr>
          <p:nvPr/>
        </p:nvSpPr>
        <p:spPr bwMode="auto">
          <a:xfrm>
            <a:off x="3255963" y="4800600"/>
            <a:ext cx="685800" cy="152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zh-CN" altLang="en-US" sz="2000" kern="10">
                <a:ln w="9525">
                  <a:solidFill>
                    <a:srgbClr val="FFCC00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FFFF00"/>
                    </a:gs>
                    <a:gs pos="100000">
                      <a:srgbClr val="FF9933"/>
                    </a:gs>
                  </a:gsLst>
                  <a:path path="rect">
                    <a:fillToRect l="50000" t="50000" r="50000" b="50000"/>
                  </a:path>
                </a:gradFill>
                <a:latin typeface="华文细黑" panose="02010600040101010101" pitchFamily="2" charset="-122"/>
                <a:ea typeface="华文细黑" panose="02010600040101010101" pitchFamily="2" charset="-122"/>
              </a:rPr>
              <a:t>微换热器</a:t>
            </a:r>
          </a:p>
        </p:txBody>
      </p:sp>
      <p:sp>
        <p:nvSpPr>
          <p:cNvPr id="16395" name="WordArt 1036"/>
          <p:cNvSpPr>
            <a:spLocks noChangeArrowheads="1" noChangeShapeType="1" noTextEdit="1"/>
          </p:cNvSpPr>
          <p:nvPr/>
        </p:nvSpPr>
        <p:spPr bwMode="auto">
          <a:xfrm>
            <a:off x="4229100" y="2933700"/>
            <a:ext cx="914400" cy="2286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zh-CN" altLang="en-US" sz="2000" kern="10">
                <a:ln w="9525">
                  <a:solidFill>
                    <a:srgbClr val="FFCC00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FFFF00"/>
                    </a:gs>
                    <a:gs pos="100000">
                      <a:srgbClr val="FF9933"/>
                    </a:gs>
                  </a:gsLst>
                  <a:path path="rect">
                    <a:fillToRect l="50000" t="50000" r="50000" b="50000"/>
                  </a:path>
                </a:gradFill>
                <a:latin typeface="华文细黑" panose="02010600040101010101" pitchFamily="2" charset="-122"/>
                <a:ea typeface="华文细黑" panose="02010600040101010101" pitchFamily="2" charset="-122"/>
              </a:rPr>
              <a:t>微混合器</a:t>
            </a:r>
          </a:p>
        </p:txBody>
      </p:sp>
      <p:sp>
        <p:nvSpPr>
          <p:cNvPr id="16396" name="WordArt 1037"/>
          <p:cNvSpPr>
            <a:spLocks noChangeArrowheads="1" noChangeShapeType="1" noTextEdit="1"/>
          </p:cNvSpPr>
          <p:nvPr/>
        </p:nvSpPr>
        <p:spPr bwMode="auto">
          <a:xfrm>
            <a:off x="6747931" y="4800600"/>
            <a:ext cx="685800" cy="152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zh-CN" altLang="en-US" sz="2000" kern="10" dirty="0">
                <a:ln w="9525">
                  <a:solidFill>
                    <a:schemeClr val="accent2"/>
                  </a:solidFill>
                  <a:round/>
                  <a:headEnd/>
                  <a:tailEnd/>
                </a:ln>
                <a:solidFill>
                  <a:schemeClr val="accent2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微混合器</a:t>
            </a:r>
          </a:p>
        </p:txBody>
      </p:sp>
      <p:sp>
        <p:nvSpPr>
          <p:cNvPr id="16397" name="WordArt 1038"/>
          <p:cNvSpPr>
            <a:spLocks noChangeArrowheads="1" noChangeShapeType="1" noTextEdit="1"/>
          </p:cNvSpPr>
          <p:nvPr/>
        </p:nvSpPr>
        <p:spPr bwMode="auto">
          <a:xfrm>
            <a:off x="1371600" y="4572000"/>
            <a:ext cx="762000" cy="152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zh-CN" altLang="en-US" sz="2000" kern="10" dirty="0">
                <a:ln w="9525">
                  <a:solidFill>
                    <a:srgbClr val="FFCC00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FFFF00"/>
                    </a:gs>
                    <a:gs pos="100000">
                      <a:srgbClr val="FF9933"/>
                    </a:gs>
                  </a:gsLst>
                  <a:path path="rect">
                    <a:fillToRect l="50000" t="50000" r="50000" b="50000"/>
                  </a:path>
                </a:gradFill>
                <a:latin typeface="华文细黑" panose="02010600040101010101" pitchFamily="2" charset="-122"/>
                <a:ea typeface="华文细黑" panose="02010600040101010101" pitchFamily="2" charset="-122"/>
              </a:rPr>
              <a:t>降膜接触器</a:t>
            </a:r>
          </a:p>
        </p:txBody>
      </p:sp>
      <p:sp>
        <p:nvSpPr>
          <p:cNvPr id="16398" name="Text Box 1039"/>
          <p:cNvSpPr txBox="1">
            <a:spLocks noChangeArrowheads="1"/>
          </p:cNvSpPr>
          <p:nvPr/>
        </p:nvSpPr>
        <p:spPr bwMode="auto">
          <a:xfrm>
            <a:off x="1181099" y="758031"/>
            <a:ext cx="70104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3600" dirty="0">
                <a:latin typeface="黑体" panose="02010609060101010101" pitchFamily="49" charset="-122"/>
                <a:ea typeface="黑体" panose="02010609060101010101" pitchFamily="49" charset="-122"/>
              </a:rPr>
              <a:t>微化工系统（化工设备</a:t>
            </a:r>
            <a:r>
              <a:rPr kumimoji="1" lang="zh-CN" altLang="en-US" sz="36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微小型化</a:t>
            </a:r>
            <a:r>
              <a:rPr kumimoji="1" lang="zh-CN" altLang="en-US" sz="3600" dirty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</a:p>
        </p:txBody>
      </p:sp>
      <p:sp>
        <p:nvSpPr>
          <p:cNvPr id="16399" name="TextBox 14"/>
          <p:cNvSpPr txBox="1">
            <a:spLocks noChangeArrowheads="1"/>
          </p:cNvSpPr>
          <p:nvPr/>
        </p:nvSpPr>
        <p:spPr bwMode="auto">
          <a:xfrm>
            <a:off x="596111" y="1512888"/>
            <a:ext cx="7627937" cy="1354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以微流动技术为基础，致力于微米尺度设备内流动、混合、传质和反应性能的基础研究，发展微结构分离和反应过程和装备，实现微化工系统在若干工业过程的应用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。</a:t>
            </a:r>
          </a:p>
          <a:p>
            <a:pPr algn="just" eaLnBrk="1" hangingPunct="1"/>
            <a:endParaRPr lang="en-US" altLang="zh-CN" sz="1000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07764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434" name="组合 13"/>
          <p:cNvGrpSpPr>
            <a:grpSpLocks/>
          </p:cNvGrpSpPr>
          <p:nvPr/>
        </p:nvGrpSpPr>
        <p:grpSpPr bwMode="auto">
          <a:xfrm>
            <a:off x="611188" y="1414463"/>
            <a:ext cx="3232150" cy="2519362"/>
            <a:chOff x="1068651" y="1611600"/>
            <a:chExt cx="1894962" cy="1619378"/>
          </a:xfrm>
        </p:grpSpPr>
        <p:pic>
          <p:nvPicPr>
            <p:cNvPr id="18460" name="图片 1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68651" y="1611600"/>
              <a:ext cx="913860" cy="16193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8461" name="图片 1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54488" y="1611600"/>
              <a:ext cx="909125" cy="16193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462" name="AutoShape 6"/>
            <p:cNvSpPr>
              <a:spLocks noChangeArrowheads="1"/>
            </p:cNvSpPr>
            <p:nvPr/>
          </p:nvSpPr>
          <p:spPr bwMode="auto">
            <a:xfrm>
              <a:off x="1659642" y="2397829"/>
              <a:ext cx="628679" cy="195262"/>
            </a:xfrm>
            <a:prstGeom prst="wedgeRoundRectCallout">
              <a:avLst>
                <a:gd name="adj1" fmla="val 74032"/>
                <a:gd name="adj2" fmla="val 112782"/>
                <a:gd name="adj3" fmla="val 16667"/>
              </a:avLst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36000" rIns="0" bIns="3600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1400">
                  <a:latin typeface="黑体" panose="02010609060101010101" pitchFamily="49" charset="-122"/>
                  <a:ea typeface="黑体" panose="02010609060101010101" pitchFamily="49" charset="-122"/>
                  <a:cs typeface="宋体" panose="02010600030101010101" pitchFamily="2" charset="-122"/>
                </a:rPr>
                <a:t>操作员位置</a:t>
              </a:r>
              <a:endParaRPr lang="zh-CN" altLang="zh-CN" sz="1400"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endParaRPr>
            </a:p>
          </p:txBody>
        </p:sp>
      </p:grpSp>
      <p:graphicFrame>
        <p:nvGraphicFramePr>
          <p:cNvPr id="67" name="表格 66"/>
          <p:cNvGraphicFramePr>
            <a:graphicFrameLocks noGrp="1"/>
          </p:cNvGraphicFramePr>
          <p:nvPr/>
        </p:nvGraphicFramePr>
        <p:xfrm>
          <a:off x="601663" y="4005263"/>
          <a:ext cx="3313112" cy="193039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2244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42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441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8907">
                <a:tc>
                  <a:txBody>
                    <a:bodyPr/>
                    <a:lstStyle/>
                    <a:p>
                      <a:pPr algn="ctr" fontAlgn="t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zh-CN" altLang="en-US" sz="1400" b="1" kern="100" dirty="0" smtClean="0">
                          <a:effectLst/>
                          <a:latin typeface="黑体" pitchFamily="49" charset="-122"/>
                          <a:ea typeface="黑体" pitchFamily="49" charset="-122"/>
                          <a:cs typeface="Times New Roman" pitchFamily="18" charset="0"/>
                        </a:rPr>
                        <a:t>比较项目</a:t>
                      </a:r>
                      <a:endParaRPr lang="zh-CN" sz="1400" b="1" kern="100" dirty="0">
                        <a:effectLst/>
                        <a:latin typeface="黑体" pitchFamily="49" charset="-122"/>
                        <a:ea typeface="黑体" pitchFamily="49" charset="-122"/>
                        <a:cs typeface="Times New Roman" pitchFamily="18" charset="0"/>
                      </a:endParaRPr>
                    </a:p>
                  </a:txBody>
                  <a:tcPr marL="68595" marR="68595" marT="0" marB="0"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zh-CN" altLang="en-US" sz="1400" b="1" kern="100" dirty="0" smtClean="0">
                          <a:effectLst/>
                          <a:latin typeface="黑体" pitchFamily="49" charset="-122"/>
                          <a:ea typeface="黑体" pitchFamily="49" charset="-122"/>
                          <a:cs typeface="Times New Roman" pitchFamily="18" charset="0"/>
                        </a:rPr>
                        <a:t>本发明</a:t>
                      </a:r>
                      <a:endParaRPr lang="zh-CN" altLang="zh-CN" sz="1400" b="1" kern="100" dirty="0">
                        <a:effectLst/>
                        <a:latin typeface="黑体" pitchFamily="49" charset="-122"/>
                        <a:ea typeface="黑体" pitchFamily="49" charset="-122"/>
                        <a:cs typeface="Times New Roman" pitchFamily="18" charset="0"/>
                      </a:endParaRPr>
                    </a:p>
                  </a:txBody>
                  <a:tcPr marL="68595" marR="68595" marT="0" marB="0"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altLang="zh-CN" sz="1400" b="1" kern="0" dirty="0" smtClean="0">
                          <a:solidFill>
                            <a:schemeClr val="lt1"/>
                          </a:solidFill>
                          <a:effectLst/>
                          <a:latin typeface="黑体" pitchFamily="49" charset="-122"/>
                          <a:ea typeface="黑体" pitchFamily="49" charset="-122"/>
                          <a:cs typeface="Times New Roman" pitchFamily="18" charset="0"/>
                        </a:rPr>
                        <a:t>Bateman</a:t>
                      </a:r>
                      <a:r>
                        <a:rPr lang="zh-CN" altLang="en-US" sz="1400" b="1" kern="0" dirty="0" smtClean="0">
                          <a:solidFill>
                            <a:schemeClr val="lt1"/>
                          </a:solidFill>
                          <a:effectLst/>
                          <a:latin typeface="黑体" pitchFamily="49" charset="-122"/>
                          <a:ea typeface="黑体" pitchFamily="49" charset="-122"/>
                          <a:cs typeface="Times New Roman" pitchFamily="18" charset="0"/>
                        </a:rPr>
                        <a:t>技术</a:t>
                      </a:r>
                      <a:endParaRPr lang="zh-CN" sz="1400" b="1" kern="0" dirty="0">
                        <a:solidFill>
                          <a:schemeClr val="lt1"/>
                        </a:solidFill>
                        <a:effectLst/>
                        <a:latin typeface="黑体" pitchFamily="49" charset="-122"/>
                        <a:ea typeface="黑体" pitchFamily="49" charset="-122"/>
                        <a:cs typeface="Times New Roman" pitchFamily="18" charset="0"/>
                      </a:endParaRPr>
                    </a:p>
                  </a:txBody>
                  <a:tcPr marL="68595" marR="68595" marT="0" marB="0" anchor="ctr"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4510">
                <a:tc>
                  <a:txBody>
                    <a:bodyPr/>
                    <a:lstStyle/>
                    <a:p>
                      <a:pPr marL="0" algn="ctr" defTabSz="914400" rtl="0" eaLnBrk="1" fontAlgn="t" latinLnBrk="0" hangingPunct="1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zh-CN" altLang="en-US" sz="1400" b="1" kern="0" dirty="0" smtClean="0">
                          <a:solidFill>
                            <a:schemeClr val="lt1"/>
                          </a:solidFill>
                          <a:effectLst/>
                          <a:latin typeface="黑体" pitchFamily="49" charset="-122"/>
                          <a:ea typeface="黑体" pitchFamily="49" charset="-122"/>
                          <a:cs typeface="Times New Roman" pitchFamily="18" charset="0"/>
                        </a:rPr>
                        <a:t>设备容积</a:t>
                      </a:r>
                      <a:endParaRPr lang="zh-CN" sz="1400" b="1" kern="0" dirty="0">
                        <a:solidFill>
                          <a:schemeClr val="lt1"/>
                        </a:solidFill>
                        <a:effectLst/>
                        <a:latin typeface="黑体" pitchFamily="49" charset="-122"/>
                        <a:ea typeface="黑体" pitchFamily="49" charset="-122"/>
                        <a:cs typeface="Times New Roman" pitchFamily="18" charset="0"/>
                      </a:endParaRPr>
                    </a:p>
                  </a:txBody>
                  <a:tcPr marL="68595" marR="68595" marT="0" marB="0"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altLang="zh-CN" sz="1600" b="1" kern="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100L</a:t>
                      </a:r>
                      <a:endParaRPr lang="zh-CN" sz="1600" b="1" kern="100" dirty="0"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95" marR="68595" marT="0" marB="0" anchor="ctr"/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600" b="1" kern="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200m</a:t>
                      </a:r>
                      <a:r>
                        <a:rPr lang="en-US" sz="1600" b="1" kern="0" baseline="3000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endParaRPr lang="zh-CN" sz="1600" b="1" kern="100" baseline="30000" dirty="0"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95" marR="68595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1903">
                <a:tc>
                  <a:txBody>
                    <a:bodyPr/>
                    <a:lstStyle/>
                    <a:p>
                      <a:pPr marL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400" b="1" kern="0" dirty="0" smtClean="0">
                          <a:solidFill>
                            <a:schemeClr val="lt1"/>
                          </a:solidFill>
                          <a:effectLst/>
                          <a:latin typeface="黑体" pitchFamily="49" charset="-122"/>
                          <a:ea typeface="黑体" pitchFamily="49" charset="-122"/>
                          <a:cs typeface="Times New Roman" pitchFamily="18" charset="0"/>
                        </a:rPr>
                        <a:t>年开工时间</a:t>
                      </a:r>
                      <a:endParaRPr lang="zh-CN" sz="1400" b="1" kern="0" dirty="0">
                        <a:solidFill>
                          <a:schemeClr val="lt1"/>
                        </a:solidFill>
                        <a:effectLst/>
                        <a:latin typeface="黑体" pitchFamily="49" charset="-122"/>
                        <a:ea typeface="黑体" pitchFamily="49" charset="-122"/>
                        <a:cs typeface="Times New Roman" pitchFamily="18" charset="0"/>
                      </a:endParaRPr>
                    </a:p>
                  </a:txBody>
                  <a:tcPr marL="68595" marR="68595" marT="0" marB="0"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altLang="zh-CN" sz="1600" b="1" kern="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&gt;8000h</a:t>
                      </a:r>
                      <a:endParaRPr lang="zh-CN" sz="1600" b="1" kern="100" dirty="0"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95" marR="68595" marT="0" marB="0" anchor="ctr"/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600" b="1" kern="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&lt;7200h</a:t>
                      </a:r>
                      <a:endParaRPr lang="zh-CN" sz="1600" b="1" kern="100" dirty="0"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95" marR="68595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5079">
                <a:tc>
                  <a:txBody>
                    <a:bodyPr/>
                    <a:lstStyle/>
                    <a:p>
                      <a:pPr marL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400" b="1" kern="0" dirty="0" smtClean="0">
                          <a:solidFill>
                            <a:schemeClr val="lt1"/>
                          </a:solidFill>
                          <a:effectLst/>
                          <a:latin typeface="黑体" pitchFamily="49" charset="-122"/>
                          <a:ea typeface="黑体" pitchFamily="49" charset="-122"/>
                          <a:cs typeface="Times New Roman" pitchFamily="18" charset="0"/>
                        </a:rPr>
                        <a:t>单次清洗耗时</a:t>
                      </a:r>
                      <a:endParaRPr lang="zh-CN" sz="1400" b="1" kern="0" dirty="0">
                        <a:solidFill>
                          <a:schemeClr val="lt1"/>
                        </a:solidFill>
                        <a:effectLst/>
                        <a:latin typeface="黑体" pitchFamily="49" charset="-122"/>
                        <a:ea typeface="黑体" pitchFamily="49" charset="-122"/>
                        <a:cs typeface="Times New Roman" pitchFamily="18" charset="0"/>
                      </a:endParaRPr>
                    </a:p>
                  </a:txBody>
                  <a:tcPr marL="68595" marR="68595" marT="0" marB="0"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altLang="zh-CN" sz="1600" b="1" kern="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~2h</a:t>
                      </a:r>
                      <a:endParaRPr lang="zh-CN" sz="1600" b="1" kern="100" dirty="0"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95" marR="68595" marT="0" marB="0" anchor="ctr"/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altLang="zh-CN" sz="1600" b="1" kern="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~20d</a:t>
                      </a:r>
                      <a:endParaRPr lang="zh-CN" sz="1600" b="1" kern="100" dirty="0"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95" marR="68595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18457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0200" y="1414463"/>
            <a:ext cx="4465638" cy="3273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458" name="TextBox 68"/>
          <p:cNvSpPr txBox="1">
            <a:spLocks noChangeArrowheads="1"/>
          </p:cNvSpPr>
          <p:nvPr/>
        </p:nvSpPr>
        <p:spPr bwMode="auto">
          <a:xfrm>
            <a:off x="4197350" y="4868863"/>
            <a:ext cx="4465638" cy="908050"/>
          </a:xfrm>
          <a:prstGeom prst="rect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600"/>
              </a:spcBef>
            </a:pPr>
            <a:r>
              <a:rPr lang="en-US" altLang="zh-CN" sz="2400" b="1" dirty="0">
                <a:solidFill>
                  <a:srgbClr val="FF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2012</a:t>
            </a:r>
            <a:r>
              <a:rPr lang="zh-CN" altLang="en-US" sz="2400" b="1" dirty="0">
                <a:solidFill>
                  <a:srgbClr val="FF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年度国家技术发明二等奖</a:t>
            </a:r>
            <a:endParaRPr lang="en-US" altLang="zh-CN" sz="2400" b="1" dirty="0">
              <a:solidFill>
                <a:srgbClr val="FF0000"/>
              </a:solidFill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spcBef>
                <a:spcPts val="600"/>
              </a:spcBef>
            </a:pPr>
            <a:r>
              <a:rPr lang="en-US" altLang="zh-CN" sz="2400" b="1" dirty="0">
                <a:solidFill>
                  <a:srgbClr val="FF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2019</a:t>
            </a:r>
            <a:r>
              <a:rPr lang="zh-CN" altLang="en-US" sz="2400" b="1" dirty="0">
                <a:solidFill>
                  <a:srgbClr val="FF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年度国家科技进步二等奖 </a:t>
            </a:r>
          </a:p>
        </p:txBody>
      </p:sp>
      <p:sp>
        <p:nvSpPr>
          <p:cNvPr id="18459" name="Rectangle 2"/>
          <p:cNvSpPr>
            <a:spLocks/>
          </p:cNvSpPr>
          <p:nvPr/>
        </p:nvSpPr>
        <p:spPr bwMode="auto">
          <a:xfrm>
            <a:off x="1115616" y="504031"/>
            <a:ext cx="7058025" cy="87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3600" dirty="0">
                <a:latin typeface="黑体" panose="02010609060101010101" pitchFamily="49" charset="-122"/>
                <a:ea typeface="黑体" panose="02010609060101010101" pitchFamily="49" charset="-122"/>
              </a:rPr>
              <a:t>微结构化工设备及其工业应用</a:t>
            </a:r>
          </a:p>
        </p:txBody>
      </p:sp>
    </p:spTree>
    <p:extLst>
      <p:ext uri="{BB962C8B-B14F-4D97-AF65-F5344CB8AC3E}">
        <p14:creationId xmlns:p14="http://schemas.microsoft.com/office/powerpoint/2010/main" val="29545777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458" name="Object 0"/>
          <p:cNvGraphicFramePr>
            <a:graphicFrameLocks noChangeAspect="1"/>
          </p:cNvGraphicFramePr>
          <p:nvPr/>
        </p:nvGraphicFramePr>
        <p:xfrm>
          <a:off x="1262063" y="1557338"/>
          <a:ext cx="3238500" cy="3471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994" name="位图图像" r:id="rId3" imgW="2666667" imgH="3666667" progId="Paint.Picture">
                  <p:embed/>
                </p:oleObj>
              </mc:Choice>
              <mc:Fallback>
                <p:oleObj name="位图图像" r:id="rId3" imgW="2666667" imgH="3666667" progId="Paint.Picture">
                  <p:embed/>
                  <p:pic>
                    <p:nvPicPr>
                      <p:cNvPr id="19458" name="Object 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lum bright="-18000" contrast="6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b="22058"/>
                      <a:stretch>
                        <a:fillRect/>
                      </a:stretch>
                    </p:blipFill>
                    <p:spPr bwMode="auto">
                      <a:xfrm>
                        <a:off x="1262063" y="1557338"/>
                        <a:ext cx="3238500" cy="3471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9459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13" t="1317" r="2780" b="1282"/>
          <a:stretch>
            <a:fillRect/>
          </a:stretch>
        </p:blipFill>
        <p:spPr bwMode="auto">
          <a:xfrm>
            <a:off x="5364163" y="1573213"/>
            <a:ext cx="2525712" cy="3457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460" name="Text Box 7"/>
          <p:cNvSpPr txBox="1">
            <a:spLocks noChangeArrowheads="1"/>
          </p:cNvSpPr>
          <p:nvPr/>
        </p:nvSpPr>
        <p:spPr bwMode="auto">
          <a:xfrm>
            <a:off x="2627784" y="5157192"/>
            <a:ext cx="4343400" cy="5597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kumimoji="1" lang="zh-CN" altLang="en-US" sz="2400" dirty="0">
                <a:latin typeface="TimesNewRoman"/>
                <a:ea typeface="黑体" panose="02010609060101010101" pitchFamily="49" charset="-122"/>
              </a:rPr>
              <a:t>超临界流体和纳米材料制备</a:t>
            </a:r>
          </a:p>
        </p:txBody>
      </p:sp>
      <p:sp>
        <p:nvSpPr>
          <p:cNvPr id="19461" name="Text Box 2"/>
          <p:cNvSpPr txBox="1">
            <a:spLocks noChangeArrowheads="1"/>
          </p:cNvSpPr>
          <p:nvPr/>
        </p:nvSpPr>
        <p:spPr bwMode="auto">
          <a:xfrm>
            <a:off x="3347864" y="692150"/>
            <a:ext cx="549592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3600" dirty="0">
                <a:latin typeface="黑体" panose="02010609060101010101" pitchFamily="49" charset="-122"/>
                <a:ea typeface="黑体" panose="02010609060101010101" pitchFamily="49" charset="-122"/>
              </a:rPr>
              <a:t>超临界流体</a:t>
            </a:r>
          </a:p>
        </p:txBody>
      </p:sp>
    </p:spTree>
    <p:extLst>
      <p:ext uri="{BB962C8B-B14F-4D97-AF65-F5344CB8AC3E}">
        <p14:creationId xmlns:p14="http://schemas.microsoft.com/office/powerpoint/2010/main" val="22832510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482" name="Object 1024"/>
          <p:cNvGraphicFramePr>
            <a:graphicFrameLocks noChangeAspect="1"/>
          </p:cNvGraphicFramePr>
          <p:nvPr/>
        </p:nvGraphicFramePr>
        <p:xfrm>
          <a:off x="1547813" y="1014413"/>
          <a:ext cx="2090737" cy="168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18" name="Bitmap Image" r:id="rId3" imgW="5942857" imgH="4486901" progId="Paint.Picture">
                  <p:embed/>
                </p:oleObj>
              </mc:Choice>
              <mc:Fallback>
                <p:oleObj name="Bitmap Image" r:id="rId3" imgW="5942857" imgH="4486901" progId="Paint.Picture">
                  <p:embed/>
                  <p:pic>
                    <p:nvPicPr>
                      <p:cNvPr id="20482" name="Object 10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lum bright="-40000" contrast="58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813" y="1014413"/>
                        <a:ext cx="2090737" cy="1682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0483" name="Picture 45" descr="CIMG0194"/>
          <p:cNvPicPr>
            <a:picLocks noChangeAspect="1" noChangeArrowheads="1"/>
          </p:cNvPicPr>
          <p:nvPr/>
        </p:nvPicPr>
        <p:blipFill>
          <a:blip r:embed="rId5">
            <a:lum bright="-30000" contrast="4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81450" y="3325813"/>
            <a:ext cx="1822450" cy="1560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484" name="Picture 2" descr="Aerogel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41"/>
          <a:stretch>
            <a:fillRect/>
          </a:stretch>
        </p:blipFill>
        <p:spPr bwMode="auto">
          <a:xfrm>
            <a:off x="1547813" y="3325813"/>
            <a:ext cx="2090737" cy="1560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485" name="图片 7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7175" y="962025"/>
            <a:ext cx="1736725" cy="1735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486" name="矩形 8"/>
          <p:cNvSpPr>
            <a:spLocks noChangeArrowheads="1"/>
          </p:cNvSpPr>
          <p:nvPr/>
        </p:nvSpPr>
        <p:spPr bwMode="auto">
          <a:xfrm>
            <a:off x="1835150" y="5278438"/>
            <a:ext cx="544353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 b="1" dirty="0"/>
              <a:t>超临界干燥法制备纳米多孔材料气凝胶</a:t>
            </a:r>
          </a:p>
        </p:txBody>
      </p:sp>
      <p:pic>
        <p:nvPicPr>
          <p:cNvPr id="20487" name="图片 1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2525" y="939800"/>
            <a:ext cx="1562100" cy="1754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488" name="Picture 2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0288" y="3325813"/>
            <a:ext cx="2162175" cy="1554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237142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ext Box 8"/>
          <p:cNvSpPr txBox="1">
            <a:spLocks noChangeArrowheads="1"/>
          </p:cNvSpPr>
          <p:nvPr/>
        </p:nvSpPr>
        <p:spPr bwMode="auto">
          <a:xfrm>
            <a:off x="611188" y="765175"/>
            <a:ext cx="75438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3600" b="1" dirty="0">
                <a:latin typeface="宋体" panose="02010600030101010101" pitchFamily="2" charset="-122"/>
              </a:rPr>
              <a:t>温室气体</a:t>
            </a:r>
            <a:r>
              <a:rPr lang="en-US" altLang="zh-CN" sz="3600" b="1" dirty="0">
                <a:latin typeface="宋体" panose="02010600030101010101" pitchFamily="2" charset="-122"/>
              </a:rPr>
              <a:t>—</a:t>
            </a:r>
            <a:r>
              <a:rPr lang="zh-CN" altLang="en-US" sz="3600" b="1" dirty="0">
                <a:latin typeface="宋体" panose="02010600030101010101" pitchFamily="2" charset="-122"/>
              </a:rPr>
              <a:t>二氧化碳的吸收捕集</a:t>
            </a:r>
          </a:p>
        </p:txBody>
      </p:sp>
      <p:sp>
        <p:nvSpPr>
          <p:cNvPr id="21507" name="Text Box 12"/>
          <p:cNvSpPr txBox="1">
            <a:spLocks noChangeArrowheads="1"/>
          </p:cNvSpPr>
          <p:nvPr/>
        </p:nvSpPr>
        <p:spPr bwMode="auto">
          <a:xfrm>
            <a:off x="5641955" y="2089943"/>
            <a:ext cx="2746469" cy="2678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SzPct val="75000"/>
            </a:pPr>
            <a:r>
              <a:rPr kumimoji="1" lang="zh-CN" altLang="en-US" sz="2400" b="1" dirty="0">
                <a:latin typeface="楷体_GB2312"/>
                <a:ea typeface="楷体_GB2312"/>
                <a:cs typeface="楷体_GB2312"/>
              </a:rPr>
              <a:t>全球气候变暖</a:t>
            </a:r>
            <a:endParaRPr kumimoji="1" lang="en-US" altLang="zh-CN" sz="2400" b="1" dirty="0">
              <a:latin typeface="楷体_GB2312"/>
              <a:ea typeface="楷体_GB2312"/>
              <a:cs typeface="楷体_GB2312"/>
            </a:endParaRPr>
          </a:p>
          <a:p>
            <a:pPr eaLnBrk="1" hangingPunct="1">
              <a:buSzPct val="75000"/>
            </a:pPr>
            <a:endParaRPr kumimoji="1" lang="en-US" altLang="zh-CN" sz="2400" b="1" dirty="0">
              <a:latin typeface="楷体_GB2312"/>
              <a:ea typeface="楷体_GB2312"/>
              <a:cs typeface="楷体_GB2312"/>
            </a:endParaRPr>
          </a:p>
          <a:p>
            <a:pPr eaLnBrk="1" hangingPunct="1">
              <a:buSzPct val="75000"/>
            </a:pPr>
            <a:r>
              <a:rPr kumimoji="1" lang="zh-CN" altLang="en-US" sz="2400" b="1" dirty="0" smtClean="0">
                <a:latin typeface="楷体_GB2312"/>
                <a:ea typeface="楷体_GB2312"/>
                <a:cs typeface="楷体_GB2312"/>
              </a:rPr>
              <a:t>海平面</a:t>
            </a:r>
            <a:r>
              <a:rPr kumimoji="1" lang="zh-CN" altLang="en-US" sz="2400" b="1" dirty="0">
                <a:latin typeface="楷体_GB2312"/>
                <a:ea typeface="楷体_GB2312"/>
                <a:cs typeface="楷体_GB2312"/>
              </a:rPr>
              <a:t>上升</a:t>
            </a:r>
          </a:p>
          <a:p>
            <a:pPr eaLnBrk="1" hangingPunct="1">
              <a:buSzPct val="75000"/>
              <a:buFont typeface="Wingdings" panose="05000000000000000000" pitchFamily="2" charset="2"/>
              <a:buChar char="l"/>
            </a:pPr>
            <a:endParaRPr kumimoji="1" lang="zh-CN" altLang="en-US" sz="2400" b="1" dirty="0">
              <a:latin typeface="楷体_GB2312"/>
              <a:ea typeface="楷体_GB2312"/>
              <a:cs typeface="楷体_GB2312"/>
            </a:endParaRPr>
          </a:p>
          <a:p>
            <a:pPr eaLnBrk="1" hangingPunct="1">
              <a:buClr>
                <a:srgbClr val="2B386F"/>
              </a:buClr>
              <a:buSzPct val="75000"/>
            </a:pPr>
            <a:r>
              <a:rPr lang="zh-CN" altLang="en-US" sz="2400" b="1" dirty="0">
                <a:latin typeface="楷体_GB2312"/>
                <a:ea typeface="楷体_GB2312"/>
                <a:cs typeface="楷体_GB2312"/>
              </a:rPr>
              <a:t>极端气候事件增多</a:t>
            </a:r>
          </a:p>
          <a:p>
            <a:pPr eaLnBrk="1" hangingPunct="1">
              <a:buClr>
                <a:srgbClr val="2B386F"/>
              </a:buClr>
              <a:buSzPct val="75000"/>
              <a:buFont typeface="Wingdings" panose="05000000000000000000" pitchFamily="2" charset="2"/>
              <a:buChar char="l"/>
            </a:pPr>
            <a:endParaRPr lang="zh-CN" altLang="en-US" sz="2400" b="1" dirty="0">
              <a:solidFill>
                <a:schemeClr val="bg1"/>
              </a:solidFill>
              <a:latin typeface="楷体_GB2312"/>
              <a:ea typeface="楷体_GB2312"/>
              <a:cs typeface="楷体_GB2312"/>
            </a:endParaRPr>
          </a:p>
          <a:p>
            <a:pPr eaLnBrk="1" hangingPunct="1">
              <a:buClr>
                <a:srgbClr val="2B386F"/>
              </a:buClr>
              <a:buSzPct val="75000"/>
            </a:pPr>
            <a:endParaRPr lang="zh-CN" altLang="en-US" sz="2400" b="1" dirty="0">
              <a:solidFill>
                <a:schemeClr val="bg1"/>
              </a:solidFill>
              <a:latin typeface="楷体_GB2312"/>
              <a:ea typeface="楷体_GB2312"/>
              <a:cs typeface="楷体_GB2312"/>
            </a:endParaRPr>
          </a:p>
        </p:txBody>
      </p:sp>
      <p:pic>
        <p:nvPicPr>
          <p:cNvPr id="21508" name="Picture 13" descr="温室气体排放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13332" y="1891742"/>
            <a:ext cx="2438400" cy="186531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21509" name="Picture 9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347864" y="1904999"/>
            <a:ext cx="1901825" cy="18288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21510" name="Picture 10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206576" y="4306887"/>
            <a:ext cx="2184400" cy="152876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21511" name="Picture 13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739219" y="4343400"/>
            <a:ext cx="2057400" cy="149225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243937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509964"/>
            <a:ext cx="8229600" cy="63408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zh-CN" sz="3600" b="1" dirty="0" smtClean="0">
                <a:solidFill>
                  <a:schemeClr val="tx1"/>
                </a:solidFill>
              </a:rPr>
              <a:t>CO</a:t>
            </a:r>
            <a:r>
              <a:rPr lang="en-US" altLang="zh-CN" sz="3600" b="1" baseline="-25000" dirty="0" smtClean="0">
                <a:solidFill>
                  <a:schemeClr val="tx1"/>
                </a:solidFill>
              </a:rPr>
              <a:t>2</a:t>
            </a:r>
            <a:r>
              <a:rPr lang="zh-CN" altLang="en-US" sz="3600" b="1" dirty="0" smtClean="0">
                <a:solidFill>
                  <a:schemeClr val="tx1"/>
                </a:solidFill>
              </a:rPr>
              <a:t>化学吸收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sz="half" idx="1"/>
          </p:nvPr>
        </p:nvSpPr>
        <p:spPr bwMode="auto">
          <a:xfrm>
            <a:off x="1259632" y="6021288"/>
            <a:ext cx="1752600" cy="3625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zh-CN" altLang="en-US" sz="1800" b="1" dirty="0" smtClean="0">
                <a:solidFill>
                  <a:srgbClr val="2B386F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试验</a:t>
            </a:r>
            <a:r>
              <a:rPr lang="zh-CN" altLang="en-US" sz="1800" b="1" dirty="0" smtClean="0">
                <a:solidFill>
                  <a:srgbClr val="2B386F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平台 </a:t>
            </a:r>
          </a:p>
        </p:txBody>
      </p:sp>
      <p:pic>
        <p:nvPicPr>
          <p:cNvPr id="23556" name="Picture 4" descr="CO2装置图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407" y="1204913"/>
            <a:ext cx="3205162" cy="47244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557" name="Picture 1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86450" y="4086225"/>
            <a:ext cx="2589213" cy="180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558" name="Picture 12" descr="tower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9350" y="1204913"/>
            <a:ext cx="1863725" cy="472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559" name="Picture 116"/>
          <p:cNvPicPr>
            <a:picLocks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7400" y="1204913"/>
            <a:ext cx="2590800" cy="220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ext Box 121"/>
          <p:cNvSpPr txBox="1">
            <a:spLocks noChangeArrowheads="1"/>
          </p:cNvSpPr>
          <p:nvPr/>
        </p:nvSpPr>
        <p:spPr bwMode="auto">
          <a:xfrm>
            <a:off x="6118225" y="3603625"/>
            <a:ext cx="2089150" cy="30638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  <a:effectLst/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1400" dirty="0" smtClean="0">
                <a:solidFill>
                  <a:srgbClr val="0000FF"/>
                </a:solidFill>
                <a:latin typeface="黑体" pitchFamily="49" charset="-122"/>
                <a:ea typeface="黑体" pitchFamily="49" charset="-122"/>
              </a:rPr>
              <a:t>CO</a:t>
            </a:r>
            <a:r>
              <a:rPr lang="en-US" altLang="zh-CN" sz="1400" b="1" baseline="-25000" dirty="0" smtClean="0">
                <a:solidFill>
                  <a:srgbClr val="3333FF"/>
                </a:solidFill>
                <a:latin typeface="Times New Roman" pitchFamily="18" charset="0"/>
                <a:ea typeface="楷体_GB2312" pitchFamily="49" charset="-122"/>
              </a:rPr>
              <a:t>2</a:t>
            </a:r>
            <a:r>
              <a:rPr lang="zh-CN" altLang="en-US" sz="1400" dirty="0" smtClean="0">
                <a:solidFill>
                  <a:srgbClr val="0000FF"/>
                </a:solidFill>
                <a:latin typeface="黑体" pitchFamily="49" charset="-122"/>
                <a:ea typeface="黑体" pitchFamily="49" charset="-122"/>
              </a:rPr>
              <a:t>捕集流程和实验装置</a:t>
            </a:r>
          </a:p>
        </p:txBody>
      </p:sp>
    </p:spTree>
    <p:extLst>
      <p:ext uri="{BB962C8B-B14F-4D97-AF65-F5344CB8AC3E}">
        <p14:creationId xmlns:p14="http://schemas.microsoft.com/office/powerpoint/2010/main" val="30203228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默认设计模板">
  <a:themeElements>
    <a:clrScheme name="默认设计模板 7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3399FF"/>
      </a:accent1>
      <a:accent2>
        <a:srgbClr val="99FFCC"/>
      </a:accent2>
      <a:accent3>
        <a:srgbClr val="FFFFFF"/>
      </a:accent3>
      <a:accent4>
        <a:srgbClr val="000000"/>
      </a:accent4>
      <a:accent5>
        <a:srgbClr val="ADCAFF"/>
      </a:accent5>
      <a:accent6>
        <a:srgbClr val="8AE7B9"/>
      </a:accent6>
      <a:hlink>
        <a:srgbClr val="CC00CC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3634</TotalTime>
  <Words>585</Words>
  <Application>Microsoft Office PowerPoint</Application>
  <PresentationFormat>全屏显示(4:3)</PresentationFormat>
  <Paragraphs>115</Paragraphs>
  <Slides>15</Slides>
  <Notes>7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15</vt:i4>
      </vt:variant>
    </vt:vector>
  </HeadingPairs>
  <TitlesOfParts>
    <vt:vector size="30" baseType="lpstr">
      <vt:lpstr>TimesNewRoman</vt:lpstr>
      <vt:lpstr>方正姚体</vt:lpstr>
      <vt:lpstr>黑体</vt:lpstr>
      <vt:lpstr>华文隶书</vt:lpstr>
      <vt:lpstr>华文细黑</vt:lpstr>
      <vt:lpstr>楷体_GB2312</vt:lpstr>
      <vt:lpstr>宋体</vt:lpstr>
      <vt:lpstr>Arial</vt:lpstr>
      <vt:lpstr>Times New Roman</vt:lpstr>
      <vt:lpstr>Wingdings</vt:lpstr>
      <vt:lpstr>默认设计模板</vt:lpstr>
      <vt:lpstr>Flash Movie</vt:lpstr>
      <vt:lpstr>Photo Editor 照片</vt:lpstr>
      <vt:lpstr>位图图像</vt:lpstr>
      <vt:lpstr>Bitmap Image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见习内容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CO2化学吸收</vt:lpstr>
    </vt:vector>
  </TitlesOfParts>
  <Company>Tsinghua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Tao Wang</dc:creator>
  <cp:lastModifiedBy>Tao Wang</cp:lastModifiedBy>
  <cp:revision>232</cp:revision>
  <dcterms:created xsi:type="dcterms:W3CDTF">2001-09-29T08:58:12Z</dcterms:created>
  <dcterms:modified xsi:type="dcterms:W3CDTF">2025-09-02T01:09:27Z</dcterms:modified>
</cp:coreProperties>
</file>